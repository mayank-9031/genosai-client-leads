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napToObjects="1">
      <p:cViewPr varScale="1">
        <p:scale>
          <a:sx n="85" d="100"/>
          <a:sy n="85" d="100"/>
        </p:scale>
        <p:origin x="59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206240" cy="6858000"/>
          </a:xfrm>
          <a:prstGeom prst="rect">
            <a:avLst/>
          </a:prstGeom>
          <a:solidFill>
            <a:srgbClr val="09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206240" y="0"/>
            <a:ext cx="15240" cy="6858000"/>
          </a:xfrm>
          <a:prstGeom prst="rect">
            <a:avLst/>
          </a:prstGeom>
          <a:solidFill>
            <a:srgbClr val="23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188720"/>
            <a:ext cx="1005840" cy="3175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417320"/>
            <a:ext cx="502920" cy="31750"/>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645920"/>
            <a:ext cx="1645920" cy="31750"/>
          </a:xfrm>
          <a:prstGeom prst="rect">
            <a:avLst/>
          </a:prstGeom>
          <a:solidFill>
            <a:srgbClr val="1A2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502920"/>
            <a:ext cx="3657600" cy="365760"/>
          </a:xfrm>
          <a:prstGeom prst="rect">
            <a:avLst/>
          </a:prstGeom>
          <a:noFill/>
        </p:spPr>
        <p:txBody>
          <a:bodyPr wrap="square" lIns="0" tIns="0" rIns="0" bIns="0" anchor="t">
            <a:spAutoFit/>
          </a:bodyPr>
          <a:lstStyle/>
          <a:p>
            <a:pPr algn="l">
              <a:lnSpc>
                <a:spcPct val="115000"/>
              </a:lnSpc>
            </a:pPr>
            <a:r>
              <a:rPr sz="1100" b="1" spc="500">
                <a:solidFill>
                  <a:srgbClr val="46E0CB"/>
                </a:solidFill>
                <a:latin typeface="Calibri"/>
              </a:rPr>
              <a:t>GENOSAI  ·  TECH</a:t>
            </a:r>
          </a:p>
        </p:txBody>
      </p:sp>
      <p:sp>
        <p:nvSpPr>
          <p:cNvPr id="9" name="TextBox 8"/>
          <p:cNvSpPr txBox="1"/>
          <p:nvPr/>
        </p:nvSpPr>
        <p:spPr>
          <a:xfrm>
            <a:off x="502920" y="804672"/>
            <a:ext cx="3657600" cy="274320"/>
          </a:xfrm>
          <a:prstGeom prst="rect">
            <a:avLst/>
          </a:prstGeom>
          <a:noFill/>
        </p:spPr>
        <p:txBody>
          <a:bodyPr wrap="square" lIns="0" tIns="0" rIns="0" bIns="0" anchor="t">
            <a:spAutoFit/>
          </a:bodyPr>
          <a:lstStyle/>
          <a:p>
            <a:pPr algn="l">
              <a:lnSpc>
                <a:spcPct val="115000"/>
              </a:lnSpc>
            </a:pPr>
            <a:r>
              <a:rPr sz="900" b="0" spc="200">
                <a:solidFill>
                  <a:srgbClr val="8A95AE"/>
                </a:solidFill>
                <a:latin typeface="Calibri"/>
              </a:rPr>
              <a:t>AI Automation  /  Operational Systems</a:t>
            </a:r>
          </a:p>
        </p:txBody>
      </p:sp>
      <p:sp>
        <p:nvSpPr>
          <p:cNvPr id="10" name="TextBox 9"/>
          <p:cNvSpPr txBox="1"/>
          <p:nvPr/>
        </p:nvSpPr>
        <p:spPr>
          <a:xfrm>
            <a:off x="502920" y="5394960"/>
            <a:ext cx="3657600" cy="365760"/>
          </a:xfrm>
          <a:prstGeom prst="rect">
            <a:avLst/>
          </a:prstGeom>
          <a:noFill/>
        </p:spPr>
        <p:txBody>
          <a:bodyPr wrap="square" lIns="0" tIns="0" rIns="0" bIns="0" anchor="t">
            <a:spAutoFit/>
          </a:bodyPr>
          <a:lstStyle/>
          <a:p>
            <a:pPr algn="l">
              <a:lnSpc>
                <a:spcPct val="115000"/>
              </a:lnSpc>
            </a:pPr>
            <a:r>
              <a:rPr sz="1000" b="1" spc="400">
                <a:solidFill>
                  <a:srgbClr val="8A95AE"/>
                </a:solidFill>
                <a:latin typeface="Calibri"/>
              </a:rPr>
              <a:t>PROPOSAL — 2026</a:t>
            </a:r>
          </a:p>
        </p:txBody>
      </p:sp>
      <p:sp>
        <p:nvSpPr>
          <p:cNvPr id="11" name="TextBox 10"/>
          <p:cNvSpPr txBox="1"/>
          <p:nvPr/>
        </p:nvSpPr>
        <p:spPr>
          <a:xfrm>
            <a:off x="502920" y="5715000"/>
            <a:ext cx="3657600" cy="320040"/>
          </a:xfrm>
          <a:prstGeom prst="rect">
            <a:avLst/>
          </a:prstGeom>
          <a:noFill/>
        </p:spPr>
        <p:txBody>
          <a:bodyPr wrap="square" lIns="0" tIns="0" rIns="0" bIns="0" anchor="t">
            <a:spAutoFit/>
          </a:bodyPr>
          <a:lstStyle/>
          <a:p>
            <a:pPr algn="l">
              <a:lnSpc>
                <a:spcPct val="115000"/>
              </a:lnSpc>
            </a:pPr>
            <a:r>
              <a:rPr sz="900" b="0">
                <a:solidFill>
                  <a:srgbClr val="8A95AE"/>
                </a:solidFill>
                <a:latin typeface="Calibri"/>
              </a:rPr>
              <a:t>Confidential · For Aqua Technic Leadership</a:t>
            </a:r>
          </a:p>
        </p:txBody>
      </p:sp>
      <p:cxnSp>
        <p:nvCxnSpPr>
          <p:cNvPr id="12" name="Connector 11"/>
          <p:cNvCxnSpPr/>
          <p:nvPr/>
        </p:nvCxnSpPr>
        <p:spPr>
          <a:xfrm>
            <a:off x="502920" y="6126480"/>
            <a:ext cx="3154680" cy="0"/>
          </a:xfrm>
          <a:prstGeom prst="line">
            <a:avLst/>
          </a:prstGeom>
          <a:ln w="9525">
            <a:solidFill>
              <a:srgbClr val="232E4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2920" y="6199632"/>
            <a:ext cx="3657600" cy="274320"/>
          </a:xfrm>
          <a:prstGeom prst="rect">
            <a:avLst/>
          </a:prstGeom>
          <a:noFill/>
        </p:spPr>
        <p:txBody>
          <a:bodyPr wrap="square" lIns="0" tIns="0" rIns="0" bIns="0" anchor="t">
            <a:spAutoFit/>
          </a:bodyPr>
          <a:lstStyle/>
          <a:p>
            <a:pPr algn="l">
              <a:lnSpc>
                <a:spcPct val="115000"/>
              </a:lnSpc>
            </a:pPr>
            <a:r>
              <a:rPr sz="900" b="0" spc="200">
                <a:solidFill>
                  <a:srgbClr val="8A95AE"/>
                </a:solidFill>
                <a:latin typeface="Calibri"/>
              </a:rPr>
              <a:t>Hyderabad  ·  India</a:t>
            </a:r>
          </a:p>
        </p:txBody>
      </p:sp>
      <p:sp>
        <p:nvSpPr>
          <p:cNvPr id="14" name="TextBox 13"/>
          <p:cNvSpPr txBox="1"/>
          <p:nvPr/>
        </p:nvSpPr>
        <p:spPr>
          <a:xfrm>
            <a:off x="4754880" y="868680"/>
            <a:ext cx="6858000" cy="320040"/>
          </a:xfrm>
          <a:prstGeom prst="rect">
            <a:avLst/>
          </a:prstGeom>
          <a:noFill/>
        </p:spPr>
        <p:txBody>
          <a:bodyPr wrap="square" lIns="0" tIns="0" rIns="0" bIns="0" anchor="t">
            <a:spAutoFit/>
          </a:bodyPr>
          <a:lstStyle/>
          <a:p>
            <a:pPr algn="l">
              <a:lnSpc>
                <a:spcPct val="115000"/>
              </a:lnSpc>
            </a:pPr>
            <a:r>
              <a:rPr sz="1000" b="1" spc="500">
                <a:solidFill>
                  <a:srgbClr val="D4B066"/>
                </a:solidFill>
                <a:latin typeface="Calibri"/>
              </a:rPr>
              <a:t>PREPARED FOR</a:t>
            </a:r>
          </a:p>
        </p:txBody>
      </p:sp>
      <p:sp>
        <p:nvSpPr>
          <p:cNvPr id="15" name="TextBox 14"/>
          <p:cNvSpPr txBox="1"/>
          <p:nvPr/>
        </p:nvSpPr>
        <p:spPr>
          <a:xfrm>
            <a:off x="4754880" y="1188720"/>
            <a:ext cx="6858000" cy="640080"/>
          </a:xfrm>
          <a:prstGeom prst="rect">
            <a:avLst/>
          </a:prstGeom>
          <a:noFill/>
        </p:spPr>
        <p:txBody>
          <a:bodyPr wrap="square" lIns="0" tIns="0" rIns="0" bIns="0" anchor="t">
            <a:spAutoFit/>
          </a:bodyPr>
          <a:lstStyle/>
          <a:p>
            <a:pPr algn="l">
              <a:lnSpc>
                <a:spcPct val="115000"/>
              </a:lnSpc>
            </a:pPr>
            <a:r>
              <a:rPr sz="4000" b="1" spc="300">
                <a:solidFill>
                  <a:srgbClr val="F5F7FB"/>
                </a:solidFill>
                <a:latin typeface="Calibri"/>
              </a:rPr>
              <a:t>AQUA TECHNIC</a:t>
            </a:r>
          </a:p>
        </p:txBody>
      </p:sp>
      <p:sp>
        <p:nvSpPr>
          <p:cNvPr id="16" name="TextBox 15"/>
          <p:cNvSpPr txBox="1"/>
          <p:nvPr/>
        </p:nvSpPr>
        <p:spPr>
          <a:xfrm>
            <a:off x="4754880" y="1783080"/>
            <a:ext cx="6858000" cy="320040"/>
          </a:xfrm>
          <a:prstGeom prst="rect">
            <a:avLst/>
          </a:prstGeom>
          <a:noFill/>
        </p:spPr>
        <p:txBody>
          <a:bodyPr wrap="square" lIns="0" tIns="0" rIns="0" bIns="0" anchor="t">
            <a:spAutoFit/>
          </a:bodyPr>
          <a:lstStyle/>
          <a:p>
            <a:pPr algn="l">
              <a:lnSpc>
                <a:spcPct val="115000"/>
              </a:lnSpc>
            </a:pPr>
            <a:r>
              <a:rPr sz="1100" b="0" spc="200">
                <a:solidFill>
                  <a:srgbClr val="8A95AE"/>
                </a:solidFill>
                <a:latin typeface="Calibri"/>
              </a:rPr>
              <a:t>Pools  ·  Waterproofing  ·  Renovation  ·  Maintenance</a:t>
            </a:r>
          </a:p>
        </p:txBody>
      </p:sp>
      <p:cxnSp>
        <p:nvCxnSpPr>
          <p:cNvPr id="17" name="Connector 16"/>
          <p:cNvCxnSpPr/>
          <p:nvPr/>
        </p:nvCxnSpPr>
        <p:spPr>
          <a:xfrm>
            <a:off x="4754880" y="2331720"/>
            <a:ext cx="6949440" cy="0"/>
          </a:xfrm>
          <a:prstGeom prst="line">
            <a:avLst/>
          </a:prstGeom>
          <a:ln w="9525">
            <a:solidFill>
              <a:srgbClr val="232E4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754880" y="2606040"/>
            <a:ext cx="6949440" cy="1280160"/>
          </a:xfrm>
          <a:prstGeom prst="rect">
            <a:avLst/>
          </a:prstGeom>
          <a:noFill/>
        </p:spPr>
        <p:txBody>
          <a:bodyPr wrap="square" lIns="0" tIns="0" rIns="0" bIns="0" anchor="t">
            <a:spAutoFit/>
          </a:bodyPr>
          <a:lstStyle/>
          <a:p>
            <a:pPr algn="l">
              <a:lnSpc>
                <a:spcPct val="108000"/>
              </a:lnSpc>
            </a:pPr>
            <a:r>
              <a:rPr sz="3200" b="1">
                <a:solidFill>
                  <a:srgbClr val="F5F7FB"/>
                </a:solidFill>
                <a:latin typeface="Calibri"/>
              </a:rPr>
              <a:t>Operational Automation</a:t>
            </a:r>
          </a:p>
          <a:p>
            <a:pPr algn="l">
              <a:lnSpc>
                <a:spcPct val="108000"/>
              </a:lnSpc>
            </a:pPr>
            <a:r>
              <a:rPr sz="3200" b="1">
                <a:solidFill>
                  <a:srgbClr val="F5F7FB"/>
                </a:solidFill>
                <a:latin typeface="Calibri"/>
              </a:rPr>
              <a:t>&amp; Employee Management</a:t>
            </a:r>
          </a:p>
          <a:p>
            <a:pPr algn="l">
              <a:lnSpc>
                <a:spcPct val="108000"/>
              </a:lnSpc>
            </a:pPr>
            <a:r>
              <a:rPr sz="3200" b="1">
                <a:solidFill>
                  <a:srgbClr val="F5F7FB"/>
                </a:solidFill>
                <a:latin typeface="Calibri"/>
              </a:rPr>
              <a:t>System Proposal</a:t>
            </a:r>
          </a:p>
        </p:txBody>
      </p:sp>
      <p:sp>
        <p:nvSpPr>
          <p:cNvPr id="19" name="TextBox 18"/>
          <p:cNvSpPr txBox="1"/>
          <p:nvPr/>
        </p:nvSpPr>
        <p:spPr>
          <a:xfrm>
            <a:off x="4754880" y="4617720"/>
            <a:ext cx="6949440" cy="365760"/>
          </a:xfrm>
          <a:prstGeom prst="rect">
            <a:avLst/>
          </a:prstGeom>
          <a:noFill/>
        </p:spPr>
        <p:txBody>
          <a:bodyPr wrap="square" lIns="0" tIns="0" rIns="0" bIns="0" anchor="t">
            <a:spAutoFit/>
          </a:bodyPr>
          <a:lstStyle/>
          <a:p>
            <a:pPr algn="l">
              <a:lnSpc>
                <a:spcPct val="145000"/>
              </a:lnSpc>
            </a:pPr>
            <a:r>
              <a:rPr sz="1200" b="0">
                <a:solidFill>
                  <a:srgbClr val="C7CFDE"/>
                </a:solidFill>
                <a:latin typeface="Calibri"/>
              </a:rPr>
              <a:t>A WhatsApp-integrated operations layer — built to bring order,</a:t>
            </a:r>
          </a:p>
          <a:p>
            <a:pPr algn="l">
              <a:lnSpc>
                <a:spcPct val="145000"/>
              </a:lnSpc>
            </a:pPr>
            <a:r>
              <a:rPr sz="1200" b="0">
                <a:solidFill>
                  <a:srgbClr val="C7CFDE"/>
                </a:solidFill>
                <a:latin typeface="Calibri"/>
              </a:rPr>
              <a:t>visibility and accountability to every site, every day.</a:t>
            </a:r>
          </a:p>
        </p:txBody>
      </p:sp>
      <p:sp>
        <p:nvSpPr>
          <p:cNvPr id="20" name="Rounded Rectangle 19"/>
          <p:cNvSpPr/>
          <p:nvPr/>
        </p:nvSpPr>
        <p:spPr>
          <a:xfrm>
            <a:off x="4754880" y="5486400"/>
            <a:ext cx="6949440" cy="868680"/>
          </a:xfrm>
          <a:prstGeom prst="roundRect">
            <a:avLst>
              <a:gd name="adj" fmla="val 18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5650992"/>
            <a:ext cx="3657600" cy="274320"/>
          </a:xfrm>
          <a:prstGeom prst="rect">
            <a:avLst/>
          </a:prstGeom>
          <a:noFill/>
        </p:spPr>
        <p:txBody>
          <a:bodyPr wrap="square" lIns="0" tIns="0" rIns="0" bIns="0" anchor="t">
            <a:spAutoFit/>
          </a:bodyPr>
          <a:lstStyle/>
          <a:p>
            <a:pPr algn="l">
              <a:lnSpc>
                <a:spcPct val="115000"/>
              </a:lnSpc>
            </a:pPr>
            <a:r>
              <a:rPr sz="850" b="1" spc="400">
                <a:solidFill>
                  <a:srgbClr val="46E0CB"/>
                </a:solidFill>
                <a:latin typeface="Calibri"/>
              </a:rPr>
              <a:t>PREPARED BY</a:t>
            </a:r>
          </a:p>
        </p:txBody>
      </p:sp>
      <p:sp>
        <p:nvSpPr>
          <p:cNvPr id="22" name="TextBox 21"/>
          <p:cNvSpPr txBox="1"/>
          <p:nvPr/>
        </p:nvSpPr>
        <p:spPr>
          <a:xfrm>
            <a:off x="5074920" y="5897880"/>
            <a:ext cx="3657600" cy="365760"/>
          </a:xfrm>
          <a:prstGeom prst="rect">
            <a:avLst/>
          </a:prstGeom>
          <a:noFill/>
        </p:spPr>
        <p:txBody>
          <a:bodyPr wrap="square" lIns="0" tIns="0" rIns="0" bIns="0" anchor="t">
            <a:spAutoFit/>
          </a:bodyPr>
          <a:lstStyle/>
          <a:p>
            <a:pPr algn="l">
              <a:lnSpc>
                <a:spcPct val="115000"/>
              </a:lnSpc>
            </a:pPr>
            <a:r>
              <a:rPr sz="1300" b="1">
                <a:solidFill>
                  <a:srgbClr val="F5F7FB"/>
                </a:solidFill>
                <a:latin typeface="Calibri"/>
              </a:rPr>
              <a:t>GenosAI Tech  ·  Founder: Rohan Malik</a:t>
            </a:r>
          </a:p>
        </p:txBody>
      </p:sp>
      <p:sp>
        <p:nvSpPr>
          <p:cNvPr id="23" name="Rounded Rectangle 22"/>
          <p:cNvSpPr/>
          <p:nvPr/>
        </p:nvSpPr>
        <p:spPr>
          <a:xfrm>
            <a:off x="9692640" y="5742432"/>
            <a:ext cx="1828800" cy="365760"/>
          </a:xfrm>
          <a:prstGeom prst="roundRect">
            <a:avLst>
              <a:gd name="adj" fmla="val 4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692640" y="5742432"/>
            <a:ext cx="1828800" cy="365760"/>
          </a:xfrm>
          <a:prstGeom prst="rect">
            <a:avLst/>
          </a:prstGeom>
          <a:noFill/>
        </p:spPr>
        <p:txBody>
          <a:bodyPr wrap="square" lIns="0" tIns="0" rIns="0" bIns="0" anchor="ctr">
            <a:spAutoFit/>
          </a:bodyPr>
          <a:lstStyle/>
          <a:p>
            <a:pPr algn="ctr">
              <a:lnSpc>
                <a:spcPct val="115000"/>
              </a:lnSpc>
            </a:pPr>
            <a:r>
              <a:rPr sz="900" b="1" spc="200">
                <a:solidFill>
                  <a:srgbClr val="46E0CB"/>
                </a:solidFill>
                <a:latin typeface="Calibri"/>
              </a:rPr>
              <a:t>v1.0  ·  Draft Proposal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292608" cy="2794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4320"/>
            <a:ext cx="4572000" cy="320040"/>
          </a:xfrm>
          <a:prstGeom prst="rect">
            <a:avLst/>
          </a:prstGeom>
          <a:noFill/>
        </p:spPr>
        <p:txBody>
          <a:bodyPr wrap="square" lIns="0" tIns="0" rIns="0" bIns="0" anchor="t">
            <a:spAutoFit/>
          </a:bodyPr>
          <a:lstStyle/>
          <a:p>
            <a:pPr algn="l">
              <a:lnSpc>
                <a:spcPct val="115000"/>
              </a:lnSpc>
            </a:pPr>
            <a:r>
              <a:rPr sz="900" b="1" spc="300">
                <a:solidFill>
                  <a:srgbClr val="8A95AE"/>
                </a:solidFill>
                <a:latin typeface="Calibri"/>
              </a:rPr>
              <a:t>GENOSAI  ×  AQUA TECHNIC</a:t>
            </a:r>
          </a:p>
        </p:txBody>
      </p:sp>
      <p:sp>
        <p:nvSpPr>
          <p:cNvPr id="5" name="TextBox 4"/>
          <p:cNvSpPr txBox="1"/>
          <p:nvPr/>
        </p:nvSpPr>
        <p:spPr>
          <a:xfrm>
            <a:off x="7315200" y="274320"/>
            <a:ext cx="4434840" cy="320040"/>
          </a:xfrm>
          <a:prstGeom prst="rect">
            <a:avLst/>
          </a:prstGeom>
          <a:noFill/>
        </p:spPr>
        <p:txBody>
          <a:bodyPr wrap="square" lIns="0" tIns="0" rIns="0" bIns="0" anchor="t">
            <a:spAutoFit/>
          </a:bodyPr>
          <a:lstStyle/>
          <a:p>
            <a:pPr algn="r">
              <a:lnSpc>
                <a:spcPct val="115000"/>
              </a:lnSpc>
            </a:pPr>
            <a:r>
              <a:rPr sz="900" b="1" spc="300">
                <a:solidFill>
                  <a:srgbClr val="8A95AE"/>
                </a:solidFill>
                <a:latin typeface="Calibri"/>
              </a:rPr>
              <a:t>01  ·  THE PROBLEM</a:t>
            </a:r>
          </a:p>
        </p:txBody>
      </p:sp>
      <p:cxnSp>
        <p:nvCxnSpPr>
          <p:cNvPr id="6" name="Connector 5"/>
          <p:cNvCxnSpPr/>
          <p:nvPr/>
        </p:nvCxnSpPr>
        <p:spPr>
          <a:xfrm>
            <a:off x="502920" y="6446520"/>
            <a:ext cx="11183112" cy="0"/>
          </a:xfrm>
          <a:prstGeom prst="line">
            <a:avLst/>
          </a:prstGeom>
          <a:ln w="6350">
            <a:solidFill>
              <a:srgbClr val="232E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10528"/>
            <a:ext cx="5486400" cy="274320"/>
          </a:xfrm>
          <a:prstGeom prst="rect">
            <a:avLst/>
          </a:prstGeom>
          <a:noFill/>
        </p:spPr>
        <p:txBody>
          <a:bodyPr wrap="square" lIns="0" tIns="0" rIns="0" bIns="0" anchor="t">
            <a:spAutoFit/>
          </a:bodyPr>
          <a:lstStyle/>
          <a:p>
            <a:pPr algn="l">
              <a:lnSpc>
                <a:spcPct val="115000"/>
              </a:lnSpc>
            </a:pPr>
            <a:r>
              <a:rPr sz="800" b="0">
                <a:solidFill>
                  <a:srgbClr val="8A95AE"/>
                </a:solidFill>
                <a:latin typeface="Calibri"/>
              </a:rPr>
              <a:t>Operational Automation &amp; Employee Management System</a:t>
            </a:r>
          </a:p>
        </p:txBody>
      </p:sp>
      <p:sp>
        <p:nvSpPr>
          <p:cNvPr id="8" name="TextBox 7"/>
          <p:cNvSpPr txBox="1"/>
          <p:nvPr/>
        </p:nvSpPr>
        <p:spPr>
          <a:xfrm>
            <a:off x="6400800" y="6510528"/>
            <a:ext cx="5285232" cy="274320"/>
          </a:xfrm>
          <a:prstGeom prst="rect">
            <a:avLst/>
          </a:prstGeom>
          <a:noFill/>
        </p:spPr>
        <p:txBody>
          <a:bodyPr wrap="square" lIns="0" tIns="0" rIns="0" bIns="0" anchor="t">
            <a:spAutoFit/>
          </a:bodyPr>
          <a:lstStyle/>
          <a:p>
            <a:pPr algn="r">
              <a:lnSpc>
                <a:spcPct val="115000"/>
              </a:lnSpc>
            </a:pPr>
            <a:r>
              <a:rPr sz="800" b="0" spc="200">
                <a:solidFill>
                  <a:srgbClr val="8A95AE"/>
                </a:solidFill>
                <a:latin typeface="Calibri"/>
              </a:rPr>
              <a:t>02 / 16</a:t>
            </a:r>
          </a:p>
        </p:txBody>
      </p:sp>
      <p:sp>
        <p:nvSpPr>
          <p:cNvPr id="9" name="Rectangle 8"/>
          <p:cNvSpPr/>
          <p:nvPr/>
        </p:nvSpPr>
        <p:spPr>
          <a:xfrm>
            <a:off x="502920" y="914400"/>
            <a:ext cx="228600" cy="25400"/>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804672"/>
            <a:ext cx="7315200" cy="27432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WHERE OPERATIONS QUIETLY BREAK</a:t>
            </a:r>
          </a:p>
        </p:txBody>
      </p:sp>
      <p:sp>
        <p:nvSpPr>
          <p:cNvPr id="11" name="TextBox 10"/>
          <p:cNvSpPr txBox="1"/>
          <p:nvPr/>
        </p:nvSpPr>
        <p:spPr>
          <a:xfrm>
            <a:off x="502920" y="1143000"/>
            <a:ext cx="11155680" cy="868680"/>
          </a:xfrm>
          <a:prstGeom prst="rect">
            <a:avLst/>
          </a:prstGeom>
          <a:noFill/>
        </p:spPr>
        <p:txBody>
          <a:bodyPr wrap="square" lIns="0" tIns="0" rIns="0" bIns="0" anchor="t">
            <a:spAutoFit/>
          </a:bodyPr>
          <a:lstStyle/>
          <a:p>
            <a:pPr algn="l">
              <a:lnSpc>
                <a:spcPct val="105000"/>
              </a:lnSpc>
            </a:pPr>
            <a:r>
              <a:rPr sz="3400" b="1">
                <a:solidFill>
                  <a:srgbClr val="F5F7FB"/>
                </a:solidFill>
                <a:latin typeface="Calibri"/>
              </a:rPr>
              <a:t>Current Operational Challenges</a:t>
            </a:r>
          </a:p>
        </p:txBody>
      </p:sp>
      <p:sp>
        <p:nvSpPr>
          <p:cNvPr id="12" name="TextBox 11"/>
          <p:cNvSpPr txBox="1"/>
          <p:nvPr/>
        </p:nvSpPr>
        <p:spPr>
          <a:xfrm>
            <a:off x="502920" y="1993392"/>
            <a:ext cx="10515600" cy="548640"/>
          </a:xfrm>
          <a:prstGeom prst="rect">
            <a:avLst/>
          </a:prstGeom>
          <a:noFill/>
        </p:spPr>
        <p:txBody>
          <a:bodyPr wrap="square" lIns="0" tIns="0" rIns="0" bIns="0" anchor="t">
            <a:spAutoFit/>
          </a:bodyPr>
          <a:lstStyle/>
          <a:p>
            <a:pPr algn="l">
              <a:lnSpc>
                <a:spcPct val="135000"/>
              </a:lnSpc>
            </a:pPr>
            <a:r>
              <a:rPr sz="1300" b="0">
                <a:solidFill>
                  <a:srgbClr val="8A95AE"/>
                </a:solidFill>
                <a:latin typeface="Calibri"/>
              </a:rPr>
              <a:t>Most of the day-to-day chaos at Aqua Technic isn't caused by bad people —</a:t>
            </a:r>
          </a:p>
          <a:p>
            <a:pPr algn="l">
              <a:lnSpc>
                <a:spcPct val="135000"/>
              </a:lnSpc>
            </a:pPr>
            <a:r>
              <a:rPr sz="1300" b="0">
                <a:solidFill>
                  <a:srgbClr val="8A95AE"/>
                </a:solidFill>
                <a:latin typeface="Calibri"/>
              </a:rPr>
              <a:t>it's caused by tools that were never built for site-driven, multi-team operations.</a:t>
            </a:r>
          </a:p>
        </p:txBody>
      </p:sp>
      <p:sp>
        <p:nvSpPr>
          <p:cNvPr id="13" name="Rounded Rectangle 12"/>
          <p:cNvSpPr/>
          <p:nvPr/>
        </p:nvSpPr>
        <p:spPr>
          <a:xfrm>
            <a:off x="502920" y="2743200"/>
            <a:ext cx="2788920" cy="173736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2971800"/>
            <a:ext cx="27940" cy="128016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926080"/>
            <a:ext cx="2423160" cy="274320"/>
          </a:xfrm>
          <a:prstGeom prst="rect">
            <a:avLst/>
          </a:prstGeom>
          <a:noFill/>
        </p:spPr>
        <p:txBody>
          <a:bodyPr wrap="square" lIns="0" tIns="0" rIns="0" bIns="0" anchor="t">
            <a:spAutoFit/>
          </a:bodyPr>
          <a:lstStyle/>
          <a:p>
            <a:pPr algn="l">
              <a:lnSpc>
                <a:spcPct val="115000"/>
              </a:lnSpc>
            </a:pPr>
            <a:r>
              <a:rPr sz="900" b="1" spc="300">
                <a:solidFill>
                  <a:srgbClr val="D4B066"/>
                </a:solidFill>
                <a:latin typeface="Calibri"/>
              </a:rPr>
              <a:t>01</a:t>
            </a:r>
          </a:p>
        </p:txBody>
      </p:sp>
      <p:sp>
        <p:nvSpPr>
          <p:cNvPr id="16" name="TextBox 15"/>
          <p:cNvSpPr txBox="1"/>
          <p:nvPr/>
        </p:nvSpPr>
        <p:spPr>
          <a:xfrm>
            <a:off x="731520" y="3154680"/>
            <a:ext cx="2423160" cy="411480"/>
          </a:xfrm>
          <a:prstGeom prst="rect">
            <a:avLst/>
          </a:prstGeom>
          <a:noFill/>
        </p:spPr>
        <p:txBody>
          <a:bodyPr wrap="square" lIns="0" tIns="0" rIns="0" bIns="0" anchor="t">
            <a:spAutoFit/>
          </a:bodyPr>
          <a:lstStyle/>
          <a:p>
            <a:pPr algn="l">
              <a:lnSpc>
                <a:spcPct val="115000"/>
              </a:lnSpc>
            </a:pPr>
            <a:r>
              <a:rPr sz="1300" b="1">
                <a:solidFill>
                  <a:srgbClr val="F5F7FB"/>
                </a:solidFill>
                <a:latin typeface="Calibri"/>
              </a:rPr>
              <a:t>Scattered WhatsApp threads</a:t>
            </a:r>
          </a:p>
        </p:txBody>
      </p:sp>
      <p:sp>
        <p:nvSpPr>
          <p:cNvPr id="17" name="TextBox 16"/>
          <p:cNvSpPr txBox="1"/>
          <p:nvPr/>
        </p:nvSpPr>
        <p:spPr>
          <a:xfrm>
            <a:off x="731520" y="3566160"/>
            <a:ext cx="2423160" cy="86868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Conversations, photos and approvals spread across dozens of groups and private chats — nothing is searchable later.</a:t>
            </a:r>
          </a:p>
        </p:txBody>
      </p:sp>
      <p:sp>
        <p:nvSpPr>
          <p:cNvPr id="18" name="Rounded Rectangle 17"/>
          <p:cNvSpPr/>
          <p:nvPr/>
        </p:nvSpPr>
        <p:spPr>
          <a:xfrm>
            <a:off x="3401568" y="2743200"/>
            <a:ext cx="2788920" cy="173736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401568" y="2971800"/>
            <a:ext cx="27940" cy="128016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30168" y="2926080"/>
            <a:ext cx="2423160" cy="274320"/>
          </a:xfrm>
          <a:prstGeom prst="rect">
            <a:avLst/>
          </a:prstGeom>
          <a:noFill/>
        </p:spPr>
        <p:txBody>
          <a:bodyPr wrap="square" lIns="0" tIns="0" rIns="0" bIns="0" anchor="t">
            <a:spAutoFit/>
          </a:bodyPr>
          <a:lstStyle/>
          <a:p>
            <a:pPr algn="l">
              <a:lnSpc>
                <a:spcPct val="115000"/>
              </a:lnSpc>
            </a:pPr>
            <a:r>
              <a:rPr sz="900" b="1" spc="300">
                <a:solidFill>
                  <a:srgbClr val="D4B066"/>
                </a:solidFill>
                <a:latin typeface="Calibri"/>
              </a:rPr>
              <a:t>02</a:t>
            </a:r>
          </a:p>
        </p:txBody>
      </p:sp>
      <p:sp>
        <p:nvSpPr>
          <p:cNvPr id="21" name="TextBox 20"/>
          <p:cNvSpPr txBox="1"/>
          <p:nvPr/>
        </p:nvSpPr>
        <p:spPr>
          <a:xfrm>
            <a:off x="3630168" y="3154680"/>
            <a:ext cx="2423160" cy="411480"/>
          </a:xfrm>
          <a:prstGeom prst="rect">
            <a:avLst/>
          </a:prstGeom>
          <a:noFill/>
        </p:spPr>
        <p:txBody>
          <a:bodyPr wrap="square" lIns="0" tIns="0" rIns="0" bIns="0" anchor="t">
            <a:spAutoFit/>
          </a:bodyPr>
          <a:lstStyle/>
          <a:p>
            <a:pPr algn="l">
              <a:lnSpc>
                <a:spcPct val="115000"/>
              </a:lnSpc>
            </a:pPr>
            <a:r>
              <a:rPr sz="1300" b="1">
                <a:solidFill>
                  <a:srgbClr val="F5F7FB"/>
                </a:solidFill>
                <a:latin typeface="Calibri"/>
              </a:rPr>
              <a:t>Missed updates</a:t>
            </a:r>
          </a:p>
        </p:txBody>
      </p:sp>
      <p:sp>
        <p:nvSpPr>
          <p:cNvPr id="22" name="TextBox 21"/>
          <p:cNvSpPr txBox="1"/>
          <p:nvPr/>
        </p:nvSpPr>
        <p:spPr>
          <a:xfrm>
            <a:off x="3630168" y="3566160"/>
            <a:ext cx="2423160" cy="86868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Important site updates get buried under unrelated forwards, jokes and personal messages.</a:t>
            </a:r>
          </a:p>
        </p:txBody>
      </p:sp>
      <p:sp>
        <p:nvSpPr>
          <p:cNvPr id="23" name="Rounded Rectangle 22"/>
          <p:cNvSpPr/>
          <p:nvPr/>
        </p:nvSpPr>
        <p:spPr>
          <a:xfrm>
            <a:off x="6300216" y="2743200"/>
            <a:ext cx="2788920" cy="173736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300216" y="2971800"/>
            <a:ext cx="27940" cy="128016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28816" y="2926080"/>
            <a:ext cx="2423160" cy="274320"/>
          </a:xfrm>
          <a:prstGeom prst="rect">
            <a:avLst/>
          </a:prstGeom>
          <a:noFill/>
        </p:spPr>
        <p:txBody>
          <a:bodyPr wrap="square" lIns="0" tIns="0" rIns="0" bIns="0" anchor="t">
            <a:spAutoFit/>
          </a:bodyPr>
          <a:lstStyle/>
          <a:p>
            <a:pPr algn="l">
              <a:lnSpc>
                <a:spcPct val="115000"/>
              </a:lnSpc>
            </a:pPr>
            <a:r>
              <a:rPr sz="900" b="1" spc="300">
                <a:solidFill>
                  <a:srgbClr val="D4B066"/>
                </a:solidFill>
                <a:latin typeface="Calibri"/>
              </a:rPr>
              <a:t>03</a:t>
            </a:r>
          </a:p>
        </p:txBody>
      </p:sp>
      <p:sp>
        <p:nvSpPr>
          <p:cNvPr id="26" name="TextBox 25"/>
          <p:cNvSpPr txBox="1"/>
          <p:nvPr/>
        </p:nvSpPr>
        <p:spPr>
          <a:xfrm>
            <a:off x="6528816" y="3154680"/>
            <a:ext cx="2423160" cy="411480"/>
          </a:xfrm>
          <a:prstGeom prst="rect">
            <a:avLst/>
          </a:prstGeom>
          <a:noFill/>
        </p:spPr>
        <p:txBody>
          <a:bodyPr wrap="square" lIns="0" tIns="0" rIns="0" bIns="0" anchor="t">
            <a:spAutoFit/>
          </a:bodyPr>
          <a:lstStyle/>
          <a:p>
            <a:pPr algn="l">
              <a:lnSpc>
                <a:spcPct val="115000"/>
              </a:lnSpc>
            </a:pPr>
            <a:r>
              <a:rPr sz="1300" b="1">
                <a:solidFill>
                  <a:srgbClr val="F5F7FB"/>
                </a:solidFill>
                <a:latin typeface="Calibri"/>
              </a:rPr>
              <a:t>Delayed reporting</a:t>
            </a:r>
          </a:p>
        </p:txBody>
      </p:sp>
      <p:sp>
        <p:nvSpPr>
          <p:cNvPr id="27" name="TextBox 26"/>
          <p:cNvSpPr txBox="1"/>
          <p:nvPr/>
        </p:nvSpPr>
        <p:spPr>
          <a:xfrm>
            <a:off x="6528816" y="3566160"/>
            <a:ext cx="2423160" cy="86868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Supervisors send summaries hours late — issues are discovered after damage is done.</a:t>
            </a:r>
          </a:p>
        </p:txBody>
      </p:sp>
      <p:sp>
        <p:nvSpPr>
          <p:cNvPr id="28" name="Rounded Rectangle 27"/>
          <p:cNvSpPr/>
          <p:nvPr/>
        </p:nvSpPr>
        <p:spPr>
          <a:xfrm>
            <a:off x="9198864" y="2743200"/>
            <a:ext cx="2788920" cy="173736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198864" y="2971800"/>
            <a:ext cx="27940" cy="128016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427464" y="2926080"/>
            <a:ext cx="2423160" cy="274320"/>
          </a:xfrm>
          <a:prstGeom prst="rect">
            <a:avLst/>
          </a:prstGeom>
          <a:noFill/>
        </p:spPr>
        <p:txBody>
          <a:bodyPr wrap="square" lIns="0" tIns="0" rIns="0" bIns="0" anchor="t">
            <a:spAutoFit/>
          </a:bodyPr>
          <a:lstStyle/>
          <a:p>
            <a:pPr algn="l">
              <a:lnSpc>
                <a:spcPct val="115000"/>
              </a:lnSpc>
            </a:pPr>
            <a:r>
              <a:rPr sz="900" b="1" spc="300">
                <a:solidFill>
                  <a:srgbClr val="D4B066"/>
                </a:solidFill>
                <a:latin typeface="Calibri"/>
              </a:rPr>
              <a:t>04</a:t>
            </a:r>
          </a:p>
        </p:txBody>
      </p:sp>
      <p:sp>
        <p:nvSpPr>
          <p:cNvPr id="31" name="TextBox 30"/>
          <p:cNvSpPr txBox="1"/>
          <p:nvPr/>
        </p:nvSpPr>
        <p:spPr>
          <a:xfrm>
            <a:off x="9427464" y="3154680"/>
            <a:ext cx="2423160" cy="411480"/>
          </a:xfrm>
          <a:prstGeom prst="rect">
            <a:avLst/>
          </a:prstGeom>
          <a:noFill/>
        </p:spPr>
        <p:txBody>
          <a:bodyPr wrap="square" lIns="0" tIns="0" rIns="0" bIns="0" anchor="t">
            <a:spAutoFit/>
          </a:bodyPr>
          <a:lstStyle/>
          <a:p>
            <a:pPr algn="l">
              <a:lnSpc>
                <a:spcPct val="115000"/>
              </a:lnSpc>
            </a:pPr>
            <a:r>
              <a:rPr sz="1300" b="1">
                <a:solidFill>
                  <a:srgbClr val="F5F7FB"/>
                </a:solidFill>
                <a:latin typeface="Calibri"/>
              </a:rPr>
              <a:t>No employee tracking</a:t>
            </a:r>
          </a:p>
        </p:txBody>
      </p:sp>
      <p:sp>
        <p:nvSpPr>
          <p:cNvPr id="32" name="TextBox 31"/>
          <p:cNvSpPr txBox="1"/>
          <p:nvPr/>
        </p:nvSpPr>
        <p:spPr>
          <a:xfrm>
            <a:off x="9427464" y="3566160"/>
            <a:ext cx="2423160" cy="86868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Hard to know who reached which site, who left early, and who skipped the day entirely.</a:t>
            </a:r>
          </a:p>
        </p:txBody>
      </p:sp>
      <p:sp>
        <p:nvSpPr>
          <p:cNvPr id="33" name="Rounded Rectangle 32"/>
          <p:cNvSpPr/>
          <p:nvPr/>
        </p:nvSpPr>
        <p:spPr>
          <a:xfrm>
            <a:off x="502920" y="4590288"/>
            <a:ext cx="2788920" cy="173736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2920" y="4818888"/>
            <a:ext cx="27940" cy="128016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4773168"/>
            <a:ext cx="2423160" cy="274320"/>
          </a:xfrm>
          <a:prstGeom prst="rect">
            <a:avLst/>
          </a:prstGeom>
          <a:noFill/>
        </p:spPr>
        <p:txBody>
          <a:bodyPr wrap="square" lIns="0" tIns="0" rIns="0" bIns="0" anchor="t">
            <a:spAutoFit/>
          </a:bodyPr>
          <a:lstStyle/>
          <a:p>
            <a:pPr algn="l">
              <a:lnSpc>
                <a:spcPct val="115000"/>
              </a:lnSpc>
            </a:pPr>
            <a:r>
              <a:rPr sz="900" b="1" spc="300">
                <a:solidFill>
                  <a:srgbClr val="D4B066"/>
                </a:solidFill>
                <a:latin typeface="Calibri"/>
              </a:rPr>
              <a:t>05</a:t>
            </a:r>
          </a:p>
        </p:txBody>
      </p:sp>
      <p:sp>
        <p:nvSpPr>
          <p:cNvPr id="36" name="TextBox 35"/>
          <p:cNvSpPr txBox="1"/>
          <p:nvPr/>
        </p:nvSpPr>
        <p:spPr>
          <a:xfrm>
            <a:off x="731520" y="5001768"/>
            <a:ext cx="2423160" cy="411480"/>
          </a:xfrm>
          <a:prstGeom prst="rect">
            <a:avLst/>
          </a:prstGeom>
          <a:noFill/>
        </p:spPr>
        <p:txBody>
          <a:bodyPr wrap="square" lIns="0" tIns="0" rIns="0" bIns="0" anchor="t">
            <a:spAutoFit/>
          </a:bodyPr>
          <a:lstStyle/>
          <a:p>
            <a:pPr algn="l">
              <a:lnSpc>
                <a:spcPct val="115000"/>
              </a:lnSpc>
            </a:pPr>
            <a:r>
              <a:rPr sz="1300" b="1">
                <a:solidFill>
                  <a:srgbClr val="F5F7FB"/>
                </a:solidFill>
                <a:latin typeface="Calibri"/>
              </a:rPr>
              <a:t>No central visibility</a:t>
            </a:r>
          </a:p>
        </p:txBody>
      </p:sp>
      <p:sp>
        <p:nvSpPr>
          <p:cNvPr id="37" name="TextBox 36"/>
          <p:cNvSpPr txBox="1"/>
          <p:nvPr/>
        </p:nvSpPr>
        <p:spPr>
          <a:xfrm>
            <a:off x="731520" y="5413248"/>
            <a:ext cx="2423160" cy="86868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Owner and managers have no single screen to see what's happening across all live sites.</a:t>
            </a:r>
          </a:p>
        </p:txBody>
      </p:sp>
      <p:sp>
        <p:nvSpPr>
          <p:cNvPr id="38" name="Rounded Rectangle 37"/>
          <p:cNvSpPr/>
          <p:nvPr/>
        </p:nvSpPr>
        <p:spPr>
          <a:xfrm>
            <a:off x="3401568" y="4590288"/>
            <a:ext cx="2788920" cy="173736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401568" y="4818888"/>
            <a:ext cx="27940" cy="128016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30168" y="4773168"/>
            <a:ext cx="2423160" cy="274320"/>
          </a:xfrm>
          <a:prstGeom prst="rect">
            <a:avLst/>
          </a:prstGeom>
          <a:noFill/>
        </p:spPr>
        <p:txBody>
          <a:bodyPr wrap="square" lIns="0" tIns="0" rIns="0" bIns="0" anchor="t">
            <a:spAutoFit/>
          </a:bodyPr>
          <a:lstStyle/>
          <a:p>
            <a:pPr algn="l">
              <a:lnSpc>
                <a:spcPct val="115000"/>
              </a:lnSpc>
            </a:pPr>
            <a:r>
              <a:rPr sz="900" b="1" spc="300">
                <a:solidFill>
                  <a:srgbClr val="D4B066"/>
                </a:solidFill>
                <a:latin typeface="Calibri"/>
              </a:rPr>
              <a:t>06</a:t>
            </a:r>
          </a:p>
        </p:txBody>
      </p:sp>
      <p:sp>
        <p:nvSpPr>
          <p:cNvPr id="41" name="TextBox 40"/>
          <p:cNvSpPr txBox="1"/>
          <p:nvPr/>
        </p:nvSpPr>
        <p:spPr>
          <a:xfrm>
            <a:off x="3630168" y="5001768"/>
            <a:ext cx="2423160" cy="411480"/>
          </a:xfrm>
          <a:prstGeom prst="rect">
            <a:avLst/>
          </a:prstGeom>
          <a:noFill/>
        </p:spPr>
        <p:txBody>
          <a:bodyPr wrap="square" lIns="0" tIns="0" rIns="0" bIns="0" anchor="t">
            <a:spAutoFit/>
          </a:bodyPr>
          <a:lstStyle/>
          <a:p>
            <a:pPr algn="l">
              <a:lnSpc>
                <a:spcPct val="115000"/>
              </a:lnSpc>
            </a:pPr>
            <a:r>
              <a:rPr sz="1300" b="1">
                <a:solidFill>
                  <a:srgbClr val="F5F7FB"/>
                </a:solidFill>
                <a:latin typeface="Calibri"/>
              </a:rPr>
              <a:t>Constant manual follow-ups</a:t>
            </a:r>
          </a:p>
        </p:txBody>
      </p:sp>
      <p:sp>
        <p:nvSpPr>
          <p:cNvPr id="42" name="TextBox 41"/>
          <p:cNvSpPr txBox="1"/>
          <p:nvPr/>
        </p:nvSpPr>
        <p:spPr>
          <a:xfrm>
            <a:off x="3630168" y="5413248"/>
            <a:ext cx="2423160" cy="86868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Managers spend hours every day chasing the same updates from the same people.</a:t>
            </a:r>
          </a:p>
        </p:txBody>
      </p:sp>
      <p:sp>
        <p:nvSpPr>
          <p:cNvPr id="43" name="Rounded Rectangle 42"/>
          <p:cNvSpPr/>
          <p:nvPr/>
        </p:nvSpPr>
        <p:spPr>
          <a:xfrm>
            <a:off x="6300216" y="4590288"/>
            <a:ext cx="2788920" cy="173736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300216" y="4818888"/>
            <a:ext cx="27940" cy="128016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528816" y="4773168"/>
            <a:ext cx="2423160" cy="274320"/>
          </a:xfrm>
          <a:prstGeom prst="rect">
            <a:avLst/>
          </a:prstGeom>
          <a:noFill/>
        </p:spPr>
        <p:txBody>
          <a:bodyPr wrap="square" lIns="0" tIns="0" rIns="0" bIns="0" anchor="t">
            <a:spAutoFit/>
          </a:bodyPr>
          <a:lstStyle/>
          <a:p>
            <a:pPr algn="l">
              <a:lnSpc>
                <a:spcPct val="115000"/>
              </a:lnSpc>
            </a:pPr>
            <a:r>
              <a:rPr sz="900" b="1" spc="300">
                <a:solidFill>
                  <a:srgbClr val="D4B066"/>
                </a:solidFill>
                <a:latin typeface="Calibri"/>
              </a:rPr>
              <a:t>07</a:t>
            </a:r>
          </a:p>
        </p:txBody>
      </p:sp>
      <p:sp>
        <p:nvSpPr>
          <p:cNvPr id="46" name="TextBox 45"/>
          <p:cNvSpPr txBox="1"/>
          <p:nvPr/>
        </p:nvSpPr>
        <p:spPr>
          <a:xfrm>
            <a:off x="6528816" y="5001768"/>
            <a:ext cx="2423160" cy="411480"/>
          </a:xfrm>
          <a:prstGeom prst="rect">
            <a:avLst/>
          </a:prstGeom>
          <a:noFill/>
        </p:spPr>
        <p:txBody>
          <a:bodyPr wrap="square" lIns="0" tIns="0" rIns="0" bIns="0" anchor="t">
            <a:spAutoFit/>
          </a:bodyPr>
          <a:lstStyle/>
          <a:p>
            <a:pPr algn="l">
              <a:lnSpc>
                <a:spcPct val="115000"/>
              </a:lnSpc>
            </a:pPr>
            <a:r>
              <a:rPr sz="1300" b="1">
                <a:solidFill>
                  <a:srgbClr val="F5F7FB"/>
                </a:solidFill>
                <a:latin typeface="Calibri"/>
              </a:rPr>
              <a:t>Inconsistent site reports</a:t>
            </a:r>
          </a:p>
        </p:txBody>
      </p:sp>
      <p:sp>
        <p:nvSpPr>
          <p:cNvPr id="47" name="TextBox 46"/>
          <p:cNvSpPr txBox="1"/>
          <p:nvPr/>
        </p:nvSpPr>
        <p:spPr>
          <a:xfrm>
            <a:off x="6528816" y="5413248"/>
            <a:ext cx="2423160" cy="86868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Every supervisor sends a different format — photos here, voice notes there, numbers missing.</a:t>
            </a:r>
          </a:p>
        </p:txBody>
      </p:sp>
      <p:sp>
        <p:nvSpPr>
          <p:cNvPr id="48" name="Rounded Rectangle 47"/>
          <p:cNvSpPr/>
          <p:nvPr/>
        </p:nvSpPr>
        <p:spPr>
          <a:xfrm>
            <a:off x="9198864" y="4590288"/>
            <a:ext cx="2788920" cy="173736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198864" y="4818888"/>
            <a:ext cx="27940" cy="128016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427464" y="4773168"/>
            <a:ext cx="2423160" cy="274320"/>
          </a:xfrm>
          <a:prstGeom prst="rect">
            <a:avLst/>
          </a:prstGeom>
          <a:noFill/>
        </p:spPr>
        <p:txBody>
          <a:bodyPr wrap="square" lIns="0" tIns="0" rIns="0" bIns="0" anchor="t">
            <a:spAutoFit/>
          </a:bodyPr>
          <a:lstStyle/>
          <a:p>
            <a:pPr algn="l">
              <a:lnSpc>
                <a:spcPct val="115000"/>
              </a:lnSpc>
            </a:pPr>
            <a:r>
              <a:rPr sz="900" b="1" spc="300">
                <a:solidFill>
                  <a:srgbClr val="D4B066"/>
                </a:solidFill>
                <a:latin typeface="Calibri"/>
              </a:rPr>
              <a:t>08</a:t>
            </a:r>
          </a:p>
        </p:txBody>
      </p:sp>
      <p:sp>
        <p:nvSpPr>
          <p:cNvPr id="51" name="TextBox 50"/>
          <p:cNvSpPr txBox="1"/>
          <p:nvPr/>
        </p:nvSpPr>
        <p:spPr>
          <a:xfrm>
            <a:off x="9427464" y="5001768"/>
            <a:ext cx="2423160" cy="411480"/>
          </a:xfrm>
          <a:prstGeom prst="rect">
            <a:avLst/>
          </a:prstGeom>
          <a:noFill/>
        </p:spPr>
        <p:txBody>
          <a:bodyPr wrap="square" lIns="0" tIns="0" rIns="0" bIns="0" anchor="t">
            <a:spAutoFit/>
          </a:bodyPr>
          <a:lstStyle/>
          <a:p>
            <a:pPr algn="l">
              <a:lnSpc>
                <a:spcPct val="115000"/>
              </a:lnSpc>
            </a:pPr>
            <a:r>
              <a:rPr sz="1300" b="1">
                <a:solidFill>
                  <a:srgbClr val="F5F7FB"/>
                </a:solidFill>
                <a:latin typeface="Calibri"/>
              </a:rPr>
              <a:t>Recurring maintenance slips</a:t>
            </a:r>
          </a:p>
        </p:txBody>
      </p:sp>
      <p:sp>
        <p:nvSpPr>
          <p:cNvPr id="52" name="TextBox 51"/>
          <p:cNvSpPr txBox="1"/>
          <p:nvPr/>
        </p:nvSpPr>
        <p:spPr>
          <a:xfrm>
            <a:off x="9427464" y="5413248"/>
            <a:ext cx="2423160" cy="86868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AMC visits and service schedules get forgotten because they live in someone's head.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292608" cy="2794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4320"/>
            <a:ext cx="4572000" cy="320040"/>
          </a:xfrm>
          <a:prstGeom prst="rect">
            <a:avLst/>
          </a:prstGeom>
          <a:noFill/>
        </p:spPr>
        <p:txBody>
          <a:bodyPr wrap="square" lIns="0" tIns="0" rIns="0" bIns="0" anchor="t">
            <a:spAutoFit/>
          </a:bodyPr>
          <a:lstStyle/>
          <a:p>
            <a:pPr algn="l">
              <a:lnSpc>
                <a:spcPct val="115000"/>
              </a:lnSpc>
            </a:pPr>
            <a:r>
              <a:rPr sz="900" b="1" spc="300">
                <a:solidFill>
                  <a:srgbClr val="8A95AE"/>
                </a:solidFill>
                <a:latin typeface="Calibri"/>
              </a:rPr>
              <a:t>GENOSAI  ×  AQUA TECHNIC</a:t>
            </a:r>
          </a:p>
        </p:txBody>
      </p:sp>
      <p:sp>
        <p:nvSpPr>
          <p:cNvPr id="5" name="TextBox 4"/>
          <p:cNvSpPr txBox="1"/>
          <p:nvPr/>
        </p:nvSpPr>
        <p:spPr>
          <a:xfrm>
            <a:off x="7315200" y="274320"/>
            <a:ext cx="4434840" cy="320040"/>
          </a:xfrm>
          <a:prstGeom prst="rect">
            <a:avLst/>
          </a:prstGeom>
          <a:noFill/>
        </p:spPr>
        <p:txBody>
          <a:bodyPr wrap="square" lIns="0" tIns="0" rIns="0" bIns="0" anchor="t">
            <a:spAutoFit/>
          </a:bodyPr>
          <a:lstStyle/>
          <a:p>
            <a:pPr algn="r">
              <a:lnSpc>
                <a:spcPct val="115000"/>
              </a:lnSpc>
            </a:pPr>
            <a:r>
              <a:rPr sz="900" b="1" spc="300">
                <a:solidFill>
                  <a:srgbClr val="8A95AE"/>
                </a:solidFill>
                <a:latin typeface="Calibri"/>
              </a:rPr>
              <a:t>02  ·  THE SOLUTION</a:t>
            </a:r>
          </a:p>
        </p:txBody>
      </p:sp>
      <p:cxnSp>
        <p:nvCxnSpPr>
          <p:cNvPr id="6" name="Connector 5"/>
          <p:cNvCxnSpPr/>
          <p:nvPr/>
        </p:nvCxnSpPr>
        <p:spPr>
          <a:xfrm>
            <a:off x="502920" y="6446520"/>
            <a:ext cx="11183112" cy="0"/>
          </a:xfrm>
          <a:prstGeom prst="line">
            <a:avLst/>
          </a:prstGeom>
          <a:ln w="6350">
            <a:solidFill>
              <a:srgbClr val="232E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10528"/>
            <a:ext cx="5486400" cy="274320"/>
          </a:xfrm>
          <a:prstGeom prst="rect">
            <a:avLst/>
          </a:prstGeom>
          <a:noFill/>
        </p:spPr>
        <p:txBody>
          <a:bodyPr wrap="square" lIns="0" tIns="0" rIns="0" bIns="0" anchor="t">
            <a:spAutoFit/>
          </a:bodyPr>
          <a:lstStyle/>
          <a:p>
            <a:pPr algn="l">
              <a:lnSpc>
                <a:spcPct val="115000"/>
              </a:lnSpc>
            </a:pPr>
            <a:r>
              <a:rPr sz="800" b="0">
                <a:solidFill>
                  <a:srgbClr val="8A95AE"/>
                </a:solidFill>
                <a:latin typeface="Calibri"/>
              </a:rPr>
              <a:t>Operational Automation &amp; Employee Management System</a:t>
            </a:r>
          </a:p>
        </p:txBody>
      </p:sp>
      <p:sp>
        <p:nvSpPr>
          <p:cNvPr id="8" name="TextBox 7"/>
          <p:cNvSpPr txBox="1"/>
          <p:nvPr/>
        </p:nvSpPr>
        <p:spPr>
          <a:xfrm>
            <a:off x="6400800" y="6510528"/>
            <a:ext cx="5285232" cy="274320"/>
          </a:xfrm>
          <a:prstGeom prst="rect">
            <a:avLst/>
          </a:prstGeom>
          <a:noFill/>
        </p:spPr>
        <p:txBody>
          <a:bodyPr wrap="square" lIns="0" tIns="0" rIns="0" bIns="0" anchor="t">
            <a:spAutoFit/>
          </a:bodyPr>
          <a:lstStyle/>
          <a:p>
            <a:pPr algn="r">
              <a:lnSpc>
                <a:spcPct val="115000"/>
              </a:lnSpc>
            </a:pPr>
            <a:r>
              <a:rPr sz="800" b="0" spc="200">
                <a:solidFill>
                  <a:srgbClr val="8A95AE"/>
                </a:solidFill>
                <a:latin typeface="Calibri"/>
              </a:rPr>
              <a:t>03 / 16</a:t>
            </a:r>
          </a:p>
        </p:txBody>
      </p:sp>
      <p:sp>
        <p:nvSpPr>
          <p:cNvPr id="9" name="Rectangle 8"/>
          <p:cNvSpPr/>
          <p:nvPr/>
        </p:nvSpPr>
        <p:spPr>
          <a:xfrm>
            <a:off x="502920" y="914400"/>
            <a:ext cx="228600" cy="25400"/>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804672"/>
            <a:ext cx="7315200" cy="27432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THE CORE IDEA</a:t>
            </a:r>
          </a:p>
        </p:txBody>
      </p:sp>
      <p:sp>
        <p:nvSpPr>
          <p:cNvPr id="11" name="TextBox 10"/>
          <p:cNvSpPr txBox="1"/>
          <p:nvPr/>
        </p:nvSpPr>
        <p:spPr>
          <a:xfrm>
            <a:off x="502920" y="1143000"/>
            <a:ext cx="11155680" cy="868680"/>
          </a:xfrm>
          <a:prstGeom prst="rect">
            <a:avLst/>
          </a:prstGeom>
          <a:noFill/>
        </p:spPr>
        <p:txBody>
          <a:bodyPr wrap="square" lIns="0" tIns="0" rIns="0" bIns="0" anchor="t">
            <a:spAutoFit/>
          </a:bodyPr>
          <a:lstStyle/>
          <a:p>
            <a:pPr algn="l">
              <a:lnSpc>
                <a:spcPct val="105000"/>
              </a:lnSpc>
            </a:pPr>
            <a:r>
              <a:rPr sz="3400" b="1">
                <a:solidFill>
                  <a:srgbClr val="F5F7FB"/>
                </a:solidFill>
                <a:latin typeface="Calibri"/>
              </a:rPr>
              <a:t>WhatsApp-Integrated Employee</a:t>
            </a:r>
          </a:p>
          <a:p>
            <a:pPr algn="l">
              <a:lnSpc>
                <a:spcPct val="105000"/>
              </a:lnSpc>
            </a:pPr>
            <a:r>
              <a:rPr sz="3400" b="1">
                <a:solidFill>
                  <a:srgbClr val="F5F7FB"/>
                </a:solidFill>
                <a:latin typeface="Calibri"/>
              </a:rPr>
              <a:t>&amp; Operations Management System</a:t>
            </a:r>
          </a:p>
        </p:txBody>
      </p:sp>
      <p:sp>
        <p:nvSpPr>
          <p:cNvPr id="12" name="Rounded Rectangle 11"/>
          <p:cNvSpPr/>
          <p:nvPr/>
        </p:nvSpPr>
        <p:spPr>
          <a:xfrm>
            <a:off x="502920" y="3108960"/>
            <a:ext cx="6583680" cy="3108960"/>
          </a:xfrm>
          <a:prstGeom prst="roundRect">
            <a:avLst>
              <a:gd name="adj" fmla="val 5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429000"/>
            <a:ext cx="548640" cy="365760"/>
          </a:xfrm>
          <a:prstGeom prst="rect">
            <a:avLst/>
          </a:prstGeom>
          <a:noFill/>
        </p:spPr>
        <p:txBody>
          <a:bodyPr wrap="square" lIns="0" tIns="0" rIns="0" bIns="0" anchor="t">
            <a:spAutoFit/>
          </a:bodyPr>
          <a:lstStyle/>
          <a:p>
            <a:pPr algn="l">
              <a:lnSpc>
                <a:spcPct val="115000"/>
              </a:lnSpc>
            </a:pPr>
            <a:r>
              <a:rPr sz="1400" b="1">
                <a:solidFill>
                  <a:srgbClr val="D4B066"/>
                </a:solidFill>
                <a:latin typeface="Calibri"/>
              </a:rPr>
              <a:t>◆</a:t>
            </a:r>
          </a:p>
        </p:txBody>
      </p:sp>
      <p:sp>
        <p:nvSpPr>
          <p:cNvPr id="14" name="TextBox 13"/>
          <p:cNvSpPr txBox="1"/>
          <p:nvPr/>
        </p:nvSpPr>
        <p:spPr>
          <a:xfrm>
            <a:off x="1325880" y="3429000"/>
            <a:ext cx="5486400" cy="365760"/>
          </a:xfrm>
          <a:prstGeom prst="rect">
            <a:avLst/>
          </a:prstGeom>
          <a:noFill/>
        </p:spPr>
        <p:txBody>
          <a:bodyPr wrap="square" lIns="0" tIns="0" rIns="0" bIns="0" anchor="t">
            <a:spAutoFit/>
          </a:bodyPr>
          <a:lstStyle/>
          <a:p>
            <a:pPr algn="l">
              <a:lnSpc>
                <a:spcPct val="115000"/>
              </a:lnSpc>
            </a:pPr>
            <a:r>
              <a:rPr sz="1500" b="1">
                <a:solidFill>
                  <a:srgbClr val="F5F7FB"/>
                </a:solidFill>
                <a:latin typeface="Calibri"/>
              </a:rPr>
              <a:t>We are not replacing your workflow.</a:t>
            </a:r>
          </a:p>
        </p:txBody>
      </p:sp>
      <p:sp>
        <p:nvSpPr>
          <p:cNvPr id="15" name="TextBox 14"/>
          <p:cNvSpPr txBox="1"/>
          <p:nvPr/>
        </p:nvSpPr>
        <p:spPr>
          <a:xfrm>
            <a:off x="1325880" y="3822192"/>
            <a:ext cx="5486400" cy="365760"/>
          </a:xfrm>
          <a:prstGeom prst="rect">
            <a:avLst/>
          </a:prstGeom>
          <a:noFill/>
        </p:spPr>
        <p:txBody>
          <a:bodyPr wrap="square" lIns="0" tIns="0" rIns="0" bIns="0" anchor="t">
            <a:spAutoFit/>
          </a:bodyPr>
          <a:lstStyle/>
          <a:p>
            <a:pPr algn="l">
              <a:lnSpc>
                <a:spcPct val="115000"/>
              </a:lnSpc>
            </a:pPr>
            <a:r>
              <a:rPr sz="1500" b="1">
                <a:solidFill>
                  <a:srgbClr val="46E0CB"/>
                </a:solidFill>
                <a:latin typeface="Calibri"/>
              </a:rPr>
              <a:t>We are organising it.</a:t>
            </a:r>
          </a:p>
        </p:txBody>
      </p:sp>
      <p:sp>
        <p:nvSpPr>
          <p:cNvPr id="16" name="TextBox 15"/>
          <p:cNvSpPr txBox="1"/>
          <p:nvPr/>
        </p:nvSpPr>
        <p:spPr>
          <a:xfrm>
            <a:off x="914400" y="4434840"/>
            <a:ext cx="5760720" cy="1737360"/>
          </a:xfrm>
          <a:prstGeom prst="rect">
            <a:avLst/>
          </a:prstGeom>
          <a:noFill/>
        </p:spPr>
        <p:txBody>
          <a:bodyPr wrap="square" lIns="0" tIns="0" rIns="0" bIns="0" anchor="t">
            <a:spAutoFit/>
          </a:bodyPr>
          <a:lstStyle/>
          <a:p>
            <a:pPr algn="l">
              <a:lnSpc>
                <a:spcPct val="150000"/>
              </a:lnSpc>
            </a:pPr>
            <a:r>
              <a:rPr sz="1150" b="0">
                <a:solidFill>
                  <a:srgbClr val="C7CFDE"/>
                </a:solidFill>
                <a:latin typeface="Calibri"/>
              </a:rPr>
              <a:t>Your team already runs on WhatsApp — that's a strength, not a weakness. Instead of forcing everyone onto a new app, we plug a smart operations layer behind WhatsApp itself.</a:t>
            </a:r>
          </a:p>
          <a:p>
            <a:pPr algn="l">
              <a:lnSpc>
                <a:spcPct val="150000"/>
              </a:lnSpc>
            </a:pPr>
            <a:endParaRPr sz="1150" b="0">
              <a:solidFill>
                <a:srgbClr val="C7CFDE"/>
              </a:solidFill>
              <a:latin typeface="Calibri"/>
            </a:endParaRPr>
          </a:p>
          <a:p>
            <a:pPr algn="l">
              <a:lnSpc>
                <a:spcPct val="150000"/>
              </a:lnSpc>
            </a:pPr>
            <a:r>
              <a:rPr sz="1150" b="0">
                <a:solidFill>
                  <a:srgbClr val="C7CFDE"/>
                </a:solidFill>
                <a:latin typeface="Calibri"/>
              </a:rPr>
              <a:t>Workers and supervisors continue to send messages, photos and updates the same way. Behind the scenes, every message is captured, tagged to the right site, attached to the right employee, and shown live on a clean management dashboard.</a:t>
            </a:r>
          </a:p>
        </p:txBody>
      </p:sp>
      <p:sp>
        <p:nvSpPr>
          <p:cNvPr id="17" name="Rounded Rectangle 16"/>
          <p:cNvSpPr/>
          <p:nvPr/>
        </p:nvSpPr>
        <p:spPr>
          <a:xfrm>
            <a:off x="7360920" y="3108960"/>
            <a:ext cx="4343400" cy="914400"/>
          </a:xfrm>
          <a:prstGeom prst="roundRect">
            <a:avLst>
              <a:gd name="adj" fmla="val 12000"/>
            </a:avLst>
          </a:prstGeom>
          <a:solidFill>
            <a:srgbClr val="161F36"/>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35240" y="3273552"/>
            <a:ext cx="548640" cy="548640"/>
          </a:xfrm>
          <a:prstGeom prst="rect">
            <a:avLst/>
          </a:prstGeom>
          <a:noFill/>
        </p:spPr>
        <p:txBody>
          <a:bodyPr wrap="square" lIns="0" tIns="0" rIns="0" bIns="0" anchor="t">
            <a:spAutoFit/>
          </a:bodyPr>
          <a:lstStyle/>
          <a:p>
            <a:pPr algn="l">
              <a:lnSpc>
                <a:spcPct val="115000"/>
              </a:lnSpc>
            </a:pPr>
            <a:r>
              <a:rPr sz="2200" b="1">
                <a:solidFill>
                  <a:srgbClr val="46E0CB"/>
                </a:solidFill>
                <a:latin typeface="Calibri"/>
              </a:rPr>
              <a:t>01</a:t>
            </a:r>
          </a:p>
        </p:txBody>
      </p:sp>
      <p:sp>
        <p:nvSpPr>
          <p:cNvPr id="19" name="TextBox 18"/>
          <p:cNvSpPr txBox="1"/>
          <p:nvPr/>
        </p:nvSpPr>
        <p:spPr>
          <a:xfrm>
            <a:off x="8275320" y="3273552"/>
            <a:ext cx="3246120" cy="320040"/>
          </a:xfrm>
          <a:prstGeom prst="rect">
            <a:avLst/>
          </a:prstGeom>
          <a:noFill/>
        </p:spPr>
        <p:txBody>
          <a:bodyPr wrap="square" lIns="0" tIns="0" rIns="0" bIns="0" anchor="t">
            <a:spAutoFit/>
          </a:bodyPr>
          <a:lstStyle/>
          <a:p>
            <a:pPr algn="l">
              <a:lnSpc>
                <a:spcPct val="115000"/>
              </a:lnSpc>
            </a:pPr>
            <a:r>
              <a:rPr sz="1300" b="1">
                <a:solidFill>
                  <a:srgbClr val="F5F7FB"/>
                </a:solidFill>
                <a:latin typeface="Calibri"/>
              </a:rPr>
              <a:t>Keep WhatsApp</a:t>
            </a:r>
          </a:p>
        </p:txBody>
      </p:sp>
      <p:sp>
        <p:nvSpPr>
          <p:cNvPr id="20" name="TextBox 19"/>
          <p:cNvSpPr txBox="1"/>
          <p:nvPr/>
        </p:nvSpPr>
        <p:spPr>
          <a:xfrm>
            <a:off x="8275320" y="3611880"/>
            <a:ext cx="3246120" cy="365760"/>
          </a:xfrm>
          <a:prstGeom prst="rect">
            <a:avLst/>
          </a:prstGeom>
          <a:noFill/>
        </p:spPr>
        <p:txBody>
          <a:bodyPr wrap="square" lIns="0" tIns="0" rIns="0" bIns="0" anchor="t">
            <a:spAutoFit/>
          </a:bodyPr>
          <a:lstStyle/>
          <a:p>
            <a:pPr algn="l">
              <a:lnSpc>
                <a:spcPct val="130000"/>
              </a:lnSpc>
            </a:pPr>
            <a:r>
              <a:rPr sz="1000" b="0">
                <a:solidFill>
                  <a:srgbClr val="8A95AE"/>
                </a:solidFill>
                <a:latin typeface="Calibri"/>
              </a:rPr>
              <a:t>Familiar tool. Zero training for site staff.</a:t>
            </a:r>
          </a:p>
        </p:txBody>
      </p:sp>
      <p:sp>
        <p:nvSpPr>
          <p:cNvPr id="21" name="Rounded Rectangle 20"/>
          <p:cNvSpPr/>
          <p:nvPr/>
        </p:nvSpPr>
        <p:spPr>
          <a:xfrm>
            <a:off x="7360920" y="4133088"/>
            <a:ext cx="4343400" cy="914400"/>
          </a:xfrm>
          <a:prstGeom prst="roundRect">
            <a:avLst>
              <a:gd name="adj" fmla="val 12000"/>
            </a:avLst>
          </a:prstGeom>
          <a:solidFill>
            <a:srgbClr val="161F36"/>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35240" y="4297680"/>
            <a:ext cx="548640" cy="548640"/>
          </a:xfrm>
          <a:prstGeom prst="rect">
            <a:avLst/>
          </a:prstGeom>
          <a:noFill/>
        </p:spPr>
        <p:txBody>
          <a:bodyPr wrap="square" lIns="0" tIns="0" rIns="0" bIns="0" anchor="t">
            <a:spAutoFit/>
          </a:bodyPr>
          <a:lstStyle/>
          <a:p>
            <a:pPr algn="l">
              <a:lnSpc>
                <a:spcPct val="115000"/>
              </a:lnSpc>
            </a:pPr>
            <a:r>
              <a:rPr sz="2200" b="1">
                <a:solidFill>
                  <a:srgbClr val="46E0CB"/>
                </a:solidFill>
                <a:latin typeface="Calibri"/>
              </a:rPr>
              <a:t>02</a:t>
            </a:r>
          </a:p>
        </p:txBody>
      </p:sp>
      <p:sp>
        <p:nvSpPr>
          <p:cNvPr id="23" name="TextBox 22"/>
          <p:cNvSpPr txBox="1"/>
          <p:nvPr/>
        </p:nvSpPr>
        <p:spPr>
          <a:xfrm>
            <a:off x="8275320" y="4297680"/>
            <a:ext cx="3246120" cy="320040"/>
          </a:xfrm>
          <a:prstGeom prst="rect">
            <a:avLst/>
          </a:prstGeom>
          <a:noFill/>
        </p:spPr>
        <p:txBody>
          <a:bodyPr wrap="square" lIns="0" tIns="0" rIns="0" bIns="0" anchor="t">
            <a:spAutoFit/>
          </a:bodyPr>
          <a:lstStyle/>
          <a:p>
            <a:pPr algn="l">
              <a:lnSpc>
                <a:spcPct val="115000"/>
              </a:lnSpc>
            </a:pPr>
            <a:r>
              <a:rPr sz="1300" b="1">
                <a:solidFill>
                  <a:srgbClr val="F5F7FB"/>
                </a:solidFill>
                <a:latin typeface="Calibri"/>
              </a:rPr>
              <a:t>Centralise data</a:t>
            </a:r>
          </a:p>
        </p:txBody>
      </p:sp>
      <p:sp>
        <p:nvSpPr>
          <p:cNvPr id="24" name="TextBox 23"/>
          <p:cNvSpPr txBox="1"/>
          <p:nvPr/>
        </p:nvSpPr>
        <p:spPr>
          <a:xfrm>
            <a:off x="8275320" y="4636008"/>
            <a:ext cx="3246120" cy="365760"/>
          </a:xfrm>
          <a:prstGeom prst="rect">
            <a:avLst/>
          </a:prstGeom>
          <a:noFill/>
        </p:spPr>
        <p:txBody>
          <a:bodyPr wrap="square" lIns="0" tIns="0" rIns="0" bIns="0" anchor="t">
            <a:spAutoFit/>
          </a:bodyPr>
          <a:lstStyle/>
          <a:p>
            <a:pPr algn="l">
              <a:lnSpc>
                <a:spcPct val="130000"/>
              </a:lnSpc>
            </a:pPr>
            <a:r>
              <a:rPr sz="1000" b="0">
                <a:solidFill>
                  <a:srgbClr val="8A95AE"/>
                </a:solidFill>
                <a:latin typeface="Calibri"/>
              </a:rPr>
              <a:t>Every update lands in one searchable place.</a:t>
            </a:r>
          </a:p>
        </p:txBody>
      </p:sp>
      <p:sp>
        <p:nvSpPr>
          <p:cNvPr id="25" name="Rounded Rectangle 24"/>
          <p:cNvSpPr/>
          <p:nvPr/>
        </p:nvSpPr>
        <p:spPr>
          <a:xfrm>
            <a:off x="7360920" y="5157216"/>
            <a:ext cx="4343400" cy="914400"/>
          </a:xfrm>
          <a:prstGeom prst="roundRect">
            <a:avLst>
              <a:gd name="adj" fmla="val 12000"/>
            </a:avLst>
          </a:prstGeom>
          <a:solidFill>
            <a:srgbClr val="161F36"/>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35240" y="5321808"/>
            <a:ext cx="548640" cy="548640"/>
          </a:xfrm>
          <a:prstGeom prst="rect">
            <a:avLst/>
          </a:prstGeom>
          <a:noFill/>
        </p:spPr>
        <p:txBody>
          <a:bodyPr wrap="square" lIns="0" tIns="0" rIns="0" bIns="0" anchor="t">
            <a:spAutoFit/>
          </a:bodyPr>
          <a:lstStyle/>
          <a:p>
            <a:pPr algn="l">
              <a:lnSpc>
                <a:spcPct val="115000"/>
              </a:lnSpc>
            </a:pPr>
            <a:r>
              <a:rPr sz="2200" b="1">
                <a:solidFill>
                  <a:srgbClr val="46E0CB"/>
                </a:solidFill>
                <a:latin typeface="Calibri"/>
              </a:rPr>
              <a:t>03</a:t>
            </a:r>
          </a:p>
        </p:txBody>
      </p:sp>
      <p:sp>
        <p:nvSpPr>
          <p:cNvPr id="27" name="TextBox 26"/>
          <p:cNvSpPr txBox="1"/>
          <p:nvPr/>
        </p:nvSpPr>
        <p:spPr>
          <a:xfrm>
            <a:off x="8275320" y="5321808"/>
            <a:ext cx="3246120" cy="320040"/>
          </a:xfrm>
          <a:prstGeom prst="rect">
            <a:avLst/>
          </a:prstGeom>
          <a:noFill/>
        </p:spPr>
        <p:txBody>
          <a:bodyPr wrap="square" lIns="0" tIns="0" rIns="0" bIns="0" anchor="t">
            <a:spAutoFit/>
          </a:bodyPr>
          <a:lstStyle/>
          <a:p>
            <a:pPr algn="l">
              <a:lnSpc>
                <a:spcPct val="115000"/>
              </a:lnSpc>
            </a:pPr>
            <a:r>
              <a:rPr sz="1300" b="1">
                <a:solidFill>
                  <a:srgbClr val="F5F7FB"/>
                </a:solidFill>
                <a:latin typeface="Calibri"/>
              </a:rPr>
              <a:t>Give visibility</a:t>
            </a:r>
          </a:p>
        </p:txBody>
      </p:sp>
      <p:sp>
        <p:nvSpPr>
          <p:cNvPr id="28" name="TextBox 27"/>
          <p:cNvSpPr txBox="1"/>
          <p:nvPr/>
        </p:nvSpPr>
        <p:spPr>
          <a:xfrm>
            <a:off x="8275320" y="5660136"/>
            <a:ext cx="3246120" cy="365760"/>
          </a:xfrm>
          <a:prstGeom prst="rect">
            <a:avLst/>
          </a:prstGeom>
          <a:noFill/>
        </p:spPr>
        <p:txBody>
          <a:bodyPr wrap="square" lIns="0" tIns="0" rIns="0" bIns="0" anchor="t">
            <a:spAutoFit/>
          </a:bodyPr>
          <a:lstStyle/>
          <a:p>
            <a:pPr algn="l">
              <a:lnSpc>
                <a:spcPct val="130000"/>
              </a:lnSpc>
            </a:pPr>
            <a:r>
              <a:rPr sz="1000" b="0">
                <a:solidFill>
                  <a:srgbClr val="8A95AE"/>
                </a:solidFill>
                <a:latin typeface="Calibri"/>
              </a:rPr>
              <a:t>One screen for the owner. Clarity, on tap.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292608" cy="2794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4320"/>
            <a:ext cx="4572000" cy="320040"/>
          </a:xfrm>
          <a:prstGeom prst="rect">
            <a:avLst/>
          </a:prstGeom>
          <a:noFill/>
        </p:spPr>
        <p:txBody>
          <a:bodyPr wrap="square" lIns="0" tIns="0" rIns="0" bIns="0" anchor="t">
            <a:spAutoFit/>
          </a:bodyPr>
          <a:lstStyle/>
          <a:p>
            <a:pPr algn="l">
              <a:lnSpc>
                <a:spcPct val="115000"/>
              </a:lnSpc>
            </a:pPr>
            <a:r>
              <a:rPr sz="900" b="1" spc="300">
                <a:solidFill>
                  <a:srgbClr val="8A95AE"/>
                </a:solidFill>
                <a:latin typeface="Calibri"/>
              </a:rPr>
              <a:t>GENOSAI  ×  AQUA TECHNIC</a:t>
            </a:r>
          </a:p>
        </p:txBody>
      </p:sp>
      <p:sp>
        <p:nvSpPr>
          <p:cNvPr id="5" name="TextBox 4"/>
          <p:cNvSpPr txBox="1"/>
          <p:nvPr/>
        </p:nvSpPr>
        <p:spPr>
          <a:xfrm>
            <a:off x="7315200" y="274320"/>
            <a:ext cx="4434840" cy="320040"/>
          </a:xfrm>
          <a:prstGeom prst="rect">
            <a:avLst/>
          </a:prstGeom>
          <a:noFill/>
        </p:spPr>
        <p:txBody>
          <a:bodyPr wrap="square" lIns="0" tIns="0" rIns="0" bIns="0" anchor="t">
            <a:spAutoFit/>
          </a:bodyPr>
          <a:lstStyle/>
          <a:p>
            <a:pPr algn="r">
              <a:lnSpc>
                <a:spcPct val="115000"/>
              </a:lnSpc>
            </a:pPr>
            <a:r>
              <a:rPr sz="900" b="1" spc="300">
                <a:solidFill>
                  <a:srgbClr val="8A95AE"/>
                </a:solidFill>
                <a:latin typeface="Calibri"/>
              </a:rPr>
              <a:t>03  ·  CORE FEATURES</a:t>
            </a:r>
          </a:p>
        </p:txBody>
      </p:sp>
      <p:cxnSp>
        <p:nvCxnSpPr>
          <p:cNvPr id="6" name="Connector 5"/>
          <p:cNvCxnSpPr/>
          <p:nvPr/>
        </p:nvCxnSpPr>
        <p:spPr>
          <a:xfrm>
            <a:off x="502920" y="6446520"/>
            <a:ext cx="11183112" cy="0"/>
          </a:xfrm>
          <a:prstGeom prst="line">
            <a:avLst/>
          </a:prstGeom>
          <a:ln w="6350">
            <a:solidFill>
              <a:srgbClr val="232E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10528"/>
            <a:ext cx="5486400" cy="274320"/>
          </a:xfrm>
          <a:prstGeom prst="rect">
            <a:avLst/>
          </a:prstGeom>
          <a:noFill/>
        </p:spPr>
        <p:txBody>
          <a:bodyPr wrap="square" lIns="0" tIns="0" rIns="0" bIns="0" anchor="t">
            <a:spAutoFit/>
          </a:bodyPr>
          <a:lstStyle/>
          <a:p>
            <a:pPr algn="l">
              <a:lnSpc>
                <a:spcPct val="115000"/>
              </a:lnSpc>
            </a:pPr>
            <a:r>
              <a:rPr sz="800" b="0">
                <a:solidFill>
                  <a:srgbClr val="8A95AE"/>
                </a:solidFill>
                <a:latin typeface="Calibri"/>
              </a:rPr>
              <a:t>Operational Automation &amp; Employee Management System</a:t>
            </a:r>
          </a:p>
        </p:txBody>
      </p:sp>
      <p:sp>
        <p:nvSpPr>
          <p:cNvPr id="8" name="TextBox 7"/>
          <p:cNvSpPr txBox="1"/>
          <p:nvPr/>
        </p:nvSpPr>
        <p:spPr>
          <a:xfrm>
            <a:off x="6400800" y="6510528"/>
            <a:ext cx="5285232" cy="274320"/>
          </a:xfrm>
          <a:prstGeom prst="rect">
            <a:avLst/>
          </a:prstGeom>
          <a:noFill/>
        </p:spPr>
        <p:txBody>
          <a:bodyPr wrap="square" lIns="0" tIns="0" rIns="0" bIns="0" anchor="t">
            <a:spAutoFit/>
          </a:bodyPr>
          <a:lstStyle/>
          <a:p>
            <a:pPr algn="r">
              <a:lnSpc>
                <a:spcPct val="115000"/>
              </a:lnSpc>
            </a:pPr>
            <a:r>
              <a:rPr sz="800" b="0" spc="200">
                <a:solidFill>
                  <a:srgbClr val="8A95AE"/>
                </a:solidFill>
                <a:latin typeface="Calibri"/>
              </a:rPr>
              <a:t>04 / 16</a:t>
            </a:r>
          </a:p>
        </p:txBody>
      </p:sp>
      <p:sp>
        <p:nvSpPr>
          <p:cNvPr id="9" name="Rectangle 8"/>
          <p:cNvSpPr/>
          <p:nvPr/>
        </p:nvSpPr>
        <p:spPr>
          <a:xfrm>
            <a:off x="502920" y="914400"/>
            <a:ext cx="228600" cy="25400"/>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804672"/>
            <a:ext cx="7315200" cy="27432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WHAT YOU ACTUALLY GET</a:t>
            </a:r>
          </a:p>
        </p:txBody>
      </p:sp>
      <p:sp>
        <p:nvSpPr>
          <p:cNvPr id="11" name="TextBox 10"/>
          <p:cNvSpPr txBox="1"/>
          <p:nvPr/>
        </p:nvSpPr>
        <p:spPr>
          <a:xfrm>
            <a:off x="502920" y="1143000"/>
            <a:ext cx="11155680" cy="868680"/>
          </a:xfrm>
          <a:prstGeom prst="rect">
            <a:avLst/>
          </a:prstGeom>
          <a:noFill/>
        </p:spPr>
        <p:txBody>
          <a:bodyPr wrap="square" lIns="0" tIns="0" rIns="0" bIns="0" anchor="t">
            <a:spAutoFit/>
          </a:bodyPr>
          <a:lstStyle/>
          <a:p>
            <a:pPr algn="l">
              <a:lnSpc>
                <a:spcPct val="105000"/>
              </a:lnSpc>
            </a:pPr>
            <a:r>
              <a:rPr sz="3400" b="1">
                <a:solidFill>
                  <a:srgbClr val="F5F7FB"/>
                </a:solidFill>
                <a:latin typeface="Calibri"/>
              </a:rPr>
              <a:t>Six Modules. One Operating System for Aqua Technic.</a:t>
            </a:r>
          </a:p>
        </p:txBody>
      </p:sp>
      <p:sp>
        <p:nvSpPr>
          <p:cNvPr id="12" name="Rounded Rectangle 11"/>
          <p:cNvSpPr/>
          <p:nvPr/>
        </p:nvSpPr>
        <p:spPr>
          <a:xfrm>
            <a:off x="502920" y="2743200"/>
            <a:ext cx="3703320" cy="178308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22960" y="3063240"/>
            <a:ext cx="640080" cy="640080"/>
          </a:xfrm>
          <a:prstGeom prst="roundRect">
            <a:avLst>
              <a:gd name="adj" fmla="val 2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063240"/>
            <a:ext cx="640080" cy="640080"/>
          </a:xfrm>
          <a:prstGeom prst="rect">
            <a:avLst/>
          </a:prstGeom>
          <a:noFill/>
        </p:spPr>
        <p:txBody>
          <a:bodyPr wrap="square" lIns="0" tIns="0" rIns="0" bIns="0" anchor="ctr">
            <a:spAutoFit/>
          </a:bodyPr>
          <a:lstStyle/>
          <a:p>
            <a:pPr algn="ctr">
              <a:lnSpc>
                <a:spcPct val="115000"/>
              </a:lnSpc>
            </a:pPr>
            <a:r>
              <a:rPr sz="1800" b="1">
                <a:solidFill>
                  <a:srgbClr val="46E0CB"/>
                </a:solidFill>
                <a:latin typeface="Calibri"/>
              </a:rPr>
              <a:t>A</a:t>
            </a:r>
          </a:p>
        </p:txBody>
      </p:sp>
      <p:sp>
        <p:nvSpPr>
          <p:cNvPr id="15" name="TextBox 14"/>
          <p:cNvSpPr txBox="1"/>
          <p:nvPr/>
        </p:nvSpPr>
        <p:spPr>
          <a:xfrm>
            <a:off x="1645920" y="3035808"/>
            <a:ext cx="2423160" cy="777240"/>
          </a:xfrm>
          <a:prstGeom prst="rect">
            <a:avLst/>
          </a:prstGeom>
          <a:noFill/>
        </p:spPr>
        <p:txBody>
          <a:bodyPr wrap="square" lIns="0" tIns="0" rIns="0" bIns="0" anchor="t">
            <a:spAutoFit/>
          </a:bodyPr>
          <a:lstStyle/>
          <a:p>
            <a:pPr algn="l">
              <a:lnSpc>
                <a:spcPct val="115000"/>
              </a:lnSpc>
            </a:pPr>
            <a:r>
              <a:rPr sz="1350" b="1">
                <a:solidFill>
                  <a:srgbClr val="F5F7FB"/>
                </a:solidFill>
                <a:latin typeface="Calibri"/>
              </a:rPr>
              <a:t>Employee Attendance</a:t>
            </a:r>
          </a:p>
          <a:p>
            <a:pPr algn="l">
              <a:lnSpc>
                <a:spcPct val="115000"/>
              </a:lnSpc>
            </a:pPr>
            <a:r>
              <a:rPr sz="1350" b="1">
                <a:solidFill>
                  <a:srgbClr val="F5F7FB"/>
                </a:solidFill>
                <a:latin typeface="Calibri"/>
              </a:rPr>
              <a:t>&amp; Site Check-ins</a:t>
            </a:r>
          </a:p>
        </p:txBody>
      </p:sp>
      <p:sp>
        <p:nvSpPr>
          <p:cNvPr id="16" name="TextBox 15"/>
          <p:cNvSpPr txBox="1"/>
          <p:nvPr/>
        </p:nvSpPr>
        <p:spPr>
          <a:xfrm>
            <a:off x="822960" y="3931920"/>
            <a:ext cx="3154680" cy="502920"/>
          </a:xfrm>
          <a:prstGeom prst="rect">
            <a:avLst/>
          </a:prstGeom>
          <a:noFill/>
        </p:spPr>
        <p:txBody>
          <a:bodyPr wrap="square" lIns="0" tIns="0" rIns="0" bIns="0" anchor="t">
            <a:spAutoFit/>
          </a:bodyPr>
          <a:lstStyle/>
          <a:p>
            <a:pPr algn="l">
              <a:lnSpc>
                <a:spcPct val="135000"/>
              </a:lnSpc>
            </a:pPr>
            <a:r>
              <a:rPr sz="1000" b="0">
                <a:solidFill>
                  <a:srgbClr val="8A95AE"/>
                </a:solidFill>
                <a:latin typeface="Calibri"/>
              </a:rPr>
              <a:t>Daily check-in with location &amp; photo proof.</a:t>
            </a:r>
          </a:p>
        </p:txBody>
      </p:sp>
      <p:sp>
        <p:nvSpPr>
          <p:cNvPr id="17" name="Rounded Rectangle 16"/>
          <p:cNvSpPr/>
          <p:nvPr/>
        </p:nvSpPr>
        <p:spPr>
          <a:xfrm>
            <a:off x="4315968" y="2743200"/>
            <a:ext cx="3703320" cy="178308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636008" y="3063240"/>
            <a:ext cx="640080" cy="640080"/>
          </a:xfrm>
          <a:prstGeom prst="roundRect">
            <a:avLst>
              <a:gd name="adj" fmla="val 2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36008" y="3063240"/>
            <a:ext cx="640080" cy="640080"/>
          </a:xfrm>
          <a:prstGeom prst="rect">
            <a:avLst/>
          </a:prstGeom>
          <a:noFill/>
        </p:spPr>
        <p:txBody>
          <a:bodyPr wrap="square" lIns="0" tIns="0" rIns="0" bIns="0" anchor="ctr">
            <a:spAutoFit/>
          </a:bodyPr>
          <a:lstStyle/>
          <a:p>
            <a:pPr algn="ctr">
              <a:lnSpc>
                <a:spcPct val="115000"/>
              </a:lnSpc>
            </a:pPr>
            <a:r>
              <a:rPr sz="1800" b="1">
                <a:solidFill>
                  <a:srgbClr val="46E0CB"/>
                </a:solidFill>
                <a:latin typeface="Calibri"/>
              </a:rPr>
              <a:t>B</a:t>
            </a:r>
          </a:p>
        </p:txBody>
      </p:sp>
      <p:sp>
        <p:nvSpPr>
          <p:cNvPr id="20" name="TextBox 19"/>
          <p:cNvSpPr txBox="1"/>
          <p:nvPr/>
        </p:nvSpPr>
        <p:spPr>
          <a:xfrm>
            <a:off x="5458968" y="3035808"/>
            <a:ext cx="2423160" cy="777240"/>
          </a:xfrm>
          <a:prstGeom prst="rect">
            <a:avLst/>
          </a:prstGeom>
          <a:noFill/>
        </p:spPr>
        <p:txBody>
          <a:bodyPr wrap="square" lIns="0" tIns="0" rIns="0" bIns="0" anchor="t">
            <a:spAutoFit/>
          </a:bodyPr>
          <a:lstStyle/>
          <a:p>
            <a:pPr algn="l">
              <a:lnSpc>
                <a:spcPct val="115000"/>
              </a:lnSpc>
            </a:pPr>
            <a:r>
              <a:rPr sz="1350" b="1">
                <a:solidFill>
                  <a:srgbClr val="F5F7FB"/>
                </a:solidFill>
                <a:latin typeface="Calibri"/>
              </a:rPr>
              <a:t>WhatsApp Reporting</a:t>
            </a:r>
          </a:p>
          <a:p>
            <a:pPr algn="l">
              <a:lnSpc>
                <a:spcPct val="115000"/>
              </a:lnSpc>
            </a:pPr>
            <a:r>
              <a:rPr sz="1350" b="1">
                <a:solidFill>
                  <a:srgbClr val="F5F7FB"/>
                </a:solidFill>
                <a:latin typeface="Calibri"/>
              </a:rPr>
              <a:t>System</a:t>
            </a:r>
          </a:p>
        </p:txBody>
      </p:sp>
      <p:sp>
        <p:nvSpPr>
          <p:cNvPr id="21" name="TextBox 20"/>
          <p:cNvSpPr txBox="1"/>
          <p:nvPr/>
        </p:nvSpPr>
        <p:spPr>
          <a:xfrm>
            <a:off x="4636008" y="3931920"/>
            <a:ext cx="3154680" cy="502920"/>
          </a:xfrm>
          <a:prstGeom prst="rect">
            <a:avLst/>
          </a:prstGeom>
          <a:noFill/>
        </p:spPr>
        <p:txBody>
          <a:bodyPr wrap="square" lIns="0" tIns="0" rIns="0" bIns="0" anchor="t">
            <a:spAutoFit/>
          </a:bodyPr>
          <a:lstStyle/>
          <a:p>
            <a:pPr algn="l">
              <a:lnSpc>
                <a:spcPct val="135000"/>
              </a:lnSpc>
            </a:pPr>
            <a:r>
              <a:rPr sz="1000" b="0">
                <a:solidFill>
                  <a:srgbClr val="8A95AE"/>
                </a:solidFill>
                <a:latin typeface="Calibri"/>
              </a:rPr>
              <a:t>Photos, videos and progress, automatically logged.</a:t>
            </a:r>
          </a:p>
        </p:txBody>
      </p:sp>
      <p:sp>
        <p:nvSpPr>
          <p:cNvPr id="22" name="Rounded Rectangle 21"/>
          <p:cNvSpPr/>
          <p:nvPr/>
        </p:nvSpPr>
        <p:spPr>
          <a:xfrm>
            <a:off x="8129016" y="2743200"/>
            <a:ext cx="3703320" cy="178308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449056" y="3063240"/>
            <a:ext cx="640080" cy="640080"/>
          </a:xfrm>
          <a:prstGeom prst="roundRect">
            <a:avLst>
              <a:gd name="adj" fmla="val 2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49056" y="3063240"/>
            <a:ext cx="640080" cy="640080"/>
          </a:xfrm>
          <a:prstGeom prst="rect">
            <a:avLst/>
          </a:prstGeom>
          <a:noFill/>
        </p:spPr>
        <p:txBody>
          <a:bodyPr wrap="square" lIns="0" tIns="0" rIns="0" bIns="0" anchor="ctr">
            <a:spAutoFit/>
          </a:bodyPr>
          <a:lstStyle/>
          <a:p>
            <a:pPr algn="ctr">
              <a:lnSpc>
                <a:spcPct val="115000"/>
              </a:lnSpc>
            </a:pPr>
            <a:r>
              <a:rPr sz="1800" b="1">
                <a:solidFill>
                  <a:srgbClr val="46E0CB"/>
                </a:solidFill>
                <a:latin typeface="Calibri"/>
              </a:rPr>
              <a:t>C</a:t>
            </a:r>
          </a:p>
        </p:txBody>
      </p:sp>
      <p:sp>
        <p:nvSpPr>
          <p:cNvPr id="25" name="TextBox 24"/>
          <p:cNvSpPr txBox="1"/>
          <p:nvPr/>
        </p:nvSpPr>
        <p:spPr>
          <a:xfrm>
            <a:off x="9272016" y="3035808"/>
            <a:ext cx="2423160" cy="777240"/>
          </a:xfrm>
          <a:prstGeom prst="rect">
            <a:avLst/>
          </a:prstGeom>
          <a:noFill/>
        </p:spPr>
        <p:txBody>
          <a:bodyPr wrap="square" lIns="0" tIns="0" rIns="0" bIns="0" anchor="t">
            <a:spAutoFit/>
          </a:bodyPr>
          <a:lstStyle/>
          <a:p>
            <a:pPr algn="l">
              <a:lnSpc>
                <a:spcPct val="115000"/>
              </a:lnSpc>
            </a:pPr>
            <a:r>
              <a:rPr sz="1350" b="1">
                <a:solidFill>
                  <a:srgbClr val="F5F7FB"/>
                </a:solidFill>
                <a:latin typeface="Calibri"/>
              </a:rPr>
              <a:t>Task Assignment</a:t>
            </a:r>
          </a:p>
          <a:p>
            <a:pPr algn="l">
              <a:lnSpc>
                <a:spcPct val="115000"/>
              </a:lnSpc>
            </a:pPr>
            <a:r>
              <a:rPr sz="1350" b="1">
                <a:solidFill>
                  <a:srgbClr val="F5F7FB"/>
                </a:solidFill>
                <a:latin typeface="Calibri"/>
              </a:rPr>
              <a:t>&amp; Tracking</a:t>
            </a:r>
          </a:p>
        </p:txBody>
      </p:sp>
      <p:sp>
        <p:nvSpPr>
          <p:cNvPr id="26" name="TextBox 25"/>
          <p:cNvSpPr txBox="1"/>
          <p:nvPr/>
        </p:nvSpPr>
        <p:spPr>
          <a:xfrm>
            <a:off x="8449056" y="3931920"/>
            <a:ext cx="3154680" cy="502920"/>
          </a:xfrm>
          <a:prstGeom prst="rect">
            <a:avLst/>
          </a:prstGeom>
          <a:noFill/>
        </p:spPr>
        <p:txBody>
          <a:bodyPr wrap="square" lIns="0" tIns="0" rIns="0" bIns="0" anchor="t">
            <a:spAutoFit/>
          </a:bodyPr>
          <a:lstStyle/>
          <a:p>
            <a:pPr algn="l">
              <a:lnSpc>
                <a:spcPct val="135000"/>
              </a:lnSpc>
            </a:pPr>
            <a:r>
              <a:rPr sz="1000" b="0">
                <a:solidFill>
                  <a:srgbClr val="8A95AE"/>
                </a:solidFill>
                <a:latin typeface="Calibri"/>
              </a:rPr>
              <a:t>Assign work, set deadlines, see completion live.</a:t>
            </a:r>
          </a:p>
        </p:txBody>
      </p:sp>
      <p:sp>
        <p:nvSpPr>
          <p:cNvPr id="27" name="Rounded Rectangle 26"/>
          <p:cNvSpPr/>
          <p:nvPr/>
        </p:nvSpPr>
        <p:spPr>
          <a:xfrm>
            <a:off x="502920" y="4636008"/>
            <a:ext cx="3703320" cy="178308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22960" y="4956048"/>
            <a:ext cx="640080" cy="640080"/>
          </a:xfrm>
          <a:prstGeom prst="roundRect">
            <a:avLst>
              <a:gd name="adj" fmla="val 2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4956048"/>
            <a:ext cx="640080" cy="640080"/>
          </a:xfrm>
          <a:prstGeom prst="rect">
            <a:avLst/>
          </a:prstGeom>
          <a:noFill/>
        </p:spPr>
        <p:txBody>
          <a:bodyPr wrap="square" lIns="0" tIns="0" rIns="0" bIns="0" anchor="ctr">
            <a:spAutoFit/>
          </a:bodyPr>
          <a:lstStyle/>
          <a:p>
            <a:pPr algn="ctr">
              <a:lnSpc>
                <a:spcPct val="115000"/>
              </a:lnSpc>
            </a:pPr>
            <a:r>
              <a:rPr sz="1800" b="1">
                <a:solidFill>
                  <a:srgbClr val="46E0CB"/>
                </a:solidFill>
                <a:latin typeface="Calibri"/>
              </a:rPr>
              <a:t>D</a:t>
            </a:r>
          </a:p>
        </p:txBody>
      </p:sp>
      <p:sp>
        <p:nvSpPr>
          <p:cNvPr id="30" name="TextBox 29"/>
          <p:cNvSpPr txBox="1"/>
          <p:nvPr/>
        </p:nvSpPr>
        <p:spPr>
          <a:xfrm>
            <a:off x="1645920" y="4928616"/>
            <a:ext cx="2423160" cy="777240"/>
          </a:xfrm>
          <a:prstGeom prst="rect">
            <a:avLst/>
          </a:prstGeom>
          <a:noFill/>
        </p:spPr>
        <p:txBody>
          <a:bodyPr wrap="square" lIns="0" tIns="0" rIns="0" bIns="0" anchor="t">
            <a:spAutoFit/>
          </a:bodyPr>
          <a:lstStyle/>
          <a:p>
            <a:pPr algn="l">
              <a:lnSpc>
                <a:spcPct val="115000"/>
              </a:lnSpc>
            </a:pPr>
            <a:r>
              <a:rPr sz="1350" b="1">
                <a:solidFill>
                  <a:srgbClr val="F5F7FB"/>
                </a:solidFill>
                <a:latin typeface="Calibri"/>
              </a:rPr>
              <a:t>Manager Dashboard</a:t>
            </a:r>
          </a:p>
          <a:p>
            <a:pPr algn="l">
              <a:lnSpc>
                <a:spcPct val="115000"/>
              </a:lnSpc>
            </a:pPr>
            <a:r>
              <a:rPr sz="1350" b="1">
                <a:solidFill>
                  <a:srgbClr val="F5F7FB"/>
                </a:solidFill>
                <a:latin typeface="Calibri"/>
              </a:rPr>
              <a:t>(Owner View)</a:t>
            </a:r>
          </a:p>
        </p:txBody>
      </p:sp>
      <p:sp>
        <p:nvSpPr>
          <p:cNvPr id="31" name="TextBox 30"/>
          <p:cNvSpPr txBox="1"/>
          <p:nvPr/>
        </p:nvSpPr>
        <p:spPr>
          <a:xfrm>
            <a:off x="822960" y="5824728"/>
            <a:ext cx="3154680" cy="502920"/>
          </a:xfrm>
          <a:prstGeom prst="rect">
            <a:avLst/>
          </a:prstGeom>
          <a:noFill/>
        </p:spPr>
        <p:txBody>
          <a:bodyPr wrap="square" lIns="0" tIns="0" rIns="0" bIns="0" anchor="t">
            <a:spAutoFit/>
          </a:bodyPr>
          <a:lstStyle/>
          <a:p>
            <a:pPr algn="l">
              <a:lnSpc>
                <a:spcPct val="135000"/>
              </a:lnSpc>
            </a:pPr>
            <a:r>
              <a:rPr sz="1000" b="0">
                <a:solidFill>
                  <a:srgbClr val="8A95AE"/>
                </a:solidFill>
                <a:latin typeface="Calibri"/>
              </a:rPr>
              <a:t>One screen — sites, people, tasks, reports.</a:t>
            </a:r>
          </a:p>
        </p:txBody>
      </p:sp>
      <p:sp>
        <p:nvSpPr>
          <p:cNvPr id="32" name="Rounded Rectangle 31"/>
          <p:cNvSpPr/>
          <p:nvPr/>
        </p:nvSpPr>
        <p:spPr>
          <a:xfrm>
            <a:off x="4315968" y="4636008"/>
            <a:ext cx="3703320" cy="178308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4636008" y="4956048"/>
            <a:ext cx="640080" cy="640080"/>
          </a:xfrm>
          <a:prstGeom prst="roundRect">
            <a:avLst>
              <a:gd name="adj" fmla="val 2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36008" y="4956048"/>
            <a:ext cx="640080" cy="640080"/>
          </a:xfrm>
          <a:prstGeom prst="rect">
            <a:avLst/>
          </a:prstGeom>
          <a:noFill/>
        </p:spPr>
        <p:txBody>
          <a:bodyPr wrap="square" lIns="0" tIns="0" rIns="0" bIns="0" anchor="ctr">
            <a:spAutoFit/>
          </a:bodyPr>
          <a:lstStyle/>
          <a:p>
            <a:pPr algn="ctr">
              <a:lnSpc>
                <a:spcPct val="115000"/>
              </a:lnSpc>
            </a:pPr>
            <a:r>
              <a:rPr sz="1800" b="1">
                <a:solidFill>
                  <a:srgbClr val="46E0CB"/>
                </a:solidFill>
                <a:latin typeface="Calibri"/>
              </a:rPr>
              <a:t>E</a:t>
            </a:r>
          </a:p>
        </p:txBody>
      </p:sp>
      <p:sp>
        <p:nvSpPr>
          <p:cNvPr id="35" name="TextBox 34"/>
          <p:cNvSpPr txBox="1"/>
          <p:nvPr/>
        </p:nvSpPr>
        <p:spPr>
          <a:xfrm>
            <a:off x="5458968" y="4928616"/>
            <a:ext cx="2423160" cy="777240"/>
          </a:xfrm>
          <a:prstGeom prst="rect">
            <a:avLst/>
          </a:prstGeom>
          <a:noFill/>
        </p:spPr>
        <p:txBody>
          <a:bodyPr wrap="square" lIns="0" tIns="0" rIns="0" bIns="0" anchor="t">
            <a:spAutoFit/>
          </a:bodyPr>
          <a:lstStyle/>
          <a:p>
            <a:pPr algn="l">
              <a:lnSpc>
                <a:spcPct val="115000"/>
              </a:lnSpc>
            </a:pPr>
            <a:r>
              <a:rPr sz="1350" b="1">
                <a:solidFill>
                  <a:srgbClr val="F5F7FB"/>
                </a:solidFill>
                <a:latin typeface="Calibri"/>
              </a:rPr>
              <a:t>Maintenance &amp;</a:t>
            </a:r>
          </a:p>
          <a:p>
            <a:pPr algn="l">
              <a:lnSpc>
                <a:spcPct val="115000"/>
              </a:lnSpc>
            </a:pPr>
            <a:r>
              <a:rPr sz="1350" b="1">
                <a:solidFill>
                  <a:srgbClr val="F5F7FB"/>
                </a:solidFill>
                <a:latin typeface="Calibri"/>
              </a:rPr>
              <a:t>AMC Management</a:t>
            </a:r>
          </a:p>
        </p:txBody>
      </p:sp>
      <p:sp>
        <p:nvSpPr>
          <p:cNvPr id="36" name="TextBox 35"/>
          <p:cNvSpPr txBox="1"/>
          <p:nvPr/>
        </p:nvSpPr>
        <p:spPr>
          <a:xfrm>
            <a:off x="4636008" y="5824728"/>
            <a:ext cx="3154680" cy="502920"/>
          </a:xfrm>
          <a:prstGeom prst="rect">
            <a:avLst/>
          </a:prstGeom>
          <a:noFill/>
        </p:spPr>
        <p:txBody>
          <a:bodyPr wrap="square" lIns="0" tIns="0" rIns="0" bIns="0" anchor="t">
            <a:spAutoFit/>
          </a:bodyPr>
          <a:lstStyle/>
          <a:p>
            <a:pPr algn="l">
              <a:lnSpc>
                <a:spcPct val="135000"/>
              </a:lnSpc>
            </a:pPr>
            <a:r>
              <a:rPr sz="1000" b="0">
                <a:solidFill>
                  <a:srgbClr val="8A95AE"/>
                </a:solidFill>
                <a:latin typeface="Calibri"/>
              </a:rPr>
              <a:t>Recurring visits never get forgotten again.</a:t>
            </a:r>
          </a:p>
        </p:txBody>
      </p:sp>
      <p:sp>
        <p:nvSpPr>
          <p:cNvPr id="37" name="Rounded Rectangle 36"/>
          <p:cNvSpPr/>
          <p:nvPr/>
        </p:nvSpPr>
        <p:spPr>
          <a:xfrm>
            <a:off x="8129016" y="4636008"/>
            <a:ext cx="3703320" cy="178308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8449056" y="4956048"/>
            <a:ext cx="640080" cy="640080"/>
          </a:xfrm>
          <a:prstGeom prst="roundRect">
            <a:avLst>
              <a:gd name="adj" fmla="val 2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49056" y="4956048"/>
            <a:ext cx="640080" cy="640080"/>
          </a:xfrm>
          <a:prstGeom prst="rect">
            <a:avLst/>
          </a:prstGeom>
          <a:noFill/>
        </p:spPr>
        <p:txBody>
          <a:bodyPr wrap="square" lIns="0" tIns="0" rIns="0" bIns="0" anchor="ctr">
            <a:spAutoFit/>
          </a:bodyPr>
          <a:lstStyle/>
          <a:p>
            <a:pPr algn="ctr">
              <a:lnSpc>
                <a:spcPct val="115000"/>
              </a:lnSpc>
            </a:pPr>
            <a:r>
              <a:rPr sz="1800" b="1">
                <a:solidFill>
                  <a:srgbClr val="46E0CB"/>
                </a:solidFill>
                <a:latin typeface="Calibri"/>
              </a:rPr>
              <a:t>F</a:t>
            </a:r>
          </a:p>
        </p:txBody>
      </p:sp>
      <p:sp>
        <p:nvSpPr>
          <p:cNvPr id="40" name="TextBox 39"/>
          <p:cNvSpPr txBox="1"/>
          <p:nvPr/>
        </p:nvSpPr>
        <p:spPr>
          <a:xfrm>
            <a:off x="9272016" y="4928616"/>
            <a:ext cx="2423160" cy="777240"/>
          </a:xfrm>
          <a:prstGeom prst="rect">
            <a:avLst/>
          </a:prstGeom>
          <a:noFill/>
        </p:spPr>
        <p:txBody>
          <a:bodyPr wrap="square" lIns="0" tIns="0" rIns="0" bIns="0" anchor="t">
            <a:spAutoFit/>
          </a:bodyPr>
          <a:lstStyle/>
          <a:p>
            <a:pPr algn="l">
              <a:lnSpc>
                <a:spcPct val="115000"/>
              </a:lnSpc>
            </a:pPr>
            <a:r>
              <a:rPr sz="1350" b="1">
                <a:solidFill>
                  <a:srgbClr val="F5F7FB"/>
                </a:solidFill>
                <a:latin typeface="Calibri"/>
              </a:rPr>
              <a:t>Client Update</a:t>
            </a:r>
          </a:p>
          <a:p>
            <a:pPr algn="l">
              <a:lnSpc>
                <a:spcPct val="115000"/>
              </a:lnSpc>
            </a:pPr>
            <a:r>
              <a:rPr sz="1350" b="1">
                <a:solidFill>
                  <a:srgbClr val="F5F7FB"/>
                </a:solidFill>
                <a:latin typeface="Calibri"/>
              </a:rPr>
              <a:t>Automation</a:t>
            </a:r>
          </a:p>
        </p:txBody>
      </p:sp>
      <p:sp>
        <p:nvSpPr>
          <p:cNvPr id="41" name="TextBox 40"/>
          <p:cNvSpPr txBox="1"/>
          <p:nvPr/>
        </p:nvSpPr>
        <p:spPr>
          <a:xfrm>
            <a:off x="8449056" y="5824728"/>
            <a:ext cx="3154680" cy="502920"/>
          </a:xfrm>
          <a:prstGeom prst="rect">
            <a:avLst/>
          </a:prstGeom>
          <a:noFill/>
        </p:spPr>
        <p:txBody>
          <a:bodyPr wrap="square" lIns="0" tIns="0" rIns="0" bIns="0" anchor="t">
            <a:spAutoFit/>
          </a:bodyPr>
          <a:lstStyle/>
          <a:p>
            <a:pPr algn="l">
              <a:lnSpc>
                <a:spcPct val="135000"/>
              </a:lnSpc>
            </a:pPr>
            <a:r>
              <a:rPr sz="1000" b="0">
                <a:solidFill>
                  <a:srgbClr val="8A95AE"/>
                </a:solidFill>
                <a:latin typeface="Calibri"/>
              </a:rPr>
              <a:t>Professional progress updates sent on your behalf.</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292608" cy="2794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4320"/>
            <a:ext cx="4572000" cy="320040"/>
          </a:xfrm>
          <a:prstGeom prst="rect">
            <a:avLst/>
          </a:prstGeom>
          <a:noFill/>
        </p:spPr>
        <p:txBody>
          <a:bodyPr wrap="square" lIns="0" tIns="0" rIns="0" bIns="0" anchor="t">
            <a:spAutoFit/>
          </a:bodyPr>
          <a:lstStyle/>
          <a:p>
            <a:pPr algn="l">
              <a:lnSpc>
                <a:spcPct val="115000"/>
              </a:lnSpc>
            </a:pPr>
            <a:r>
              <a:rPr sz="900" b="1" spc="300">
                <a:solidFill>
                  <a:srgbClr val="8A95AE"/>
                </a:solidFill>
                <a:latin typeface="Calibri"/>
              </a:rPr>
              <a:t>GENOSAI  ×  AQUA TECHNIC</a:t>
            </a:r>
          </a:p>
        </p:txBody>
      </p:sp>
      <p:sp>
        <p:nvSpPr>
          <p:cNvPr id="5" name="TextBox 4"/>
          <p:cNvSpPr txBox="1"/>
          <p:nvPr/>
        </p:nvSpPr>
        <p:spPr>
          <a:xfrm>
            <a:off x="7315200" y="274320"/>
            <a:ext cx="4434840" cy="320040"/>
          </a:xfrm>
          <a:prstGeom prst="rect">
            <a:avLst/>
          </a:prstGeom>
          <a:noFill/>
        </p:spPr>
        <p:txBody>
          <a:bodyPr wrap="square" lIns="0" tIns="0" rIns="0" bIns="0" anchor="t">
            <a:spAutoFit/>
          </a:bodyPr>
          <a:lstStyle/>
          <a:p>
            <a:pPr algn="r">
              <a:lnSpc>
                <a:spcPct val="115000"/>
              </a:lnSpc>
            </a:pPr>
            <a:r>
              <a:rPr sz="900" b="1" spc="300">
                <a:solidFill>
                  <a:srgbClr val="8A95AE"/>
                </a:solidFill>
                <a:latin typeface="Calibri"/>
              </a:rPr>
              <a:t>03A  ·  ATTENDANCE</a:t>
            </a:r>
          </a:p>
        </p:txBody>
      </p:sp>
      <p:cxnSp>
        <p:nvCxnSpPr>
          <p:cNvPr id="6" name="Connector 5"/>
          <p:cNvCxnSpPr/>
          <p:nvPr/>
        </p:nvCxnSpPr>
        <p:spPr>
          <a:xfrm>
            <a:off x="502920" y="6446520"/>
            <a:ext cx="11183112" cy="0"/>
          </a:xfrm>
          <a:prstGeom prst="line">
            <a:avLst/>
          </a:prstGeom>
          <a:ln w="6350">
            <a:solidFill>
              <a:srgbClr val="232E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10528"/>
            <a:ext cx="5486400" cy="274320"/>
          </a:xfrm>
          <a:prstGeom prst="rect">
            <a:avLst/>
          </a:prstGeom>
          <a:noFill/>
        </p:spPr>
        <p:txBody>
          <a:bodyPr wrap="square" lIns="0" tIns="0" rIns="0" bIns="0" anchor="t">
            <a:spAutoFit/>
          </a:bodyPr>
          <a:lstStyle/>
          <a:p>
            <a:pPr algn="l">
              <a:lnSpc>
                <a:spcPct val="115000"/>
              </a:lnSpc>
            </a:pPr>
            <a:r>
              <a:rPr sz="800" b="0">
                <a:solidFill>
                  <a:srgbClr val="8A95AE"/>
                </a:solidFill>
                <a:latin typeface="Calibri"/>
              </a:rPr>
              <a:t>Operational Automation &amp; Employee Management System</a:t>
            </a:r>
          </a:p>
        </p:txBody>
      </p:sp>
      <p:sp>
        <p:nvSpPr>
          <p:cNvPr id="8" name="TextBox 7"/>
          <p:cNvSpPr txBox="1"/>
          <p:nvPr/>
        </p:nvSpPr>
        <p:spPr>
          <a:xfrm>
            <a:off x="6400800" y="6510528"/>
            <a:ext cx="5285232" cy="274320"/>
          </a:xfrm>
          <a:prstGeom prst="rect">
            <a:avLst/>
          </a:prstGeom>
          <a:noFill/>
        </p:spPr>
        <p:txBody>
          <a:bodyPr wrap="square" lIns="0" tIns="0" rIns="0" bIns="0" anchor="t">
            <a:spAutoFit/>
          </a:bodyPr>
          <a:lstStyle/>
          <a:p>
            <a:pPr algn="r">
              <a:lnSpc>
                <a:spcPct val="115000"/>
              </a:lnSpc>
            </a:pPr>
            <a:r>
              <a:rPr sz="800" b="0" spc="200">
                <a:solidFill>
                  <a:srgbClr val="8A95AE"/>
                </a:solidFill>
                <a:latin typeface="Calibri"/>
              </a:rPr>
              <a:t>05 / 16</a:t>
            </a:r>
          </a:p>
        </p:txBody>
      </p:sp>
      <p:sp>
        <p:nvSpPr>
          <p:cNvPr id="9" name="Rectangle 8"/>
          <p:cNvSpPr/>
          <p:nvPr/>
        </p:nvSpPr>
        <p:spPr>
          <a:xfrm>
            <a:off x="502920" y="914400"/>
            <a:ext cx="228600" cy="25400"/>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804672"/>
            <a:ext cx="7315200" cy="27432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MODULE A</a:t>
            </a:r>
          </a:p>
        </p:txBody>
      </p:sp>
      <p:sp>
        <p:nvSpPr>
          <p:cNvPr id="11" name="TextBox 10"/>
          <p:cNvSpPr txBox="1"/>
          <p:nvPr/>
        </p:nvSpPr>
        <p:spPr>
          <a:xfrm>
            <a:off x="502920" y="1143000"/>
            <a:ext cx="11155680" cy="868680"/>
          </a:xfrm>
          <a:prstGeom prst="rect">
            <a:avLst/>
          </a:prstGeom>
          <a:noFill/>
        </p:spPr>
        <p:txBody>
          <a:bodyPr wrap="square" lIns="0" tIns="0" rIns="0" bIns="0" anchor="t">
            <a:spAutoFit/>
          </a:bodyPr>
          <a:lstStyle/>
          <a:p>
            <a:pPr algn="l">
              <a:lnSpc>
                <a:spcPct val="105000"/>
              </a:lnSpc>
            </a:pPr>
            <a:r>
              <a:rPr sz="3400" b="1">
                <a:solidFill>
                  <a:srgbClr val="F5F7FB"/>
                </a:solidFill>
                <a:latin typeface="Calibri"/>
              </a:rPr>
              <a:t>Employee Attendance &amp; Site Check-ins</a:t>
            </a:r>
          </a:p>
        </p:txBody>
      </p:sp>
      <p:sp>
        <p:nvSpPr>
          <p:cNvPr id="12" name="TextBox 11"/>
          <p:cNvSpPr txBox="1"/>
          <p:nvPr/>
        </p:nvSpPr>
        <p:spPr>
          <a:xfrm>
            <a:off x="502920" y="1993392"/>
            <a:ext cx="10515600" cy="548640"/>
          </a:xfrm>
          <a:prstGeom prst="rect">
            <a:avLst/>
          </a:prstGeom>
          <a:noFill/>
        </p:spPr>
        <p:txBody>
          <a:bodyPr wrap="square" lIns="0" tIns="0" rIns="0" bIns="0" anchor="t">
            <a:spAutoFit/>
          </a:bodyPr>
          <a:lstStyle/>
          <a:p>
            <a:pPr algn="l">
              <a:lnSpc>
                <a:spcPct val="135000"/>
              </a:lnSpc>
            </a:pPr>
            <a:r>
              <a:rPr sz="1300" b="0">
                <a:solidFill>
                  <a:srgbClr val="8A95AE"/>
                </a:solidFill>
                <a:latin typeface="Calibri"/>
              </a:rPr>
              <a:t>Know who reached which site, when — without a single phone call.</a:t>
            </a:r>
          </a:p>
        </p:txBody>
      </p:sp>
      <p:sp>
        <p:nvSpPr>
          <p:cNvPr id="13" name="Rounded Rectangle 12"/>
          <p:cNvSpPr/>
          <p:nvPr/>
        </p:nvSpPr>
        <p:spPr>
          <a:xfrm>
            <a:off x="502920" y="2834640"/>
            <a:ext cx="6766560" cy="3429000"/>
          </a:xfrm>
          <a:prstGeom prst="roundRect">
            <a:avLst>
              <a:gd name="adj" fmla="val 5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41832" y="3346704"/>
            <a:ext cx="128016" cy="128016"/>
          </a:xfrm>
          <a:prstGeom prst="ellipse">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80160" y="3246120"/>
            <a:ext cx="2194560" cy="365760"/>
          </a:xfrm>
          <a:prstGeom prst="rect">
            <a:avLst/>
          </a:prstGeom>
          <a:noFill/>
        </p:spPr>
        <p:txBody>
          <a:bodyPr wrap="square" lIns="0" tIns="0" rIns="0" bIns="0" anchor="t">
            <a:spAutoFit/>
          </a:bodyPr>
          <a:lstStyle/>
          <a:p>
            <a:pPr algn="l">
              <a:lnSpc>
                <a:spcPct val="115000"/>
              </a:lnSpc>
            </a:pPr>
            <a:r>
              <a:rPr sz="1150" b="1">
                <a:solidFill>
                  <a:srgbClr val="F5F7FB"/>
                </a:solidFill>
                <a:latin typeface="Calibri"/>
              </a:rPr>
              <a:t>Daily attendance</a:t>
            </a:r>
          </a:p>
        </p:txBody>
      </p:sp>
      <p:sp>
        <p:nvSpPr>
          <p:cNvPr id="16" name="TextBox 15"/>
          <p:cNvSpPr txBox="1"/>
          <p:nvPr/>
        </p:nvSpPr>
        <p:spPr>
          <a:xfrm>
            <a:off x="3520440" y="3246120"/>
            <a:ext cx="3474720" cy="365760"/>
          </a:xfrm>
          <a:prstGeom prst="rect">
            <a:avLst/>
          </a:prstGeom>
          <a:noFill/>
        </p:spPr>
        <p:txBody>
          <a:bodyPr wrap="square" lIns="0" tIns="0" rIns="0" bIns="0" anchor="t">
            <a:spAutoFit/>
          </a:bodyPr>
          <a:lstStyle/>
          <a:p>
            <a:pPr algn="l">
              <a:lnSpc>
                <a:spcPct val="130000"/>
              </a:lnSpc>
            </a:pPr>
            <a:r>
              <a:rPr sz="1050" b="0">
                <a:solidFill>
                  <a:srgbClr val="8A95AE"/>
                </a:solidFill>
                <a:latin typeface="Calibri"/>
              </a:rPr>
              <a:t>Mark-in / mark-out via a simple WhatsApp message or button.</a:t>
            </a:r>
          </a:p>
        </p:txBody>
      </p:sp>
      <p:sp>
        <p:nvSpPr>
          <p:cNvPr id="17" name="Oval 16"/>
          <p:cNvSpPr/>
          <p:nvPr/>
        </p:nvSpPr>
        <p:spPr>
          <a:xfrm>
            <a:off x="941832" y="3822192"/>
            <a:ext cx="128016" cy="128016"/>
          </a:xfrm>
          <a:prstGeom prst="ellipse">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80160" y="3721608"/>
            <a:ext cx="2194560" cy="365760"/>
          </a:xfrm>
          <a:prstGeom prst="rect">
            <a:avLst/>
          </a:prstGeom>
          <a:noFill/>
        </p:spPr>
        <p:txBody>
          <a:bodyPr wrap="square" lIns="0" tIns="0" rIns="0" bIns="0" anchor="t">
            <a:spAutoFit/>
          </a:bodyPr>
          <a:lstStyle/>
          <a:p>
            <a:pPr algn="l">
              <a:lnSpc>
                <a:spcPct val="115000"/>
              </a:lnSpc>
            </a:pPr>
            <a:r>
              <a:rPr sz="1150" b="1">
                <a:solidFill>
                  <a:srgbClr val="F5F7FB"/>
                </a:solidFill>
                <a:latin typeface="Calibri"/>
              </a:rPr>
              <a:t>Site allocation</a:t>
            </a:r>
          </a:p>
        </p:txBody>
      </p:sp>
      <p:sp>
        <p:nvSpPr>
          <p:cNvPr id="19" name="TextBox 18"/>
          <p:cNvSpPr txBox="1"/>
          <p:nvPr/>
        </p:nvSpPr>
        <p:spPr>
          <a:xfrm>
            <a:off x="3520440" y="3721608"/>
            <a:ext cx="3474720" cy="365760"/>
          </a:xfrm>
          <a:prstGeom prst="rect">
            <a:avLst/>
          </a:prstGeom>
          <a:noFill/>
        </p:spPr>
        <p:txBody>
          <a:bodyPr wrap="square" lIns="0" tIns="0" rIns="0" bIns="0" anchor="t">
            <a:spAutoFit/>
          </a:bodyPr>
          <a:lstStyle/>
          <a:p>
            <a:pPr algn="l">
              <a:lnSpc>
                <a:spcPct val="130000"/>
              </a:lnSpc>
            </a:pPr>
            <a:r>
              <a:rPr sz="1050" b="0">
                <a:solidFill>
                  <a:srgbClr val="8A95AE"/>
                </a:solidFill>
                <a:latin typeface="Calibri"/>
              </a:rPr>
              <a:t>Each employee is auto-tagged to their assigned site for the day.</a:t>
            </a:r>
          </a:p>
        </p:txBody>
      </p:sp>
      <p:sp>
        <p:nvSpPr>
          <p:cNvPr id="20" name="Oval 19"/>
          <p:cNvSpPr/>
          <p:nvPr/>
        </p:nvSpPr>
        <p:spPr>
          <a:xfrm>
            <a:off x="941832" y="4297680"/>
            <a:ext cx="128016" cy="128016"/>
          </a:xfrm>
          <a:prstGeom prst="ellipse">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80160" y="4197096"/>
            <a:ext cx="2194560" cy="365760"/>
          </a:xfrm>
          <a:prstGeom prst="rect">
            <a:avLst/>
          </a:prstGeom>
          <a:noFill/>
        </p:spPr>
        <p:txBody>
          <a:bodyPr wrap="square" lIns="0" tIns="0" rIns="0" bIns="0" anchor="t">
            <a:spAutoFit/>
          </a:bodyPr>
          <a:lstStyle/>
          <a:p>
            <a:pPr algn="l">
              <a:lnSpc>
                <a:spcPct val="115000"/>
              </a:lnSpc>
            </a:pPr>
            <a:r>
              <a:rPr sz="1150" b="1">
                <a:solidFill>
                  <a:srgbClr val="F5F7FB"/>
                </a:solidFill>
                <a:latin typeface="Calibri"/>
              </a:rPr>
              <a:t>Timestamp proof</a:t>
            </a:r>
          </a:p>
        </p:txBody>
      </p:sp>
      <p:sp>
        <p:nvSpPr>
          <p:cNvPr id="22" name="TextBox 21"/>
          <p:cNvSpPr txBox="1"/>
          <p:nvPr/>
        </p:nvSpPr>
        <p:spPr>
          <a:xfrm>
            <a:off x="3520440" y="4197096"/>
            <a:ext cx="3474720" cy="365760"/>
          </a:xfrm>
          <a:prstGeom prst="rect">
            <a:avLst/>
          </a:prstGeom>
          <a:noFill/>
        </p:spPr>
        <p:txBody>
          <a:bodyPr wrap="square" lIns="0" tIns="0" rIns="0" bIns="0" anchor="t">
            <a:spAutoFit/>
          </a:bodyPr>
          <a:lstStyle/>
          <a:p>
            <a:pPr algn="l">
              <a:lnSpc>
                <a:spcPct val="130000"/>
              </a:lnSpc>
            </a:pPr>
            <a:r>
              <a:rPr sz="1050" b="0">
                <a:solidFill>
                  <a:srgbClr val="8A95AE"/>
                </a:solidFill>
                <a:latin typeface="Calibri"/>
              </a:rPr>
              <a:t>Every check-in captures exact date and time, with no edits.</a:t>
            </a:r>
          </a:p>
        </p:txBody>
      </p:sp>
      <p:sp>
        <p:nvSpPr>
          <p:cNvPr id="23" name="Oval 22"/>
          <p:cNvSpPr/>
          <p:nvPr/>
        </p:nvSpPr>
        <p:spPr>
          <a:xfrm>
            <a:off x="941832" y="4773168"/>
            <a:ext cx="128016" cy="128016"/>
          </a:xfrm>
          <a:prstGeom prst="ellipse">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280160" y="4672584"/>
            <a:ext cx="2194560" cy="365760"/>
          </a:xfrm>
          <a:prstGeom prst="rect">
            <a:avLst/>
          </a:prstGeom>
          <a:noFill/>
        </p:spPr>
        <p:txBody>
          <a:bodyPr wrap="square" lIns="0" tIns="0" rIns="0" bIns="0" anchor="t">
            <a:spAutoFit/>
          </a:bodyPr>
          <a:lstStyle/>
          <a:p>
            <a:pPr algn="l">
              <a:lnSpc>
                <a:spcPct val="115000"/>
              </a:lnSpc>
            </a:pPr>
            <a:r>
              <a:rPr sz="1150" b="1">
                <a:solidFill>
                  <a:srgbClr val="F5F7FB"/>
                </a:solidFill>
                <a:latin typeface="Calibri"/>
              </a:rPr>
              <a:t>Geo-location capture</a:t>
            </a:r>
          </a:p>
        </p:txBody>
      </p:sp>
      <p:sp>
        <p:nvSpPr>
          <p:cNvPr id="25" name="TextBox 24"/>
          <p:cNvSpPr txBox="1"/>
          <p:nvPr/>
        </p:nvSpPr>
        <p:spPr>
          <a:xfrm>
            <a:off x="3520440" y="4672584"/>
            <a:ext cx="3474720" cy="365760"/>
          </a:xfrm>
          <a:prstGeom prst="rect">
            <a:avLst/>
          </a:prstGeom>
          <a:noFill/>
        </p:spPr>
        <p:txBody>
          <a:bodyPr wrap="square" lIns="0" tIns="0" rIns="0" bIns="0" anchor="t">
            <a:spAutoFit/>
          </a:bodyPr>
          <a:lstStyle/>
          <a:p>
            <a:pPr algn="l">
              <a:lnSpc>
                <a:spcPct val="130000"/>
              </a:lnSpc>
            </a:pPr>
            <a:r>
              <a:rPr sz="1050" b="0">
                <a:solidFill>
                  <a:srgbClr val="8A95AE"/>
                </a:solidFill>
                <a:latin typeface="Calibri"/>
              </a:rPr>
              <a:t>Confirms the employee is physically at the assigned site.</a:t>
            </a:r>
          </a:p>
        </p:txBody>
      </p:sp>
      <p:sp>
        <p:nvSpPr>
          <p:cNvPr id="26" name="Oval 25"/>
          <p:cNvSpPr/>
          <p:nvPr/>
        </p:nvSpPr>
        <p:spPr>
          <a:xfrm>
            <a:off x="941832" y="5248656"/>
            <a:ext cx="128016" cy="128016"/>
          </a:xfrm>
          <a:prstGeom prst="ellipse">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280160" y="5148072"/>
            <a:ext cx="2194560" cy="365760"/>
          </a:xfrm>
          <a:prstGeom prst="rect">
            <a:avLst/>
          </a:prstGeom>
          <a:noFill/>
        </p:spPr>
        <p:txBody>
          <a:bodyPr wrap="square" lIns="0" tIns="0" rIns="0" bIns="0" anchor="t">
            <a:spAutoFit/>
          </a:bodyPr>
          <a:lstStyle/>
          <a:p>
            <a:pPr algn="l">
              <a:lnSpc>
                <a:spcPct val="115000"/>
              </a:lnSpc>
            </a:pPr>
            <a:r>
              <a:rPr sz="1150" b="1">
                <a:solidFill>
                  <a:srgbClr val="F5F7FB"/>
                </a:solidFill>
                <a:latin typeface="Calibri"/>
              </a:rPr>
              <a:t>Photo verification</a:t>
            </a:r>
          </a:p>
        </p:txBody>
      </p:sp>
      <p:sp>
        <p:nvSpPr>
          <p:cNvPr id="28" name="TextBox 27"/>
          <p:cNvSpPr txBox="1"/>
          <p:nvPr/>
        </p:nvSpPr>
        <p:spPr>
          <a:xfrm>
            <a:off x="3520440" y="5148072"/>
            <a:ext cx="3474720" cy="365760"/>
          </a:xfrm>
          <a:prstGeom prst="rect">
            <a:avLst/>
          </a:prstGeom>
          <a:noFill/>
        </p:spPr>
        <p:txBody>
          <a:bodyPr wrap="square" lIns="0" tIns="0" rIns="0" bIns="0" anchor="t">
            <a:spAutoFit/>
          </a:bodyPr>
          <a:lstStyle/>
          <a:p>
            <a:pPr algn="l">
              <a:lnSpc>
                <a:spcPct val="130000"/>
              </a:lnSpc>
            </a:pPr>
            <a:r>
              <a:rPr sz="1050" b="0">
                <a:solidFill>
                  <a:srgbClr val="8A95AE"/>
                </a:solidFill>
                <a:latin typeface="Calibri"/>
              </a:rPr>
              <a:t>A quick selfie or site photo prevents proxy check-ins.</a:t>
            </a:r>
          </a:p>
        </p:txBody>
      </p:sp>
      <p:sp>
        <p:nvSpPr>
          <p:cNvPr id="29" name="Oval 28"/>
          <p:cNvSpPr/>
          <p:nvPr/>
        </p:nvSpPr>
        <p:spPr>
          <a:xfrm>
            <a:off x="941832" y="5724144"/>
            <a:ext cx="128016" cy="128016"/>
          </a:xfrm>
          <a:prstGeom prst="ellipse">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80160" y="5623560"/>
            <a:ext cx="2194560" cy="365760"/>
          </a:xfrm>
          <a:prstGeom prst="rect">
            <a:avLst/>
          </a:prstGeom>
          <a:noFill/>
        </p:spPr>
        <p:txBody>
          <a:bodyPr wrap="square" lIns="0" tIns="0" rIns="0" bIns="0" anchor="t">
            <a:spAutoFit/>
          </a:bodyPr>
          <a:lstStyle/>
          <a:p>
            <a:pPr algn="l">
              <a:lnSpc>
                <a:spcPct val="115000"/>
              </a:lnSpc>
            </a:pPr>
            <a:r>
              <a:rPr sz="1150" b="1">
                <a:solidFill>
                  <a:srgbClr val="F5F7FB"/>
                </a:solidFill>
                <a:latin typeface="Calibri"/>
              </a:rPr>
              <a:t>Late / absent alerts</a:t>
            </a:r>
          </a:p>
        </p:txBody>
      </p:sp>
      <p:sp>
        <p:nvSpPr>
          <p:cNvPr id="31" name="TextBox 30"/>
          <p:cNvSpPr txBox="1"/>
          <p:nvPr/>
        </p:nvSpPr>
        <p:spPr>
          <a:xfrm>
            <a:off x="3520440" y="5623560"/>
            <a:ext cx="3474720" cy="365760"/>
          </a:xfrm>
          <a:prstGeom prst="rect">
            <a:avLst/>
          </a:prstGeom>
          <a:noFill/>
        </p:spPr>
        <p:txBody>
          <a:bodyPr wrap="square" lIns="0" tIns="0" rIns="0" bIns="0" anchor="t">
            <a:spAutoFit/>
          </a:bodyPr>
          <a:lstStyle/>
          <a:p>
            <a:pPr algn="l">
              <a:lnSpc>
                <a:spcPct val="130000"/>
              </a:lnSpc>
            </a:pPr>
            <a:r>
              <a:rPr sz="1050" b="0">
                <a:solidFill>
                  <a:srgbClr val="8A95AE"/>
                </a:solidFill>
                <a:latin typeface="Calibri"/>
              </a:rPr>
              <a:t>Managers are notified the moment someone misses the window.</a:t>
            </a:r>
          </a:p>
        </p:txBody>
      </p:sp>
      <p:sp>
        <p:nvSpPr>
          <p:cNvPr id="32" name="Rounded Rectangle 31"/>
          <p:cNvSpPr/>
          <p:nvPr/>
        </p:nvSpPr>
        <p:spPr>
          <a:xfrm>
            <a:off x="7498079" y="2834640"/>
            <a:ext cx="4206240" cy="3429000"/>
          </a:xfrm>
          <a:prstGeom prst="roundRect">
            <a:avLst>
              <a:gd name="adj" fmla="val 4000"/>
            </a:avLst>
          </a:prstGeom>
          <a:solidFill>
            <a:srgbClr val="0C1414"/>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498079" y="2834640"/>
            <a:ext cx="4206240" cy="502920"/>
          </a:xfrm>
          <a:prstGeom prst="rect">
            <a:avLst/>
          </a:prstGeom>
          <a:solidFill>
            <a:srgbClr val="073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7680959" y="2953512"/>
            <a:ext cx="274320" cy="274320"/>
          </a:xfrm>
          <a:prstGeom prst="ellipse">
            <a:avLst/>
          </a:prstGeom>
          <a:solidFill>
            <a:srgbClr val="25D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19" y="2953512"/>
            <a:ext cx="3474720" cy="274320"/>
          </a:xfrm>
          <a:prstGeom prst="rect">
            <a:avLst/>
          </a:prstGeom>
          <a:noFill/>
        </p:spPr>
        <p:txBody>
          <a:bodyPr wrap="square" lIns="0" tIns="0" rIns="0" bIns="0" anchor="t">
            <a:spAutoFit/>
          </a:bodyPr>
          <a:lstStyle/>
          <a:p>
            <a:pPr algn="l">
              <a:lnSpc>
                <a:spcPct val="115000"/>
              </a:lnSpc>
            </a:pPr>
            <a:r>
              <a:rPr sz="1000" b="1">
                <a:solidFill>
                  <a:srgbClr val="F5F7FB"/>
                </a:solidFill>
                <a:latin typeface="Calibri"/>
              </a:rPr>
              <a:t>Aqua Technic Ops · Bot</a:t>
            </a:r>
          </a:p>
        </p:txBody>
      </p:sp>
      <p:sp>
        <p:nvSpPr>
          <p:cNvPr id="36" name="TextBox 35"/>
          <p:cNvSpPr txBox="1"/>
          <p:nvPr/>
        </p:nvSpPr>
        <p:spPr>
          <a:xfrm>
            <a:off x="8046719" y="3127248"/>
            <a:ext cx="3474720" cy="201168"/>
          </a:xfrm>
          <a:prstGeom prst="rect">
            <a:avLst/>
          </a:prstGeom>
          <a:noFill/>
        </p:spPr>
        <p:txBody>
          <a:bodyPr wrap="square" lIns="0" tIns="0" rIns="0" bIns="0" anchor="t">
            <a:spAutoFit/>
          </a:bodyPr>
          <a:lstStyle/>
          <a:p>
            <a:pPr algn="l">
              <a:lnSpc>
                <a:spcPct val="115000"/>
              </a:lnSpc>
            </a:pPr>
            <a:r>
              <a:rPr sz="800" b="0">
                <a:solidFill>
                  <a:srgbClr val="46E0CB"/>
                </a:solidFill>
                <a:latin typeface="Calibri"/>
              </a:rPr>
              <a:t>online</a:t>
            </a:r>
          </a:p>
        </p:txBody>
      </p:sp>
      <p:sp>
        <p:nvSpPr>
          <p:cNvPr id="37" name="Rounded Rectangle 36"/>
          <p:cNvSpPr/>
          <p:nvPr/>
        </p:nvSpPr>
        <p:spPr>
          <a:xfrm>
            <a:off x="8778239" y="3520440"/>
            <a:ext cx="2743200" cy="502920"/>
          </a:xfrm>
          <a:prstGeom prst="roundRect">
            <a:avLst>
              <a:gd name="adj" fmla="val 25000"/>
            </a:avLst>
          </a:prstGeom>
          <a:solidFill>
            <a:srgbClr val="0A4B3F"/>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942831" y="3593592"/>
            <a:ext cx="2286000" cy="274320"/>
          </a:xfrm>
          <a:prstGeom prst="rect">
            <a:avLst/>
          </a:prstGeom>
          <a:noFill/>
        </p:spPr>
        <p:txBody>
          <a:bodyPr wrap="square" lIns="0" tIns="0" rIns="0" bIns="0" anchor="t">
            <a:spAutoFit/>
          </a:bodyPr>
          <a:lstStyle/>
          <a:p>
            <a:pPr algn="l">
              <a:lnSpc>
                <a:spcPct val="115000"/>
              </a:lnSpc>
            </a:pPr>
            <a:r>
              <a:rPr sz="1000" b="0">
                <a:solidFill>
                  <a:srgbClr val="F5F7FB"/>
                </a:solidFill>
                <a:latin typeface="Calibri"/>
              </a:rPr>
              <a:t>Good morning. Check-in?</a:t>
            </a:r>
          </a:p>
        </p:txBody>
      </p:sp>
      <p:sp>
        <p:nvSpPr>
          <p:cNvPr id="39" name="TextBox 38"/>
          <p:cNvSpPr txBox="1"/>
          <p:nvPr/>
        </p:nvSpPr>
        <p:spPr>
          <a:xfrm>
            <a:off x="8942831" y="3813048"/>
            <a:ext cx="2286000" cy="182880"/>
          </a:xfrm>
          <a:prstGeom prst="rect">
            <a:avLst/>
          </a:prstGeom>
          <a:noFill/>
        </p:spPr>
        <p:txBody>
          <a:bodyPr wrap="square" lIns="0" tIns="0" rIns="0" bIns="0" anchor="t">
            <a:spAutoFit/>
          </a:bodyPr>
          <a:lstStyle/>
          <a:p>
            <a:pPr algn="r">
              <a:lnSpc>
                <a:spcPct val="115000"/>
              </a:lnSpc>
            </a:pPr>
            <a:r>
              <a:rPr sz="750" b="0">
                <a:solidFill>
                  <a:srgbClr val="B6E5D7"/>
                </a:solidFill>
                <a:latin typeface="Calibri"/>
              </a:rPr>
              <a:t>8:58 AM</a:t>
            </a:r>
          </a:p>
        </p:txBody>
      </p:sp>
      <p:sp>
        <p:nvSpPr>
          <p:cNvPr id="40" name="Rounded Rectangle 39"/>
          <p:cNvSpPr/>
          <p:nvPr/>
        </p:nvSpPr>
        <p:spPr>
          <a:xfrm>
            <a:off x="7680959" y="4114800"/>
            <a:ext cx="2743200" cy="502920"/>
          </a:xfrm>
          <a:prstGeom prst="roundRect">
            <a:avLst>
              <a:gd name="adj" fmla="val 25000"/>
            </a:avLst>
          </a:prstGeom>
          <a:solidFill>
            <a:srgbClr val="142121"/>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845551" y="4187952"/>
            <a:ext cx="2286000" cy="274320"/>
          </a:xfrm>
          <a:prstGeom prst="rect">
            <a:avLst/>
          </a:prstGeom>
          <a:noFill/>
        </p:spPr>
        <p:txBody>
          <a:bodyPr wrap="square" lIns="0" tIns="0" rIns="0" bIns="0" anchor="t">
            <a:spAutoFit/>
          </a:bodyPr>
          <a:lstStyle/>
          <a:p>
            <a:pPr algn="l">
              <a:lnSpc>
                <a:spcPct val="115000"/>
              </a:lnSpc>
            </a:pPr>
            <a:r>
              <a:rPr sz="1000" b="0">
                <a:solidFill>
                  <a:srgbClr val="F5F7FB"/>
                </a:solidFill>
                <a:latin typeface="Calibri"/>
              </a:rPr>
              <a:t>Reached Banjara Hills site ✓</a:t>
            </a:r>
          </a:p>
        </p:txBody>
      </p:sp>
      <p:sp>
        <p:nvSpPr>
          <p:cNvPr id="42" name="TextBox 41"/>
          <p:cNvSpPr txBox="1"/>
          <p:nvPr/>
        </p:nvSpPr>
        <p:spPr>
          <a:xfrm>
            <a:off x="7845551" y="4407408"/>
            <a:ext cx="2286000" cy="182880"/>
          </a:xfrm>
          <a:prstGeom prst="rect">
            <a:avLst/>
          </a:prstGeom>
          <a:noFill/>
        </p:spPr>
        <p:txBody>
          <a:bodyPr wrap="square" lIns="0" tIns="0" rIns="0" bIns="0" anchor="t">
            <a:spAutoFit/>
          </a:bodyPr>
          <a:lstStyle/>
          <a:p>
            <a:pPr algn="l">
              <a:lnSpc>
                <a:spcPct val="115000"/>
              </a:lnSpc>
            </a:pPr>
            <a:r>
              <a:rPr sz="750" b="0">
                <a:solidFill>
                  <a:srgbClr val="8A95AE"/>
                </a:solidFill>
                <a:latin typeface="Calibri"/>
              </a:rPr>
              <a:t>9:02 AM</a:t>
            </a:r>
          </a:p>
        </p:txBody>
      </p:sp>
      <p:sp>
        <p:nvSpPr>
          <p:cNvPr id="43" name="Rounded Rectangle 42"/>
          <p:cNvSpPr/>
          <p:nvPr/>
        </p:nvSpPr>
        <p:spPr>
          <a:xfrm>
            <a:off x="7680959" y="4709159"/>
            <a:ext cx="2743200" cy="502920"/>
          </a:xfrm>
          <a:prstGeom prst="roundRect">
            <a:avLst>
              <a:gd name="adj" fmla="val 25000"/>
            </a:avLst>
          </a:prstGeom>
          <a:solidFill>
            <a:srgbClr val="142121"/>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845551" y="4782311"/>
            <a:ext cx="2286000" cy="274320"/>
          </a:xfrm>
          <a:prstGeom prst="rect">
            <a:avLst/>
          </a:prstGeom>
          <a:noFill/>
        </p:spPr>
        <p:txBody>
          <a:bodyPr wrap="square" lIns="0" tIns="0" rIns="0" bIns="0" anchor="t">
            <a:spAutoFit/>
          </a:bodyPr>
          <a:lstStyle/>
          <a:p>
            <a:pPr algn="l">
              <a:lnSpc>
                <a:spcPct val="115000"/>
              </a:lnSpc>
            </a:pPr>
            <a:r>
              <a:rPr sz="1000" b="0">
                <a:solidFill>
                  <a:srgbClr val="F5F7FB"/>
                </a:solidFill>
                <a:latin typeface="Calibri"/>
              </a:rPr>
              <a:t>📍 Location shared</a:t>
            </a:r>
          </a:p>
        </p:txBody>
      </p:sp>
      <p:sp>
        <p:nvSpPr>
          <p:cNvPr id="45" name="TextBox 44"/>
          <p:cNvSpPr txBox="1"/>
          <p:nvPr/>
        </p:nvSpPr>
        <p:spPr>
          <a:xfrm>
            <a:off x="7845551" y="5001767"/>
            <a:ext cx="2286000" cy="182880"/>
          </a:xfrm>
          <a:prstGeom prst="rect">
            <a:avLst/>
          </a:prstGeom>
          <a:noFill/>
        </p:spPr>
        <p:txBody>
          <a:bodyPr wrap="square" lIns="0" tIns="0" rIns="0" bIns="0" anchor="t">
            <a:spAutoFit/>
          </a:bodyPr>
          <a:lstStyle/>
          <a:p>
            <a:pPr algn="l">
              <a:lnSpc>
                <a:spcPct val="115000"/>
              </a:lnSpc>
            </a:pPr>
            <a:r>
              <a:rPr sz="750" b="0">
                <a:solidFill>
                  <a:srgbClr val="8A95AE"/>
                </a:solidFill>
                <a:latin typeface="Calibri"/>
              </a:rPr>
              <a:t>9:02 AM</a:t>
            </a:r>
          </a:p>
        </p:txBody>
      </p:sp>
      <p:sp>
        <p:nvSpPr>
          <p:cNvPr id="46" name="Rounded Rectangle 45"/>
          <p:cNvSpPr/>
          <p:nvPr/>
        </p:nvSpPr>
        <p:spPr>
          <a:xfrm>
            <a:off x="7680959" y="5303520"/>
            <a:ext cx="2743200" cy="502920"/>
          </a:xfrm>
          <a:prstGeom prst="roundRect">
            <a:avLst>
              <a:gd name="adj" fmla="val 25000"/>
            </a:avLst>
          </a:prstGeom>
          <a:solidFill>
            <a:srgbClr val="142121"/>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845551" y="5376672"/>
            <a:ext cx="2286000" cy="274320"/>
          </a:xfrm>
          <a:prstGeom prst="rect">
            <a:avLst/>
          </a:prstGeom>
          <a:noFill/>
        </p:spPr>
        <p:txBody>
          <a:bodyPr wrap="square" lIns="0" tIns="0" rIns="0" bIns="0" anchor="t">
            <a:spAutoFit/>
          </a:bodyPr>
          <a:lstStyle/>
          <a:p>
            <a:pPr algn="l">
              <a:lnSpc>
                <a:spcPct val="115000"/>
              </a:lnSpc>
            </a:pPr>
            <a:r>
              <a:rPr sz="1000" b="0">
                <a:solidFill>
                  <a:srgbClr val="F5F7FB"/>
                </a:solidFill>
                <a:latin typeface="Calibri"/>
              </a:rPr>
              <a:t>📷 Site photo attached</a:t>
            </a:r>
          </a:p>
        </p:txBody>
      </p:sp>
      <p:sp>
        <p:nvSpPr>
          <p:cNvPr id="48" name="TextBox 47"/>
          <p:cNvSpPr txBox="1"/>
          <p:nvPr/>
        </p:nvSpPr>
        <p:spPr>
          <a:xfrm>
            <a:off x="7845551" y="5596128"/>
            <a:ext cx="2286000" cy="182880"/>
          </a:xfrm>
          <a:prstGeom prst="rect">
            <a:avLst/>
          </a:prstGeom>
          <a:noFill/>
        </p:spPr>
        <p:txBody>
          <a:bodyPr wrap="square" lIns="0" tIns="0" rIns="0" bIns="0" anchor="t">
            <a:spAutoFit/>
          </a:bodyPr>
          <a:lstStyle/>
          <a:p>
            <a:pPr algn="l">
              <a:lnSpc>
                <a:spcPct val="115000"/>
              </a:lnSpc>
            </a:pPr>
            <a:r>
              <a:rPr sz="750" b="0">
                <a:solidFill>
                  <a:srgbClr val="8A95AE"/>
                </a:solidFill>
                <a:latin typeface="Calibri"/>
              </a:rPr>
              <a:t>9:03 AM</a:t>
            </a:r>
          </a:p>
        </p:txBody>
      </p:sp>
      <p:sp>
        <p:nvSpPr>
          <p:cNvPr id="49" name="Rounded Rectangle 48"/>
          <p:cNvSpPr/>
          <p:nvPr/>
        </p:nvSpPr>
        <p:spPr>
          <a:xfrm>
            <a:off x="8778239" y="5669280"/>
            <a:ext cx="2743200" cy="502920"/>
          </a:xfrm>
          <a:prstGeom prst="roundRect">
            <a:avLst>
              <a:gd name="adj" fmla="val 25000"/>
            </a:avLst>
          </a:prstGeom>
          <a:solidFill>
            <a:srgbClr val="0A4B3F"/>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942831" y="5742432"/>
            <a:ext cx="2286000" cy="274320"/>
          </a:xfrm>
          <a:prstGeom prst="rect">
            <a:avLst/>
          </a:prstGeom>
          <a:noFill/>
        </p:spPr>
        <p:txBody>
          <a:bodyPr wrap="square" lIns="0" tIns="0" rIns="0" bIns="0" anchor="t">
            <a:spAutoFit/>
          </a:bodyPr>
          <a:lstStyle/>
          <a:p>
            <a:pPr algn="l">
              <a:lnSpc>
                <a:spcPct val="115000"/>
              </a:lnSpc>
            </a:pPr>
            <a:r>
              <a:rPr sz="1000" b="0">
                <a:solidFill>
                  <a:srgbClr val="F5F7FB"/>
                </a:solidFill>
                <a:latin typeface="Calibri"/>
              </a:rPr>
              <a:t>Logged. Have a productive day.</a:t>
            </a:r>
          </a:p>
        </p:txBody>
      </p:sp>
      <p:sp>
        <p:nvSpPr>
          <p:cNvPr id="51" name="TextBox 50"/>
          <p:cNvSpPr txBox="1"/>
          <p:nvPr/>
        </p:nvSpPr>
        <p:spPr>
          <a:xfrm>
            <a:off x="8942831" y="5961888"/>
            <a:ext cx="2286000" cy="182880"/>
          </a:xfrm>
          <a:prstGeom prst="rect">
            <a:avLst/>
          </a:prstGeom>
          <a:noFill/>
        </p:spPr>
        <p:txBody>
          <a:bodyPr wrap="square" lIns="0" tIns="0" rIns="0" bIns="0" anchor="t">
            <a:spAutoFit/>
          </a:bodyPr>
          <a:lstStyle/>
          <a:p>
            <a:pPr algn="r">
              <a:lnSpc>
                <a:spcPct val="115000"/>
              </a:lnSpc>
            </a:pPr>
            <a:r>
              <a:rPr sz="750" b="0">
                <a:solidFill>
                  <a:srgbClr val="B6E5D7"/>
                </a:solidFill>
                <a:latin typeface="Calibri"/>
              </a:rPr>
              <a:t>9:03 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292608" cy="2794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4320"/>
            <a:ext cx="4572000" cy="320040"/>
          </a:xfrm>
          <a:prstGeom prst="rect">
            <a:avLst/>
          </a:prstGeom>
          <a:noFill/>
        </p:spPr>
        <p:txBody>
          <a:bodyPr wrap="square" lIns="0" tIns="0" rIns="0" bIns="0" anchor="t">
            <a:spAutoFit/>
          </a:bodyPr>
          <a:lstStyle/>
          <a:p>
            <a:pPr algn="l">
              <a:lnSpc>
                <a:spcPct val="115000"/>
              </a:lnSpc>
            </a:pPr>
            <a:r>
              <a:rPr sz="900" b="1" spc="300">
                <a:solidFill>
                  <a:srgbClr val="8A95AE"/>
                </a:solidFill>
                <a:latin typeface="Calibri"/>
              </a:rPr>
              <a:t>GENOSAI  ×  AQUA TECHNIC</a:t>
            </a:r>
          </a:p>
        </p:txBody>
      </p:sp>
      <p:sp>
        <p:nvSpPr>
          <p:cNvPr id="5" name="TextBox 4"/>
          <p:cNvSpPr txBox="1"/>
          <p:nvPr/>
        </p:nvSpPr>
        <p:spPr>
          <a:xfrm>
            <a:off x="7315200" y="274320"/>
            <a:ext cx="4434840" cy="320040"/>
          </a:xfrm>
          <a:prstGeom prst="rect">
            <a:avLst/>
          </a:prstGeom>
          <a:noFill/>
        </p:spPr>
        <p:txBody>
          <a:bodyPr wrap="square" lIns="0" tIns="0" rIns="0" bIns="0" anchor="t">
            <a:spAutoFit/>
          </a:bodyPr>
          <a:lstStyle/>
          <a:p>
            <a:pPr algn="r">
              <a:lnSpc>
                <a:spcPct val="115000"/>
              </a:lnSpc>
            </a:pPr>
            <a:r>
              <a:rPr sz="900" b="1" spc="300">
                <a:solidFill>
                  <a:srgbClr val="8A95AE"/>
                </a:solidFill>
                <a:latin typeface="Calibri"/>
              </a:rPr>
              <a:t>03B  ·  REPORTING</a:t>
            </a:r>
          </a:p>
        </p:txBody>
      </p:sp>
      <p:cxnSp>
        <p:nvCxnSpPr>
          <p:cNvPr id="6" name="Connector 5"/>
          <p:cNvCxnSpPr/>
          <p:nvPr/>
        </p:nvCxnSpPr>
        <p:spPr>
          <a:xfrm>
            <a:off x="502920" y="6446520"/>
            <a:ext cx="11183112" cy="0"/>
          </a:xfrm>
          <a:prstGeom prst="line">
            <a:avLst/>
          </a:prstGeom>
          <a:ln w="6350">
            <a:solidFill>
              <a:srgbClr val="232E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10528"/>
            <a:ext cx="5486400" cy="274320"/>
          </a:xfrm>
          <a:prstGeom prst="rect">
            <a:avLst/>
          </a:prstGeom>
          <a:noFill/>
        </p:spPr>
        <p:txBody>
          <a:bodyPr wrap="square" lIns="0" tIns="0" rIns="0" bIns="0" anchor="t">
            <a:spAutoFit/>
          </a:bodyPr>
          <a:lstStyle/>
          <a:p>
            <a:pPr algn="l">
              <a:lnSpc>
                <a:spcPct val="115000"/>
              </a:lnSpc>
            </a:pPr>
            <a:r>
              <a:rPr sz="800" b="0">
                <a:solidFill>
                  <a:srgbClr val="8A95AE"/>
                </a:solidFill>
                <a:latin typeface="Calibri"/>
              </a:rPr>
              <a:t>Operational Automation &amp; Employee Management System</a:t>
            </a:r>
          </a:p>
        </p:txBody>
      </p:sp>
      <p:sp>
        <p:nvSpPr>
          <p:cNvPr id="8" name="TextBox 7"/>
          <p:cNvSpPr txBox="1"/>
          <p:nvPr/>
        </p:nvSpPr>
        <p:spPr>
          <a:xfrm>
            <a:off x="6400800" y="6510528"/>
            <a:ext cx="5285232" cy="274320"/>
          </a:xfrm>
          <a:prstGeom prst="rect">
            <a:avLst/>
          </a:prstGeom>
          <a:noFill/>
        </p:spPr>
        <p:txBody>
          <a:bodyPr wrap="square" lIns="0" tIns="0" rIns="0" bIns="0" anchor="t">
            <a:spAutoFit/>
          </a:bodyPr>
          <a:lstStyle/>
          <a:p>
            <a:pPr algn="r">
              <a:lnSpc>
                <a:spcPct val="115000"/>
              </a:lnSpc>
            </a:pPr>
            <a:r>
              <a:rPr sz="800" b="0" spc="200">
                <a:solidFill>
                  <a:srgbClr val="8A95AE"/>
                </a:solidFill>
                <a:latin typeface="Calibri"/>
              </a:rPr>
              <a:t>06 / 16</a:t>
            </a:r>
          </a:p>
        </p:txBody>
      </p:sp>
      <p:sp>
        <p:nvSpPr>
          <p:cNvPr id="9" name="Rectangle 8"/>
          <p:cNvSpPr/>
          <p:nvPr/>
        </p:nvSpPr>
        <p:spPr>
          <a:xfrm>
            <a:off x="502920" y="914400"/>
            <a:ext cx="228600" cy="25400"/>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804672"/>
            <a:ext cx="7315200" cy="27432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MODULE B</a:t>
            </a:r>
          </a:p>
        </p:txBody>
      </p:sp>
      <p:sp>
        <p:nvSpPr>
          <p:cNvPr id="11" name="TextBox 10"/>
          <p:cNvSpPr txBox="1"/>
          <p:nvPr/>
        </p:nvSpPr>
        <p:spPr>
          <a:xfrm>
            <a:off x="502920" y="1143000"/>
            <a:ext cx="11155680" cy="868680"/>
          </a:xfrm>
          <a:prstGeom prst="rect">
            <a:avLst/>
          </a:prstGeom>
          <a:noFill/>
        </p:spPr>
        <p:txBody>
          <a:bodyPr wrap="square" lIns="0" tIns="0" rIns="0" bIns="0" anchor="t">
            <a:spAutoFit/>
          </a:bodyPr>
          <a:lstStyle/>
          <a:p>
            <a:pPr algn="l">
              <a:lnSpc>
                <a:spcPct val="105000"/>
              </a:lnSpc>
            </a:pPr>
            <a:r>
              <a:rPr sz="3400" b="1">
                <a:solidFill>
                  <a:srgbClr val="F5F7FB"/>
                </a:solidFill>
                <a:latin typeface="Calibri"/>
              </a:rPr>
              <a:t>WhatsApp-Based Reporting System</a:t>
            </a:r>
          </a:p>
        </p:txBody>
      </p:sp>
      <p:sp>
        <p:nvSpPr>
          <p:cNvPr id="12" name="TextBox 11"/>
          <p:cNvSpPr txBox="1"/>
          <p:nvPr/>
        </p:nvSpPr>
        <p:spPr>
          <a:xfrm>
            <a:off x="502920" y="1993392"/>
            <a:ext cx="10515600" cy="548640"/>
          </a:xfrm>
          <a:prstGeom prst="rect">
            <a:avLst/>
          </a:prstGeom>
          <a:noFill/>
        </p:spPr>
        <p:txBody>
          <a:bodyPr wrap="square" lIns="0" tIns="0" rIns="0" bIns="0" anchor="t">
            <a:spAutoFit/>
          </a:bodyPr>
          <a:lstStyle/>
          <a:p>
            <a:pPr algn="l">
              <a:lnSpc>
                <a:spcPct val="135000"/>
              </a:lnSpc>
            </a:pPr>
            <a:r>
              <a:rPr sz="1300" b="0">
                <a:solidFill>
                  <a:srgbClr val="8A95AE"/>
                </a:solidFill>
                <a:latin typeface="Calibri"/>
              </a:rPr>
              <a:t>Every photo, video and update is captured, tagged and stored — automatically.</a:t>
            </a:r>
          </a:p>
        </p:txBody>
      </p:sp>
      <p:sp>
        <p:nvSpPr>
          <p:cNvPr id="13" name="Rounded Rectangle 12"/>
          <p:cNvSpPr/>
          <p:nvPr/>
        </p:nvSpPr>
        <p:spPr>
          <a:xfrm>
            <a:off x="502920" y="2743200"/>
            <a:ext cx="3703320" cy="3474720"/>
          </a:xfrm>
          <a:prstGeom prst="roundRect">
            <a:avLst>
              <a:gd name="adj" fmla="val 5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017520"/>
            <a:ext cx="3200400" cy="274320"/>
          </a:xfrm>
          <a:prstGeom prst="rect">
            <a:avLst/>
          </a:prstGeom>
          <a:noFill/>
        </p:spPr>
        <p:txBody>
          <a:bodyPr wrap="square" lIns="0" tIns="0" rIns="0" bIns="0" anchor="t">
            <a:spAutoFit/>
          </a:bodyPr>
          <a:lstStyle/>
          <a:p>
            <a:pPr algn="l">
              <a:lnSpc>
                <a:spcPct val="115000"/>
              </a:lnSpc>
            </a:pPr>
            <a:r>
              <a:rPr sz="900" b="1" spc="400">
                <a:solidFill>
                  <a:srgbClr val="D4B066"/>
                </a:solidFill>
                <a:latin typeface="Calibri"/>
              </a:rPr>
              <a:t>STEP 01</a:t>
            </a:r>
          </a:p>
        </p:txBody>
      </p:sp>
      <p:sp>
        <p:nvSpPr>
          <p:cNvPr id="15" name="TextBox 14"/>
          <p:cNvSpPr txBox="1"/>
          <p:nvPr/>
        </p:nvSpPr>
        <p:spPr>
          <a:xfrm>
            <a:off x="822960" y="3291840"/>
            <a:ext cx="3063240" cy="411480"/>
          </a:xfrm>
          <a:prstGeom prst="rect">
            <a:avLst/>
          </a:prstGeom>
          <a:noFill/>
        </p:spPr>
        <p:txBody>
          <a:bodyPr wrap="square" lIns="0" tIns="0" rIns="0" bIns="0" anchor="t">
            <a:spAutoFit/>
          </a:bodyPr>
          <a:lstStyle/>
          <a:p>
            <a:pPr algn="l">
              <a:lnSpc>
                <a:spcPct val="115000"/>
              </a:lnSpc>
            </a:pPr>
            <a:r>
              <a:rPr sz="1800" b="1">
                <a:solidFill>
                  <a:srgbClr val="F5F7FB"/>
                </a:solidFill>
                <a:latin typeface="Calibri"/>
              </a:rPr>
              <a:t>Workers Send</a:t>
            </a:r>
          </a:p>
        </p:txBody>
      </p:sp>
      <p:sp>
        <p:nvSpPr>
          <p:cNvPr id="16" name="TextBox 15"/>
          <p:cNvSpPr txBox="1"/>
          <p:nvPr/>
        </p:nvSpPr>
        <p:spPr>
          <a:xfrm>
            <a:off x="822960" y="3840480"/>
            <a:ext cx="3063240" cy="1371600"/>
          </a:xfrm>
          <a:prstGeom prst="rect">
            <a:avLst/>
          </a:prstGeom>
          <a:noFill/>
        </p:spPr>
        <p:txBody>
          <a:bodyPr wrap="square" lIns="0" tIns="0" rIns="0" bIns="0" anchor="t">
            <a:spAutoFit/>
          </a:bodyPr>
          <a:lstStyle/>
          <a:p>
            <a:pPr algn="l">
              <a:lnSpc>
                <a:spcPct val="145000"/>
              </a:lnSpc>
            </a:pPr>
            <a:r>
              <a:rPr sz="1100" b="0">
                <a:solidFill>
                  <a:srgbClr val="C7CFDE"/>
                </a:solidFill>
                <a:latin typeface="Calibri"/>
              </a:rPr>
              <a:t>Site photos, short videos and quick progress notes — straight from WhatsApp, the way they already do.</a:t>
            </a:r>
          </a:p>
        </p:txBody>
      </p:sp>
      <p:sp>
        <p:nvSpPr>
          <p:cNvPr id="17" name="Rounded Rectangle 16"/>
          <p:cNvSpPr/>
          <p:nvPr/>
        </p:nvSpPr>
        <p:spPr>
          <a:xfrm>
            <a:off x="822960" y="5212080"/>
            <a:ext cx="1508760" cy="310896"/>
          </a:xfrm>
          <a:prstGeom prst="roundRect">
            <a:avLst>
              <a:gd name="adj" fmla="val 40000"/>
            </a:avLst>
          </a:prstGeom>
          <a:solidFill>
            <a:srgbClr val="121F37"/>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5212080"/>
            <a:ext cx="1508760" cy="310896"/>
          </a:xfrm>
          <a:prstGeom prst="rect">
            <a:avLst/>
          </a:prstGeom>
          <a:noFill/>
        </p:spPr>
        <p:txBody>
          <a:bodyPr wrap="square" lIns="0" tIns="0" rIns="0" bIns="0" anchor="ctr">
            <a:spAutoFit/>
          </a:bodyPr>
          <a:lstStyle/>
          <a:p>
            <a:pPr algn="ctr">
              <a:lnSpc>
                <a:spcPct val="115000"/>
              </a:lnSpc>
            </a:pPr>
            <a:r>
              <a:rPr sz="900" b="0">
                <a:solidFill>
                  <a:srgbClr val="46E0CB"/>
                </a:solidFill>
                <a:latin typeface="Calibri"/>
              </a:rPr>
              <a:t>Photos</a:t>
            </a:r>
          </a:p>
        </p:txBody>
      </p:sp>
      <p:sp>
        <p:nvSpPr>
          <p:cNvPr id="19" name="Rounded Rectangle 18"/>
          <p:cNvSpPr/>
          <p:nvPr/>
        </p:nvSpPr>
        <p:spPr>
          <a:xfrm>
            <a:off x="2423160" y="5212080"/>
            <a:ext cx="1508760" cy="310896"/>
          </a:xfrm>
          <a:prstGeom prst="roundRect">
            <a:avLst>
              <a:gd name="adj" fmla="val 40000"/>
            </a:avLst>
          </a:prstGeom>
          <a:solidFill>
            <a:srgbClr val="121F37"/>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423160" y="5212080"/>
            <a:ext cx="1508760" cy="310896"/>
          </a:xfrm>
          <a:prstGeom prst="rect">
            <a:avLst/>
          </a:prstGeom>
          <a:noFill/>
        </p:spPr>
        <p:txBody>
          <a:bodyPr wrap="square" lIns="0" tIns="0" rIns="0" bIns="0" anchor="ctr">
            <a:spAutoFit/>
          </a:bodyPr>
          <a:lstStyle/>
          <a:p>
            <a:pPr algn="ctr">
              <a:lnSpc>
                <a:spcPct val="115000"/>
              </a:lnSpc>
            </a:pPr>
            <a:r>
              <a:rPr sz="900" b="0">
                <a:solidFill>
                  <a:srgbClr val="46E0CB"/>
                </a:solidFill>
                <a:latin typeface="Calibri"/>
              </a:rPr>
              <a:t>Videos</a:t>
            </a:r>
          </a:p>
        </p:txBody>
      </p:sp>
      <p:sp>
        <p:nvSpPr>
          <p:cNvPr id="21" name="Rounded Rectangle 20"/>
          <p:cNvSpPr/>
          <p:nvPr/>
        </p:nvSpPr>
        <p:spPr>
          <a:xfrm>
            <a:off x="822960" y="5632704"/>
            <a:ext cx="1508760" cy="310896"/>
          </a:xfrm>
          <a:prstGeom prst="roundRect">
            <a:avLst>
              <a:gd name="adj" fmla="val 40000"/>
            </a:avLst>
          </a:prstGeom>
          <a:solidFill>
            <a:srgbClr val="121F37"/>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5632704"/>
            <a:ext cx="1508760" cy="310896"/>
          </a:xfrm>
          <a:prstGeom prst="rect">
            <a:avLst/>
          </a:prstGeom>
          <a:noFill/>
        </p:spPr>
        <p:txBody>
          <a:bodyPr wrap="square" lIns="0" tIns="0" rIns="0" bIns="0" anchor="ctr">
            <a:spAutoFit/>
          </a:bodyPr>
          <a:lstStyle/>
          <a:p>
            <a:pPr algn="ctr">
              <a:lnSpc>
                <a:spcPct val="115000"/>
              </a:lnSpc>
            </a:pPr>
            <a:r>
              <a:rPr sz="900" b="0">
                <a:solidFill>
                  <a:srgbClr val="46E0CB"/>
                </a:solidFill>
                <a:latin typeface="Calibri"/>
              </a:rPr>
              <a:t>Voice notes</a:t>
            </a:r>
          </a:p>
        </p:txBody>
      </p:sp>
      <p:sp>
        <p:nvSpPr>
          <p:cNvPr id="23" name="Rounded Rectangle 22"/>
          <p:cNvSpPr/>
          <p:nvPr/>
        </p:nvSpPr>
        <p:spPr>
          <a:xfrm>
            <a:off x="2423160" y="5632704"/>
            <a:ext cx="1508760" cy="310896"/>
          </a:xfrm>
          <a:prstGeom prst="roundRect">
            <a:avLst>
              <a:gd name="adj" fmla="val 40000"/>
            </a:avLst>
          </a:prstGeom>
          <a:solidFill>
            <a:srgbClr val="121F37"/>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423160" y="5632704"/>
            <a:ext cx="1508760" cy="310896"/>
          </a:xfrm>
          <a:prstGeom prst="rect">
            <a:avLst/>
          </a:prstGeom>
          <a:noFill/>
        </p:spPr>
        <p:txBody>
          <a:bodyPr wrap="square" lIns="0" tIns="0" rIns="0" bIns="0" anchor="ctr">
            <a:spAutoFit/>
          </a:bodyPr>
          <a:lstStyle/>
          <a:p>
            <a:pPr algn="ctr">
              <a:lnSpc>
                <a:spcPct val="115000"/>
              </a:lnSpc>
            </a:pPr>
            <a:r>
              <a:rPr sz="900" b="0">
                <a:solidFill>
                  <a:srgbClr val="46E0CB"/>
                </a:solidFill>
                <a:latin typeface="Calibri"/>
              </a:rPr>
              <a:t>Text updates</a:t>
            </a:r>
          </a:p>
        </p:txBody>
      </p:sp>
      <p:sp>
        <p:nvSpPr>
          <p:cNvPr id="25" name="Rounded Rectangle 24"/>
          <p:cNvSpPr/>
          <p:nvPr/>
        </p:nvSpPr>
        <p:spPr>
          <a:xfrm>
            <a:off x="4315968" y="2743200"/>
            <a:ext cx="3703320" cy="3474720"/>
          </a:xfrm>
          <a:prstGeom prst="roundRect">
            <a:avLst>
              <a:gd name="adj" fmla="val 5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36008" y="3017520"/>
            <a:ext cx="3200400" cy="274320"/>
          </a:xfrm>
          <a:prstGeom prst="rect">
            <a:avLst/>
          </a:prstGeom>
          <a:noFill/>
        </p:spPr>
        <p:txBody>
          <a:bodyPr wrap="square" lIns="0" tIns="0" rIns="0" bIns="0" anchor="t">
            <a:spAutoFit/>
          </a:bodyPr>
          <a:lstStyle/>
          <a:p>
            <a:pPr algn="l">
              <a:lnSpc>
                <a:spcPct val="115000"/>
              </a:lnSpc>
            </a:pPr>
            <a:r>
              <a:rPr sz="900" b="1" spc="400">
                <a:solidFill>
                  <a:srgbClr val="D4B066"/>
                </a:solidFill>
                <a:latin typeface="Calibri"/>
              </a:rPr>
              <a:t>STEP 02</a:t>
            </a:r>
          </a:p>
        </p:txBody>
      </p:sp>
      <p:sp>
        <p:nvSpPr>
          <p:cNvPr id="27" name="TextBox 26"/>
          <p:cNvSpPr txBox="1"/>
          <p:nvPr/>
        </p:nvSpPr>
        <p:spPr>
          <a:xfrm>
            <a:off x="4636008" y="3291840"/>
            <a:ext cx="3063240" cy="411480"/>
          </a:xfrm>
          <a:prstGeom prst="rect">
            <a:avLst/>
          </a:prstGeom>
          <a:noFill/>
        </p:spPr>
        <p:txBody>
          <a:bodyPr wrap="square" lIns="0" tIns="0" rIns="0" bIns="0" anchor="t">
            <a:spAutoFit/>
          </a:bodyPr>
          <a:lstStyle/>
          <a:p>
            <a:pPr algn="l">
              <a:lnSpc>
                <a:spcPct val="115000"/>
              </a:lnSpc>
            </a:pPr>
            <a:r>
              <a:rPr sz="1800" b="1">
                <a:solidFill>
                  <a:srgbClr val="F5F7FB"/>
                </a:solidFill>
                <a:latin typeface="Calibri"/>
              </a:rPr>
              <a:t>System Captures</a:t>
            </a:r>
          </a:p>
        </p:txBody>
      </p:sp>
      <p:sp>
        <p:nvSpPr>
          <p:cNvPr id="28" name="TextBox 27"/>
          <p:cNvSpPr txBox="1"/>
          <p:nvPr/>
        </p:nvSpPr>
        <p:spPr>
          <a:xfrm>
            <a:off x="4636008" y="3840480"/>
            <a:ext cx="3063240" cy="1371600"/>
          </a:xfrm>
          <a:prstGeom prst="rect">
            <a:avLst/>
          </a:prstGeom>
          <a:noFill/>
        </p:spPr>
        <p:txBody>
          <a:bodyPr wrap="square" lIns="0" tIns="0" rIns="0" bIns="0" anchor="t">
            <a:spAutoFit/>
          </a:bodyPr>
          <a:lstStyle/>
          <a:p>
            <a:pPr algn="l">
              <a:lnSpc>
                <a:spcPct val="145000"/>
              </a:lnSpc>
            </a:pPr>
            <a:r>
              <a:rPr sz="1100" b="0">
                <a:solidFill>
                  <a:srgbClr val="C7CFDE"/>
                </a:solidFill>
                <a:latin typeface="Calibri"/>
              </a:rPr>
              <a:t>Every incoming update is automatically tagged to the right site, employee, date and project stage.</a:t>
            </a:r>
          </a:p>
        </p:txBody>
      </p:sp>
      <p:sp>
        <p:nvSpPr>
          <p:cNvPr id="29" name="Rounded Rectangle 28"/>
          <p:cNvSpPr/>
          <p:nvPr/>
        </p:nvSpPr>
        <p:spPr>
          <a:xfrm>
            <a:off x="4636008" y="5212080"/>
            <a:ext cx="1508760" cy="310896"/>
          </a:xfrm>
          <a:prstGeom prst="roundRect">
            <a:avLst>
              <a:gd name="adj" fmla="val 40000"/>
            </a:avLst>
          </a:prstGeom>
          <a:solidFill>
            <a:srgbClr val="121F37"/>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636008" y="5212080"/>
            <a:ext cx="1508760" cy="310896"/>
          </a:xfrm>
          <a:prstGeom prst="rect">
            <a:avLst/>
          </a:prstGeom>
          <a:noFill/>
        </p:spPr>
        <p:txBody>
          <a:bodyPr wrap="square" lIns="0" tIns="0" rIns="0" bIns="0" anchor="ctr">
            <a:spAutoFit/>
          </a:bodyPr>
          <a:lstStyle/>
          <a:p>
            <a:pPr algn="ctr">
              <a:lnSpc>
                <a:spcPct val="115000"/>
              </a:lnSpc>
            </a:pPr>
            <a:r>
              <a:rPr sz="900" b="0">
                <a:solidFill>
                  <a:srgbClr val="46E0CB"/>
                </a:solidFill>
                <a:latin typeface="Calibri"/>
              </a:rPr>
              <a:t>Auto-tagging</a:t>
            </a:r>
          </a:p>
        </p:txBody>
      </p:sp>
      <p:sp>
        <p:nvSpPr>
          <p:cNvPr id="31" name="Rounded Rectangle 30"/>
          <p:cNvSpPr/>
          <p:nvPr/>
        </p:nvSpPr>
        <p:spPr>
          <a:xfrm>
            <a:off x="6236208" y="5212080"/>
            <a:ext cx="1508760" cy="310896"/>
          </a:xfrm>
          <a:prstGeom prst="roundRect">
            <a:avLst>
              <a:gd name="adj" fmla="val 40000"/>
            </a:avLst>
          </a:prstGeom>
          <a:solidFill>
            <a:srgbClr val="121F37"/>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36208" y="5212080"/>
            <a:ext cx="1508760" cy="310896"/>
          </a:xfrm>
          <a:prstGeom prst="rect">
            <a:avLst/>
          </a:prstGeom>
          <a:noFill/>
        </p:spPr>
        <p:txBody>
          <a:bodyPr wrap="square" lIns="0" tIns="0" rIns="0" bIns="0" anchor="ctr">
            <a:spAutoFit/>
          </a:bodyPr>
          <a:lstStyle/>
          <a:p>
            <a:pPr algn="ctr">
              <a:lnSpc>
                <a:spcPct val="115000"/>
              </a:lnSpc>
            </a:pPr>
            <a:r>
              <a:rPr sz="900" b="0">
                <a:solidFill>
                  <a:srgbClr val="46E0CB"/>
                </a:solidFill>
                <a:latin typeface="Calibri"/>
              </a:rPr>
              <a:t>Searchable archive</a:t>
            </a:r>
          </a:p>
        </p:txBody>
      </p:sp>
      <p:sp>
        <p:nvSpPr>
          <p:cNvPr id="33" name="Rounded Rectangle 32"/>
          <p:cNvSpPr/>
          <p:nvPr/>
        </p:nvSpPr>
        <p:spPr>
          <a:xfrm>
            <a:off x="4636008" y="5632704"/>
            <a:ext cx="1508760" cy="310896"/>
          </a:xfrm>
          <a:prstGeom prst="roundRect">
            <a:avLst>
              <a:gd name="adj" fmla="val 40000"/>
            </a:avLst>
          </a:prstGeom>
          <a:solidFill>
            <a:srgbClr val="121F37"/>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36008" y="5632704"/>
            <a:ext cx="1508760" cy="310896"/>
          </a:xfrm>
          <a:prstGeom prst="rect">
            <a:avLst/>
          </a:prstGeom>
          <a:noFill/>
        </p:spPr>
        <p:txBody>
          <a:bodyPr wrap="square" lIns="0" tIns="0" rIns="0" bIns="0" anchor="ctr">
            <a:spAutoFit/>
          </a:bodyPr>
          <a:lstStyle/>
          <a:p>
            <a:pPr algn="ctr">
              <a:lnSpc>
                <a:spcPct val="115000"/>
              </a:lnSpc>
            </a:pPr>
            <a:r>
              <a:rPr sz="900" b="0">
                <a:solidFill>
                  <a:srgbClr val="46E0CB"/>
                </a:solidFill>
                <a:latin typeface="Calibri"/>
              </a:rPr>
              <a:t>Organised by site</a:t>
            </a:r>
          </a:p>
        </p:txBody>
      </p:sp>
      <p:sp>
        <p:nvSpPr>
          <p:cNvPr id="35" name="Rounded Rectangle 34"/>
          <p:cNvSpPr/>
          <p:nvPr/>
        </p:nvSpPr>
        <p:spPr>
          <a:xfrm>
            <a:off x="6236208" y="5632704"/>
            <a:ext cx="1508760" cy="310896"/>
          </a:xfrm>
          <a:prstGeom prst="roundRect">
            <a:avLst>
              <a:gd name="adj" fmla="val 40000"/>
            </a:avLst>
          </a:prstGeom>
          <a:solidFill>
            <a:srgbClr val="121F37"/>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236208" y="5632704"/>
            <a:ext cx="1508760" cy="310896"/>
          </a:xfrm>
          <a:prstGeom prst="rect">
            <a:avLst/>
          </a:prstGeom>
          <a:noFill/>
        </p:spPr>
        <p:txBody>
          <a:bodyPr wrap="square" lIns="0" tIns="0" rIns="0" bIns="0" anchor="ctr">
            <a:spAutoFit/>
          </a:bodyPr>
          <a:lstStyle/>
          <a:p>
            <a:pPr algn="ctr">
              <a:lnSpc>
                <a:spcPct val="115000"/>
              </a:lnSpc>
            </a:pPr>
            <a:r>
              <a:rPr sz="900" b="0">
                <a:solidFill>
                  <a:srgbClr val="46E0CB"/>
                </a:solidFill>
                <a:latin typeface="Calibri"/>
              </a:rPr>
              <a:t>Time-stamped</a:t>
            </a:r>
          </a:p>
        </p:txBody>
      </p:sp>
      <p:sp>
        <p:nvSpPr>
          <p:cNvPr id="37" name="Rounded Rectangle 36"/>
          <p:cNvSpPr/>
          <p:nvPr/>
        </p:nvSpPr>
        <p:spPr>
          <a:xfrm>
            <a:off x="8129016" y="2743200"/>
            <a:ext cx="3703320" cy="3474720"/>
          </a:xfrm>
          <a:prstGeom prst="roundRect">
            <a:avLst>
              <a:gd name="adj" fmla="val 5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449056" y="3017520"/>
            <a:ext cx="3200400" cy="274320"/>
          </a:xfrm>
          <a:prstGeom prst="rect">
            <a:avLst/>
          </a:prstGeom>
          <a:noFill/>
        </p:spPr>
        <p:txBody>
          <a:bodyPr wrap="square" lIns="0" tIns="0" rIns="0" bIns="0" anchor="t">
            <a:spAutoFit/>
          </a:bodyPr>
          <a:lstStyle/>
          <a:p>
            <a:pPr algn="l">
              <a:lnSpc>
                <a:spcPct val="115000"/>
              </a:lnSpc>
            </a:pPr>
            <a:r>
              <a:rPr sz="900" b="1" spc="400">
                <a:solidFill>
                  <a:srgbClr val="D4B066"/>
                </a:solidFill>
                <a:latin typeface="Calibri"/>
              </a:rPr>
              <a:t>STEP 03</a:t>
            </a:r>
          </a:p>
        </p:txBody>
      </p:sp>
      <p:sp>
        <p:nvSpPr>
          <p:cNvPr id="39" name="TextBox 38"/>
          <p:cNvSpPr txBox="1"/>
          <p:nvPr/>
        </p:nvSpPr>
        <p:spPr>
          <a:xfrm>
            <a:off x="8449056" y="3291840"/>
            <a:ext cx="3063240" cy="411480"/>
          </a:xfrm>
          <a:prstGeom prst="rect">
            <a:avLst/>
          </a:prstGeom>
          <a:noFill/>
        </p:spPr>
        <p:txBody>
          <a:bodyPr wrap="square" lIns="0" tIns="0" rIns="0" bIns="0" anchor="t">
            <a:spAutoFit/>
          </a:bodyPr>
          <a:lstStyle/>
          <a:p>
            <a:pPr algn="l">
              <a:lnSpc>
                <a:spcPct val="115000"/>
              </a:lnSpc>
            </a:pPr>
            <a:r>
              <a:rPr sz="1800" b="1">
                <a:solidFill>
                  <a:srgbClr val="F5F7FB"/>
                </a:solidFill>
                <a:latin typeface="Calibri"/>
              </a:rPr>
              <a:t>Managers See</a:t>
            </a:r>
          </a:p>
        </p:txBody>
      </p:sp>
      <p:sp>
        <p:nvSpPr>
          <p:cNvPr id="40" name="TextBox 39"/>
          <p:cNvSpPr txBox="1"/>
          <p:nvPr/>
        </p:nvSpPr>
        <p:spPr>
          <a:xfrm>
            <a:off x="8449056" y="3840480"/>
            <a:ext cx="3063240" cy="1371600"/>
          </a:xfrm>
          <a:prstGeom prst="rect">
            <a:avLst/>
          </a:prstGeom>
          <a:noFill/>
        </p:spPr>
        <p:txBody>
          <a:bodyPr wrap="square" lIns="0" tIns="0" rIns="0" bIns="0" anchor="t">
            <a:spAutoFit/>
          </a:bodyPr>
          <a:lstStyle/>
          <a:p>
            <a:pPr algn="l">
              <a:lnSpc>
                <a:spcPct val="145000"/>
              </a:lnSpc>
            </a:pPr>
            <a:r>
              <a:rPr sz="1100" b="0">
                <a:solidFill>
                  <a:srgbClr val="C7CFDE"/>
                </a:solidFill>
                <a:latin typeface="Calibri"/>
              </a:rPr>
              <a:t>All updates flow into a clean feed — sorted by site, with reminders sent if a daily update is missed.</a:t>
            </a:r>
          </a:p>
        </p:txBody>
      </p:sp>
      <p:sp>
        <p:nvSpPr>
          <p:cNvPr id="41" name="Rounded Rectangle 40"/>
          <p:cNvSpPr/>
          <p:nvPr/>
        </p:nvSpPr>
        <p:spPr>
          <a:xfrm>
            <a:off x="8449056" y="5212080"/>
            <a:ext cx="1508760" cy="310896"/>
          </a:xfrm>
          <a:prstGeom prst="roundRect">
            <a:avLst>
              <a:gd name="adj" fmla="val 40000"/>
            </a:avLst>
          </a:prstGeom>
          <a:solidFill>
            <a:srgbClr val="121F37"/>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449056" y="5212080"/>
            <a:ext cx="1508760" cy="310896"/>
          </a:xfrm>
          <a:prstGeom prst="rect">
            <a:avLst/>
          </a:prstGeom>
          <a:noFill/>
        </p:spPr>
        <p:txBody>
          <a:bodyPr wrap="square" lIns="0" tIns="0" rIns="0" bIns="0" anchor="ctr">
            <a:spAutoFit/>
          </a:bodyPr>
          <a:lstStyle/>
          <a:p>
            <a:pPr algn="ctr">
              <a:lnSpc>
                <a:spcPct val="115000"/>
              </a:lnSpc>
            </a:pPr>
            <a:r>
              <a:rPr sz="900" b="0">
                <a:solidFill>
                  <a:srgbClr val="46E0CB"/>
                </a:solidFill>
                <a:latin typeface="Calibri"/>
              </a:rPr>
              <a:t>Live feed</a:t>
            </a:r>
          </a:p>
        </p:txBody>
      </p:sp>
      <p:sp>
        <p:nvSpPr>
          <p:cNvPr id="43" name="Rounded Rectangle 42"/>
          <p:cNvSpPr/>
          <p:nvPr/>
        </p:nvSpPr>
        <p:spPr>
          <a:xfrm>
            <a:off x="10049256" y="5212080"/>
            <a:ext cx="1508760" cy="310896"/>
          </a:xfrm>
          <a:prstGeom prst="roundRect">
            <a:avLst>
              <a:gd name="adj" fmla="val 40000"/>
            </a:avLst>
          </a:prstGeom>
          <a:solidFill>
            <a:srgbClr val="121F37"/>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049256" y="5212080"/>
            <a:ext cx="1508760" cy="310896"/>
          </a:xfrm>
          <a:prstGeom prst="rect">
            <a:avLst/>
          </a:prstGeom>
          <a:noFill/>
        </p:spPr>
        <p:txBody>
          <a:bodyPr wrap="square" lIns="0" tIns="0" rIns="0" bIns="0" anchor="ctr">
            <a:spAutoFit/>
          </a:bodyPr>
          <a:lstStyle/>
          <a:p>
            <a:pPr algn="ctr">
              <a:lnSpc>
                <a:spcPct val="115000"/>
              </a:lnSpc>
            </a:pPr>
            <a:r>
              <a:rPr sz="900" b="0">
                <a:solidFill>
                  <a:srgbClr val="46E0CB"/>
                </a:solidFill>
                <a:latin typeface="Calibri"/>
              </a:rPr>
              <a:t>Daily digest</a:t>
            </a:r>
          </a:p>
        </p:txBody>
      </p:sp>
      <p:sp>
        <p:nvSpPr>
          <p:cNvPr id="45" name="Rounded Rectangle 44"/>
          <p:cNvSpPr/>
          <p:nvPr/>
        </p:nvSpPr>
        <p:spPr>
          <a:xfrm>
            <a:off x="8449056" y="5632704"/>
            <a:ext cx="1508760" cy="310896"/>
          </a:xfrm>
          <a:prstGeom prst="roundRect">
            <a:avLst>
              <a:gd name="adj" fmla="val 40000"/>
            </a:avLst>
          </a:prstGeom>
          <a:solidFill>
            <a:srgbClr val="121F37"/>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449056" y="5632704"/>
            <a:ext cx="1508760" cy="310896"/>
          </a:xfrm>
          <a:prstGeom prst="rect">
            <a:avLst/>
          </a:prstGeom>
          <a:noFill/>
        </p:spPr>
        <p:txBody>
          <a:bodyPr wrap="square" lIns="0" tIns="0" rIns="0" bIns="0" anchor="ctr">
            <a:spAutoFit/>
          </a:bodyPr>
          <a:lstStyle/>
          <a:p>
            <a:pPr algn="ctr">
              <a:lnSpc>
                <a:spcPct val="115000"/>
              </a:lnSpc>
            </a:pPr>
            <a:r>
              <a:rPr sz="900" b="0">
                <a:solidFill>
                  <a:srgbClr val="46E0CB"/>
                </a:solidFill>
                <a:latin typeface="Calibri"/>
              </a:rPr>
              <a:t>Missed-update alerts</a:t>
            </a:r>
          </a:p>
        </p:txBody>
      </p:sp>
      <p:sp>
        <p:nvSpPr>
          <p:cNvPr id="47" name="Rounded Rectangle 46"/>
          <p:cNvSpPr/>
          <p:nvPr/>
        </p:nvSpPr>
        <p:spPr>
          <a:xfrm>
            <a:off x="10049256" y="5632704"/>
            <a:ext cx="1508760" cy="310896"/>
          </a:xfrm>
          <a:prstGeom prst="roundRect">
            <a:avLst>
              <a:gd name="adj" fmla="val 40000"/>
            </a:avLst>
          </a:prstGeom>
          <a:solidFill>
            <a:srgbClr val="121F37"/>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049256" y="5632704"/>
            <a:ext cx="1508760" cy="310896"/>
          </a:xfrm>
          <a:prstGeom prst="rect">
            <a:avLst/>
          </a:prstGeom>
          <a:noFill/>
        </p:spPr>
        <p:txBody>
          <a:bodyPr wrap="square" lIns="0" tIns="0" rIns="0" bIns="0" anchor="ctr">
            <a:spAutoFit/>
          </a:bodyPr>
          <a:lstStyle/>
          <a:p>
            <a:pPr algn="ctr">
              <a:lnSpc>
                <a:spcPct val="115000"/>
              </a:lnSpc>
            </a:pPr>
            <a:r>
              <a:rPr sz="900" b="0">
                <a:solidFill>
                  <a:srgbClr val="46E0CB"/>
                </a:solidFill>
                <a:latin typeface="Calibri"/>
              </a:rPr>
              <a:t>Audit trail</a:t>
            </a:r>
          </a:p>
        </p:txBody>
      </p:sp>
      <p:sp>
        <p:nvSpPr>
          <p:cNvPr id="49" name="TextBox 48"/>
          <p:cNvSpPr txBox="1"/>
          <p:nvPr/>
        </p:nvSpPr>
        <p:spPr>
          <a:xfrm>
            <a:off x="4096512" y="4480560"/>
            <a:ext cx="274320" cy="274320"/>
          </a:xfrm>
          <a:prstGeom prst="rect">
            <a:avLst/>
          </a:prstGeom>
          <a:noFill/>
        </p:spPr>
        <p:txBody>
          <a:bodyPr wrap="square" lIns="0" tIns="0" rIns="0" bIns="0" anchor="t">
            <a:spAutoFit/>
          </a:bodyPr>
          <a:lstStyle/>
          <a:p>
            <a:pPr algn="ctr">
              <a:lnSpc>
                <a:spcPct val="115000"/>
              </a:lnSpc>
            </a:pPr>
            <a:r>
              <a:rPr sz="2200" b="1">
                <a:solidFill>
                  <a:srgbClr val="46E0CB"/>
                </a:solidFill>
                <a:latin typeface="Calibri"/>
              </a:rPr>
              <a:t>›</a:t>
            </a:r>
          </a:p>
        </p:txBody>
      </p:sp>
      <p:sp>
        <p:nvSpPr>
          <p:cNvPr id="50" name="TextBox 49"/>
          <p:cNvSpPr txBox="1"/>
          <p:nvPr/>
        </p:nvSpPr>
        <p:spPr>
          <a:xfrm>
            <a:off x="7909560" y="4480560"/>
            <a:ext cx="274320" cy="274320"/>
          </a:xfrm>
          <a:prstGeom prst="rect">
            <a:avLst/>
          </a:prstGeom>
          <a:noFill/>
        </p:spPr>
        <p:txBody>
          <a:bodyPr wrap="square" lIns="0" tIns="0" rIns="0" bIns="0" anchor="t">
            <a:spAutoFit/>
          </a:bodyPr>
          <a:lstStyle/>
          <a:p>
            <a:pPr algn="ctr">
              <a:lnSpc>
                <a:spcPct val="115000"/>
              </a:lnSpc>
            </a:pPr>
            <a:r>
              <a:rPr sz="2200" b="1">
                <a:solidFill>
                  <a:srgbClr val="46E0CB"/>
                </a:solidFill>
                <a:latin typeface="Calibri"/>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292608" cy="2794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4320"/>
            <a:ext cx="4572000" cy="320040"/>
          </a:xfrm>
          <a:prstGeom prst="rect">
            <a:avLst/>
          </a:prstGeom>
          <a:noFill/>
        </p:spPr>
        <p:txBody>
          <a:bodyPr wrap="square" lIns="0" tIns="0" rIns="0" bIns="0" anchor="t">
            <a:spAutoFit/>
          </a:bodyPr>
          <a:lstStyle/>
          <a:p>
            <a:pPr algn="l">
              <a:lnSpc>
                <a:spcPct val="115000"/>
              </a:lnSpc>
            </a:pPr>
            <a:r>
              <a:rPr sz="900" b="1" spc="300">
                <a:solidFill>
                  <a:srgbClr val="8A95AE"/>
                </a:solidFill>
                <a:latin typeface="Calibri"/>
              </a:rPr>
              <a:t>GENOSAI  ×  AQUA TECHNIC</a:t>
            </a:r>
          </a:p>
        </p:txBody>
      </p:sp>
      <p:sp>
        <p:nvSpPr>
          <p:cNvPr id="5" name="TextBox 4"/>
          <p:cNvSpPr txBox="1"/>
          <p:nvPr/>
        </p:nvSpPr>
        <p:spPr>
          <a:xfrm>
            <a:off x="7315200" y="274320"/>
            <a:ext cx="4434840" cy="320040"/>
          </a:xfrm>
          <a:prstGeom prst="rect">
            <a:avLst/>
          </a:prstGeom>
          <a:noFill/>
        </p:spPr>
        <p:txBody>
          <a:bodyPr wrap="square" lIns="0" tIns="0" rIns="0" bIns="0" anchor="t">
            <a:spAutoFit/>
          </a:bodyPr>
          <a:lstStyle/>
          <a:p>
            <a:pPr algn="r">
              <a:lnSpc>
                <a:spcPct val="115000"/>
              </a:lnSpc>
            </a:pPr>
            <a:r>
              <a:rPr sz="900" b="1" spc="300">
                <a:solidFill>
                  <a:srgbClr val="8A95AE"/>
                </a:solidFill>
                <a:latin typeface="Calibri"/>
              </a:rPr>
              <a:t>03C  ·  TASKS</a:t>
            </a:r>
          </a:p>
        </p:txBody>
      </p:sp>
      <p:cxnSp>
        <p:nvCxnSpPr>
          <p:cNvPr id="6" name="Connector 5"/>
          <p:cNvCxnSpPr/>
          <p:nvPr/>
        </p:nvCxnSpPr>
        <p:spPr>
          <a:xfrm>
            <a:off x="502920" y="6446520"/>
            <a:ext cx="11183112" cy="0"/>
          </a:xfrm>
          <a:prstGeom prst="line">
            <a:avLst/>
          </a:prstGeom>
          <a:ln w="6350">
            <a:solidFill>
              <a:srgbClr val="232E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10528"/>
            <a:ext cx="5486400" cy="274320"/>
          </a:xfrm>
          <a:prstGeom prst="rect">
            <a:avLst/>
          </a:prstGeom>
          <a:noFill/>
        </p:spPr>
        <p:txBody>
          <a:bodyPr wrap="square" lIns="0" tIns="0" rIns="0" bIns="0" anchor="t">
            <a:spAutoFit/>
          </a:bodyPr>
          <a:lstStyle/>
          <a:p>
            <a:pPr algn="l">
              <a:lnSpc>
                <a:spcPct val="115000"/>
              </a:lnSpc>
            </a:pPr>
            <a:r>
              <a:rPr sz="800" b="0">
                <a:solidFill>
                  <a:srgbClr val="8A95AE"/>
                </a:solidFill>
                <a:latin typeface="Calibri"/>
              </a:rPr>
              <a:t>Operational Automation &amp; Employee Management System</a:t>
            </a:r>
          </a:p>
        </p:txBody>
      </p:sp>
      <p:sp>
        <p:nvSpPr>
          <p:cNvPr id="8" name="TextBox 7"/>
          <p:cNvSpPr txBox="1"/>
          <p:nvPr/>
        </p:nvSpPr>
        <p:spPr>
          <a:xfrm>
            <a:off x="6400800" y="6510528"/>
            <a:ext cx="5285232" cy="274320"/>
          </a:xfrm>
          <a:prstGeom prst="rect">
            <a:avLst/>
          </a:prstGeom>
          <a:noFill/>
        </p:spPr>
        <p:txBody>
          <a:bodyPr wrap="square" lIns="0" tIns="0" rIns="0" bIns="0" anchor="t">
            <a:spAutoFit/>
          </a:bodyPr>
          <a:lstStyle/>
          <a:p>
            <a:pPr algn="r">
              <a:lnSpc>
                <a:spcPct val="115000"/>
              </a:lnSpc>
            </a:pPr>
            <a:r>
              <a:rPr sz="800" b="0" spc="200">
                <a:solidFill>
                  <a:srgbClr val="8A95AE"/>
                </a:solidFill>
                <a:latin typeface="Calibri"/>
              </a:rPr>
              <a:t>07 / 16</a:t>
            </a:r>
          </a:p>
        </p:txBody>
      </p:sp>
      <p:sp>
        <p:nvSpPr>
          <p:cNvPr id="9" name="Rectangle 8"/>
          <p:cNvSpPr/>
          <p:nvPr/>
        </p:nvSpPr>
        <p:spPr>
          <a:xfrm>
            <a:off x="502920" y="914400"/>
            <a:ext cx="228600" cy="25400"/>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804672"/>
            <a:ext cx="7315200" cy="27432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MODULE C</a:t>
            </a:r>
          </a:p>
        </p:txBody>
      </p:sp>
      <p:sp>
        <p:nvSpPr>
          <p:cNvPr id="11" name="TextBox 10"/>
          <p:cNvSpPr txBox="1"/>
          <p:nvPr/>
        </p:nvSpPr>
        <p:spPr>
          <a:xfrm>
            <a:off x="502920" y="1143000"/>
            <a:ext cx="11155680" cy="868680"/>
          </a:xfrm>
          <a:prstGeom prst="rect">
            <a:avLst/>
          </a:prstGeom>
          <a:noFill/>
        </p:spPr>
        <p:txBody>
          <a:bodyPr wrap="square" lIns="0" tIns="0" rIns="0" bIns="0" anchor="t">
            <a:spAutoFit/>
          </a:bodyPr>
          <a:lstStyle/>
          <a:p>
            <a:pPr algn="l">
              <a:lnSpc>
                <a:spcPct val="105000"/>
              </a:lnSpc>
            </a:pPr>
            <a:r>
              <a:rPr sz="3400" b="1">
                <a:solidFill>
                  <a:srgbClr val="F5F7FB"/>
                </a:solidFill>
                <a:latin typeface="Calibri"/>
              </a:rPr>
              <a:t>Task Assignment &amp; Tracking</a:t>
            </a:r>
          </a:p>
        </p:txBody>
      </p:sp>
      <p:sp>
        <p:nvSpPr>
          <p:cNvPr id="12" name="TextBox 11"/>
          <p:cNvSpPr txBox="1"/>
          <p:nvPr/>
        </p:nvSpPr>
        <p:spPr>
          <a:xfrm>
            <a:off x="502920" y="1993392"/>
            <a:ext cx="10515600" cy="548640"/>
          </a:xfrm>
          <a:prstGeom prst="rect">
            <a:avLst/>
          </a:prstGeom>
          <a:noFill/>
        </p:spPr>
        <p:txBody>
          <a:bodyPr wrap="square" lIns="0" tIns="0" rIns="0" bIns="0" anchor="t">
            <a:spAutoFit/>
          </a:bodyPr>
          <a:lstStyle/>
          <a:p>
            <a:pPr algn="l">
              <a:lnSpc>
                <a:spcPct val="135000"/>
              </a:lnSpc>
            </a:pPr>
            <a:r>
              <a:rPr sz="1300" b="0">
                <a:solidFill>
                  <a:srgbClr val="8A95AE"/>
                </a:solidFill>
                <a:latin typeface="Calibri"/>
              </a:rPr>
              <a:t>From assignment to completion — every task has an owner, a deadline and a status.</a:t>
            </a:r>
          </a:p>
        </p:txBody>
      </p:sp>
      <p:sp>
        <p:nvSpPr>
          <p:cNvPr id="13" name="Rounded Rectangle 12"/>
          <p:cNvSpPr/>
          <p:nvPr/>
        </p:nvSpPr>
        <p:spPr>
          <a:xfrm>
            <a:off x="502920" y="2743200"/>
            <a:ext cx="5486400" cy="3566160"/>
          </a:xfrm>
          <a:prstGeom prst="roundRect">
            <a:avLst>
              <a:gd name="adj" fmla="val 5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017520"/>
            <a:ext cx="4754880" cy="36576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HOW IT WORKS</a:t>
            </a:r>
          </a:p>
        </p:txBody>
      </p:sp>
      <p:sp>
        <p:nvSpPr>
          <p:cNvPr id="15" name="Rounded Rectangle 14"/>
          <p:cNvSpPr/>
          <p:nvPr/>
        </p:nvSpPr>
        <p:spPr>
          <a:xfrm>
            <a:off x="868680" y="3520440"/>
            <a:ext cx="365760" cy="365760"/>
          </a:xfrm>
          <a:prstGeom prst="roundRect">
            <a:avLst>
              <a:gd name="adj" fmla="val 5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3520440"/>
            <a:ext cx="365760" cy="365760"/>
          </a:xfrm>
          <a:prstGeom prst="rect">
            <a:avLst/>
          </a:prstGeom>
          <a:noFill/>
        </p:spPr>
        <p:txBody>
          <a:bodyPr wrap="square" lIns="0" tIns="0" rIns="0" bIns="0" anchor="ctr">
            <a:spAutoFit/>
          </a:bodyPr>
          <a:lstStyle/>
          <a:p>
            <a:pPr algn="ctr">
              <a:lnSpc>
                <a:spcPct val="115000"/>
              </a:lnSpc>
            </a:pPr>
            <a:r>
              <a:rPr sz="1100" b="1">
                <a:solidFill>
                  <a:srgbClr val="46E0CB"/>
                </a:solidFill>
                <a:latin typeface="Calibri"/>
              </a:rPr>
              <a:t>1</a:t>
            </a:r>
          </a:p>
        </p:txBody>
      </p:sp>
      <p:sp>
        <p:nvSpPr>
          <p:cNvPr id="17" name="TextBox 16"/>
          <p:cNvSpPr txBox="1"/>
          <p:nvPr/>
        </p:nvSpPr>
        <p:spPr>
          <a:xfrm>
            <a:off x="1417320" y="3538728"/>
            <a:ext cx="1280160" cy="320040"/>
          </a:xfrm>
          <a:prstGeom prst="rect">
            <a:avLst/>
          </a:prstGeom>
          <a:noFill/>
        </p:spPr>
        <p:txBody>
          <a:bodyPr wrap="square" lIns="0" tIns="0" rIns="0" bIns="0" anchor="t">
            <a:spAutoFit/>
          </a:bodyPr>
          <a:lstStyle/>
          <a:p>
            <a:pPr algn="l">
              <a:lnSpc>
                <a:spcPct val="115000"/>
              </a:lnSpc>
            </a:pPr>
            <a:r>
              <a:rPr sz="1200" b="1">
                <a:solidFill>
                  <a:srgbClr val="F5F7FB"/>
                </a:solidFill>
                <a:latin typeface="Calibri"/>
              </a:rPr>
              <a:t>Assign</a:t>
            </a:r>
          </a:p>
        </p:txBody>
      </p:sp>
      <p:sp>
        <p:nvSpPr>
          <p:cNvPr id="18" name="TextBox 17"/>
          <p:cNvSpPr txBox="1"/>
          <p:nvPr/>
        </p:nvSpPr>
        <p:spPr>
          <a:xfrm>
            <a:off x="2606040" y="3557016"/>
            <a:ext cx="3108960" cy="365760"/>
          </a:xfrm>
          <a:prstGeom prst="rect">
            <a:avLst/>
          </a:prstGeom>
          <a:noFill/>
        </p:spPr>
        <p:txBody>
          <a:bodyPr wrap="square" lIns="0" tIns="0" rIns="0" bIns="0" anchor="t">
            <a:spAutoFit/>
          </a:bodyPr>
          <a:lstStyle/>
          <a:p>
            <a:pPr algn="l">
              <a:lnSpc>
                <a:spcPct val="130000"/>
              </a:lnSpc>
            </a:pPr>
            <a:r>
              <a:rPr sz="1050" b="0">
                <a:solidFill>
                  <a:srgbClr val="8A95AE"/>
                </a:solidFill>
                <a:latin typeface="Calibri"/>
              </a:rPr>
              <a:t>Manager creates a task with site, owner &amp; deadline — in seconds.</a:t>
            </a:r>
          </a:p>
        </p:txBody>
      </p:sp>
      <p:sp>
        <p:nvSpPr>
          <p:cNvPr id="19" name="Rounded Rectangle 18"/>
          <p:cNvSpPr/>
          <p:nvPr/>
        </p:nvSpPr>
        <p:spPr>
          <a:xfrm>
            <a:off x="868680" y="4050792"/>
            <a:ext cx="365760" cy="365760"/>
          </a:xfrm>
          <a:prstGeom prst="roundRect">
            <a:avLst>
              <a:gd name="adj" fmla="val 5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4050792"/>
            <a:ext cx="365760" cy="365760"/>
          </a:xfrm>
          <a:prstGeom prst="rect">
            <a:avLst/>
          </a:prstGeom>
          <a:noFill/>
        </p:spPr>
        <p:txBody>
          <a:bodyPr wrap="square" lIns="0" tIns="0" rIns="0" bIns="0" anchor="ctr">
            <a:spAutoFit/>
          </a:bodyPr>
          <a:lstStyle/>
          <a:p>
            <a:pPr algn="ctr">
              <a:lnSpc>
                <a:spcPct val="115000"/>
              </a:lnSpc>
            </a:pPr>
            <a:r>
              <a:rPr sz="1100" b="1">
                <a:solidFill>
                  <a:srgbClr val="46E0CB"/>
                </a:solidFill>
                <a:latin typeface="Calibri"/>
              </a:rPr>
              <a:t>2</a:t>
            </a:r>
          </a:p>
        </p:txBody>
      </p:sp>
      <p:sp>
        <p:nvSpPr>
          <p:cNvPr id="21" name="TextBox 20"/>
          <p:cNvSpPr txBox="1"/>
          <p:nvPr/>
        </p:nvSpPr>
        <p:spPr>
          <a:xfrm>
            <a:off x="1417320" y="4069080"/>
            <a:ext cx="1280160" cy="320040"/>
          </a:xfrm>
          <a:prstGeom prst="rect">
            <a:avLst/>
          </a:prstGeom>
          <a:noFill/>
        </p:spPr>
        <p:txBody>
          <a:bodyPr wrap="square" lIns="0" tIns="0" rIns="0" bIns="0" anchor="t">
            <a:spAutoFit/>
          </a:bodyPr>
          <a:lstStyle/>
          <a:p>
            <a:pPr algn="l">
              <a:lnSpc>
                <a:spcPct val="115000"/>
              </a:lnSpc>
            </a:pPr>
            <a:r>
              <a:rPr sz="1200" b="1">
                <a:solidFill>
                  <a:srgbClr val="F5F7FB"/>
                </a:solidFill>
                <a:latin typeface="Calibri"/>
              </a:rPr>
              <a:t>Notify</a:t>
            </a:r>
          </a:p>
        </p:txBody>
      </p:sp>
      <p:sp>
        <p:nvSpPr>
          <p:cNvPr id="22" name="TextBox 21"/>
          <p:cNvSpPr txBox="1"/>
          <p:nvPr/>
        </p:nvSpPr>
        <p:spPr>
          <a:xfrm>
            <a:off x="2606040" y="4087368"/>
            <a:ext cx="3108960" cy="365760"/>
          </a:xfrm>
          <a:prstGeom prst="rect">
            <a:avLst/>
          </a:prstGeom>
          <a:noFill/>
        </p:spPr>
        <p:txBody>
          <a:bodyPr wrap="square" lIns="0" tIns="0" rIns="0" bIns="0" anchor="t">
            <a:spAutoFit/>
          </a:bodyPr>
          <a:lstStyle/>
          <a:p>
            <a:pPr algn="l">
              <a:lnSpc>
                <a:spcPct val="130000"/>
              </a:lnSpc>
            </a:pPr>
            <a:r>
              <a:rPr sz="1050" b="0">
                <a:solidFill>
                  <a:srgbClr val="8A95AE"/>
                </a:solidFill>
                <a:latin typeface="Calibri"/>
              </a:rPr>
              <a:t>The worker receives a clean WhatsApp message with all the details.</a:t>
            </a:r>
          </a:p>
        </p:txBody>
      </p:sp>
      <p:sp>
        <p:nvSpPr>
          <p:cNvPr id="23" name="Rounded Rectangle 22"/>
          <p:cNvSpPr/>
          <p:nvPr/>
        </p:nvSpPr>
        <p:spPr>
          <a:xfrm>
            <a:off x="868680" y="4581144"/>
            <a:ext cx="365760" cy="365760"/>
          </a:xfrm>
          <a:prstGeom prst="roundRect">
            <a:avLst>
              <a:gd name="adj" fmla="val 5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4581144"/>
            <a:ext cx="365760" cy="365760"/>
          </a:xfrm>
          <a:prstGeom prst="rect">
            <a:avLst/>
          </a:prstGeom>
          <a:noFill/>
        </p:spPr>
        <p:txBody>
          <a:bodyPr wrap="square" lIns="0" tIns="0" rIns="0" bIns="0" anchor="ctr">
            <a:spAutoFit/>
          </a:bodyPr>
          <a:lstStyle/>
          <a:p>
            <a:pPr algn="ctr">
              <a:lnSpc>
                <a:spcPct val="115000"/>
              </a:lnSpc>
            </a:pPr>
            <a:r>
              <a:rPr sz="1100" b="1">
                <a:solidFill>
                  <a:srgbClr val="46E0CB"/>
                </a:solidFill>
                <a:latin typeface="Calibri"/>
              </a:rPr>
              <a:t>3</a:t>
            </a:r>
          </a:p>
        </p:txBody>
      </p:sp>
      <p:sp>
        <p:nvSpPr>
          <p:cNvPr id="25" name="TextBox 24"/>
          <p:cNvSpPr txBox="1"/>
          <p:nvPr/>
        </p:nvSpPr>
        <p:spPr>
          <a:xfrm>
            <a:off x="1417320" y="4599432"/>
            <a:ext cx="1280160" cy="320040"/>
          </a:xfrm>
          <a:prstGeom prst="rect">
            <a:avLst/>
          </a:prstGeom>
          <a:noFill/>
        </p:spPr>
        <p:txBody>
          <a:bodyPr wrap="square" lIns="0" tIns="0" rIns="0" bIns="0" anchor="t">
            <a:spAutoFit/>
          </a:bodyPr>
          <a:lstStyle/>
          <a:p>
            <a:pPr algn="l">
              <a:lnSpc>
                <a:spcPct val="115000"/>
              </a:lnSpc>
            </a:pPr>
            <a:r>
              <a:rPr sz="1200" b="1">
                <a:solidFill>
                  <a:srgbClr val="F5F7FB"/>
                </a:solidFill>
                <a:latin typeface="Calibri"/>
              </a:rPr>
              <a:t>Update</a:t>
            </a:r>
          </a:p>
        </p:txBody>
      </p:sp>
      <p:sp>
        <p:nvSpPr>
          <p:cNvPr id="26" name="TextBox 25"/>
          <p:cNvSpPr txBox="1"/>
          <p:nvPr/>
        </p:nvSpPr>
        <p:spPr>
          <a:xfrm>
            <a:off x="2606040" y="4617720"/>
            <a:ext cx="3108960" cy="365760"/>
          </a:xfrm>
          <a:prstGeom prst="rect">
            <a:avLst/>
          </a:prstGeom>
          <a:noFill/>
        </p:spPr>
        <p:txBody>
          <a:bodyPr wrap="square" lIns="0" tIns="0" rIns="0" bIns="0" anchor="t">
            <a:spAutoFit/>
          </a:bodyPr>
          <a:lstStyle/>
          <a:p>
            <a:pPr algn="l">
              <a:lnSpc>
                <a:spcPct val="130000"/>
              </a:lnSpc>
            </a:pPr>
            <a:r>
              <a:rPr sz="1050" b="0">
                <a:solidFill>
                  <a:srgbClr val="8A95AE"/>
                </a:solidFill>
                <a:latin typeface="Calibri"/>
              </a:rPr>
              <a:t>Worker replies with progress, photos or 'done' as work moves forward.</a:t>
            </a:r>
          </a:p>
        </p:txBody>
      </p:sp>
      <p:sp>
        <p:nvSpPr>
          <p:cNvPr id="27" name="Rounded Rectangle 26"/>
          <p:cNvSpPr/>
          <p:nvPr/>
        </p:nvSpPr>
        <p:spPr>
          <a:xfrm>
            <a:off x="868680" y="5111496"/>
            <a:ext cx="365760" cy="365760"/>
          </a:xfrm>
          <a:prstGeom prst="roundRect">
            <a:avLst>
              <a:gd name="adj" fmla="val 5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 y="5111496"/>
            <a:ext cx="365760" cy="365760"/>
          </a:xfrm>
          <a:prstGeom prst="rect">
            <a:avLst/>
          </a:prstGeom>
          <a:noFill/>
        </p:spPr>
        <p:txBody>
          <a:bodyPr wrap="square" lIns="0" tIns="0" rIns="0" bIns="0" anchor="ctr">
            <a:spAutoFit/>
          </a:bodyPr>
          <a:lstStyle/>
          <a:p>
            <a:pPr algn="ctr">
              <a:lnSpc>
                <a:spcPct val="115000"/>
              </a:lnSpc>
            </a:pPr>
            <a:r>
              <a:rPr sz="1100" b="1">
                <a:solidFill>
                  <a:srgbClr val="46E0CB"/>
                </a:solidFill>
                <a:latin typeface="Calibri"/>
              </a:rPr>
              <a:t>4</a:t>
            </a:r>
          </a:p>
        </p:txBody>
      </p:sp>
      <p:sp>
        <p:nvSpPr>
          <p:cNvPr id="29" name="TextBox 28"/>
          <p:cNvSpPr txBox="1"/>
          <p:nvPr/>
        </p:nvSpPr>
        <p:spPr>
          <a:xfrm>
            <a:off x="1417320" y="5129784"/>
            <a:ext cx="1280160" cy="320040"/>
          </a:xfrm>
          <a:prstGeom prst="rect">
            <a:avLst/>
          </a:prstGeom>
          <a:noFill/>
        </p:spPr>
        <p:txBody>
          <a:bodyPr wrap="square" lIns="0" tIns="0" rIns="0" bIns="0" anchor="t">
            <a:spAutoFit/>
          </a:bodyPr>
          <a:lstStyle/>
          <a:p>
            <a:pPr algn="l">
              <a:lnSpc>
                <a:spcPct val="115000"/>
              </a:lnSpc>
            </a:pPr>
            <a:r>
              <a:rPr sz="1200" b="1">
                <a:solidFill>
                  <a:srgbClr val="F5F7FB"/>
                </a:solidFill>
                <a:latin typeface="Calibri"/>
              </a:rPr>
              <a:t>Track</a:t>
            </a:r>
          </a:p>
        </p:txBody>
      </p:sp>
      <p:sp>
        <p:nvSpPr>
          <p:cNvPr id="30" name="TextBox 29"/>
          <p:cNvSpPr txBox="1"/>
          <p:nvPr/>
        </p:nvSpPr>
        <p:spPr>
          <a:xfrm>
            <a:off x="2606040" y="5148072"/>
            <a:ext cx="3108960" cy="365760"/>
          </a:xfrm>
          <a:prstGeom prst="rect">
            <a:avLst/>
          </a:prstGeom>
          <a:noFill/>
        </p:spPr>
        <p:txBody>
          <a:bodyPr wrap="square" lIns="0" tIns="0" rIns="0" bIns="0" anchor="t">
            <a:spAutoFit/>
          </a:bodyPr>
          <a:lstStyle/>
          <a:p>
            <a:pPr algn="l">
              <a:lnSpc>
                <a:spcPct val="130000"/>
              </a:lnSpc>
            </a:pPr>
            <a:r>
              <a:rPr sz="1050" b="0">
                <a:solidFill>
                  <a:srgbClr val="8A95AE"/>
                </a:solidFill>
                <a:latin typeface="Calibri"/>
              </a:rPr>
              <a:t>Every task shows its status — Pending, In Progress, Delayed, Done.</a:t>
            </a:r>
          </a:p>
        </p:txBody>
      </p:sp>
      <p:sp>
        <p:nvSpPr>
          <p:cNvPr id="31" name="Rounded Rectangle 30"/>
          <p:cNvSpPr/>
          <p:nvPr/>
        </p:nvSpPr>
        <p:spPr>
          <a:xfrm>
            <a:off x="868680" y="5641848"/>
            <a:ext cx="365760" cy="365760"/>
          </a:xfrm>
          <a:prstGeom prst="roundRect">
            <a:avLst>
              <a:gd name="adj" fmla="val 5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68680" y="5641848"/>
            <a:ext cx="365760" cy="365760"/>
          </a:xfrm>
          <a:prstGeom prst="rect">
            <a:avLst/>
          </a:prstGeom>
          <a:noFill/>
        </p:spPr>
        <p:txBody>
          <a:bodyPr wrap="square" lIns="0" tIns="0" rIns="0" bIns="0" anchor="ctr">
            <a:spAutoFit/>
          </a:bodyPr>
          <a:lstStyle/>
          <a:p>
            <a:pPr algn="ctr">
              <a:lnSpc>
                <a:spcPct val="115000"/>
              </a:lnSpc>
            </a:pPr>
            <a:r>
              <a:rPr sz="1100" b="1">
                <a:solidFill>
                  <a:srgbClr val="46E0CB"/>
                </a:solidFill>
                <a:latin typeface="Calibri"/>
              </a:rPr>
              <a:t>5</a:t>
            </a:r>
          </a:p>
        </p:txBody>
      </p:sp>
      <p:sp>
        <p:nvSpPr>
          <p:cNvPr id="33" name="TextBox 32"/>
          <p:cNvSpPr txBox="1"/>
          <p:nvPr/>
        </p:nvSpPr>
        <p:spPr>
          <a:xfrm>
            <a:off x="1417320" y="5660136"/>
            <a:ext cx="1280160" cy="320040"/>
          </a:xfrm>
          <a:prstGeom prst="rect">
            <a:avLst/>
          </a:prstGeom>
          <a:noFill/>
        </p:spPr>
        <p:txBody>
          <a:bodyPr wrap="square" lIns="0" tIns="0" rIns="0" bIns="0" anchor="t">
            <a:spAutoFit/>
          </a:bodyPr>
          <a:lstStyle/>
          <a:p>
            <a:pPr algn="l">
              <a:lnSpc>
                <a:spcPct val="115000"/>
              </a:lnSpc>
            </a:pPr>
            <a:r>
              <a:rPr sz="1200" b="1">
                <a:solidFill>
                  <a:srgbClr val="F5F7FB"/>
                </a:solidFill>
                <a:latin typeface="Calibri"/>
              </a:rPr>
              <a:t>Close</a:t>
            </a:r>
          </a:p>
        </p:txBody>
      </p:sp>
      <p:sp>
        <p:nvSpPr>
          <p:cNvPr id="34" name="TextBox 33"/>
          <p:cNvSpPr txBox="1"/>
          <p:nvPr/>
        </p:nvSpPr>
        <p:spPr>
          <a:xfrm>
            <a:off x="2606040" y="5678424"/>
            <a:ext cx="3108960" cy="365760"/>
          </a:xfrm>
          <a:prstGeom prst="rect">
            <a:avLst/>
          </a:prstGeom>
          <a:noFill/>
        </p:spPr>
        <p:txBody>
          <a:bodyPr wrap="square" lIns="0" tIns="0" rIns="0" bIns="0" anchor="t">
            <a:spAutoFit/>
          </a:bodyPr>
          <a:lstStyle/>
          <a:p>
            <a:pPr algn="l">
              <a:lnSpc>
                <a:spcPct val="130000"/>
              </a:lnSpc>
            </a:pPr>
            <a:r>
              <a:rPr sz="1050" b="0">
                <a:solidFill>
                  <a:srgbClr val="8A95AE"/>
                </a:solidFill>
                <a:latin typeface="Calibri"/>
              </a:rPr>
              <a:t>Completion is logged with proof. Nothing slips through the cracks.</a:t>
            </a:r>
          </a:p>
        </p:txBody>
      </p:sp>
      <p:sp>
        <p:nvSpPr>
          <p:cNvPr id="35" name="Rounded Rectangle 34"/>
          <p:cNvSpPr/>
          <p:nvPr/>
        </p:nvSpPr>
        <p:spPr>
          <a:xfrm>
            <a:off x="6172200" y="2743200"/>
            <a:ext cx="5532120" cy="3566160"/>
          </a:xfrm>
          <a:prstGeom prst="roundRect">
            <a:avLst>
              <a:gd name="adj" fmla="val 5000"/>
            </a:avLst>
          </a:prstGeom>
          <a:solidFill>
            <a:srgbClr val="161F36"/>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37960" y="3017520"/>
            <a:ext cx="4800600" cy="36576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TODAY · TASK BOARD</a:t>
            </a:r>
          </a:p>
        </p:txBody>
      </p:sp>
      <p:sp>
        <p:nvSpPr>
          <p:cNvPr id="37" name="TextBox 36"/>
          <p:cNvSpPr txBox="1"/>
          <p:nvPr/>
        </p:nvSpPr>
        <p:spPr>
          <a:xfrm>
            <a:off x="6537960" y="3246120"/>
            <a:ext cx="4800600" cy="320040"/>
          </a:xfrm>
          <a:prstGeom prst="rect">
            <a:avLst/>
          </a:prstGeom>
          <a:noFill/>
        </p:spPr>
        <p:txBody>
          <a:bodyPr wrap="square" lIns="0" tIns="0" rIns="0" bIns="0" anchor="t">
            <a:spAutoFit/>
          </a:bodyPr>
          <a:lstStyle/>
          <a:p>
            <a:pPr algn="l">
              <a:lnSpc>
                <a:spcPct val="115000"/>
              </a:lnSpc>
            </a:pPr>
            <a:r>
              <a:rPr sz="950" b="0">
                <a:solidFill>
                  <a:srgbClr val="8A95AE"/>
                </a:solidFill>
                <a:latin typeface="Calibri"/>
              </a:rPr>
              <a:t>14 May  ·  6 sites active</a:t>
            </a:r>
          </a:p>
        </p:txBody>
      </p:sp>
      <p:sp>
        <p:nvSpPr>
          <p:cNvPr id="38" name="TextBox 37"/>
          <p:cNvSpPr txBox="1"/>
          <p:nvPr/>
        </p:nvSpPr>
        <p:spPr>
          <a:xfrm>
            <a:off x="6537960" y="3703320"/>
            <a:ext cx="1508760" cy="274320"/>
          </a:xfrm>
          <a:prstGeom prst="rect">
            <a:avLst/>
          </a:prstGeom>
          <a:noFill/>
        </p:spPr>
        <p:txBody>
          <a:bodyPr wrap="square" lIns="0" tIns="0" rIns="0" bIns="0" anchor="t">
            <a:spAutoFit/>
          </a:bodyPr>
          <a:lstStyle/>
          <a:p>
            <a:pPr algn="l">
              <a:lnSpc>
                <a:spcPct val="115000"/>
              </a:lnSpc>
            </a:pPr>
            <a:r>
              <a:rPr sz="900" b="1" spc="300">
                <a:solidFill>
                  <a:srgbClr val="F16B6B"/>
                </a:solidFill>
                <a:latin typeface="Calibri"/>
              </a:rPr>
              <a:t>PENDING</a:t>
            </a:r>
          </a:p>
        </p:txBody>
      </p:sp>
      <p:sp>
        <p:nvSpPr>
          <p:cNvPr id="39" name="Rectangle 38"/>
          <p:cNvSpPr/>
          <p:nvPr/>
        </p:nvSpPr>
        <p:spPr>
          <a:xfrm>
            <a:off x="6537960" y="3959352"/>
            <a:ext cx="1508760" cy="15240"/>
          </a:xfrm>
          <a:prstGeom prst="rect">
            <a:avLst/>
          </a:prstGeom>
          <a:solidFill>
            <a:srgbClr val="F1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537960" y="4114800"/>
            <a:ext cx="1508760" cy="502920"/>
          </a:xfrm>
          <a:prstGeom prst="roundRect">
            <a:avLst>
              <a:gd name="adj" fmla="val 10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75120" y="4169664"/>
            <a:ext cx="1234440" cy="228600"/>
          </a:xfrm>
          <a:prstGeom prst="rect">
            <a:avLst/>
          </a:prstGeom>
          <a:noFill/>
        </p:spPr>
        <p:txBody>
          <a:bodyPr wrap="square" lIns="0" tIns="0" rIns="0" bIns="0" anchor="t">
            <a:spAutoFit/>
          </a:bodyPr>
          <a:lstStyle/>
          <a:p>
            <a:pPr algn="l">
              <a:lnSpc>
                <a:spcPct val="115000"/>
              </a:lnSpc>
            </a:pPr>
            <a:r>
              <a:rPr sz="1000" b="1">
                <a:solidFill>
                  <a:srgbClr val="F5F7FB"/>
                </a:solidFill>
                <a:latin typeface="Calibri"/>
              </a:rPr>
              <a:t>Re-tile Step 3</a:t>
            </a:r>
          </a:p>
        </p:txBody>
      </p:sp>
      <p:sp>
        <p:nvSpPr>
          <p:cNvPr id="42" name="TextBox 41"/>
          <p:cNvSpPr txBox="1"/>
          <p:nvPr/>
        </p:nvSpPr>
        <p:spPr>
          <a:xfrm>
            <a:off x="6675120" y="4389120"/>
            <a:ext cx="1234440" cy="228600"/>
          </a:xfrm>
          <a:prstGeom prst="rect">
            <a:avLst/>
          </a:prstGeom>
          <a:noFill/>
        </p:spPr>
        <p:txBody>
          <a:bodyPr wrap="square" lIns="0" tIns="0" rIns="0" bIns="0" anchor="t">
            <a:spAutoFit/>
          </a:bodyPr>
          <a:lstStyle/>
          <a:p>
            <a:pPr algn="l">
              <a:lnSpc>
                <a:spcPct val="115000"/>
              </a:lnSpc>
            </a:pPr>
            <a:r>
              <a:rPr sz="850" b="0">
                <a:solidFill>
                  <a:srgbClr val="8A95AE"/>
                </a:solidFill>
                <a:latin typeface="Calibri"/>
              </a:rPr>
              <a:t>Banjara Hills</a:t>
            </a:r>
          </a:p>
        </p:txBody>
      </p:sp>
      <p:sp>
        <p:nvSpPr>
          <p:cNvPr id="43" name="Rounded Rectangle 42"/>
          <p:cNvSpPr/>
          <p:nvPr/>
        </p:nvSpPr>
        <p:spPr>
          <a:xfrm>
            <a:off x="6537960" y="4709160"/>
            <a:ext cx="1508760" cy="502920"/>
          </a:xfrm>
          <a:prstGeom prst="roundRect">
            <a:avLst>
              <a:gd name="adj" fmla="val 10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75120" y="4764024"/>
            <a:ext cx="1234440" cy="228600"/>
          </a:xfrm>
          <a:prstGeom prst="rect">
            <a:avLst/>
          </a:prstGeom>
          <a:noFill/>
        </p:spPr>
        <p:txBody>
          <a:bodyPr wrap="square" lIns="0" tIns="0" rIns="0" bIns="0" anchor="t">
            <a:spAutoFit/>
          </a:bodyPr>
          <a:lstStyle/>
          <a:p>
            <a:pPr algn="l">
              <a:lnSpc>
                <a:spcPct val="115000"/>
              </a:lnSpc>
            </a:pPr>
            <a:r>
              <a:rPr sz="1000" b="1">
                <a:solidFill>
                  <a:srgbClr val="F5F7FB"/>
                </a:solidFill>
                <a:latin typeface="Calibri"/>
              </a:rPr>
              <a:t>Order pump</a:t>
            </a:r>
          </a:p>
        </p:txBody>
      </p:sp>
      <p:sp>
        <p:nvSpPr>
          <p:cNvPr id="45" name="TextBox 44"/>
          <p:cNvSpPr txBox="1"/>
          <p:nvPr/>
        </p:nvSpPr>
        <p:spPr>
          <a:xfrm>
            <a:off x="6675120" y="4983480"/>
            <a:ext cx="1234440" cy="228600"/>
          </a:xfrm>
          <a:prstGeom prst="rect">
            <a:avLst/>
          </a:prstGeom>
          <a:noFill/>
        </p:spPr>
        <p:txBody>
          <a:bodyPr wrap="square" lIns="0" tIns="0" rIns="0" bIns="0" anchor="t">
            <a:spAutoFit/>
          </a:bodyPr>
          <a:lstStyle/>
          <a:p>
            <a:pPr algn="l">
              <a:lnSpc>
                <a:spcPct val="115000"/>
              </a:lnSpc>
            </a:pPr>
            <a:r>
              <a:rPr sz="850" b="0">
                <a:solidFill>
                  <a:srgbClr val="8A95AE"/>
                </a:solidFill>
                <a:latin typeface="Calibri"/>
              </a:rPr>
              <a:t>Jubilee</a:t>
            </a:r>
          </a:p>
        </p:txBody>
      </p:sp>
      <p:sp>
        <p:nvSpPr>
          <p:cNvPr id="46" name="TextBox 45"/>
          <p:cNvSpPr txBox="1"/>
          <p:nvPr/>
        </p:nvSpPr>
        <p:spPr>
          <a:xfrm>
            <a:off x="8183880" y="3703320"/>
            <a:ext cx="1508760" cy="274320"/>
          </a:xfrm>
          <a:prstGeom prst="rect">
            <a:avLst/>
          </a:prstGeom>
          <a:noFill/>
        </p:spPr>
        <p:txBody>
          <a:bodyPr wrap="square" lIns="0" tIns="0" rIns="0" bIns="0" anchor="t">
            <a:spAutoFit/>
          </a:bodyPr>
          <a:lstStyle/>
          <a:p>
            <a:pPr algn="l">
              <a:lnSpc>
                <a:spcPct val="115000"/>
              </a:lnSpc>
            </a:pPr>
            <a:r>
              <a:rPr sz="900" b="1" spc="300">
                <a:solidFill>
                  <a:srgbClr val="F2B14C"/>
                </a:solidFill>
                <a:latin typeface="Calibri"/>
              </a:rPr>
              <a:t>IN PROGRESS</a:t>
            </a:r>
          </a:p>
        </p:txBody>
      </p:sp>
      <p:sp>
        <p:nvSpPr>
          <p:cNvPr id="47" name="Rectangle 46"/>
          <p:cNvSpPr/>
          <p:nvPr/>
        </p:nvSpPr>
        <p:spPr>
          <a:xfrm>
            <a:off x="8183880" y="3959352"/>
            <a:ext cx="1508760" cy="15240"/>
          </a:xfrm>
          <a:prstGeom prst="rect">
            <a:avLst/>
          </a:prstGeom>
          <a:solidFill>
            <a:srgbClr val="F2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8183880" y="4114800"/>
            <a:ext cx="1508760" cy="502920"/>
          </a:xfrm>
          <a:prstGeom prst="roundRect">
            <a:avLst>
              <a:gd name="adj" fmla="val 10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321040" y="4169664"/>
            <a:ext cx="1234440" cy="228600"/>
          </a:xfrm>
          <a:prstGeom prst="rect">
            <a:avLst/>
          </a:prstGeom>
          <a:noFill/>
        </p:spPr>
        <p:txBody>
          <a:bodyPr wrap="square" lIns="0" tIns="0" rIns="0" bIns="0" anchor="t">
            <a:spAutoFit/>
          </a:bodyPr>
          <a:lstStyle/>
          <a:p>
            <a:pPr algn="l">
              <a:lnSpc>
                <a:spcPct val="115000"/>
              </a:lnSpc>
            </a:pPr>
            <a:r>
              <a:rPr sz="1000" b="1">
                <a:solidFill>
                  <a:srgbClr val="F5F7FB"/>
                </a:solidFill>
                <a:latin typeface="Calibri"/>
              </a:rPr>
              <a:t>Waterproof coat 2</a:t>
            </a:r>
          </a:p>
        </p:txBody>
      </p:sp>
      <p:sp>
        <p:nvSpPr>
          <p:cNvPr id="50" name="TextBox 49"/>
          <p:cNvSpPr txBox="1"/>
          <p:nvPr/>
        </p:nvSpPr>
        <p:spPr>
          <a:xfrm>
            <a:off x="8321040" y="4389120"/>
            <a:ext cx="1234440" cy="228600"/>
          </a:xfrm>
          <a:prstGeom prst="rect">
            <a:avLst/>
          </a:prstGeom>
          <a:noFill/>
        </p:spPr>
        <p:txBody>
          <a:bodyPr wrap="square" lIns="0" tIns="0" rIns="0" bIns="0" anchor="t">
            <a:spAutoFit/>
          </a:bodyPr>
          <a:lstStyle/>
          <a:p>
            <a:pPr algn="l">
              <a:lnSpc>
                <a:spcPct val="115000"/>
              </a:lnSpc>
            </a:pPr>
            <a:r>
              <a:rPr sz="850" b="0">
                <a:solidFill>
                  <a:srgbClr val="8A95AE"/>
                </a:solidFill>
                <a:latin typeface="Calibri"/>
              </a:rPr>
              <a:t>Kondapur</a:t>
            </a:r>
          </a:p>
        </p:txBody>
      </p:sp>
      <p:sp>
        <p:nvSpPr>
          <p:cNvPr id="51" name="Rounded Rectangle 50"/>
          <p:cNvSpPr/>
          <p:nvPr/>
        </p:nvSpPr>
        <p:spPr>
          <a:xfrm>
            <a:off x="8183880" y="4709160"/>
            <a:ext cx="1508760" cy="502920"/>
          </a:xfrm>
          <a:prstGeom prst="roundRect">
            <a:avLst>
              <a:gd name="adj" fmla="val 10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321040" y="4764024"/>
            <a:ext cx="1234440" cy="228600"/>
          </a:xfrm>
          <a:prstGeom prst="rect">
            <a:avLst/>
          </a:prstGeom>
          <a:noFill/>
        </p:spPr>
        <p:txBody>
          <a:bodyPr wrap="square" lIns="0" tIns="0" rIns="0" bIns="0" anchor="t">
            <a:spAutoFit/>
          </a:bodyPr>
          <a:lstStyle/>
          <a:p>
            <a:pPr algn="l">
              <a:lnSpc>
                <a:spcPct val="115000"/>
              </a:lnSpc>
            </a:pPr>
            <a:r>
              <a:rPr sz="1000" b="1">
                <a:solidFill>
                  <a:srgbClr val="F5F7FB"/>
                </a:solidFill>
                <a:latin typeface="Calibri"/>
              </a:rPr>
              <a:t>Plaster bond</a:t>
            </a:r>
          </a:p>
        </p:txBody>
      </p:sp>
      <p:sp>
        <p:nvSpPr>
          <p:cNvPr id="53" name="TextBox 52"/>
          <p:cNvSpPr txBox="1"/>
          <p:nvPr/>
        </p:nvSpPr>
        <p:spPr>
          <a:xfrm>
            <a:off x="8321040" y="4983480"/>
            <a:ext cx="1234440" cy="228600"/>
          </a:xfrm>
          <a:prstGeom prst="rect">
            <a:avLst/>
          </a:prstGeom>
          <a:noFill/>
        </p:spPr>
        <p:txBody>
          <a:bodyPr wrap="square" lIns="0" tIns="0" rIns="0" bIns="0" anchor="t">
            <a:spAutoFit/>
          </a:bodyPr>
          <a:lstStyle/>
          <a:p>
            <a:pPr algn="l">
              <a:lnSpc>
                <a:spcPct val="115000"/>
              </a:lnSpc>
            </a:pPr>
            <a:r>
              <a:rPr sz="850" b="0">
                <a:solidFill>
                  <a:srgbClr val="8A95AE"/>
                </a:solidFill>
                <a:latin typeface="Calibri"/>
              </a:rPr>
              <a:t>Gachibowli</a:t>
            </a:r>
          </a:p>
        </p:txBody>
      </p:sp>
      <p:sp>
        <p:nvSpPr>
          <p:cNvPr id="54" name="Rounded Rectangle 53"/>
          <p:cNvSpPr/>
          <p:nvPr/>
        </p:nvSpPr>
        <p:spPr>
          <a:xfrm>
            <a:off x="8183880" y="5303520"/>
            <a:ext cx="1508760" cy="502920"/>
          </a:xfrm>
          <a:prstGeom prst="roundRect">
            <a:avLst>
              <a:gd name="adj" fmla="val 10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321040" y="5358384"/>
            <a:ext cx="1234440" cy="228600"/>
          </a:xfrm>
          <a:prstGeom prst="rect">
            <a:avLst/>
          </a:prstGeom>
          <a:noFill/>
        </p:spPr>
        <p:txBody>
          <a:bodyPr wrap="square" lIns="0" tIns="0" rIns="0" bIns="0" anchor="t">
            <a:spAutoFit/>
          </a:bodyPr>
          <a:lstStyle/>
          <a:p>
            <a:pPr algn="l">
              <a:lnSpc>
                <a:spcPct val="115000"/>
              </a:lnSpc>
            </a:pPr>
            <a:r>
              <a:rPr sz="1000" b="1">
                <a:solidFill>
                  <a:srgbClr val="F5F7FB"/>
                </a:solidFill>
                <a:latin typeface="Calibri"/>
              </a:rPr>
              <a:t>Skimmer fit</a:t>
            </a:r>
          </a:p>
        </p:txBody>
      </p:sp>
      <p:sp>
        <p:nvSpPr>
          <p:cNvPr id="56" name="TextBox 55"/>
          <p:cNvSpPr txBox="1"/>
          <p:nvPr/>
        </p:nvSpPr>
        <p:spPr>
          <a:xfrm>
            <a:off x="8321040" y="5577840"/>
            <a:ext cx="1234440" cy="228600"/>
          </a:xfrm>
          <a:prstGeom prst="rect">
            <a:avLst/>
          </a:prstGeom>
          <a:noFill/>
        </p:spPr>
        <p:txBody>
          <a:bodyPr wrap="square" lIns="0" tIns="0" rIns="0" bIns="0" anchor="t">
            <a:spAutoFit/>
          </a:bodyPr>
          <a:lstStyle/>
          <a:p>
            <a:pPr algn="l">
              <a:lnSpc>
                <a:spcPct val="115000"/>
              </a:lnSpc>
            </a:pPr>
            <a:r>
              <a:rPr sz="850" b="0">
                <a:solidFill>
                  <a:srgbClr val="8A95AE"/>
                </a:solidFill>
                <a:latin typeface="Calibri"/>
              </a:rPr>
              <a:t>Madhapur</a:t>
            </a:r>
          </a:p>
        </p:txBody>
      </p:sp>
      <p:sp>
        <p:nvSpPr>
          <p:cNvPr id="57" name="TextBox 56"/>
          <p:cNvSpPr txBox="1"/>
          <p:nvPr/>
        </p:nvSpPr>
        <p:spPr>
          <a:xfrm>
            <a:off x="9829800" y="3703320"/>
            <a:ext cx="1508760" cy="274320"/>
          </a:xfrm>
          <a:prstGeom prst="rect">
            <a:avLst/>
          </a:prstGeom>
          <a:noFill/>
        </p:spPr>
        <p:txBody>
          <a:bodyPr wrap="square" lIns="0" tIns="0" rIns="0" bIns="0" anchor="t">
            <a:spAutoFit/>
          </a:bodyPr>
          <a:lstStyle/>
          <a:p>
            <a:pPr algn="l">
              <a:lnSpc>
                <a:spcPct val="115000"/>
              </a:lnSpc>
            </a:pPr>
            <a:r>
              <a:rPr sz="900" b="1" spc="300">
                <a:solidFill>
                  <a:srgbClr val="4AD991"/>
                </a:solidFill>
                <a:latin typeface="Calibri"/>
              </a:rPr>
              <a:t>DONE</a:t>
            </a:r>
          </a:p>
        </p:txBody>
      </p:sp>
      <p:sp>
        <p:nvSpPr>
          <p:cNvPr id="58" name="Rectangle 57"/>
          <p:cNvSpPr/>
          <p:nvPr/>
        </p:nvSpPr>
        <p:spPr>
          <a:xfrm>
            <a:off x="9829800" y="3959352"/>
            <a:ext cx="1508760" cy="15240"/>
          </a:xfrm>
          <a:prstGeom prst="rect">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9829800" y="4114800"/>
            <a:ext cx="1508760" cy="502920"/>
          </a:xfrm>
          <a:prstGeom prst="roundRect">
            <a:avLst>
              <a:gd name="adj" fmla="val 10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966960" y="4169664"/>
            <a:ext cx="1234440" cy="228600"/>
          </a:xfrm>
          <a:prstGeom prst="rect">
            <a:avLst/>
          </a:prstGeom>
          <a:noFill/>
        </p:spPr>
        <p:txBody>
          <a:bodyPr wrap="square" lIns="0" tIns="0" rIns="0" bIns="0" anchor="t">
            <a:spAutoFit/>
          </a:bodyPr>
          <a:lstStyle/>
          <a:p>
            <a:pPr algn="l">
              <a:lnSpc>
                <a:spcPct val="115000"/>
              </a:lnSpc>
            </a:pPr>
            <a:r>
              <a:rPr sz="1000" b="1">
                <a:solidFill>
                  <a:srgbClr val="F5F7FB"/>
                </a:solidFill>
                <a:latin typeface="Calibri"/>
              </a:rPr>
              <a:t>Tile prep</a:t>
            </a:r>
          </a:p>
        </p:txBody>
      </p:sp>
      <p:sp>
        <p:nvSpPr>
          <p:cNvPr id="61" name="TextBox 60"/>
          <p:cNvSpPr txBox="1"/>
          <p:nvPr/>
        </p:nvSpPr>
        <p:spPr>
          <a:xfrm>
            <a:off x="9966960" y="4389120"/>
            <a:ext cx="1234440" cy="228600"/>
          </a:xfrm>
          <a:prstGeom prst="rect">
            <a:avLst/>
          </a:prstGeom>
          <a:noFill/>
        </p:spPr>
        <p:txBody>
          <a:bodyPr wrap="square" lIns="0" tIns="0" rIns="0" bIns="0" anchor="t">
            <a:spAutoFit/>
          </a:bodyPr>
          <a:lstStyle/>
          <a:p>
            <a:pPr algn="l">
              <a:lnSpc>
                <a:spcPct val="115000"/>
              </a:lnSpc>
            </a:pPr>
            <a:r>
              <a:rPr sz="850" b="0">
                <a:solidFill>
                  <a:srgbClr val="8A95AE"/>
                </a:solidFill>
                <a:latin typeface="Calibri"/>
              </a:rPr>
              <a:t>Banjara Hills</a:t>
            </a:r>
          </a:p>
        </p:txBody>
      </p:sp>
      <p:sp>
        <p:nvSpPr>
          <p:cNvPr id="62" name="Rounded Rectangle 61"/>
          <p:cNvSpPr/>
          <p:nvPr/>
        </p:nvSpPr>
        <p:spPr>
          <a:xfrm>
            <a:off x="9829800" y="4709160"/>
            <a:ext cx="1508760" cy="502920"/>
          </a:xfrm>
          <a:prstGeom prst="roundRect">
            <a:avLst>
              <a:gd name="adj" fmla="val 10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966960" y="4764024"/>
            <a:ext cx="1234440" cy="228600"/>
          </a:xfrm>
          <a:prstGeom prst="rect">
            <a:avLst/>
          </a:prstGeom>
          <a:noFill/>
        </p:spPr>
        <p:txBody>
          <a:bodyPr wrap="square" lIns="0" tIns="0" rIns="0" bIns="0" anchor="t">
            <a:spAutoFit/>
          </a:bodyPr>
          <a:lstStyle/>
          <a:p>
            <a:pPr algn="l">
              <a:lnSpc>
                <a:spcPct val="115000"/>
              </a:lnSpc>
            </a:pPr>
            <a:r>
              <a:rPr sz="1000" b="1">
                <a:solidFill>
                  <a:srgbClr val="F5F7FB"/>
                </a:solidFill>
                <a:latin typeface="Calibri"/>
              </a:rPr>
              <a:t>AMC visit</a:t>
            </a:r>
          </a:p>
        </p:txBody>
      </p:sp>
      <p:sp>
        <p:nvSpPr>
          <p:cNvPr id="64" name="TextBox 63"/>
          <p:cNvSpPr txBox="1"/>
          <p:nvPr/>
        </p:nvSpPr>
        <p:spPr>
          <a:xfrm>
            <a:off x="9966960" y="4983480"/>
            <a:ext cx="1234440" cy="228600"/>
          </a:xfrm>
          <a:prstGeom prst="rect">
            <a:avLst/>
          </a:prstGeom>
          <a:noFill/>
        </p:spPr>
        <p:txBody>
          <a:bodyPr wrap="square" lIns="0" tIns="0" rIns="0" bIns="0" anchor="t">
            <a:spAutoFit/>
          </a:bodyPr>
          <a:lstStyle/>
          <a:p>
            <a:pPr algn="l">
              <a:lnSpc>
                <a:spcPct val="115000"/>
              </a:lnSpc>
            </a:pPr>
            <a:r>
              <a:rPr sz="850" b="0">
                <a:solidFill>
                  <a:srgbClr val="8A95AE"/>
                </a:solidFill>
                <a:latin typeface="Calibri"/>
              </a:rPr>
              <a:t>Hi-Tec City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292608" cy="2794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4320"/>
            <a:ext cx="4572000" cy="320040"/>
          </a:xfrm>
          <a:prstGeom prst="rect">
            <a:avLst/>
          </a:prstGeom>
          <a:noFill/>
        </p:spPr>
        <p:txBody>
          <a:bodyPr wrap="square" lIns="0" tIns="0" rIns="0" bIns="0" anchor="t">
            <a:spAutoFit/>
          </a:bodyPr>
          <a:lstStyle/>
          <a:p>
            <a:pPr algn="l">
              <a:lnSpc>
                <a:spcPct val="115000"/>
              </a:lnSpc>
            </a:pPr>
            <a:r>
              <a:rPr sz="900" b="1" spc="300">
                <a:solidFill>
                  <a:srgbClr val="8A95AE"/>
                </a:solidFill>
                <a:latin typeface="Calibri"/>
              </a:rPr>
              <a:t>GENOSAI  ×  AQUA TECHNIC</a:t>
            </a:r>
          </a:p>
        </p:txBody>
      </p:sp>
      <p:sp>
        <p:nvSpPr>
          <p:cNvPr id="5" name="TextBox 4"/>
          <p:cNvSpPr txBox="1"/>
          <p:nvPr/>
        </p:nvSpPr>
        <p:spPr>
          <a:xfrm>
            <a:off x="7315200" y="274320"/>
            <a:ext cx="4434840" cy="320040"/>
          </a:xfrm>
          <a:prstGeom prst="rect">
            <a:avLst/>
          </a:prstGeom>
          <a:noFill/>
        </p:spPr>
        <p:txBody>
          <a:bodyPr wrap="square" lIns="0" tIns="0" rIns="0" bIns="0" anchor="t">
            <a:spAutoFit/>
          </a:bodyPr>
          <a:lstStyle/>
          <a:p>
            <a:pPr algn="r">
              <a:lnSpc>
                <a:spcPct val="115000"/>
              </a:lnSpc>
            </a:pPr>
            <a:r>
              <a:rPr sz="900" b="1" spc="300">
                <a:solidFill>
                  <a:srgbClr val="8A95AE"/>
                </a:solidFill>
                <a:latin typeface="Calibri"/>
              </a:rPr>
              <a:t>03D  ·  DASHBOARD</a:t>
            </a:r>
          </a:p>
        </p:txBody>
      </p:sp>
      <p:cxnSp>
        <p:nvCxnSpPr>
          <p:cNvPr id="6" name="Connector 5"/>
          <p:cNvCxnSpPr/>
          <p:nvPr/>
        </p:nvCxnSpPr>
        <p:spPr>
          <a:xfrm>
            <a:off x="502920" y="6446520"/>
            <a:ext cx="11183112" cy="0"/>
          </a:xfrm>
          <a:prstGeom prst="line">
            <a:avLst/>
          </a:prstGeom>
          <a:ln w="6350">
            <a:solidFill>
              <a:srgbClr val="232E4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0" y="6510528"/>
            <a:ext cx="5285232" cy="274320"/>
          </a:xfrm>
          <a:prstGeom prst="rect">
            <a:avLst/>
          </a:prstGeom>
          <a:noFill/>
        </p:spPr>
        <p:txBody>
          <a:bodyPr wrap="square" lIns="0" tIns="0" rIns="0" bIns="0" anchor="t">
            <a:spAutoFit/>
          </a:bodyPr>
          <a:lstStyle/>
          <a:p>
            <a:pPr algn="r">
              <a:lnSpc>
                <a:spcPct val="115000"/>
              </a:lnSpc>
            </a:pPr>
            <a:r>
              <a:rPr sz="800" b="0" spc="200">
                <a:solidFill>
                  <a:srgbClr val="8A95AE"/>
                </a:solidFill>
                <a:latin typeface="Calibri"/>
              </a:rPr>
              <a:t>08 / 16</a:t>
            </a:r>
          </a:p>
        </p:txBody>
      </p:sp>
      <p:sp>
        <p:nvSpPr>
          <p:cNvPr id="9" name="Rectangle 8"/>
          <p:cNvSpPr/>
          <p:nvPr/>
        </p:nvSpPr>
        <p:spPr>
          <a:xfrm>
            <a:off x="502920" y="914400"/>
            <a:ext cx="228600" cy="25400"/>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804672"/>
            <a:ext cx="7315200" cy="27432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MODULE D</a:t>
            </a:r>
          </a:p>
        </p:txBody>
      </p:sp>
      <p:sp>
        <p:nvSpPr>
          <p:cNvPr id="11" name="TextBox 10"/>
          <p:cNvSpPr txBox="1"/>
          <p:nvPr/>
        </p:nvSpPr>
        <p:spPr>
          <a:xfrm>
            <a:off x="502920" y="1143000"/>
            <a:ext cx="11155680" cy="868680"/>
          </a:xfrm>
          <a:prstGeom prst="rect">
            <a:avLst/>
          </a:prstGeom>
          <a:noFill/>
        </p:spPr>
        <p:txBody>
          <a:bodyPr wrap="square" lIns="0" tIns="0" rIns="0" bIns="0" anchor="t">
            <a:spAutoFit/>
          </a:bodyPr>
          <a:lstStyle/>
          <a:p>
            <a:pPr algn="l">
              <a:lnSpc>
                <a:spcPct val="105000"/>
              </a:lnSpc>
            </a:pPr>
            <a:r>
              <a:rPr sz="3400" b="1">
                <a:solidFill>
                  <a:srgbClr val="F5F7FB"/>
                </a:solidFill>
                <a:latin typeface="Calibri"/>
              </a:rPr>
              <a:t>Manager Dashboard — The Owner's View</a:t>
            </a:r>
          </a:p>
        </p:txBody>
      </p:sp>
      <p:sp>
        <p:nvSpPr>
          <p:cNvPr id="12" name="TextBox 11"/>
          <p:cNvSpPr txBox="1"/>
          <p:nvPr/>
        </p:nvSpPr>
        <p:spPr>
          <a:xfrm>
            <a:off x="502920" y="1993392"/>
            <a:ext cx="10515600" cy="548640"/>
          </a:xfrm>
          <a:prstGeom prst="rect">
            <a:avLst/>
          </a:prstGeom>
          <a:noFill/>
        </p:spPr>
        <p:txBody>
          <a:bodyPr wrap="square" lIns="0" tIns="0" rIns="0" bIns="0" anchor="t">
            <a:spAutoFit/>
          </a:bodyPr>
          <a:lstStyle/>
          <a:p>
            <a:pPr algn="l">
              <a:lnSpc>
                <a:spcPct val="135000"/>
              </a:lnSpc>
            </a:pPr>
            <a:r>
              <a:rPr sz="1300" b="0">
                <a:solidFill>
                  <a:srgbClr val="8A95AE"/>
                </a:solidFill>
                <a:latin typeface="Calibri"/>
              </a:rPr>
              <a:t>One screen. Every site. Every employee. Every pending task. Live.</a:t>
            </a:r>
          </a:p>
        </p:txBody>
      </p:sp>
      <p:sp>
        <p:nvSpPr>
          <p:cNvPr id="13" name="Rounded Rectangle 12"/>
          <p:cNvSpPr/>
          <p:nvPr/>
        </p:nvSpPr>
        <p:spPr>
          <a:xfrm>
            <a:off x="502920" y="2743200"/>
            <a:ext cx="11201400" cy="4041648"/>
          </a:xfrm>
          <a:prstGeom prst="roundRect">
            <a:avLst>
              <a:gd name="adj" fmla="val 2500"/>
            </a:avLst>
          </a:prstGeom>
          <a:solidFill>
            <a:srgbClr val="0C1222"/>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2743200"/>
            <a:ext cx="11201400" cy="384048"/>
          </a:xfrm>
          <a:prstGeom prst="rect">
            <a:avLst/>
          </a:prstGeom>
          <a:solidFill>
            <a:srgbClr val="1018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04088" y="2862072"/>
            <a:ext cx="146304" cy="146304"/>
          </a:xfrm>
          <a:prstGeom prst="ellipse">
            <a:avLst/>
          </a:prstGeom>
          <a:solidFill>
            <a:srgbClr val="F1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32688" y="2862072"/>
            <a:ext cx="146304" cy="146304"/>
          </a:xfrm>
          <a:prstGeom prst="ellipse">
            <a:avLst/>
          </a:prstGeom>
          <a:solidFill>
            <a:srgbClr val="F2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61288" y="2862072"/>
            <a:ext cx="146304" cy="146304"/>
          </a:xfrm>
          <a:prstGeom prst="ellipse">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00200" y="2834640"/>
            <a:ext cx="5486400" cy="228600"/>
          </a:xfrm>
          <a:prstGeom prst="rect">
            <a:avLst/>
          </a:prstGeom>
          <a:noFill/>
        </p:spPr>
        <p:txBody>
          <a:bodyPr wrap="square" lIns="0" tIns="0" rIns="0" bIns="0" anchor="t">
            <a:spAutoFit/>
          </a:bodyPr>
          <a:lstStyle/>
          <a:p>
            <a:pPr algn="l">
              <a:lnSpc>
                <a:spcPct val="115000"/>
              </a:lnSpc>
            </a:pPr>
            <a:r>
              <a:rPr sz="900" b="0">
                <a:solidFill>
                  <a:srgbClr val="8A95AE"/>
                </a:solidFill>
                <a:latin typeface="Calibri"/>
              </a:rPr>
              <a:t>ops.aquatechnic.in / dashboard</a:t>
            </a:r>
          </a:p>
        </p:txBody>
      </p:sp>
      <p:sp>
        <p:nvSpPr>
          <p:cNvPr id="19" name="TextBox 18"/>
          <p:cNvSpPr txBox="1"/>
          <p:nvPr/>
        </p:nvSpPr>
        <p:spPr>
          <a:xfrm>
            <a:off x="9875520" y="2834640"/>
            <a:ext cx="1645920" cy="228600"/>
          </a:xfrm>
          <a:prstGeom prst="rect">
            <a:avLst/>
          </a:prstGeom>
          <a:noFill/>
        </p:spPr>
        <p:txBody>
          <a:bodyPr wrap="square" lIns="0" tIns="0" rIns="0" bIns="0" anchor="t">
            <a:spAutoFit/>
          </a:bodyPr>
          <a:lstStyle/>
          <a:p>
            <a:pPr algn="r">
              <a:lnSpc>
                <a:spcPct val="115000"/>
              </a:lnSpc>
            </a:pPr>
            <a:r>
              <a:rPr sz="900" b="0">
                <a:solidFill>
                  <a:srgbClr val="8A95AE"/>
                </a:solidFill>
                <a:latin typeface="Calibri"/>
              </a:rPr>
              <a:t>Rohan · Admin</a:t>
            </a:r>
          </a:p>
        </p:txBody>
      </p:sp>
      <p:sp>
        <p:nvSpPr>
          <p:cNvPr id="20" name="Rounded Rectangle 19"/>
          <p:cNvSpPr/>
          <p:nvPr/>
        </p:nvSpPr>
        <p:spPr>
          <a:xfrm>
            <a:off x="731520" y="3291840"/>
            <a:ext cx="2075688" cy="777240"/>
          </a:xfrm>
          <a:prstGeom prst="roundRect">
            <a:avLst>
              <a:gd name="adj" fmla="val 10000"/>
            </a:avLst>
          </a:prstGeom>
          <a:solidFill>
            <a:srgbClr val="161F36"/>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3401568"/>
            <a:ext cx="1709928" cy="228600"/>
          </a:xfrm>
          <a:prstGeom prst="rect">
            <a:avLst/>
          </a:prstGeom>
          <a:noFill/>
        </p:spPr>
        <p:txBody>
          <a:bodyPr wrap="square" lIns="0" tIns="0" rIns="0" bIns="0" anchor="t">
            <a:spAutoFit/>
          </a:bodyPr>
          <a:lstStyle/>
          <a:p>
            <a:pPr algn="l">
              <a:lnSpc>
                <a:spcPct val="115000"/>
              </a:lnSpc>
            </a:pPr>
            <a:r>
              <a:rPr sz="800" b="1" spc="400">
                <a:solidFill>
                  <a:srgbClr val="8A95AE"/>
                </a:solidFill>
                <a:latin typeface="Calibri"/>
              </a:rPr>
              <a:t>ACTIVE SITES</a:t>
            </a:r>
          </a:p>
        </p:txBody>
      </p:sp>
      <p:sp>
        <p:nvSpPr>
          <p:cNvPr id="22" name="TextBox 21"/>
          <p:cNvSpPr txBox="1"/>
          <p:nvPr/>
        </p:nvSpPr>
        <p:spPr>
          <a:xfrm>
            <a:off x="914400" y="3584448"/>
            <a:ext cx="1709928" cy="457200"/>
          </a:xfrm>
          <a:prstGeom prst="rect">
            <a:avLst/>
          </a:prstGeom>
          <a:noFill/>
        </p:spPr>
        <p:txBody>
          <a:bodyPr wrap="square" lIns="0" tIns="0" rIns="0" bIns="0" anchor="t">
            <a:spAutoFit/>
          </a:bodyPr>
          <a:lstStyle/>
          <a:p>
            <a:pPr algn="l">
              <a:lnSpc>
                <a:spcPct val="115000"/>
              </a:lnSpc>
            </a:pPr>
            <a:r>
              <a:rPr sz="2200" b="1">
                <a:solidFill>
                  <a:srgbClr val="46E0CB"/>
                </a:solidFill>
                <a:latin typeface="Calibri"/>
              </a:rPr>
              <a:t>6</a:t>
            </a:r>
          </a:p>
        </p:txBody>
      </p:sp>
      <p:sp>
        <p:nvSpPr>
          <p:cNvPr id="23" name="Rounded Rectangle 22"/>
          <p:cNvSpPr/>
          <p:nvPr/>
        </p:nvSpPr>
        <p:spPr>
          <a:xfrm>
            <a:off x="2898648" y="3291840"/>
            <a:ext cx="2075688" cy="777240"/>
          </a:xfrm>
          <a:prstGeom prst="roundRect">
            <a:avLst>
              <a:gd name="adj" fmla="val 10000"/>
            </a:avLst>
          </a:prstGeom>
          <a:solidFill>
            <a:srgbClr val="161F36"/>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081528" y="3401568"/>
            <a:ext cx="1709928" cy="228600"/>
          </a:xfrm>
          <a:prstGeom prst="rect">
            <a:avLst/>
          </a:prstGeom>
          <a:noFill/>
        </p:spPr>
        <p:txBody>
          <a:bodyPr wrap="square" lIns="0" tIns="0" rIns="0" bIns="0" anchor="t">
            <a:spAutoFit/>
          </a:bodyPr>
          <a:lstStyle/>
          <a:p>
            <a:pPr algn="l">
              <a:lnSpc>
                <a:spcPct val="115000"/>
              </a:lnSpc>
            </a:pPr>
            <a:r>
              <a:rPr sz="800" b="1" spc="400">
                <a:solidFill>
                  <a:srgbClr val="8A95AE"/>
                </a:solidFill>
                <a:latin typeface="Calibri"/>
              </a:rPr>
              <a:t>EMPLOYEES ON DUTY</a:t>
            </a:r>
          </a:p>
        </p:txBody>
      </p:sp>
      <p:sp>
        <p:nvSpPr>
          <p:cNvPr id="25" name="TextBox 24"/>
          <p:cNvSpPr txBox="1"/>
          <p:nvPr/>
        </p:nvSpPr>
        <p:spPr>
          <a:xfrm>
            <a:off x="3081528" y="3584448"/>
            <a:ext cx="1709928" cy="457200"/>
          </a:xfrm>
          <a:prstGeom prst="rect">
            <a:avLst/>
          </a:prstGeom>
          <a:noFill/>
        </p:spPr>
        <p:txBody>
          <a:bodyPr wrap="square" lIns="0" tIns="0" rIns="0" bIns="0" anchor="t">
            <a:spAutoFit/>
          </a:bodyPr>
          <a:lstStyle/>
          <a:p>
            <a:pPr algn="l">
              <a:lnSpc>
                <a:spcPct val="115000"/>
              </a:lnSpc>
            </a:pPr>
            <a:r>
              <a:rPr sz="2200" b="1">
                <a:solidFill>
                  <a:srgbClr val="F5F7FB"/>
                </a:solidFill>
                <a:latin typeface="Calibri"/>
              </a:rPr>
              <a:t>23</a:t>
            </a:r>
          </a:p>
        </p:txBody>
      </p:sp>
      <p:sp>
        <p:nvSpPr>
          <p:cNvPr id="26" name="Rounded Rectangle 25"/>
          <p:cNvSpPr/>
          <p:nvPr/>
        </p:nvSpPr>
        <p:spPr>
          <a:xfrm>
            <a:off x="5065776" y="3291840"/>
            <a:ext cx="2075688" cy="777240"/>
          </a:xfrm>
          <a:prstGeom prst="roundRect">
            <a:avLst>
              <a:gd name="adj" fmla="val 10000"/>
            </a:avLst>
          </a:prstGeom>
          <a:solidFill>
            <a:srgbClr val="161F36"/>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48656" y="3401568"/>
            <a:ext cx="1709928" cy="228600"/>
          </a:xfrm>
          <a:prstGeom prst="rect">
            <a:avLst/>
          </a:prstGeom>
          <a:noFill/>
        </p:spPr>
        <p:txBody>
          <a:bodyPr wrap="square" lIns="0" tIns="0" rIns="0" bIns="0" anchor="t">
            <a:spAutoFit/>
          </a:bodyPr>
          <a:lstStyle/>
          <a:p>
            <a:pPr algn="l">
              <a:lnSpc>
                <a:spcPct val="115000"/>
              </a:lnSpc>
            </a:pPr>
            <a:r>
              <a:rPr sz="800" b="1" spc="400">
                <a:solidFill>
                  <a:srgbClr val="8A95AE"/>
                </a:solidFill>
                <a:latin typeface="Calibri"/>
              </a:rPr>
              <a:t>PENDING REPORTS</a:t>
            </a:r>
          </a:p>
        </p:txBody>
      </p:sp>
      <p:sp>
        <p:nvSpPr>
          <p:cNvPr id="28" name="TextBox 27"/>
          <p:cNvSpPr txBox="1"/>
          <p:nvPr/>
        </p:nvSpPr>
        <p:spPr>
          <a:xfrm>
            <a:off x="5248656" y="3584448"/>
            <a:ext cx="1709928" cy="457200"/>
          </a:xfrm>
          <a:prstGeom prst="rect">
            <a:avLst/>
          </a:prstGeom>
          <a:noFill/>
        </p:spPr>
        <p:txBody>
          <a:bodyPr wrap="square" lIns="0" tIns="0" rIns="0" bIns="0" anchor="t">
            <a:spAutoFit/>
          </a:bodyPr>
          <a:lstStyle/>
          <a:p>
            <a:pPr algn="l">
              <a:lnSpc>
                <a:spcPct val="115000"/>
              </a:lnSpc>
            </a:pPr>
            <a:r>
              <a:rPr sz="2200" b="1">
                <a:solidFill>
                  <a:srgbClr val="F2B14C"/>
                </a:solidFill>
                <a:latin typeface="Calibri"/>
              </a:rPr>
              <a:t>4</a:t>
            </a:r>
          </a:p>
        </p:txBody>
      </p:sp>
      <p:sp>
        <p:nvSpPr>
          <p:cNvPr id="29" name="Rounded Rectangle 28"/>
          <p:cNvSpPr/>
          <p:nvPr/>
        </p:nvSpPr>
        <p:spPr>
          <a:xfrm>
            <a:off x="7232904" y="3291840"/>
            <a:ext cx="2075688" cy="777240"/>
          </a:xfrm>
          <a:prstGeom prst="roundRect">
            <a:avLst>
              <a:gd name="adj" fmla="val 10000"/>
            </a:avLst>
          </a:prstGeom>
          <a:solidFill>
            <a:srgbClr val="161F36"/>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15784" y="3401568"/>
            <a:ext cx="1709928" cy="228600"/>
          </a:xfrm>
          <a:prstGeom prst="rect">
            <a:avLst/>
          </a:prstGeom>
          <a:noFill/>
        </p:spPr>
        <p:txBody>
          <a:bodyPr wrap="square" lIns="0" tIns="0" rIns="0" bIns="0" anchor="t">
            <a:spAutoFit/>
          </a:bodyPr>
          <a:lstStyle/>
          <a:p>
            <a:pPr algn="l">
              <a:lnSpc>
                <a:spcPct val="115000"/>
              </a:lnSpc>
            </a:pPr>
            <a:r>
              <a:rPr sz="800" b="1" spc="400">
                <a:solidFill>
                  <a:srgbClr val="8A95AE"/>
                </a:solidFill>
                <a:latin typeface="Calibri"/>
              </a:rPr>
              <a:t>DELAYED TASKS</a:t>
            </a:r>
          </a:p>
        </p:txBody>
      </p:sp>
      <p:sp>
        <p:nvSpPr>
          <p:cNvPr id="31" name="TextBox 30"/>
          <p:cNvSpPr txBox="1"/>
          <p:nvPr/>
        </p:nvSpPr>
        <p:spPr>
          <a:xfrm>
            <a:off x="7415784" y="3584448"/>
            <a:ext cx="1709928" cy="457200"/>
          </a:xfrm>
          <a:prstGeom prst="rect">
            <a:avLst/>
          </a:prstGeom>
          <a:noFill/>
        </p:spPr>
        <p:txBody>
          <a:bodyPr wrap="square" lIns="0" tIns="0" rIns="0" bIns="0" anchor="t">
            <a:spAutoFit/>
          </a:bodyPr>
          <a:lstStyle/>
          <a:p>
            <a:pPr algn="l">
              <a:lnSpc>
                <a:spcPct val="115000"/>
              </a:lnSpc>
            </a:pPr>
            <a:r>
              <a:rPr sz="2200" b="1">
                <a:solidFill>
                  <a:srgbClr val="F16B6B"/>
                </a:solidFill>
                <a:latin typeface="Calibri"/>
              </a:rPr>
              <a:t>2</a:t>
            </a:r>
          </a:p>
        </p:txBody>
      </p:sp>
      <p:sp>
        <p:nvSpPr>
          <p:cNvPr id="32" name="Rounded Rectangle 31"/>
          <p:cNvSpPr/>
          <p:nvPr/>
        </p:nvSpPr>
        <p:spPr>
          <a:xfrm>
            <a:off x="9400032" y="3291840"/>
            <a:ext cx="2075688" cy="777240"/>
          </a:xfrm>
          <a:prstGeom prst="roundRect">
            <a:avLst>
              <a:gd name="adj" fmla="val 10000"/>
            </a:avLst>
          </a:prstGeom>
          <a:solidFill>
            <a:srgbClr val="161F36"/>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582912" y="3401568"/>
            <a:ext cx="1709928" cy="228600"/>
          </a:xfrm>
          <a:prstGeom prst="rect">
            <a:avLst/>
          </a:prstGeom>
          <a:noFill/>
        </p:spPr>
        <p:txBody>
          <a:bodyPr wrap="square" lIns="0" tIns="0" rIns="0" bIns="0" anchor="t">
            <a:spAutoFit/>
          </a:bodyPr>
          <a:lstStyle/>
          <a:p>
            <a:pPr algn="l">
              <a:lnSpc>
                <a:spcPct val="115000"/>
              </a:lnSpc>
            </a:pPr>
            <a:r>
              <a:rPr sz="800" b="1" spc="400">
                <a:solidFill>
                  <a:srgbClr val="8A95AE"/>
                </a:solidFill>
                <a:latin typeface="Calibri"/>
              </a:rPr>
              <a:t>AMC THIS WEEK</a:t>
            </a:r>
          </a:p>
        </p:txBody>
      </p:sp>
      <p:sp>
        <p:nvSpPr>
          <p:cNvPr id="34" name="TextBox 33"/>
          <p:cNvSpPr txBox="1"/>
          <p:nvPr/>
        </p:nvSpPr>
        <p:spPr>
          <a:xfrm>
            <a:off x="9582912" y="3584448"/>
            <a:ext cx="1709928" cy="457200"/>
          </a:xfrm>
          <a:prstGeom prst="rect">
            <a:avLst/>
          </a:prstGeom>
          <a:noFill/>
        </p:spPr>
        <p:txBody>
          <a:bodyPr wrap="square" lIns="0" tIns="0" rIns="0" bIns="0" anchor="t">
            <a:spAutoFit/>
          </a:bodyPr>
          <a:lstStyle/>
          <a:p>
            <a:pPr algn="l">
              <a:lnSpc>
                <a:spcPct val="115000"/>
              </a:lnSpc>
            </a:pPr>
            <a:r>
              <a:rPr sz="2200" b="1">
                <a:solidFill>
                  <a:srgbClr val="D4B066"/>
                </a:solidFill>
                <a:latin typeface="Calibri"/>
              </a:rPr>
              <a:t>9</a:t>
            </a:r>
          </a:p>
        </p:txBody>
      </p:sp>
      <p:sp>
        <p:nvSpPr>
          <p:cNvPr id="35" name="Rounded Rectangle 34"/>
          <p:cNvSpPr/>
          <p:nvPr/>
        </p:nvSpPr>
        <p:spPr>
          <a:xfrm>
            <a:off x="731520" y="4206239"/>
            <a:ext cx="6400800" cy="2450591"/>
          </a:xfrm>
          <a:prstGeom prst="roundRect">
            <a:avLst>
              <a:gd name="adj" fmla="val 5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60120" y="4343400"/>
            <a:ext cx="5943600" cy="274320"/>
          </a:xfrm>
          <a:prstGeom prst="rect">
            <a:avLst/>
          </a:prstGeom>
          <a:noFill/>
        </p:spPr>
        <p:txBody>
          <a:bodyPr wrap="square" lIns="0" tIns="0" rIns="0" bIns="0" anchor="t">
            <a:spAutoFit/>
          </a:bodyPr>
          <a:lstStyle/>
          <a:p>
            <a:pPr algn="l">
              <a:lnSpc>
                <a:spcPct val="115000"/>
              </a:lnSpc>
            </a:pPr>
            <a:r>
              <a:rPr sz="900" b="1" spc="400">
                <a:solidFill>
                  <a:srgbClr val="D4B066"/>
                </a:solidFill>
                <a:latin typeface="Calibri"/>
              </a:rPr>
              <a:t>LIVE SITES</a:t>
            </a:r>
          </a:p>
        </p:txBody>
      </p:sp>
      <p:sp>
        <p:nvSpPr>
          <p:cNvPr id="37" name="TextBox 36"/>
          <p:cNvSpPr txBox="1"/>
          <p:nvPr/>
        </p:nvSpPr>
        <p:spPr>
          <a:xfrm>
            <a:off x="960120" y="4590288"/>
            <a:ext cx="5943600" cy="228600"/>
          </a:xfrm>
          <a:prstGeom prst="rect">
            <a:avLst/>
          </a:prstGeom>
          <a:noFill/>
        </p:spPr>
        <p:txBody>
          <a:bodyPr wrap="square" lIns="0" tIns="0" rIns="0" bIns="0" anchor="t">
            <a:spAutoFit/>
          </a:bodyPr>
          <a:lstStyle/>
          <a:p>
            <a:pPr algn="l">
              <a:lnSpc>
                <a:spcPct val="115000"/>
              </a:lnSpc>
            </a:pPr>
            <a:r>
              <a:rPr sz="800" b="0">
                <a:solidFill>
                  <a:srgbClr val="8A95AE"/>
                </a:solidFill>
                <a:latin typeface="Calibri"/>
              </a:rPr>
              <a:t>Site  ·  Stage  ·  Team  ·  Last update</a:t>
            </a:r>
          </a:p>
        </p:txBody>
      </p:sp>
      <p:sp>
        <p:nvSpPr>
          <p:cNvPr id="38" name="Oval 37"/>
          <p:cNvSpPr/>
          <p:nvPr/>
        </p:nvSpPr>
        <p:spPr>
          <a:xfrm>
            <a:off x="996696" y="4992624"/>
            <a:ext cx="109728" cy="109728"/>
          </a:xfrm>
          <a:prstGeom prst="ellipse">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234440" y="4919472"/>
            <a:ext cx="2194560" cy="274320"/>
          </a:xfrm>
          <a:prstGeom prst="rect">
            <a:avLst/>
          </a:prstGeom>
          <a:noFill/>
        </p:spPr>
        <p:txBody>
          <a:bodyPr wrap="square" lIns="0" tIns="0" rIns="0" bIns="0" anchor="t">
            <a:spAutoFit/>
          </a:bodyPr>
          <a:lstStyle/>
          <a:p>
            <a:pPr algn="l">
              <a:lnSpc>
                <a:spcPct val="115000"/>
              </a:lnSpc>
            </a:pPr>
            <a:r>
              <a:rPr sz="1000" b="1">
                <a:solidFill>
                  <a:srgbClr val="F5F7FB"/>
                </a:solidFill>
                <a:latin typeface="Calibri"/>
              </a:rPr>
              <a:t>Banjara Hills Villa</a:t>
            </a:r>
          </a:p>
        </p:txBody>
      </p:sp>
      <p:sp>
        <p:nvSpPr>
          <p:cNvPr id="40" name="TextBox 39"/>
          <p:cNvSpPr txBox="1"/>
          <p:nvPr/>
        </p:nvSpPr>
        <p:spPr>
          <a:xfrm>
            <a:off x="3474720" y="4919472"/>
            <a:ext cx="1280160" cy="27432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Tiling</a:t>
            </a:r>
          </a:p>
        </p:txBody>
      </p:sp>
      <p:sp>
        <p:nvSpPr>
          <p:cNvPr id="41" name="TextBox 40"/>
          <p:cNvSpPr txBox="1"/>
          <p:nvPr/>
        </p:nvSpPr>
        <p:spPr>
          <a:xfrm>
            <a:off x="4846320" y="4919472"/>
            <a:ext cx="914400" cy="274320"/>
          </a:xfrm>
          <a:prstGeom prst="rect">
            <a:avLst/>
          </a:prstGeom>
          <a:noFill/>
        </p:spPr>
        <p:txBody>
          <a:bodyPr wrap="square" lIns="0" tIns="0" rIns="0" bIns="0" anchor="t">
            <a:spAutoFit/>
          </a:bodyPr>
          <a:lstStyle/>
          <a:p>
            <a:pPr algn="l">
              <a:lnSpc>
                <a:spcPct val="115000"/>
              </a:lnSpc>
            </a:pPr>
            <a:r>
              <a:rPr sz="950" b="0">
                <a:solidFill>
                  <a:srgbClr val="8A95AE"/>
                </a:solidFill>
                <a:latin typeface="Calibri"/>
              </a:rPr>
              <a:t>5 ppl</a:t>
            </a:r>
          </a:p>
        </p:txBody>
      </p:sp>
      <p:sp>
        <p:nvSpPr>
          <p:cNvPr id="42" name="TextBox 41"/>
          <p:cNvSpPr txBox="1"/>
          <p:nvPr/>
        </p:nvSpPr>
        <p:spPr>
          <a:xfrm>
            <a:off x="5760720" y="4919472"/>
            <a:ext cx="1280160" cy="274320"/>
          </a:xfrm>
          <a:prstGeom prst="rect">
            <a:avLst/>
          </a:prstGeom>
          <a:noFill/>
        </p:spPr>
        <p:txBody>
          <a:bodyPr wrap="square" lIns="0" tIns="0" rIns="0" bIns="0" anchor="t">
            <a:spAutoFit/>
          </a:bodyPr>
          <a:lstStyle/>
          <a:p>
            <a:pPr algn="r">
              <a:lnSpc>
                <a:spcPct val="115000"/>
              </a:lnSpc>
            </a:pPr>
            <a:r>
              <a:rPr sz="950" b="0">
                <a:solidFill>
                  <a:srgbClr val="8A95AE"/>
                </a:solidFill>
                <a:latin typeface="Calibri"/>
              </a:rPr>
              <a:t>12 min ago</a:t>
            </a:r>
          </a:p>
        </p:txBody>
      </p:sp>
      <p:sp>
        <p:nvSpPr>
          <p:cNvPr id="43" name="Oval 42"/>
          <p:cNvSpPr/>
          <p:nvPr/>
        </p:nvSpPr>
        <p:spPr>
          <a:xfrm>
            <a:off x="996696" y="5285232"/>
            <a:ext cx="109728" cy="109728"/>
          </a:xfrm>
          <a:prstGeom prst="ellipse">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234440" y="5212080"/>
            <a:ext cx="2194560" cy="274320"/>
          </a:xfrm>
          <a:prstGeom prst="rect">
            <a:avLst/>
          </a:prstGeom>
          <a:noFill/>
        </p:spPr>
        <p:txBody>
          <a:bodyPr wrap="square" lIns="0" tIns="0" rIns="0" bIns="0" anchor="t">
            <a:spAutoFit/>
          </a:bodyPr>
          <a:lstStyle/>
          <a:p>
            <a:pPr algn="l">
              <a:lnSpc>
                <a:spcPct val="115000"/>
              </a:lnSpc>
            </a:pPr>
            <a:r>
              <a:rPr sz="1000" b="1">
                <a:solidFill>
                  <a:srgbClr val="F5F7FB"/>
                </a:solidFill>
                <a:latin typeface="Calibri"/>
              </a:rPr>
              <a:t>Jubilee Pool Build</a:t>
            </a:r>
          </a:p>
        </p:txBody>
      </p:sp>
      <p:sp>
        <p:nvSpPr>
          <p:cNvPr id="45" name="TextBox 44"/>
          <p:cNvSpPr txBox="1"/>
          <p:nvPr/>
        </p:nvSpPr>
        <p:spPr>
          <a:xfrm>
            <a:off x="3474720" y="5212080"/>
            <a:ext cx="1280160" cy="27432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Excavation</a:t>
            </a:r>
          </a:p>
        </p:txBody>
      </p:sp>
      <p:sp>
        <p:nvSpPr>
          <p:cNvPr id="46" name="TextBox 45"/>
          <p:cNvSpPr txBox="1"/>
          <p:nvPr/>
        </p:nvSpPr>
        <p:spPr>
          <a:xfrm>
            <a:off x="4846320" y="5212080"/>
            <a:ext cx="914400" cy="274320"/>
          </a:xfrm>
          <a:prstGeom prst="rect">
            <a:avLst/>
          </a:prstGeom>
          <a:noFill/>
        </p:spPr>
        <p:txBody>
          <a:bodyPr wrap="square" lIns="0" tIns="0" rIns="0" bIns="0" anchor="t">
            <a:spAutoFit/>
          </a:bodyPr>
          <a:lstStyle/>
          <a:p>
            <a:pPr algn="l">
              <a:lnSpc>
                <a:spcPct val="115000"/>
              </a:lnSpc>
            </a:pPr>
            <a:r>
              <a:rPr sz="950" b="0">
                <a:solidFill>
                  <a:srgbClr val="8A95AE"/>
                </a:solidFill>
                <a:latin typeface="Calibri"/>
              </a:rPr>
              <a:t>4 ppl</a:t>
            </a:r>
          </a:p>
        </p:txBody>
      </p:sp>
      <p:sp>
        <p:nvSpPr>
          <p:cNvPr id="47" name="TextBox 46"/>
          <p:cNvSpPr txBox="1"/>
          <p:nvPr/>
        </p:nvSpPr>
        <p:spPr>
          <a:xfrm>
            <a:off x="5760720" y="5212080"/>
            <a:ext cx="1280160" cy="274320"/>
          </a:xfrm>
          <a:prstGeom prst="rect">
            <a:avLst/>
          </a:prstGeom>
          <a:noFill/>
        </p:spPr>
        <p:txBody>
          <a:bodyPr wrap="square" lIns="0" tIns="0" rIns="0" bIns="0" anchor="t">
            <a:spAutoFit/>
          </a:bodyPr>
          <a:lstStyle/>
          <a:p>
            <a:pPr algn="r">
              <a:lnSpc>
                <a:spcPct val="115000"/>
              </a:lnSpc>
            </a:pPr>
            <a:r>
              <a:rPr sz="950" b="0">
                <a:solidFill>
                  <a:srgbClr val="8A95AE"/>
                </a:solidFill>
                <a:latin typeface="Calibri"/>
              </a:rPr>
              <a:t>32 min ago</a:t>
            </a:r>
          </a:p>
        </p:txBody>
      </p:sp>
      <p:sp>
        <p:nvSpPr>
          <p:cNvPr id="48" name="Oval 47"/>
          <p:cNvSpPr/>
          <p:nvPr/>
        </p:nvSpPr>
        <p:spPr>
          <a:xfrm>
            <a:off x="996696" y="5577840"/>
            <a:ext cx="109728" cy="109728"/>
          </a:xfrm>
          <a:prstGeom prst="ellipse">
            <a:avLst/>
          </a:prstGeom>
          <a:solidFill>
            <a:srgbClr val="F2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234440" y="5504688"/>
            <a:ext cx="2194560" cy="274320"/>
          </a:xfrm>
          <a:prstGeom prst="rect">
            <a:avLst/>
          </a:prstGeom>
          <a:noFill/>
        </p:spPr>
        <p:txBody>
          <a:bodyPr wrap="square" lIns="0" tIns="0" rIns="0" bIns="0" anchor="t">
            <a:spAutoFit/>
          </a:bodyPr>
          <a:lstStyle/>
          <a:p>
            <a:pPr algn="l">
              <a:lnSpc>
                <a:spcPct val="115000"/>
              </a:lnSpc>
            </a:pPr>
            <a:r>
              <a:rPr sz="1000" b="1">
                <a:solidFill>
                  <a:srgbClr val="F5F7FB"/>
                </a:solidFill>
                <a:latin typeface="Calibri"/>
              </a:rPr>
              <a:t>Kondapur Renovation</a:t>
            </a:r>
          </a:p>
        </p:txBody>
      </p:sp>
      <p:sp>
        <p:nvSpPr>
          <p:cNvPr id="50" name="TextBox 49"/>
          <p:cNvSpPr txBox="1"/>
          <p:nvPr/>
        </p:nvSpPr>
        <p:spPr>
          <a:xfrm>
            <a:off x="3474720" y="5504688"/>
            <a:ext cx="1280160" cy="27432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Waterproofing</a:t>
            </a:r>
          </a:p>
        </p:txBody>
      </p:sp>
      <p:sp>
        <p:nvSpPr>
          <p:cNvPr id="51" name="TextBox 50"/>
          <p:cNvSpPr txBox="1"/>
          <p:nvPr/>
        </p:nvSpPr>
        <p:spPr>
          <a:xfrm>
            <a:off x="4846320" y="5504688"/>
            <a:ext cx="914400" cy="274320"/>
          </a:xfrm>
          <a:prstGeom prst="rect">
            <a:avLst/>
          </a:prstGeom>
          <a:noFill/>
        </p:spPr>
        <p:txBody>
          <a:bodyPr wrap="square" lIns="0" tIns="0" rIns="0" bIns="0" anchor="t">
            <a:spAutoFit/>
          </a:bodyPr>
          <a:lstStyle/>
          <a:p>
            <a:pPr algn="l">
              <a:lnSpc>
                <a:spcPct val="115000"/>
              </a:lnSpc>
            </a:pPr>
            <a:r>
              <a:rPr sz="950" b="0">
                <a:solidFill>
                  <a:srgbClr val="8A95AE"/>
                </a:solidFill>
                <a:latin typeface="Calibri"/>
              </a:rPr>
              <a:t>3 ppl</a:t>
            </a:r>
          </a:p>
        </p:txBody>
      </p:sp>
      <p:sp>
        <p:nvSpPr>
          <p:cNvPr id="52" name="TextBox 51"/>
          <p:cNvSpPr txBox="1"/>
          <p:nvPr/>
        </p:nvSpPr>
        <p:spPr>
          <a:xfrm>
            <a:off x="5760720" y="5504688"/>
            <a:ext cx="1280160" cy="274320"/>
          </a:xfrm>
          <a:prstGeom prst="rect">
            <a:avLst/>
          </a:prstGeom>
          <a:noFill/>
        </p:spPr>
        <p:txBody>
          <a:bodyPr wrap="square" lIns="0" tIns="0" rIns="0" bIns="0" anchor="t">
            <a:spAutoFit/>
          </a:bodyPr>
          <a:lstStyle/>
          <a:p>
            <a:pPr algn="r">
              <a:lnSpc>
                <a:spcPct val="115000"/>
              </a:lnSpc>
            </a:pPr>
            <a:r>
              <a:rPr sz="950" b="0">
                <a:solidFill>
                  <a:srgbClr val="8A95AE"/>
                </a:solidFill>
                <a:latin typeface="Calibri"/>
              </a:rPr>
              <a:t>1 hr ago</a:t>
            </a:r>
          </a:p>
        </p:txBody>
      </p:sp>
      <p:sp>
        <p:nvSpPr>
          <p:cNvPr id="53" name="Oval 52"/>
          <p:cNvSpPr/>
          <p:nvPr/>
        </p:nvSpPr>
        <p:spPr>
          <a:xfrm>
            <a:off x="996696" y="5870448"/>
            <a:ext cx="109728" cy="109728"/>
          </a:xfrm>
          <a:prstGeom prst="ellipse">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234440" y="5797296"/>
            <a:ext cx="2194560" cy="274320"/>
          </a:xfrm>
          <a:prstGeom prst="rect">
            <a:avLst/>
          </a:prstGeom>
          <a:noFill/>
        </p:spPr>
        <p:txBody>
          <a:bodyPr wrap="square" lIns="0" tIns="0" rIns="0" bIns="0" anchor="t">
            <a:spAutoFit/>
          </a:bodyPr>
          <a:lstStyle/>
          <a:p>
            <a:pPr algn="l">
              <a:lnSpc>
                <a:spcPct val="115000"/>
              </a:lnSpc>
            </a:pPr>
            <a:r>
              <a:rPr sz="1000" b="1">
                <a:solidFill>
                  <a:srgbClr val="F5F7FB"/>
                </a:solidFill>
                <a:latin typeface="Calibri"/>
              </a:rPr>
              <a:t>Hi-Tec City AMC</a:t>
            </a:r>
          </a:p>
        </p:txBody>
      </p:sp>
      <p:sp>
        <p:nvSpPr>
          <p:cNvPr id="55" name="TextBox 54"/>
          <p:cNvSpPr txBox="1"/>
          <p:nvPr/>
        </p:nvSpPr>
        <p:spPr>
          <a:xfrm>
            <a:off x="3474720" y="5797296"/>
            <a:ext cx="1280160" cy="27432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Service visit</a:t>
            </a:r>
          </a:p>
        </p:txBody>
      </p:sp>
      <p:sp>
        <p:nvSpPr>
          <p:cNvPr id="56" name="TextBox 55"/>
          <p:cNvSpPr txBox="1"/>
          <p:nvPr/>
        </p:nvSpPr>
        <p:spPr>
          <a:xfrm>
            <a:off x="4846320" y="5797296"/>
            <a:ext cx="914400" cy="274320"/>
          </a:xfrm>
          <a:prstGeom prst="rect">
            <a:avLst/>
          </a:prstGeom>
          <a:noFill/>
        </p:spPr>
        <p:txBody>
          <a:bodyPr wrap="square" lIns="0" tIns="0" rIns="0" bIns="0" anchor="t">
            <a:spAutoFit/>
          </a:bodyPr>
          <a:lstStyle/>
          <a:p>
            <a:pPr algn="l">
              <a:lnSpc>
                <a:spcPct val="115000"/>
              </a:lnSpc>
            </a:pPr>
            <a:r>
              <a:rPr sz="950" b="0">
                <a:solidFill>
                  <a:srgbClr val="8A95AE"/>
                </a:solidFill>
                <a:latin typeface="Calibri"/>
              </a:rPr>
              <a:t>2 ppl</a:t>
            </a:r>
          </a:p>
        </p:txBody>
      </p:sp>
      <p:sp>
        <p:nvSpPr>
          <p:cNvPr id="57" name="TextBox 56"/>
          <p:cNvSpPr txBox="1"/>
          <p:nvPr/>
        </p:nvSpPr>
        <p:spPr>
          <a:xfrm>
            <a:off x="5760720" y="5797296"/>
            <a:ext cx="1280160" cy="274320"/>
          </a:xfrm>
          <a:prstGeom prst="rect">
            <a:avLst/>
          </a:prstGeom>
          <a:noFill/>
        </p:spPr>
        <p:txBody>
          <a:bodyPr wrap="square" lIns="0" tIns="0" rIns="0" bIns="0" anchor="t">
            <a:spAutoFit/>
          </a:bodyPr>
          <a:lstStyle/>
          <a:p>
            <a:pPr algn="r">
              <a:lnSpc>
                <a:spcPct val="115000"/>
              </a:lnSpc>
            </a:pPr>
            <a:r>
              <a:rPr sz="950" b="0">
                <a:solidFill>
                  <a:srgbClr val="8A95AE"/>
                </a:solidFill>
                <a:latin typeface="Calibri"/>
              </a:rPr>
              <a:t>Just now</a:t>
            </a:r>
          </a:p>
        </p:txBody>
      </p:sp>
      <p:sp>
        <p:nvSpPr>
          <p:cNvPr id="58" name="Oval 57"/>
          <p:cNvSpPr/>
          <p:nvPr/>
        </p:nvSpPr>
        <p:spPr>
          <a:xfrm>
            <a:off x="996696" y="6163056"/>
            <a:ext cx="109728" cy="109728"/>
          </a:xfrm>
          <a:prstGeom prst="ellipse">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234440" y="6089904"/>
            <a:ext cx="2194560" cy="274320"/>
          </a:xfrm>
          <a:prstGeom prst="rect">
            <a:avLst/>
          </a:prstGeom>
          <a:noFill/>
        </p:spPr>
        <p:txBody>
          <a:bodyPr wrap="square" lIns="0" tIns="0" rIns="0" bIns="0" anchor="t">
            <a:spAutoFit/>
          </a:bodyPr>
          <a:lstStyle/>
          <a:p>
            <a:pPr algn="l">
              <a:lnSpc>
                <a:spcPct val="115000"/>
              </a:lnSpc>
            </a:pPr>
            <a:r>
              <a:rPr sz="1000" b="1">
                <a:solidFill>
                  <a:srgbClr val="F5F7FB"/>
                </a:solidFill>
                <a:latin typeface="Calibri"/>
              </a:rPr>
              <a:t>Gachibowli Plaster</a:t>
            </a:r>
          </a:p>
        </p:txBody>
      </p:sp>
      <p:sp>
        <p:nvSpPr>
          <p:cNvPr id="60" name="TextBox 59"/>
          <p:cNvSpPr txBox="1"/>
          <p:nvPr/>
        </p:nvSpPr>
        <p:spPr>
          <a:xfrm>
            <a:off x="3474720" y="6089904"/>
            <a:ext cx="1280160" cy="27432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Bond coat</a:t>
            </a:r>
          </a:p>
        </p:txBody>
      </p:sp>
      <p:sp>
        <p:nvSpPr>
          <p:cNvPr id="61" name="TextBox 60"/>
          <p:cNvSpPr txBox="1"/>
          <p:nvPr/>
        </p:nvSpPr>
        <p:spPr>
          <a:xfrm>
            <a:off x="4846320" y="6089904"/>
            <a:ext cx="914400" cy="274320"/>
          </a:xfrm>
          <a:prstGeom prst="rect">
            <a:avLst/>
          </a:prstGeom>
          <a:noFill/>
        </p:spPr>
        <p:txBody>
          <a:bodyPr wrap="square" lIns="0" tIns="0" rIns="0" bIns="0" anchor="t">
            <a:spAutoFit/>
          </a:bodyPr>
          <a:lstStyle/>
          <a:p>
            <a:pPr algn="l">
              <a:lnSpc>
                <a:spcPct val="115000"/>
              </a:lnSpc>
            </a:pPr>
            <a:r>
              <a:rPr sz="950" b="0">
                <a:solidFill>
                  <a:srgbClr val="8A95AE"/>
                </a:solidFill>
                <a:latin typeface="Calibri"/>
              </a:rPr>
              <a:t>4 ppl</a:t>
            </a:r>
          </a:p>
        </p:txBody>
      </p:sp>
      <p:sp>
        <p:nvSpPr>
          <p:cNvPr id="62" name="TextBox 61"/>
          <p:cNvSpPr txBox="1"/>
          <p:nvPr/>
        </p:nvSpPr>
        <p:spPr>
          <a:xfrm>
            <a:off x="5760720" y="6089904"/>
            <a:ext cx="1280160" cy="274320"/>
          </a:xfrm>
          <a:prstGeom prst="rect">
            <a:avLst/>
          </a:prstGeom>
          <a:noFill/>
        </p:spPr>
        <p:txBody>
          <a:bodyPr wrap="square" lIns="0" tIns="0" rIns="0" bIns="0" anchor="t">
            <a:spAutoFit/>
          </a:bodyPr>
          <a:lstStyle/>
          <a:p>
            <a:pPr algn="r">
              <a:lnSpc>
                <a:spcPct val="115000"/>
              </a:lnSpc>
            </a:pPr>
            <a:r>
              <a:rPr sz="950" b="0">
                <a:solidFill>
                  <a:srgbClr val="8A95AE"/>
                </a:solidFill>
                <a:latin typeface="Calibri"/>
              </a:rPr>
              <a:t>8 min ago</a:t>
            </a:r>
          </a:p>
        </p:txBody>
      </p:sp>
      <p:sp>
        <p:nvSpPr>
          <p:cNvPr id="63" name="Oval 62"/>
          <p:cNvSpPr/>
          <p:nvPr/>
        </p:nvSpPr>
        <p:spPr>
          <a:xfrm>
            <a:off x="996696" y="6455664"/>
            <a:ext cx="109728" cy="109728"/>
          </a:xfrm>
          <a:prstGeom prst="ellipse">
            <a:avLst/>
          </a:prstGeom>
          <a:solidFill>
            <a:srgbClr val="F1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234440" y="6382512"/>
            <a:ext cx="2194560" cy="274320"/>
          </a:xfrm>
          <a:prstGeom prst="rect">
            <a:avLst/>
          </a:prstGeom>
          <a:noFill/>
        </p:spPr>
        <p:txBody>
          <a:bodyPr wrap="square" lIns="0" tIns="0" rIns="0" bIns="0" anchor="t">
            <a:spAutoFit/>
          </a:bodyPr>
          <a:lstStyle/>
          <a:p>
            <a:pPr algn="l">
              <a:lnSpc>
                <a:spcPct val="115000"/>
              </a:lnSpc>
            </a:pPr>
            <a:r>
              <a:rPr sz="1000" b="1">
                <a:solidFill>
                  <a:srgbClr val="F5F7FB"/>
                </a:solidFill>
                <a:latin typeface="Calibri"/>
              </a:rPr>
              <a:t>Madhapur Clubhouse</a:t>
            </a:r>
          </a:p>
        </p:txBody>
      </p:sp>
      <p:sp>
        <p:nvSpPr>
          <p:cNvPr id="65" name="TextBox 64"/>
          <p:cNvSpPr txBox="1"/>
          <p:nvPr/>
        </p:nvSpPr>
        <p:spPr>
          <a:xfrm>
            <a:off x="3474720" y="6382512"/>
            <a:ext cx="1280160" cy="27432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Skimmer fit</a:t>
            </a:r>
          </a:p>
        </p:txBody>
      </p:sp>
      <p:sp>
        <p:nvSpPr>
          <p:cNvPr id="66" name="TextBox 65"/>
          <p:cNvSpPr txBox="1"/>
          <p:nvPr/>
        </p:nvSpPr>
        <p:spPr>
          <a:xfrm>
            <a:off x="4846320" y="6382512"/>
            <a:ext cx="914400" cy="274320"/>
          </a:xfrm>
          <a:prstGeom prst="rect">
            <a:avLst/>
          </a:prstGeom>
          <a:noFill/>
        </p:spPr>
        <p:txBody>
          <a:bodyPr wrap="square" lIns="0" tIns="0" rIns="0" bIns="0" anchor="t">
            <a:spAutoFit/>
          </a:bodyPr>
          <a:lstStyle/>
          <a:p>
            <a:pPr algn="l">
              <a:lnSpc>
                <a:spcPct val="115000"/>
              </a:lnSpc>
            </a:pPr>
            <a:r>
              <a:rPr sz="950" b="0">
                <a:solidFill>
                  <a:srgbClr val="8A95AE"/>
                </a:solidFill>
                <a:latin typeface="Calibri"/>
              </a:rPr>
              <a:t>5 ppl</a:t>
            </a:r>
          </a:p>
        </p:txBody>
      </p:sp>
      <p:sp>
        <p:nvSpPr>
          <p:cNvPr id="67" name="TextBox 66"/>
          <p:cNvSpPr txBox="1"/>
          <p:nvPr/>
        </p:nvSpPr>
        <p:spPr>
          <a:xfrm>
            <a:off x="5760720" y="6382512"/>
            <a:ext cx="1280160" cy="274320"/>
          </a:xfrm>
          <a:prstGeom prst="rect">
            <a:avLst/>
          </a:prstGeom>
          <a:noFill/>
        </p:spPr>
        <p:txBody>
          <a:bodyPr wrap="square" lIns="0" tIns="0" rIns="0" bIns="0" anchor="t">
            <a:spAutoFit/>
          </a:bodyPr>
          <a:lstStyle/>
          <a:p>
            <a:pPr algn="r">
              <a:lnSpc>
                <a:spcPct val="115000"/>
              </a:lnSpc>
            </a:pPr>
            <a:r>
              <a:rPr sz="950" b="0">
                <a:solidFill>
                  <a:srgbClr val="F16B6B"/>
                </a:solidFill>
                <a:latin typeface="Calibri"/>
              </a:rPr>
              <a:t>No update</a:t>
            </a:r>
          </a:p>
        </p:txBody>
      </p:sp>
      <p:sp>
        <p:nvSpPr>
          <p:cNvPr id="68" name="Rounded Rectangle 67"/>
          <p:cNvSpPr/>
          <p:nvPr/>
        </p:nvSpPr>
        <p:spPr>
          <a:xfrm>
            <a:off x="7269480" y="4206240"/>
            <a:ext cx="4206240" cy="1965960"/>
          </a:xfrm>
          <a:prstGeom prst="roundRect">
            <a:avLst>
              <a:gd name="adj" fmla="val 5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498080" y="4343400"/>
            <a:ext cx="3749040" cy="274320"/>
          </a:xfrm>
          <a:prstGeom prst="rect">
            <a:avLst/>
          </a:prstGeom>
          <a:noFill/>
        </p:spPr>
        <p:txBody>
          <a:bodyPr wrap="square" lIns="0" tIns="0" rIns="0" bIns="0" anchor="t">
            <a:spAutoFit/>
          </a:bodyPr>
          <a:lstStyle/>
          <a:p>
            <a:pPr algn="l">
              <a:lnSpc>
                <a:spcPct val="115000"/>
              </a:lnSpc>
            </a:pPr>
            <a:r>
              <a:rPr sz="900" b="1" spc="400">
                <a:solidFill>
                  <a:srgbClr val="D4B066"/>
                </a:solidFill>
                <a:latin typeface="Calibri"/>
              </a:rPr>
              <a:t>RECENT ACTIVITY</a:t>
            </a:r>
          </a:p>
        </p:txBody>
      </p:sp>
      <p:sp>
        <p:nvSpPr>
          <p:cNvPr id="70" name="Rectangle 69"/>
          <p:cNvSpPr/>
          <p:nvPr/>
        </p:nvSpPr>
        <p:spPr>
          <a:xfrm>
            <a:off x="7498080" y="4754880"/>
            <a:ext cx="25400" cy="201168"/>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635240" y="4709160"/>
            <a:ext cx="3108960" cy="274320"/>
          </a:xfrm>
          <a:prstGeom prst="rect">
            <a:avLst/>
          </a:prstGeom>
          <a:noFill/>
        </p:spPr>
        <p:txBody>
          <a:bodyPr wrap="square" lIns="0" tIns="0" rIns="0" bIns="0" anchor="t">
            <a:spAutoFit/>
          </a:bodyPr>
          <a:lstStyle/>
          <a:p>
            <a:pPr algn="l">
              <a:lnSpc>
                <a:spcPct val="115000"/>
              </a:lnSpc>
            </a:pPr>
            <a:r>
              <a:rPr sz="1000" b="0">
                <a:solidFill>
                  <a:srgbClr val="C7CFDE"/>
                </a:solidFill>
                <a:latin typeface="Calibri"/>
              </a:rPr>
              <a:t>Suresh checked in at Banjara Hills</a:t>
            </a:r>
          </a:p>
        </p:txBody>
      </p:sp>
      <p:sp>
        <p:nvSpPr>
          <p:cNvPr id="72" name="TextBox 71"/>
          <p:cNvSpPr txBox="1"/>
          <p:nvPr/>
        </p:nvSpPr>
        <p:spPr>
          <a:xfrm>
            <a:off x="10607040" y="4709160"/>
            <a:ext cx="640080" cy="274320"/>
          </a:xfrm>
          <a:prstGeom prst="rect">
            <a:avLst/>
          </a:prstGeom>
          <a:noFill/>
        </p:spPr>
        <p:txBody>
          <a:bodyPr wrap="square" lIns="0" tIns="0" rIns="0" bIns="0" anchor="t">
            <a:spAutoFit/>
          </a:bodyPr>
          <a:lstStyle/>
          <a:p>
            <a:pPr algn="r">
              <a:lnSpc>
                <a:spcPct val="115000"/>
              </a:lnSpc>
            </a:pPr>
            <a:r>
              <a:rPr sz="850" b="0">
                <a:solidFill>
                  <a:srgbClr val="8A95AE"/>
                </a:solidFill>
                <a:latin typeface="Calibri"/>
              </a:rPr>
              <a:t>9:02 AM</a:t>
            </a:r>
          </a:p>
        </p:txBody>
      </p:sp>
      <p:sp>
        <p:nvSpPr>
          <p:cNvPr id="73" name="Rectangle 72"/>
          <p:cNvSpPr/>
          <p:nvPr/>
        </p:nvSpPr>
        <p:spPr>
          <a:xfrm>
            <a:off x="7498080" y="5065776"/>
            <a:ext cx="25400" cy="201168"/>
          </a:xfrm>
          <a:prstGeom prst="rect">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635240" y="5020056"/>
            <a:ext cx="3108960" cy="274320"/>
          </a:xfrm>
          <a:prstGeom prst="rect">
            <a:avLst/>
          </a:prstGeom>
          <a:noFill/>
        </p:spPr>
        <p:txBody>
          <a:bodyPr wrap="square" lIns="0" tIns="0" rIns="0" bIns="0" anchor="t">
            <a:spAutoFit/>
          </a:bodyPr>
          <a:lstStyle/>
          <a:p>
            <a:pPr algn="l">
              <a:lnSpc>
                <a:spcPct val="115000"/>
              </a:lnSpc>
            </a:pPr>
            <a:r>
              <a:rPr sz="1000" b="0">
                <a:solidFill>
                  <a:srgbClr val="C7CFDE"/>
                </a:solidFill>
                <a:latin typeface="Calibri"/>
              </a:rPr>
              <a:t>Photos received — Kondapur waterproofing</a:t>
            </a:r>
          </a:p>
        </p:txBody>
      </p:sp>
      <p:sp>
        <p:nvSpPr>
          <p:cNvPr id="75" name="TextBox 74"/>
          <p:cNvSpPr txBox="1"/>
          <p:nvPr/>
        </p:nvSpPr>
        <p:spPr>
          <a:xfrm>
            <a:off x="10607040" y="5020056"/>
            <a:ext cx="640080" cy="274320"/>
          </a:xfrm>
          <a:prstGeom prst="rect">
            <a:avLst/>
          </a:prstGeom>
          <a:noFill/>
        </p:spPr>
        <p:txBody>
          <a:bodyPr wrap="square" lIns="0" tIns="0" rIns="0" bIns="0" anchor="t">
            <a:spAutoFit/>
          </a:bodyPr>
          <a:lstStyle/>
          <a:p>
            <a:pPr algn="r">
              <a:lnSpc>
                <a:spcPct val="115000"/>
              </a:lnSpc>
            </a:pPr>
            <a:r>
              <a:rPr sz="850" b="0">
                <a:solidFill>
                  <a:srgbClr val="8A95AE"/>
                </a:solidFill>
                <a:latin typeface="Calibri"/>
              </a:rPr>
              <a:t>9:47 AM</a:t>
            </a:r>
          </a:p>
        </p:txBody>
      </p:sp>
      <p:sp>
        <p:nvSpPr>
          <p:cNvPr id="76" name="Rectangle 75"/>
          <p:cNvSpPr/>
          <p:nvPr/>
        </p:nvSpPr>
        <p:spPr>
          <a:xfrm>
            <a:off x="7498080" y="5376672"/>
            <a:ext cx="25400" cy="201168"/>
          </a:xfrm>
          <a:prstGeom prst="rect">
            <a:avLst/>
          </a:prstGeom>
          <a:solidFill>
            <a:srgbClr val="F1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635240" y="5330952"/>
            <a:ext cx="3108960" cy="274320"/>
          </a:xfrm>
          <a:prstGeom prst="rect">
            <a:avLst/>
          </a:prstGeom>
          <a:noFill/>
        </p:spPr>
        <p:txBody>
          <a:bodyPr wrap="square" lIns="0" tIns="0" rIns="0" bIns="0" anchor="t">
            <a:spAutoFit/>
          </a:bodyPr>
          <a:lstStyle/>
          <a:p>
            <a:pPr algn="l">
              <a:lnSpc>
                <a:spcPct val="115000"/>
              </a:lnSpc>
            </a:pPr>
            <a:r>
              <a:rPr sz="1000" b="0">
                <a:solidFill>
                  <a:srgbClr val="C7CFDE"/>
                </a:solidFill>
                <a:latin typeface="Calibri"/>
              </a:rPr>
              <a:t>Task overdue: Pump order (Jubilee)</a:t>
            </a:r>
          </a:p>
        </p:txBody>
      </p:sp>
      <p:sp>
        <p:nvSpPr>
          <p:cNvPr id="78" name="TextBox 77"/>
          <p:cNvSpPr txBox="1"/>
          <p:nvPr/>
        </p:nvSpPr>
        <p:spPr>
          <a:xfrm>
            <a:off x="10607040" y="5330952"/>
            <a:ext cx="640080" cy="274320"/>
          </a:xfrm>
          <a:prstGeom prst="rect">
            <a:avLst/>
          </a:prstGeom>
          <a:noFill/>
        </p:spPr>
        <p:txBody>
          <a:bodyPr wrap="square" lIns="0" tIns="0" rIns="0" bIns="0" anchor="t">
            <a:spAutoFit/>
          </a:bodyPr>
          <a:lstStyle/>
          <a:p>
            <a:pPr algn="r">
              <a:lnSpc>
                <a:spcPct val="115000"/>
              </a:lnSpc>
            </a:pPr>
            <a:r>
              <a:rPr sz="850" b="0">
                <a:solidFill>
                  <a:srgbClr val="8A95AE"/>
                </a:solidFill>
                <a:latin typeface="Calibri"/>
              </a:rPr>
              <a:t>10:15</a:t>
            </a:r>
          </a:p>
        </p:txBody>
      </p:sp>
      <p:sp>
        <p:nvSpPr>
          <p:cNvPr id="79" name="Rectangle 78"/>
          <p:cNvSpPr/>
          <p:nvPr/>
        </p:nvSpPr>
        <p:spPr>
          <a:xfrm>
            <a:off x="7498080" y="5687568"/>
            <a:ext cx="25400" cy="201168"/>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635240" y="5641848"/>
            <a:ext cx="3108960" cy="274320"/>
          </a:xfrm>
          <a:prstGeom prst="rect">
            <a:avLst/>
          </a:prstGeom>
          <a:noFill/>
        </p:spPr>
        <p:txBody>
          <a:bodyPr wrap="square" lIns="0" tIns="0" rIns="0" bIns="0" anchor="t">
            <a:spAutoFit/>
          </a:bodyPr>
          <a:lstStyle/>
          <a:p>
            <a:pPr algn="l">
              <a:lnSpc>
                <a:spcPct val="115000"/>
              </a:lnSpc>
            </a:pPr>
            <a:r>
              <a:rPr sz="1000" b="0">
                <a:solidFill>
                  <a:srgbClr val="C7CFDE"/>
                </a:solidFill>
                <a:latin typeface="Calibri"/>
              </a:rPr>
              <a:t>AMC reminder · Sai Residence due 16 May</a:t>
            </a:r>
          </a:p>
        </p:txBody>
      </p:sp>
      <p:sp>
        <p:nvSpPr>
          <p:cNvPr id="81" name="TextBox 80"/>
          <p:cNvSpPr txBox="1"/>
          <p:nvPr/>
        </p:nvSpPr>
        <p:spPr>
          <a:xfrm>
            <a:off x="10607040" y="5641848"/>
            <a:ext cx="640080" cy="274320"/>
          </a:xfrm>
          <a:prstGeom prst="rect">
            <a:avLst/>
          </a:prstGeom>
          <a:noFill/>
        </p:spPr>
        <p:txBody>
          <a:bodyPr wrap="square" lIns="0" tIns="0" rIns="0" bIns="0" anchor="t">
            <a:spAutoFit/>
          </a:bodyPr>
          <a:lstStyle/>
          <a:p>
            <a:pPr algn="r">
              <a:lnSpc>
                <a:spcPct val="115000"/>
              </a:lnSpc>
            </a:pPr>
            <a:r>
              <a:rPr sz="850" b="0">
                <a:solidFill>
                  <a:srgbClr val="8A95AE"/>
                </a:solidFill>
                <a:latin typeface="Calibri"/>
              </a:rPr>
              <a:t>10:20</a:t>
            </a:r>
          </a:p>
        </p:txBody>
      </p:sp>
      <p:sp>
        <p:nvSpPr>
          <p:cNvPr id="82" name="Rectangle 81"/>
          <p:cNvSpPr/>
          <p:nvPr/>
        </p:nvSpPr>
        <p:spPr>
          <a:xfrm>
            <a:off x="7498080" y="5998464"/>
            <a:ext cx="25400" cy="201168"/>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7635240" y="5952744"/>
            <a:ext cx="3108960" cy="274320"/>
          </a:xfrm>
          <a:prstGeom prst="rect">
            <a:avLst/>
          </a:prstGeom>
          <a:noFill/>
        </p:spPr>
        <p:txBody>
          <a:bodyPr wrap="square" lIns="0" tIns="0" rIns="0" bIns="0" anchor="t">
            <a:spAutoFit/>
          </a:bodyPr>
          <a:lstStyle/>
          <a:p>
            <a:pPr algn="l">
              <a:lnSpc>
                <a:spcPct val="115000"/>
              </a:lnSpc>
            </a:pPr>
            <a:r>
              <a:rPr sz="1000" b="0">
                <a:solidFill>
                  <a:srgbClr val="C7CFDE"/>
                </a:solidFill>
                <a:latin typeface="Calibri"/>
              </a:rPr>
              <a:t>Client update sent — Gachibowli stage 3</a:t>
            </a:r>
          </a:p>
        </p:txBody>
      </p:sp>
      <p:sp>
        <p:nvSpPr>
          <p:cNvPr id="84" name="TextBox 83"/>
          <p:cNvSpPr txBox="1"/>
          <p:nvPr/>
        </p:nvSpPr>
        <p:spPr>
          <a:xfrm>
            <a:off x="10607040" y="5952744"/>
            <a:ext cx="640080" cy="274320"/>
          </a:xfrm>
          <a:prstGeom prst="rect">
            <a:avLst/>
          </a:prstGeom>
          <a:noFill/>
        </p:spPr>
        <p:txBody>
          <a:bodyPr wrap="square" lIns="0" tIns="0" rIns="0" bIns="0" anchor="t">
            <a:spAutoFit/>
          </a:bodyPr>
          <a:lstStyle/>
          <a:p>
            <a:pPr algn="r">
              <a:lnSpc>
                <a:spcPct val="115000"/>
              </a:lnSpc>
            </a:pPr>
            <a:r>
              <a:rPr sz="850" b="0">
                <a:solidFill>
                  <a:srgbClr val="8A95AE"/>
                </a:solidFill>
                <a:latin typeface="Calibri"/>
              </a:rPr>
              <a:t>11:02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292608" cy="2794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4320"/>
            <a:ext cx="4572000" cy="320040"/>
          </a:xfrm>
          <a:prstGeom prst="rect">
            <a:avLst/>
          </a:prstGeom>
          <a:noFill/>
        </p:spPr>
        <p:txBody>
          <a:bodyPr wrap="square" lIns="0" tIns="0" rIns="0" bIns="0" anchor="t">
            <a:spAutoFit/>
          </a:bodyPr>
          <a:lstStyle/>
          <a:p>
            <a:pPr algn="l">
              <a:lnSpc>
                <a:spcPct val="115000"/>
              </a:lnSpc>
            </a:pPr>
            <a:r>
              <a:rPr sz="900" b="1" spc="300">
                <a:solidFill>
                  <a:srgbClr val="8A95AE"/>
                </a:solidFill>
                <a:latin typeface="Calibri"/>
              </a:rPr>
              <a:t>GENOSAI  ×  AQUA TECHNIC</a:t>
            </a:r>
          </a:p>
        </p:txBody>
      </p:sp>
      <p:sp>
        <p:nvSpPr>
          <p:cNvPr id="5" name="TextBox 4"/>
          <p:cNvSpPr txBox="1"/>
          <p:nvPr/>
        </p:nvSpPr>
        <p:spPr>
          <a:xfrm>
            <a:off x="7315200" y="274320"/>
            <a:ext cx="4434840" cy="320040"/>
          </a:xfrm>
          <a:prstGeom prst="rect">
            <a:avLst/>
          </a:prstGeom>
          <a:noFill/>
        </p:spPr>
        <p:txBody>
          <a:bodyPr wrap="square" lIns="0" tIns="0" rIns="0" bIns="0" anchor="t">
            <a:spAutoFit/>
          </a:bodyPr>
          <a:lstStyle/>
          <a:p>
            <a:pPr algn="r">
              <a:lnSpc>
                <a:spcPct val="115000"/>
              </a:lnSpc>
            </a:pPr>
            <a:r>
              <a:rPr sz="900" b="1" spc="300">
                <a:solidFill>
                  <a:srgbClr val="8A95AE"/>
                </a:solidFill>
                <a:latin typeface="Calibri"/>
              </a:rPr>
              <a:t>03E  ·  MAINTENANCE</a:t>
            </a:r>
          </a:p>
        </p:txBody>
      </p:sp>
      <p:cxnSp>
        <p:nvCxnSpPr>
          <p:cNvPr id="6" name="Connector 5"/>
          <p:cNvCxnSpPr/>
          <p:nvPr/>
        </p:nvCxnSpPr>
        <p:spPr>
          <a:xfrm>
            <a:off x="502920" y="6446520"/>
            <a:ext cx="11183112" cy="0"/>
          </a:xfrm>
          <a:prstGeom prst="line">
            <a:avLst/>
          </a:prstGeom>
          <a:ln w="6350">
            <a:solidFill>
              <a:srgbClr val="232E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10528"/>
            <a:ext cx="5486400" cy="274320"/>
          </a:xfrm>
          <a:prstGeom prst="rect">
            <a:avLst/>
          </a:prstGeom>
          <a:noFill/>
        </p:spPr>
        <p:txBody>
          <a:bodyPr wrap="square" lIns="0" tIns="0" rIns="0" bIns="0" anchor="t">
            <a:spAutoFit/>
          </a:bodyPr>
          <a:lstStyle/>
          <a:p>
            <a:pPr algn="l">
              <a:lnSpc>
                <a:spcPct val="115000"/>
              </a:lnSpc>
            </a:pPr>
            <a:r>
              <a:rPr sz="800" b="0">
                <a:solidFill>
                  <a:srgbClr val="8A95AE"/>
                </a:solidFill>
                <a:latin typeface="Calibri"/>
              </a:rPr>
              <a:t>Operational Automation &amp; Employee Management System</a:t>
            </a:r>
          </a:p>
        </p:txBody>
      </p:sp>
      <p:sp>
        <p:nvSpPr>
          <p:cNvPr id="8" name="TextBox 7"/>
          <p:cNvSpPr txBox="1"/>
          <p:nvPr/>
        </p:nvSpPr>
        <p:spPr>
          <a:xfrm>
            <a:off x="6400800" y="6510528"/>
            <a:ext cx="5285232" cy="274320"/>
          </a:xfrm>
          <a:prstGeom prst="rect">
            <a:avLst/>
          </a:prstGeom>
          <a:noFill/>
        </p:spPr>
        <p:txBody>
          <a:bodyPr wrap="square" lIns="0" tIns="0" rIns="0" bIns="0" anchor="t">
            <a:spAutoFit/>
          </a:bodyPr>
          <a:lstStyle/>
          <a:p>
            <a:pPr algn="r">
              <a:lnSpc>
                <a:spcPct val="115000"/>
              </a:lnSpc>
            </a:pPr>
            <a:r>
              <a:rPr sz="800" b="0" spc="200">
                <a:solidFill>
                  <a:srgbClr val="8A95AE"/>
                </a:solidFill>
                <a:latin typeface="Calibri"/>
              </a:rPr>
              <a:t>09 / 16</a:t>
            </a:r>
          </a:p>
        </p:txBody>
      </p:sp>
      <p:sp>
        <p:nvSpPr>
          <p:cNvPr id="9" name="Rectangle 8"/>
          <p:cNvSpPr/>
          <p:nvPr/>
        </p:nvSpPr>
        <p:spPr>
          <a:xfrm>
            <a:off x="502920" y="914400"/>
            <a:ext cx="228600" cy="25400"/>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804672"/>
            <a:ext cx="7315200" cy="27432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MODULE E</a:t>
            </a:r>
          </a:p>
        </p:txBody>
      </p:sp>
      <p:sp>
        <p:nvSpPr>
          <p:cNvPr id="11" name="TextBox 10"/>
          <p:cNvSpPr txBox="1"/>
          <p:nvPr/>
        </p:nvSpPr>
        <p:spPr>
          <a:xfrm>
            <a:off x="502920" y="1143000"/>
            <a:ext cx="11155680" cy="868680"/>
          </a:xfrm>
          <a:prstGeom prst="rect">
            <a:avLst/>
          </a:prstGeom>
          <a:noFill/>
        </p:spPr>
        <p:txBody>
          <a:bodyPr wrap="square" lIns="0" tIns="0" rIns="0" bIns="0" anchor="t">
            <a:spAutoFit/>
          </a:bodyPr>
          <a:lstStyle/>
          <a:p>
            <a:pPr algn="l">
              <a:lnSpc>
                <a:spcPct val="105000"/>
              </a:lnSpc>
            </a:pPr>
            <a:r>
              <a:rPr sz="3400" b="1">
                <a:solidFill>
                  <a:srgbClr val="F5F7FB"/>
                </a:solidFill>
                <a:latin typeface="Calibri"/>
              </a:rPr>
              <a:t>Maintenance Management &amp; AMC Tracking</a:t>
            </a:r>
          </a:p>
        </p:txBody>
      </p:sp>
      <p:sp>
        <p:nvSpPr>
          <p:cNvPr id="12" name="TextBox 11"/>
          <p:cNvSpPr txBox="1"/>
          <p:nvPr/>
        </p:nvSpPr>
        <p:spPr>
          <a:xfrm>
            <a:off x="502920" y="1993392"/>
            <a:ext cx="10515600" cy="548640"/>
          </a:xfrm>
          <a:prstGeom prst="rect">
            <a:avLst/>
          </a:prstGeom>
          <a:noFill/>
        </p:spPr>
        <p:txBody>
          <a:bodyPr wrap="square" lIns="0" tIns="0" rIns="0" bIns="0" anchor="t">
            <a:spAutoFit/>
          </a:bodyPr>
          <a:lstStyle/>
          <a:p>
            <a:pPr algn="l">
              <a:lnSpc>
                <a:spcPct val="135000"/>
              </a:lnSpc>
            </a:pPr>
            <a:r>
              <a:rPr sz="1300" b="0">
                <a:solidFill>
                  <a:srgbClr val="8A95AE"/>
                </a:solidFill>
                <a:latin typeface="Calibri"/>
              </a:rPr>
              <a:t>Pool maintenance is recurring revenue — only if you never miss a visit.</a:t>
            </a:r>
          </a:p>
        </p:txBody>
      </p:sp>
      <p:sp>
        <p:nvSpPr>
          <p:cNvPr id="13" name="Rounded Rectangle 12"/>
          <p:cNvSpPr/>
          <p:nvPr/>
        </p:nvSpPr>
        <p:spPr>
          <a:xfrm>
            <a:off x="502920" y="2743200"/>
            <a:ext cx="5577840" cy="1078992"/>
          </a:xfrm>
          <a:prstGeom prst="roundRect">
            <a:avLst>
              <a:gd name="adj" fmla="val 5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2907792"/>
            <a:ext cx="31750" cy="749808"/>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907792"/>
            <a:ext cx="5120640" cy="365760"/>
          </a:xfrm>
          <a:prstGeom prst="rect">
            <a:avLst/>
          </a:prstGeom>
          <a:noFill/>
        </p:spPr>
        <p:txBody>
          <a:bodyPr wrap="square" lIns="0" tIns="0" rIns="0" bIns="0" anchor="t">
            <a:spAutoFit/>
          </a:bodyPr>
          <a:lstStyle/>
          <a:p>
            <a:pPr algn="l">
              <a:lnSpc>
                <a:spcPct val="115000"/>
              </a:lnSpc>
            </a:pPr>
            <a:r>
              <a:rPr sz="1400" b="1">
                <a:solidFill>
                  <a:srgbClr val="F5F7FB"/>
                </a:solidFill>
                <a:latin typeface="Calibri"/>
              </a:rPr>
              <a:t>Recurring Reminders</a:t>
            </a:r>
          </a:p>
        </p:txBody>
      </p:sp>
      <p:sp>
        <p:nvSpPr>
          <p:cNvPr id="16" name="TextBox 15"/>
          <p:cNvSpPr txBox="1"/>
          <p:nvPr/>
        </p:nvSpPr>
        <p:spPr>
          <a:xfrm>
            <a:off x="777240" y="3246120"/>
            <a:ext cx="5120640" cy="594360"/>
          </a:xfrm>
          <a:prstGeom prst="rect">
            <a:avLst/>
          </a:prstGeom>
          <a:noFill/>
        </p:spPr>
        <p:txBody>
          <a:bodyPr wrap="square" lIns="0" tIns="0" rIns="0" bIns="0" anchor="t">
            <a:spAutoFit/>
          </a:bodyPr>
          <a:lstStyle/>
          <a:p>
            <a:pPr algn="l">
              <a:lnSpc>
                <a:spcPct val="140000"/>
              </a:lnSpc>
            </a:pPr>
            <a:r>
              <a:rPr sz="1050" b="0">
                <a:solidFill>
                  <a:srgbClr val="8A95AE"/>
                </a:solidFill>
                <a:latin typeface="Calibri"/>
              </a:rPr>
              <a:t>Every active AMC client gets auto-scheduled service visits — daily, weekly, monthly. The system reminds your team before the visit and reminds the client right after.</a:t>
            </a:r>
          </a:p>
        </p:txBody>
      </p:sp>
      <p:sp>
        <p:nvSpPr>
          <p:cNvPr id="17" name="Rounded Rectangle 16"/>
          <p:cNvSpPr/>
          <p:nvPr/>
        </p:nvSpPr>
        <p:spPr>
          <a:xfrm>
            <a:off x="502920" y="3931920"/>
            <a:ext cx="5577840" cy="1078992"/>
          </a:xfrm>
          <a:prstGeom prst="roundRect">
            <a:avLst>
              <a:gd name="adj" fmla="val 5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4096512"/>
            <a:ext cx="31750" cy="749808"/>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96512"/>
            <a:ext cx="5120640" cy="365760"/>
          </a:xfrm>
          <a:prstGeom prst="rect">
            <a:avLst/>
          </a:prstGeom>
          <a:noFill/>
        </p:spPr>
        <p:txBody>
          <a:bodyPr wrap="square" lIns="0" tIns="0" rIns="0" bIns="0" anchor="t">
            <a:spAutoFit/>
          </a:bodyPr>
          <a:lstStyle/>
          <a:p>
            <a:pPr algn="l">
              <a:lnSpc>
                <a:spcPct val="115000"/>
              </a:lnSpc>
            </a:pPr>
            <a:r>
              <a:rPr sz="1400" b="1">
                <a:solidFill>
                  <a:srgbClr val="F5F7FB"/>
                </a:solidFill>
                <a:latin typeface="Calibri"/>
              </a:rPr>
              <a:t>AMC Lifecycle Tracking</a:t>
            </a:r>
          </a:p>
        </p:txBody>
      </p:sp>
      <p:sp>
        <p:nvSpPr>
          <p:cNvPr id="20" name="TextBox 19"/>
          <p:cNvSpPr txBox="1"/>
          <p:nvPr/>
        </p:nvSpPr>
        <p:spPr>
          <a:xfrm>
            <a:off x="777240" y="4434840"/>
            <a:ext cx="5120640" cy="594360"/>
          </a:xfrm>
          <a:prstGeom prst="rect">
            <a:avLst/>
          </a:prstGeom>
          <a:noFill/>
        </p:spPr>
        <p:txBody>
          <a:bodyPr wrap="square" lIns="0" tIns="0" rIns="0" bIns="0" anchor="t">
            <a:spAutoFit/>
          </a:bodyPr>
          <a:lstStyle/>
          <a:p>
            <a:pPr algn="l">
              <a:lnSpc>
                <a:spcPct val="140000"/>
              </a:lnSpc>
            </a:pPr>
            <a:r>
              <a:rPr sz="1050" b="0">
                <a:solidFill>
                  <a:srgbClr val="8A95AE"/>
                </a:solidFill>
                <a:latin typeface="Calibri"/>
              </a:rPr>
              <a:t>Each contract shows: start date, expiry, visits completed, visits remaining, payments due. Renewal alerts trigger 30 days before expiry.</a:t>
            </a:r>
          </a:p>
        </p:txBody>
      </p:sp>
      <p:sp>
        <p:nvSpPr>
          <p:cNvPr id="21" name="Rounded Rectangle 20"/>
          <p:cNvSpPr/>
          <p:nvPr/>
        </p:nvSpPr>
        <p:spPr>
          <a:xfrm>
            <a:off x="502920" y="5120640"/>
            <a:ext cx="5577840" cy="1078992"/>
          </a:xfrm>
          <a:prstGeom prst="roundRect">
            <a:avLst>
              <a:gd name="adj" fmla="val 5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2920" y="5285232"/>
            <a:ext cx="31750" cy="749808"/>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5285232"/>
            <a:ext cx="5120640" cy="365760"/>
          </a:xfrm>
          <a:prstGeom prst="rect">
            <a:avLst/>
          </a:prstGeom>
          <a:noFill/>
        </p:spPr>
        <p:txBody>
          <a:bodyPr wrap="square" lIns="0" tIns="0" rIns="0" bIns="0" anchor="t">
            <a:spAutoFit/>
          </a:bodyPr>
          <a:lstStyle/>
          <a:p>
            <a:pPr algn="l">
              <a:lnSpc>
                <a:spcPct val="115000"/>
              </a:lnSpc>
            </a:pPr>
            <a:r>
              <a:rPr sz="1400" b="1">
                <a:solidFill>
                  <a:srgbClr val="F5F7FB"/>
                </a:solidFill>
                <a:latin typeface="Calibri"/>
              </a:rPr>
              <a:t>Service Scheduling</a:t>
            </a:r>
          </a:p>
        </p:txBody>
      </p:sp>
      <p:sp>
        <p:nvSpPr>
          <p:cNvPr id="24" name="TextBox 23"/>
          <p:cNvSpPr txBox="1"/>
          <p:nvPr/>
        </p:nvSpPr>
        <p:spPr>
          <a:xfrm>
            <a:off x="777240" y="5623560"/>
            <a:ext cx="5120640" cy="594360"/>
          </a:xfrm>
          <a:prstGeom prst="rect">
            <a:avLst/>
          </a:prstGeom>
          <a:noFill/>
        </p:spPr>
        <p:txBody>
          <a:bodyPr wrap="square" lIns="0" tIns="0" rIns="0" bIns="0" anchor="t">
            <a:spAutoFit/>
          </a:bodyPr>
          <a:lstStyle/>
          <a:p>
            <a:pPr algn="l">
              <a:lnSpc>
                <a:spcPct val="140000"/>
              </a:lnSpc>
            </a:pPr>
            <a:r>
              <a:rPr sz="1050" b="0">
                <a:solidFill>
                  <a:srgbClr val="8A95AE"/>
                </a:solidFill>
                <a:latin typeface="Calibri"/>
              </a:rPr>
              <a:t>Assign the right technician based on site, skill and availability. Routes can be grouped by area to save time and fuel.</a:t>
            </a:r>
          </a:p>
        </p:txBody>
      </p:sp>
      <p:sp>
        <p:nvSpPr>
          <p:cNvPr id="25" name="Rounded Rectangle 24"/>
          <p:cNvSpPr/>
          <p:nvPr/>
        </p:nvSpPr>
        <p:spPr>
          <a:xfrm>
            <a:off x="6263640" y="2743200"/>
            <a:ext cx="5440680" cy="3566160"/>
          </a:xfrm>
          <a:prstGeom prst="roundRect">
            <a:avLst>
              <a:gd name="adj" fmla="val 5000"/>
            </a:avLst>
          </a:prstGeom>
          <a:solidFill>
            <a:srgbClr val="161F36"/>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29400" y="3017520"/>
            <a:ext cx="4709160" cy="27432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AMC SCHEDULE  ·  THIS WEEK</a:t>
            </a:r>
          </a:p>
        </p:txBody>
      </p:sp>
      <p:sp>
        <p:nvSpPr>
          <p:cNvPr id="27" name="TextBox 26"/>
          <p:cNvSpPr txBox="1"/>
          <p:nvPr/>
        </p:nvSpPr>
        <p:spPr>
          <a:xfrm>
            <a:off x="6629400" y="3246120"/>
            <a:ext cx="4709160" cy="274320"/>
          </a:xfrm>
          <a:prstGeom prst="rect">
            <a:avLst/>
          </a:prstGeom>
          <a:noFill/>
        </p:spPr>
        <p:txBody>
          <a:bodyPr wrap="square" lIns="0" tIns="0" rIns="0" bIns="0" anchor="t">
            <a:spAutoFit/>
          </a:bodyPr>
          <a:lstStyle/>
          <a:p>
            <a:pPr algn="l">
              <a:lnSpc>
                <a:spcPct val="115000"/>
              </a:lnSpc>
            </a:pPr>
            <a:r>
              <a:rPr sz="950" b="0">
                <a:solidFill>
                  <a:srgbClr val="8A95AE"/>
                </a:solidFill>
                <a:latin typeface="Calibri"/>
              </a:rPr>
              <a:t>9 visits scheduled  ·  3 high-priority renewals</a:t>
            </a:r>
          </a:p>
        </p:txBody>
      </p:sp>
      <p:sp>
        <p:nvSpPr>
          <p:cNvPr id="28" name="TextBox 27"/>
          <p:cNvSpPr txBox="1"/>
          <p:nvPr/>
        </p:nvSpPr>
        <p:spPr>
          <a:xfrm>
            <a:off x="6629400" y="3657600"/>
            <a:ext cx="2286000" cy="228600"/>
          </a:xfrm>
          <a:prstGeom prst="rect">
            <a:avLst/>
          </a:prstGeom>
          <a:noFill/>
        </p:spPr>
        <p:txBody>
          <a:bodyPr wrap="square" lIns="0" tIns="0" rIns="0" bIns="0" anchor="t">
            <a:spAutoFit/>
          </a:bodyPr>
          <a:lstStyle/>
          <a:p>
            <a:pPr algn="l">
              <a:lnSpc>
                <a:spcPct val="115000"/>
              </a:lnSpc>
            </a:pPr>
            <a:r>
              <a:rPr sz="800" b="1" spc="200">
                <a:solidFill>
                  <a:srgbClr val="8A95AE"/>
                </a:solidFill>
                <a:latin typeface="Calibri"/>
              </a:rPr>
              <a:t>Client / Location</a:t>
            </a:r>
          </a:p>
        </p:txBody>
      </p:sp>
      <p:sp>
        <p:nvSpPr>
          <p:cNvPr id="29" name="TextBox 28"/>
          <p:cNvSpPr txBox="1"/>
          <p:nvPr/>
        </p:nvSpPr>
        <p:spPr>
          <a:xfrm>
            <a:off x="8915400" y="3657600"/>
            <a:ext cx="548640" cy="228600"/>
          </a:xfrm>
          <a:prstGeom prst="rect">
            <a:avLst/>
          </a:prstGeom>
          <a:noFill/>
        </p:spPr>
        <p:txBody>
          <a:bodyPr wrap="square" lIns="0" tIns="0" rIns="0" bIns="0" anchor="t">
            <a:spAutoFit/>
          </a:bodyPr>
          <a:lstStyle/>
          <a:p>
            <a:pPr algn="l">
              <a:lnSpc>
                <a:spcPct val="115000"/>
              </a:lnSpc>
            </a:pPr>
            <a:r>
              <a:rPr sz="800" b="1" spc="200">
                <a:solidFill>
                  <a:srgbClr val="8A95AE"/>
                </a:solidFill>
                <a:latin typeface="Calibri"/>
              </a:rPr>
              <a:t>Day</a:t>
            </a:r>
          </a:p>
        </p:txBody>
      </p:sp>
      <p:sp>
        <p:nvSpPr>
          <p:cNvPr id="30" name="TextBox 29"/>
          <p:cNvSpPr txBox="1"/>
          <p:nvPr/>
        </p:nvSpPr>
        <p:spPr>
          <a:xfrm>
            <a:off x="9509760" y="3657600"/>
            <a:ext cx="1371600" cy="228600"/>
          </a:xfrm>
          <a:prstGeom prst="rect">
            <a:avLst/>
          </a:prstGeom>
          <a:noFill/>
        </p:spPr>
        <p:txBody>
          <a:bodyPr wrap="square" lIns="0" tIns="0" rIns="0" bIns="0" anchor="t">
            <a:spAutoFit/>
          </a:bodyPr>
          <a:lstStyle/>
          <a:p>
            <a:pPr algn="l">
              <a:lnSpc>
                <a:spcPct val="115000"/>
              </a:lnSpc>
            </a:pPr>
            <a:r>
              <a:rPr sz="800" b="1" spc="200">
                <a:solidFill>
                  <a:srgbClr val="8A95AE"/>
                </a:solidFill>
                <a:latin typeface="Calibri"/>
              </a:rPr>
              <a:t>Service</a:t>
            </a:r>
          </a:p>
        </p:txBody>
      </p:sp>
      <p:sp>
        <p:nvSpPr>
          <p:cNvPr id="31" name="TextBox 30"/>
          <p:cNvSpPr txBox="1"/>
          <p:nvPr/>
        </p:nvSpPr>
        <p:spPr>
          <a:xfrm>
            <a:off x="10835640" y="3657600"/>
            <a:ext cx="822960" cy="228600"/>
          </a:xfrm>
          <a:prstGeom prst="rect">
            <a:avLst/>
          </a:prstGeom>
          <a:noFill/>
        </p:spPr>
        <p:txBody>
          <a:bodyPr wrap="square" lIns="0" tIns="0" rIns="0" bIns="0" anchor="t">
            <a:spAutoFit/>
          </a:bodyPr>
          <a:lstStyle/>
          <a:p>
            <a:pPr algn="l">
              <a:lnSpc>
                <a:spcPct val="115000"/>
              </a:lnSpc>
            </a:pPr>
            <a:r>
              <a:rPr sz="800" b="1" spc="200">
                <a:solidFill>
                  <a:srgbClr val="8A95AE"/>
                </a:solidFill>
                <a:latin typeface="Calibri"/>
              </a:rPr>
              <a:t>Assigned</a:t>
            </a:r>
          </a:p>
        </p:txBody>
      </p:sp>
      <p:cxnSp>
        <p:nvCxnSpPr>
          <p:cNvPr id="32" name="Connector 31"/>
          <p:cNvCxnSpPr/>
          <p:nvPr/>
        </p:nvCxnSpPr>
        <p:spPr>
          <a:xfrm>
            <a:off x="6629400" y="3904488"/>
            <a:ext cx="4709160" cy="0"/>
          </a:xfrm>
          <a:prstGeom prst="line">
            <a:avLst/>
          </a:prstGeom>
          <a:ln w="9525">
            <a:solidFill>
              <a:srgbClr val="232E4A"/>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6492240" y="4050792"/>
            <a:ext cx="91440" cy="91440"/>
          </a:xfrm>
          <a:prstGeom prst="ellipse">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29400" y="3977640"/>
            <a:ext cx="2286000" cy="274320"/>
          </a:xfrm>
          <a:prstGeom prst="rect">
            <a:avLst/>
          </a:prstGeom>
          <a:noFill/>
        </p:spPr>
        <p:txBody>
          <a:bodyPr wrap="square" lIns="0" tIns="0" rIns="0" bIns="0" anchor="t">
            <a:spAutoFit/>
          </a:bodyPr>
          <a:lstStyle/>
          <a:p>
            <a:pPr algn="l">
              <a:lnSpc>
                <a:spcPct val="115000"/>
              </a:lnSpc>
            </a:pPr>
            <a:r>
              <a:rPr sz="950" b="0">
                <a:solidFill>
                  <a:srgbClr val="F5F7FB"/>
                </a:solidFill>
                <a:latin typeface="Calibri"/>
              </a:rPr>
              <a:t>Sai Residence — Banjara</a:t>
            </a:r>
          </a:p>
        </p:txBody>
      </p:sp>
      <p:sp>
        <p:nvSpPr>
          <p:cNvPr id="35" name="TextBox 34"/>
          <p:cNvSpPr txBox="1"/>
          <p:nvPr/>
        </p:nvSpPr>
        <p:spPr>
          <a:xfrm>
            <a:off x="8915400" y="3977640"/>
            <a:ext cx="548640" cy="274320"/>
          </a:xfrm>
          <a:prstGeom prst="rect">
            <a:avLst/>
          </a:prstGeom>
          <a:noFill/>
        </p:spPr>
        <p:txBody>
          <a:bodyPr wrap="square" lIns="0" tIns="0" rIns="0" bIns="0" anchor="t">
            <a:spAutoFit/>
          </a:bodyPr>
          <a:lstStyle/>
          <a:p>
            <a:pPr algn="l">
              <a:lnSpc>
                <a:spcPct val="115000"/>
              </a:lnSpc>
            </a:pPr>
            <a:r>
              <a:rPr sz="950" b="1">
                <a:solidFill>
                  <a:srgbClr val="C7CFDE"/>
                </a:solidFill>
                <a:latin typeface="Calibri"/>
              </a:rPr>
              <a:t>Mon</a:t>
            </a:r>
          </a:p>
        </p:txBody>
      </p:sp>
      <p:sp>
        <p:nvSpPr>
          <p:cNvPr id="36" name="TextBox 35"/>
          <p:cNvSpPr txBox="1"/>
          <p:nvPr/>
        </p:nvSpPr>
        <p:spPr>
          <a:xfrm>
            <a:off x="9509760" y="3977640"/>
            <a:ext cx="1371600" cy="27432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Pool clean</a:t>
            </a:r>
          </a:p>
        </p:txBody>
      </p:sp>
      <p:sp>
        <p:nvSpPr>
          <p:cNvPr id="37" name="TextBox 36"/>
          <p:cNvSpPr txBox="1"/>
          <p:nvPr/>
        </p:nvSpPr>
        <p:spPr>
          <a:xfrm>
            <a:off x="10835640" y="3977640"/>
            <a:ext cx="822960" cy="274320"/>
          </a:xfrm>
          <a:prstGeom prst="rect">
            <a:avLst/>
          </a:prstGeom>
          <a:noFill/>
        </p:spPr>
        <p:txBody>
          <a:bodyPr wrap="square" lIns="0" tIns="0" rIns="0" bIns="0" anchor="t">
            <a:spAutoFit/>
          </a:bodyPr>
          <a:lstStyle/>
          <a:p>
            <a:pPr algn="l">
              <a:lnSpc>
                <a:spcPct val="115000"/>
              </a:lnSpc>
            </a:pPr>
            <a:r>
              <a:rPr sz="950" b="0">
                <a:solidFill>
                  <a:srgbClr val="8A95AE"/>
                </a:solidFill>
                <a:latin typeface="Calibri"/>
              </a:rPr>
              <a:t>Suresh</a:t>
            </a:r>
          </a:p>
        </p:txBody>
      </p:sp>
      <p:sp>
        <p:nvSpPr>
          <p:cNvPr id="38" name="Oval 37"/>
          <p:cNvSpPr/>
          <p:nvPr/>
        </p:nvSpPr>
        <p:spPr>
          <a:xfrm>
            <a:off x="6492240" y="4398264"/>
            <a:ext cx="91440" cy="91440"/>
          </a:xfrm>
          <a:prstGeom prst="ellipse">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629400" y="4325112"/>
            <a:ext cx="2286000" cy="274320"/>
          </a:xfrm>
          <a:prstGeom prst="rect">
            <a:avLst/>
          </a:prstGeom>
          <a:noFill/>
        </p:spPr>
        <p:txBody>
          <a:bodyPr wrap="square" lIns="0" tIns="0" rIns="0" bIns="0" anchor="t">
            <a:spAutoFit/>
          </a:bodyPr>
          <a:lstStyle/>
          <a:p>
            <a:pPr algn="l">
              <a:lnSpc>
                <a:spcPct val="115000"/>
              </a:lnSpc>
            </a:pPr>
            <a:r>
              <a:rPr sz="950" b="0">
                <a:solidFill>
                  <a:srgbClr val="F5F7FB"/>
                </a:solidFill>
                <a:latin typeface="Calibri"/>
              </a:rPr>
              <a:t>Mehta Villa — Jubilee Hills</a:t>
            </a:r>
          </a:p>
        </p:txBody>
      </p:sp>
      <p:sp>
        <p:nvSpPr>
          <p:cNvPr id="40" name="TextBox 39"/>
          <p:cNvSpPr txBox="1"/>
          <p:nvPr/>
        </p:nvSpPr>
        <p:spPr>
          <a:xfrm>
            <a:off x="8915400" y="4325112"/>
            <a:ext cx="548640" cy="274320"/>
          </a:xfrm>
          <a:prstGeom prst="rect">
            <a:avLst/>
          </a:prstGeom>
          <a:noFill/>
        </p:spPr>
        <p:txBody>
          <a:bodyPr wrap="square" lIns="0" tIns="0" rIns="0" bIns="0" anchor="t">
            <a:spAutoFit/>
          </a:bodyPr>
          <a:lstStyle/>
          <a:p>
            <a:pPr algn="l">
              <a:lnSpc>
                <a:spcPct val="115000"/>
              </a:lnSpc>
            </a:pPr>
            <a:r>
              <a:rPr sz="950" b="1">
                <a:solidFill>
                  <a:srgbClr val="C7CFDE"/>
                </a:solidFill>
                <a:latin typeface="Calibri"/>
              </a:rPr>
              <a:t>Tue</a:t>
            </a:r>
          </a:p>
        </p:txBody>
      </p:sp>
      <p:sp>
        <p:nvSpPr>
          <p:cNvPr id="41" name="TextBox 40"/>
          <p:cNvSpPr txBox="1"/>
          <p:nvPr/>
        </p:nvSpPr>
        <p:spPr>
          <a:xfrm>
            <a:off x="9509760" y="4325112"/>
            <a:ext cx="1371600" cy="27432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Chem balance</a:t>
            </a:r>
          </a:p>
        </p:txBody>
      </p:sp>
      <p:sp>
        <p:nvSpPr>
          <p:cNvPr id="42" name="TextBox 41"/>
          <p:cNvSpPr txBox="1"/>
          <p:nvPr/>
        </p:nvSpPr>
        <p:spPr>
          <a:xfrm>
            <a:off x="10835640" y="4325112"/>
            <a:ext cx="822960" cy="274320"/>
          </a:xfrm>
          <a:prstGeom prst="rect">
            <a:avLst/>
          </a:prstGeom>
          <a:noFill/>
        </p:spPr>
        <p:txBody>
          <a:bodyPr wrap="square" lIns="0" tIns="0" rIns="0" bIns="0" anchor="t">
            <a:spAutoFit/>
          </a:bodyPr>
          <a:lstStyle/>
          <a:p>
            <a:pPr algn="l">
              <a:lnSpc>
                <a:spcPct val="115000"/>
              </a:lnSpc>
            </a:pPr>
            <a:r>
              <a:rPr sz="950" b="0">
                <a:solidFill>
                  <a:srgbClr val="8A95AE"/>
                </a:solidFill>
                <a:latin typeface="Calibri"/>
              </a:rPr>
              <a:t>Raju</a:t>
            </a:r>
          </a:p>
        </p:txBody>
      </p:sp>
      <p:sp>
        <p:nvSpPr>
          <p:cNvPr id="43" name="Oval 42"/>
          <p:cNvSpPr/>
          <p:nvPr/>
        </p:nvSpPr>
        <p:spPr>
          <a:xfrm>
            <a:off x="6492240" y="4745736"/>
            <a:ext cx="91440" cy="91440"/>
          </a:xfrm>
          <a:prstGeom prst="ellipse">
            <a:avLst/>
          </a:prstGeom>
          <a:solidFill>
            <a:srgbClr val="F2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29400" y="4672584"/>
            <a:ext cx="2286000" cy="274320"/>
          </a:xfrm>
          <a:prstGeom prst="rect">
            <a:avLst/>
          </a:prstGeom>
          <a:noFill/>
        </p:spPr>
        <p:txBody>
          <a:bodyPr wrap="square" lIns="0" tIns="0" rIns="0" bIns="0" anchor="t">
            <a:spAutoFit/>
          </a:bodyPr>
          <a:lstStyle/>
          <a:p>
            <a:pPr algn="l">
              <a:lnSpc>
                <a:spcPct val="115000"/>
              </a:lnSpc>
            </a:pPr>
            <a:r>
              <a:rPr sz="950" b="0">
                <a:solidFill>
                  <a:srgbClr val="F5F7FB"/>
                </a:solidFill>
                <a:latin typeface="Calibri"/>
              </a:rPr>
              <a:t>Lakeview Apts — Kondapur</a:t>
            </a:r>
          </a:p>
        </p:txBody>
      </p:sp>
      <p:sp>
        <p:nvSpPr>
          <p:cNvPr id="45" name="TextBox 44"/>
          <p:cNvSpPr txBox="1"/>
          <p:nvPr/>
        </p:nvSpPr>
        <p:spPr>
          <a:xfrm>
            <a:off x="8915400" y="4672584"/>
            <a:ext cx="548640" cy="274320"/>
          </a:xfrm>
          <a:prstGeom prst="rect">
            <a:avLst/>
          </a:prstGeom>
          <a:noFill/>
        </p:spPr>
        <p:txBody>
          <a:bodyPr wrap="square" lIns="0" tIns="0" rIns="0" bIns="0" anchor="t">
            <a:spAutoFit/>
          </a:bodyPr>
          <a:lstStyle/>
          <a:p>
            <a:pPr algn="l">
              <a:lnSpc>
                <a:spcPct val="115000"/>
              </a:lnSpc>
            </a:pPr>
            <a:r>
              <a:rPr sz="950" b="1">
                <a:solidFill>
                  <a:srgbClr val="C7CFDE"/>
                </a:solidFill>
                <a:latin typeface="Calibri"/>
              </a:rPr>
              <a:t>Wed</a:t>
            </a:r>
          </a:p>
        </p:txBody>
      </p:sp>
      <p:sp>
        <p:nvSpPr>
          <p:cNvPr id="46" name="TextBox 45"/>
          <p:cNvSpPr txBox="1"/>
          <p:nvPr/>
        </p:nvSpPr>
        <p:spPr>
          <a:xfrm>
            <a:off x="9509760" y="4672584"/>
            <a:ext cx="1371600" cy="27432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Filter service</a:t>
            </a:r>
          </a:p>
        </p:txBody>
      </p:sp>
      <p:sp>
        <p:nvSpPr>
          <p:cNvPr id="47" name="TextBox 46"/>
          <p:cNvSpPr txBox="1"/>
          <p:nvPr/>
        </p:nvSpPr>
        <p:spPr>
          <a:xfrm>
            <a:off x="10835640" y="4672584"/>
            <a:ext cx="822960" cy="274320"/>
          </a:xfrm>
          <a:prstGeom prst="rect">
            <a:avLst/>
          </a:prstGeom>
          <a:noFill/>
        </p:spPr>
        <p:txBody>
          <a:bodyPr wrap="square" lIns="0" tIns="0" rIns="0" bIns="0" anchor="t">
            <a:spAutoFit/>
          </a:bodyPr>
          <a:lstStyle/>
          <a:p>
            <a:pPr algn="l">
              <a:lnSpc>
                <a:spcPct val="115000"/>
              </a:lnSpc>
            </a:pPr>
            <a:r>
              <a:rPr sz="950" b="0">
                <a:solidFill>
                  <a:srgbClr val="8A95AE"/>
                </a:solidFill>
                <a:latin typeface="Calibri"/>
              </a:rPr>
              <a:t>Anand</a:t>
            </a:r>
          </a:p>
        </p:txBody>
      </p:sp>
      <p:sp>
        <p:nvSpPr>
          <p:cNvPr id="48" name="Oval 47"/>
          <p:cNvSpPr/>
          <p:nvPr/>
        </p:nvSpPr>
        <p:spPr>
          <a:xfrm>
            <a:off x="6492240" y="5093208"/>
            <a:ext cx="91440" cy="91440"/>
          </a:xfrm>
          <a:prstGeom prst="ellipse">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629400" y="5020056"/>
            <a:ext cx="2286000" cy="274320"/>
          </a:xfrm>
          <a:prstGeom prst="rect">
            <a:avLst/>
          </a:prstGeom>
          <a:noFill/>
        </p:spPr>
        <p:txBody>
          <a:bodyPr wrap="square" lIns="0" tIns="0" rIns="0" bIns="0" anchor="t">
            <a:spAutoFit/>
          </a:bodyPr>
          <a:lstStyle/>
          <a:p>
            <a:pPr algn="l">
              <a:lnSpc>
                <a:spcPct val="115000"/>
              </a:lnSpc>
            </a:pPr>
            <a:r>
              <a:rPr sz="950" b="0">
                <a:solidFill>
                  <a:srgbClr val="F5F7FB"/>
                </a:solidFill>
                <a:latin typeface="Calibri"/>
              </a:rPr>
              <a:t>Iqbal Bungalow — Hi-Tec</a:t>
            </a:r>
          </a:p>
        </p:txBody>
      </p:sp>
      <p:sp>
        <p:nvSpPr>
          <p:cNvPr id="50" name="TextBox 49"/>
          <p:cNvSpPr txBox="1"/>
          <p:nvPr/>
        </p:nvSpPr>
        <p:spPr>
          <a:xfrm>
            <a:off x="8915400" y="5020056"/>
            <a:ext cx="548640" cy="274320"/>
          </a:xfrm>
          <a:prstGeom prst="rect">
            <a:avLst/>
          </a:prstGeom>
          <a:noFill/>
        </p:spPr>
        <p:txBody>
          <a:bodyPr wrap="square" lIns="0" tIns="0" rIns="0" bIns="0" anchor="t">
            <a:spAutoFit/>
          </a:bodyPr>
          <a:lstStyle/>
          <a:p>
            <a:pPr algn="l">
              <a:lnSpc>
                <a:spcPct val="115000"/>
              </a:lnSpc>
            </a:pPr>
            <a:r>
              <a:rPr sz="950" b="1">
                <a:solidFill>
                  <a:srgbClr val="C7CFDE"/>
                </a:solidFill>
                <a:latin typeface="Calibri"/>
              </a:rPr>
              <a:t>Thu</a:t>
            </a:r>
          </a:p>
        </p:txBody>
      </p:sp>
      <p:sp>
        <p:nvSpPr>
          <p:cNvPr id="51" name="TextBox 50"/>
          <p:cNvSpPr txBox="1"/>
          <p:nvPr/>
        </p:nvSpPr>
        <p:spPr>
          <a:xfrm>
            <a:off x="9509760" y="5020056"/>
            <a:ext cx="1371600" cy="27432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Quarterly deep</a:t>
            </a:r>
          </a:p>
        </p:txBody>
      </p:sp>
      <p:sp>
        <p:nvSpPr>
          <p:cNvPr id="52" name="TextBox 51"/>
          <p:cNvSpPr txBox="1"/>
          <p:nvPr/>
        </p:nvSpPr>
        <p:spPr>
          <a:xfrm>
            <a:off x="10835640" y="5020056"/>
            <a:ext cx="822960" cy="274320"/>
          </a:xfrm>
          <a:prstGeom prst="rect">
            <a:avLst/>
          </a:prstGeom>
          <a:noFill/>
        </p:spPr>
        <p:txBody>
          <a:bodyPr wrap="square" lIns="0" tIns="0" rIns="0" bIns="0" anchor="t">
            <a:spAutoFit/>
          </a:bodyPr>
          <a:lstStyle/>
          <a:p>
            <a:pPr algn="l">
              <a:lnSpc>
                <a:spcPct val="115000"/>
              </a:lnSpc>
            </a:pPr>
            <a:r>
              <a:rPr sz="950" b="0">
                <a:solidFill>
                  <a:srgbClr val="8A95AE"/>
                </a:solidFill>
                <a:latin typeface="Calibri"/>
              </a:rPr>
              <a:t>Suresh</a:t>
            </a:r>
          </a:p>
        </p:txBody>
      </p:sp>
      <p:sp>
        <p:nvSpPr>
          <p:cNvPr id="53" name="Oval 52"/>
          <p:cNvSpPr/>
          <p:nvPr/>
        </p:nvSpPr>
        <p:spPr>
          <a:xfrm>
            <a:off x="6492240" y="5440680"/>
            <a:ext cx="91440" cy="91440"/>
          </a:xfrm>
          <a:prstGeom prst="ellipse">
            <a:avLst/>
          </a:prstGeom>
          <a:solidFill>
            <a:srgbClr val="F1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629400" y="5367528"/>
            <a:ext cx="2286000" cy="274320"/>
          </a:xfrm>
          <a:prstGeom prst="rect">
            <a:avLst/>
          </a:prstGeom>
          <a:noFill/>
        </p:spPr>
        <p:txBody>
          <a:bodyPr wrap="square" lIns="0" tIns="0" rIns="0" bIns="0" anchor="t">
            <a:spAutoFit/>
          </a:bodyPr>
          <a:lstStyle/>
          <a:p>
            <a:pPr algn="l">
              <a:lnSpc>
                <a:spcPct val="115000"/>
              </a:lnSpc>
            </a:pPr>
            <a:r>
              <a:rPr sz="950" b="0">
                <a:solidFill>
                  <a:srgbClr val="F5F7FB"/>
                </a:solidFill>
                <a:latin typeface="Calibri"/>
              </a:rPr>
              <a:t>Reddy Pool — Madhapur</a:t>
            </a:r>
          </a:p>
        </p:txBody>
      </p:sp>
      <p:sp>
        <p:nvSpPr>
          <p:cNvPr id="55" name="TextBox 54"/>
          <p:cNvSpPr txBox="1"/>
          <p:nvPr/>
        </p:nvSpPr>
        <p:spPr>
          <a:xfrm>
            <a:off x="8915400" y="5367528"/>
            <a:ext cx="548640" cy="274320"/>
          </a:xfrm>
          <a:prstGeom prst="rect">
            <a:avLst/>
          </a:prstGeom>
          <a:noFill/>
        </p:spPr>
        <p:txBody>
          <a:bodyPr wrap="square" lIns="0" tIns="0" rIns="0" bIns="0" anchor="t">
            <a:spAutoFit/>
          </a:bodyPr>
          <a:lstStyle/>
          <a:p>
            <a:pPr algn="l">
              <a:lnSpc>
                <a:spcPct val="115000"/>
              </a:lnSpc>
            </a:pPr>
            <a:r>
              <a:rPr sz="950" b="1">
                <a:solidFill>
                  <a:srgbClr val="C7CFDE"/>
                </a:solidFill>
                <a:latin typeface="Calibri"/>
              </a:rPr>
              <a:t>Fri</a:t>
            </a:r>
          </a:p>
        </p:txBody>
      </p:sp>
      <p:sp>
        <p:nvSpPr>
          <p:cNvPr id="56" name="TextBox 55"/>
          <p:cNvSpPr txBox="1"/>
          <p:nvPr/>
        </p:nvSpPr>
        <p:spPr>
          <a:xfrm>
            <a:off x="9509760" y="5367528"/>
            <a:ext cx="1371600" cy="27432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AMC renewal!</a:t>
            </a:r>
          </a:p>
        </p:txBody>
      </p:sp>
      <p:sp>
        <p:nvSpPr>
          <p:cNvPr id="57" name="TextBox 56"/>
          <p:cNvSpPr txBox="1"/>
          <p:nvPr/>
        </p:nvSpPr>
        <p:spPr>
          <a:xfrm>
            <a:off x="10835640" y="5367528"/>
            <a:ext cx="822960" cy="274320"/>
          </a:xfrm>
          <a:prstGeom prst="rect">
            <a:avLst/>
          </a:prstGeom>
          <a:noFill/>
        </p:spPr>
        <p:txBody>
          <a:bodyPr wrap="square" lIns="0" tIns="0" rIns="0" bIns="0" anchor="t">
            <a:spAutoFit/>
          </a:bodyPr>
          <a:lstStyle/>
          <a:p>
            <a:pPr algn="l">
              <a:lnSpc>
                <a:spcPct val="115000"/>
              </a:lnSpc>
            </a:pPr>
            <a:r>
              <a:rPr sz="950" b="0">
                <a:solidFill>
                  <a:srgbClr val="8A95AE"/>
                </a:solidFill>
                <a:latin typeface="Calibri"/>
              </a:rPr>
              <a:t>Owner</a:t>
            </a:r>
          </a:p>
        </p:txBody>
      </p:sp>
      <p:sp>
        <p:nvSpPr>
          <p:cNvPr id="58" name="Oval 57"/>
          <p:cNvSpPr/>
          <p:nvPr/>
        </p:nvSpPr>
        <p:spPr>
          <a:xfrm>
            <a:off x="6492240" y="5788152"/>
            <a:ext cx="91440" cy="91440"/>
          </a:xfrm>
          <a:prstGeom prst="ellipse">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629400" y="5715000"/>
            <a:ext cx="2286000" cy="274320"/>
          </a:xfrm>
          <a:prstGeom prst="rect">
            <a:avLst/>
          </a:prstGeom>
          <a:noFill/>
        </p:spPr>
        <p:txBody>
          <a:bodyPr wrap="square" lIns="0" tIns="0" rIns="0" bIns="0" anchor="t">
            <a:spAutoFit/>
          </a:bodyPr>
          <a:lstStyle/>
          <a:p>
            <a:pPr algn="l">
              <a:lnSpc>
                <a:spcPct val="115000"/>
              </a:lnSpc>
            </a:pPr>
            <a:r>
              <a:rPr sz="950" b="0">
                <a:solidFill>
                  <a:srgbClr val="F5F7FB"/>
                </a:solidFill>
                <a:latin typeface="Calibri"/>
              </a:rPr>
              <a:t>Park Vista — Gachibowli</a:t>
            </a:r>
          </a:p>
        </p:txBody>
      </p:sp>
      <p:sp>
        <p:nvSpPr>
          <p:cNvPr id="60" name="TextBox 59"/>
          <p:cNvSpPr txBox="1"/>
          <p:nvPr/>
        </p:nvSpPr>
        <p:spPr>
          <a:xfrm>
            <a:off x="8915400" y="5715000"/>
            <a:ext cx="548640" cy="274320"/>
          </a:xfrm>
          <a:prstGeom prst="rect">
            <a:avLst/>
          </a:prstGeom>
          <a:noFill/>
        </p:spPr>
        <p:txBody>
          <a:bodyPr wrap="square" lIns="0" tIns="0" rIns="0" bIns="0" anchor="t">
            <a:spAutoFit/>
          </a:bodyPr>
          <a:lstStyle/>
          <a:p>
            <a:pPr algn="l">
              <a:lnSpc>
                <a:spcPct val="115000"/>
              </a:lnSpc>
            </a:pPr>
            <a:r>
              <a:rPr sz="950" b="1">
                <a:solidFill>
                  <a:srgbClr val="C7CFDE"/>
                </a:solidFill>
                <a:latin typeface="Calibri"/>
              </a:rPr>
              <a:t>Sat</a:t>
            </a:r>
          </a:p>
        </p:txBody>
      </p:sp>
      <p:sp>
        <p:nvSpPr>
          <p:cNvPr id="61" name="TextBox 60"/>
          <p:cNvSpPr txBox="1"/>
          <p:nvPr/>
        </p:nvSpPr>
        <p:spPr>
          <a:xfrm>
            <a:off x="9509760" y="5715000"/>
            <a:ext cx="1371600" cy="27432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Pool clean</a:t>
            </a:r>
          </a:p>
        </p:txBody>
      </p:sp>
      <p:sp>
        <p:nvSpPr>
          <p:cNvPr id="62" name="TextBox 61"/>
          <p:cNvSpPr txBox="1"/>
          <p:nvPr/>
        </p:nvSpPr>
        <p:spPr>
          <a:xfrm>
            <a:off x="10835640" y="5715000"/>
            <a:ext cx="822960" cy="274320"/>
          </a:xfrm>
          <a:prstGeom prst="rect">
            <a:avLst/>
          </a:prstGeom>
          <a:noFill/>
        </p:spPr>
        <p:txBody>
          <a:bodyPr wrap="square" lIns="0" tIns="0" rIns="0" bIns="0" anchor="t">
            <a:spAutoFit/>
          </a:bodyPr>
          <a:lstStyle/>
          <a:p>
            <a:pPr algn="l">
              <a:lnSpc>
                <a:spcPct val="115000"/>
              </a:lnSpc>
            </a:pPr>
            <a:r>
              <a:rPr sz="950" b="0">
                <a:solidFill>
                  <a:srgbClr val="8A95AE"/>
                </a:solidFill>
                <a:latin typeface="Calibri"/>
              </a:rPr>
              <a:t>Raju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292608" cy="2794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4320"/>
            <a:ext cx="4572000" cy="320040"/>
          </a:xfrm>
          <a:prstGeom prst="rect">
            <a:avLst/>
          </a:prstGeom>
          <a:noFill/>
        </p:spPr>
        <p:txBody>
          <a:bodyPr wrap="square" lIns="0" tIns="0" rIns="0" bIns="0" anchor="t">
            <a:spAutoFit/>
          </a:bodyPr>
          <a:lstStyle/>
          <a:p>
            <a:pPr algn="l">
              <a:lnSpc>
                <a:spcPct val="115000"/>
              </a:lnSpc>
            </a:pPr>
            <a:r>
              <a:rPr sz="900" b="1" spc="300">
                <a:solidFill>
                  <a:srgbClr val="8A95AE"/>
                </a:solidFill>
                <a:latin typeface="Calibri"/>
              </a:rPr>
              <a:t>GENOSAI  ×  AQUA TECHNIC</a:t>
            </a:r>
          </a:p>
        </p:txBody>
      </p:sp>
      <p:sp>
        <p:nvSpPr>
          <p:cNvPr id="5" name="TextBox 4"/>
          <p:cNvSpPr txBox="1"/>
          <p:nvPr/>
        </p:nvSpPr>
        <p:spPr>
          <a:xfrm>
            <a:off x="7315200" y="274320"/>
            <a:ext cx="4434840" cy="320040"/>
          </a:xfrm>
          <a:prstGeom prst="rect">
            <a:avLst/>
          </a:prstGeom>
          <a:noFill/>
        </p:spPr>
        <p:txBody>
          <a:bodyPr wrap="square" lIns="0" tIns="0" rIns="0" bIns="0" anchor="t">
            <a:spAutoFit/>
          </a:bodyPr>
          <a:lstStyle/>
          <a:p>
            <a:pPr algn="r">
              <a:lnSpc>
                <a:spcPct val="115000"/>
              </a:lnSpc>
            </a:pPr>
            <a:r>
              <a:rPr sz="900" b="1" spc="300">
                <a:solidFill>
                  <a:srgbClr val="8A95AE"/>
                </a:solidFill>
                <a:latin typeface="Calibri"/>
              </a:rPr>
              <a:t>03F  ·  CLIENT UPDATES</a:t>
            </a:r>
          </a:p>
        </p:txBody>
      </p:sp>
      <p:cxnSp>
        <p:nvCxnSpPr>
          <p:cNvPr id="6" name="Connector 5"/>
          <p:cNvCxnSpPr/>
          <p:nvPr/>
        </p:nvCxnSpPr>
        <p:spPr>
          <a:xfrm>
            <a:off x="502920" y="6446520"/>
            <a:ext cx="11183112" cy="0"/>
          </a:xfrm>
          <a:prstGeom prst="line">
            <a:avLst/>
          </a:prstGeom>
          <a:ln w="6350">
            <a:solidFill>
              <a:srgbClr val="232E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10528"/>
            <a:ext cx="5486400" cy="274320"/>
          </a:xfrm>
          <a:prstGeom prst="rect">
            <a:avLst/>
          </a:prstGeom>
          <a:noFill/>
        </p:spPr>
        <p:txBody>
          <a:bodyPr wrap="square" lIns="0" tIns="0" rIns="0" bIns="0" anchor="t">
            <a:spAutoFit/>
          </a:bodyPr>
          <a:lstStyle/>
          <a:p>
            <a:pPr algn="l">
              <a:lnSpc>
                <a:spcPct val="115000"/>
              </a:lnSpc>
            </a:pPr>
            <a:r>
              <a:rPr sz="800" b="0">
                <a:solidFill>
                  <a:srgbClr val="8A95AE"/>
                </a:solidFill>
                <a:latin typeface="Calibri"/>
              </a:rPr>
              <a:t>Operational Automation &amp; Employee Management System</a:t>
            </a:r>
          </a:p>
        </p:txBody>
      </p:sp>
      <p:sp>
        <p:nvSpPr>
          <p:cNvPr id="8" name="TextBox 7"/>
          <p:cNvSpPr txBox="1"/>
          <p:nvPr/>
        </p:nvSpPr>
        <p:spPr>
          <a:xfrm>
            <a:off x="6400800" y="6510528"/>
            <a:ext cx="5285232" cy="274320"/>
          </a:xfrm>
          <a:prstGeom prst="rect">
            <a:avLst/>
          </a:prstGeom>
          <a:noFill/>
        </p:spPr>
        <p:txBody>
          <a:bodyPr wrap="square" lIns="0" tIns="0" rIns="0" bIns="0" anchor="t">
            <a:spAutoFit/>
          </a:bodyPr>
          <a:lstStyle/>
          <a:p>
            <a:pPr algn="r">
              <a:lnSpc>
                <a:spcPct val="115000"/>
              </a:lnSpc>
            </a:pPr>
            <a:r>
              <a:rPr sz="800" b="0" spc="200">
                <a:solidFill>
                  <a:srgbClr val="8A95AE"/>
                </a:solidFill>
                <a:latin typeface="Calibri"/>
              </a:rPr>
              <a:t>10 / 16</a:t>
            </a:r>
          </a:p>
        </p:txBody>
      </p:sp>
      <p:sp>
        <p:nvSpPr>
          <p:cNvPr id="9" name="Rectangle 8"/>
          <p:cNvSpPr/>
          <p:nvPr/>
        </p:nvSpPr>
        <p:spPr>
          <a:xfrm>
            <a:off x="502920" y="914400"/>
            <a:ext cx="228600" cy="25400"/>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804672"/>
            <a:ext cx="7315200" cy="27432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MODULE F</a:t>
            </a:r>
          </a:p>
        </p:txBody>
      </p:sp>
      <p:sp>
        <p:nvSpPr>
          <p:cNvPr id="11" name="TextBox 10"/>
          <p:cNvSpPr txBox="1"/>
          <p:nvPr/>
        </p:nvSpPr>
        <p:spPr>
          <a:xfrm>
            <a:off x="502920" y="1143000"/>
            <a:ext cx="11155680" cy="868680"/>
          </a:xfrm>
          <a:prstGeom prst="rect">
            <a:avLst/>
          </a:prstGeom>
          <a:noFill/>
        </p:spPr>
        <p:txBody>
          <a:bodyPr wrap="square" lIns="0" tIns="0" rIns="0" bIns="0" anchor="t">
            <a:spAutoFit/>
          </a:bodyPr>
          <a:lstStyle/>
          <a:p>
            <a:pPr algn="l">
              <a:lnSpc>
                <a:spcPct val="105000"/>
              </a:lnSpc>
            </a:pPr>
            <a:r>
              <a:rPr sz="3400" b="1">
                <a:solidFill>
                  <a:srgbClr val="F5F7FB"/>
                </a:solidFill>
                <a:latin typeface="Calibri"/>
              </a:rPr>
              <a:t>Client Update Automation</a:t>
            </a:r>
          </a:p>
        </p:txBody>
      </p:sp>
      <p:sp>
        <p:nvSpPr>
          <p:cNvPr id="12" name="TextBox 11"/>
          <p:cNvSpPr txBox="1"/>
          <p:nvPr/>
        </p:nvSpPr>
        <p:spPr>
          <a:xfrm>
            <a:off x="502920" y="1993392"/>
            <a:ext cx="10515600" cy="548640"/>
          </a:xfrm>
          <a:prstGeom prst="rect">
            <a:avLst/>
          </a:prstGeom>
          <a:noFill/>
        </p:spPr>
        <p:txBody>
          <a:bodyPr wrap="square" lIns="0" tIns="0" rIns="0" bIns="0" anchor="t">
            <a:spAutoFit/>
          </a:bodyPr>
          <a:lstStyle/>
          <a:p>
            <a:pPr algn="l">
              <a:lnSpc>
                <a:spcPct val="135000"/>
              </a:lnSpc>
            </a:pPr>
            <a:r>
              <a:rPr sz="1300" b="0">
                <a:solidFill>
                  <a:srgbClr val="8A95AE"/>
                </a:solidFill>
                <a:latin typeface="Calibri"/>
              </a:rPr>
              <a:t>Quietly impressive. Clients feel informed without you lifting a finger.</a:t>
            </a:r>
          </a:p>
        </p:txBody>
      </p:sp>
      <p:sp>
        <p:nvSpPr>
          <p:cNvPr id="13" name="Rounded Rectangle 12"/>
          <p:cNvSpPr/>
          <p:nvPr/>
        </p:nvSpPr>
        <p:spPr>
          <a:xfrm>
            <a:off x="502920" y="2743200"/>
            <a:ext cx="5760720" cy="3566160"/>
          </a:xfrm>
          <a:prstGeom prst="roundRect">
            <a:avLst>
              <a:gd name="adj" fmla="val 4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017520"/>
            <a:ext cx="5029200" cy="36576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WHAT GETS AUTOMATED</a:t>
            </a:r>
          </a:p>
        </p:txBody>
      </p:sp>
      <p:sp>
        <p:nvSpPr>
          <p:cNvPr id="15" name="Oval 14"/>
          <p:cNvSpPr/>
          <p:nvPr/>
        </p:nvSpPr>
        <p:spPr>
          <a:xfrm>
            <a:off x="886968" y="3593592"/>
            <a:ext cx="146304" cy="146304"/>
          </a:xfrm>
          <a:prstGeom prst="ellipse">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34440" y="3520440"/>
            <a:ext cx="4754880" cy="274320"/>
          </a:xfrm>
          <a:prstGeom prst="rect">
            <a:avLst/>
          </a:prstGeom>
          <a:noFill/>
        </p:spPr>
        <p:txBody>
          <a:bodyPr wrap="square" lIns="0" tIns="0" rIns="0" bIns="0" anchor="t">
            <a:spAutoFit/>
          </a:bodyPr>
          <a:lstStyle/>
          <a:p>
            <a:pPr algn="l">
              <a:lnSpc>
                <a:spcPct val="115000"/>
              </a:lnSpc>
            </a:pPr>
            <a:r>
              <a:rPr sz="1200" b="1">
                <a:solidFill>
                  <a:srgbClr val="F5F7FB"/>
                </a:solidFill>
                <a:latin typeface="Calibri"/>
              </a:rPr>
              <a:t>Progress milestones</a:t>
            </a:r>
          </a:p>
        </p:txBody>
      </p:sp>
      <p:sp>
        <p:nvSpPr>
          <p:cNvPr id="17" name="TextBox 16"/>
          <p:cNvSpPr txBox="1"/>
          <p:nvPr/>
        </p:nvSpPr>
        <p:spPr>
          <a:xfrm>
            <a:off x="1234440" y="3794760"/>
            <a:ext cx="4754880" cy="411480"/>
          </a:xfrm>
          <a:prstGeom prst="rect">
            <a:avLst/>
          </a:prstGeom>
          <a:noFill/>
        </p:spPr>
        <p:txBody>
          <a:bodyPr wrap="square" lIns="0" tIns="0" rIns="0" bIns="0" anchor="t">
            <a:spAutoFit/>
          </a:bodyPr>
          <a:lstStyle/>
          <a:p>
            <a:pPr algn="l">
              <a:lnSpc>
                <a:spcPct val="140000"/>
              </a:lnSpc>
            </a:pPr>
            <a:r>
              <a:rPr sz="1000" b="0">
                <a:solidFill>
                  <a:srgbClr val="8A95AE"/>
                </a:solidFill>
                <a:latin typeface="Calibri"/>
              </a:rPr>
              <a:t>When a project hits stage 1, 2, 3 — clients receive a short, branded WhatsApp update with photos.</a:t>
            </a:r>
          </a:p>
        </p:txBody>
      </p:sp>
      <p:sp>
        <p:nvSpPr>
          <p:cNvPr id="18" name="Oval 17"/>
          <p:cNvSpPr/>
          <p:nvPr/>
        </p:nvSpPr>
        <p:spPr>
          <a:xfrm>
            <a:off x="886968" y="4251960"/>
            <a:ext cx="146304" cy="146304"/>
          </a:xfrm>
          <a:prstGeom prst="ellipse">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34440" y="4178808"/>
            <a:ext cx="4754880" cy="274320"/>
          </a:xfrm>
          <a:prstGeom prst="rect">
            <a:avLst/>
          </a:prstGeom>
          <a:noFill/>
        </p:spPr>
        <p:txBody>
          <a:bodyPr wrap="square" lIns="0" tIns="0" rIns="0" bIns="0" anchor="t">
            <a:spAutoFit/>
          </a:bodyPr>
          <a:lstStyle/>
          <a:p>
            <a:pPr algn="l">
              <a:lnSpc>
                <a:spcPct val="115000"/>
              </a:lnSpc>
            </a:pPr>
            <a:r>
              <a:rPr sz="1200" b="1">
                <a:solidFill>
                  <a:srgbClr val="F5F7FB"/>
                </a:solidFill>
                <a:latin typeface="Calibri"/>
              </a:rPr>
              <a:t>Maintenance reminders</a:t>
            </a:r>
          </a:p>
        </p:txBody>
      </p:sp>
      <p:sp>
        <p:nvSpPr>
          <p:cNvPr id="20" name="TextBox 19"/>
          <p:cNvSpPr txBox="1"/>
          <p:nvPr/>
        </p:nvSpPr>
        <p:spPr>
          <a:xfrm>
            <a:off x="1234440" y="4453128"/>
            <a:ext cx="4754880" cy="411480"/>
          </a:xfrm>
          <a:prstGeom prst="rect">
            <a:avLst/>
          </a:prstGeom>
          <a:noFill/>
        </p:spPr>
        <p:txBody>
          <a:bodyPr wrap="square" lIns="0" tIns="0" rIns="0" bIns="0" anchor="t">
            <a:spAutoFit/>
          </a:bodyPr>
          <a:lstStyle/>
          <a:p>
            <a:pPr algn="l">
              <a:lnSpc>
                <a:spcPct val="140000"/>
              </a:lnSpc>
            </a:pPr>
            <a:r>
              <a:rPr sz="1000" b="0">
                <a:solidFill>
                  <a:srgbClr val="8A95AE"/>
                </a:solidFill>
                <a:latin typeface="Calibri"/>
              </a:rPr>
              <a:t>A polite heads-up before each AMC visit, and a quick recap once the visit is done.</a:t>
            </a:r>
          </a:p>
        </p:txBody>
      </p:sp>
      <p:sp>
        <p:nvSpPr>
          <p:cNvPr id="21" name="Oval 20"/>
          <p:cNvSpPr/>
          <p:nvPr/>
        </p:nvSpPr>
        <p:spPr>
          <a:xfrm>
            <a:off x="886968" y="4910328"/>
            <a:ext cx="146304" cy="146304"/>
          </a:xfrm>
          <a:prstGeom prst="ellipse">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234440" y="4837176"/>
            <a:ext cx="4754880" cy="274320"/>
          </a:xfrm>
          <a:prstGeom prst="rect">
            <a:avLst/>
          </a:prstGeom>
          <a:noFill/>
        </p:spPr>
        <p:txBody>
          <a:bodyPr wrap="square" lIns="0" tIns="0" rIns="0" bIns="0" anchor="t">
            <a:spAutoFit/>
          </a:bodyPr>
          <a:lstStyle/>
          <a:p>
            <a:pPr algn="l">
              <a:lnSpc>
                <a:spcPct val="115000"/>
              </a:lnSpc>
            </a:pPr>
            <a:r>
              <a:rPr sz="1200" b="1">
                <a:solidFill>
                  <a:srgbClr val="F5F7FB"/>
                </a:solidFill>
                <a:latin typeface="Calibri"/>
              </a:rPr>
              <a:t>Renewal notices</a:t>
            </a:r>
          </a:p>
        </p:txBody>
      </p:sp>
      <p:sp>
        <p:nvSpPr>
          <p:cNvPr id="23" name="TextBox 22"/>
          <p:cNvSpPr txBox="1"/>
          <p:nvPr/>
        </p:nvSpPr>
        <p:spPr>
          <a:xfrm>
            <a:off x="1234440" y="5111496"/>
            <a:ext cx="4754880" cy="411480"/>
          </a:xfrm>
          <a:prstGeom prst="rect">
            <a:avLst/>
          </a:prstGeom>
          <a:noFill/>
        </p:spPr>
        <p:txBody>
          <a:bodyPr wrap="square" lIns="0" tIns="0" rIns="0" bIns="0" anchor="t">
            <a:spAutoFit/>
          </a:bodyPr>
          <a:lstStyle/>
          <a:p>
            <a:pPr algn="l">
              <a:lnSpc>
                <a:spcPct val="140000"/>
              </a:lnSpc>
            </a:pPr>
            <a:r>
              <a:rPr sz="1000" b="0">
                <a:solidFill>
                  <a:srgbClr val="8A95AE"/>
                </a:solidFill>
                <a:latin typeface="Calibri"/>
              </a:rPr>
              <a:t>Clients see their AMC expiry 30, 15 and 5 days in advance — gentle, professional, automatic.</a:t>
            </a:r>
          </a:p>
        </p:txBody>
      </p:sp>
      <p:sp>
        <p:nvSpPr>
          <p:cNvPr id="24" name="Oval 23"/>
          <p:cNvSpPr/>
          <p:nvPr/>
        </p:nvSpPr>
        <p:spPr>
          <a:xfrm>
            <a:off x="886968" y="5568696"/>
            <a:ext cx="146304" cy="146304"/>
          </a:xfrm>
          <a:prstGeom prst="ellipse">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34440" y="5495544"/>
            <a:ext cx="4754880" cy="274320"/>
          </a:xfrm>
          <a:prstGeom prst="rect">
            <a:avLst/>
          </a:prstGeom>
          <a:noFill/>
        </p:spPr>
        <p:txBody>
          <a:bodyPr wrap="square" lIns="0" tIns="0" rIns="0" bIns="0" anchor="t">
            <a:spAutoFit/>
          </a:bodyPr>
          <a:lstStyle/>
          <a:p>
            <a:pPr algn="l">
              <a:lnSpc>
                <a:spcPct val="115000"/>
              </a:lnSpc>
            </a:pPr>
            <a:r>
              <a:rPr sz="1200" b="1">
                <a:solidFill>
                  <a:srgbClr val="F5F7FB"/>
                </a:solidFill>
                <a:latin typeface="Calibri"/>
              </a:rPr>
              <a:t>Branded communication</a:t>
            </a:r>
          </a:p>
        </p:txBody>
      </p:sp>
      <p:sp>
        <p:nvSpPr>
          <p:cNvPr id="26" name="TextBox 25"/>
          <p:cNvSpPr txBox="1"/>
          <p:nvPr/>
        </p:nvSpPr>
        <p:spPr>
          <a:xfrm>
            <a:off x="1234440" y="5769864"/>
            <a:ext cx="4754880" cy="411480"/>
          </a:xfrm>
          <a:prstGeom prst="rect">
            <a:avLst/>
          </a:prstGeom>
          <a:noFill/>
        </p:spPr>
        <p:txBody>
          <a:bodyPr wrap="square" lIns="0" tIns="0" rIns="0" bIns="0" anchor="t">
            <a:spAutoFit/>
          </a:bodyPr>
          <a:lstStyle/>
          <a:p>
            <a:pPr algn="l">
              <a:lnSpc>
                <a:spcPct val="140000"/>
              </a:lnSpc>
            </a:pPr>
            <a:r>
              <a:rPr sz="1000" b="0">
                <a:solidFill>
                  <a:srgbClr val="8A95AE"/>
                </a:solidFill>
                <a:latin typeface="Calibri"/>
              </a:rPr>
              <a:t>Every message goes out under the Aqua Technic name — consistent tone, consistent quality.</a:t>
            </a:r>
          </a:p>
        </p:txBody>
      </p:sp>
      <p:sp>
        <p:nvSpPr>
          <p:cNvPr id="27" name="Rounded Rectangle 26"/>
          <p:cNvSpPr/>
          <p:nvPr/>
        </p:nvSpPr>
        <p:spPr>
          <a:xfrm>
            <a:off x="6492240" y="2743200"/>
            <a:ext cx="5212080" cy="3566160"/>
          </a:xfrm>
          <a:prstGeom prst="roundRect">
            <a:avLst>
              <a:gd name="adj" fmla="val 4000"/>
            </a:avLst>
          </a:prstGeom>
          <a:solidFill>
            <a:srgbClr val="091416"/>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58000" y="3017520"/>
            <a:ext cx="4480560" cy="274320"/>
          </a:xfrm>
          <a:prstGeom prst="rect">
            <a:avLst/>
          </a:prstGeom>
          <a:noFill/>
        </p:spPr>
        <p:txBody>
          <a:bodyPr wrap="square" lIns="0" tIns="0" rIns="0" bIns="0" anchor="t">
            <a:spAutoFit/>
          </a:bodyPr>
          <a:lstStyle/>
          <a:p>
            <a:pPr algn="l">
              <a:lnSpc>
                <a:spcPct val="115000"/>
              </a:lnSpc>
            </a:pPr>
            <a:r>
              <a:rPr sz="1000" b="1" spc="400">
                <a:solidFill>
                  <a:srgbClr val="46E0CB"/>
                </a:solidFill>
                <a:latin typeface="Calibri"/>
              </a:rPr>
              <a:t>CLIENT VIEW · WHATSAPP</a:t>
            </a:r>
          </a:p>
        </p:txBody>
      </p:sp>
      <p:sp>
        <p:nvSpPr>
          <p:cNvPr id="29" name="Rounded Rectangle 28"/>
          <p:cNvSpPr/>
          <p:nvPr/>
        </p:nvSpPr>
        <p:spPr>
          <a:xfrm>
            <a:off x="6949440" y="3520440"/>
            <a:ext cx="4297680" cy="868680"/>
          </a:xfrm>
          <a:prstGeom prst="roundRect">
            <a:avLst>
              <a:gd name="adj" fmla="val 18000"/>
            </a:avLst>
          </a:prstGeom>
          <a:solidFill>
            <a:srgbClr val="102924"/>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78040" y="3611880"/>
            <a:ext cx="3840480" cy="274320"/>
          </a:xfrm>
          <a:prstGeom prst="rect">
            <a:avLst/>
          </a:prstGeom>
          <a:noFill/>
        </p:spPr>
        <p:txBody>
          <a:bodyPr wrap="square" lIns="0" tIns="0" rIns="0" bIns="0" anchor="t">
            <a:spAutoFit/>
          </a:bodyPr>
          <a:lstStyle/>
          <a:p>
            <a:pPr algn="l">
              <a:lnSpc>
                <a:spcPct val="115000"/>
              </a:lnSpc>
            </a:pPr>
            <a:r>
              <a:rPr sz="1000" b="1">
                <a:solidFill>
                  <a:srgbClr val="46E0CB"/>
                </a:solidFill>
                <a:latin typeface="Calibri"/>
              </a:rPr>
              <a:t>Aqua Technic</a:t>
            </a:r>
          </a:p>
        </p:txBody>
      </p:sp>
      <p:sp>
        <p:nvSpPr>
          <p:cNvPr id="31" name="TextBox 30"/>
          <p:cNvSpPr txBox="1"/>
          <p:nvPr/>
        </p:nvSpPr>
        <p:spPr>
          <a:xfrm>
            <a:off x="7178040" y="3831336"/>
            <a:ext cx="3840480" cy="502920"/>
          </a:xfrm>
          <a:prstGeom prst="rect">
            <a:avLst/>
          </a:prstGeom>
          <a:noFill/>
        </p:spPr>
        <p:txBody>
          <a:bodyPr wrap="square" lIns="0" tIns="0" rIns="0" bIns="0" anchor="t">
            <a:spAutoFit/>
          </a:bodyPr>
          <a:lstStyle/>
          <a:p>
            <a:pPr algn="l">
              <a:lnSpc>
                <a:spcPct val="130000"/>
              </a:lnSpc>
            </a:pPr>
            <a:r>
              <a:rPr sz="1000" b="0">
                <a:solidFill>
                  <a:srgbClr val="F5F7FB"/>
                </a:solidFill>
                <a:latin typeface="Calibri"/>
              </a:rPr>
              <a:t>Hello Mr. Mehta — Stage 2 (Waterproofing) is complete</a:t>
            </a:r>
          </a:p>
          <a:p>
            <a:pPr algn="l">
              <a:lnSpc>
                <a:spcPct val="130000"/>
              </a:lnSpc>
            </a:pPr>
            <a:r>
              <a:rPr sz="1000" b="0">
                <a:solidFill>
                  <a:srgbClr val="F5F7FB"/>
                </a:solidFill>
                <a:latin typeface="Calibri"/>
              </a:rPr>
              <a:t>at your villa today. Photos attached. Stage 3 begins tomorrow.</a:t>
            </a:r>
          </a:p>
        </p:txBody>
      </p:sp>
      <p:sp>
        <p:nvSpPr>
          <p:cNvPr id="32" name="Rounded Rectangle 31"/>
          <p:cNvSpPr/>
          <p:nvPr/>
        </p:nvSpPr>
        <p:spPr>
          <a:xfrm>
            <a:off x="6949440" y="4572000"/>
            <a:ext cx="4297680" cy="777240"/>
          </a:xfrm>
          <a:prstGeom prst="roundRect">
            <a:avLst>
              <a:gd name="adj" fmla="val 18000"/>
            </a:avLst>
          </a:prstGeom>
          <a:solidFill>
            <a:srgbClr val="102924"/>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178040" y="4663440"/>
            <a:ext cx="3840480" cy="274320"/>
          </a:xfrm>
          <a:prstGeom prst="rect">
            <a:avLst/>
          </a:prstGeom>
          <a:noFill/>
        </p:spPr>
        <p:txBody>
          <a:bodyPr wrap="square" lIns="0" tIns="0" rIns="0" bIns="0" anchor="t">
            <a:spAutoFit/>
          </a:bodyPr>
          <a:lstStyle/>
          <a:p>
            <a:pPr algn="l">
              <a:lnSpc>
                <a:spcPct val="115000"/>
              </a:lnSpc>
            </a:pPr>
            <a:r>
              <a:rPr sz="1000" b="1">
                <a:solidFill>
                  <a:srgbClr val="46E0CB"/>
                </a:solidFill>
                <a:latin typeface="Calibri"/>
              </a:rPr>
              <a:t>Aqua Technic</a:t>
            </a:r>
          </a:p>
        </p:txBody>
      </p:sp>
      <p:sp>
        <p:nvSpPr>
          <p:cNvPr id="34" name="TextBox 33"/>
          <p:cNvSpPr txBox="1"/>
          <p:nvPr/>
        </p:nvSpPr>
        <p:spPr>
          <a:xfrm>
            <a:off x="7178040" y="4882896"/>
            <a:ext cx="3840480" cy="457200"/>
          </a:xfrm>
          <a:prstGeom prst="rect">
            <a:avLst/>
          </a:prstGeom>
          <a:noFill/>
        </p:spPr>
        <p:txBody>
          <a:bodyPr wrap="square" lIns="0" tIns="0" rIns="0" bIns="0" anchor="t">
            <a:spAutoFit/>
          </a:bodyPr>
          <a:lstStyle/>
          <a:p>
            <a:pPr algn="l">
              <a:lnSpc>
                <a:spcPct val="130000"/>
              </a:lnSpc>
            </a:pPr>
            <a:r>
              <a:rPr sz="1000" b="0">
                <a:solidFill>
                  <a:srgbClr val="F5F7FB"/>
                </a:solidFill>
                <a:latin typeface="Calibri"/>
              </a:rPr>
              <a:t>Quick reminder: your monthly pool service is scheduled</a:t>
            </a:r>
          </a:p>
          <a:p>
            <a:pPr algn="l">
              <a:lnSpc>
                <a:spcPct val="130000"/>
              </a:lnSpc>
            </a:pPr>
            <a:r>
              <a:rPr sz="1000" b="0">
                <a:solidFill>
                  <a:srgbClr val="F5F7FB"/>
                </a:solidFill>
                <a:latin typeface="Calibri"/>
              </a:rPr>
              <a:t>for Friday, 9:00 AM. Reply CONFIRM to lock the slot.</a:t>
            </a:r>
          </a:p>
        </p:txBody>
      </p:sp>
      <p:sp>
        <p:nvSpPr>
          <p:cNvPr id="35" name="Rounded Rectangle 34"/>
          <p:cNvSpPr/>
          <p:nvPr/>
        </p:nvSpPr>
        <p:spPr>
          <a:xfrm>
            <a:off x="6949440" y="5532120"/>
            <a:ext cx="4297680" cy="640080"/>
          </a:xfrm>
          <a:prstGeom prst="roundRect">
            <a:avLst>
              <a:gd name="adj" fmla="val 18000"/>
            </a:avLst>
          </a:prstGeom>
          <a:solidFill>
            <a:srgbClr val="102924"/>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78040" y="5623560"/>
            <a:ext cx="3840480" cy="274320"/>
          </a:xfrm>
          <a:prstGeom prst="rect">
            <a:avLst/>
          </a:prstGeom>
          <a:noFill/>
        </p:spPr>
        <p:txBody>
          <a:bodyPr wrap="square" lIns="0" tIns="0" rIns="0" bIns="0" anchor="t">
            <a:spAutoFit/>
          </a:bodyPr>
          <a:lstStyle/>
          <a:p>
            <a:pPr algn="l">
              <a:lnSpc>
                <a:spcPct val="115000"/>
              </a:lnSpc>
            </a:pPr>
            <a:r>
              <a:rPr sz="1000" b="1">
                <a:solidFill>
                  <a:srgbClr val="46E0CB"/>
                </a:solidFill>
                <a:latin typeface="Calibri"/>
              </a:rPr>
              <a:t>Aqua Technic</a:t>
            </a:r>
          </a:p>
        </p:txBody>
      </p:sp>
      <p:sp>
        <p:nvSpPr>
          <p:cNvPr id="37" name="TextBox 36"/>
          <p:cNvSpPr txBox="1"/>
          <p:nvPr/>
        </p:nvSpPr>
        <p:spPr>
          <a:xfrm>
            <a:off x="7178040" y="5843016"/>
            <a:ext cx="3840480" cy="365760"/>
          </a:xfrm>
          <a:prstGeom prst="rect">
            <a:avLst/>
          </a:prstGeom>
          <a:noFill/>
        </p:spPr>
        <p:txBody>
          <a:bodyPr wrap="square" lIns="0" tIns="0" rIns="0" bIns="0" anchor="t">
            <a:spAutoFit/>
          </a:bodyPr>
          <a:lstStyle/>
          <a:p>
            <a:pPr algn="l">
              <a:lnSpc>
                <a:spcPct val="130000"/>
              </a:lnSpc>
            </a:pPr>
            <a:r>
              <a:rPr sz="1000" b="0">
                <a:solidFill>
                  <a:srgbClr val="F5F7FB"/>
                </a:solidFill>
                <a:latin typeface="Calibri"/>
              </a:rPr>
              <a:t>Your AMC expires in 15 days. We've drafted a renewal —</a:t>
            </a:r>
          </a:p>
          <a:p>
            <a:pPr algn="l">
              <a:lnSpc>
                <a:spcPct val="130000"/>
              </a:lnSpc>
            </a:pPr>
            <a:r>
              <a:rPr sz="1000" b="0">
                <a:solidFill>
                  <a:srgbClr val="F5F7FB"/>
                </a:solidFill>
                <a:latin typeface="Calibri"/>
              </a:rPr>
              <a:t>shall we share the details?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292608" cy="2794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4320"/>
            <a:ext cx="4572000" cy="320040"/>
          </a:xfrm>
          <a:prstGeom prst="rect">
            <a:avLst/>
          </a:prstGeom>
          <a:noFill/>
        </p:spPr>
        <p:txBody>
          <a:bodyPr wrap="square" lIns="0" tIns="0" rIns="0" bIns="0" anchor="t">
            <a:spAutoFit/>
          </a:bodyPr>
          <a:lstStyle/>
          <a:p>
            <a:pPr algn="l">
              <a:lnSpc>
                <a:spcPct val="115000"/>
              </a:lnSpc>
            </a:pPr>
            <a:r>
              <a:rPr sz="900" b="1" spc="300">
                <a:solidFill>
                  <a:srgbClr val="8A95AE"/>
                </a:solidFill>
                <a:latin typeface="Calibri"/>
              </a:rPr>
              <a:t>GENOSAI  ×  AQUA TECHNIC</a:t>
            </a:r>
          </a:p>
        </p:txBody>
      </p:sp>
      <p:sp>
        <p:nvSpPr>
          <p:cNvPr id="5" name="TextBox 4"/>
          <p:cNvSpPr txBox="1"/>
          <p:nvPr/>
        </p:nvSpPr>
        <p:spPr>
          <a:xfrm>
            <a:off x="7315200" y="274320"/>
            <a:ext cx="4434840" cy="320040"/>
          </a:xfrm>
          <a:prstGeom prst="rect">
            <a:avLst/>
          </a:prstGeom>
          <a:noFill/>
        </p:spPr>
        <p:txBody>
          <a:bodyPr wrap="square" lIns="0" tIns="0" rIns="0" bIns="0" anchor="t">
            <a:spAutoFit/>
          </a:bodyPr>
          <a:lstStyle/>
          <a:p>
            <a:pPr algn="r">
              <a:lnSpc>
                <a:spcPct val="115000"/>
              </a:lnSpc>
            </a:pPr>
            <a:r>
              <a:rPr sz="900" b="1" spc="300">
                <a:solidFill>
                  <a:srgbClr val="8A95AE"/>
                </a:solidFill>
                <a:latin typeface="Calibri"/>
              </a:rPr>
              <a:t>04  ·  SYSTEM FLOW</a:t>
            </a:r>
          </a:p>
        </p:txBody>
      </p:sp>
      <p:cxnSp>
        <p:nvCxnSpPr>
          <p:cNvPr id="6" name="Connector 5"/>
          <p:cNvCxnSpPr/>
          <p:nvPr/>
        </p:nvCxnSpPr>
        <p:spPr>
          <a:xfrm>
            <a:off x="502920" y="6446520"/>
            <a:ext cx="11183112" cy="0"/>
          </a:xfrm>
          <a:prstGeom prst="line">
            <a:avLst/>
          </a:prstGeom>
          <a:ln w="6350">
            <a:solidFill>
              <a:srgbClr val="232E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10528"/>
            <a:ext cx="5486400" cy="274320"/>
          </a:xfrm>
          <a:prstGeom prst="rect">
            <a:avLst/>
          </a:prstGeom>
          <a:noFill/>
        </p:spPr>
        <p:txBody>
          <a:bodyPr wrap="square" lIns="0" tIns="0" rIns="0" bIns="0" anchor="t">
            <a:spAutoFit/>
          </a:bodyPr>
          <a:lstStyle/>
          <a:p>
            <a:pPr algn="l">
              <a:lnSpc>
                <a:spcPct val="115000"/>
              </a:lnSpc>
            </a:pPr>
            <a:r>
              <a:rPr sz="800" b="0">
                <a:solidFill>
                  <a:srgbClr val="8A95AE"/>
                </a:solidFill>
                <a:latin typeface="Calibri"/>
              </a:rPr>
              <a:t>Operational Automation &amp; Employee Management System</a:t>
            </a:r>
          </a:p>
        </p:txBody>
      </p:sp>
      <p:sp>
        <p:nvSpPr>
          <p:cNvPr id="8" name="TextBox 7"/>
          <p:cNvSpPr txBox="1"/>
          <p:nvPr/>
        </p:nvSpPr>
        <p:spPr>
          <a:xfrm>
            <a:off x="6400800" y="6510528"/>
            <a:ext cx="5285232" cy="274320"/>
          </a:xfrm>
          <a:prstGeom prst="rect">
            <a:avLst/>
          </a:prstGeom>
          <a:noFill/>
        </p:spPr>
        <p:txBody>
          <a:bodyPr wrap="square" lIns="0" tIns="0" rIns="0" bIns="0" anchor="t">
            <a:spAutoFit/>
          </a:bodyPr>
          <a:lstStyle/>
          <a:p>
            <a:pPr algn="r">
              <a:lnSpc>
                <a:spcPct val="115000"/>
              </a:lnSpc>
            </a:pPr>
            <a:r>
              <a:rPr sz="800" b="0" spc="200">
                <a:solidFill>
                  <a:srgbClr val="8A95AE"/>
                </a:solidFill>
                <a:latin typeface="Calibri"/>
              </a:rPr>
              <a:t>11 / 16</a:t>
            </a:r>
          </a:p>
        </p:txBody>
      </p:sp>
      <p:sp>
        <p:nvSpPr>
          <p:cNvPr id="9" name="Rectangle 8"/>
          <p:cNvSpPr/>
          <p:nvPr/>
        </p:nvSpPr>
        <p:spPr>
          <a:xfrm>
            <a:off x="502920" y="914400"/>
            <a:ext cx="228600" cy="25400"/>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804672"/>
            <a:ext cx="7315200" cy="27432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A DAY IN OPERATIONS</a:t>
            </a:r>
          </a:p>
        </p:txBody>
      </p:sp>
      <p:sp>
        <p:nvSpPr>
          <p:cNvPr id="11" name="TextBox 10"/>
          <p:cNvSpPr txBox="1"/>
          <p:nvPr/>
        </p:nvSpPr>
        <p:spPr>
          <a:xfrm>
            <a:off x="502920" y="1143000"/>
            <a:ext cx="11155680" cy="868680"/>
          </a:xfrm>
          <a:prstGeom prst="rect">
            <a:avLst/>
          </a:prstGeom>
          <a:noFill/>
        </p:spPr>
        <p:txBody>
          <a:bodyPr wrap="square" lIns="0" tIns="0" rIns="0" bIns="0" anchor="t">
            <a:spAutoFit/>
          </a:bodyPr>
          <a:lstStyle/>
          <a:p>
            <a:pPr algn="l">
              <a:lnSpc>
                <a:spcPct val="105000"/>
              </a:lnSpc>
            </a:pPr>
            <a:r>
              <a:rPr sz="3400" b="1">
                <a:solidFill>
                  <a:srgbClr val="F5F7FB"/>
                </a:solidFill>
                <a:latin typeface="Calibri"/>
              </a:rPr>
              <a:t>How the System Runs — Step by Step</a:t>
            </a:r>
          </a:p>
        </p:txBody>
      </p:sp>
      <p:sp>
        <p:nvSpPr>
          <p:cNvPr id="12" name="Rounded Rectangle 11"/>
          <p:cNvSpPr/>
          <p:nvPr/>
        </p:nvSpPr>
        <p:spPr>
          <a:xfrm>
            <a:off x="502920" y="2834640"/>
            <a:ext cx="2057400" cy="2331720"/>
          </a:xfrm>
          <a:prstGeom prst="roundRect">
            <a:avLst>
              <a:gd name="adj" fmla="val 7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3063240"/>
            <a:ext cx="1508760" cy="320040"/>
          </a:xfrm>
          <a:prstGeom prst="rect">
            <a:avLst/>
          </a:prstGeom>
          <a:noFill/>
        </p:spPr>
        <p:txBody>
          <a:bodyPr wrap="square" lIns="0" tIns="0" rIns="0" bIns="0" anchor="t">
            <a:spAutoFit/>
          </a:bodyPr>
          <a:lstStyle/>
          <a:p>
            <a:pPr algn="l">
              <a:lnSpc>
                <a:spcPct val="115000"/>
              </a:lnSpc>
            </a:pPr>
            <a:r>
              <a:rPr sz="1100" b="1" spc="400">
                <a:solidFill>
                  <a:srgbClr val="D4B066"/>
                </a:solidFill>
                <a:latin typeface="Calibri"/>
              </a:rPr>
              <a:t>01</a:t>
            </a:r>
          </a:p>
        </p:txBody>
      </p:sp>
      <p:sp>
        <p:nvSpPr>
          <p:cNvPr id="14" name="TextBox 13"/>
          <p:cNvSpPr txBox="1"/>
          <p:nvPr/>
        </p:nvSpPr>
        <p:spPr>
          <a:xfrm>
            <a:off x="777240" y="3429000"/>
            <a:ext cx="1508760" cy="502920"/>
          </a:xfrm>
          <a:prstGeom prst="rect">
            <a:avLst/>
          </a:prstGeom>
          <a:noFill/>
        </p:spPr>
        <p:txBody>
          <a:bodyPr wrap="square" lIns="0" tIns="0" rIns="0" bIns="0" anchor="t">
            <a:spAutoFit/>
          </a:bodyPr>
          <a:lstStyle/>
          <a:p>
            <a:pPr algn="l">
              <a:lnSpc>
                <a:spcPct val="115000"/>
              </a:lnSpc>
            </a:pPr>
            <a:r>
              <a:rPr sz="2000" b="1">
                <a:solidFill>
                  <a:srgbClr val="F5F7FB"/>
                </a:solidFill>
                <a:latin typeface="Calibri"/>
              </a:rPr>
              <a:t>Assign</a:t>
            </a:r>
          </a:p>
        </p:txBody>
      </p:sp>
      <p:cxnSp>
        <p:nvCxnSpPr>
          <p:cNvPr id="15" name="Connector 14"/>
          <p:cNvCxnSpPr/>
          <p:nvPr/>
        </p:nvCxnSpPr>
        <p:spPr>
          <a:xfrm>
            <a:off x="0" y="3977640"/>
            <a:ext cx="0" cy="0"/>
          </a:xfrm>
          <a:prstGeom prst="line">
            <a:avLst/>
          </a:prstGeom>
          <a:ln w="15240">
            <a:solidFill>
              <a:srgbClr val="46E0C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7240" y="4114800"/>
            <a:ext cx="1508760" cy="914400"/>
          </a:xfrm>
          <a:prstGeom prst="rect">
            <a:avLst/>
          </a:prstGeom>
          <a:noFill/>
        </p:spPr>
        <p:txBody>
          <a:bodyPr wrap="square" lIns="0" tIns="0" rIns="0" bIns="0" anchor="t">
            <a:spAutoFit/>
          </a:bodyPr>
          <a:lstStyle/>
          <a:p>
            <a:pPr algn="l">
              <a:lnSpc>
                <a:spcPct val="140000"/>
              </a:lnSpc>
            </a:pPr>
            <a:r>
              <a:rPr sz="1050" b="0">
                <a:solidFill>
                  <a:srgbClr val="8A95AE"/>
                </a:solidFill>
                <a:latin typeface="Calibri"/>
              </a:rPr>
              <a:t>Management assigns work</a:t>
            </a:r>
          </a:p>
          <a:p>
            <a:pPr algn="l">
              <a:lnSpc>
                <a:spcPct val="140000"/>
              </a:lnSpc>
            </a:pPr>
            <a:r>
              <a:rPr sz="1050" b="0">
                <a:solidFill>
                  <a:srgbClr val="8A95AE"/>
                </a:solidFill>
                <a:latin typeface="Calibri"/>
              </a:rPr>
              <a:t>for the day per site / team.</a:t>
            </a:r>
          </a:p>
        </p:txBody>
      </p:sp>
      <p:sp>
        <p:nvSpPr>
          <p:cNvPr id="17" name="TextBox 16"/>
          <p:cNvSpPr txBox="1"/>
          <p:nvPr/>
        </p:nvSpPr>
        <p:spPr>
          <a:xfrm>
            <a:off x="2640330" y="3863340"/>
            <a:ext cx="68580" cy="365760"/>
          </a:xfrm>
          <a:prstGeom prst="rect">
            <a:avLst/>
          </a:prstGeom>
          <a:noFill/>
        </p:spPr>
        <p:txBody>
          <a:bodyPr wrap="square" lIns="0" tIns="0" rIns="0" bIns="0" anchor="ctr">
            <a:spAutoFit/>
          </a:bodyPr>
          <a:lstStyle/>
          <a:p>
            <a:pPr algn="ctr">
              <a:lnSpc>
                <a:spcPct val="115000"/>
              </a:lnSpc>
            </a:pPr>
            <a:r>
              <a:rPr sz="2200" b="1">
                <a:solidFill>
                  <a:srgbClr val="46E0CB"/>
                </a:solidFill>
                <a:latin typeface="Calibri"/>
              </a:rPr>
              <a:t>›</a:t>
            </a:r>
          </a:p>
        </p:txBody>
      </p:sp>
      <p:sp>
        <p:nvSpPr>
          <p:cNvPr id="18" name="Rounded Rectangle 17"/>
          <p:cNvSpPr/>
          <p:nvPr/>
        </p:nvSpPr>
        <p:spPr>
          <a:xfrm>
            <a:off x="2788920" y="2834640"/>
            <a:ext cx="2057400" cy="2331720"/>
          </a:xfrm>
          <a:prstGeom prst="roundRect">
            <a:avLst>
              <a:gd name="adj" fmla="val 7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063240" y="3063240"/>
            <a:ext cx="1508760" cy="320040"/>
          </a:xfrm>
          <a:prstGeom prst="rect">
            <a:avLst/>
          </a:prstGeom>
          <a:noFill/>
        </p:spPr>
        <p:txBody>
          <a:bodyPr wrap="square" lIns="0" tIns="0" rIns="0" bIns="0" anchor="t">
            <a:spAutoFit/>
          </a:bodyPr>
          <a:lstStyle/>
          <a:p>
            <a:pPr algn="l">
              <a:lnSpc>
                <a:spcPct val="115000"/>
              </a:lnSpc>
            </a:pPr>
            <a:r>
              <a:rPr sz="1100" b="1" spc="400">
                <a:solidFill>
                  <a:srgbClr val="D4B066"/>
                </a:solidFill>
                <a:latin typeface="Calibri"/>
              </a:rPr>
              <a:t>02</a:t>
            </a:r>
          </a:p>
        </p:txBody>
      </p:sp>
      <p:sp>
        <p:nvSpPr>
          <p:cNvPr id="20" name="TextBox 19"/>
          <p:cNvSpPr txBox="1"/>
          <p:nvPr/>
        </p:nvSpPr>
        <p:spPr>
          <a:xfrm>
            <a:off x="3063240" y="3429000"/>
            <a:ext cx="1508760" cy="502920"/>
          </a:xfrm>
          <a:prstGeom prst="rect">
            <a:avLst/>
          </a:prstGeom>
          <a:noFill/>
        </p:spPr>
        <p:txBody>
          <a:bodyPr wrap="square" lIns="0" tIns="0" rIns="0" bIns="0" anchor="t">
            <a:spAutoFit/>
          </a:bodyPr>
          <a:lstStyle/>
          <a:p>
            <a:pPr algn="l">
              <a:lnSpc>
                <a:spcPct val="115000"/>
              </a:lnSpc>
            </a:pPr>
            <a:r>
              <a:rPr sz="2000" b="1">
                <a:solidFill>
                  <a:srgbClr val="F5F7FB"/>
                </a:solidFill>
                <a:latin typeface="Calibri"/>
              </a:rPr>
              <a:t>Notify</a:t>
            </a:r>
          </a:p>
        </p:txBody>
      </p:sp>
      <p:cxnSp>
        <p:nvCxnSpPr>
          <p:cNvPr id="21" name="Connector 20"/>
          <p:cNvCxnSpPr/>
          <p:nvPr/>
        </p:nvCxnSpPr>
        <p:spPr>
          <a:xfrm>
            <a:off x="0" y="3977640"/>
            <a:ext cx="0" cy="0"/>
          </a:xfrm>
          <a:prstGeom prst="line">
            <a:avLst/>
          </a:prstGeom>
          <a:ln w="15240">
            <a:solidFill>
              <a:srgbClr val="46E0C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063240" y="4114800"/>
            <a:ext cx="1508760" cy="914400"/>
          </a:xfrm>
          <a:prstGeom prst="rect">
            <a:avLst/>
          </a:prstGeom>
          <a:noFill/>
        </p:spPr>
        <p:txBody>
          <a:bodyPr wrap="square" lIns="0" tIns="0" rIns="0" bIns="0" anchor="t">
            <a:spAutoFit/>
          </a:bodyPr>
          <a:lstStyle/>
          <a:p>
            <a:pPr algn="l">
              <a:lnSpc>
                <a:spcPct val="140000"/>
              </a:lnSpc>
            </a:pPr>
            <a:r>
              <a:rPr sz="1050" b="0">
                <a:solidFill>
                  <a:srgbClr val="8A95AE"/>
                </a:solidFill>
                <a:latin typeface="Calibri"/>
              </a:rPr>
              <a:t>Employees get clean</a:t>
            </a:r>
          </a:p>
          <a:p>
            <a:pPr algn="l">
              <a:lnSpc>
                <a:spcPct val="140000"/>
              </a:lnSpc>
            </a:pPr>
            <a:r>
              <a:rPr sz="1050" b="0">
                <a:solidFill>
                  <a:srgbClr val="8A95AE"/>
                </a:solidFill>
                <a:latin typeface="Calibri"/>
              </a:rPr>
              <a:t>WhatsApp instructions.</a:t>
            </a:r>
          </a:p>
        </p:txBody>
      </p:sp>
      <p:sp>
        <p:nvSpPr>
          <p:cNvPr id="23" name="TextBox 22"/>
          <p:cNvSpPr txBox="1"/>
          <p:nvPr/>
        </p:nvSpPr>
        <p:spPr>
          <a:xfrm>
            <a:off x="4926330" y="3863340"/>
            <a:ext cx="68580" cy="365760"/>
          </a:xfrm>
          <a:prstGeom prst="rect">
            <a:avLst/>
          </a:prstGeom>
          <a:noFill/>
        </p:spPr>
        <p:txBody>
          <a:bodyPr wrap="square" lIns="0" tIns="0" rIns="0" bIns="0" anchor="ctr">
            <a:spAutoFit/>
          </a:bodyPr>
          <a:lstStyle/>
          <a:p>
            <a:pPr algn="ctr">
              <a:lnSpc>
                <a:spcPct val="115000"/>
              </a:lnSpc>
            </a:pPr>
            <a:r>
              <a:rPr sz="2200" b="1">
                <a:solidFill>
                  <a:srgbClr val="46E0CB"/>
                </a:solidFill>
                <a:latin typeface="Calibri"/>
              </a:rPr>
              <a:t>›</a:t>
            </a:r>
          </a:p>
        </p:txBody>
      </p:sp>
      <p:sp>
        <p:nvSpPr>
          <p:cNvPr id="24" name="Rounded Rectangle 23"/>
          <p:cNvSpPr/>
          <p:nvPr/>
        </p:nvSpPr>
        <p:spPr>
          <a:xfrm>
            <a:off x="5074920" y="2834640"/>
            <a:ext cx="2057400" cy="2331720"/>
          </a:xfrm>
          <a:prstGeom prst="roundRect">
            <a:avLst>
              <a:gd name="adj" fmla="val 7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49240" y="3063240"/>
            <a:ext cx="1508760" cy="320040"/>
          </a:xfrm>
          <a:prstGeom prst="rect">
            <a:avLst/>
          </a:prstGeom>
          <a:noFill/>
        </p:spPr>
        <p:txBody>
          <a:bodyPr wrap="square" lIns="0" tIns="0" rIns="0" bIns="0" anchor="t">
            <a:spAutoFit/>
          </a:bodyPr>
          <a:lstStyle/>
          <a:p>
            <a:pPr algn="l">
              <a:lnSpc>
                <a:spcPct val="115000"/>
              </a:lnSpc>
            </a:pPr>
            <a:r>
              <a:rPr sz="1100" b="1" spc="400">
                <a:solidFill>
                  <a:srgbClr val="D4B066"/>
                </a:solidFill>
                <a:latin typeface="Calibri"/>
              </a:rPr>
              <a:t>03</a:t>
            </a:r>
          </a:p>
        </p:txBody>
      </p:sp>
      <p:sp>
        <p:nvSpPr>
          <p:cNvPr id="26" name="TextBox 25"/>
          <p:cNvSpPr txBox="1"/>
          <p:nvPr/>
        </p:nvSpPr>
        <p:spPr>
          <a:xfrm>
            <a:off x="5349240" y="3429000"/>
            <a:ext cx="1508760" cy="502920"/>
          </a:xfrm>
          <a:prstGeom prst="rect">
            <a:avLst/>
          </a:prstGeom>
          <a:noFill/>
        </p:spPr>
        <p:txBody>
          <a:bodyPr wrap="square" lIns="0" tIns="0" rIns="0" bIns="0" anchor="t">
            <a:spAutoFit/>
          </a:bodyPr>
          <a:lstStyle/>
          <a:p>
            <a:pPr algn="l">
              <a:lnSpc>
                <a:spcPct val="115000"/>
              </a:lnSpc>
            </a:pPr>
            <a:r>
              <a:rPr sz="2000" b="1">
                <a:solidFill>
                  <a:srgbClr val="F5F7FB"/>
                </a:solidFill>
                <a:latin typeface="Calibri"/>
              </a:rPr>
              <a:t>Update</a:t>
            </a:r>
          </a:p>
        </p:txBody>
      </p:sp>
      <p:cxnSp>
        <p:nvCxnSpPr>
          <p:cNvPr id="27" name="Connector 26"/>
          <p:cNvCxnSpPr/>
          <p:nvPr/>
        </p:nvCxnSpPr>
        <p:spPr>
          <a:xfrm>
            <a:off x="0" y="3977640"/>
            <a:ext cx="0" cy="0"/>
          </a:xfrm>
          <a:prstGeom prst="line">
            <a:avLst/>
          </a:prstGeom>
          <a:ln w="15240">
            <a:solidFill>
              <a:srgbClr val="46E0C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349240" y="4114800"/>
            <a:ext cx="1508760" cy="914400"/>
          </a:xfrm>
          <a:prstGeom prst="rect">
            <a:avLst/>
          </a:prstGeom>
          <a:noFill/>
        </p:spPr>
        <p:txBody>
          <a:bodyPr wrap="square" lIns="0" tIns="0" rIns="0" bIns="0" anchor="t">
            <a:spAutoFit/>
          </a:bodyPr>
          <a:lstStyle/>
          <a:p>
            <a:pPr algn="l">
              <a:lnSpc>
                <a:spcPct val="140000"/>
              </a:lnSpc>
            </a:pPr>
            <a:r>
              <a:rPr sz="1050" b="0">
                <a:solidFill>
                  <a:srgbClr val="8A95AE"/>
                </a:solidFill>
                <a:latin typeface="Calibri"/>
              </a:rPr>
              <a:t>Photos, videos &amp; progress</a:t>
            </a:r>
          </a:p>
          <a:p>
            <a:pPr algn="l">
              <a:lnSpc>
                <a:spcPct val="140000"/>
              </a:lnSpc>
            </a:pPr>
            <a:r>
              <a:rPr sz="1050" b="0">
                <a:solidFill>
                  <a:srgbClr val="8A95AE"/>
                </a:solidFill>
                <a:latin typeface="Calibri"/>
              </a:rPr>
              <a:t>come in through WhatsApp.</a:t>
            </a:r>
          </a:p>
        </p:txBody>
      </p:sp>
      <p:sp>
        <p:nvSpPr>
          <p:cNvPr id="29" name="TextBox 28"/>
          <p:cNvSpPr txBox="1"/>
          <p:nvPr/>
        </p:nvSpPr>
        <p:spPr>
          <a:xfrm>
            <a:off x="7212330" y="3863340"/>
            <a:ext cx="68580" cy="365760"/>
          </a:xfrm>
          <a:prstGeom prst="rect">
            <a:avLst/>
          </a:prstGeom>
          <a:noFill/>
        </p:spPr>
        <p:txBody>
          <a:bodyPr wrap="square" lIns="0" tIns="0" rIns="0" bIns="0" anchor="ctr">
            <a:spAutoFit/>
          </a:bodyPr>
          <a:lstStyle/>
          <a:p>
            <a:pPr algn="ctr">
              <a:lnSpc>
                <a:spcPct val="115000"/>
              </a:lnSpc>
            </a:pPr>
            <a:r>
              <a:rPr sz="2200" b="1">
                <a:solidFill>
                  <a:srgbClr val="46E0CB"/>
                </a:solidFill>
                <a:latin typeface="Calibri"/>
              </a:rPr>
              <a:t>›</a:t>
            </a:r>
          </a:p>
        </p:txBody>
      </p:sp>
      <p:sp>
        <p:nvSpPr>
          <p:cNvPr id="30" name="Rounded Rectangle 29"/>
          <p:cNvSpPr/>
          <p:nvPr/>
        </p:nvSpPr>
        <p:spPr>
          <a:xfrm>
            <a:off x="7360920" y="2834640"/>
            <a:ext cx="2057400" cy="2331720"/>
          </a:xfrm>
          <a:prstGeom prst="roundRect">
            <a:avLst>
              <a:gd name="adj" fmla="val 7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635240" y="3063240"/>
            <a:ext cx="1508760" cy="320040"/>
          </a:xfrm>
          <a:prstGeom prst="rect">
            <a:avLst/>
          </a:prstGeom>
          <a:noFill/>
        </p:spPr>
        <p:txBody>
          <a:bodyPr wrap="square" lIns="0" tIns="0" rIns="0" bIns="0" anchor="t">
            <a:spAutoFit/>
          </a:bodyPr>
          <a:lstStyle/>
          <a:p>
            <a:pPr algn="l">
              <a:lnSpc>
                <a:spcPct val="115000"/>
              </a:lnSpc>
            </a:pPr>
            <a:r>
              <a:rPr sz="1100" b="1" spc="400">
                <a:solidFill>
                  <a:srgbClr val="D4B066"/>
                </a:solidFill>
                <a:latin typeface="Calibri"/>
              </a:rPr>
              <a:t>04</a:t>
            </a:r>
          </a:p>
        </p:txBody>
      </p:sp>
      <p:sp>
        <p:nvSpPr>
          <p:cNvPr id="32" name="TextBox 31"/>
          <p:cNvSpPr txBox="1"/>
          <p:nvPr/>
        </p:nvSpPr>
        <p:spPr>
          <a:xfrm>
            <a:off x="7635240" y="3429000"/>
            <a:ext cx="1508760" cy="502920"/>
          </a:xfrm>
          <a:prstGeom prst="rect">
            <a:avLst/>
          </a:prstGeom>
          <a:noFill/>
        </p:spPr>
        <p:txBody>
          <a:bodyPr wrap="square" lIns="0" tIns="0" rIns="0" bIns="0" anchor="t">
            <a:spAutoFit/>
          </a:bodyPr>
          <a:lstStyle/>
          <a:p>
            <a:pPr algn="l">
              <a:lnSpc>
                <a:spcPct val="115000"/>
              </a:lnSpc>
            </a:pPr>
            <a:r>
              <a:rPr sz="2000" b="1">
                <a:solidFill>
                  <a:srgbClr val="F5F7FB"/>
                </a:solidFill>
                <a:latin typeface="Calibri"/>
              </a:rPr>
              <a:t>Capture</a:t>
            </a:r>
          </a:p>
        </p:txBody>
      </p:sp>
      <p:cxnSp>
        <p:nvCxnSpPr>
          <p:cNvPr id="33" name="Connector 32"/>
          <p:cNvCxnSpPr/>
          <p:nvPr/>
        </p:nvCxnSpPr>
        <p:spPr>
          <a:xfrm>
            <a:off x="0" y="3977640"/>
            <a:ext cx="0" cy="0"/>
          </a:xfrm>
          <a:prstGeom prst="line">
            <a:avLst/>
          </a:prstGeom>
          <a:ln w="15240">
            <a:solidFill>
              <a:srgbClr val="46E0C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635240" y="4114800"/>
            <a:ext cx="1508760" cy="914400"/>
          </a:xfrm>
          <a:prstGeom prst="rect">
            <a:avLst/>
          </a:prstGeom>
          <a:noFill/>
        </p:spPr>
        <p:txBody>
          <a:bodyPr wrap="square" lIns="0" tIns="0" rIns="0" bIns="0" anchor="t">
            <a:spAutoFit/>
          </a:bodyPr>
          <a:lstStyle/>
          <a:p>
            <a:pPr algn="l">
              <a:lnSpc>
                <a:spcPct val="140000"/>
              </a:lnSpc>
            </a:pPr>
            <a:r>
              <a:rPr sz="1050" b="0">
                <a:solidFill>
                  <a:srgbClr val="8A95AE"/>
                </a:solidFill>
                <a:latin typeface="Calibri"/>
              </a:rPr>
              <a:t>System auto-tags every</a:t>
            </a:r>
          </a:p>
          <a:p>
            <a:pPr algn="l">
              <a:lnSpc>
                <a:spcPct val="140000"/>
              </a:lnSpc>
            </a:pPr>
            <a:r>
              <a:rPr sz="1050" b="0">
                <a:solidFill>
                  <a:srgbClr val="8A95AE"/>
                </a:solidFill>
                <a:latin typeface="Calibri"/>
              </a:rPr>
              <a:t>update to the right site.</a:t>
            </a:r>
          </a:p>
        </p:txBody>
      </p:sp>
      <p:sp>
        <p:nvSpPr>
          <p:cNvPr id="35" name="TextBox 34"/>
          <p:cNvSpPr txBox="1"/>
          <p:nvPr/>
        </p:nvSpPr>
        <p:spPr>
          <a:xfrm>
            <a:off x="9498330" y="3863340"/>
            <a:ext cx="68580" cy="365760"/>
          </a:xfrm>
          <a:prstGeom prst="rect">
            <a:avLst/>
          </a:prstGeom>
          <a:noFill/>
        </p:spPr>
        <p:txBody>
          <a:bodyPr wrap="square" lIns="0" tIns="0" rIns="0" bIns="0" anchor="ctr">
            <a:spAutoFit/>
          </a:bodyPr>
          <a:lstStyle/>
          <a:p>
            <a:pPr algn="ctr">
              <a:lnSpc>
                <a:spcPct val="115000"/>
              </a:lnSpc>
            </a:pPr>
            <a:r>
              <a:rPr sz="2200" b="1">
                <a:solidFill>
                  <a:srgbClr val="46E0CB"/>
                </a:solidFill>
                <a:latin typeface="Calibri"/>
              </a:rPr>
              <a:t>›</a:t>
            </a:r>
          </a:p>
        </p:txBody>
      </p:sp>
      <p:sp>
        <p:nvSpPr>
          <p:cNvPr id="36" name="Rounded Rectangle 35"/>
          <p:cNvSpPr/>
          <p:nvPr/>
        </p:nvSpPr>
        <p:spPr>
          <a:xfrm>
            <a:off x="9646920" y="2834640"/>
            <a:ext cx="2057400" cy="2331720"/>
          </a:xfrm>
          <a:prstGeom prst="roundRect">
            <a:avLst>
              <a:gd name="adj" fmla="val 7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21240" y="3063240"/>
            <a:ext cx="1508760" cy="320040"/>
          </a:xfrm>
          <a:prstGeom prst="rect">
            <a:avLst/>
          </a:prstGeom>
          <a:noFill/>
        </p:spPr>
        <p:txBody>
          <a:bodyPr wrap="square" lIns="0" tIns="0" rIns="0" bIns="0" anchor="t">
            <a:spAutoFit/>
          </a:bodyPr>
          <a:lstStyle/>
          <a:p>
            <a:pPr algn="l">
              <a:lnSpc>
                <a:spcPct val="115000"/>
              </a:lnSpc>
            </a:pPr>
            <a:r>
              <a:rPr sz="1100" b="1" spc="400">
                <a:solidFill>
                  <a:srgbClr val="D4B066"/>
                </a:solidFill>
                <a:latin typeface="Calibri"/>
              </a:rPr>
              <a:t>05</a:t>
            </a:r>
          </a:p>
        </p:txBody>
      </p:sp>
      <p:sp>
        <p:nvSpPr>
          <p:cNvPr id="38" name="TextBox 37"/>
          <p:cNvSpPr txBox="1"/>
          <p:nvPr/>
        </p:nvSpPr>
        <p:spPr>
          <a:xfrm>
            <a:off x="9921240" y="3429000"/>
            <a:ext cx="1508760" cy="502920"/>
          </a:xfrm>
          <a:prstGeom prst="rect">
            <a:avLst/>
          </a:prstGeom>
          <a:noFill/>
        </p:spPr>
        <p:txBody>
          <a:bodyPr wrap="square" lIns="0" tIns="0" rIns="0" bIns="0" anchor="t">
            <a:spAutoFit/>
          </a:bodyPr>
          <a:lstStyle/>
          <a:p>
            <a:pPr algn="l">
              <a:lnSpc>
                <a:spcPct val="115000"/>
              </a:lnSpc>
            </a:pPr>
            <a:r>
              <a:rPr sz="2000" b="1">
                <a:solidFill>
                  <a:srgbClr val="F5F7FB"/>
                </a:solidFill>
                <a:latin typeface="Calibri"/>
              </a:rPr>
              <a:t>Monitor</a:t>
            </a:r>
          </a:p>
        </p:txBody>
      </p:sp>
      <p:cxnSp>
        <p:nvCxnSpPr>
          <p:cNvPr id="39" name="Connector 38"/>
          <p:cNvCxnSpPr/>
          <p:nvPr/>
        </p:nvCxnSpPr>
        <p:spPr>
          <a:xfrm>
            <a:off x="0" y="3977640"/>
            <a:ext cx="0" cy="0"/>
          </a:xfrm>
          <a:prstGeom prst="line">
            <a:avLst/>
          </a:prstGeom>
          <a:ln w="15240">
            <a:solidFill>
              <a:srgbClr val="46E0CB"/>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921240" y="4114800"/>
            <a:ext cx="1508760" cy="914400"/>
          </a:xfrm>
          <a:prstGeom prst="rect">
            <a:avLst/>
          </a:prstGeom>
          <a:noFill/>
        </p:spPr>
        <p:txBody>
          <a:bodyPr wrap="square" lIns="0" tIns="0" rIns="0" bIns="0" anchor="t">
            <a:spAutoFit/>
          </a:bodyPr>
          <a:lstStyle/>
          <a:p>
            <a:pPr algn="l">
              <a:lnSpc>
                <a:spcPct val="140000"/>
              </a:lnSpc>
            </a:pPr>
            <a:r>
              <a:rPr sz="1050" b="0">
                <a:solidFill>
                  <a:srgbClr val="8A95AE"/>
                </a:solidFill>
                <a:latin typeface="Calibri"/>
              </a:rPr>
              <a:t>Owner &amp; managers see</a:t>
            </a:r>
          </a:p>
          <a:p>
            <a:pPr algn="l">
              <a:lnSpc>
                <a:spcPct val="140000"/>
              </a:lnSpc>
            </a:pPr>
            <a:r>
              <a:rPr sz="1050" b="0">
                <a:solidFill>
                  <a:srgbClr val="8A95AE"/>
                </a:solidFill>
                <a:latin typeface="Calibri"/>
              </a:rPr>
              <a:t>it all on one dashboard.</a:t>
            </a:r>
          </a:p>
        </p:txBody>
      </p:sp>
      <p:sp>
        <p:nvSpPr>
          <p:cNvPr id="41" name="Rounded Rectangle 40"/>
          <p:cNvSpPr/>
          <p:nvPr/>
        </p:nvSpPr>
        <p:spPr>
          <a:xfrm>
            <a:off x="502920" y="5440680"/>
            <a:ext cx="11201400" cy="868680"/>
          </a:xfrm>
          <a:prstGeom prst="roundRect">
            <a:avLst>
              <a:gd name="adj" fmla="val 10000"/>
            </a:avLst>
          </a:prstGeom>
          <a:solidFill>
            <a:srgbClr val="161F36"/>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68680" y="5577840"/>
            <a:ext cx="10469880" cy="320040"/>
          </a:xfrm>
          <a:prstGeom prst="rect">
            <a:avLst/>
          </a:prstGeom>
          <a:noFill/>
        </p:spPr>
        <p:txBody>
          <a:bodyPr wrap="square" lIns="0" tIns="0" rIns="0" bIns="0" anchor="t">
            <a:spAutoFit/>
          </a:bodyPr>
          <a:lstStyle/>
          <a:p>
            <a:pPr algn="l">
              <a:lnSpc>
                <a:spcPct val="115000"/>
              </a:lnSpc>
            </a:pPr>
            <a:r>
              <a:rPr sz="900" b="1" spc="400">
                <a:solidFill>
                  <a:srgbClr val="D4B066"/>
                </a:solidFill>
                <a:latin typeface="Calibri"/>
              </a:rPr>
              <a:t>NET EFFECT</a:t>
            </a:r>
          </a:p>
        </p:txBody>
      </p:sp>
      <p:sp>
        <p:nvSpPr>
          <p:cNvPr id="43" name="TextBox 42"/>
          <p:cNvSpPr txBox="1"/>
          <p:nvPr/>
        </p:nvSpPr>
        <p:spPr>
          <a:xfrm>
            <a:off x="868680" y="5852160"/>
            <a:ext cx="10469880" cy="365760"/>
          </a:xfrm>
          <a:prstGeom prst="rect">
            <a:avLst/>
          </a:prstGeom>
          <a:noFill/>
        </p:spPr>
        <p:txBody>
          <a:bodyPr wrap="square" lIns="0" tIns="0" rIns="0" bIns="0" anchor="t">
            <a:spAutoFit/>
          </a:bodyPr>
          <a:lstStyle/>
          <a:p>
            <a:pPr algn="l">
              <a:lnSpc>
                <a:spcPct val="115000"/>
              </a:lnSpc>
            </a:pPr>
            <a:r>
              <a:rPr sz="1300" b="1">
                <a:solidFill>
                  <a:srgbClr val="F5F7FB"/>
                </a:solidFill>
                <a:latin typeface="Calibri"/>
              </a:rPr>
              <a:t>Less chasing. Fewer calls. Cleaner days. A workforce that runs on rails — quietly, every single day.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292608" cy="2794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4320"/>
            <a:ext cx="4572000" cy="320040"/>
          </a:xfrm>
          <a:prstGeom prst="rect">
            <a:avLst/>
          </a:prstGeom>
          <a:noFill/>
        </p:spPr>
        <p:txBody>
          <a:bodyPr wrap="square" lIns="0" tIns="0" rIns="0" bIns="0" anchor="t">
            <a:spAutoFit/>
          </a:bodyPr>
          <a:lstStyle/>
          <a:p>
            <a:pPr algn="l">
              <a:lnSpc>
                <a:spcPct val="115000"/>
              </a:lnSpc>
            </a:pPr>
            <a:r>
              <a:rPr sz="900" b="1" spc="300">
                <a:solidFill>
                  <a:srgbClr val="8A95AE"/>
                </a:solidFill>
                <a:latin typeface="Calibri"/>
              </a:rPr>
              <a:t>GENOSAI  ×  AQUA TECHNIC</a:t>
            </a:r>
          </a:p>
        </p:txBody>
      </p:sp>
      <p:sp>
        <p:nvSpPr>
          <p:cNvPr id="5" name="TextBox 4"/>
          <p:cNvSpPr txBox="1"/>
          <p:nvPr/>
        </p:nvSpPr>
        <p:spPr>
          <a:xfrm>
            <a:off x="7315200" y="274320"/>
            <a:ext cx="4434840" cy="320040"/>
          </a:xfrm>
          <a:prstGeom prst="rect">
            <a:avLst/>
          </a:prstGeom>
          <a:noFill/>
        </p:spPr>
        <p:txBody>
          <a:bodyPr wrap="square" lIns="0" tIns="0" rIns="0" bIns="0" anchor="t">
            <a:spAutoFit/>
          </a:bodyPr>
          <a:lstStyle/>
          <a:p>
            <a:pPr algn="r">
              <a:lnSpc>
                <a:spcPct val="115000"/>
              </a:lnSpc>
            </a:pPr>
            <a:r>
              <a:rPr sz="900" b="1" spc="300">
                <a:solidFill>
                  <a:srgbClr val="8A95AE"/>
                </a:solidFill>
                <a:latin typeface="Calibri"/>
              </a:rPr>
              <a:t>05  ·  BENEFITS</a:t>
            </a:r>
          </a:p>
        </p:txBody>
      </p:sp>
      <p:cxnSp>
        <p:nvCxnSpPr>
          <p:cNvPr id="6" name="Connector 5"/>
          <p:cNvCxnSpPr/>
          <p:nvPr/>
        </p:nvCxnSpPr>
        <p:spPr>
          <a:xfrm>
            <a:off x="502920" y="6446520"/>
            <a:ext cx="11183112" cy="0"/>
          </a:xfrm>
          <a:prstGeom prst="line">
            <a:avLst/>
          </a:prstGeom>
          <a:ln w="6350">
            <a:solidFill>
              <a:srgbClr val="232E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10528"/>
            <a:ext cx="5486400" cy="274320"/>
          </a:xfrm>
          <a:prstGeom prst="rect">
            <a:avLst/>
          </a:prstGeom>
          <a:noFill/>
        </p:spPr>
        <p:txBody>
          <a:bodyPr wrap="square" lIns="0" tIns="0" rIns="0" bIns="0" anchor="t">
            <a:spAutoFit/>
          </a:bodyPr>
          <a:lstStyle/>
          <a:p>
            <a:pPr algn="l">
              <a:lnSpc>
                <a:spcPct val="115000"/>
              </a:lnSpc>
            </a:pPr>
            <a:r>
              <a:rPr sz="800" b="0">
                <a:solidFill>
                  <a:srgbClr val="8A95AE"/>
                </a:solidFill>
                <a:latin typeface="Calibri"/>
              </a:rPr>
              <a:t>Operational Automation &amp; Employee Management System</a:t>
            </a:r>
          </a:p>
        </p:txBody>
      </p:sp>
      <p:sp>
        <p:nvSpPr>
          <p:cNvPr id="8" name="TextBox 7"/>
          <p:cNvSpPr txBox="1"/>
          <p:nvPr/>
        </p:nvSpPr>
        <p:spPr>
          <a:xfrm>
            <a:off x="6400800" y="6510528"/>
            <a:ext cx="5285232" cy="274320"/>
          </a:xfrm>
          <a:prstGeom prst="rect">
            <a:avLst/>
          </a:prstGeom>
          <a:noFill/>
        </p:spPr>
        <p:txBody>
          <a:bodyPr wrap="square" lIns="0" tIns="0" rIns="0" bIns="0" anchor="t">
            <a:spAutoFit/>
          </a:bodyPr>
          <a:lstStyle/>
          <a:p>
            <a:pPr algn="r">
              <a:lnSpc>
                <a:spcPct val="115000"/>
              </a:lnSpc>
            </a:pPr>
            <a:r>
              <a:rPr sz="800" b="0" spc="200">
                <a:solidFill>
                  <a:srgbClr val="8A95AE"/>
                </a:solidFill>
                <a:latin typeface="Calibri"/>
              </a:rPr>
              <a:t>12 / 16</a:t>
            </a:r>
          </a:p>
        </p:txBody>
      </p:sp>
      <p:sp>
        <p:nvSpPr>
          <p:cNvPr id="9" name="Rectangle 8"/>
          <p:cNvSpPr/>
          <p:nvPr/>
        </p:nvSpPr>
        <p:spPr>
          <a:xfrm>
            <a:off x="502920" y="914400"/>
            <a:ext cx="228600" cy="25400"/>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804672"/>
            <a:ext cx="7315200" cy="27432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WHY THIS MATTERS</a:t>
            </a:r>
          </a:p>
        </p:txBody>
      </p:sp>
      <p:sp>
        <p:nvSpPr>
          <p:cNvPr id="11" name="TextBox 10"/>
          <p:cNvSpPr txBox="1"/>
          <p:nvPr/>
        </p:nvSpPr>
        <p:spPr>
          <a:xfrm>
            <a:off x="502920" y="1143000"/>
            <a:ext cx="11155680" cy="868680"/>
          </a:xfrm>
          <a:prstGeom prst="rect">
            <a:avLst/>
          </a:prstGeom>
          <a:noFill/>
        </p:spPr>
        <p:txBody>
          <a:bodyPr wrap="square" lIns="0" tIns="0" rIns="0" bIns="0" anchor="t">
            <a:spAutoFit/>
          </a:bodyPr>
          <a:lstStyle/>
          <a:p>
            <a:pPr algn="l">
              <a:lnSpc>
                <a:spcPct val="105000"/>
              </a:lnSpc>
            </a:pPr>
            <a:r>
              <a:rPr sz="3400" b="1">
                <a:solidFill>
                  <a:srgbClr val="F5F7FB"/>
                </a:solidFill>
                <a:latin typeface="Calibri"/>
              </a:rPr>
              <a:t>What Changes for Aqua Technic</a:t>
            </a:r>
          </a:p>
        </p:txBody>
      </p:sp>
      <p:sp>
        <p:nvSpPr>
          <p:cNvPr id="12" name="Rounded Rectangle 11"/>
          <p:cNvSpPr/>
          <p:nvPr/>
        </p:nvSpPr>
        <p:spPr>
          <a:xfrm>
            <a:off x="502920" y="2743200"/>
            <a:ext cx="2788920" cy="178308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77240" y="3017520"/>
            <a:ext cx="411480" cy="411480"/>
          </a:xfrm>
          <a:prstGeom prst="roundRect">
            <a:avLst>
              <a:gd name="adj" fmla="val 5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017520"/>
            <a:ext cx="411480" cy="411480"/>
          </a:xfrm>
          <a:prstGeom prst="rect">
            <a:avLst/>
          </a:prstGeom>
          <a:noFill/>
        </p:spPr>
        <p:txBody>
          <a:bodyPr wrap="square" lIns="0" tIns="0" rIns="0" bIns="0" anchor="ctr">
            <a:spAutoFit/>
          </a:bodyPr>
          <a:lstStyle/>
          <a:p>
            <a:pPr algn="ctr">
              <a:lnSpc>
                <a:spcPct val="115000"/>
              </a:lnSpc>
            </a:pPr>
            <a:r>
              <a:rPr sz="1400" b="1">
                <a:solidFill>
                  <a:srgbClr val="46E0CB"/>
                </a:solidFill>
                <a:latin typeface="Calibri"/>
              </a:rPr>
              <a:t>✓</a:t>
            </a:r>
          </a:p>
        </p:txBody>
      </p:sp>
      <p:sp>
        <p:nvSpPr>
          <p:cNvPr id="15" name="TextBox 14"/>
          <p:cNvSpPr txBox="1"/>
          <p:nvPr/>
        </p:nvSpPr>
        <p:spPr>
          <a:xfrm>
            <a:off x="777240" y="3520440"/>
            <a:ext cx="2240280" cy="365760"/>
          </a:xfrm>
          <a:prstGeom prst="rect">
            <a:avLst/>
          </a:prstGeom>
          <a:noFill/>
        </p:spPr>
        <p:txBody>
          <a:bodyPr wrap="square" lIns="0" tIns="0" rIns="0" bIns="0" anchor="t">
            <a:spAutoFit/>
          </a:bodyPr>
          <a:lstStyle/>
          <a:p>
            <a:pPr algn="l">
              <a:lnSpc>
                <a:spcPct val="120000"/>
              </a:lnSpc>
            </a:pPr>
            <a:r>
              <a:rPr sz="1250" b="1">
                <a:solidFill>
                  <a:srgbClr val="F5F7FB"/>
                </a:solidFill>
                <a:latin typeface="Calibri"/>
              </a:rPr>
              <a:t>Less operational chaos</a:t>
            </a:r>
          </a:p>
        </p:txBody>
      </p:sp>
      <p:sp>
        <p:nvSpPr>
          <p:cNvPr id="16" name="TextBox 15"/>
          <p:cNvSpPr txBox="1"/>
          <p:nvPr/>
        </p:nvSpPr>
        <p:spPr>
          <a:xfrm>
            <a:off x="777240" y="3886200"/>
            <a:ext cx="2240280" cy="54864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Calm replaces scramble. The day has a structure.</a:t>
            </a:r>
          </a:p>
        </p:txBody>
      </p:sp>
      <p:sp>
        <p:nvSpPr>
          <p:cNvPr id="17" name="Rounded Rectangle 16"/>
          <p:cNvSpPr/>
          <p:nvPr/>
        </p:nvSpPr>
        <p:spPr>
          <a:xfrm>
            <a:off x="3401568" y="2743200"/>
            <a:ext cx="2788920" cy="178308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675888" y="3017520"/>
            <a:ext cx="411480" cy="411480"/>
          </a:xfrm>
          <a:prstGeom prst="roundRect">
            <a:avLst>
              <a:gd name="adj" fmla="val 5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75888" y="3017520"/>
            <a:ext cx="411480" cy="411480"/>
          </a:xfrm>
          <a:prstGeom prst="rect">
            <a:avLst/>
          </a:prstGeom>
          <a:noFill/>
        </p:spPr>
        <p:txBody>
          <a:bodyPr wrap="square" lIns="0" tIns="0" rIns="0" bIns="0" anchor="ctr">
            <a:spAutoFit/>
          </a:bodyPr>
          <a:lstStyle/>
          <a:p>
            <a:pPr algn="ctr">
              <a:lnSpc>
                <a:spcPct val="115000"/>
              </a:lnSpc>
            </a:pPr>
            <a:r>
              <a:rPr sz="1400" b="1">
                <a:solidFill>
                  <a:srgbClr val="46E0CB"/>
                </a:solidFill>
                <a:latin typeface="Calibri"/>
              </a:rPr>
              <a:t>✓</a:t>
            </a:r>
          </a:p>
        </p:txBody>
      </p:sp>
      <p:sp>
        <p:nvSpPr>
          <p:cNvPr id="20" name="TextBox 19"/>
          <p:cNvSpPr txBox="1"/>
          <p:nvPr/>
        </p:nvSpPr>
        <p:spPr>
          <a:xfrm>
            <a:off x="3675888" y="3520440"/>
            <a:ext cx="2240280" cy="365760"/>
          </a:xfrm>
          <a:prstGeom prst="rect">
            <a:avLst/>
          </a:prstGeom>
          <a:noFill/>
        </p:spPr>
        <p:txBody>
          <a:bodyPr wrap="square" lIns="0" tIns="0" rIns="0" bIns="0" anchor="t">
            <a:spAutoFit/>
          </a:bodyPr>
          <a:lstStyle/>
          <a:p>
            <a:pPr algn="l">
              <a:lnSpc>
                <a:spcPct val="120000"/>
              </a:lnSpc>
            </a:pPr>
            <a:r>
              <a:rPr sz="1250" b="1">
                <a:solidFill>
                  <a:srgbClr val="F5F7FB"/>
                </a:solidFill>
                <a:latin typeface="Calibri"/>
              </a:rPr>
              <a:t>Fewer manual follow-ups</a:t>
            </a:r>
          </a:p>
        </p:txBody>
      </p:sp>
      <p:sp>
        <p:nvSpPr>
          <p:cNvPr id="21" name="TextBox 20"/>
          <p:cNvSpPr txBox="1"/>
          <p:nvPr/>
        </p:nvSpPr>
        <p:spPr>
          <a:xfrm>
            <a:off x="3675888" y="3886200"/>
            <a:ext cx="2240280" cy="54864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Stop being a courier between your own team.</a:t>
            </a:r>
          </a:p>
        </p:txBody>
      </p:sp>
      <p:sp>
        <p:nvSpPr>
          <p:cNvPr id="22" name="Rounded Rectangle 21"/>
          <p:cNvSpPr/>
          <p:nvPr/>
        </p:nvSpPr>
        <p:spPr>
          <a:xfrm>
            <a:off x="6300216" y="2743200"/>
            <a:ext cx="2788920" cy="178308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574536" y="3017520"/>
            <a:ext cx="411480" cy="411480"/>
          </a:xfrm>
          <a:prstGeom prst="roundRect">
            <a:avLst>
              <a:gd name="adj" fmla="val 5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74536" y="3017520"/>
            <a:ext cx="411480" cy="411480"/>
          </a:xfrm>
          <a:prstGeom prst="rect">
            <a:avLst/>
          </a:prstGeom>
          <a:noFill/>
        </p:spPr>
        <p:txBody>
          <a:bodyPr wrap="square" lIns="0" tIns="0" rIns="0" bIns="0" anchor="ctr">
            <a:spAutoFit/>
          </a:bodyPr>
          <a:lstStyle/>
          <a:p>
            <a:pPr algn="ctr">
              <a:lnSpc>
                <a:spcPct val="115000"/>
              </a:lnSpc>
            </a:pPr>
            <a:r>
              <a:rPr sz="1400" b="1">
                <a:solidFill>
                  <a:srgbClr val="46E0CB"/>
                </a:solidFill>
                <a:latin typeface="Calibri"/>
              </a:rPr>
              <a:t>✓</a:t>
            </a:r>
          </a:p>
        </p:txBody>
      </p:sp>
      <p:sp>
        <p:nvSpPr>
          <p:cNvPr id="25" name="TextBox 24"/>
          <p:cNvSpPr txBox="1"/>
          <p:nvPr/>
        </p:nvSpPr>
        <p:spPr>
          <a:xfrm>
            <a:off x="6574536" y="3520440"/>
            <a:ext cx="2240280" cy="365760"/>
          </a:xfrm>
          <a:prstGeom prst="rect">
            <a:avLst/>
          </a:prstGeom>
          <a:noFill/>
        </p:spPr>
        <p:txBody>
          <a:bodyPr wrap="square" lIns="0" tIns="0" rIns="0" bIns="0" anchor="t">
            <a:spAutoFit/>
          </a:bodyPr>
          <a:lstStyle/>
          <a:p>
            <a:pPr algn="l">
              <a:lnSpc>
                <a:spcPct val="120000"/>
              </a:lnSpc>
            </a:pPr>
            <a:r>
              <a:rPr sz="1250" b="1">
                <a:solidFill>
                  <a:srgbClr val="F5F7FB"/>
                </a:solidFill>
                <a:latin typeface="Calibri"/>
              </a:rPr>
              <a:t>Higher accountability</a:t>
            </a:r>
          </a:p>
        </p:txBody>
      </p:sp>
      <p:sp>
        <p:nvSpPr>
          <p:cNvPr id="26" name="TextBox 25"/>
          <p:cNvSpPr txBox="1"/>
          <p:nvPr/>
        </p:nvSpPr>
        <p:spPr>
          <a:xfrm>
            <a:off x="6574536" y="3886200"/>
            <a:ext cx="2240280" cy="54864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Every action is logged. Excuses disappear.</a:t>
            </a:r>
          </a:p>
        </p:txBody>
      </p:sp>
      <p:sp>
        <p:nvSpPr>
          <p:cNvPr id="27" name="Rounded Rectangle 26"/>
          <p:cNvSpPr/>
          <p:nvPr/>
        </p:nvSpPr>
        <p:spPr>
          <a:xfrm>
            <a:off x="9198864" y="2743200"/>
            <a:ext cx="2788920" cy="178308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473184" y="3017520"/>
            <a:ext cx="411480" cy="411480"/>
          </a:xfrm>
          <a:prstGeom prst="roundRect">
            <a:avLst>
              <a:gd name="adj" fmla="val 5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73184" y="3017520"/>
            <a:ext cx="411480" cy="411480"/>
          </a:xfrm>
          <a:prstGeom prst="rect">
            <a:avLst/>
          </a:prstGeom>
          <a:noFill/>
        </p:spPr>
        <p:txBody>
          <a:bodyPr wrap="square" lIns="0" tIns="0" rIns="0" bIns="0" anchor="ctr">
            <a:spAutoFit/>
          </a:bodyPr>
          <a:lstStyle/>
          <a:p>
            <a:pPr algn="ctr">
              <a:lnSpc>
                <a:spcPct val="115000"/>
              </a:lnSpc>
            </a:pPr>
            <a:r>
              <a:rPr sz="1400" b="1">
                <a:solidFill>
                  <a:srgbClr val="46E0CB"/>
                </a:solidFill>
                <a:latin typeface="Calibri"/>
              </a:rPr>
              <a:t>✓</a:t>
            </a:r>
          </a:p>
        </p:txBody>
      </p:sp>
      <p:sp>
        <p:nvSpPr>
          <p:cNvPr id="30" name="TextBox 29"/>
          <p:cNvSpPr txBox="1"/>
          <p:nvPr/>
        </p:nvSpPr>
        <p:spPr>
          <a:xfrm>
            <a:off x="9473184" y="3520440"/>
            <a:ext cx="2240280" cy="365760"/>
          </a:xfrm>
          <a:prstGeom prst="rect">
            <a:avLst/>
          </a:prstGeom>
          <a:noFill/>
        </p:spPr>
        <p:txBody>
          <a:bodyPr wrap="square" lIns="0" tIns="0" rIns="0" bIns="0" anchor="t">
            <a:spAutoFit/>
          </a:bodyPr>
          <a:lstStyle/>
          <a:p>
            <a:pPr algn="l">
              <a:lnSpc>
                <a:spcPct val="120000"/>
              </a:lnSpc>
            </a:pPr>
            <a:r>
              <a:rPr sz="1250" b="1">
                <a:solidFill>
                  <a:srgbClr val="F5F7FB"/>
                </a:solidFill>
                <a:latin typeface="Calibri"/>
              </a:rPr>
              <a:t>Centralised reporting</a:t>
            </a:r>
          </a:p>
        </p:txBody>
      </p:sp>
      <p:sp>
        <p:nvSpPr>
          <p:cNvPr id="31" name="TextBox 30"/>
          <p:cNvSpPr txBox="1"/>
          <p:nvPr/>
        </p:nvSpPr>
        <p:spPr>
          <a:xfrm>
            <a:off x="9473184" y="3886200"/>
            <a:ext cx="2240280" cy="54864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One source of truth across every site.</a:t>
            </a:r>
          </a:p>
        </p:txBody>
      </p:sp>
      <p:sp>
        <p:nvSpPr>
          <p:cNvPr id="32" name="Rounded Rectangle 31"/>
          <p:cNvSpPr/>
          <p:nvPr/>
        </p:nvSpPr>
        <p:spPr>
          <a:xfrm>
            <a:off x="502920" y="4636008"/>
            <a:ext cx="2788920" cy="178308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777240" y="4910328"/>
            <a:ext cx="411480" cy="411480"/>
          </a:xfrm>
          <a:prstGeom prst="roundRect">
            <a:avLst>
              <a:gd name="adj" fmla="val 5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77240" y="4910328"/>
            <a:ext cx="411480" cy="411480"/>
          </a:xfrm>
          <a:prstGeom prst="rect">
            <a:avLst/>
          </a:prstGeom>
          <a:noFill/>
        </p:spPr>
        <p:txBody>
          <a:bodyPr wrap="square" lIns="0" tIns="0" rIns="0" bIns="0" anchor="ctr">
            <a:spAutoFit/>
          </a:bodyPr>
          <a:lstStyle/>
          <a:p>
            <a:pPr algn="ctr">
              <a:lnSpc>
                <a:spcPct val="115000"/>
              </a:lnSpc>
            </a:pPr>
            <a:r>
              <a:rPr sz="1400" b="1">
                <a:solidFill>
                  <a:srgbClr val="46E0CB"/>
                </a:solidFill>
                <a:latin typeface="Calibri"/>
              </a:rPr>
              <a:t>✓</a:t>
            </a:r>
          </a:p>
        </p:txBody>
      </p:sp>
      <p:sp>
        <p:nvSpPr>
          <p:cNvPr id="35" name="TextBox 34"/>
          <p:cNvSpPr txBox="1"/>
          <p:nvPr/>
        </p:nvSpPr>
        <p:spPr>
          <a:xfrm>
            <a:off x="777240" y="5413248"/>
            <a:ext cx="2240280" cy="365760"/>
          </a:xfrm>
          <a:prstGeom prst="rect">
            <a:avLst/>
          </a:prstGeom>
          <a:noFill/>
        </p:spPr>
        <p:txBody>
          <a:bodyPr wrap="square" lIns="0" tIns="0" rIns="0" bIns="0" anchor="t">
            <a:spAutoFit/>
          </a:bodyPr>
          <a:lstStyle/>
          <a:p>
            <a:pPr algn="l">
              <a:lnSpc>
                <a:spcPct val="120000"/>
              </a:lnSpc>
            </a:pPr>
            <a:r>
              <a:rPr sz="1250" b="1">
                <a:solidFill>
                  <a:srgbClr val="F5F7FB"/>
                </a:solidFill>
                <a:latin typeface="Calibri"/>
              </a:rPr>
              <a:t>Faster decisions</a:t>
            </a:r>
          </a:p>
        </p:txBody>
      </p:sp>
      <p:sp>
        <p:nvSpPr>
          <p:cNvPr id="36" name="TextBox 35"/>
          <p:cNvSpPr txBox="1"/>
          <p:nvPr/>
        </p:nvSpPr>
        <p:spPr>
          <a:xfrm>
            <a:off x="777240" y="5779008"/>
            <a:ext cx="2240280" cy="54864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See the issue. Act on it. Within minutes, not days.</a:t>
            </a:r>
          </a:p>
        </p:txBody>
      </p:sp>
      <p:sp>
        <p:nvSpPr>
          <p:cNvPr id="37" name="Rounded Rectangle 36"/>
          <p:cNvSpPr/>
          <p:nvPr/>
        </p:nvSpPr>
        <p:spPr>
          <a:xfrm>
            <a:off x="3401568" y="4636008"/>
            <a:ext cx="2788920" cy="178308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3675888" y="4910328"/>
            <a:ext cx="411480" cy="411480"/>
          </a:xfrm>
          <a:prstGeom prst="roundRect">
            <a:avLst>
              <a:gd name="adj" fmla="val 5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675888" y="4910328"/>
            <a:ext cx="411480" cy="411480"/>
          </a:xfrm>
          <a:prstGeom prst="rect">
            <a:avLst/>
          </a:prstGeom>
          <a:noFill/>
        </p:spPr>
        <p:txBody>
          <a:bodyPr wrap="square" lIns="0" tIns="0" rIns="0" bIns="0" anchor="ctr">
            <a:spAutoFit/>
          </a:bodyPr>
          <a:lstStyle/>
          <a:p>
            <a:pPr algn="ctr">
              <a:lnSpc>
                <a:spcPct val="115000"/>
              </a:lnSpc>
            </a:pPr>
            <a:r>
              <a:rPr sz="1400" b="1">
                <a:solidFill>
                  <a:srgbClr val="46E0CB"/>
                </a:solidFill>
                <a:latin typeface="Calibri"/>
              </a:rPr>
              <a:t>✓</a:t>
            </a:r>
          </a:p>
        </p:txBody>
      </p:sp>
      <p:sp>
        <p:nvSpPr>
          <p:cNvPr id="40" name="TextBox 39"/>
          <p:cNvSpPr txBox="1"/>
          <p:nvPr/>
        </p:nvSpPr>
        <p:spPr>
          <a:xfrm>
            <a:off x="3675888" y="5413248"/>
            <a:ext cx="2240280" cy="365760"/>
          </a:xfrm>
          <a:prstGeom prst="rect">
            <a:avLst/>
          </a:prstGeom>
          <a:noFill/>
        </p:spPr>
        <p:txBody>
          <a:bodyPr wrap="square" lIns="0" tIns="0" rIns="0" bIns="0" anchor="t">
            <a:spAutoFit/>
          </a:bodyPr>
          <a:lstStyle/>
          <a:p>
            <a:pPr algn="l">
              <a:lnSpc>
                <a:spcPct val="120000"/>
              </a:lnSpc>
            </a:pPr>
            <a:r>
              <a:rPr sz="1250" b="1">
                <a:solidFill>
                  <a:srgbClr val="F5F7FB"/>
                </a:solidFill>
                <a:latin typeface="Calibri"/>
              </a:rPr>
              <a:t>Smoother coordination</a:t>
            </a:r>
          </a:p>
        </p:txBody>
      </p:sp>
      <p:sp>
        <p:nvSpPr>
          <p:cNvPr id="41" name="TextBox 40"/>
          <p:cNvSpPr txBox="1"/>
          <p:nvPr/>
        </p:nvSpPr>
        <p:spPr>
          <a:xfrm>
            <a:off x="3675888" y="5779008"/>
            <a:ext cx="2240280" cy="54864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Workers, supervisors and managers — finally in sync.</a:t>
            </a:r>
          </a:p>
        </p:txBody>
      </p:sp>
      <p:sp>
        <p:nvSpPr>
          <p:cNvPr id="42" name="Rounded Rectangle 41"/>
          <p:cNvSpPr/>
          <p:nvPr/>
        </p:nvSpPr>
        <p:spPr>
          <a:xfrm>
            <a:off x="6300216" y="4636008"/>
            <a:ext cx="2788920" cy="178308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6574536" y="4910328"/>
            <a:ext cx="411480" cy="411480"/>
          </a:xfrm>
          <a:prstGeom prst="roundRect">
            <a:avLst>
              <a:gd name="adj" fmla="val 5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574536" y="4910328"/>
            <a:ext cx="411480" cy="411480"/>
          </a:xfrm>
          <a:prstGeom prst="rect">
            <a:avLst/>
          </a:prstGeom>
          <a:noFill/>
        </p:spPr>
        <p:txBody>
          <a:bodyPr wrap="square" lIns="0" tIns="0" rIns="0" bIns="0" anchor="ctr">
            <a:spAutoFit/>
          </a:bodyPr>
          <a:lstStyle/>
          <a:p>
            <a:pPr algn="ctr">
              <a:lnSpc>
                <a:spcPct val="115000"/>
              </a:lnSpc>
            </a:pPr>
            <a:r>
              <a:rPr sz="1400" b="1">
                <a:solidFill>
                  <a:srgbClr val="46E0CB"/>
                </a:solidFill>
                <a:latin typeface="Calibri"/>
              </a:rPr>
              <a:t>✓</a:t>
            </a:r>
          </a:p>
        </p:txBody>
      </p:sp>
      <p:sp>
        <p:nvSpPr>
          <p:cNvPr id="45" name="TextBox 44"/>
          <p:cNvSpPr txBox="1"/>
          <p:nvPr/>
        </p:nvSpPr>
        <p:spPr>
          <a:xfrm>
            <a:off x="6574536" y="5413248"/>
            <a:ext cx="2240280" cy="365760"/>
          </a:xfrm>
          <a:prstGeom prst="rect">
            <a:avLst/>
          </a:prstGeom>
          <a:noFill/>
        </p:spPr>
        <p:txBody>
          <a:bodyPr wrap="square" lIns="0" tIns="0" rIns="0" bIns="0" anchor="t">
            <a:spAutoFit/>
          </a:bodyPr>
          <a:lstStyle/>
          <a:p>
            <a:pPr algn="l">
              <a:lnSpc>
                <a:spcPct val="120000"/>
              </a:lnSpc>
            </a:pPr>
            <a:r>
              <a:rPr sz="1250" b="1">
                <a:solidFill>
                  <a:srgbClr val="F5F7FB"/>
                </a:solidFill>
                <a:latin typeface="Calibri"/>
              </a:rPr>
              <a:t>Professional client image</a:t>
            </a:r>
          </a:p>
        </p:txBody>
      </p:sp>
      <p:sp>
        <p:nvSpPr>
          <p:cNvPr id="46" name="TextBox 45"/>
          <p:cNvSpPr txBox="1"/>
          <p:nvPr/>
        </p:nvSpPr>
        <p:spPr>
          <a:xfrm>
            <a:off x="6574536" y="5779008"/>
            <a:ext cx="2240280" cy="54864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Updates that feel like a premium brand.</a:t>
            </a:r>
          </a:p>
        </p:txBody>
      </p:sp>
      <p:sp>
        <p:nvSpPr>
          <p:cNvPr id="47" name="Rounded Rectangle 46"/>
          <p:cNvSpPr/>
          <p:nvPr/>
        </p:nvSpPr>
        <p:spPr>
          <a:xfrm>
            <a:off x="9198864" y="4636008"/>
            <a:ext cx="2788920" cy="178308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9473184" y="4910328"/>
            <a:ext cx="411480" cy="411480"/>
          </a:xfrm>
          <a:prstGeom prst="roundRect">
            <a:avLst>
              <a:gd name="adj" fmla="val 5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473184" y="4910328"/>
            <a:ext cx="411480" cy="411480"/>
          </a:xfrm>
          <a:prstGeom prst="rect">
            <a:avLst/>
          </a:prstGeom>
          <a:noFill/>
        </p:spPr>
        <p:txBody>
          <a:bodyPr wrap="square" lIns="0" tIns="0" rIns="0" bIns="0" anchor="ctr">
            <a:spAutoFit/>
          </a:bodyPr>
          <a:lstStyle/>
          <a:p>
            <a:pPr algn="ctr">
              <a:lnSpc>
                <a:spcPct val="115000"/>
              </a:lnSpc>
            </a:pPr>
            <a:r>
              <a:rPr sz="1400" b="1">
                <a:solidFill>
                  <a:srgbClr val="46E0CB"/>
                </a:solidFill>
                <a:latin typeface="Calibri"/>
              </a:rPr>
              <a:t>✓</a:t>
            </a:r>
          </a:p>
        </p:txBody>
      </p:sp>
      <p:sp>
        <p:nvSpPr>
          <p:cNvPr id="50" name="TextBox 49"/>
          <p:cNvSpPr txBox="1"/>
          <p:nvPr/>
        </p:nvSpPr>
        <p:spPr>
          <a:xfrm>
            <a:off x="9473184" y="5413248"/>
            <a:ext cx="2240280" cy="365760"/>
          </a:xfrm>
          <a:prstGeom prst="rect">
            <a:avLst/>
          </a:prstGeom>
          <a:noFill/>
        </p:spPr>
        <p:txBody>
          <a:bodyPr wrap="square" lIns="0" tIns="0" rIns="0" bIns="0" anchor="t">
            <a:spAutoFit/>
          </a:bodyPr>
          <a:lstStyle/>
          <a:p>
            <a:pPr algn="l">
              <a:lnSpc>
                <a:spcPct val="120000"/>
              </a:lnSpc>
            </a:pPr>
            <a:r>
              <a:rPr sz="1250" b="1">
                <a:solidFill>
                  <a:srgbClr val="F5F7FB"/>
                </a:solidFill>
                <a:latin typeface="Calibri"/>
              </a:rPr>
              <a:t>Built to scale</a:t>
            </a:r>
          </a:p>
        </p:txBody>
      </p:sp>
      <p:sp>
        <p:nvSpPr>
          <p:cNvPr id="51" name="TextBox 50"/>
          <p:cNvSpPr txBox="1"/>
          <p:nvPr/>
        </p:nvSpPr>
        <p:spPr>
          <a:xfrm>
            <a:off x="9473184" y="5779008"/>
            <a:ext cx="2240280" cy="54864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Add 10 sites or 50 — the system absorbs 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292608" cy="2794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4320"/>
            <a:ext cx="4572000" cy="320040"/>
          </a:xfrm>
          <a:prstGeom prst="rect">
            <a:avLst/>
          </a:prstGeom>
          <a:noFill/>
        </p:spPr>
        <p:txBody>
          <a:bodyPr wrap="square" lIns="0" tIns="0" rIns="0" bIns="0" anchor="t">
            <a:spAutoFit/>
          </a:bodyPr>
          <a:lstStyle/>
          <a:p>
            <a:pPr algn="l">
              <a:lnSpc>
                <a:spcPct val="115000"/>
              </a:lnSpc>
            </a:pPr>
            <a:r>
              <a:rPr sz="900" b="1" spc="300">
                <a:solidFill>
                  <a:srgbClr val="8A95AE"/>
                </a:solidFill>
                <a:latin typeface="Calibri"/>
              </a:rPr>
              <a:t>GENOSAI  ×  AQUA TECHNIC</a:t>
            </a:r>
          </a:p>
        </p:txBody>
      </p:sp>
      <p:sp>
        <p:nvSpPr>
          <p:cNvPr id="5" name="TextBox 4"/>
          <p:cNvSpPr txBox="1"/>
          <p:nvPr/>
        </p:nvSpPr>
        <p:spPr>
          <a:xfrm>
            <a:off x="7315200" y="274320"/>
            <a:ext cx="4434840" cy="320040"/>
          </a:xfrm>
          <a:prstGeom prst="rect">
            <a:avLst/>
          </a:prstGeom>
          <a:noFill/>
        </p:spPr>
        <p:txBody>
          <a:bodyPr wrap="square" lIns="0" tIns="0" rIns="0" bIns="0" anchor="t">
            <a:spAutoFit/>
          </a:bodyPr>
          <a:lstStyle/>
          <a:p>
            <a:pPr algn="r">
              <a:lnSpc>
                <a:spcPct val="115000"/>
              </a:lnSpc>
            </a:pPr>
            <a:r>
              <a:rPr sz="900" b="1" spc="300">
                <a:solidFill>
                  <a:srgbClr val="8A95AE"/>
                </a:solidFill>
                <a:latin typeface="Calibri"/>
              </a:rPr>
              <a:t>06  ·  IMPLEMENTATION</a:t>
            </a:r>
          </a:p>
        </p:txBody>
      </p:sp>
      <p:cxnSp>
        <p:nvCxnSpPr>
          <p:cNvPr id="6" name="Connector 5"/>
          <p:cNvCxnSpPr/>
          <p:nvPr/>
        </p:nvCxnSpPr>
        <p:spPr>
          <a:xfrm>
            <a:off x="502920" y="6446520"/>
            <a:ext cx="11183112" cy="0"/>
          </a:xfrm>
          <a:prstGeom prst="line">
            <a:avLst/>
          </a:prstGeom>
          <a:ln w="6350">
            <a:solidFill>
              <a:srgbClr val="232E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10528"/>
            <a:ext cx="5486400" cy="274320"/>
          </a:xfrm>
          <a:prstGeom prst="rect">
            <a:avLst/>
          </a:prstGeom>
          <a:noFill/>
        </p:spPr>
        <p:txBody>
          <a:bodyPr wrap="square" lIns="0" tIns="0" rIns="0" bIns="0" anchor="t">
            <a:spAutoFit/>
          </a:bodyPr>
          <a:lstStyle/>
          <a:p>
            <a:pPr algn="l">
              <a:lnSpc>
                <a:spcPct val="115000"/>
              </a:lnSpc>
            </a:pPr>
            <a:r>
              <a:rPr sz="800" b="0">
                <a:solidFill>
                  <a:srgbClr val="8A95AE"/>
                </a:solidFill>
                <a:latin typeface="Calibri"/>
              </a:rPr>
              <a:t>Operational Automation &amp; Employee Management System</a:t>
            </a:r>
          </a:p>
        </p:txBody>
      </p:sp>
      <p:sp>
        <p:nvSpPr>
          <p:cNvPr id="8" name="TextBox 7"/>
          <p:cNvSpPr txBox="1"/>
          <p:nvPr/>
        </p:nvSpPr>
        <p:spPr>
          <a:xfrm>
            <a:off x="6400800" y="6510528"/>
            <a:ext cx="5285232" cy="274320"/>
          </a:xfrm>
          <a:prstGeom prst="rect">
            <a:avLst/>
          </a:prstGeom>
          <a:noFill/>
        </p:spPr>
        <p:txBody>
          <a:bodyPr wrap="square" lIns="0" tIns="0" rIns="0" bIns="0" anchor="t">
            <a:spAutoFit/>
          </a:bodyPr>
          <a:lstStyle/>
          <a:p>
            <a:pPr algn="r">
              <a:lnSpc>
                <a:spcPct val="115000"/>
              </a:lnSpc>
            </a:pPr>
            <a:r>
              <a:rPr sz="800" b="0" spc="200">
                <a:solidFill>
                  <a:srgbClr val="8A95AE"/>
                </a:solidFill>
                <a:latin typeface="Calibri"/>
              </a:rPr>
              <a:t>13 / 16</a:t>
            </a:r>
          </a:p>
        </p:txBody>
      </p:sp>
      <p:sp>
        <p:nvSpPr>
          <p:cNvPr id="9" name="Rectangle 8"/>
          <p:cNvSpPr/>
          <p:nvPr/>
        </p:nvSpPr>
        <p:spPr>
          <a:xfrm>
            <a:off x="502920" y="914400"/>
            <a:ext cx="228600" cy="25400"/>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804672"/>
            <a:ext cx="7315200" cy="27432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ROLLOUT, IN THREE STAGES</a:t>
            </a:r>
          </a:p>
        </p:txBody>
      </p:sp>
      <p:sp>
        <p:nvSpPr>
          <p:cNvPr id="11" name="TextBox 10"/>
          <p:cNvSpPr txBox="1"/>
          <p:nvPr/>
        </p:nvSpPr>
        <p:spPr>
          <a:xfrm>
            <a:off x="502920" y="1143000"/>
            <a:ext cx="11155680" cy="868680"/>
          </a:xfrm>
          <a:prstGeom prst="rect">
            <a:avLst/>
          </a:prstGeom>
          <a:noFill/>
        </p:spPr>
        <p:txBody>
          <a:bodyPr wrap="square" lIns="0" tIns="0" rIns="0" bIns="0" anchor="t">
            <a:spAutoFit/>
          </a:bodyPr>
          <a:lstStyle/>
          <a:p>
            <a:pPr algn="l">
              <a:lnSpc>
                <a:spcPct val="105000"/>
              </a:lnSpc>
            </a:pPr>
            <a:r>
              <a:rPr sz="3400" b="1">
                <a:solidFill>
                  <a:srgbClr val="F5F7FB"/>
                </a:solidFill>
                <a:latin typeface="Calibri"/>
              </a:rPr>
              <a:t>Implementation Phases</a:t>
            </a:r>
          </a:p>
        </p:txBody>
      </p:sp>
      <p:sp>
        <p:nvSpPr>
          <p:cNvPr id="12" name="TextBox 11"/>
          <p:cNvSpPr txBox="1"/>
          <p:nvPr/>
        </p:nvSpPr>
        <p:spPr>
          <a:xfrm>
            <a:off x="502920" y="1993392"/>
            <a:ext cx="10515600" cy="548640"/>
          </a:xfrm>
          <a:prstGeom prst="rect">
            <a:avLst/>
          </a:prstGeom>
          <a:noFill/>
        </p:spPr>
        <p:txBody>
          <a:bodyPr wrap="square" lIns="0" tIns="0" rIns="0" bIns="0" anchor="t">
            <a:spAutoFit/>
          </a:bodyPr>
          <a:lstStyle/>
          <a:p>
            <a:pPr algn="l">
              <a:lnSpc>
                <a:spcPct val="135000"/>
              </a:lnSpc>
            </a:pPr>
            <a:r>
              <a:rPr sz="1300" b="0">
                <a:solidFill>
                  <a:srgbClr val="8A95AE"/>
                </a:solidFill>
                <a:latin typeface="Calibri"/>
              </a:rPr>
              <a:t>Each phase delivers visible value before moving to the next — no big-bang risk.</a:t>
            </a:r>
          </a:p>
        </p:txBody>
      </p:sp>
      <p:sp>
        <p:nvSpPr>
          <p:cNvPr id="13" name="Rounded Rectangle 12"/>
          <p:cNvSpPr/>
          <p:nvPr/>
        </p:nvSpPr>
        <p:spPr>
          <a:xfrm>
            <a:off x="502920" y="2697480"/>
            <a:ext cx="3703320" cy="365760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77240" y="2971800"/>
            <a:ext cx="1417320" cy="320040"/>
          </a:xfrm>
          <a:prstGeom prst="roundRect">
            <a:avLst>
              <a:gd name="adj" fmla="val 4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971800"/>
            <a:ext cx="1417320" cy="320040"/>
          </a:xfrm>
          <a:prstGeom prst="rect">
            <a:avLst/>
          </a:prstGeom>
          <a:noFill/>
        </p:spPr>
        <p:txBody>
          <a:bodyPr wrap="square" lIns="0" tIns="0" rIns="0" bIns="0" anchor="ctr">
            <a:spAutoFit/>
          </a:bodyPr>
          <a:lstStyle/>
          <a:p>
            <a:pPr algn="ctr">
              <a:lnSpc>
                <a:spcPct val="115000"/>
              </a:lnSpc>
            </a:pPr>
            <a:r>
              <a:rPr sz="900" b="1" spc="300">
                <a:solidFill>
                  <a:srgbClr val="46E0CB"/>
                </a:solidFill>
                <a:latin typeface="Calibri"/>
              </a:rPr>
              <a:t>PHASE 01</a:t>
            </a:r>
          </a:p>
        </p:txBody>
      </p:sp>
      <p:sp>
        <p:nvSpPr>
          <p:cNvPr id="16" name="TextBox 15"/>
          <p:cNvSpPr txBox="1"/>
          <p:nvPr/>
        </p:nvSpPr>
        <p:spPr>
          <a:xfrm>
            <a:off x="777240" y="3429000"/>
            <a:ext cx="3154680" cy="640080"/>
          </a:xfrm>
          <a:prstGeom prst="rect">
            <a:avLst/>
          </a:prstGeom>
          <a:noFill/>
        </p:spPr>
        <p:txBody>
          <a:bodyPr wrap="square" lIns="0" tIns="0" rIns="0" bIns="0" anchor="t">
            <a:spAutoFit/>
          </a:bodyPr>
          <a:lstStyle/>
          <a:p>
            <a:pPr algn="l">
              <a:lnSpc>
                <a:spcPct val="115000"/>
              </a:lnSpc>
            </a:pPr>
            <a:r>
              <a:rPr sz="1550" b="1">
                <a:solidFill>
                  <a:srgbClr val="F5F7FB"/>
                </a:solidFill>
                <a:latin typeface="Calibri"/>
              </a:rPr>
              <a:t>Core WhatsApp Operations</a:t>
            </a:r>
          </a:p>
        </p:txBody>
      </p:sp>
      <p:sp>
        <p:nvSpPr>
          <p:cNvPr id="17" name="TextBox 16"/>
          <p:cNvSpPr txBox="1"/>
          <p:nvPr/>
        </p:nvSpPr>
        <p:spPr>
          <a:xfrm>
            <a:off x="777240" y="4206240"/>
            <a:ext cx="3154680" cy="960120"/>
          </a:xfrm>
          <a:prstGeom prst="rect">
            <a:avLst/>
          </a:prstGeom>
          <a:noFill/>
        </p:spPr>
        <p:txBody>
          <a:bodyPr wrap="square" lIns="0" tIns="0" rIns="0" bIns="0" anchor="t">
            <a:spAutoFit/>
          </a:bodyPr>
          <a:lstStyle/>
          <a:p>
            <a:pPr algn="l">
              <a:lnSpc>
                <a:spcPct val="140000"/>
              </a:lnSpc>
            </a:pPr>
            <a:r>
              <a:rPr sz="1019" b="0">
                <a:solidFill>
                  <a:srgbClr val="8A95AE"/>
                </a:solidFill>
                <a:latin typeface="Calibri"/>
              </a:rPr>
              <a:t>Get the day-to-day backbone live: attendance, site check-ins, task assignment, basic reporting and supervisor flows.</a:t>
            </a:r>
          </a:p>
        </p:txBody>
      </p:sp>
      <p:sp>
        <p:nvSpPr>
          <p:cNvPr id="18" name="TextBox 17"/>
          <p:cNvSpPr txBox="1"/>
          <p:nvPr/>
        </p:nvSpPr>
        <p:spPr>
          <a:xfrm>
            <a:off x="868680" y="5212080"/>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19" name="TextBox 18"/>
          <p:cNvSpPr txBox="1"/>
          <p:nvPr/>
        </p:nvSpPr>
        <p:spPr>
          <a:xfrm>
            <a:off x="1051560" y="5212080"/>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Employee onboarding</a:t>
            </a:r>
          </a:p>
        </p:txBody>
      </p:sp>
      <p:sp>
        <p:nvSpPr>
          <p:cNvPr id="20" name="TextBox 19"/>
          <p:cNvSpPr txBox="1"/>
          <p:nvPr/>
        </p:nvSpPr>
        <p:spPr>
          <a:xfrm>
            <a:off x="868680" y="5376672"/>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21" name="TextBox 20"/>
          <p:cNvSpPr txBox="1"/>
          <p:nvPr/>
        </p:nvSpPr>
        <p:spPr>
          <a:xfrm>
            <a:off x="1051560" y="5376672"/>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Site &amp; team setup</a:t>
            </a:r>
          </a:p>
        </p:txBody>
      </p:sp>
      <p:sp>
        <p:nvSpPr>
          <p:cNvPr id="22" name="TextBox 21"/>
          <p:cNvSpPr txBox="1"/>
          <p:nvPr/>
        </p:nvSpPr>
        <p:spPr>
          <a:xfrm>
            <a:off x="868680" y="5541264"/>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23" name="TextBox 22"/>
          <p:cNvSpPr txBox="1"/>
          <p:nvPr/>
        </p:nvSpPr>
        <p:spPr>
          <a:xfrm>
            <a:off x="1051560" y="5541264"/>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Daily check-in flow</a:t>
            </a:r>
          </a:p>
        </p:txBody>
      </p:sp>
      <p:sp>
        <p:nvSpPr>
          <p:cNvPr id="24" name="TextBox 23"/>
          <p:cNvSpPr txBox="1"/>
          <p:nvPr/>
        </p:nvSpPr>
        <p:spPr>
          <a:xfrm>
            <a:off x="868680" y="5705856"/>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25" name="TextBox 24"/>
          <p:cNvSpPr txBox="1"/>
          <p:nvPr/>
        </p:nvSpPr>
        <p:spPr>
          <a:xfrm>
            <a:off x="1051560" y="5705856"/>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Basic task assignment</a:t>
            </a:r>
          </a:p>
        </p:txBody>
      </p:sp>
      <p:sp>
        <p:nvSpPr>
          <p:cNvPr id="26" name="TextBox 25"/>
          <p:cNvSpPr txBox="1"/>
          <p:nvPr/>
        </p:nvSpPr>
        <p:spPr>
          <a:xfrm>
            <a:off x="868680" y="5870448"/>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27" name="TextBox 26"/>
          <p:cNvSpPr txBox="1"/>
          <p:nvPr/>
        </p:nvSpPr>
        <p:spPr>
          <a:xfrm>
            <a:off x="1051560" y="5870448"/>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Report intake</a:t>
            </a:r>
          </a:p>
        </p:txBody>
      </p:sp>
      <p:sp>
        <p:nvSpPr>
          <p:cNvPr id="28" name="TextBox 27"/>
          <p:cNvSpPr txBox="1"/>
          <p:nvPr/>
        </p:nvSpPr>
        <p:spPr>
          <a:xfrm>
            <a:off x="868680" y="6035040"/>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29" name="TextBox 28"/>
          <p:cNvSpPr txBox="1"/>
          <p:nvPr/>
        </p:nvSpPr>
        <p:spPr>
          <a:xfrm>
            <a:off x="1051560" y="6035040"/>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Pilot with 2–3 sites</a:t>
            </a:r>
          </a:p>
        </p:txBody>
      </p:sp>
      <p:sp>
        <p:nvSpPr>
          <p:cNvPr id="30" name="Rounded Rectangle 29"/>
          <p:cNvSpPr/>
          <p:nvPr/>
        </p:nvSpPr>
        <p:spPr>
          <a:xfrm>
            <a:off x="4315968" y="2697480"/>
            <a:ext cx="3703320" cy="365760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4590288" y="2971800"/>
            <a:ext cx="1417320" cy="320040"/>
          </a:xfrm>
          <a:prstGeom prst="roundRect">
            <a:avLst>
              <a:gd name="adj" fmla="val 4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90288" y="2971800"/>
            <a:ext cx="1417320" cy="320040"/>
          </a:xfrm>
          <a:prstGeom prst="rect">
            <a:avLst/>
          </a:prstGeom>
          <a:noFill/>
        </p:spPr>
        <p:txBody>
          <a:bodyPr wrap="square" lIns="0" tIns="0" rIns="0" bIns="0" anchor="ctr">
            <a:spAutoFit/>
          </a:bodyPr>
          <a:lstStyle/>
          <a:p>
            <a:pPr algn="ctr">
              <a:lnSpc>
                <a:spcPct val="115000"/>
              </a:lnSpc>
            </a:pPr>
            <a:r>
              <a:rPr sz="900" b="1" spc="300">
                <a:solidFill>
                  <a:srgbClr val="46E0CB"/>
                </a:solidFill>
                <a:latin typeface="Calibri"/>
              </a:rPr>
              <a:t>PHASE 02</a:t>
            </a:r>
          </a:p>
        </p:txBody>
      </p:sp>
      <p:sp>
        <p:nvSpPr>
          <p:cNvPr id="33" name="TextBox 32"/>
          <p:cNvSpPr txBox="1"/>
          <p:nvPr/>
        </p:nvSpPr>
        <p:spPr>
          <a:xfrm>
            <a:off x="4590288" y="3429000"/>
            <a:ext cx="3154680" cy="640080"/>
          </a:xfrm>
          <a:prstGeom prst="rect">
            <a:avLst/>
          </a:prstGeom>
          <a:noFill/>
        </p:spPr>
        <p:txBody>
          <a:bodyPr wrap="square" lIns="0" tIns="0" rIns="0" bIns="0" anchor="t">
            <a:spAutoFit/>
          </a:bodyPr>
          <a:lstStyle/>
          <a:p>
            <a:pPr algn="l">
              <a:lnSpc>
                <a:spcPct val="115000"/>
              </a:lnSpc>
            </a:pPr>
            <a:r>
              <a:rPr sz="1550" b="1">
                <a:solidFill>
                  <a:srgbClr val="F5F7FB"/>
                </a:solidFill>
                <a:latin typeface="Calibri"/>
              </a:rPr>
              <a:t>Advanced Dashboard &amp; Reporting</a:t>
            </a:r>
          </a:p>
        </p:txBody>
      </p:sp>
      <p:sp>
        <p:nvSpPr>
          <p:cNvPr id="34" name="TextBox 33"/>
          <p:cNvSpPr txBox="1"/>
          <p:nvPr/>
        </p:nvSpPr>
        <p:spPr>
          <a:xfrm>
            <a:off x="4590288" y="4206240"/>
            <a:ext cx="3154680" cy="960120"/>
          </a:xfrm>
          <a:prstGeom prst="rect">
            <a:avLst/>
          </a:prstGeom>
          <a:noFill/>
        </p:spPr>
        <p:txBody>
          <a:bodyPr wrap="square" lIns="0" tIns="0" rIns="0" bIns="0" anchor="t">
            <a:spAutoFit/>
          </a:bodyPr>
          <a:lstStyle/>
          <a:p>
            <a:pPr algn="l">
              <a:lnSpc>
                <a:spcPct val="140000"/>
              </a:lnSpc>
            </a:pPr>
            <a:r>
              <a:rPr sz="1019" b="0">
                <a:solidFill>
                  <a:srgbClr val="8A95AE"/>
                </a:solidFill>
                <a:latin typeface="Calibri"/>
              </a:rPr>
              <a:t>Bring everything into one screen. The owner and managers get the full operations view — KPIs, live sites, alerts.</a:t>
            </a:r>
          </a:p>
        </p:txBody>
      </p:sp>
      <p:sp>
        <p:nvSpPr>
          <p:cNvPr id="35" name="TextBox 34"/>
          <p:cNvSpPr txBox="1"/>
          <p:nvPr/>
        </p:nvSpPr>
        <p:spPr>
          <a:xfrm>
            <a:off x="4681728" y="5212080"/>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36" name="TextBox 35"/>
          <p:cNvSpPr txBox="1"/>
          <p:nvPr/>
        </p:nvSpPr>
        <p:spPr>
          <a:xfrm>
            <a:off x="4864608" y="5212080"/>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Owner dashboard</a:t>
            </a:r>
          </a:p>
        </p:txBody>
      </p:sp>
      <p:sp>
        <p:nvSpPr>
          <p:cNvPr id="37" name="TextBox 36"/>
          <p:cNvSpPr txBox="1"/>
          <p:nvPr/>
        </p:nvSpPr>
        <p:spPr>
          <a:xfrm>
            <a:off x="4681728" y="5376672"/>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38" name="TextBox 37"/>
          <p:cNvSpPr txBox="1"/>
          <p:nvPr/>
        </p:nvSpPr>
        <p:spPr>
          <a:xfrm>
            <a:off x="4864608" y="5376672"/>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Live site status</a:t>
            </a:r>
          </a:p>
        </p:txBody>
      </p:sp>
      <p:sp>
        <p:nvSpPr>
          <p:cNvPr id="39" name="TextBox 38"/>
          <p:cNvSpPr txBox="1"/>
          <p:nvPr/>
        </p:nvSpPr>
        <p:spPr>
          <a:xfrm>
            <a:off x="4681728" y="5541264"/>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40" name="TextBox 39"/>
          <p:cNvSpPr txBox="1"/>
          <p:nvPr/>
        </p:nvSpPr>
        <p:spPr>
          <a:xfrm>
            <a:off x="4864608" y="5541264"/>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Delay &amp; miss alerts</a:t>
            </a:r>
          </a:p>
        </p:txBody>
      </p:sp>
      <p:sp>
        <p:nvSpPr>
          <p:cNvPr id="41" name="TextBox 40"/>
          <p:cNvSpPr txBox="1"/>
          <p:nvPr/>
        </p:nvSpPr>
        <p:spPr>
          <a:xfrm>
            <a:off x="4681728" y="5705856"/>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42" name="TextBox 41"/>
          <p:cNvSpPr txBox="1"/>
          <p:nvPr/>
        </p:nvSpPr>
        <p:spPr>
          <a:xfrm>
            <a:off x="4864608" y="5705856"/>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Report search &amp; archive</a:t>
            </a:r>
          </a:p>
        </p:txBody>
      </p:sp>
      <p:sp>
        <p:nvSpPr>
          <p:cNvPr id="43" name="TextBox 42"/>
          <p:cNvSpPr txBox="1"/>
          <p:nvPr/>
        </p:nvSpPr>
        <p:spPr>
          <a:xfrm>
            <a:off x="4681728" y="5870448"/>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44" name="TextBox 43"/>
          <p:cNvSpPr txBox="1"/>
          <p:nvPr/>
        </p:nvSpPr>
        <p:spPr>
          <a:xfrm>
            <a:off x="4864608" y="5870448"/>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Maintenance scheduling</a:t>
            </a:r>
          </a:p>
        </p:txBody>
      </p:sp>
      <p:sp>
        <p:nvSpPr>
          <p:cNvPr id="45" name="TextBox 44"/>
          <p:cNvSpPr txBox="1"/>
          <p:nvPr/>
        </p:nvSpPr>
        <p:spPr>
          <a:xfrm>
            <a:off x="4681728" y="6035040"/>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46" name="TextBox 45"/>
          <p:cNvSpPr txBox="1"/>
          <p:nvPr/>
        </p:nvSpPr>
        <p:spPr>
          <a:xfrm>
            <a:off x="4864608" y="6035040"/>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AMC tracking</a:t>
            </a:r>
          </a:p>
        </p:txBody>
      </p:sp>
      <p:sp>
        <p:nvSpPr>
          <p:cNvPr id="47" name="Rounded Rectangle 46"/>
          <p:cNvSpPr/>
          <p:nvPr/>
        </p:nvSpPr>
        <p:spPr>
          <a:xfrm>
            <a:off x="8129016" y="2697480"/>
            <a:ext cx="3703320" cy="3657600"/>
          </a:xfrm>
          <a:prstGeom prst="roundRect">
            <a:avLst>
              <a:gd name="adj" fmla="val 6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8403336" y="2971800"/>
            <a:ext cx="1417320" cy="320040"/>
          </a:xfrm>
          <a:prstGeom prst="roundRect">
            <a:avLst>
              <a:gd name="adj" fmla="val 4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403336" y="2971800"/>
            <a:ext cx="1417320" cy="320040"/>
          </a:xfrm>
          <a:prstGeom prst="rect">
            <a:avLst/>
          </a:prstGeom>
          <a:noFill/>
        </p:spPr>
        <p:txBody>
          <a:bodyPr wrap="square" lIns="0" tIns="0" rIns="0" bIns="0" anchor="ctr">
            <a:spAutoFit/>
          </a:bodyPr>
          <a:lstStyle/>
          <a:p>
            <a:pPr algn="ctr">
              <a:lnSpc>
                <a:spcPct val="115000"/>
              </a:lnSpc>
            </a:pPr>
            <a:r>
              <a:rPr sz="900" b="1" spc="300">
                <a:solidFill>
                  <a:srgbClr val="46E0CB"/>
                </a:solidFill>
                <a:latin typeface="Calibri"/>
              </a:rPr>
              <a:t>PHASE 03</a:t>
            </a:r>
          </a:p>
        </p:txBody>
      </p:sp>
      <p:sp>
        <p:nvSpPr>
          <p:cNvPr id="50" name="TextBox 49"/>
          <p:cNvSpPr txBox="1"/>
          <p:nvPr/>
        </p:nvSpPr>
        <p:spPr>
          <a:xfrm>
            <a:off x="8403336" y="3429000"/>
            <a:ext cx="3154680" cy="640080"/>
          </a:xfrm>
          <a:prstGeom prst="rect">
            <a:avLst/>
          </a:prstGeom>
          <a:noFill/>
        </p:spPr>
        <p:txBody>
          <a:bodyPr wrap="square" lIns="0" tIns="0" rIns="0" bIns="0" anchor="t">
            <a:spAutoFit/>
          </a:bodyPr>
          <a:lstStyle/>
          <a:p>
            <a:pPr algn="l">
              <a:lnSpc>
                <a:spcPct val="115000"/>
              </a:lnSpc>
            </a:pPr>
            <a:r>
              <a:rPr sz="1550" b="1">
                <a:solidFill>
                  <a:srgbClr val="F5F7FB"/>
                </a:solidFill>
                <a:latin typeface="Calibri"/>
              </a:rPr>
              <a:t>Advanced Automation &amp; Scaling</a:t>
            </a:r>
          </a:p>
        </p:txBody>
      </p:sp>
      <p:sp>
        <p:nvSpPr>
          <p:cNvPr id="51" name="TextBox 50"/>
          <p:cNvSpPr txBox="1"/>
          <p:nvPr/>
        </p:nvSpPr>
        <p:spPr>
          <a:xfrm>
            <a:off x="8403336" y="4206240"/>
            <a:ext cx="3154680" cy="960120"/>
          </a:xfrm>
          <a:prstGeom prst="rect">
            <a:avLst/>
          </a:prstGeom>
          <a:noFill/>
        </p:spPr>
        <p:txBody>
          <a:bodyPr wrap="square" lIns="0" tIns="0" rIns="0" bIns="0" anchor="t">
            <a:spAutoFit/>
          </a:bodyPr>
          <a:lstStyle/>
          <a:p>
            <a:pPr algn="l">
              <a:lnSpc>
                <a:spcPct val="140000"/>
              </a:lnSpc>
            </a:pPr>
            <a:r>
              <a:rPr sz="1019" b="0">
                <a:solidFill>
                  <a:srgbClr val="8A95AE"/>
                </a:solidFill>
                <a:latin typeface="Calibri"/>
              </a:rPr>
              <a:t>Layer in the polish: automated client updates, renewals, smarter routing, and the structure to add sites without adding chaos.</a:t>
            </a:r>
          </a:p>
        </p:txBody>
      </p:sp>
      <p:sp>
        <p:nvSpPr>
          <p:cNvPr id="52" name="TextBox 51"/>
          <p:cNvSpPr txBox="1"/>
          <p:nvPr/>
        </p:nvSpPr>
        <p:spPr>
          <a:xfrm>
            <a:off x="8494776" y="5212080"/>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53" name="TextBox 52"/>
          <p:cNvSpPr txBox="1"/>
          <p:nvPr/>
        </p:nvSpPr>
        <p:spPr>
          <a:xfrm>
            <a:off x="8677656" y="5212080"/>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Client update automation</a:t>
            </a:r>
          </a:p>
        </p:txBody>
      </p:sp>
      <p:sp>
        <p:nvSpPr>
          <p:cNvPr id="54" name="TextBox 53"/>
          <p:cNvSpPr txBox="1"/>
          <p:nvPr/>
        </p:nvSpPr>
        <p:spPr>
          <a:xfrm>
            <a:off x="8494776" y="5376672"/>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55" name="TextBox 54"/>
          <p:cNvSpPr txBox="1"/>
          <p:nvPr/>
        </p:nvSpPr>
        <p:spPr>
          <a:xfrm>
            <a:off x="8677656" y="5376672"/>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Renewal reminders</a:t>
            </a:r>
          </a:p>
        </p:txBody>
      </p:sp>
      <p:sp>
        <p:nvSpPr>
          <p:cNvPr id="56" name="TextBox 55"/>
          <p:cNvSpPr txBox="1"/>
          <p:nvPr/>
        </p:nvSpPr>
        <p:spPr>
          <a:xfrm>
            <a:off x="8494776" y="5541264"/>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57" name="TextBox 56"/>
          <p:cNvSpPr txBox="1"/>
          <p:nvPr/>
        </p:nvSpPr>
        <p:spPr>
          <a:xfrm>
            <a:off x="8677656" y="5541264"/>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Routing &amp; scheduling</a:t>
            </a:r>
          </a:p>
        </p:txBody>
      </p:sp>
      <p:sp>
        <p:nvSpPr>
          <p:cNvPr id="58" name="TextBox 57"/>
          <p:cNvSpPr txBox="1"/>
          <p:nvPr/>
        </p:nvSpPr>
        <p:spPr>
          <a:xfrm>
            <a:off x="8494776" y="5705856"/>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59" name="TextBox 58"/>
          <p:cNvSpPr txBox="1"/>
          <p:nvPr/>
        </p:nvSpPr>
        <p:spPr>
          <a:xfrm>
            <a:off x="8677656" y="5705856"/>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Multi-team rollout</a:t>
            </a:r>
          </a:p>
        </p:txBody>
      </p:sp>
      <p:sp>
        <p:nvSpPr>
          <p:cNvPr id="60" name="TextBox 59"/>
          <p:cNvSpPr txBox="1"/>
          <p:nvPr/>
        </p:nvSpPr>
        <p:spPr>
          <a:xfrm>
            <a:off x="8494776" y="5870448"/>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61" name="TextBox 60"/>
          <p:cNvSpPr txBox="1"/>
          <p:nvPr/>
        </p:nvSpPr>
        <p:spPr>
          <a:xfrm>
            <a:off x="8677656" y="5870448"/>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Advanced analytics</a:t>
            </a:r>
          </a:p>
        </p:txBody>
      </p:sp>
      <p:sp>
        <p:nvSpPr>
          <p:cNvPr id="62" name="TextBox 61"/>
          <p:cNvSpPr txBox="1"/>
          <p:nvPr/>
        </p:nvSpPr>
        <p:spPr>
          <a:xfrm>
            <a:off x="8494776" y="6035040"/>
            <a:ext cx="137160" cy="182880"/>
          </a:xfrm>
          <a:prstGeom prst="rect">
            <a:avLst/>
          </a:prstGeom>
          <a:noFill/>
        </p:spPr>
        <p:txBody>
          <a:bodyPr wrap="square" lIns="0" tIns="0" rIns="0" bIns="0" anchor="t">
            <a:spAutoFit/>
          </a:bodyPr>
          <a:lstStyle/>
          <a:p>
            <a:pPr algn="l">
              <a:lnSpc>
                <a:spcPct val="115000"/>
              </a:lnSpc>
            </a:pPr>
            <a:r>
              <a:rPr sz="1000" b="1">
                <a:solidFill>
                  <a:srgbClr val="D4B066"/>
                </a:solidFill>
                <a:latin typeface="Calibri"/>
              </a:rPr>
              <a:t>›</a:t>
            </a:r>
          </a:p>
        </p:txBody>
      </p:sp>
      <p:sp>
        <p:nvSpPr>
          <p:cNvPr id="63" name="TextBox 62"/>
          <p:cNvSpPr txBox="1"/>
          <p:nvPr/>
        </p:nvSpPr>
        <p:spPr>
          <a:xfrm>
            <a:off x="8677656" y="6035040"/>
            <a:ext cx="2880360" cy="182880"/>
          </a:xfrm>
          <a:prstGeom prst="rect">
            <a:avLst/>
          </a:prstGeom>
          <a:noFill/>
        </p:spPr>
        <p:txBody>
          <a:bodyPr wrap="square" lIns="0" tIns="0" rIns="0" bIns="0" anchor="t">
            <a:spAutoFit/>
          </a:bodyPr>
          <a:lstStyle/>
          <a:p>
            <a:pPr algn="l">
              <a:lnSpc>
                <a:spcPct val="115000"/>
              </a:lnSpc>
            </a:pPr>
            <a:r>
              <a:rPr sz="950" b="0">
                <a:solidFill>
                  <a:srgbClr val="C7CFDE"/>
                </a:solidFill>
                <a:latin typeface="Calibri"/>
              </a:rPr>
              <a:t>Ongoing support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292608" cy="2794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4320"/>
            <a:ext cx="4572000" cy="320040"/>
          </a:xfrm>
          <a:prstGeom prst="rect">
            <a:avLst/>
          </a:prstGeom>
          <a:noFill/>
        </p:spPr>
        <p:txBody>
          <a:bodyPr wrap="square" lIns="0" tIns="0" rIns="0" bIns="0" anchor="t">
            <a:spAutoFit/>
          </a:bodyPr>
          <a:lstStyle/>
          <a:p>
            <a:pPr algn="l">
              <a:lnSpc>
                <a:spcPct val="115000"/>
              </a:lnSpc>
            </a:pPr>
            <a:r>
              <a:rPr sz="900" b="1" spc="300">
                <a:solidFill>
                  <a:srgbClr val="8A95AE"/>
                </a:solidFill>
                <a:latin typeface="Calibri"/>
              </a:rPr>
              <a:t>GENOSAI  ×  AQUA TECHNIC</a:t>
            </a:r>
          </a:p>
        </p:txBody>
      </p:sp>
      <p:sp>
        <p:nvSpPr>
          <p:cNvPr id="5" name="TextBox 4"/>
          <p:cNvSpPr txBox="1"/>
          <p:nvPr/>
        </p:nvSpPr>
        <p:spPr>
          <a:xfrm>
            <a:off x="7315200" y="274320"/>
            <a:ext cx="4434840" cy="320040"/>
          </a:xfrm>
          <a:prstGeom prst="rect">
            <a:avLst/>
          </a:prstGeom>
          <a:noFill/>
        </p:spPr>
        <p:txBody>
          <a:bodyPr wrap="square" lIns="0" tIns="0" rIns="0" bIns="0" anchor="t">
            <a:spAutoFit/>
          </a:bodyPr>
          <a:lstStyle/>
          <a:p>
            <a:pPr algn="r">
              <a:lnSpc>
                <a:spcPct val="115000"/>
              </a:lnSpc>
            </a:pPr>
            <a:r>
              <a:rPr sz="900" b="1" spc="300">
                <a:solidFill>
                  <a:srgbClr val="8A95AE"/>
                </a:solidFill>
                <a:latin typeface="Calibri"/>
              </a:rPr>
              <a:t>07  ·  TIMELINE</a:t>
            </a:r>
          </a:p>
        </p:txBody>
      </p:sp>
      <p:cxnSp>
        <p:nvCxnSpPr>
          <p:cNvPr id="6" name="Connector 5"/>
          <p:cNvCxnSpPr/>
          <p:nvPr/>
        </p:nvCxnSpPr>
        <p:spPr>
          <a:xfrm>
            <a:off x="502920" y="6446520"/>
            <a:ext cx="11183112" cy="0"/>
          </a:xfrm>
          <a:prstGeom prst="line">
            <a:avLst/>
          </a:prstGeom>
          <a:ln w="6350">
            <a:solidFill>
              <a:srgbClr val="232E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10528"/>
            <a:ext cx="5486400" cy="274320"/>
          </a:xfrm>
          <a:prstGeom prst="rect">
            <a:avLst/>
          </a:prstGeom>
          <a:noFill/>
        </p:spPr>
        <p:txBody>
          <a:bodyPr wrap="square" lIns="0" tIns="0" rIns="0" bIns="0" anchor="t">
            <a:spAutoFit/>
          </a:bodyPr>
          <a:lstStyle/>
          <a:p>
            <a:pPr algn="l">
              <a:lnSpc>
                <a:spcPct val="115000"/>
              </a:lnSpc>
            </a:pPr>
            <a:r>
              <a:rPr sz="800" b="0">
                <a:solidFill>
                  <a:srgbClr val="8A95AE"/>
                </a:solidFill>
                <a:latin typeface="Calibri"/>
              </a:rPr>
              <a:t>Operational Automation &amp; Employee Management System</a:t>
            </a:r>
          </a:p>
        </p:txBody>
      </p:sp>
      <p:sp>
        <p:nvSpPr>
          <p:cNvPr id="8" name="TextBox 7"/>
          <p:cNvSpPr txBox="1"/>
          <p:nvPr/>
        </p:nvSpPr>
        <p:spPr>
          <a:xfrm>
            <a:off x="6400800" y="6510528"/>
            <a:ext cx="5285232" cy="274320"/>
          </a:xfrm>
          <a:prstGeom prst="rect">
            <a:avLst/>
          </a:prstGeom>
          <a:noFill/>
        </p:spPr>
        <p:txBody>
          <a:bodyPr wrap="square" lIns="0" tIns="0" rIns="0" bIns="0" anchor="t">
            <a:spAutoFit/>
          </a:bodyPr>
          <a:lstStyle/>
          <a:p>
            <a:pPr algn="r">
              <a:lnSpc>
                <a:spcPct val="115000"/>
              </a:lnSpc>
            </a:pPr>
            <a:r>
              <a:rPr sz="800" b="0" spc="200">
                <a:solidFill>
                  <a:srgbClr val="8A95AE"/>
                </a:solidFill>
                <a:latin typeface="Calibri"/>
              </a:rPr>
              <a:t>14 / 16</a:t>
            </a:r>
          </a:p>
        </p:txBody>
      </p:sp>
      <p:sp>
        <p:nvSpPr>
          <p:cNvPr id="9" name="Rectangle 8"/>
          <p:cNvSpPr/>
          <p:nvPr/>
        </p:nvSpPr>
        <p:spPr>
          <a:xfrm>
            <a:off x="502920" y="914400"/>
            <a:ext cx="228600" cy="25400"/>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804672"/>
            <a:ext cx="7315200" cy="27432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REALISTIC, NOT RUSHED</a:t>
            </a:r>
          </a:p>
        </p:txBody>
      </p:sp>
      <p:sp>
        <p:nvSpPr>
          <p:cNvPr id="11" name="TextBox 10"/>
          <p:cNvSpPr txBox="1"/>
          <p:nvPr/>
        </p:nvSpPr>
        <p:spPr>
          <a:xfrm>
            <a:off x="502920" y="1143000"/>
            <a:ext cx="11155680" cy="868680"/>
          </a:xfrm>
          <a:prstGeom prst="rect">
            <a:avLst/>
          </a:prstGeom>
          <a:noFill/>
        </p:spPr>
        <p:txBody>
          <a:bodyPr wrap="square" lIns="0" tIns="0" rIns="0" bIns="0" anchor="t">
            <a:spAutoFit/>
          </a:bodyPr>
          <a:lstStyle/>
          <a:p>
            <a:pPr algn="l">
              <a:lnSpc>
                <a:spcPct val="105000"/>
              </a:lnSpc>
            </a:pPr>
            <a:r>
              <a:rPr sz="3400" b="1">
                <a:solidFill>
                  <a:srgbClr val="F5F7FB"/>
                </a:solidFill>
                <a:latin typeface="Calibri"/>
              </a:rPr>
              <a:t>Estimated Timeline · 6 – 10 Weeks</a:t>
            </a:r>
          </a:p>
        </p:txBody>
      </p:sp>
      <p:sp>
        <p:nvSpPr>
          <p:cNvPr id="12" name="TextBox 11"/>
          <p:cNvSpPr txBox="1"/>
          <p:nvPr/>
        </p:nvSpPr>
        <p:spPr>
          <a:xfrm>
            <a:off x="502920" y="1993392"/>
            <a:ext cx="10515600" cy="548640"/>
          </a:xfrm>
          <a:prstGeom prst="rect">
            <a:avLst/>
          </a:prstGeom>
          <a:noFill/>
        </p:spPr>
        <p:txBody>
          <a:bodyPr wrap="square" lIns="0" tIns="0" rIns="0" bIns="0" anchor="t">
            <a:spAutoFit/>
          </a:bodyPr>
          <a:lstStyle/>
          <a:p>
            <a:pPr algn="l">
              <a:lnSpc>
                <a:spcPct val="135000"/>
              </a:lnSpc>
            </a:pPr>
            <a:r>
              <a:rPr sz="1300" b="0">
                <a:solidFill>
                  <a:srgbClr val="8A95AE"/>
                </a:solidFill>
                <a:latin typeface="Calibri"/>
              </a:rPr>
              <a:t>Final timeline depends on the scope chosen and the speed of internal feedback.</a:t>
            </a:r>
          </a:p>
        </p:txBody>
      </p:sp>
      <p:sp>
        <p:nvSpPr>
          <p:cNvPr id="13" name="Rounded Rectangle 12"/>
          <p:cNvSpPr/>
          <p:nvPr/>
        </p:nvSpPr>
        <p:spPr>
          <a:xfrm>
            <a:off x="731520" y="3456432"/>
            <a:ext cx="10698480" cy="164592"/>
          </a:xfrm>
          <a:prstGeom prst="roundRect">
            <a:avLst>
              <a:gd name="adj" fmla="val 40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1520" y="3456432"/>
            <a:ext cx="3209544" cy="164592"/>
          </a:xfrm>
          <a:prstGeom prst="roundRect">
            <a:avLst>
              <a:gd name="adj" fmla="val 40000"/>
            </a:avLst>
          </a:prstGeom>
          <a:solidFill>
            <a:srgbClr val="46E0CB"/>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58368" y="3419856"/>
            <a:ext cx="237744" cy="237744"/>
          </a:xfrm>
          <a:prstGeom prst="ellipse">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2834640"/>
            <a:ext cx="3209544" cy="320040"/>
          </a:xfrm>
          <a:prstGeom prst="rect">
            <a:avLst/>
          </a:prstGeom>
          <a:noFill/>
        </p:spPr>
        <p:txBody>
          <a:bodyPr wrap="square" lIns="0" tIns="0" rIns="0" bIns="0" anchor="t">
            <a:spAutoFit/>
          </a:bodyPr>
          <a:lstStyle/>
          <a:p>
            <a:pPr algn="l">
              <a:lnSpc>
                <a:spcPct val="115000"/>
              </a:lnSpc>
            </a:pPr>
            <a:r>
              <a:rPr sz="1100" b="1">
                <a:solidFill>
                  <a:srgbClr val="F5F7FB"/>
                </a:solidFill>
                <a:latin typeface="Calibri"/>
              </a:rPr>
              <a:t>Phase 1 · Wk 1–3</a:t>
            </a:r>
          </a:p>
        </p:txBody>
      </p:sp>
      <p:sp>
        <p:nvSpPr>
          <p:cNvPr id="17" name="Rounded Rectangle 16"/>
          <p:cNvSpPr/>
          <p:nvPr/>
        </p:nvSpPr>
        <p:spPr>
          <a:xfrm>
            <a:off x="3941064" y="3456432"/>
            <a:ext cx="4279392" cy="164592"/>
          </a:xfrm>
          <a:prstGeom prst="roundRect">
            <a:avLst>
              <a:gd name="adj" fmla="val 40000"/>
            </a:avLst>
          </a:prstGeom>
          <a:solidFill>
            <a:srgbClr val="D4B066"/>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3867912" y="3419856"/>
            <a:ext cx="237744" cy="237744"/>
          </a:xfrm>
          <a:prstGeom prst="ellipse">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41064" y="2834640"/>
            <a:ext cx="4279392" cy="320040"/>
          </a:xfrm>
          <a:prstGeom prst="rect">
            <a:avLst/>
          </a:prstGeom>
          <a:noFill/>
        </p:spPr>
        <p:txBody>
          <a:bodyPr wrap="square" lIns="0" tIns="0" rIns="0" bIns="0" anchor="t">
            <a:spAutoFit/>
          </a:bodyPr>
          <a:lstStyle/>
          <a:p>
            <a:pPr algn="l">
              <a:lnSpc>
                <a:spcPct val="115000"/>
              </a:lnSpc>
            </a:pPr>
            <a:r>
              <a:rPr sz="1100" b="1">
                <a:solidFill>
                  <a:srgbClr val="F5F7FB"/>
                </a:solidFill>
                <a:latin typeface="Calibri"/>
              </a:rPr>
              <a:t>Phase 2 · Wk 4–7</a:t>
            </a:r>
          </a:p>
        </p:txBody>
      </p:sp>
      <p:sp>
        <p:nvSpPr>
          <p:cNvPr id="20" name="Rounded Rectangle 19"/>
          <p:cNvSpPr/>
          <p:nvPr/>
        </p:nvSpPr>
        <p:spPr>
          <a:xfrm>
            <a:off x="8220456" y="3456432"/>
            <a:ext cx="3209544" cy="164592"/>
          </a:xfrm>
          <a:prstGeom prst="roundRect">
            <a:avLst>
              <a:gd name="adj" fmla="val 40000"/>
            </a:avLst>
          </a:prstGeom>
          <a:solidFill>
            <a:srgbClr val="4AD991"/>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147304" y="3419856"/>
            <a:ext cx="237744" cy="237744"/>
          </a:xfrm>
          <a:prstGeom prst="ellipse">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0456" y="2834640"/>
            <a:ext cx="3209544" cy="320040"/>
          </a:xfrm>
          <a:prstGeom prst="rect">
            <a:avLst/>
          </a:prstGeom>
          <a:noFill/>
        </p:spPr>
        <p:txBody>
          <a:bodyPr wrap="square" lIns="0" tIns="0" rIns="0" bIns="0" anchor="t">
            <a:spAutoFit/>
          </a:bodyPr>
          <a:lstStyle/>
          <a:p>
            <a:pPr algn="l">
              <a:lnSpc>
                <a:spcPct val="115000"/>
              </a:lnSpc>
            </a:pPr>
            <a:r>
              <a:rPr sz="1100" b="1">
                <a:solidFill>
                  <a:srgbClr val="F5F7FB"/>
                </a:solidFill>
                <a:latin typeface="Calibri"/>
              </a:rPr>
              <a:t>Phase 3 · Wk 8–10</a:t>
            </a:r>
          </a:p>
        </p:txBody>
      </p:sp>
      <p:sp>
        <p:nvSpPr>
          <p:cNvPr id="23" name="Oval 22"/>
          <p:cNvSpPr/>
          <p:nvPr/>
        </p:nvSpPr>
        <p:spPr>
          <a:xfrm>
            <a:off x="11311128" y="3419856"/>
            <a:ext cx="237744" cy="237744"/>
          </a:xfrm>
          <a:prstGeom prst="ellipse">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4360" y="3794760"/>
            <a:ext cx="274320" cy="274320"/>
          </a:xfrm>
          <a:prstGeom prst="rect">
            <a:avLst/>
          </a:prstGeom>
          <a:noFill/>
        </p:spPr>
        <p:txBody>
          <a:bodyPr wrap="square" lIns="0" tIns="0" rIns="0" bIns="0" anchor="t">
            <a:spAutoFit/>
          </a:bodyPr>
          <a:lstStyle/>
          <a:p>
            <a:pPr algn="ctr">
              <a:lnSpc>
                <a:spcPct val="115000"/>
              </a:lnSpc>
            </a:pPr>
            <a:r>
              <a:rPr sz="800" b="0">
                <a:solidFill>
                  <a:srgbClr val="8A95AE"/>
                </a:solidFill>
                <a:latin typeface="Calibri"/>
              </a:rPr>
              <a:t>Start</a:t>
            </a:r>
          </a:p>
        </p:txBody>
      </p:sp>
      <p:sp>
        <p:nvSpPr>
          <p:cNvPr id="25" name="TextBox 24"/>
          <p:cNvSpPr txBox="1"/>
          <p:nvPr/>
        </p:nvSpPr>
        <p:spPr>
          <a:xfrm>
            <a:off x="1664208" y="3794760"/>
            <a:ext cx="274320" cy="274320"/>
          </a:xfrm>
          <a:prstGeom prst="rect">
            <a:avLst/>
          </a:prstGeom>
          <a:noFill/>
        </p:spPr>
        <p:txBody>
          <a:bodyPr wrap="square" lIns="0" tIns="0" rIns="0" bIns="0" anchor="t">
            <a:spAutoFit/>
          </a:bodyPr>
          <a:lstStyle/>
          <a:p>
            <a:pPr algn="ctr">
              <a:lnSpc>
                <a:spcPct val="115000"/>
              </a:lnSpc>
            </a:pPr>
            <a:r>
              <a:rPr sz="800" b="0">
                <a:solidFill>
                  <a:srgbClr val="8A95AE"/>
                </a:solidFill>
                <a:latin typeface="Calibri"/>
              </a:rPr>
              <a:t>W1</a:t>
            </a:r>
          </a:p>
        </p:txBody>
      </p:sp>
      <p:sp>
        <p:nvSpPr>
          <p:cNvPr id="26" name="TextBox 25"/>
          <p:cNvSpPr txBox="1"/>
          <p:nvPr/>
        </p:nvSpPr>
        <p:spPr>
          <a:xfrm>
            <a:off x="2734056" y="3794760"/>
            <a:ext cx="274320" cy="274320"/>
          </a:xfrm>
          <a:prstGeom prst="rect">
            <a:avLst/>
          </a:prstGeom>
          <a:noFill/>
        </p:spPr>
        <p:txBody>
          <a:bodyPr wrap="square" lIns="0" tIns="0" rIns="0" bIns="0" anchor="t">
            <a:spAutoFit/>
          </a:bodyPr>
          <a:lstStyle/>
          <a:p>
            <a:pPr algn="ctr">
              <a:lnSpc>
                <a:spcPct val="115000"/>
              </a:lnSpc>
            </a:pPr>
            <a:r>
              <a:rPr sz="800" b="0">
                <a:solidFill>
                  <a:srgbClr val="8A95AE"/>
                </a:solidFill>
                <a:latin typeface="Calibri"/>
              </a:rPr>
              <a:t>W2</a:t>
            </a:r>
          </a:p>
        </p:txBody>
      </p:sp>
      <p:sp>
        <p:nvSpPr>
          <p:cNvPr id="27" name="TextBox 26"/>
          <p:cNvSpPr txBox="1"/>
          <p:nvPr/>
        </p:nvSpPr>
        <p:spPr>
          <a:xfrm>
            <a:off x="3803904" y="3794760"/>
            <a:ext cx="274320" cy="274320"/>
          </a:xfrm>
          <a:prstGeom prst="rect">
            <a:avLst/>
          </a:prstGeom>
          <a:noFill/>
        </p:spPr>
        <p:txBody>
          <a:bodyPr wrap="square" lIns="0" tIns="0" rIns="0" bIns="0" anchor="t">
            <a:spAutoFit/>
          </a:bodyPr>
          <a:lstStyle/>
          <a:p>
            <a:pPr algn="ctr">
              <a:lnSpc>
                <a:spcPct val="115000"/>
              </a:lnSpc>
            </a:pPr>
            <a:r>
              <a:rPr sz="800" b="0">
                <a:solidFill>
                  <a:srgbClr val="8A95AE"/>
                </a:solidFill>
                <a:latin typeface="Calibri"/>
              </a:rPr>
              <a:t>W3</a:t>
            </a:r>
          </a:p>
        </p:txBody>
      </p:sp>
      <p:sp>
        <p:nvSpPr>
          <p:cNvPr id="28" name="TextBox 27"/>
          <p:cNvSpPr txBox="1"/>
          <p:nvPr/>
        </p:nvSpPr>
        <p:spPr>
          <a:xfrm>
            <a:off x="4873752" y="3794760"/>
            <a:ext cx="274320" cy="274320"/>
          </a:xfrm>
          <a:prstGeom prst="rect">
            <a:avLst/>
          </a:prstGeom>
          <a:noFill/>
        </p:spPr>
        <p:txBody>
          <a:bodyPr wrap="square" lIns="0" tIns="0" rIns="0" bIns="0" anchor="t">
            <a:spAutoFit/>
          </a:bodyPr>
          <a:lstStyle/>
          <a:p>
            <a:pPr algn="ctr">
              <a:lnSpc>
                <a:spcPct val="115000"/>
              </a:lnSpc>
            </a:pPr>
            <a:r>
              <a:rPr sz="800" b="0">
                <a:solidFill>
                  <a:srgbClr val="8A95AE"/>
                </a:solidFill>
                <a:latin typeface="Calibri"/>
              </a:rPr>
              <a:t>W4</a:t>
            </a:r>
          </a:p>
        </p:txBody>
      </p:sp>
      <p:sp>
        <p:nvSpPr>
          <p:cNvPr id="29" name="TextBox 28"/>
          <p:cNvSpPr txBox="1"/>
          <p:nvPr/>
        </p:nvSpPr>
        <p:spPr>
          <a:xfrm>
            <a:off x="5943600" y="3794760"/>
            <a:ext cx="274320" cy="274320"/>
          </a:xfrm>
          <a:prstGeom prst="rect">
            <a:avLst/>
          </a:prstGeom>
          <a:noFill/>
        </p:spPr>
        <p:txBody>
          <a:bodyPr wrap="square" lIns="0" tIns="0" rIns="0" bIns="0" anchor="t">
            <a:spAutoFit/>
          </a:bodyPr>
          <a:lstStyle/>
          <a:p>
            <a:pPr algn="ctr">
              <a:lnSpc>
                <a:spcPct val="115000"/>
              </a:lnSpc>
            </a:pPr>
            <a:r>
              <a:rPr sz="800" b="0">
                <a:solidFill>
                  <a:srgbClr val="8A95AE"/>
                </a:solidFill>
                <a:latin typeface="Calibri"/>
              </a:rPr>
              <a:t>W5</a:t>
            </a:r>
          </a:p>
        </p:txBody>
      </p:sp>
      <p:sp>
        <p:nvSpPr>
          <p:cNvPr id="30" name="TextBox 29"/>
          <p:cNvSpPr txBox="1"/>
          <p:nvPr/>
        </p:nvSpPr>
        <p:spPr>
          <a:xfrm>
            <a:off x="7013448" y="3794760"/>
            <a:ext cx="274320" cy="274320"/>
          </a:xfrm>
          <a:prstGeom prst="rect">
            <a:avLst/>
          </a:prstGeom>
          <a:noFill/>
        </p:spPr>
        <p:txBody>
          <a:bodyPr wrap="square" lIns="0" tIns="0" rIns="0" bIns="0" anchor="t">
            <a:spAutoFit/>
          </a:bodyPr>
          <a:lstStyle/>
          <a:p>
            <a:pPr algn="ctr">
              <a:lnSpc>
                <a:spcPct val="115000"/>
              </a:lnSpc>
            </a:pPr>
            <a:r>
              <a:rPr sz="800" b="0">
                <a:solidFill>
                  <a:srgbClr val="8A95AE"/>
                </a:solidFill>
                <a:latin typeface="Calibri"/>
              </a:rPr>
              <a:t>W6</a:t>
            </a:r>
          </a:p>
        </p:txBody>
      </p:sp>
      <p:sp>
        <p:nvSpPr>
          <p:cNvPr id="31" name="TextBox 30"/>
          <p:cNvSpPr txBox="1"/>
          <p:nvPr/>
        </p:nvSpPr>
        <p:spPr>
          <a:xfrm>
            <a:off x="8083295" y="3794760"/>
            <a:ext cx="274320" cy="274320"/>
          </a:xfrm>
          <a:prstGeom prst="rect">
            <a:avLst/>
          </a:prstGeom>
          <a:noFill/>
        </p:spPr>
        <p:txBody>
          <a:bodyPr wrap="square" lIns="0" tIns="0" rIns="0" bIns="0" anchor="t">
            <a:spAutoFit/>
          </a:bodyPr>
          <a:lstStyle/>
          <a:p>
            <a:pPr algn="ctr">
              <a:lnSpc>
                <a:spcPct val="115000"/>
              </a:lnSpc>
            </a:pPr>
            <a:r>
              <a:rPr sz="800" b="0">
                <a:solidFill>
                  <a:srgbClr val="8A95AE"/>
                </a:solidFill>
                <a:latin typeface="Calibri"/>
              </a:rPr>
              <a:t>W7</a:t>
            </a:r>
          </a:p>
        </p:txBody>
      </p:sp>
      <p:sp>
        <p:nvSpPr>
          <p:cNvPr id="32" name="TextBox 31"/>
          <p:cNvSpPr txBox="1"/>
          <p:nvPr/>
        </p:nvSpPr>
        <p:spPr>
          <a:xfrm>
            <a:off x="9153144" y="3794760"/>
            <a:ext cx="274320" cy="274320"/>
          </a:xfrm>
          <a:prstGeom prst="rect">
            <a:avLst/>
          </a:prstGeom>
          <a:noFill/>
        </p:spPr>
        <p:txBody>
          <a:bodyPr wrap="square" lIns="0" tIns="0" rIns="0" bIns="0" anchor="t">
            <a:spAutoFit/>
          </a:bodyPr>
          <a:lstStyle/>
          <a:p>
            <a:pPr algn="ctr">
              <a:lnSpc>
                <a:spcPct val="115000"/>
              </a:lnSpc>
            </a:pPr>
            <a:r>
              <a:rPr sz="800" b="0">
                <a:solidFill>
                  <a:srgbClr val="8A95AE"/>
                </a:solidFill>
                <a:latin typeface="Calibri"/>
              </a:rPr>
              <a:t>W8</a:t>
            </a:r>
          </a:p>
        </p:txBody>
      </p:sp>
      <p:sp>
        <p:nvSpPr>
          <p:cNvPr id="33" name="TextBox 32"/>
          <p:cNvSpPr txBox="1"/>
          <p:nvPr/>
        </p:nvSpPr>
        <p:spPr>
          <a:xfrm>
            <a:off x="10222992" y="3794760"/>
            <a:ext cx="274320" cy="274320"/>
          </a:xfrm>
          <a:prstGeom prst="rect">
            <a:avLst/>
          </a:prstGeom>
          <a:noFill/>
        </p:spPr>
        <p:txBody>
          <a:bodyPr wrap="square" lIns="0" tIns="0" rIns="0" bIns="0" anchor="t">
            <a:spAutoFit/>
          </a:bodyPr>
          <a:lstStyle/>
          <a:p>
            <a:pPr algn="ctr">
              <a:lnSpc>
                <a:spcPct val="115000"/>
              </a:lnSpc>
            </a:pPr>
            <a:r>
              <a:rPr sz="800" b="0">
                <a:solidFill>
                  <a:srgbClr val="8A95AE"/>
                </a:solidFill>
                <a:latin typeface="Calibri"/>
              </a:rPr>
              <a:t>W9</a:t>
            </a:r>
          </a:p>
        </p:txBody>
      </p:sp>
      <p:sp>
        <p:nvSpPr>
          <p:cNvPr id="34" name="TextBox 33"/>
          <p:cNvSpPr txBox="1"/>
          <p:nvPr/>
        </p:nvSpPr>
        <p:spPr>
          <a:xfrm>
            <a:off x="11292840" y="3794760"/>
            <a:ext cx="274320" cy="274320"/>
          </a:xfrm>
          <a:prstGeom prst="rect">
            <a:avLst/>
          </a:prstGeom>
          <a:noFill/>
        </p:spPr>
        <p:txBody>
          <a:bodyPr wrap="square" lIns="0" tIns="0" rIns="0" bIns="0" anchor="t">
            <a:spAutoFit/>
          </a:bodyPr>
          <a:lstStyle/>
          <a:p>
            <a:pPr algn="ctr">
              <a:lnSpc>
                <a:spcPct val="115000"/>
              </a:lnSpc>
            </a:pPr>
            <a:r>
              <a:rPr sz="800" b="0">
                <a:solidFill>
                  <a:srgbClr val="8A95AE"/>
                </a:solidFill>
                <a:latin typeface="Calibri"/>
              </a:rPr>
              <a:t>W10</a:t>
            </a:r>
          </a:p>
        </p:txBody>
      </p:sp>
      <p:sp>
        <p:nvSpPr>
          <p:cNvPr id="35" name="Rounded Rectangle 34"/>
          <p:cNvSpPr/>
          <p:nvPr/>
        </p:nvSpPr>
        <p:spPr>
          <a:xfrm>
            <a:off x="499719" y="4572000"/>
            <a:ext cx="3657600" cy="1645920"/>
          </a:xfrm>
          <a:prstGeom prst="roundRect">
            <a:avLst>
              <a:gd name="adj" fmla="val 5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99719" y="4800600"/>
            <a:ext cx="27940" cy="114300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74039" y="4800600"/>
            <a:ext cx="3200400" cy="411480"/>
          </a:xfrm>
          <a:prstGeom prst="rect">
            <a:avLst/>
          </a:prstGeom>
          <a:noFill/>
        </p:spPr>
        <p:txBody>
          <a:bodyPr wrap="square" lIns="0" tIns="0" rIns="0" bIns="0" anchor="t">
            <a:spAutoFit/>
          </a:bodyPr>
          <a:lstStyle/>
          <a:p>
            <a:pPr algn="l">
              <a:lnSpc>
                <a:spcPct val="115000"/>
              </a:lnSpc>
            </a:pPr>
            <a:r>
              <a:rPr sz="1300" b="1">
                <a:solidFill>
                  <a:srgbClr val="F5F7FB"/>
                </a:solidFill>
                <a:latin typeface="Calibri"/>
              </a:rPr>
              <a:t>Phase 1 · 2–3 weeks</a:t>
            </a:r>
          </a:p>
        </p:txBody>
      </p:sp>
      <p:sp>
        <p:nvSpPr>
          <p:cNvPr id="38" name="TextBox 37"/>
          <p:cNvSpPr txBox="1"/>
          <p:nvPr/>
        </p:nvSpPr>
        <p:spPr>
          <a:xfrm>
            <a:off x="774039" y="5257800"/>
            <a:ext cx="3200400" cy="914400"/>
          </a:xfrm>
          <a:prstGeom prst="rect">
            <a:avLst/>
          </a:prstGeom>
          <a:noFill/>
        </p:spPr>
        <p:txBody>
          <a:bodyPr wrap="square" lIns="0" tIns="0" rIns="0" bIns="0" anchor="t">
            <a:spAutoFit/>
          </a:bodyPr>
          <a:lstStyle/>
          <a:p>
            <a:pPr algn="l">
              <a:lnSpc>
                <a:spcPct val="140000"/>
              </a:lnSpc>
            </a:pPr>
            <a:r>
              <a:rPr sz="1050" b="0">
                <a:solidFill>
                  <a:srgbClr val="8A95AE"/>
                </a:solidFill>
                <a:latin typeface="Calibri"/>
              </a:rPr>
              <a:t>Core WhatsApp operations live with pilot teams. Owner sees first wins quickly.</a:t>
            </a:r>
          </a:p>
        </p:txBody>
      </p:sp>
      <p:sp>
        <p:nvSpPr>
          <p:cNvPr id="39" name="Rounded Rectangle 38"/>
          <p:cNvSpPr/>
          <p:nvPr/>
        </p:nvSpPr>
        <p:spPr>
          <a:xfrm>
            <a:off x="4267047" y="4572000"/>
            <a:ext cx="3657600" cy="1645920"/>
          </a:xfrm>
          <a:prstGeom prst="roundRect">
            <a:avLst>
              <a:gd name="adj" fmla="val 5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267047" y="4800600"/>
            <a:ext cx="27940" cy="1143000"/>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541367" y="4800600"/>
            <a:ext cx="3200400" cy="411480"/>
          </a:xfrm>
          <a:prstGeom prst="rect">
            <a:avLst/>
          </a:prstGeom>
          <a:noFill/>
        </p:spPr>
        <p:txBody>
          <a:bodyPr wrap="square" lIns="0" tIns="0" rIns="0" bIns="0" anchor="t">
            <a:spAutoFit/>
          </a:bodyPr>
          <a:lstStyle/>
          <a:p>
            <a:pPr algn="l">
              <a:lnSpc>
                <a:spcPct val="115000"/>
              </a:lnSpc>
            </a:pPr>
            <a:r>
              <a:rPr sz="1300" b="1">
                <a:solidFill>
                  <a:srgbClr val="F5F7FB"/>
                </a:solidFill>
                <a:latin typeface="Calibri"/>
              </a:rPr>
              <a:t>Phase 2 · 3–4 weeks</a:t>
            </a:r>
          </a:p>
        </p:txBody>
      </p:sp>
      <p:sp>
        <p:nvSpPr>
          <p:cNvPr id="42" name="TextBox 41"/>
          <p:cNvSpPr txBox="1"/>
          <p:nvPr/>
        </p:nvSpPr>
        <p:spPr>
          <a:xfrm>
            <a:off x="4541367" y="5257800"/>
            <a:ext cx="3200400" cy="914400"/>
          </a:xfrm>
          <a:prstGeom prst="rect">
            <a:avLst/>
          </a:prstGeom>
          <a:noFill/>
        </p:spPr>
        <p:txBody>
          <a:bodyPr wrap="square" lIns="0" tIns="0" rIns="0" bIns="0" anchor="t">
            <a:spAutoFit/>
          </a:bodyPr>
          <a:lstStyle/>
          <a:p>
            <a:pPr algn="l">
              <a:lnSpc>
                <a:spcPct val="140000"/>
              </a:lnSpc>
            </a:pPr>
            <a:r>
              <a:rPr sz="1050" b="0">
                <a:solidFill>
                  <a:srgbClr val="8A95AE"/>
                </a:solidFill>
                <a:latin typeface="Calibri"/>
              </a:rPr>
              <a:t>Dashboard, alerts and reporting modules go live across all active sites.</a:t>
            </a:r>
          </a:p>
        </p:txBody>
      </p:sp>
      <p:sp>
        <p:nvSpPr>
          <p:cNvPr id="43" name="Rounded Rectangle 42"/>
          <p:cNvSpPr/>
          <p:nvPr/>
        </p:nvSpPr>
        <p:spPr>
          <a:xfrm>
            <a:off x="8034375" y="4572000"/>
            <a:ext cx="3657600" cy="1645920"/>
          </a:xfrm>
          <a:prstGeom prst="roundRect">
            <a:avLst>
              <a:gd name="adj" fmla="val 5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034375" y="4800600"/>
            <a:ext cx="27940" cy="1143000"/>
          </a:xfrm>
          <a:prstGeom prst="rect">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308695" y="4800600"/>
            <a:ext cx="3200400" cy="411480"/>
          </a:xfrm>
          <a:prstGeom prst="rect">
            <a:avLst/>
          </a:prstGeom>
          <a:noFill/>
        </p:spPr>
        <p:txBody>
          <a:bodyPr wrap="square" lIns="0" tIns="0" rIns="0" bIns="0" anchor="t">
            <a:spAutoFit/>
          </a:bodyPr>
          <a:lstStyle/>
          <a:p>
            <a:pPr algn="l">
              <a:lnSpc>
                <a:spcPct val="115000"/>
              </a:lnSpc>
            </a:pPr>
            <a:r>
              <a:rPr sz="1300" b="1">
                <a:solidFill>
                  <a:srgbClr val="F5F7FB"/>
                </a:solidFill>
                <a:latin typeface="Calibri"/>
              </a:rPr>
              <a:t>Phase 3 · 2–3 weeks</a:t>
            </a:r>
          </a:p>
        </p:txBody>
      </p:sp>
      <p:sp>
        <p:nvSpPr>
          <p:cNvPr id="46" name="TextBox 45"/>
          <p:cNvSpPr txBox="1"/>
          <p:nvPr/>
        </p:nvSpPr>
        <p:spPr>
          <a:xfrm>
            <a:off x="8308695" y="5257800"/>
            <a:ext cx="3200400" cy="914400"/>
          </a:xfrm>
          <a:prstGeom prst="rect">
            <a:avLst/>
          </a:prstGeom>
          <a:noFill/>
        </p:spPr>
        <p:txBody>
          <a:bodyPr wrap="square" lIns="0" tIns="0" rIns="0" bIns="0" anchor="t">
            <a:spAutoFit/>
          </a:bodyPr>
          <a:lstStyle/>
          <a:p>
            <a:pPr algn="l">
              <a:lnSpc>
                <a:spcPct val="140000"/>
              </a:lnSpc>
            </a:pPr>
            <a:r>
              <a:rPr sz="1050" b="0">
                <a:solidFill>
                  <a:srgbClr val="8A95AE"/>
                </a:solidFill>
                <a:latin typeface="Calibri"/>
              </a:rPr>
              <a:t>Client automation, AMC layer and scaling polish. Handover &amp; training.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292608" cy="2794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4320"/>
            <a:ext cx="4572000" cy="320040"/>
          </a:xfrm>
          <a:prstGeom prst="rect">
            <a:avLst/>
          </a:prstGeom>
          <a:noFill/>
        </p:spPr>
        <p:txBody>
          <a:bodyPr wrap="square" lIns="0" tIns="0" rIns="0" bIns="0" anchor="t">
            <a:spAutoFit/>
          </a:bodyPr>
          <a:lstStyle/>
          <a:p>
            <a:pPr algn="l">
              <a:lnSpc>
                <a:spcPct val="115000"/>
              </a:lnSpc>
            </a:pPr>
            <a:r>
              <a:rPr sz="900" b="1" spc="300">
                <a:solidFill>
                  <a:srgbClr val="8A95AE"/>
                </a:solidFill>
                <a:latin typeface="Calibri"/>
              </a:rPr>
              <a:t>GENOSAI  ×  AQUA TECHNIC</a:t>
            </a:r>
          </a:p>
        </p:txBody>
      </p:sp>
      <p:sp>
        <p:nvSpPr>
          <p:cNvPr id="5" name="TextBox 4"/>
          <p:cNvSpPr txBox="1"/>
          <p:nvPr/>
        </p:nvSpPr>
        <p:spPr>
          <a:xfrm>
            <a:off x="7315200" y="274320"/>
            <a:ext cx="4434840" cy="320040"/>
          </a:xfrm>
          <a:prstGeom prst="rect">
            <a:avLst/>
          </a:prstGeom>
          <a:noFill/>
        </p:spPr>
        <p:txBody>
          <a:bodyPr wrap="square" lIns="0" tIns="0" rIns="0" bIns="0" anchor="t">
            <a:spAutoFit/>
          </a:bodyPr>
          <a:lstStyle/>
          <a:p>
            <a:pPr algn="r">
              <a:lnSpc>
                <a:spcPct val="115000"/>
              </a:lnSpc>
            </a:pPr>
            <a:r>
              <a:rPr sz="900" b="1" spc="300">
                <a:solidFill>
                  <a:srgbClr val="8A95AE"/>
                </a:solidFill>
                <a:latin typeface="Calibri"/>
              </a:rPr>
              <a:t>08  ·  ABOUT US</a:t>
            </a:r>
          </a:p>
        </p:txBody>
      </p:sp>
      <p:cxnSp>
        <p:nvCxnSpPr>
          <p:cNvPr id="6" name="Connector 5"/>
          <p:cNvCxnSpPr/>
          <p:nvPr/>
        </p:nvCxnSpPr>
        <p:spPr>
          <a:xfrm>
            <a:off x="502920" y="6446520"/>
            <a:ext cx="11183112" cy="0"/>
          </a:xfrm>
          <a:prstGeom prst="line">
            <a:avLst/>
          </a:prstGeom>
          <a:ln w="6350">
            <a:solidFill>
              <a:srgbClr val="232E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10528"/>
            <a:ext cx="5486400" cy="274320"/>
          </a:xfrm>
          <a:prstGeom prst="rect">
            <a:avLst/>
          </a:prstGeom>
          <a:noFill/>
        </p:spPr>
        <p:txBody>
          <a:bodyPr wrap="square" lIns="0" tIns="0" rIns="0" bIns="0" anchor="t">
            <a:spAutoFit/>
          </a:bodyPr>
          <a:lstStyle/>
          <a:p>
            <a:pPr algn="l">
              <a:lnSpc>
                <a:spcPct val="115000"/>
              </a:lnSpc>
            </a:pPr>
            <a:r>
              <a:rPr sz="800" b="0">
                <a:solidFill>
                  <a:srgbClr val="8A95AE"/>
                </a:solidFill>
                <a:latin typeface="Calibri"/>
              </a:rPr>
              <a:t>Operational Automation &amp; Employee Management System</a:t>
            </a:r>
          </a:p>
        </p:txBody>
      </p:sp>
      <p:sp>
        <p:nvSpPr>
          <p:cNvPr id="8" name="TextBox 7"/>
          <p:cNvSpPr txBox="1"/>
          <p:nvPr/>
        </p:nvSpPr>
        <p:spPr>
          <a:xfrm>
            <a:off x="6400800" y="6510528"/>
            <a:ext cx="5285232" cy="274320"/>
          </a:xfrm>
          <a:prstGeom prst="rect">
            <a:avLst/>
          </a:prstGeom>
          <a:noFill/>
        </p:spPr>
        <p:txBody>
          <a:bodyPr wrap="square" lIns="0" tIns="0" rIns="0" bIns="0" anchor="t">
            <a:spAutoFit/>
          </a:bodyPr>
          <a:lstStyle/>
          <a:p>
            <a:pPr algn="r">
              <a:lnSpc>
                <a:spcPct val="115000"/>
              </a:lnSpc>
            </a:pPr>
            <a:r>
              <a:rPr sz="800" b="0" spc="200">
                <a:solidFill>
                  <a:srgbClr val="8A95AE"/>
                </a:solidFill>
                <a:latin typeface="Calibri"/>
              </a:rPr>
              <a:t>15 / 16</a:t>
            </a:r>
          </a:p>
        </p:txBody>
      </p:sp>
      <p:sp>
        <p:nvSpPr>
          <p:cNvPr id="9" name="Rectangle 8"/>
          <p:cNvSpPr/>
          <p:nvPr/>
        </p:nvSpPr>
        <p:spPr>
          <a:xfrm>
            <a:off x="502920" y="914400"/>
            <a:ext cx="228600" cy="25400"/>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804672"/>
            <a:ext cx="7315200" cy="27432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WHO IS BEHIND THIS</a:t>
            </a:r>
          </a:p>
        </p:txBody>
      </p:sp>
      <p:sp>
        <p:nvSpPr>
          <p:cNvPr id="11" name="TextBox 10"/>
          <p:cNvSpPr txBox="1"/>
          <p:nvPr/>
        </p:nvSpPr>
        <p:spPr>
          <a:xfrm>
            <a:off x="502920" y="1143000"/>
            <a:ext cx="11155680" cy="868680"/>
          </a:xfrm>
          <a:prstGeom prst="rect">
            <a:avLst/>
          </a:prstGeom>
          <a:noFill/>
        </p:spPr>
        <p:txBody>
          <a:bodyPr wrap="square" lIns="0" tIns="0" rIns="0" bIns="0" anchor="t">
            <a:spAutoFit/>
          </a:bodyPr>
          <a:lstStyle/>
          <a:p>
            <a:pPr algn="l">
              <a:lnSpc>
                <a:spcPct val="105000"/>
              </a:lnSpc>
            </a:pPr>
            <a:r>
              <a:rPr sz="3400" b="1">
                <a:solidFill>
                  <a:srgbClr val="F5F7FB"/>
                </a:solidFill>
                <a:latin typeface="Calibri"/>
              </a:rPr>
              <a:t>GenosAI Tech</a:t>
            </a:r>
          </a:p>
        </p:txBody>
      </p:sp>
      <p:sp>
        <p:nvSpPr>
          <p:cNvPr id="12" name="Rounded Rectangle 11"/>
          <p:cNvSpPr/>
          <p:nvPr/>
        </p:nvSpPr>
        <p:spPr>
          <a:xfrm>
            <a:off x="502920" y="2743200"/>
            <a:ext cx="5669280" cy="3611880"/>
          </a:xfrm>
          <a:prstGeom prst="roundRect">
            <a:avLst>
              <a:gd name="adj" fmla="val 5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68680" y="3108960"/>
            <a:ext cx="914400" cy="914400"/>
          </a:xfrm>
          <a:prstGeom prst="roundRect">
            <a:avLst>
              <a:gd name="adj" fmla="val 12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108960"/>
            <a:ext cx="914400" cy="914400"/>
          </a:xfrm>
          <a:prstGeom prst="rect">
            <a:avLst/>
          </a:prstGeom>
          <a:noFill/>
        </p:spPr>
        <p:txBody>
          <a:bodyPr wrap="square" lIns="0" tIns="0" rIns="0" bIns="0" anchor="ctr">
            <a:spAutoFit/>
          </a:bodyPr>
          <a:lstStyle/>
          <a:p>
            <a:pPr algn="ctr">
              <a:lnSpc>
                <a:spcPct val="115000"/>
              </a:lnSpc>
            </a:pPr>
            <a:r>
              <a:rPr sz="2800" b="1" spc="200">
                <a:solidFill>
                  <a:srgbClr val="46E0CB"/>
                </a:solidFill>
                <a:latin typeface="Calibri"/>
              </a:rPr>
              <a:t>RM</a:t>
            </a:r>
          </a:p>
        </p:txBody>
      </p:sp>
      <p:sp>
        <p:nvSpPr>
          <p:cNvPr id="15" name="TextBox 14"/>
          <p:cNvSpPr txBox="1"/>
          <p:nvPr/>
        </p:nvSpPr>
        <p:spPr>
          <a:xfrm>
            <a:off x="2057400" y="3182112"/>
            <a:ext cx="3840480" cy="365760"/>
          </a:xfrm>
          <a:prstGeom prst="rect">
            <a:avLst/>
          </a:prstGeom>
          <a:noFill/>
        </p:spPr>
        <p:txBody>
          <a:bodyPr wrap="square" lIns="0" tIns="0" rIns="0" bIns="0" anchor="t">
            <a:spAutoFit/>
          </a:bodyPr>
          <a:lstStyle/>
          <a:p>
            <a:pPr algn="l">
              <a:lnSpc>
                <a:spcPct val="115000"/>
              </a:lnSpc>
            </a:pPr>
            <a:r>
              <a:rPr sz="900" b="1" spc="400">
                <a:solidFill>
                  <a:srgbClr val="D4B066"/>
                </a:solidFill>
                <a:latin typeface="Calibri"/>
              </a:rPr>
              <a:t>FOUNDER</a:t>
            </a:r>
          </a:p>
        </p:txBody>
      </p:sp>
      <p:sp>
        <p:nvSpPr>
          <p:cNvPr id="16" name="TextBox 15"/>
          <p:cNvSpPr txBox="1"/>
          <p:nvPr/>
        </p:nvSpPr>
        <p:spPr>
          <a:xfrm>
            <a:off x="2057400" y="3429000"/>
            <a:ext cx="3840480" cy="411480"/>
          </a:xfrm>
          <a:prstGeom prst="rect">
            <a:avLst/>
          </a:prstGeom>
          <a:noFill/>
        </p:spPr>
        <p:txBody>
          <a:bodyPr wrap="square" lIns="0" tIns="0" rIns="0" bIns="0" anchor="t">
            <a:spAutoFit/>
          </a:bodyPr>
          <a:lstStyle/>
          <a:p>
            <a:pPr algn="l">
              <a:lnSpc>
                <a:spcPct val="115000"/>
              </a:lnSpc>
            </a:pPr>
            <a:r>
              <a:rPr sz="2200" b="1">
                <a:solidFill>
                  <a:srgbClr val="F5F7FB"/>
                </a:solidFill>
                <a:latin typeface="Calibri"/>
              </a:rPr>
              <a:t>Rohan Malik</a:t>
            </a:r>
          </a:p>
        </p:txBody>
      </p:sp>
      <p:sp>
        <p:nvSpPr>
          <p:cNvPr id="17" name="TextBox 16"/>
          <p:cNvSpPr txBox="1"/>
          <p:nvPr/>
        </p:nvSpPr>
        <p:spPr>
          <a:xfrm>
            <a:off x="2057400" y="3822192"/>
            <a:ext cx="3840480" cy="274320"/>
          </a:xfrm>
          <a:prstGeom prst="rect">
            <a:avLst/>
          </a:prstGeom>
          <a:noFill/>
        </p:spPr>
        <p:txBody>
          <a:bodyPr wrap="square" lIns="0" tIns="0" rIns="0" bIns="0" anchor="t">
            <a:spAutoFit/>
          </a:bodyPr>
          <a:lstStyle/>
          <a:p>
            <a:pPr algn="l">
              <a:lnSpc>
                <a:spcPct val="115000"/>
              </a:lnSpc>
            </a:pPr>
            <a:r>
              <a:rPr sz="1000" b="0">
                <a:solidFill>
                  <a:srgbClr val="8A95AE"/>
                </a:solidFill>
                <a:latin typeface="Calibri"/>
              </a:rPr>
              <a:t>Building quiet, durable systems for real businesses.</a:t>
            </a:r>
          </a:p>
        </p:txBody>
      </p:sp>
      <p:sp>
        <p:nvSpPr>
          <p:cNvPr id="18" name="TextBox 17"/>
          <p:cNvSpPr txBox="1"/>
          <p:nvPr/>
        </p:nvSpPr>
        <p:spPr>
          <a:xfrm>
            <a:off x="868680" y="4434840"/>
            <a:ext cx="4937760" cy="1783080"/>
          </a:xfrm>
          <a:prstGeom prst="rect">
            <a:avLst/>
          </a:prstGeom>
          <a:noFill/>
        </p:spPr>
        <p:txBody>
          <a:bodyPr wrap="square" lIns="0" tIns="0" rIns="0" bIns="0" anchor="t">
            <a:spAutoFit/>
          </a:bodyPr>
          <a:lstStyle/>
          <a:p>
            <a:pPr algn="l">
              <a:lnSpc>
                <a:spcPct val="150000"/>
              </a:lnSpc>
            </a:pPr>
            <a:r>
              <a:rPr sz="1100" b="0">
                <a:solidFill>
                  <a:srgbClr val="C7CFDE"/>
                </a:solidFill>
                <a:latin typeface="Calibri"/>
              </a:rPr>
              <a:t>GenosAI Tech designs and builds operational systems for service-led businesses — the kind that don't need flashy software, but a calm, reliable backbone behind their day.</a:t>
            </a:r>
          </a:p>
          <a:p>
            <a:pPr algn="l">
              <a:lnSpc>
                <a:spcPct val="150000"/>
              </a:lnSpc>
            </a:pPr>
            <a:endParaRPr sz="1100" b="0">
              <a:solidFill>
                <a:srgbClr val="C7CFDE"/>
              </a:solidFill>
              <a:latin typeface="Calibri"/>
            </a:endParaRPr>
          </a:p>
          <a:p>
            <a:pPr algn="l">
              <a:lnSpc>
                <a:spcPct val="150000"/>
              </a:lnSpc>
            </a:pPr>
            <a:r>
              <a:rPr sz="1100" b="0">
                <a:solidFill>
                  <a:srgbClr val="C7CFDE"/>
                </a:solidFill>
                <a:latin typeface="Calibri"/>
              </a:rPr>
              <a:t>We pair clean engineering with practical business sense. The goal is never "more tools" — it is fewer headaches, sharper visibility, and growth that doesn't break under its own weight.</a:t>
            </a:r>
          </a:p>
        </p:txBody>
      </p:sp>
      <p:sp>
        <p:nvSpPr>
          <p:cNvPr id="19" name="Rounded Rectangle 18"/>
          <p:cNvSpPr/>
          <p:nvPr/>
        </p:nvSpPr>
        <p:spPr>
          <a:xfrm>
            <a:off x="6355080" y="2743200"/>
            <a:ext cx="5349240" cy="3611880"/>
          </a:xfrm>
          <a:prstGeom prst="roundRect">
            <a:avLst>
              <a:gd name="adj" fmla="val 5000"/>
            </a:avLst>
          </a:prstGeom>
          <a:solidFill>
            <a:srgbClr val="161F36"/>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20840" y="3017520"/>
            <a:ext cx="4617720" cy="365760"/>
          </a:xfrm>
          <a:prstGeom prst="rect">
            <a:avLst/>
          </a:prstGeom>
          <a:noFill/>
        </p:spPr>
        <p:txBody>
          <a:bodyPr wrap="square" lIns="0" tIns="0" rIns="0" bIns="0" anchor="t">
            <a:spAutoFit/>
          </a:bodyPr>
          <a:lstStyle/>
          <a:p>
            <a:pPr algn="l">
              <a:lnSpc>
                <a:spcPct val="115000"/>
              </a:lnSpc>
            </a:pPr>
            <a:r>
              <a:rPr sz="1000" b="1" spc="400">
                <a:solidFill>
                  <a:srgbClr val="D4B066"/>
                </a:solidFill>
                <a:latin typeface="Calibri"/>
              </a:rPr>
              <a:t>WHAT WE BUILD</a:t>
            </a:r>
          </a:p>
        </p:txBody>
      </p:sp>
      <p:sp>
        <p:nvSpPr>
          <p:cNvPr id="21" name="Rounded Rectangle 20"/>
          <p:cNvSpPr/>
          <p:nvPr/>
        </p:nvSpPr>
        <p:spPr>
          <a:xfrm>
            <a:off x="6720840" y="3520440"/>
            <a:ext cx="365760" cy="365760"/>
          </a:xfrm>
          <a:prstGeom prst="roundRect">
            <a:avLst>
              <a:gd name="adj" fmla="val 3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20840" y="3520440"/>
            <a:ext cx="365760" cy="365760"/>
          </a:xfrm>
          <a:prstGeom prst="rect">
            <a:avLst/>
          </a:prstGeom>
          <a:noFill/>
        </p:spPr>
        <p:txBody>
          <a:bodyPr wrap="square" lIns="0" tIns="0" rIns="0" bIns="0" anchor="ctr">
            <a:spAutoFit/>
          </a:bodyPr>
          <a:lstStyle/>
          <a:p>
            <a:pPr algn="ctr">
              <a:lnSpc>
                <a:spcPct val="115000"/>
              </a:lnSpc>
            </a:pPr>
            <a:r>
              <a:rPr sz="1200" b="1">
                <a:solidFill>
                  <a:srgbClr val="46E0CB"/>
                </a:solidFill>
                <a:latin typeface="Calibri"/>
              </a:rPr>
              <a:t>◆</a:t>
            </a:r>
          </a:p>
        </p:txBody>
      </p:sp>
      <p:sp>
        <p:nvSpPr>
          <p:cNvPr id="23" name="TextBox 22"/>
          <p:cNvSpPr txBox="1"/>
          <p:nvPr/>
        </p:nvSpPr>
        <p:spPr>
          <a:xfrm>
            <a:off x="7223760" y="3520440"/>
            <a:ext cx="1943100" cy="274320"/>
          </a:xfrm>
          <a:prstGeom prst="rect">
            <a:avLst/>
          </a:prstGeom>
          <a:noFill/>
        </p:spPr>
        <p:txBody>
          <a:bodyPr wrap="square" lIns="0" tIns="0" rIns="0" bIns="0" anchor="t">
            <a:spAutoFit/>
          </a:bodyPr>
          <a:lstStyle/>
          <a:p>
            <a:pPr algn="l">
              <a:lnSpc>
                <a:spcPct val="115000"/>
              </a:lnSpc>
            </a:pPr>
            <a:r>
              <a:rPr sz="1150" b="1">
                <a:solidFill>
                  <a:srgbClr val="F5F7FB"/>
                </a:solidFill>
                <a:latin typeface="Calibri"/>
              </a:rPr>
              <a:t>Operational Systems</a:t>
            </a:r>
          </a:p>
        </p:txBody>
      </p:sp>
      <p:sp>
        <p:nvSpPr>
          <p:cNvPr id="24" name="TextBox 23"/>
          <p:cNvSpPr txBox="1"/>
          <p:nvPr/>
        </p:nvSpPr>
        <p:spPr>
          <a:xfrm>
            <a:off x="7223760" y="3794760"/>
            <a:ext cx="1943100" cy="45720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End-to-end workflows that quietly run the business.</a:t>
            </a:r>
          </a:p>
        </p:txBody>
      </p:sp>
      <p:sp>
        <p:nvSpPr>
          <p:cNvPr id="25" name="Rounded Rectangle 24"/>
          <p:cNvSpPr/>
          <p:nvPr/>
        </p:nvSpPr>
        <p:spPr>
          <a:xfrm>
            <a:off x="9212580" y="3520440"/>
            <a:ext cx="365760" cy="365760"/>
          </a:xfrm>
          <a:prstGeom prst="roundRect">
            <a:avLst>
              <a:gd name="adj" fmla="val 3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12580" y="3520440"/>
            <a:ext cx="365760" cy="365760"/>
          </a:xfrm>
          <a:prstGeom prst="rect">
            <a:avLst/>
          </a:prstGeom>
          <a:noFill/>
        </p:spPr>
        <p:txBody>
          <a:bodyPr wrap="square" lIns="0" tIns="0" rIns="0" bIns="0" anchor="ctr">
            <a:spAutoFit/>
          </a:bodyPr>
          <a:lstStyle/>
          <a:p>
            <a:pPr algn="ctr">
              <a:lnSpc>
                <a:spcPct val="115000"/>
              </a:lnSpc>
            </a:pPr>
            <a:r>
              <a:rPr sz="1200" b="1">
                <a:solidFill>
                  <a:srgbClr val="46E0CB"/>
                </a:solidFill>
                <a:latin typeface="Calibri"/>
              </a:rPr>
              <a:t>◆</a:t>
            </a:r>
          </a:p>
        </p:txBody>
      </p:sp>
      <p:sp>
        <p:nvSpPr>
          <p:cNvPr id="27" name="TextBox 26"/>
          <p:cNvSpPr txBox="1"/>
          <p:nvPr/>
        </p:nvSpPr>
        <p:spPr>
          <a:xfrm>
            <a:off x="9715500" y="3520440"/>
            <a:ext cx="1943100" cy="274320"/>
          </a:xfrm>
          <a:prstGeom prst="rect">
            <a:avLst/>
          </a:prstGeom>
          <a:noFill/>
        </p:spPr>
        <p:txBody>
          <a:bodyPr wrap="square" lIns="0" tIns="0" rIns="0" bIns="0" anchor="t">
            <a:spAutoFit/>
          </a:bodyPr>
          <a:lstStyle/>
          <a:p>
            <a:pPr algn="l">
              <a:lnSpc>
                <a:spcPct val="115000"/>
              </a:lnSpc>
            </a:pPr>
            <a:r>
              <a:rPr sz="1150" b="1">
                <a:solidFill>
                  <a:srgbClr val="F5F7FB"/>
                </a:solidFill>
                <a:latin typeface="Calibri"/>
              </a:rPr>
              <a:t>Custom Dashboards</a:t>
            </a:r>
          </a:p>
        </p:txBody>
      </p:sp>
      <p:sp>
        <p:nvSpPr>
          <p:cNvPr id="28" name="TextBox 27"/>
          <p:cNvSpPr txBox="1"/>
          <p:nvPr/>
        </p:nvSpPr>
        <p:spPr>
          <a:xfrm>
            <a:off x="9715500" y="3794760"/>
            <a:ext cx="1943100" cy="45720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One-screen visibility — built around your reality.</a:t>
            </a:r>
          </a:p>
        </p:txBody>
      </p:sp>
      <p:sp>
        <p:nvSpPr>
          <p:cNvPr id="29" name="Rounded Rectangle 28"/>
          <p:cNvSpPr/>
          <p:nvPr/>
        </p:nvSpPr>
        <p:spPr>
          <a:xfrm>
            <a:off x="6720840" y="4389120"/>
            <a:ext cx="365760" cy="365760"/>
          </a:xfrm>
          <a:prstGeom prst="roundRect">
            <a:avLst>
              <a:gd name="adj" fmla="val 3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720840" y="4389120"/>
            <a:ext cx="365760" cy="365760"/>
          </a:xfrm>
          <a:prstGeom prst="rect">
            <a:avLst/>
          </a:prstGeom>
          <a:noFill/>
        </p:spPr>
        <p:txBody>
          <a:bodyPr wrap="square" lIns="0" tIns="0" rIns="0" bIns="0" anchor="ctr">
            <a:spAutoFit/>
          </a:bodyPr>
          <a:lstStyle/>
          <a:p>
            <a:pPr algn="ctr">
              <a:lnSpc>
                <a:spcPct val="115000"/>
              </a:lnSpc>
            </a:pPr>
            <a:r>
              <a:rPr sz="1200" b="1">
                <a:solidFill>
                  <a:srgbClr val="46E0CB"/>
                </a:solidFill>
                <a:latin typeface="Calibri"/>
              </a:rPr>
              <a:t>◆</a:t>
            </a:r>
          </a:p>
        </p:txBody>
      </p:sp>
      <p:sp>
        <p:nvSpPr>
          <p:cNvPr id="31" name="TextBox 30"/>
          <p:cNvSpPr txBox="1"/>
          <p:nvPr/>
        </p:nvSpPr>
        <p:spPr>
          <a:xfrm>
            <a:off x="7223760" y="4389120"/>
            <a:ext cx="1943100" cy="274320"/>
          </a:xfrm>
          <a:prstGeom prst="rect">
            <a:avLst/>
          </a:prstGeom>
          <a:noFill/>
        </p:spPr>
        <p:txBody>
          <a:bodyPr wrap="square" lIns="0" tIns="0" rIns="0" bIns="0" anchor="t">
            <a:spAutoFit/>
          </a:bodyPr>
          <a:lstStyle/>
          <a:p>
            <a:pPr algn="l">
              <a:lnSpc>
                <a:spcPct val="115000"/>
              </a:lnSpc>
            </a:pPr>
            <a:r>
              <a:rPr sz="1150" b="1">
                <a:solidFill>
                  <a:srgbClr val="F5F7FB"/>
                </a:solidFill>
                <a:latin typeface="Calibri"/>
              </a:rPr>
              <a:t>WhatsApp Automation</a:t>
            </a:r>
          </a:p>
        </p:txBody>
      </p:sp>
      <p:sp>
        <p:nvSpPr>
          <p:cNvPr id="32" name="TextBox 31"/>
          <p:cNvSpPr txBox="1"/>
          <p:nvPr/>
        </p:nvSpPr>
        <p:spPr>
          <a:xfrm>
            <a:off x="7223760" y="4663440"/>
            <a:ext cx="1943100" cy="45720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Meet your team where they already are.</a:t>
            </a:r>
          </a:p>
        </p:txBody>
      </p:sp>
      <p:sp>
        <p:nvSpPr>
          <p:cNvPr id="33" name="Rounded Rectangle 32"/>
          <p:cNvSpPr/>
          <p:nvPr/>
        </p:nvSpPr>
        <p:spPr>
          <a:xfrm>
            <a:off x="9212580" y="4389120"/>
            <a:ext cx="365760" cy="365760"/>
          </a:xfrm>
          <a:prstGeom prst="roundRect">
            <a:avLst>
              <a:gd name="adj" fmla="val 3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212580" y="4389120"/>
            <a:ext cx="365760" cy="365760"/>
          </a:xfrm>
          <a:prstGeom prst="rect">
            <a:avLst/>
          </a:prstGeom>
          <a:noFill/>
        </p:spPr>
        <p:txBody>
          <a:bodyPr wrap="square" lIns="0" tIns="0" rIns="0" bIns="0" anchor="ctr">
            <a:spAutoFit/>
          </a:bodyPr>
          <a:lstStyle/>
          <a:p>
            <a:pPr algn="ctr">
              <a:lnSpc>
                <a:spcPct val="115000"/>
              </a:lnSpc>
            </a:pPr>
            <a:r>
              <a:rPr sz="1200" b="1">
                <a:solidFill>
                  <a:srgbClr val="46E0CB"/>
                </a:solidFill>
                <a:latin typeface="Calibri"/>
              </a:rPr>
              <a:t>◆</a:t>
            </a:r>
          </a:p>
        </p:txBody>
      </p:sp>
      <p:sp>
        <p:nvSpPr>
          <p:cNvPr id="35" name="TextBox 34"/>
          <p:cNvSpPr txBox="1"/>
          <p:nvPr/>
        </p:nvSpPr>
        <p:spPr>
          <a:xfrm>
            <a:off x="9715500" y="4389120"/>
            <a:ext cx="1943100" cy="274320"/>
          </a:xfrm>
          <a:prstGeom prst="rect">
            <a:avLst/>
          </a:prstGeom>
          <a:noFill/>
        </p:spPr>
        <p:txBody>
          <a:bodyPr wrap="square" lIns="0" tIns="0" rIns="0" bIns="0" anchor="t">
            <a:spAutoFit/>
          </a:bodyPr>
          <a:lstStyle/>
          <a:p>
            <a:pPr algn="l">
              <a:lnSpc>
                <a:spcPct val="115000"/>
              </a:lnSpc>
            </a:pPr>
            <a:r>
              <a:rPr sz="1150" b="1">
                <a:solidFill>
                  <a:srgbClr val="F5F7FB"/>
                </a:solidFill>
                <a:latin typeface="Calibri"/>
              </a:rPr>
              <a:t>Business Websites</a:t>
            </a:r>
          </a:p>
        </p:txBody>
      </p:sp>
      <p:sp>
        <p:nvSpPr>
          <p:cNvPr id="36" name="TextBox 35"/>
          <p:cNvSpPr txBox="1"/>
          <p:nvPr/>
        </p:nvSpPr>
        <p:spPr>
          <a:xfrm>
            <a:off x="9715500" y="4663440"/>
            <a:ext cx="1943100" cy="45720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Sharp, on-brand digital presence.</a:t>
            </a:r>
          </a:p>
        </p:txBody>
      </p:sp>
      <p:sp>
        <p:nvSpPr>
          <p:cNvPr id="37" name="Rounded Rectangle 36"/>
          <p:cNvSpPr/>
          <p:nvPr/>
        </p:nvSpPr>
        <p:spPr>
          <a:xfrm>
            <a:off x="6720840" y="5257800"/>
            <a:ext cx="365760" cy="365760"/>
          </a:xfrm>
          <a:prstGeom prst="roundRect">
            <a:avLst>
              <a:gd name="adj" fmla="val 3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720840" y="5257800"/>
            <a:ext cx="365760" cy="365760"/>
          </a:xfrm>
          <a:prstGeom prst="rect">
            <a:avLst/>
          </a:prstGeom>
          <a:noFill/>
        </p:spPr>
        <p:txBody>
          <a:bodyPr wrap="square" lIns="0" tIns="0" rIns="0" bIns="0" anchor="ctr">
            <a:spAutoFit/>
          </a:bodyPr>
          <a:lstStyle/>
          <a:p>
            <a:pPr algn="ctr">
              <a:lnSpc>
                <a:spcPct val="115000"/>
              </a:lnSpc>
            </a:pPr>
            <a:r>
              <a:rPr sz="1200" b="1">
                <a:solidFill>
                  <a:srgbClr val="46E0CB"/>
                </a:solidFill>
                <a:latin typeface="Calibri"/>
              </a:rPr>
              <a:t>◆</a:t>
            </a:r>
          </a:p>
        </p:txBody>
      </p:sp>
      <p:sp>
        <p:nvSpPr>
          <p:cNvPr id="39" name="TextBox 38"/>
          <p:cNvSpPr txBox="1"/>
          <p:nvPr/>
        </p:nvSpPr>
        <p:spPr>
          <a:xfrm>
            <a:off x="7223760" y="5257800"/>
            <a:ext cx="1943100" cy="274320"/>
          </a:xfrm>
          <a:prstGeom prst="rect">
            <a:avLst/>
          </a:prstGeom>
          <a:noFill/>
        </p:spPr>
        <p:txBody>
          <a:bodyPr wrap="square" lIns="0" tIns="0" rIns="0" bIns="0" anchor="t">
            <a:spAutoFit/>
          </a:bodyPr>
          <a:lstStyle/>
          <a:p>
            <a:pPr algn="l">
              <a:lnSpc>
                <a:spcPct val="115000"/>
              </a:lnSpc>
            </a:pPr>
            <a:r>
              <a:rPr sz="1150" b="1">
                <a:solidFill>
                  <a:srgbClr val="F5F7FB"/>
                </a:solidFill>
                <a:latin typeface="Calibri"/>
              </a:rPr>
              <a:t>Workflow Optimisation</a:t>
            </a:r>
          </a:p>
        </p:txBody>
      </p:sp>
      <p:sp>
        <p:nvSpPr>
          <p:cNvPr id="40" name="TextBox 39"/>
          <p:cNvSpPr txBox="1"/>
          <p:nvPr/>
        </p:nvSpPr>
        <p:spPr>
          <a:xfrm>
            <a:off x="7223760" y="5532120"/>
            <a:ext cx="1943100" cy="45720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Less manual chasing. More focus.</a:t>
            </a:r>
          </a:p>
        </p:txBody>
      </p:sp>
      <p:sp>
        <p:nvSpPr>
          <p:cNvPr id="41" name="Rounded Rectangle 40"/>
          <p:cNvSpPr/>
          <p:nvPr/>
        </p:nvSpPr>
        <p:spPr>
          <a:xfrm>
            <a:off x="9212580" y="5257800"/>
            <a:ext cx="365760" cy="365760"/>
          </a:xfrm>
          <a:prstGeom prst="roundRect">
            <a:avLst>
              <a:gd name="adj" fmla="val 30000"/>
            </a:avLst>
          </a:prstGeom>
          <a:solidFill>
            <a:srgbClr val="122A28"/>
          </a:solidFill>
          <a:ln w="6350">
            <a:solidFill>
              <a:srgbClr val="1F8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212580" y="5257800"/>
            <a:ext cx="365760" cy="365760"/>
          </a:xfrm>
          <a:prstGeom prst="rect">
            <a:avLst/>
          </a:prstGeom>
          <a:noFill/>
        </p:spPr>
        <p:txBody>
          <a:bodyPr wrap="square" lIns="0" tIns="0" rIns="0" bIns="0" anchor="ctr">
            <a:spAutoFit/>
          </a:bodyPr>
          <a:lstStyle/>
          <a:p>
            <a:pPr algn="ctr">
              <a:lnSpc>
                <a:spcPct val="115000"/>
              </a:lnSpc>
            </a:pPr>
            <a:r>
              <a:rPr sz="1200" b="1">
                <a:solidFill>
                  <a:srgbClr val="46E0CB"/>
                </a:solidFill>
                <a:latin typeface="Calibri"/>
              </a:rPr>
              <a:t>◆</a:t>
            </a:r>
          </a:p>
        </p:txBody>
      </p:sp>
      <p:sp>
        <p:nvSpPr>
          <p:cNvPr id="43" name="TextBox 42"/>
          <p:cNvSpPr txBox="1"/>
          <p:nvPr/>
        </p:nvSpPr>
        <p:spPr>
          <a:xfrm>
            <a:off x="9715500" y="5257800"/>
            <a:ext cx="1943100" cy="274320"/>
          </a:xfrm>
          <a:prstGeom prst="rect">
            <a:avLst/>
          </a:prstGeom>
          <a:noFill/>
        </p:spPr>
        <p:txBody>
          <a:bodyPr wrap="square" lIns="0" tIns="0" rIns="0" bIns="0" anchor="t">
            <a:spAutoFit/>
          </a:bodyPr>
          <a:lstStyle/>
          <a:p>
            <a:pPr algn="l">
              <a:lnSpc>
                <a:spcPct val="115000"/>
              </a:lnSpc>
            </a:pPr>
            <a:r>
              <a:rPr sz="1150" b="1">
                <a:solidFill>
                  <a:srgbClr val="F5F7FB"/>
                </a:solidFill>
                <a:latin typeface="Calibri"/>
              </a:rPr>
              <a:t>AI Automation</a:t>
            </a:r>
          </a:p>
        </p:txBody>
      </p:sp>
      <p:sp>
        <p:nvSpPr>
          <p:cNvPr id="44" name="TextBox 43"/>
          <p:cNvSpPr txBox="1"/>
          <p:nvPr/>
        </p:nvSpPr>
        <p:spPr>
          <a:xfrm>
            <a:off x="9715500" y="5532120"/>
            <a:ext cx="1943100" cy="457200"/>
          </a:xfrm>
          <a:prstGeom prst="rect">
            <a:avLst/>
          </a:prstGeom>
          <a:noFill/>
        </p:spPr>
        <p:txBody>
          <a:bodyPr wrap="square" lIns="0" tIns="0" rIns="0" bIns="0" anchor="t">
            <a:spAutoFit/>
          </a:bodyPr>
          <a:lstStyle/>
          <a:p>
            <a:pPr algn="l">
              <a:lnSpc>
                <a:spcPct val="135000"/>
              </a:lnSpc>
            </a:pPr>
            <a:r>
              <a:rPr sz="950" b="0">
                <a:solidFill>
                  <a:srgbClr val="8A95AE"/>
                </a:solidFill>
                <a:latin typeface="Calibri"/>
              </a:rPr>
              <a:t>Used quietly, where it actually saves time.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023360" cy="6858000"/>
          </a:xfrm>
          <a:prstGeom prst="rect">
            <a:avLst/>
          </a:prstGeom>
          <a:solidFill>
            <a:srgbClr val="09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023360" y="0"/>
            <a:ext cx="15240" cy="6858000"/>
          </a:xfrm>
          <a:prstGeom prst="rect">
            <a:avLst/>
          </a:prstGeom>
          <a:solidFill>
            <a:srgbClr val="23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280160"/>
            <a:ext cx="1280160" cy="31750"/>
          </a:xfrm>
          <a:prstGeom prst="rect">
            <a:avLst/>
          </a:prstGeom>
          <a:solidFill>
            <a:srgbClr val="46E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508760"/>
            <a:ext cx="640080" cy="31750"/>
          </a:xfrm>
          <a:prstGeom prst="rect">
            <a:avLst/>
          </a:prstGeom>
          <a:solidFill>
            <a:srgbClr val="D4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502920"/>
            <a:ext cx="3657600" cy="365760"/>
          </a:xfrm>
          <a:prstGeom prst="rect">
            <a:avLst/>
          </a:prstGeom>
          <a:noFill/>
        </p:spPr>
        <p:txBody>
          <a:bodyPr wrap="square" lIns="0" tIns="0" rIns="0" bIns="0" anchor="t">
            <a:spAutoFit/>
          </a:bodyPr>
          <a:lstStyle/>
          <a:p>
            <a:pPr algn="l">
              <a:lnSpc>
                <a:spcPct val="115000"/>
              </a:lnSpc>
            </a:pPr>
            <a:r>
              <a:rPr sz="1100" b="1" spc="500">
                <a:solidFill>
                  <a:srgbClr val="46E0CB"/>
                </a:solidFill>
                <a:latin typeface="Calibri"/>
              </a:rPr>
              <a:t>GENOSAI  ·  TECH</a:t>
            </a:r>
          </a:p>
        </p:txBody>
      </p:sp>
      <p:sp>
        <p:nvSpPr>
          <p:cNvPr id="8" name="TextBox 7"/>
          <p:cNvSpPr txBox="1"/>
          <p:nvPr/>
        </p:nvSpPr>
        <p:spPr>
          <a:xfrm>
            <a:off x="502920" y="804672"/>
            <a:ext cx="3657600" cy="274320"/>
          </a:xfrm>
          <a:prstGeom prst="rect">
            <a:avLst/>
          </a:prstGeom>
          <a:noFill/>
        </p:spPr>
        <p:txBody>
          <a:bodyPr wrap="square" lIns="0" tIns="0" rIns="0" bIns="0" anchor="t">
            <a:spAutoFit/>
          </a:bodyPr>
          <a:lstStyle/>
          <a:p>
            <a:pPr algn="l">
              <a:lnSpc>
                <a:spcPct val="115000"/>
              </a:lnSpc>
            </a:pPr>
            <a:r>
              <a:rPr sz="900" b="0" spc="200">
                <a:solidFill>
                  <a:srgbClr val="8A95AE"/>
                </a:solidFill>
                <a:latin typeface="Calibri"/>
              </a:rPr>
              <a:t>End of Proposal</a:t>
            </a:r>
          </a:p>
        </p:txBody>
      </p:sp>
      <p:sp>
        <p:nvSpPr>
          <p:cNvPr id="9" name="TextBox 8"/>
          <p:cNvSpPr txBox="1"/>
          <p:nvPr/>
        </p:nvSpPr>
        <p:spPr>
          <a:xfrm>
            <a:off x="502920" y="5715000"/>
            <a:ext cx="3657600" cy="274320"/>
          </a:xfrm>
          <a:prstGeom prst="rect">
            <a:avLst/>
          </a:prstGeom>
          <a:noFill/>
        </p:spPr>
        <p:txBody>
          <a:bodyPr wrap="square" lIns="0" tIns="0" rIns="0" bIns="0" anchor="t">
            <a:spAutoFit/>
          </a:bodyPr>
          <a:lstStyle/>
          <a:p>
            <a:pPr algn="l">
              <a:lnSpc>
                <a:spcPct val="115000"/>
              </a:lnSpc>
            </a:pPr>
            <a:r>
              <a:rPr sz="1000" b="1">
                <a:solidFill>
                  <a:srgbClr val="F5F7FB"/>
                </a:solidFill>
                <a:latin typeface="Calibri"/>
              </a:rPr>
              <a:t>Rohan Malik  ·  Founder</a:t>
            </a:r>
          </a:p>
        </p:txBody>
      </p:sp>
      <p:sp>
        <p:nvSpPr>
          <p:cNvPr id="10" name="TextBox 9"/>
          <p:cNvSpPr txBox="1"/>
          <p:nvPr/>
        </p:nvSpPr>
        <p:spPr>
          <a:xfrm>
            <a:off x="502920" y="5989320"/>
            <a:ext cx="3657600" cy="274320"/>
          </a:xfrm>
          <a:prstGeom prst="rect">
            <a:avLst/>
          </a:prstGeom>
          <a:noFill/>
        </p:spPr>
        <p:txBody>
          <a:bodyPr wrap="square" lIns="0" tIns="0" rIns="0" bIns="0" anchor="t">
            <a:spAutoFit/>
          </a:bodyPr>
          <a:lstStyle/>
          <a:p>
            <a:pPr algn="l">
              <a:lnSpc>
                <a:spcPct val="115000"/>
              </a:lnSpc>
            </a:pPr>
            <a:r>
              <a:rPr sz="900" b="0">
                <a:solidFill>
                  <a:srgbClr val="8A95AE"/>
                </a:solidFill>
                <a:latin typeface="Calibri"/>
              </a:rPr>
              <a:t>GenosAI Tech</a:t>
            </a:r>
          </a:p>
        </p:txBody>
      </p:sp>
      <p:cxnSp>
        <p:nvCxnSpPr>
          <p:cNvPr id="11" name="Connector 10"/>
          <p:cNvCxnSpPr/>
          <p:nvPr/>
        </p:nvCxnSpPr>
        <p:spPr>
          <a:xfrm>
            <a:off x="502920" y="6327648"/>
            <a:ext cx="3154680" cy="0"/>
          </a:xfrm>
          <a:prstGeom prst="line">
            <a:avLst/>
          </a:prstGeom>
          <a:ln w="9525">
            <a:solidFill>
              <a:srgbClr val="232E4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 y="6400800"/>
            <a:ext cx="3657600" cy="274320"/>
          </a:xfrm>
          <a:prstGeom prst="rect">
            <a:avLst/>
          </a:prstGeom>
          <a:noFill/>
        </p:spPr>
        <p:txBody>
          <a:bodyPr wrap="square" lIns="0" tIns="0" rIns="0" bIns="0" anchor="t">
            <a:spAutoFit/>
          </a:bodyPr>
          <a:lstStyle/>
          <a:p>
            <a:pPr algn="l">
              <a:lnSpc>
                <a:spcPct val="115000"/>
              </a:lnSpc>
            </a:pPr>
            <a:r>
              <a:rPr sz="800" b="0" spc="300">
                <a:solidFill>
                  <a:srgbClr val="8A95AE"/>
                </a:solidFill>
                <a:latin typeface="Calibri"/>
              </a:rPr>
              <a:t>Confidential  ·  Aqua Technic  ·  2026</a:t>
            </a:r>
          </a:p>
        </p:txBody>
      </p:sp>
      <p:sp>
        <p:nvSpPr>
          <p:cNvPr id="13" name="TextBox 12"/>
          <p:cNvSpPr txBox="1"/>
          <p:nvPr/>
        </p:nvSpPr>
        <p:spPr>
          <a:xfrm>
            <a:off x="4572000" y="1005840"/>
            <a:ext cx="6858000" cy="365760"/>
          </a:xfrm>
          <a:prstGeom prst="rect">
            <a:avLst/>
          </a:prstGeom>
          <a:noFill/>
        </p:spPr>
        <p:txBody>
          <a:bodyPr wrap="square" lIns="0" tIns="0" rIns="0" bIns="0" anchor="t">
            <a:spAutoFit/>
          </a:bodyPr>
          <a:lstStyle/>
          <a:p>
            <a:pPr algn="l">
              <a:lnSpc>
                <a:spcPct val="115000"/>
              </a:lnSpc>
            </a:pPr>
            <a:r>
              <a:rPr sz="1000" b="1" spc="500">
                <a:solidFill>
                  <a:srgbClr val="D4B066"/>
                </a:solidFill>
                <a:latin typeface="Calibri"/>
              </a:rPr>
              <a:t>CLOSING NOTE</a:t>
            </a:r>
          </a:p>
        </p:txBody>
      </p:sp>
      <p:sp>
        <p:nvSpPr>
          <p:cNvPr id="14" name="TextBox 13"/>
          <p:cNvSpPr txBox="1"/>
          <p:nvPr/>
        </p:nvSpPr>
        <p:spPr>
          <a:xfrm>
            <a:off x="4572000" y="1554480"/>
            <a:ext cx="548640" cy="914400"/>
          </a:xfrm>
          <a:prstGeom prst="rect">
            <a:avLst/>
          </a:prstGeom>
          <a:noFill/>
        </p:spPr>
        <p:txBody>
          <a:bodyPr wrap="square" lIns="0" tIns="0" rIns="0" bIns="0" anchor="t">
            <a:spAutoFit/>
          </a:bodyPr>
          <a:lstStyle/>
          <a:p>
            <a:pPr algn="l">
              <a:lnSpc>
                <a:spcPct val="115000"/>
              </a:lnSpc>
            </a:pPr>
            <a:r>
              <a:rPr sz="7200" b="1">
                <a:solidFill>
                  <a:srgbClr val="46E0CB"/>
                </a:solidFill>
                <a:latin typeface="Calibri"/>
              </a:rPr>
              <a:t>“</a:t>
            </a:r>
          </a:p>
        </p:txBody>
      </p:sp>
      <p:sp>
        <p:nvSpPr>
          <p:cNvPr id="15" name="TextBox 14"/>
          <p:cNvSpPr txBox="1"/>
          <p:nvPr/>
        </p:nvSpPr>
        <p:spPr>
          <a:xfrm>
            <a:off x="4572000" y="2194560"/>
            <a:ext cx="7040880" cy="2194560"/>
          </a:xfrm>
          <a:prstGeom prst="rect">
            <a:avLst/>
          </a:prstGeom>
          <a:noFill/>
        </p:spPr>
        <p:txBody>
          <a:bodyPr wrap="square" lIns="0" tIns="0" rIns="0" bIns="0" anchor="t">
            <a:spAutoFit/>
          </a:bodyPr>
          <a:lstStyle/>
          <a:p>
            <a:pPr algn="l">
              <a:lnSpc>
                <a:spcPct val="115000"/>
              </a:lnSpc>
            </a:pPr>
            <a:r>
              <a:rPr sz="3400" b="1">
                <a:solidFill>
                  <a:srgbClr val="F5F7FB"/>
                </a:solidFill>
                <a:latin typeface="Calibri"/>
              </a:rPr>
              <a:t>Built to reduce operational</a:t>
            </a:r>
          </a:p>
          <a:p>
            <a:pPr algn="l">
              <a:lnSpc>
                <a:spcPct val="115000"/>
              </a:lnSpc>
            </a:pPr>
            <a:r>
              <a:rPr sz="3400" b="1">
                <a:solidFill>
                  <a:srgbClr val="F5F7FB"/>
                </a:solidFill>
                <a:latin typeface="Calibri"/>
              </a:rPr>
              <a:t>chaos and help Aqua Technic</a:t>
            </a:r>
          </a:p>
          <a:p>
            <a:pPr algn="l">
              <a:lnSpc>
                <a:spcPct val="115000"/>
              </a:lnSpc>
            </a:pPr>
            <a:r>
              <a:rPr sz="3400" b="1">
                <a:solidFill>
                  <a:srgbClr val="F5F7FB"/>
                </a:solidFill>
                <a:latin typeface="Calibri"/>
              </a:rPr>
              <a:t>scale with clarity.</a:t>
            </a:r>
          </a:p>
        </p:txBody>
      </p:sp>
      <p:cxnSp>
        <p:nvCxnSpPr>
          <p:cNvPr id="16" name="Connector 15"/>
          <p:cNvCxnSpPr/>
          <p:nvPr/>
        </p:nvCxnSpPr>
        <p:spPr>
          <a:xfrm>
            <a:off x="4572000" y="4663440"/>
            <a:ext cx="7040880" cy="0"/>
          </a:xfrm>
          <a:prstGeom prst="line">
            <a:avLst/>
          </a:prstGeom>
          <a:ln w="9525">
            <a:solidFill>
              <a:srgbClr val="232E4A"/>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572000" y="4892040"/>
            <a:ext cx="7040880" cy="1417320"/>
          </a:xfrm>
          <a:prstGeom prst="roundRect">
            <a:avLst>
              <a:gd name="adj" fmla="val 8000"/>
            </a:avLst>
          </a:prstGeom>
          <a:solidFill>
            <a:srgbClr val="101729"/>
          </a:solidFill>
          <a:ln w="6350">
            <a:solidFill>
              <a:srgbClr val="23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37760" y="5074920"/>
            <a:ext cx="6309360" cy="274320"/>
          </a:xfrm>
          <a:prstGeom prst="rect">
            <a:avLst/>
          </a:prstGeom>
          <a:noFill/>
        </p:spPr>
        <p:txBody>
          <a:bodyPr wrap="square" lIns="0" tIns="0" rIns="0" bIns="0" anchor="t">
            <a:spAutoFit/>
          </a:bodyPr>
          <a:lstStyle/>
          <a:p>
            <a:pPr algn="l">
              <a:lnSpc>
                <a:spcPct val="115000"/>
              </a:lnSpc>
            </a:pPr>
            <a:r>
              <a:rPr sz="950" b="1" spc="400">
                <a:solidFill>
                  <a:srgbClr val="46E0CB"/>
                </a:solidFill>
                <a:latin typeface="Calibri"/>
              </a:rPr>
              <a:t>NEXT STEPS</a:t>
            </a:r>
          </a:p>
        </p:txBody>
      </p:sp>
      <p:sp>
        <p:nvSpPr>
          <p:cNvPr id="19" name="TextBox 18"/>
          <p:cNvSpPr txBox="1"/>
          <p:nvPr/>
        </p:nvSpPr>
        <p:spPr>
          <a:xfrm>
            <a:off x="4937760" y="5394960"/>
            <a:ext cx="365760" cy="274320"/>
          </a:xfrm>
          <a:prstGeom prst="rect">
            <a:avLst/>
          </a:prstGeom>
          <a:noFill/>
        </p:spPr>
        <p:txBody>
          <a:bodyPr wrap="square" lIns="0" tIns="0" rIns="0" bIns="0" anchor="t">
            <a:spAutoFit/>
          </a:bodyPr>
          <a:lstStyle/>
          <a:p>
            <a:pPr algn="l">
              <a:lnSpc>
                <a:spcPct val="115000"/>
              </a:lnSpc>
            </a:pPr>
            <a:r>
              <a:rPr sz="1100" b="1">
                <a:solidFill>
                  <a:srgbClr val="D4B066"/>
                </a:solidFill>
                <a:latin typeface="Calibri"/>
              </a:rPr>
              <a:t>01</a:t>
            </a:r>
          </a:p>
        </p:txBody>
      </p:sp>
      <p:sp>
        <p:nvSpPr>
          <p:cNvPr id="20" name="TextBox 19"/>
          <p:cNvSpPr txBox="1"/>
          <p:nvPr/>
        </p:nvSpPr>
        <p:spPr>
          <a:xfrm>
            <a:off x="5349240" y="5394960"/>
            <a:ext cx="5943600" cy="274320"/>
          </a:xfrm>
          <a:prstGeom prst="rect">
            <a:avLst/>
          </a:prstGeom>
          <a:noFill/>
        </p:spPr>
        <p:txBody>
          <a:bodyPr wrap="square" lIns="0" tIns="0" rIns="0" bIns="0" anchor="t">
            <a:spAutoFit/>
          </a:bodyPr>
          <a:lstStyle/>
          <a:p>
            <a:pPr algn="l">
              <a:lnSpc>
                <a:spcPct val="115000"/>
              </a:lnSpc>
            </a:pPr>
            <a:r>
              <a:rPr sz="1050" b="0">
                <a:solidFill>
                  <a:srgbClr val="C7CFDE"/>
                </a:solidFill>
                <a:latin typeface="Calibri"/>
              </a:rPr>
              <a:t>Walkthrough call to align on scope &amp; priorities.</a:t>
            </a:r>
          </a:p>
        </p:txBody>
      </p:sp>
      <p:sp>
        <p:nvSpPr>
          <p:cNvPr id="21" name="TextBox 20"/>
          <p:cNvSpPr txBox="1"/>
          <p:nvPr/>
        </p:nvSpPr>
        <p:spPr>
          <a:xfrm>
            <a:off x="4937760" y="5687568"/>
            <a:ext cx="365760" cy="274320"/>
          </a:xfrm>
          <a:prstGeom prst="rect">
            <a:avLst/>
          </a:prstGeom>
          <a:noFill/>
        </p:spPr>
        <p:txBody>
          <a:bodyPr wrap="square" lIns="0" tIns="0" rIns="0" bIns="0" anchor="t">
            <a:spAutoFit/>
          </a:bodyPr>
          <a:lstStyle/>
          <a:p>
            <a:pPr algn="l">
              <a:lnSpc>
                <a:spcPct val="115000"/>
              </a:lnSpc>
            </a:pPr>
            <a:r>
              <a:rPr sz="1100" b="1">
                <a:solidFill>
                  <a:srgbClr val="D4B066"/>
                </a:solidFill>
                <a:latin typeface="Calibri"/>
              </a:rPr>
              <a:t>02</a:t>
            </a:r>
          </a:p>
        </p:txBody>
      </p:sp>
      <p:sp>
        <p:nvSpPr>
          <p:cNvPr id="22" name="TextBox 21"/>
          <p:cNvSpPr txBox="1"/>
          <p:nvPr/>
        </p:nvSpPr>
        <p:spPr>
          <a:xfrm>
            <a:off x="5349240" y="5687568"/>
            <a:ext cx="5943600" cy="274320"/>
          </a:xfrm>
          <a:prstGeom prst="rect">
            <a:avLst/>
          </a:prstGeom>
          <a:noFill/>
        </p:spPr>
        <p:txBody>
          <a:bodyPr wrap="square" lIns="0" tIns="0" rIns="0" bIns="0" anchor="t">
            <a:spAutoFit/>
          </a:bodyPr>
          <a:lstStyle/>
          <a:p>
            <a:pPr algn="l">
              <a:lnSpc>
                <a:spcPct val="115000"/>
              </a:lnSpc>
            </a:pPr>
            <a:r>
              <a:rPr sz="1050" b="0">
                <a:solidFill>
                  <a:srgbClr val="C7CFDE"/>
                </a:solidFill>
                <a:latin typeface="Calibri"/>
              </a:rPr>
              <a:t>Final scope, pricing and rollout schedule.</a:t>
            </a:r>
          </a:p>
        </p:txBody>
      </p:sp>
      <p:sp>
        <p:nvSpPr>
          <p:cNvPr id="23" name="TextBox 22"/>
          <p:cNvSpPr txBox="1"/>
          <p:nvPr/>
        </p:nvSpPr>
        <p:spPr>
          <a:xfrm>
            <a:off x="4937760" y="5980176"/>
            <a:ext cx="365760" cy="274320"/>
          </a:xfrm>
          <a:prstGeom prst="rect">
            <a:avLst/>
          </a:prstGeom>
          <a:noFill/>
        </p:spPr>
        <p:txBody>
          <a:bodyPr wrap="square" lIns="0" tIns="0" rIns="0" bIns="0" anchor="t">
            <a:spAutoFit/>
          </a:bodyPr>
          <a:lstStyle/>
          <a:p>
            <a:pPr algn="l">
              <a:lnSpc>
                <a:spcPct val="115000"/>
              </a:lnSpc>
            </a:pPr>
            <a:r>
              <a:rPr sz="1100" b="1">
                <a:solidFill>
                  <a:srgbClr val="D4B066"/>
                </a:solidFill>
                <a:latin typeface="Calibri"/>
              </a:rPr>
              <a:t>03</a:t>
            </a:r>
          </a:p>
        </p:txBody>
      </p:sp>
      <p:sp>
        <p:nvSpPr>
          <p:cNvPr id="24" name="TextBox 23"/>
          <p:cNvSpPr txBox="1"/>
          <p:nvPr/>
        </p:nvSpPr>
        <p:spPr>
          <a:xfrm>
            <a:off x="5349240" y="5980176"/>
            <a:ext cx="5943600" cy="274320"/>
          </a:xfrm>
          <a:prstGeom prst="rect">
            <a:avLst/>
          </a:prstGeom>
          <a:noFill/>
        </p:spPr>
        <p:txBody>
          <a:bodyPr wrap="square" lIns="0" tIns="0" rIns="0" bIns="0" anchor="t">
            <a:spAutoFit/>
          </a:bodyPr>
          <a:lstStyle/>
          <a:p>
            <a:pPr algn="l">
              <a:lnSpc>
                <a:spcPct val="115000"/>
              </a:lnSpc>
            </a:pPr>
            <a:r>
              <a:rPr sz="1050" b="0">
                <a:solidFill>
                  <a:srgbClr val="C7CFDE"/>
                </a:solidFill>
                <a:latin typeface="Calibri"/>
              </a:rPr>
              <a:t>Pilot launch with first 2–3 sites.</a:t>
            </a:r>
          </a:p>
        </p:txBody>
      </p:sp>
      <p:sp>
        <p:nvSpPr>
          <p:cNvPr id="25" name="TextBox 24"/>
          <p:cNvSpPr txBox="1"/>
          <p:nvPr/>
        </p:nvSpPr>
        <p:spPr>
          <a:xfrm>
            <a:off x="4572000" y="6446520"/>
            <a:ext cx="7040880" cy="274320"/>
          </a:xfrm>
          <a:prstGeom prst="rect">
            <a:avLst/>
          </a:prstGeom>
          <a:noFill/>
        </p:spPr>
        <p:txBody>
          <a:bodyPr wrap="square" lIns="0" tIns="0" rIns="0" bIns="0" anchor="t">
            <a:spAutoFit/>
          </a:bodyPr>
          <a:lstStyle/>
          <a:p>
            <a:pPr algn="r">
              <a:lnSpc>
                <a:spcPct val="115000"/>
              </a:lnSpc>
            </a:pPr>
            <a:r>
              <a:rPr sz="900" b="0" spc="400">
                <a:solidFill>
                  <a:srgbClr val="8A95AE"/>
                </a:solidFill>
                <a:latin typeface="Calibri"/>
              </a:rPr>
              <a:t>Thank you  ·  GenosAI Tech  ·  Built for Aqua Technic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2344</Words>
  <Application>Microsoft Office PowerPoint</Application>
  <PresentationFormat>Widescreen</PresentationFormat>
  <Paragraphs>518</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Rohan Malik</dc:creator>
  <cp:keywords/>
  <dc:description>generated using python-pptx</dc:description>
  <cp:lastModifiedBy>Rohan Malik</cp:lastModifiedBy>
  <cp:revision>2</cp:revision>
  <dcterms:created xsi:type="dcterms:W3CDTF">2013-01-27T09:14:16Z</dcterms:created>
  <dcterms:modified xsi:type="dcterms:W3CDTF">2026-05-14T19:17:59Z</dcterms:modified>
  <cp:category/>
</cp:coreProperties>
</file>