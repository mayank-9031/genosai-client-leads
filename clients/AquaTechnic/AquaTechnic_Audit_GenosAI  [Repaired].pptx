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5" autoAdjust="0"/>
    <p:restoredTop sz="94660"/>
  </p:normalViewPr>
  <p:slideViewPr>
    <p:cSldViewPr snapToGrid="0" snapToObjects="1">
      <p:cViewPr>
        <p:scale>
          <a:sx n="94" d="100"/>
          <a:sy n="94" d="100"/>
        </p:scale>
        <p:origin x="182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50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206240" y="0"/>
            <a:ext cx="15240" cy="6858000"/>
          </a:xfrm>
          <a:prstGeom prst="rect">
            <a:avLst/>
          </a:prstGeom>
          <a:solidFill>
            <a:srgbClr val="22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005840" cy="31750"/>
          </a:xfrm>
          <a:prstGeom prst="rect">
            <a:avLst/>
          </a:prstGeom>
          <a:solidFill>
            <a:srgbClr val="C9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02920" cy="31750"/>
          </a:xfrm>
          <a:prstGeom prst="rect">
            <a:avLst/>
          </a:prstGeom>
          <a:solidFill>
            <a:srgbClr val="5E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645920"/>
            <a:ext cx="1645920" cy="31750"/>
          </a:xfrm>
          <a:prstGeom prst="rect">
            <a:avLst/>
          </a:prstGeom>
          <a:solidFill>
            <a:srgbClr val="1A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5029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500">
                <a:solidFill>
                  <a:srgbClr val="C9A86B"/>
                </a:solidFill>
                <a:latin typeface="Calibri"/>
              </a:rPr>
              <a:t>GENOSAI  ·  TECH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8046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spc="200">
                <a:solidFill>
                  <a:srgbClr val="8B95AE"/>
                </a:solidFill>
                <a:latin typeface="Calibri"/>
              </a:rPr>
              <a:t>Premium Digital  /  Brand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3949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spc="400">
                <a:solidFill>
                  <a:srgbClr val="8B95AE"/>
                </a:solidFill>
                <a:latin typeface="Calibri"/>
              </a:rPr>
              <a:t>AUDIT &amp; PROPOSAL —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7150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B95AE"/>
                </a:solidFill>
                <a:latin typeface="Calibri"/>
              </a:rPr>
              <a:t>Confidential · For Aqua Technic Leadership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2920" y="6126480"/>
            <a:ext cx="3154680" cy="0"/>
          </a:xfrm>
          <a:prstGeom prst="line">
            <a:avLst/>
          </a:prstGeom>
          <a:ln w="9525">
            <a:solidFill>
              <a:srgbClr val="222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2920" y="619963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spc="200">
                <a:solidFill>
                  <a:srgbClr val="8B95AE"/>
                </a:solidFill>
                <a:latin typeface="Calibri"/>
              </a:rPr>
              <a:t>Hyderabad  ·  India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868680"/>
            <a:ext cx="6858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spc="500">
                <a:solidFill>
                  <a:srgbClr val="5ED9C4"/>
                </a:solidFill>
                <a:latin typeface="Calibri"/>
              </a:rPr>
              <a:t>PREPARED FOR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1188720"/>
            <a:ext cx="6858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 spc="300">
                <a:solidFill>
                  <a:srgbClr val="F6F7FB"/>
                </a:solidFill>
                <a:latin typeface="Calibri"/>
              </a:rPr>
              <a:t>AQUA TECHNIC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783080"/>
            <a:ext cx="6858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spc="200">
                <a:solidFill>
                  <a:srgbClr val="8B95AE"/>
                </a:solidFill>
                <a:latin typeface="Calibri"/>
              </a:rPr>
              <a:t>Luxury Pools  ·  Waterproofing  ·  Aquatic Engineering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754880" y="2331720"/>
            <a:ext cx="6949440" cy="0"/>
          </a:xfrm>
          <a:prstGeom prst="line">
            <a:avLst/>
          </a:prstGeom>
          <a:ln w="9525">
            <a:solidFill>
              <a:srgbClr val="222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754880" y="2606040"/>
            <a:ext cx="69494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6F7FB"/>
                </a:solidFill>
                <a:latin typeface="Calibri"/>
              </a:rPr>
              <a:t>Luxury Website</a:t>
            </a:r>
          </a:p>
          <a:p>
            <a:pPr algn="l">
              <a:lnSpc>
                <a:spcPct val="105000"/>
              </a:lnSpc>
            </a:pPr>
            <a:r>
              <a:rPr sz="3600" b="1">
                <a:solidFill>
                  <a:srgbClr val="F6F7FB"/>
                </a:solidFill>
                <a:latin typeface="Calibri"/>
              </a:rPr>
              <a:t>&amp; Digital Experience</a:t>
            </a:r>
          </a:p>
          <a:p>
            <a:pPr algn="l">
              <a:lnSpc>
                <a:spcPct val="105000"/>
              </a:lnSpc>
            </a:pPr>
            <a:r>
              <a:rPr sz="3600" b="1">
                <a:solidFill>
                  <a:srgbClr val="F6F7FB"/>
                </a:solidFill>
                <a:latin typeface="Calibri"/>
              </a:rPr>
              <a:t>Proposal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4709160"/>
            <a:ext cx="6949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C8CFDE"/>
                </a:solidFill>
                <a:latin typeface="Calibri"/>
              </a:rPr>
              <a:t>A cinematic digital home for Aqua Technic — built to attract premium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C8CFDE"/>
                </a:solidFill>
                <a:latin typeface="Calibri"/>
              </a:rPr>
              <a:t>clients, qualify leads automatically, and reflect the craft behind the brand.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5486400"/>
            <a:ext cx="6949440" cy="868680"/>
          </a:xfrm>
          <a:prstGeom prst="roundRect">
            <a:avLst>
              <a:gd name="adj" fmla="val 18000"/>
            </a:avLst>
          </a:prstGeom>
          <a:solidFill>
            <a:srgbClr val="0E121E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74920" y="565099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spc="400">
                <a:solidFill>
                  <a:srgbClr val="C9A86B"/>
                </a:solidFill>
                <a:latin typeface="Calibri"/>
              </a:rPr>
              <a:t>PREPARED BY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58978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6F7FB"/>
                </a:solidFill>
                <a:latin typeface="Calibri"/>
              </a:rPr>
              <a:t>GenosAI Tech  ·  Founder: Rohan Malik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92640" y="5742432"/>
            <a:ext cx="1828800" cy="365760"/>
          </a:xfrm>
          <a:prstGeom prst="roundRect">
            <a:avLst>
              <a:gd name="adj" fmla="val 40000"/>
            </a:avLst>
          </a:prstGeom>
          <a:solidFill>
            <a:srgbClr val="12222A"/>
          </a:solidFill>
          <a:ln w="6350">
            <a:solidFill>
              <a:srgbClr val="1F7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92640" y="5742432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5ED9C4"/>
                </a:solidFill>
                <a:latin typeface="Calibri"/>
              </a:rPr>
              <a:t>v1.0  ·  Draft Proposal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92608" cy="27940"/>
          </a:xfrm>
          <a:prstGeom prst="rect">
            <a:avLst/>
          </a:prstGeom>
          <a:solidFill>
            <a:srgbClr val="C9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2743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spc="300">
                <a:solidFill>
                  <a:srgbClr val="8B95AE"/>
                </a:solidFill>
                <a:latin typeface="Calibri"/>
              </a:rPr>
              <a:t>GENOSAI  ×  AQUA TECHNIC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74320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spc="300">
                <a:solidFill>
                  <a:srgbClr val="8B95AE"/>
                </a:solidFill>
                <a:latin typeface="Calibri"/>
              </a:rPr>
              <a:t>01  ·  AUDIT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6350">
            <a:solidFill>
              <a:srgbClr val="222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B95AE"/>
                </a:solidFill>
                <a:latin typeface="Calibri"/>
              </a:rPr>
              <a:t>Luxury Website &amp; Digital Experience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510528"/>
            <a:ext cx="3456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spc="200">
                <a:solidFill>
                  <a:srgbClr val="8B95AE"/>
                </a:solidFill>
                <a:latin typeface="Calibri"/>
              </a:rPr>
              <a:t>02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914400"/>
            <a:ext cx="228600" cy="25400"/>
          </a:xfrm>
          <a:prstGeom prst="rect">
            <a:avLst/>
          </a:prstGeom>
          <a:solidFill>
            <a:srgbClr val="5E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80467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spc="400">
                <a:solidFill>
                  <a:srgbClr val="5ED9C4"/>
                </a:solidFill>
                <a:latin typeface="Calibri"/>
              </a:rPr>
              <a:t>WHERE THE BRAND STANDS 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14300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6F7FB"/>
                </a:solidFill>
                <a:latin typeface="Calibri"/>
              </a:rPr>
              <a:t>Current Digital Presence — A Quick Read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24028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8B95AE"/>
                </a:solidFill>
                <a:latin typeface="Calibri"/>
              </a:rPr>
              <a:t>Aqua Technic's craftsmanship is premium. The digital storefront, however, doesn't yet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8B95AE"/>
                </a:solidFill>
                <a:latin typeface="Calibri"/>
              </a:rPr>
              <a:t>carry the same weight. Modern clients judge professionalism on screen, first.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926080"/>
            <a:ext cx="5577840" cy="3429000"/>
          </a:xfrm>
          <a:prstGeom prst="roundRect">
            <a:avLst>
              <a:gd name="adj" fmla="val 5000"/>
            </a:avLst>
          </a:prstGeom>
          <a:solidFill>
            <a:srgbClr val="0E121E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2004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spc="400">
                <a:solidFill>
                  <a:srgbClr val="5ED9C4"/>
                </a:solidFill>
                <a:latin typeface="Calibri"/>
              </a:rPr>
              <a:t>WHAT'S ALREADY STRONG</a:t>
            </a:r>
          </a:p>
        </p:txBody>
      </p:sp>
      <p:sp>
        <p:nvSpPr>
          <p:cNvPr id="15" name="Oval 14"/>
          <p:cNvSpPr/>
          <p:nvPr/>
        </p:nvSpPr>
        <p:spPr>
          <a:xfrm>
            <a:off x="978408" y="3776472"/>
            <a:ext cx="146304" cy="146304"/>
          </a:xfrm>
          <a:prstGeom prst="ellipse">
            <a:avLst/>
          </a:prstGeom>
          <a:solidFill>
            <a:srgbClr val="5E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25880" y="3703320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6F7FB"/>
                </a:solidFill>
                <a:latin typeface="Calibri"/>
              </a:rPr>
              <a:t>Years of execution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97764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8B95AE"/>
                </a:solidFill>
                <a:latin typeface="Calibri"/>
              </a:rPr>
              <a:t>A real portfolio of finished pools, waterproofing and renovations across the city.</a:t>
            </a:r>
          </a:p>
        </p:txBody>
      </p:sp>
      <p:sp>
        <p:nvSpPr>
          <p:cNvPr id="18" name="Oval 17"/>
          <p:cNvSpPr/>
          <p:nvPr/>
        </p:nvSpPr>
        <p:spPr>
          <a:xfrm>
            <a:off x="978408" y="4398264"/>
            <a:ext cx="146304" cy="146304"/>
          </a:xfrm>
          <a:prstGeom prst="ellipse">
            <a:avLst/>
          </a:prstGeom>
          <a:solidFill>
            <a:srgbClr val="5E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25880" y="4325112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6F7FB"/>
                </a:solidFill>
                <a:latin typeface="Calibri"/>
              </a:rPr>
              <a:t>Operational credibility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599432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8B95AE"/>
                </a:solidFill>
                <a:latin typeface="Calibri"/>
              </a:rPr>
              <a:t>On-ground experience that newer competitors simply cannot fake.</a:t>
            </a:r>
          </a:p>
        </p:txBody>
      </p:sp>
      <p:sp>
        <p:nvSpPr>
          <p:cNvPr id="21" name="Oval 20"/>
          <p:cNvSpPr/>
          <p:nvPr/>
        </p:nvSpPr>
        <p:spPr>
          <a:xfrm>
            <a:off x="978408" y="5020056"/>
            <a:ext cx="146304" cy="146304"/>
          </a:xfrm>
          <a:prstGeom prst="ellipse">
            <a:avLst/>
          </a:prstGeom>
          <a:solidFill>
            <a:srgbClr val="5E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325880" y="4946904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6F7FB"/>
                </a:solidFill>
                <a:latin typeface="Calibri"/>
              </a:rPr>
              <a:t>Loyal client 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5221224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8B95AE"/>
                </a:solidFill>
                <a:latin typeface="Calibri"/>
              </a:rPr>
              <a:t>Repeat owners, builders and architects — strong word-of-mouth foundations.</a:t>
            </a:r>
          </a:p>
        </p:txBody>
      </p:sp>
      <p:sp>
        <p:nvSpPr>
          <p:cNvPr id="24" name="Oval 23"/>
          <p:cNvSpPr/>
          <p:nvPr/>
        </p:nvSpPr>
        <p:spPr>
          <a:xfrm>
            <a:off x="978408" y="5641848"/>
            <a:ext cx="146304" cy="146304"/>
          </a:xfrm>
          <a:prstGeom prst="ellipse">
            <a:avLst/>
          </a:prstGeom>
          <a:solidFill>
            <a:srgbClr val="5E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25880" y="5568696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6F7FB"/>
                </a:solidFill>
                <a:latin typeface="Calibri"/>
              </a:rPr>
              <a:t>Domain expertise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843016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8B95AE"/>
                </a:solidFill>
                <a:latin typeface="Calibri"/>
              </a:rPr>
              <a:t>Deep understanding of materials, structures and aquatic engineering.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2926080"/>
            <a:ext cx="5440680" cy="3429000"/>
          </a:xfrm>
          <a:prstGeom prst="roundRect">
            <a:avLst>
              <a:gd name="adj" fmla="val 5000"/>
            </a:avLst>
          </a:prstGeom>
          <a:solidFill>
            <a:srgbClr val="0E121E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29400" y="3200400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spc="400">
                <a:solidFill>
                  <a:srgbClr val="C9A86B"/>
                </a:solidFill>
                <a:latin typeface="Calibri"/>
              </a:rPr>
              <a:t>ROOM TO ELEVATE</a:t>
            </a:r>
          </a:p>
        </p:txBody>
      </p:sp>
      <p:sp>
        <p:nvSpPr>
          <p:cNvPr id="29" name="Oval 28"/>
          <p:cNvSpPr/>
          <p:nvPr/>
        </p:nvSpPr>
        <p:spPr>
          <a:xfrm>
            <a:off x="6748272" y="3767328"/>
            <a:ext cx="128016" cy="128016"/>
          </a:xfrm>
          <a:prstGeom prst="ellipse">
            <a:avLst/>
          </a:prstGeom>
          <a:solidFill>
            <a:srgbClr val="C9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040880" y="37033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6F7FB"/>
                </a:solidFill>
                <a:latin typeface="Calibri"/>
              </a:rPr>
              <a:t>Outdated design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3721608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8B95AE"/>
                </a:solidFill>
                <a:latin typeface="Calibri"/>
              </a:rPr>
              <a:t>Current visuals don't match the premium tier the work deserves.</a:t>
            </a:r>
          </a:p>
        </p:txBody>
      </p:sp>
      <p:sp>
        <p:nvSpPr>
          <p:cNvPr id="32" name="Oval 31"/>
          <p:cNvSpPr/>
          <p:nvPr/>
        </p:nvSpPr>
        <p:spPr>
          <a:xfrm>
            <a:off x="6748272" y="4187952"/>
            <a:ext cx="128016" cy="128016"/>
          </a:xfrm>
          <a:prstGeom prst="ellipse">
            <a:avLst/>
          </a:prstGeom>
          <a:solidFill>
            <a:srgbClr val="C9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040880" y="412394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6F7FB"/>
                </a:solidFill>
                <a:latin typeface="Calibri"/>
              </a:rPr>
              <a:t>Weak visual hierarchy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4142232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8B95AE"/>
                </a:solidFill>
                <a:latin typeface="Calibri"/>
              </a:rPr>
              <a:t>Important information competes for attention instead of guiding the eye.</a:t>
            </a:r>
          </a:p>
        </p:txBody>
      </p:sp>
      <p:sp>
        <p:nvSpPr>
          <p:cNvPr id="35" name="Oval 34"/>
          <p:cNvSpPr/>
          <p:nvPr/>
        </p:nvSpPr>
        <p:spPr>
          <a:xfrm>
            <a:off x="6748272" y="4608576"/>
            <a:ext cx="128016" cy="128016"/>
          </a:xfrm>
          <a:prstGeom prst="ellipse">
            <a:avLst/>
          </a:prstGeom>
          <a:solidFill>
            <a:srgbClr val="C9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040880" y="454456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6F7FB"/>
                </a:solidFill>
                <a:latin typeface="Calibri"/>
              </a:rPr>
              <a:t>Limited UX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0" y="4562856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8B95AE"/>
                </a:solidFill>
                <a:latin typeface="Calibri"/>
              </a:rPr>
              <a:t>Modern interactions (scroll, motion, mobile) are largely absent.</a:t>
            </a:r>
          </a:p>
        </p:txBody>
      </p:sp>
      <p:sp>
        <p:nvSpPr>
          <p:cNvPr id="38" name="Oval 37"/>
          <p:cNvSpPr/>
          <p:nvPr/>
        </p:nvSpPr>
        <p:spPr>
          <a:xfrm>
            <a:off x="6748272" y="5029200"/>
            <a:ext cx="128016" cy="128016"/>
          </a:xfrm>
          <a:prstGeom prst="ellipse">
            <a:avLst/>
          </a:prstGeom>
          <a:solidFill>
            <a:srgbClr val="C9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040880" y="496519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6F7FB"/>
                </a:solidFill>
                <a:latin typeface="Calibri"/>
              </a:rPr>
              <a:t>No conversion flow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9680" y="498348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8B95AE"/>
                </a:solidFill>
                <a:latin typeface="Calibri"/>
              </a:rPr>
              <a:t>Visitors arrive — but the path to inquiry isn't shaped or tracked.</a:t>
            </a:r>
          </a:p>
        </p:txBody>
      </p:sp>
      <p:sp>
        <p:nvSpPr>
          <p:cNvPr id="41" name="Oval 40"/>
          <p:cNvSpPr/>
          <p:nvPr/>
        </p:nvSpPr>
        <p:spPr>
          <a:xfrm>
            <a:off x="6748272" y="5449824"/>
            <a:ext cx="128016" cy="128016"/>
          </a:xfrm>
          <a:prstGeom prst="ellipse">
            <a:avLst/>
          </a:prstGeom>
          <a:solidFill>
            <a:srgbClr val="C9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040880" y="538581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6F7FB"/>
                </a:solidFill>
                <a:latin typeface="Calibri"/>
              </a:rPr>
              <a:t>Thin project storytelling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0" y="5404104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8B95AE"/>
                </a:solidFill>
                <a:latin typeface="Calibri"/>
              </a:rPr>
              <a:t>Projects deserve cinematic showcases, not generic image grids.</a:t>
            </a:r>
          </a:p>
        </p:txBody>
      </p:sp>
      <p:sp>
        <p:nvSpPr>
          <p:cNvPr id="44" name="Oval 43"/>
          <p:cNvSpPr/>
          <p:nvPr/>
        </p:nvSpPr>
        <p:spPr>
          <a:xfrm>
            <a:off x="6748272" y="5870448"/>
            <a:ext cx="128016" cy="128016"/>
          </a:xfrm>
          <a:prstGeom prst="ellipse">
            <a:avLst/>
          </a:prstGeom>
          <a:solidFill>
            <a:srgbClr val="C9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040880" y="58064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6F7FB"/>
                </a:solidFill>
                <a:latin typeface="Calibri"/>
              </a:rPr>
              <a:t>No automation layer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69680" y="5824728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8B95AE"/>
                </a:solidFill>
                <a:latin typeface="Calibri"/>
              </a:rPr>
              <a:t>Inquiries, quotes and follow-ups still rely on manual back-and-forth.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92608" cy="27940"/>
          </a:xfrm>
          <a:prstGeom prst="rect">
            <a:avLst/>
          </a:prstGeom>
          <a:solidFill>
            <a:srgbClr val="C9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2743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spc="300">
                <a:solidFill>
                  <a:srgbClr val="8B95AE"/>
                </a:solidFill>
                <a:latin typeface="Calibri"/>
              </a:rPr>
              <a:t>GENOSAI  ×  AQUA TECHNIC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74320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spc="300">
                <a:solidFill>
                  <a:srgbClr val="8B95AE"/>
                </a:solidFill>
                <a:latin typeface="Calibri"/>
              </a:rPr>
              <a:t>02  ·  VISION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6350">
            <a:solidFill>
              <a:srgbClr val="222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B95AE"/>
                </a:solidFill>
                <a:latin typeface="Calibri"/>
              </a:rPr>
              <a:t>Luxury Website &amp; Digital Experience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510528"/>
            <a:ext cx="3456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spc="200">
                <a:solidFill>
                  <a:srgbClr val="8B95AE"/>
                </a:solidFill>
                <a:latin typeface="Calibri"/>
              </a:rPr>
              <a:t>03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914400"/>
            <a:ext cx="228600" cy="25400"/>
          </a:xfrm>
          <a:prstGeom prst="rect">
            <a:avLst/>
          </a:prstGeom>
          <a:solidFill>
            <a:srgbClr val="5E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80467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spc="400">
                <a:solidFill>
                  <a:srgbClr val="5ED9C4"/>
                </a:solidFill>
                <a:latin typeface="Calibri"/>
              </a:rPr>
              <a:t>THE OPPORTUNITY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14300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6F7FB"/>
                </a:solidFill>
                <a:latin typeface="Calibri"/>
              </a:rPr>
              <a:t>A Modern Luxury Digital Experience</a:t>
            </a:r>
          </a:p>
          <a:p>
            <a:pPr algn="l">
              <a:lnSpc>
                <a:spcPct val="105000"/>
              </a:lnSpc>
            </a:pPr>
            <a:r>
              <a:rPr sz="3200" b="1">
                <a:solidFill>
                  <a:srgbClr val="F6F7FB"/>
                </a:solidFill>
                <a:latin typeface="Calibri"/>
              </a:rPr>
              <a:t>for Aqua Technic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6400800" cy="3108960"/>
          </a:xfrm>
          <a:prstGeom prst="roundRect">
            <a:avLst>
              <a:gd name="adj" fmla="val 5000"/>
            </a:avLst>
          </a:prstGeom>
          <a:solidFill>
            <a:srgbClr val="0E121E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42900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5ED9C4"/>
                </a:solidFill>
                <a:latin typeface="Calibri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14800"/>
            <a:ext cx="557784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6F7FB"/>
                </a:solidFill>
                <a:latin typeface="Calibri"/>
              </a:rPr>
              <a:t>We're not redesigning a website.</a:t>
            </a:r>
          </a:p>
          <a:p>
            <a:pPr algn="l">
              <a:lnSpc>
                <a:spcPct val="130000"/>
              </a:lnSpc>
            </a:pPr>
            <a:r>
              <a:rPr sz="1800" b="1">
                <a:solidFill>
                  <a:srgbClr val="F6F7FB"/>
                </a:solidFill>
                <a:latin typeface="Calibri"/>
              </a:rPr>
              <a:t>We're shaping how a luxury client feels</a:t>
            </a:r>
          </a:p>
          <a:p>
            <a:pPr algn="l">
              <a:lnSpc>
                <a:spcPct val="130000"/>
              </a:lnSpc>
            </a:pPr>
            <a:r>
              <a:rPr sz="1800" b="1">
                <a:solidFill>
                  <a:srgbClr val="F6F7FB"/>
                </a:solidFill>
                <a:latin typeface="Calibri"/>
              </a:rPr>
              <a:t>about Aqua Technic in the first 30 seconds.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623560"/>
            <a:ext cx="5577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8B95AE"/>
                </a:solidFill>
                <a:latin typeface="Calibri"/>
              </a:rPr>
              <a:t>— Design, words, motion and automation, working as one premium brand experience.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3108960"/>
            <a:ext cx="4572000" cy="713232"/>
          </a:xfrm>
          <a:prstGeom prst="roundRect">
            <a:avLst>
              <a:gd name="adj" fmla="val 14000"/>
            </a:avLst>
          </a:prstGeom>
          <a:solidFill>
            <a:srgbClr val="14192A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60920" y="32278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C9A86B"/>
                </a:solidFill>
                <a:latin typeface="Calibri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321868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6F7FB"/>
                </a:solidFill>
                <a:latin typeface="Calibri"/>
              </a:rPr>
              <a:t>Premium brand positioning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349300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8B95AE"/>
                </a:solidFill>
                <a:latin typeface="Calibri"/>
              </a:rPr>
              <a:t>Look and feel of a true luxury aquatic brand.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3886200"/>
            <a:ext cx="4572000" cy="713232"/>
          </a:xfrm>
          <a:prstGeom prst="roundRect">
            <a:avLst>
              <a:gd name="adj" fmla="val 14000"/>
            </a:avLst>
          </a:prstGeom>
          <a:solidFill>
            <a:srgbClr val="14192A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60920" y="40050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C9A86B"/>
                </a:solidFill>
                <a:latin typeface="Calibri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399592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6F7FB"/>
                </a:solidFill>
                <a:latin typeface="Calibri"/>
              </a:rPr>
              <a:t>Lead generation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427024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8B95AE"/>
                </a:solidFill>
                <a:latin typeface="Calibri"/>
              </a:rPr>
              <a:t>Every page nudges toward inquiry — without feeling pushy.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0" y="4663440"/>
            <a:ext cx="4572000" cy="713232"/>
          </a:xfrm>
          <a:prstGeom prst="roundRect">
            <a:avLst>
              <a:gd name="adj" fmla="val 14000"/>
            </a:avLst>
          </a:prstGeom>
          <a:solidFill>
            <a:srgbClr val="14192A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60920" y="478231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C9A86B"/>
                </a:solidFill>
                <a:latin typeface="Calibr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477316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6F7FB"/>
                </a:solidFill>
                <a:latin typeface="Calibri"/>
              </a:rPr>
              <a:t>Trust by craft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60" y="504748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8B95AE"/>
                </a:solidFill>
                <a:latin typeface="Calibri"/>
              </a:rPr>
              <a:t>Storytelling that proves the work, not just claims 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0" y="5440680"/>
            <a:ext cx="4572000" cy="713232"/>
          </a:xfrm>
          <a:prstGeom prst="roundRect">
            <a:avLst>
              <a:gd name="adj" fmla="val 14000"/>
            </a:avLst>
          </a:prstGeom>
          <a:solidFill>
            <a:srgbClr val="14192A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60920" y="555955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C9A86B"/>
                </a:solidFill>
                <a:latin typeface="Calibr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9560" y="555040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6F7FB"/>
                </a:solidFill>
                <a:latin typeface="Calibri"/>
              </a:rPr>
              <a:t>Automated interaction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09560" y="582472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8B95AE"/>
                </a:solidFill>
                <a:latin typeface="Calibri"/>
              </a:rPr>
              <a:t>Quiet, smart customer handling — 24×7, never tired.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92608" cy="27940"/>
          </a:xfrm>
          <a:prstGeom prst="rect">
            <a:avLst/>
          </a:prstGeom>
          <a:solidFill>
            <a:srgbClr val="C9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2743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spc="300">
                <a:solidFill>
                  <a:srgbClr val="8B95AE"/>
                </a:solidFill>
                <a:latin typeface="Calibri"/>
              </a:rPr>
              <a:t>GENOSAI  ×  AQUA TECHNIC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74320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spc="300">
                <a:solidFill>
                  <a:srgbClr val="8B95AE"/>
                </a:solidFill>
                <a:latin typeface="Calibri"/>
              </a:rPr>
              <a:t>03  ·  WEBSITE FEATURES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6350">
            <a:solidFill>
              <a:srgbClr val="222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B95AE"/>
                </a:solidFill>
                <a:latin typeface="Calibri"/>
              </a:rPr>
              <a:t>Luxury Website &amp; Digital Experience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510528"/>
            <a:ext cx="3456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spc="200">
                <a:solidFill>
                  <a:srgbClr val="8B95AE"/>
                </a:solidFill>
                <a:latin typeface="Calibri"/>
              </a:rPr>
              <a:t>04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914400"/>
            <a:ext cx="228600" cy="25400"/>
          </a:xfrm>
          <a:prstGeom prst="rect">
            <a:avLst/>
          </a:prstGeom>
          <a:solidFill>
            <a:srgbClr val="5E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80467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spc="400">
                <a:solidFill>
                  <a:srgbClr val="5ED9C4"/>
                </a:solidFill>
                <a:latin typeface="Calibri"/>
              </a:rPr>
              <a:t>WHAT THE NEW SITE BRINGS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14300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6F7FB"/>
                </a:solidFill>
                <a:latin typeface="Calibri"/>
              </a:rPr>
              <a:t>Five Pillars of the Premium Experience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788920"/>
            <a:ext cx="2152497" cy="3566160"/>
          </a:xfrm>
          <a:prstGeom prst="roundRect">
            <a:avLst>
              <a:gd name="adj" fmla="val 7000"/>
            </a:avLst>
          </a:prstGeom>
          <a:solidFill>
            <a:srgbClr val="0E121E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063240"/>
            <a:ext cx="160385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spc="400">
                <a:solidFill>
                  <a:srgbClr val="C9A86B"/>
                </a:solidFill>
                <a:latin typeface="Calibri"/>
              </a:rPr>
              <a:t>FEATURE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37560"/>
            <a:ext cx="1603857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5ED9C4"/>
                </a:solidFill>
                <a:latin typeface="Calibri"/>
              </a:rPr>
              <a:t>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0" y="4663439"/>
            <a:ext cx="0" cy="0"/>
          </a:xfrm>
          <a:prstGeom prst="line">
            <a:avLst/>
          </a:prstGeom>
          <a:ln w="9525">
            <a:solidFill>
              <a:srgbClr val="222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7240" y="4800600"/>
            <a:ext cx="1603857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6F7FB"/>
                </a:solidFill>
                <a:latin typeface="Calibri"/>
              </a:rPr>
              <a:t>Luxury Modern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669280"/>
            <a:ext cx="1603857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8B95AE"/>
                </a:solidFill>
                <a:latin typeface="Calibri"/>
              </a:rPr>
              <a:t>Cinematic, sharp, mobile-first.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65145" y="2788920"/>
            <a:ext cx="2152497" cy="3566160"/>
          </a:xfrm>
          <a:prstGeom prst="roundRect">
            <a:avLst>
              <a:gd name="adj" fmla="val 7000"/>
            </a:avLst>
          </a:prstGeom>
          <a:solidFill>
            <a:srgbClr val="0E121E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039465" y="3063240"/>
            <a:ext cx="160385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spc="400">
                <a:solidFill>
                  <a:srgbClr val="C9A86B"/>
                </a:solidFill>
                <a:latin typeface="Calibri"/>
              </a:rPr>
              <a:t>FEATURE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9465" y="3337560"/>
            <a:ext cx="1603857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5ED9C4"/>
                </a:solidFill>
                <a:latin typeface="Calibri"/>
              </a:rPr>
              <a:t>B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0" y="4663439"/>
            <a:ext cx="0" cy="0"/>
          </a:xfrm>
          <a:prstGeom prst="line">
            <a:avLst/>
          </a:prstGeom>
          <a:ln w="9525">
            <a:solidFill>
              <a:srgbClr val="222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039465" y="4800600"/>
            <a:ext cx="1603857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6F7FB"/>
                </a:solidFill>
                <a:latin typeface="Calibri"/>
              </a:rPr>
              <a:t>Project Showcase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39465" y="5669280"/>
            <a:ext cx="1603857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8B95AE"/>
                </a:solidFill>
                <a:latin typeface="Calibri"/>
              </a:rPr>
              <a:t>Every build, told like a story.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7371" y="2788920"/>
            <a:ext cx="2152497" cy="3566160"/>
          </a:xfrm>
          <a:prstGeom prst="roundRect">
            <a:avLst>
              <a:gd name="adj" fmla="val 7000"/>
            </a:avLst>
          </a:prstGeom>
          <a:solidFill>
            <a:srgbClr val="0E121E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01691" y="3063240"/>
            <a:ext cx="160385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spc="400">
                <a:solidFill>
                  <a:srgbClr val="C9A86B"/>
                </a:solidFill>
                <a:latin typeface="Calibri"/>
              </a:rPr>
              <a:t>FEATURE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1691" y="3337560"/>
            <a:ext cx="1603857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5ED9C4"/>
                </a:solidFill>
                <a:latin typeface="Calibri"/>
              </a:rPr>
              <a:t>C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0" y="4663439"/>
            <a:ext cx="0" cy="0"/>
          </a:xfrm>
          <a:prstGeom prst="line">
            <a:avLst/>
          </a:prstGeom>
          <a:ln w="9525">
            <a:solidFill>
              <a:srgbClr val="222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301691" y="4800600"/>
            <a:ext cx="1603857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6F7FB"/>
                </a:solidFill>
                <a:latin typeface="Calibri"/>
              </a:rPr>
              <a:t>Interactive Cost Calculator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1691" y="5669280"/>
            <a:ext cx="1603857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8B95AE"/>
                </a:solidFill>
                <a:latin typeface="Calibri"/>
              </a:rPr>
              <a:t>Pricing clarity in 60 seconds.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89596" y="2788920"/>
            <a:ext cx="2152497" cy="3566160"/>
          </a:xfrm>
          <a:prstGeom prst="roundRect">
            <a:avLst>
              <a:gd name="adj" fmla="val 7000"/>
            </a:avLst>
          </a:prstGeom>
          <a:solidFill>
            <a:srgbClr val="0E121E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63916" y="3063240"/>
            <a:ext cx="160385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spc="400">
                <a:solidFill>
                  <a:srgbClr val="C9A86B"/>
                </a:solidFill>
                <a:latin typeface="Calibri"/>
              </a:rPr>
              <a:t>FEATURE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63916" y="3337560"/>
            <a:ext cx="1603857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5ED9C4"/>
                </a:solidFill>
                <a:latin typeface="Calibri"/>
              </a:rPr>
              <a:t>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0" y="4663439"/>
            <a:ext cx="0" cy="0"/>
          </a:xfrm>
          <a:prstGeom prst="line">
            <a:avLst/>
          </a:prstGeom>
          <a:ln w="9525">
            <a:solidFill>
              <a:srgbClr val="222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563916" y="4800600"/>
            <a:ext cx="1603857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6F7FB"/>
                </a:solidFill>
                <a:latin typeface="Calibri"/>
              </a:rPr>
              <a:t>WhatsApp Integration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63916" y="5669280"/>
            <a:ext cx="1603857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8B95AE"/>
                </a:solidFill>
                <a:latin typeface="Calibri"/>
              </a:rPr>
              <a:t>One tap from interest to chat.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51822" y="2788920"/>
            <a:ext cx="2152497" cy="3566160"/>
          </a:xfrm>
          <a:prstGeom prst="roundRect">
            <a:avLst>
              <a:gd name="adj" fmla="val 7000"/>
            </a:avLst>
          </a:prstGeom>
          <a:solidFill>
            <a:srgbClr val="0E121E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826142" y="3063240"/>
            <a:ext cx="160385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spc="400">
                <a:solidFill>
                  <a:srgbClr val="C9A86B"/>
                </a:solidFill>
                <a:latin typeface="Calibri"/>
              </a:rPr>
              <a:t>FEATURE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26142" y="3337560"/>
            <a:ext cx="1603857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5ED9C4"/>
                </a:solidFill>
                <a:latin typeface="Calibri"/>
              </a:rPr>
              <a:t>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0" y="4663439"/>
            <a:ext cx="0" cy="0"/>
          </a:xfrm>
          <a:prstGeom prst="line">
            <a:avLst/>
          </a:prstGeom>
          <a:ln w="9525">
            <a:solidFill>
              <a:srgbClr val="222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826142" y="4800600"/>
            <a:ext cx="1603857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6F7FB"/>
                </a:solidFill>
                <a:latin typeface="Calibri"/>
              </a:rPr>
              <a:t>Smart Customer Assistant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26142" y="5669280"/>
            <a:ext cx="1603857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8B95AE"/>
                </a:solidFill>
                <a:latin typeface="Calibri"/>
              </a:rPr>
              <a:t>Answers, quotes, and follow-up.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92608" cy="27940"/>
          </a:xfrm>
          <a:prstGeom prst="rect">
            <a:avLst/>
          </a:prstGeom>
          <a:solidFill>
            <a:srgbClr val="C9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2743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spc="300">
                <a:solidFill>
                  <a:srgbClr val="8B95AE"/>
                </a:solidFill>
                <a:latin typeface="Calibri"/>
              </a:rPr>
              <a:t>GENOSAI  ×  AQUA TECHNIC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74320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spc="300">
                <a:solidFill>
                  <a:srgbClr val="8B95AE"/>
                </a:solidFill>
                <a:latin typeface="Calibri"/>
              </a:rPr>
              <a:t>03A  ·  DESIGN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6350">
            <a:solidFill>
              <a:srgbClr val="222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B95AE"/>
                </a:solidFill>
                <a:latin typeface="Calibri"/>
              </a:rPr>
              <a:t>Luxury Website &amp; Digital Experience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510528"/>
            <a:ext cx="3456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spc="200">
                <a:solidFill>
                  <a:srgbClr val="8B95AE"/>
                </a:solidFill>
                <a:latin typeface="Calibri"/>
              </a:rPr>
              <a:t>05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914400"/>
            <a:ext cx="228600" cy="25400"/>
          </a:xfrm>
          <a:prstGeom prst="rect">
            <a:avLst/>
          </a:prstGeom>
          <a:solidFill>
            <a:srgbClr val="5E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80467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spc="400">
                <a:solidFill>
                  <a:srgbClr val="5ED9C4"/>
                </a:solidFill>
                <a:latin typeface="Calibri"/>
              </a:rPr>
              <a:t>MODULE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14300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6F7FB"/>
                </a:solidFill>
                <a:latin typeface="Calibri"/>
              </a:rPr>
              <a:t>Luxury Modern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24028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8B95AE"/>
                </a:solidFill>
                <a:latin typeface="Calibri"/>
              </a:rPr>
              <a:t>Quiet confidence. Cinematic feel. Built for clients who already buy premium.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788920"/>
            <a:ext cx="5577840" cy="3566160"/>
          </a:xfrm>
          <a:prstGeom prst="roundRect">
            <a:avLst>
              <a:gd name="adj" fmla="val 5000"/>
            </a:avLst>
          </a:prstGeom>
          <a:solidFill>
            <a:srgbClr val="0E121E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96112" y="3236976"/>
            <a:ext cx="128016" cy="128016"/>
          </a:xfrm>
          <a:prstGeom prst="ellipse">
            <a:avLst/>
          </a:prstGeom>
          <a:solidFill>
            <a:srgbClr val="5E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34440" y="31546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F6F7FB"/>
                </a:solidFill>
                <a:latin typeface="Calibri"/>
              </a:rPr>
              <a:t>Cinematic hero sections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172968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8B95AE"/>
                </a:solidFill>
                <a:latin typeface="Calibri"/>
              </a:rPr>
              <a:t>Full-bleed visuals that feel like a luxury brand film.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3739896"/>
            <a:ext cx="128016" cy="128016"/>
          </a:xfrm>
          <a:prstGeom prst="ellipse">
            <a:avLst/>
          </a:prstGeom>
          <a:solidFill>
            <a:srgbClr val="5E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34440" y="36576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F6F7FB"/>
                </a:solidFill>
                <a:latin typeface="Calibri"/>
              </a:rPr>
              <a:t>Smooth, intentional motion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3675888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8B95AE"/>
                </a:solidFill>
                <a:latin typeface="Calibri"/>
              </a:rPr>
              <a:t>Subtle animation that guides the eye — never distracts.</a:t>
            </a:r>
          </a:p>
        </p:txBody>
      </p:sp>
      <p:sp>
        <p:nvSpPr>
          <p:cNvPr id="20" name="Oval 19"/>
          <p:cNvSpPr/>
          <p:nvPr/>
        </p:nvSpPr>
        <p:spPr>
          <a:xfrm>
            <a:off x="896112" y="4242816"/>
            <a:ext cx="128016" cy="128016"/>
          </a:xfrm>
          <a:prstGeom prst="ellipse">
            <a:avLst/>
          </a:prstGeom>
          <a:solidFill>
            <a:srgbClr val="5E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34440" y="416052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F6F7FB"/>
                </a:solidFill>
                <a:latin typeface="Calibri"/>
              </a:rPr>
              <a:t>Modern editorial typography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4178808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8B95AE"/>
                </a:solidFill>
                <a:latin typeface="Calibri"/>
              </a:rPr>
              <a:t>High-end magazine-grade type pairing for headlines and body.</a:t>
            </a:r>
          </a:p>
        </p:txBody>
      </p:sp>
      <p:sp>
        <p:nvSpPr>
          <p:cNvPr id="23" name="Oval 22"/>
          <p:cNvSpPr/>
          <p:nvPr/>
        </p:nvSpPr>
        <p:spPr>
          <a:xfrm>
            <a:off x="896112" y="4745736"/>
            <a:ext cx="128016" cy="128016"/>
          </a:xfrm>
          <a:prstGeom prst="ellipse">
            <a:avLst/>
          </a:prstGeom>
          <a:solidFill>
            <a:srgbClr val="5E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34440" y="466344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F6F7FB"/>
                </a:solidFill>
                <a:latin typeface="Calibri"/>
              </a:rPr>
              <a:t>Architecture-inspired UI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4681728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8B95AE"/>
                </a:solidFill>
                <a:latin typeface="Calibri"/>
              </a:rPr>
              <a:t>Restraint, white space, materials — pulled from luxury interiors.</a:t>
            </a:r>
          </a:p>
        </p:txBody>
      </p:sp>
      <p:sp>
        <p:nvSpPr>
          <p:cNvPr id="26" name="Oval 25"/>
          <p:cNvSpPr/>
          <p:nvPr/>
        </p:nvSpPr>
        <p:spPr>
          <a:xfrm>
            <a:off x="896112" y="5248656"/>
            <a:ext cx="128016" cy="128016"/>
          </a:xfrm>
          <a:prstGeom prst="ellipse">
            <a:avLst/>
          </a:prstGeom>
          <a:solidFill>
            <a:srgbClr val="5E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34440" y="51663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F6F7FB"/>
                </a:solidFill>
                <a:latin typeface="Calibri"/>
              </a:rPr>
              <a:t>Premium imagery &amp; video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5184648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8B95AE"/>
                </a:solidFill>
                <a:latin typeface="Calibri"/>
              </a:rPr>
              <a:t>Hero films and detail shots that make the work do the talking.</a:t>
            </a:r>
          </a:p>
        </p:txBody>
      </p:sp>
      <p:sp>
        <p:nvSpPr>
          <p:cNvPr id="29" name="Oval 28"/>
          <p:cNvSpPr/>
          <p:nvPr/>
        </p:nvSpPr>
        <p:spPr>
          <a:xfrm>
            <a:off x="896112" y="5751576"/>
            <a:ext cx="128016" cy="128016"/>
          </a:xfrm>
          <a:prstGeom prst="ellipse">
            <a:avLst/>
          </a:prstGeom>
          <a:solidFill>
            <a:srgbClr val="5E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234440" y="56692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F6F7FB"/>
                </a:solidFill>
                <a:latin typeface="Calibri"/>
              </a:rPr>
              <a:t>Mobile-first responsiveness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5687568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8B95AE"/>
                </a:solidFill>
                <a:latin typeface="Calibri"/>
              </a:rPr>
              <a:t>Every section, every animation, perfect on phones.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2788920"/>
            <a:ext cx="5486400" cy="3566160"/>
          </a:xfrm>
          <a:prstGeom prst="roundRect">
            <a:avLst>
              <a:gd name="adj" fmla="val 5000"/>
            </a:avLst>
          </a:prstGeom>
          <a:solidFill>
            <a:srgbClr val="090E18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17920" y="2788920"/>
            <a:ext cx="5486400" cy="365760"/>
          </a:xfrm>
          <a:prstGeom prst="rect">
            <a:avLst/>
          </a:prstGeom>
          <a:solidFill>
            <a:srgbClr val="0C1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92240" y="2880360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spc="400">
                <a:solidFill>
                  <a:srgbClr val="C9A86B"/>
                </a:solidFill>
                <a:latin typeface="Calibri"/>
              </a:rPr>
              <a:t>AQUA TECHNIC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288036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spc="300">
                <a:solidFill>
                  <a:srgbClr val="8B95AE"/>
                </a:solidFill>
                <a:latin typeface="Calibri"/>
              </a:rPr>
              <a:t>WORK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400" y="288036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spc="300">
                <a:solidFill>
                  <a:srgbClr val="8B95AE"/>
                </a:solidFill>
                <a:latin typeface="Calibri"/>
              </a:rPr>
              <a:t>STUDIO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288036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spc="300">
                <a:solidFill>
                  <a:srgbClr val="8B95AE"/>
                </a:solidFill>
                <a:latin typeface="Calibri"/>
              </a:rPr>
              <a:t>CALCULATOR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52760" y="288036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spc="300">
                <a:solidFill>
                  <a:srgbClr val="8B95AE"/>
                </a:solidFill>
                <a:latin typeface="Calibri"/>
              </a:rPr>
              <a:t>CONTACT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92240" y="3337560"/>
            <a:ext cx="4937760" cy="2103120"/>
          </a:xfrm>
          <a:prstGeom prst="roundRect">
            <a:avLst>
              <a:gd name="adj" fmla="val 3000"/>
            </a:avLst>
          </a:prstGeom>
          <a:solidFill>
            <a:srgbClr val="0F1D2A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949440" y="3886200"/>
            <a:ext cx="1828800" cy="25400"/>
          </a:xfrm>
          <a:prstGeom prst="rect">
            <a:avLst/>
          </a:prstGeom>
          <a:solidFill>
            <a:srgbClr val="5E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949440" y="4434840"/>
            <a:ext cx="822960" cy="25400"/>
          </a:xfrm>
          <a:prstGeom prst="rect">
            <a:avLst/>
          </a:prstGeom>
          <a:solidFill>
            <a:srgbClr val="C9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949440" y="4800600"/>
            <a:ext cx="2377440" cy="25400"/>
          </a:xfrm>
          <a:prstGeom prst="rect">
            <a:avLst/>
          </a:prstGeom>
          <a:solidFill>
            <a:srgbClr val="1835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949440" y="352044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spc="400">
                <a:solidFill>
                  <a:srgbClr val="C9A86B"/>
                </a:solidFill>
                <a:latin typeface="Calibri"/>
              </a:rPr>
              <a:t>VOL. 01 · LUXURY POOLS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34200" y="4041648"/>
            <a:ext cx="4023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dirty="0">
                <a:solidFill>
                  <a:srgbClr val="F6F7FB"/>
                </a:solidFill>
                <a:latin typeface="Calibri"/>
              </a:rPr>
              <a:t>Aquatic Engineering,</a:t>
            </a:r>
          </a:p>
          <a:p>
            <a:pPr algn="l">
              <a:lnSpc>
                <a:spcPct val="110000"/>
              </a:lnSpc>
            </a:pPr>
            <a:r>
              <a:rPr sz="2200" b="1" dirty="0">
                <a:solidFill>
                  <a:srgbClr val="F6F7FB"/>
                </a:solidFill>
                <a:latin typeface="Calibri"/>
              </a:rPr>
              <a:t>Designed in Silence.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949440" y="489204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12222A"/>
          </a:solidFill>
          <a:ln w="6350">
            <a:solidFill>
              <a:srgbClr val="1F7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949440" y="489204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5ED9C4"/>
                </a:solidFill>
                <a:latin typeface="Calibri"/>
              </a:rPr>
              <a:t>Build your pool  →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92240" y="5623560"/>
            <a:ext cx="1524000" cy="594360"/>
          </a:xfrm>
          <a:prstGeom prst="roundRect">
            <a:avLst>
              <a:gd name="adj" fmla="val 10000"/>
            </a:avLst>
          </a:prstGeom>
          <a:solidFill>
            <a:srgbClr val="0E121E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675120" y="5696712"/>
            <a:ext cx="1158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1" spc="300">
                <a:solidFill>
                  <a:srgbClr val="8B95AE"/>
                </a:solidFill>
                <a:latin typeface="Calibri"/>
              </a:rPr>
              <a:t>PROJECTS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75120" y="5879592"/>
            <a:ext cx="1158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5ED9C4"/>
                </a:solidFill>
                <a:latin typeface="Calibri"/>
              </a:rPr>
              <a:t>240+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99120" y="5623560"/>
            <a:ext cx="1524000" cy="594360"/>
          </a:xfrm>
          <a:prstGeom prst="roundRect">
            <a:avLst>
              <a:gd name="adj" fmla="val 10000"/>
            </a:avLst>
          </a:prstGeom>
          <a:solidFill>
            <a:srgbClr val="0E121E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382000" y="5696712"/>
            <a:ext cx="1158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1" spc="300">
                <a:solidFill>
                  <a:srgbClr val="8B95AE"/>
                </a:solidFill>
                <a:latin typeface="Calibri"/>
              </a:rPr>
              <a:t>YEARS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2000" y="5879592"/>
            <a:ext cx="1158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5ED9C4"/>
                </a:solidFill>
                <a:latin typeface="Calibri"/>
              </a:rPr>
              <a:t>15+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906000" y="5623560"/>
            <a:ext cx="1524000" cy="594360"/>
          </a:xfrm>
          <a:prstGeom prst="roundRect">
            <a:avLst>
              <a:gd name="adj" fmla="val 10000"/>
            </a:avLst>
          </a:prstGeom>
          <a:solidFill>
            <a:srgbClr val="0E121E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088880" y="5696712"/>
            <a:ext cx="1158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1" spc="300">
                <a:solidFill>
                  <a:srgbClr val="8B95AE"/>
                </a:solidFill>
                <a:latin typeface="Calibri"/>
              </a:rPr>
              <a:t>CITIES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88880" y="5879592"/>
            <a:ext cx="1158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5ED9C4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92608" cy="27940"/>
          </a:xfrm>
          <a:prstGeom prst="rect">
            <a:avLst/>
          </a:prstGeom>
          <a:solidFill>
            <a:srgbClr val="C9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2743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spc="300">
                <a:solidFill>
                  <a:srgbClr val="8B95AE"/>
                </a:solidFill>
                <a:latin typeface="Calibri"/>
              </a:rPr>
              <a:t>GENOSAI  ×  AQUA TECHNIC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74320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spc="300">
                <a:solidFill>
                  <a:srgbClr val="8B95AE"/>
                </a:solidFill>
                <a:latin typeface="Calibri"/>
              </a:rPr>
              <a:t>03B  ·  SHOWCASE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6350">
            <a:solidFill>
              <a:srgbClr val="222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B95AE"/>
                </a:solidFill>
                <a:latin typeface="Calibri"/>
              </a:rPr>
              <a:t>Luxury Website &amp; Digital Experience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510528"/>
            <a:ext cx="3456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spc="200">
                <a:solidFill>
                  <a:srgbClr val="8B95AE"/>
                </a:solidFill>
                <a:latin typeface="Calibri"/>
              </a:rPr>
              <a:t>06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914400"/>
            <a:ext cx="228600" cy="25400"/>
          </a:xfrm>
          <a:prstGeom prst="rect">
            <a:avLst/>
          </a:prstGeom>
          <a:solidFill>
            <a:srgbClr val="5E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80467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spc="400">
                <a:solidFill>
                  <a:srgbClr val="5ED9C4"/>
                </a:solidFill>
                <a:latin typeface="Calibri"/>
              </a:rPr>
              <a:t>MODULE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14300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6F7FB"/>
                </a:solidFill>
                <a:latin typeface="Calibri"/>
              </a:rPr>
              <a:t>Project Showcase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24028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8B95AE"/>
                </a:solidFill>
                <a:latin typeface="Calibri"/>
              </a:rPr>
              <a:t>Each project gets a proper stage — visuals, story, scale, and the craft behind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788920"/>
            <a:ext cx="2152497" cy="2743200"/>
          </a:xfrm>
          <a:prstGeom prst="roundRect">
            <a:avLst>
              <a:gd name="adj" fmla="val 5000"/>
            </a:avLst>
          </a:prstGeom>
          <a:solidFill>
            <a:srgbClr val="0E121E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67512" y="2953512"/>
            <a:ext cx="1823313" cy="1463040"/>
          </a:xfrm>
          <a:prstGeom prst="roundRect">
            <a:avLst>
              <a:gd name="adj" fmla="val 4000"/>
            </a:avLst>
          </a:prstGeom>
          <a:solidFill>
            <a:srgbClr val="121E2C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68680" y="3154680"/>
            <a:ext cx="1097280" cy="25400"/>
          </a:xfrm>
          <a:prstGeom prst="rect">
            <a:avLst/>
          </a:prstGeom>
          <a:solidFill>
            <a:srgbClr val="C9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68680" y="3337560"/>
            <a:ext cx="548640" cy="25400"/>
          </a:xfrm>
          <a:prstGeom prst="rect">
            <a:avLst/>
          </a:prstGeom>
          <a:solidFill>
            <a:srgbClr val="5E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886200"/>
            <a:ext cx="142097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spc="300">
                <a:solidFill>
                  <a:srgbClr val="8B95AE"/>
                </a:solidFill>
                <a:latin typeface="Calibri"/>
              </a:rPr>
              <a:t>01 / 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72000"/>
            <a:ext cx="169529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6F7FB"/>
                </a:solidFill>
                <a:latin typeface="Calibri"/>
              </a:rPr>
              <a:t>Luxury Villas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983480"/>
            <a:ext cx="169529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8B95AE"/>
                </a:solidFill>
                <a:latin typeface="Calibri"/>
              </a:rPr>
              <a:t>Private estate pools &amp; wellness areas.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65145" y="2788920"/>
            <a:ext cx="2152497" cy="2743200"/>
          </a:xfrm>
          <a:prstGeom prst="roundRect">
            <a:avLst>
              <a:gd name="adj" fmla="val 5000"/>
            </a:avLst>
          </a:prstGeom>
          <a:solidFill>
            <a:srgbClr val="0E121E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2929737" y="2953512"/>
            <a:ext cx="1823313" cy="1463040"/>
          </a:xfrm>
          <a:prstGeom prst="roundRect">
            <a:avLst>
              <a:gd name="adj" fmla="val 4000"/>
            </a:avLst>
          </a:prstGeom>
          <a:solidFill>
            <a:srgbClr val="121E2C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130905" y="3154680"/>
            <a:ext cx="1097280" cy="25400"/>
          </a:xfrm>
          <a:prstGeom prst="rect">
            <a:avLst/>
          </a:prstGeom>
          <a:solidFill>
            <a:srgbClr val="C9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130905" y="3337560"/>
            <a:ext cx="548640" cy="25400"/>
          </a:xfrm>
          <a:prstGeom prst="rect">
            <a:avLst/>
          </a:prstGeom>
          <a:solidFill>
            <a:srgbClr val="5E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130905" y="3886200"/>
            <a:ext cx="142097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spc="300">
                <a:solidFill>
                  <a:srgbClr val="8B95AE"/>
                </a:solidFill>
                <a:latin typeface="Calibri"/>
              </a:rPr>
              <a:t>02 / 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93745" y="4572000"/>
            <a:ext cx="169529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6F7FB"/>
                </a:solidFill>
                <a:latin typeface="Calibri"/>
              </a:rPr>
              <a:t>Commercial Pools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93745" y="4983480"/>
            <a:ext cx="169529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8B95AE"/>
                </a:solidFill>
                <a:latin typeface="Calibri"/>
              </a:rPr>
              <a:t>Hotels, clubs, resorts &amp; apartments.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7371" y="2788920"/>
            <a:ext cx="2152497" cy="2743200"/>
          </a:xfrm>
          <a:prstGeom prst="roundRect">
            <a:avLst>
              <a:gd name="adj" fmla="val 5000"/>
            </a:avLst>
          </a:prstGeom>
          <a:solidFill>
            <a:srgbClr val="0E121E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191963" y="2953512"/>
            <a:ext cx="1823313" cy="1463040"/>
          </a:xfrm>
          <a:prstGeom prst="roundRect">
            <a:avLst>
              <a:gd name="adj" fmla="val 4000"/>
            </a:avLst>
          </a:prstGeom>
          <a:solidFill>
            <a:srgbClr val="121E2C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393131" y="3154680"/>
            <a:ext cx="1097280" cy="25400"/>
          </a:xfrm>
          <a:prstGeom prst="rect">
            <a:avLst/>
          </a:prstGeom>
          <a:solidFill>
            <a:srgbClr val="C9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393131" y="3337560"/>
            <a:ext cx="548640" cy="25400"/>
          </a:xfrm>
          <a:prstGeom prst="rect">
            <a:avLst/>
          </a:prstGeom>
          <a:solidFill>
            <a:srgbClr val="5E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93131" y="3886200"/>
            <a:ext cx="142097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spc="300">
                <a:solidFill>
                  <a:srgbClr val="8B95AE"/>
                </a:solidFill>
                <a:latin typeface="Calibri"/>
              </a:rPr>
              <a:t>03 / 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55971" y="4572000"/>
            <a:ext cx="169529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6F7FB"/>
                </a:solidFill>
                <a:latin typeface="Calibri"/>
              </a:rPr>
              <a:t>Waterproofing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55971" y="4983480"/>
            <a:ext cx="169529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8B95AE"/>
                </a:solidFill>
                <a:latin typeface="Calibri"/>
              </a:rPr>
              <a:t>Terraces, basements &amp; structural work.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89596" y="2788920"/>
            <a:ext cx="2152497" cy="2743200"/>
          </a:xfrm>
          <a:prstGeom prst="roundRect">
            <a:avLst>
              <a:gd name="adj" fmla="val 5000"/>
            </a:avLst>
          </a:prstGeom>
          <a:solidFill>
            <a:srgbClr val="0E121E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7454188" y="2953512"/>
            <a:ext cx="1823313" cy="1463040"/>
          </a:xfrm>
          <a:prstGeom prst="roundRect">
            <a:avLst>
              <a:gd name="adj" fmla="val 4000"/>
            </a:avLst>
          </a:prstGeom>
          <a:solidFill>
            <a:srgbClr val="121E2C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655356" y="3154680"/>
            <a:ext cx="1097280" cy="25400"/>
          </a:xfrm>
          <a:prstGeom prst="rect">
            <a:avLst/>
          </a:prstGeom>
          <a:solidFill>
            <a:srgbClr val="C9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655356" y="3337560"/>
            <a:ext cx="548640" cy="25400"/>
          </a:xfrm>
          <a:prstGeom prst="rect">
            <a:avLst/>
          </a:prstGeom>
          <a:solidFill>
            <a:srgbClr val="5E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655356" y="3886200"/>
            <a:ext cx="142097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spc="300">
                <a:solidFill>
                  <a:srgbClr val="8B95AE"/>
                </a:solidFill>
                <a:latin typeface="Calibri"/>
              </a:rPr>
              <a:t>04 / 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18196" y="4572000"/>
            <a:ext cx="169529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6F7FB"/>
                </a:solidFill>
                <a:latin typeface="Calibri"/>
              </a:rPr>
              <a:t>Before / After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18196" y="4983480"/>
            <a:ext cx="169529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8B95AE"/>
                </a:solidFill>
                <a:latin typeface="Calibri"/>
              </a:rPr>
              <a:t>Transformations that speak for themselves.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551822" y="2788920"/>
            <a:ext cx="2152497" cy="2743200"/>
          </a:xfrm>
          <a:prstGeom prst="roundRect">
            <a:avLst>
              <a:gd name="adj" fmla="val 5000"/>
            </a:avLst>
          </a:prstGeom>
          <a:solidFill>
            <a:srgbClr val="0E121E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9716414" y="2953512"/>
            <a:ext cx="1823313" cy="1463040"/>
          </a:xfrm>
          <a:prstGeom prst="roundRect">
            <a:avLst>
              <a:gd name="adj" fmla="val 4000"/>
            </a:avLst>
          </a:prstGeom>
          <a:solidFill>
            <a:srgbClr val="121E2C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9917582" y="3154680"/>
            <a:ext cx="1097280" cy="25400"/>
          </a:xfrm>
          <a:prstGeom prst="rect">
            <a:avLst/>
          </a:prstGeom>
          <a:solidFill>
            <a:srgbClr val="C9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9917582" y="3337560"/>
            <a:ext cx="548640" cy="25400"/>
          </a:xfrm>
          <a:prstGeom prst="rect">
            <a:avLst/>
          </a:prstGeom>
          <a:solidFill>
            <a:srgbClr val="5E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917582" y="3886200"/>
            <a:ext cx="142097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spc="300">
                <a:solidFill>
                  <a:srgbClr val="8B95AE"/>
                </a:solidFill>
                <a:latin typeface="Calibri"/>
              </a:rPr>
              <a:t>05 / 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0422" y="4572000"/>
            <a:ext cx="169529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6F7FB"/>
                </a:solidFill>
                <a:latin typeface="Calibri"/>
              </a:rPr>
              <a:t>Maintenance Stories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80422" y="4983480"/>
            <a:ext cx="169529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8B95AE"/>
                </a:solidFill>
                <a:latin typeface="Calibri"/>
              </a:rPr>
              <a:t>Pools restored, kept pristine, season after season.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2920" y="5669280"/>
            <a:ext cx="11201400" cy="640080"/>
          </a:xfrm>
          <a:prstGeom prst="roundRect">
            <a:avLst>
              <a:gd name="adj" fmla="val 10000"/>
            </a:avLst>
          </a:prstGeom>
          <a:solidFill>
            <a:srgbClr val="14192A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68680" y="5779008"/>
            <a:ext cx="10469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spc="400">
                <a:solidFill>
                  <a:srgbClr val="C9A86B"/>
                </a:solidFill>
                <a:latin typeface="Calibri"/>
              </a:rPr>
              <a:t>EACH PROJECT INCLUDES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" y="5980176"/>
            <a:ext cx="10469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C8CFDE"/>
                </a:solidFill>
                <a:latin typeface="Calibri"/>
              </a:rPr>
              <a:t>Hero photography  ·  Scope &amp; materials  ·  Before / After  ·  Client quote  ·  Location &amp; duration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92608" cy="27940"/>
          </a:xfrm>
          <a:prstGeom prst="rect">
            <a:avLst/>
          </a:prstGeom>
          <a:solidFill>
            <a:srgbClr val="C9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2743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spc="300">
                <a:solidFill>
                  <a:srgbClr val="8B95AE"/>
                </a:solidFill>
                <a:latin typeface="Calibri"/>
              </a:rPr>
              <a:t>GENOSAI  ×  AQUA TECHNIC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74320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spc="300">
                <a:solidFill>
                  <a:srgbClr val="8B95AE"/>
                </a:solidFill>
                <a:latin typeface="Calibri"/>
              </a:rPr>
              <a:t>03C  ·  CALCULATOR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6350">
            <a:solidFill>
              <a:srgbClr val="222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B95AE"/>
                </a:solidFill>
                <a:latin typeface="Calibri"/>
              </a:rPr>
              <a:t>Luxury Website &amp; Digital Experience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510528"/>
            <a:ext cx="3456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spc="200">
                <a:solidFill>
                  <a:srgbClr val="8B95AE"/>
                </a:solidFill>
                <a:latin typeface="Calibri"/>
              </a:rPr>
              <a:t>07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914400"/>
            <a:ext cx="228600" cy="25400"/>
          </a:xfrm>
          <a:prstGeom prst="rect">
            <a:avLst/>
          </a:prstGeom>
          <a:solidFill>
            <a:srgbClr val="5E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80467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spc="400">
                <a:solidFill>
                  <a:srgbClr val="5ED9C4"/>
                </a:solidFill>
                <a:latin typeface="Calibri"/>
              </a:rPr>
              <a:t>MODULE C  ·  KEY FEATURE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14300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6F7FB"/>
                </a:solidFill>
                <a:latin typeface="Calibri"/>
              </a:rPr>
              <a:t>Interactive Cost Calculator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24028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8B95AE"/>
                </a:solidFill>
                <a:latin typeface="Calibri"/>
              </a:rPr>
              <a:t>Serious clients want clarity, not a contact form. The calculator gives a real number — and gives you a qualified lead.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788920"/>
            <a:ext cx="6400800" cy="3566160"/>
          </a:xfrm>
          <a:prstGeom prst="roundRect">
            <a:avLst>
              <a:gd name="adj" fmla="val 4000"/>
            </a:avLst>
          </a:prstGeom>
          <a:solidFill>
            <a:srgbClr val="090E18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063240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spc="400">
                <a:solidFill>
                  <a:srgbClr val="C9A86B"/>
                </a:solidFill>
                <a:latin typeface="Calibri"/>
              </a:rPr>
              <a:t>BUILD YOUR POOL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291840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B95AE"/>
                </a:solidFill>
                <a:latin typeface="Calibri"/>
              </a:rPr>
              <a:t>Step 3 of 5  ·  ~60 seconds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7033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95AE"/>
                </a:solidFill>
                <a:latin typeface="Calibri"/>
              </a:rPr>
              <a:t>Pool Type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3703320"/>
            <a:ext cx="1325880" cy="320040"/>
          </a:xfrm>
          <a:prstGeom prst="roundRect">
            <a:avLst>
              <a:gd name="adj" fmla="val 35000"/>
            </a:avLst>
          </a:prstGeom>
          <a:solidFill>
            <a:srgbClr val="101828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423160" y="370332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>
                <a:solidFill>
                  <a:srgbClr val="C8CFDE"/>
                </a:solidFill>
                <a:latin typeface="Calibri"/>
              </a:rPr>
              <a:t>Skimmer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0" y="3703320"/>
            <a:ext cx="1325880" cy="320040"/>
          </a:xfrm>
          <a:prstGeom prst="roundRect">
            <a:avLst>
              <a:gd name="adj" fmla="val 35000"/>
            </a:avLst>
          </a:prstGeom>
          <a:solidFill>
            <a:srgbClr val="101828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40480" y="370332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>
                <a:solidFill>
                  <a:srgbClr val="C8CFDE"/>
                </a:solidFill>
                <a:latin typeface="Calibri"/>
              </a:rPr>
              <a:t>Overflow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57800" y="3703320"/>
            <a:ext cx="1325880" cy="320040"/>
          </a:xfrm>
          <a:prstGeom prst="roundRect">
            <a:avLst>
              <a:gd name="adj" fmla="val 35000"/>
            </a:avLst>
          </a:prstGeom>
          <a:solidFill>
            <a:srgbClr val="12332C"/>
          </a:solidFill>
          <a:ln w="6350">
            <a:solidFill>
              <a:srgbClr val="5E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257800" y="370332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1">
                <a:solidFill>
                  <a:srgbClr val="5ED9C4"/>
                </a:solidFill>
                <a:latin typeface="Calibri"/>
              </a:rPr>
              <a:t>Infinity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1605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95AE"/>
                </a:solidFill>
                <a:latin typeface="Calibri"/>
              </a:rPr>
              <a:t>Dimensions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23160" y="4160520"/>
            <a:ext cx="1325880" cy="320040"/>
          </a:xfrm>
          <a:prstGeom prst="roundRect">
            <a:avLst>
              <a:gd name="adj" fmla="val 35000"/>
            </a:avLst>
          </a:prstGeom>
          <a:solidFill>
            <a:srgbClr val="101828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423160" y="416052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>
                <a:solidFill>
                  <a:srgbClr val="C8CFDE"/>
                </a:solidFill>
                <a:latin typeface="Calibri"/>
              </a:rPr>
              <a:t>Small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0" y="4160520"/>
            <a:ext cx="1325880" cy="320040"/>
          </a:xfrm>
          <a:prstGeom prst="roundRect">
            <a:avLst>
              <a:gd name="adj" fmla="val 35000"/>
            </a:avLst>
          </a:prstGeom>
          <a:solidFill>
            <a:srgbClr val="12332C"/>
          </a:solidFill>
          <a:ln w="6350">
            <a:solidFill>
              <a:srgbClr val="5E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840480" y="416052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1">
                <a:solidFill>
                  <a:srgbClr val="5ED9C4"/>
                </a:solidFill>
                <a:latin typeface="Calibri"/>
              </a:rPr>
              <a:t>Medium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57800" y="4160520"/>
            <a:ext cx="1325880" cy="320040"/>
          </a:xfrm>
          <a:prstGeom prst="roundRect">
            <a:avLst>
              <a:gd name="adj" fmla="val 35000"/>
            </a:avLst>
          </a:prstGeom>
          <a:solidFill>
            <a:srgbClr val="101828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257800" y="416052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>
                <a:solidFill>
                  <a:srgbClr val="C8CFDE"/>
                </a:solidFill>
                <a:latin typeface="Calibri"/>
              </a:rPr>
              <a:t>Large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6177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95AE"/>
                </a:solidFill>
                <a:latin typeface="Calibri"/>
              </a:rPr>
              <a:t>Material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23160" y="4617720"/>
            <a:ext cx="1325880" cy="320040"/>
          </a:xfrm>
          <a:prstGeom prst="roundRect">
            <a:avLst>
              <a:gd name="adj" fmla="val 35000"/>
            </a:avLst>
          </a:prstGeom>
          <a:solidFill>
            <a:srgbClr val="12332C"/>
          </a:solidFill>
          <a:ln w="6350">
            <a:solidFill>
              <a:srgbClr val="5E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423160" y="461772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1">
                <a:solidFill>
                  <a:srgbClr val="5ED9C4"/>
                </a:solidFill>
                <a:latin typeface="Calibri"/>
              </a:rPr>
              <a:t>Tile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40480" y="4617720"/>
            <a:ext cx="1325880" cy="320040"/>
          </a:xfrm>
          <a:prstGeom prst="roundRect">
            <a:avLst>
              <a:gd name="adj" fmla="val 35000"/>
            </a:avLst>
          </a:prstGeom>
          <a:solidFill>
            <a:srgbClr val="101828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840480" y="461772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>
                <a:solidFill>
                  <a:srgbClr val="C8CFDE"/>
                </a:solidFill>
                <a:latin typeface="Calibri"/>
              </a:rPr>
              <a:t>Stone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257800" y="4617720"/>
            <a:ext cx="1325880" cy="320040"/>
          </a:xfrm>
          <a:prstGeom prst="roundRect">
            <a:avLst>
              <a:gd name="adj" fmla="val 35000"/>
            </a:avLst>
          </a:prstGeom>
          <a:solidFill>
            <a:srgbClr val="101828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257800" y="461772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>
                <a:solidFill>
                  <a:srgbClr val="C8CFDE"/>
                </a:solidFill>
                <a:latin typeface="Calibri"/>
              </a:rPr>
              <a:t>Mosaic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50749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95AE"/>
                </a:solidFill>
                <a:latin typeface="Calibri"/>
              </a:rPr>
              <a:t>Waterproofing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423160" y="5074920"/>
            <a:ext cx="1325880" cy="320040"/>
          </a:xfrm>
          <a:prstGeom prst="roundRect">
            <a:avLst>
              <a:gd name="adj" fmla="val 35000"/>
            </a:avLst>
          </a:prstGeom>
          <a:solidFill>
            <a:srgbClr val="101828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423160" y="507492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>
                <a:solidFill>
                  <a:srgbClr val="C8CFDE"/>
                </a:solidFill>
                <a:latin typeface="Calibri"/>
              </a:rPr>
              <a:t>Standard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840480" y="5074920"/>
            <a:ext cx="1325880" cy="320040"/>
          </a:xfrm>
          <a:prstGeom prst="roundRect">
            <a:avLst>
              <a:gd name="adj" fmla="val 35000"/>
            </a:avLst>
          </a:prstGeom>
          <a:solidFill>
            <a:srgbClr val="101828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840480" y="507492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>
                <a:solidFill>
                  <a:srgbClr val="C8CFDE"/>
                </a:solidFill>
                <a:latin typeface="Calibri"/>
              </a:rPr>
              <a:t>Premium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57800" y="5074920"/>
            <a:ext cx="1325880" cy="320040"/>
          </a:xfrm>
          <a:prstGeom prst="roundRect">
            <a:avLst>
              <a:gd name="adj" fmla="val 35000"/>
            </a:avLst>
          </a:prstGeom>
          <a:solidFill>
            <a:srgbClr val="12332C"/>
          </a:solidFill>
          <a:ln w="6350">
            <a:solidFill>
              <a:srgbClr val="5E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257800" y="507492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1">
                <a:solidFill>
                  <a:srgbClr val="5ED9C4"/>
                </a:solidFill>
                <a:latin typeface="Calibri"/>
              </a:rPr>
              <a:t>Elite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" y="55321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95AE"/>
                </a:solidFill>
                <a:latin typeface="Calibri"/>
              </a:rPr>
              <a:t>Filtration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423160" y="5532120"/>
            <a:ext cx="1325880" cy="320040"/>
          </a:xfrm>
          <a:prstGeom prst="roundRect">
            <a:avLst>
              <a:gd name="adj" fmla="val 35000"/>
            </a:avLst>
          </a:prstGeom>
          <a:solidFill>
            <a:srgbClr val="101828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423160" y="553212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>
                <a:solidFill>
                  <a:srgbClr val="C8CFDE"/>
                </a:solidFill>
                <a:latin typeface="Calibri"/>
              </a:rPr>
              <a:t>Sand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840480" y="5532120"/>
            <a:ext cx="1325880" cy="320040"/>
          </a:xfrm>
          <a:prstGeom prst="roundRect">
            <a:avLst>
              <a:gd name="adj" fmla="val 35000"/>
            </a:avLst>
          </a:prstGeom>
          <a:solidFill>
            <a:srgbClr val="12332C"/>
          </a:solidFill>
          <a:ln w="6350">
            <a:solidFill>
              <a:srgbClr val="5ED9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840480" y="553212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1">
                <a:solidFill>
                  <a:srgbClr val="5ED9C4"/>
                </a:solidFill>
                <a:latin typeface="Calibri"/>
              </a:rPr>
              <a:t>Cartridge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257800" y="5532120"/>
            <a:ext cx="1325880" cy="320040"/>
          </a:xfrm>
          <a:prstGeom prst="roundRect">
            <a:avLst>
              <a:gd name="adj" fmla="val 35000"/>
            </a:avLst>
          </a:prstGeom>
          <a:solidFill>
            <a:srgbClr val="101828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257800" y="553212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>
                <a:solidFill>
                  <a:srgbClr val="C8CFDE"/>
                </a:solidFill>
                <a:latin typeface="Calibri"/>
              </a:rPr>
              <a:t>Glass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68680" y="5486400"/>
            <a:ext cx="5669280" cy="0"/>
          </a:xfrm>
          <a:prstGeom prst="line">
            <a:avLst/>
          </a:prstGeom>
          <a:ln w="9525">
            <a:solidFill>
              <a:srgbClr val="222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795528" y="60807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spc="300" dirty="0">
                <a:solidFill>
                  <a:srgbClr val="8B95AE"/>
                </a:solidFill>
                <a:latin typeface="Calibri"/>
              </a:rPr>
              <a:t>ESTIMATED RANGE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491740" y="5985075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dirty="0">
                <a:solidFill>
                  <a:srgbClr val="5ED9C4"/>
                </a:solidFill>
                <a:latin typeface="Calibri"/>
              </a:rPr>
              <a:t>₹ 18.4 L – 22.6 L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754880" y="5989319"/>
            <a:ext cx="1737360" cy="411480"/>
          </a:xfrm>
          <a:prstGeom prst="roundRect">
            <a:avLst>
              <a:gd name="adj" fmla="val 40000"/>
            </a:avLst>
          </a:prstGeom>
          <a:solidFill>
            <a:srgbClr val="12222A"/>
          </a:solidFill>
          <a:ln w="6350">
            <a:solidFill>
              <a:srgbClr val="1F7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754880" y="5980176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5ED9C4"/>
                </a:solidFill>
                <a:latin typeface="Calibri"/>
              </a:rPr>
              <a:t>Send to Aqua Technic →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040880" y="2788920"/>
            <a:ext cx="4663440" cy="3566160"/>
          </a:xfrm>
          <a:prstGeom prst="roundRect">
            <a:avLst>
              <a:gd name="adj" fmla="val 5000"/>
            </a:avLst>
          </a:prstGeom>
          <a:solidFill>
            <a:srgbClr val="0E121E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406640" y="306324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spc="400">
                <a:solidFill>
                  <a:srgbClr val="C9A86B"/>
                </a:solidFill>
                <a:latin typeface="Calibri"/>
              </a:rPr>
              <a:t>WHY IT WORKS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315200" y="356616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22A28"/>
          </a:solidFill>
          <a:ln w="6350">
            <a:solidFill>
              <a:srgbClr val="1F7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315200" y="35661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5ED9C4"/>
                </a:solidFill>
                <a:latin typeface="Calibri"/>
              </a:rP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18120" y="352044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6F7FB"/>
                </a:solidFill>
                <a:latin typeface="Calibri"/>
              </a:rPr>
              <a:t>Filters serious leads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18120" y="3776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8B95AE"/>
                </a:solidFill>
                <a:latin typeface="Calibri"/>
              </a:rPr>
              <a:t>Only clients ready to spend complete the flow.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315200" y="41148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22A28"/>
          </a:solidFill>
          <a:ln w="6350">
            <a:solidFill>
              <a:srgbClr val="1F7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315200" y="41148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5ED9C4"/>
                </a:solidFill>
                <a:latin typeface="Calibri"/>
              </a:rPr>
              <a:t>✓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18120" y="406908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6F7FB"/>
                </a:solidFill>
                <a:latin typeface="Calibri"/>
              </a:rPr>
              <a:t>Raises conversions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18120" y="432511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8B95AE"/>
                </a:solidFill>
                <a:latin typeface="Calibri"/>
              </a:rPr>
              <a:t>Instant pricing reduces drop-off vs. 'wait for callback'.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315200" y="466344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22A28"/>
          </a:solidFill>
          <a:ln w="6350">
            <a:solidFill>
              <a:srgbClr val="1F7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315200" y="4663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5ED9C4"/>
                </a:solidFill>
                <a:latin typeface="Calibri"/>
              </a:rPr>
              <a:t>✓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818120" y="461772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6F7FB"/>
                </a:solidFill>
                <a:latin typeface="Calibri"/>
              </a:rPr>
              <a:t>Educates the client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818120" y="487375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8B95AE"/>
                </a:solidFill>
                <a:latin typeface="Calibri"/>
              </a:rPr>
              <a:t>Materials, options, scope — explained while they choose.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315200" y="52120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22A28"/>
          </a:solidFill>
          <a:ln w="6350">
            <a:solidFill>
              <a:srgbClr val="1F7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315200" y="52120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5ED9C4"/>
                </a:solidFill>
                <a:latin typeface="Calibri"/>
              </a:rPr>
              <a:t>✓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516636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6F7FB"/>
                </a:solidFill>
                <a:latin typeface="Calibri"/>
              </a:rPr>
              <a:t>Cuts repetitive quoting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818120" y="542239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8B95AE"/>
                </a:solidFill>
                <a:latin typeface="Calibri"/>
              </a:rPr>
              <a:t>Your team stops re-explaining the same things daily.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315200" y="576072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22A28"/>
          </a:solidFill>
          <a:ln w="6350">
            <a:solidFill>
              <a:srgbClr val="1F7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315200" y="57607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5ED9C4"/>
                </a:solidFill>
                <a:latin typeface="Calibri"/>
              </a:rPr>
              <a:t>✓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571500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6F7FB"/>
                </a:solidFill>
                <a:latin typeface="Calibri"/>
              </a:rPr>
              <a:t>Captures full inquiry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818120" y="597103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8B95AE"/>
                </a:solidFill>
                <a:latin typeface="Calibri"/>
              </a:rPr>
              <a:t>Choices + contact + estimate land in one structured lead.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92608" cy="27940"/>
          </a:xfrm>
          <a:prstGeom prst="rect">
            <a:avLst/>
          </a:prstGeom>
          <a:solidFill>
            <a:srgbClr val="C9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2743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spc="300">
                <a:solidFill>
                  <a:srgbClr val="8B95AE"/>
                </a:solidFill>
                <a:latin typeface="Calibri"/>
              </a:rPr>
              <a:t>GENOSAI  ×  AQUA TECHNIC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74320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spc="300">
                <a:solidFill>
                  <a:srgbClr val="8B95AE"/>
                </a:solidFill>
                <a:latin typeface="Calibri"/>
              </a:rPr>
              <a:t>03D  ·  WHATSAPP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6350">
            <a:solidFill>
              <a:srgbClr val="222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B95AE"/>
                </a:solidFill>
                <a:latin typeface="Calibri"/>
              </a:rPr>
              <a:t>Luxury Website &amp; Digital Experience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510528"/>
            <a:ext cx="3456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spc="200">
                <a:solidFill>
                  <a:srgbClr val="8B95AE"/>
                </a:solidFill>
                <a:latin typeface="Calibri"/>
              </a:rPr>
              <a:t>08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914400"/>
            <a:ext cx="228600" cy="25400"/>
          </a:xfrm>
          <a:prstGeom prst="rect">
            <a:avLst/>
          </a:prstGeom>
          <a:solidFill>
            <a:srgbClr val="5E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80467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spc="400">
                <a:solidFill>
                  <a:srgbClr val="5ED9C4"/>
                </a:solidFill>
                <a:latin typeface="Calibri"/>
              </a:rPr>
              <a:t>MODULE 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14300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6F7FB"/>
                </a:solidFill>
                <a:latin typeface="Calibri"/>
              </a:rPr>
              <a:t>WhatsApp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24028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8B95AE"/>
                </a:solidFill>
                <a:latin typeface="Calibri"/>
              </a:rPr>
              <a:t>Meet clients where they already chat. One tap turns curiosity into a real conversation.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788920"/>
            <a:ext cx="6400800" cy="3566160"/>
          </a:xfrm>
          <a:prstGeom prst="roundRect">
            <a:avLst>
              <a:gd name="adj" fmla="val 5000"/>
            </a:avLst>
          </a:prstGeom>
          <a:solidFill>
            <a:srgbClr val="0E121E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96112" y="3255264"/>
            <a:ext cx="128016" cy="128016"/>
          </a:xfrm>
          <a:prstGeom prst="ellipse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34440" y="315468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6F7FB"/>
                </a:solidFill>
                <a:latin typeface="Calibri"/>
              </a:rPr>
              <a:t>Instant inquiry buttons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429000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8B95AE"/>
                </a:solidFill>
                <a:latin typeface="Calibri"/>
              </a:rPr>
              <a:t>Floating chat buttons on every page — including project pages and the calculator.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3858768"/>
            <a:ext cx="128016" cy="128016"/>
          </a:xfrm>
          <a:prstGeom prst="ellipse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34440" y="3758184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6F7FB"/>
                </a:solidFill>
                <a:latin typeface="Calibri"/>
              </a:rPr>
              <a:t>Direct support 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032504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8B95AE"/>
                </a:solidFill>
                <a:latin typeface="Calibri"/>
              </a:rPr>
              <a:t>Existing clients reach support without forms — one tap, one message.</a:t>
            </a:r>
          </a:p>
        </p:txBody>
      </p:sp>
      <p:sp>
        <p:nvSpPr>
          <p:cNvPr id="20" name="Oval 19"/>
          <p:cNvSpPr/>
          <p:nvPr/>
        </p:nvSpPr>
        <p:spPr>
          <a:xfrm>
            <a:off x="896112" y="4462272"/>
            <a:ext cx="128016" cy="128016"/>
          </a:xfrm>
          <a:prstGeom prst="ellipse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34440" y="4361688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6F7FB"/>
                </a:solidFill>
                <a:latin typeface="Calibri"/>
              </a:rPr>
              <a:t>Quotation request 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636008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8B95AE"/>
                </a:solidFill>
                <a:latin typeface="Calibri"/>
              </a:rPr>
              <a:t>Calculator results travel straight into WhatsApp as a clean structured message.</a:t>
            </a:r>
          </a:p>
        </p:txBody>
      </p:sp>
      <p:sp>
        <p:nvSpPr>
          <p:cNvPr id="23" name="Oval 22"/>
          <p:cNvSpPr/>
          <p:nvPr/>
        </p:nvSpPr>
        <p:spPr>
          <a:xfrm>
            <a:off x="896112" y="5065776"/>
            <a:ext cx="128016" cy="128016"/>
          </a:xfrm>
          <a:prstGeom prst="ellipse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34440" y="4965192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6F7FB"/>
                </a:solidFill>
                <a:latin typeface="Calibri"/>
              </a:rPr>
              <a:t>Automated greetings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5239512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8B95AE"/>
                </a:solidFill>
                <a:latin typeface="Calibri"/>
              </a:rPr>
              <a:t>Visitors get an instant, branded reply — never wait, never feel ignored.</a:t>
            </a:r>
          </a:p>
        </p:txBody>
      </p:sp>
      <p:sp>
        <p:nvSpPr>
          <p:cNvPr id="26" name="Oval 25"/>
          <p:cNvSpPr/>
          <p:nvPr/>
        </p:nvSpPr>
        <p:spPr>
          <a:xfrm>
            <a:off x="896112" y="5669280"/>
            <a:ext cx="128016" cy="128016"/>
          </a:xfrm>
          <a:prstGeom prst="ellipse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34440" y="5568696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6F7FB"/>
                </a:solidFill>
                <a:latin typeface="Calibri"/>
              </a:rPr>
              <a:t>Office-hours routing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5843016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8B95AE"/>
                </a:solidFill>
                <a:latin typeface="Calibri"/>
              </a:rPr>
              <a:t>Outside hours, the assistant captures intent and reassures a quick callback.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40880" y="2788920"/>
            <a:ext cx="4663440" cy="3566160"/>
          </a:xfrm>
          <a:prstGeom prst="roundRect">
            <a:avLst>
              <a:gd name="adj" fmla="val 4000"/>
            </a:avLst>
          </a:prstGeom>
          <a:solidFill>
            <a:srgbClr val="0A1414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040880" y="2788920"/>
            <a:ext cx="4663440" cy="457200"/>
          </a:xfrm>
          <a:prstGeom prst="rect">
            <a:avLst/>
          </a:prstGeom>
          <a:solidFill>
            <a:srgbClr val="073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7196328" y="2898648"/>
            <a:ext cx="237744" cy="237744"/>
          </a:xfrm>
          <a:prstGeom prst="ellipse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543800" y="2880360"/>
            <a:ext cx="3931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6F7FB"/>
                </a:solidFill>
                <a:latin typeface="Calibri"/>
              </a:rPr>
              <a:t>Aqua Technic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43800" y="3063240"/>
            <a:ext cx="3931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5ED9C4"/>
                </a:solidFill>
                <a:latin typeface="Calibri"/>
              </a:rPr>
              <a:t>Replies instantly  ·  Mon–Sat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98080" y="3429000"/>
            <a:ext cx="3474720" cy="457200"/>
          </a:xfrm>
          <a:prstGeom prst="roundRect">
            <a:avLst>
              <a:gd name="adj" fmla="val 18000"/>
            </a:avLst>
          </a:prstGeom>
          <a:solidFill>
            <a:srgbClr val="0A4B3F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635240" y="352044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F6F7FB"/>
                </a:solidFill>
                <a:latin typeface="Calibri"/>
              </a:rPr>
              <a:t>Hi! Just used your calculator —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F6F7FB"/>
                </a:solidFill>
                <a:latin typeface="Calibri"/>
              </a:rPr>
              <a:t>looks like ~₹20L for a 30×15 pool.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0" y="3977640"/>
            <a:ext cx="3383280" cy="868680"/>
          </a:xfrm>
          <a:prstGeom prst="roundRect">
            <a:avLst>
              <a:gd name="adj" fmla="val 18000"/>
            </a:avLst>
          </a:prstGeom>
          <a:solidFill>
            <a:srgbClr val="121E1E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52360" y="4050792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ED9C4"/>
                </a:solidFill>
                <a:latin typeface="Calibri"/>
              </a:rPr>
              <a:t>Aqua Technic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52360" y="425196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F6F7FB"/>
                </a:solidFill>
                <a:latin typeface="Calibri"/>
              </a:rPr>
              <a:t>Wonderful. Your selection is saved.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F6F7FB"/>
                </a:solidFill>
                <a:latin typeface="Calibri"/>
              </a:rPr>
              <a:t>Would you like a quick site visit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F6F7FB"/>
                </a:solidFill>
                <a:latin typeface="Calibri"/>
              </a:rPr>
              <a:t>this week?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98080" y="4983480"/>
            <a:ext cx="2743200" cy="411480"/>
          </a:xfrm>
          <a:prstGeom prst="roundRect">
            <a:avLst>
              <a:gd name="adj" fmla="val 18000"/>
            </a:avLst>
          </a:prstGeom>
          <a:solidFill>
            <a:srgbClr val="0A4B3F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635240" y="5074920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F6F7FB"/>
                </a:solidFill>
                <a:latin typeface="Calibri"/>
              </a:rPr>
              <a:t>Yes — Saturday morning?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0" y="5532120"/>
            <a:ext cx="3383280" cy="685800"/>
          </a:xfrm>
          <a:prstGeom prst="roundRect">
            <a:avLst>
              <a:gd name="adj" fmla="val 18000"/>
            </a:avLst>
          </a:prstGeom>
          <a:solidFill>
            <a:srgbClr val="121E1E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452360" y="5605272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ED9C4"/>
                </a:solidFill>
                <a:latin typeface="Calibri"/>
              </a:rPr>
              <a:t>Aqua Technic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52360" y="580644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F6F7FB"/>
                </a:solidFill>
                <a:latin typeface="Calibri"/>
              </a:rPr>
              <a:t>Locked Saturday, 10 AM.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F6F7FB"/>
                </a:solidFill>
                <a:latin typeface="Calibri"/>
              </a:rPr>
              <a:t>We'll send the address.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92608" cy="27940"/>
          </a:xfrm>
          <a:prstGeom prst="rect">
            <a:avLst/>
          </a:prstGeom>
          <a:solidFill>
            <a:srgbClr val="C9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2743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spc="300">
                <a:solidFill>
                  <a:srgbClr val="8B95AE"/>
                </a:solidFill>
                <a:latin typeface="Calibri"/>
              </a:rPr>
              <a:t>GENOSAI  ×  AQUA TECHNIC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74320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spc="300">
                <a:solidFill>
                  <a:srgbClr val="8B95AE"/>
                </a:solidFill>
                <a:latin typeface="Calibri"/>
              </a:rPr>
              <a:t>03E  ·  SMART ASSISTANT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6350">
            <a:solidFill>
              <a:srgbClr val="222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B95AE"/>
                </a:solidFill>
                <a:latin typeface="Calibri"/>
              </a:rPr>
              <a:t>Luxury Website &amp; Digital Experience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510528"/>
            <a:ext cx="3456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spc="200">
                <a:solidFill>
                  <a:srgbClr val="8B95AE"/>
                </a:solidFill>
                <a:latin typeface="Calibri"/>
              </a:rPr>
              <a:t>09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914400"/>
            <a:ext cx="228600" cy="25400"/>
          </a:xfrm>
          <a:prstGeom prst="rect">
            <a:avLst/>
          </a:prstGeom>
          <a:solidFill>
            <a:srgbClr val="5E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80467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spc="400">
                <a:solidFill>
                  <a:srgbClr val="5ED9C4"/>
                </a:solidFill>
                <a:latin typeface="Calibri"/>
              </a:rPr>
              <a:t>MODULE 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14300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6F7FB"/>
                </a:solidFill>
                <a:latin typeface="Calibri"/>
              </a:rPr>
              <a:t>Smart Customer Assistant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24028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8B95AE"/>
                </a:solidFill>
                <a:latin typeface="Calibri"/>
              </a:rPr>
              <a:t>A quiet, always-on layer that handles routine questions and qualifies leads —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8B95AE"/>
                </a:solidFill>
                <a:latin typeface="Calibri"/>
              </a:rPr>
              <a:t>so your team focuses on the conversations that matter.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788920"/>
            <a:ext cx="5943600" cy="3566160"/>
          </a:xfrm>
          <a:prstGeom prst="roundRect">
            <a:avLst>
              <a:gd name="adj" fmla="val 5000"/>
            </a:avLst>
          </a:prstGeom>
          <a:solidFill>
            <a:srgbClr val="0E121E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06324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spc="400">
                <a:solidFill>
                  <a:srgbClr val="C9A86B"/>
                </a:solidFill>
                <a:latin typeface="Calibri"/>
              </a:rPr>
              <a:t>WHAT IT QUIETLY HANDLES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3648456"/>
            <a:ext cx="128016" cy="128016"/>
          </a:xfrm>
          <a:prstGeom prst="ellipse">
            <a:avLst/>
          </a:prstGeom>
          <a:solidFill>
            <a:srgbClr val="5E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34440" y="356616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6F7FB"/>
                </a:solidFill>
                <a:latin typeface="Calibri"/>
              </a:rPr>
              <a:t>Answers common questions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3584448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8B95AE"/>
                </a:solidFill>
                <a:latin typeface="Calibri"/>
              </a:rPr>
              <a:t>Pricing ranges, project timelines, waterproofing types, AMC plans — instantly.</a:t>
            </a:r>
          </a:p>
        </p:txBody>
      </p:sp>
      <p:sp>
        <p:nvSpPr>
          <p:cNvPr id="18" name="Oval 17"/>
          <p:cNvSpPr/>
          <p:nvPr/>
        </p:nvSpPr>
        <p:spPr>
          <a:xfrm>
            <a:off x="896112" y="4105656"/>
            <a:ext cx="128016" cy="128016"/>
          </a:xfrm>
          <a:prstGeom prst="ellipse">
            <a:avLst/>
          </a:prstGeom>
          <a:solidFill>
            <a:srgbClr val="5E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34440" y="402336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6F7FB"/>
                </a:solidFill>
                <a:latin typeface="Calibri"/>
              </a:rPr>
              <a:t>Explains services in plain words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4041648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8B95AE"/>
                </a:solidFill>
                <a:latin typeface="Calibri"/>
              </a:rPr>
              <a:t>New clients understand the difference between options without a call.</a:t>
            </a:r>
          </a:p>
        </p:txBody>
      </p:sp>
      <p:sp>
        <p:nvSpPr>
          <p:cNvPr id="21" name="Oval 20"/>
          <p:cNvSpPr/>
          <p:nvPr/>
        </p:nvSpPr>
        <p:spPr>
          <a:xfrm>
            <a:off x="896112" y="4562856"/>
            <a:ext cx="128016" cy="128016"/>
          </a:xfrm>
          <a:prstGeom prst="ellipse">
            <a:avLst/>
          </a:prstGeom>
          <a:solidFill>
            <a:srgbClr val="5E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34440" y="448056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6F7FB"/>
                </a:solidFill>
                <a:latin typeface="Calibri"/>
              </a:rPr>
              <a:t>Handles maintenance queries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4498848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8B95AE"/>
                </a:solidFill>
                <a:latin typeface="Calibri"/>
              </a:rPr>
              <a:t>Service intervals, chemical balance, troubleshooting — answered in seconds.</a:t>
            </a:r>
          </a:p>
        </p:txBody>
      </p:sp>
      <p:sp>
        <p:nvSpPr>
          <p:cNvPr id="24" name="Oval 23"/>
          <p:cNvSpPr/>
          <p:nvPr/>
        </p:nvSpPr>
        <p:spPr>
          <a:xfrm>
            <a:off x="896112" y="5020056"/>
            <a:ext cx="128016" cy="128016"/>
          </a:xfrm>
          <a:prstGeom prst="ellipse">
            <a:avLst/>
          </a:prstGeom>
          <a:solidFill>
            <a:srgbClr val="5E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34440" y="493776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6F7FB"/>
                </a:solidFill>
                <a:latin typeface="Calibri"/>
              </a:rPr>
              <a:t>Reads the calculator results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4956048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8B95AE"/>
                </a:solidFill>
                <a:latin typeface="Calibri"/>
              </a:rPr>
              <a:t>Continues the conversation from the user's actual selections and estimate.</a:t>
            </a:r>
          </a:p>
        </p:txBody>
      </p:sp>
      <p:sp>
        <p:nvSpPr>
          <p:cNvPr id="27" name="Oval 26"/>
          <p:cNvSpPr/>
          <p:nvPr/>
        </p:nvSpPr>
        <p:spPr>
          <a:xfrm>
            <a:off x="896112" y="5477256"/>
            <a:ext cx="128016" cy="128016"/>
          </a:xfrm>
          <a:prstGeom prst="ellipse">
            <a:avLst/>
          </a:prstGeom>
          <a:solidFill>
            <a:srgbClr val="5E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234440" y="539496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6F7FB"/>
                </a:solidFill>
                <a:latin typeface="Calibri"/>
              </a:rPr>
              <a:t>Collects customer requirements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5413248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8B95AE"/>
                </a:solidFill>
                <a:latin typeface="Calibri"/>
              </a:rPr>
              <a:t>Asks the right follow-up questions — site, scope, timeline, budget.</a:t>
            </a:r>
          </a:p>
        </p:txBody>
      </p:sp>
      <p:sp>
        <p:nvSpPr>
          <p:cNvPr id="30" name="Oval 29"/>
          <p:cNvSpPr/>
          <p:nvPr/>
        </p:nvSpPr>
        <p:spPr>
          <a:xfrm>
            <a:off x="896112" y="5934456"/>
            <a:ext cx="128016" cy="128016"/>
          </a:xfrm>
          <a:prstGeom prst="ellipse">
            <a:avLst/>
          </a:prstGeom>
          <a:solidFill>
            <a:srgbClr val="5E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34440" y="585216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6F7FB"/>
                </a:solidFill>
                <a:latin typeface="Calibri"/>
              </a:rPr>
              <a:t>Hands leads to management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0440" y="5870448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8B95AE"/>
                </a:solidFill>
                <a:latin typeface="Calibri"/>
              </a:rPr>
              <a:t>Every qualified lead lands as a clean summary on WhatsApp + dashboard.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0" y="2788920"/>
            <a:ext cx="5120640" cy="3566160"/>
          </a:xfrm>
          <a:prstGeom prst="roundRect">
            <a:avLst>
              <a:gd name="adj" fmla="val 4000"/>
            </a:avLst>
          </a:prstGeom>
          <a:solidFill>
            <a:srgbClr val="090E18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903720" y="3017520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spc="400">
                <a:solidFill>
                  <a:srgbClr val="5ED9C4"/>
                </a:solidFill>
                <a:latin typeface="Calibri"/>
              </a:rPr>
              <a:t>CHAT ON WEBSITE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3429000"/>
            <a:ext cx="3291840" cy="365760"/>
          </a:xfrm>
          <a:prstGeom prst="roundRect">
            <a:avLst>
              <a:gd name="adj" fmla="val 18000"/>
            </a:avLst>
          </a:prstGeom>
          <a:solidFill>
            <a:srgbClr val="14192A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183880" y="3520440"/>
            <a:ext cx="3017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F6F7FB"/>
                </a:solidFill>
                <a:latin typeface="Calibri"/>
              </a:rPr>
              <a:t>What's the price for a 30×15 pool?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0" y="3886200"/>
            <a:ext cx="3657600" cy="777240"/>
          </a:xfrm>
          <a:prstGeom prst="roundRect">
            <a:avLst>
              <a:gd name="adj" fmla="val 18000"/>
            </a:avLst>
          </a:prstGeom>
          <a:solidFill>
            <a:srgbClr val="102A28"/>
          </a:solidFill>
          <a:ln w="6350">
            <a:solidFill>
              <a:srgbClr val="1F7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995160" y="3977640"/>
            <a:ext cx="33832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F6F7FB"/>
                </a:solidFill>
                <a:latin typeface="Calibri"/>
              </a:rPr>
              <a:t>For an overflow pool in tile finish,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F6F7FB"/>
                </a:solidFill>
                <a:latin typeface="Calibri"/>
              </a:rPr>
              <a:t>typical range is ₹18 – 22 lakh,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F6F7FB"/>
                </a:solidFill>
                <a:latin typeface="Calibri"/>
              </a:rPr>
              <a:t>before landscaping.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20" y="4800600"/>
            <a:ext cx="3291840" cy="365760"/>
          </a:xfrm>
          <a:prstGeom prst="roundRect">
            <a:avLst>
              <a:gd name="adj" fmla="val 18000"/>
            </a:avLst>
          </a:prstGeom>
          <a:solidFill>
            <a:srgbClr val="14192A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183880" y="4892040"/>
            <a:ext cx="3017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F6F7FB"/>
                </a:solidFill>
                <a:latin typeface="Calibri"/>
              </a:rPr>
              <a:t>Do you do waterproofing only?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0" y="5257800"/>
            <a:ext cx="3657600" cy="777240"/>
          </a:xfrm>
          <a:prstGeom prst="roundRect">
            <a:avLst>
              <a:gd name="adj" fmla="val 18000"/>
            </a:avLst>
          </a:prstGeom>
          <a:solidFill>
            <a:srgbClr val="102A28"/>
          </a:solidFill>
          <a:ln w="6350">
            <a:solidFill>
              <a:srgbClr val="1F7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995160" y="5349240"/>
            <a:ext cx="33832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F6F7FB"/>
                </a:solidFill>
                <a:latin typeface="Calibri"/>
              </a:rPr>
              <a:t>Yes — three tiers, from standard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F6F7FB"/>
                </a:solidFill>
                <a:latin typeface="Calibri"/>
              </a:rPr>
              <a:t>to elite. Can I share a quick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F6F7FB"/>
                </a:solidFill>
                <a:latin typeface="Calibri"/>
              </a:rPr>
              <a:t>breakdown by SQ.FT.?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858000" y="6172200"/>
            <a:ext cx="4572000" cy="0"/>
          </a:xfrm>
          <a:prstGeom prst="line">
            <a:avLst/>
          </a:prstGeom>
          <a:ln w="9525">
            <a:solidFill>
              <a:srgbClr val="222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858000" y="62636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spc="400">
                <a:solidFill>
                  <a:srgbClr val="C9A86B"/>
                </a:solidFill>
                <a:latin typeface="Calibri"/>
              </a:rPr>
              <a:t>LEAD HANDOFF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58000" y="5897880"/>
            <a:ext cx="2194560" cy="292608"/>
          </a:xfrm>
          <a:prstGeom prst="roundRect">
            <a:avLst>
              <a:gd name="adj" fmla="val 40000"/>
            </a:avLst>
          </a:prstGeom>
          <a:solidFill>
            <a:srgbClr val="12222A"/>
          </a:solidFill>
          <a:ln w="6350">
            <a:solidFill>
              <a:srgbClr val="1F7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675120" y="5980070"/>
            <a:ext cx="2194560" cy="1465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1" dirty="0">
                <a:solidFill>
                  <a:srgbClr val="5ED9C4"/>
                </a:solidFill>
                <a:latin typeface="Calibri"/>
              </a:rPr>
              <a:t>→ Sent to WhatsApp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92608" cy="27940"/>
          </a:xfrm>
          <a:prstGeom prst="rect">
            <a:avLst/>
          </a:prstGeom>
          <a:solidFill>
            <a:srgbClr val="C9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2743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spc="300">
                <a:solidFill>
                  <a:srgbClr val="8B95AE"/>
                </a:solidFill>
                <a:latin typeface="Calibri"/>
              </a:rPr>
              <a:t>GENOSAI  ×  AQUA TECHNIC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74320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spc="300">
                <a:solidFill>
                  <a:srgbClr val="8B95AE"/>
                </a:solidFill>
                <a:latin typeface="Calibri"/>
              </a:rPr>
              <a:t>04  ·  LEAD FLOW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6350">
            <a:solidFill>
              <a:srgbClr val="222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B95AE"/>
                </a:solidFill>
                <a:latin typeface="Calibri"/>
              </a:rPr>
              <a:t>Luxury Website &amp; Digital Experience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510528"/>
            <a:ext cx="3456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spc="200">
                <a:solidFill>
                  <a:srgbClr val="8B95AE"/>
                </a:solidFill>
                <a:latin typeface="Calibri"/>
              </a:rPr>
              <a:t>10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914400"/>
            <a:ext cx="228600" cy="25400"/>
          </a:xfrm>
          <a:prstGeom prst="rect">
            <a:avLst/>
          </a:prstGeom>
          <a:solidFill>
            <a:srgbClr val="5E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80467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spc="400">
                <a:solidFill>
                  <a:srgbClr val="5ED9C4"/>
                </a:solidFill>
                <a:latin typeface="Calibri"/>
              </a:rPr>
              <a:t>VISITOR → QUALIFIED LEAD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14300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6F7FB"/>
                </a:solidFill>
                <a:latin typeface="Calibri"/>
              </a:rPr>
              <a:t>Lead Generation 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834640"/>
            <a:ext cx="2718054" cy="1554480"/>
          </a:xfrm>
          <a:prstGeom prst="roundRect">
            <a:avLst>
              <a:gd name="adj" fmla="val 7000"/>
            </a:avLst>
          </a:prstGeom>
          <a:solidFill>
            <a:srgbClr val="0E121E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017520"/>
            <a:ext cx="216941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spc="400">
                <a:solidFill>
                  <a:srgbClr val="C9A86B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91840"/>
            <a:ext cx="216941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F6F7FB"/>
                </a:solidFill>
                <a:latin typeface="Calibri"/>
              </a:rPr>
              <a:t>Visitor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94760"/>
            <a:ext cx="216941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8B95AE"/>
                </a:solidFill>
                <a:latin typeface="Calibri"/>
              </a:rPr>
              <a:t>Lands on the website.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20974" y="3474720"/>
            <a:ext cx="10972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5ED9C4"/>
                </a:solidFill>
                <a:latin typeface="Calibri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0702" y="2834640"/>
            <a:ext cx="2718054" cy="1554480"/>
          </a:xfrm>
          <a:prstGeom prst="roundRect">
            <a:avLst>
              <a:gd name="adj" fmla="val 7000"/>
            </a:avLst>
          </a:prstGeom>
          <a:solidFill>
            <a:srgbClr val="0E121E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05022" y="3017520"/>
            <a:ext cx="216941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spc="400">
                <a:solidFill>
                  <a:srgbClr val="C9A86B"/>
                </a:solidFill>
                <a:latin typeface="Calibr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5022" y="3291840"/>
            <a:ext cx="216941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F6F7FB"/>
                </a:solidFill>
                <a:latin typeface="Calibri"/>
              </a:rPr>
              <a:t>Browse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5022" y="3794760"/>
            <a:ext cx="216941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8B95AE"/>
                </a:solidFill>
                <a:latin typeface="Calibri"/>
              </a:rPr>
              <a:t>Explores luxury projects.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48756" y="3474720"/>
            <a:ext cx="10972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5ED9C4"/>
                </a:solidFill>
                <a:latin typeface="Calibri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58484" y="2834640"/>
            <a:ext cx="2718054" cy="1554480"/>
          </a:xfrm>
          <a:prstGeom prst="roundRect">
            <a:avLst>
              <a:gd name="adj" fmla="val 7000"/>
            </a:avLst>
          </a:prstGeom>
          <a:solidFill>
            <a:srgbClr val="0E121E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32804" y="3017520"/>
            <a:ext cx="216941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spc="400">
                <a:solidFill>
                  <a:srgbClr val="C9A86B"/>
                </a:solidFill>
                <a:latin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2804" y="3291840"/>
            <a:ext cx="216941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F6F7FB"/>
                </a:solidFill>
                <a:latin typeface="Calibri"/>
              </a:rPr>
              <a:t>Calculator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2804" y="3794760"/>
            <a:ext cx="216941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8B95AE"/>
                </a:solidFill>
                <a:latin typeface="Calibri"/>
              </a:rPr>
              <a:t>Builds their pool, gets a range.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76538" y="3474720"/>
            <a:ext cx="10972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5ED9C4"/>
                </a:solidFill>
                <a:latin typeface="Calibri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86266" y="2834640"/>
            <a:ext cx="2718054" cy="1554480"/>
          </a:xfrm>
          <a:prstGeom prst="roundRect">
            <a:avLst>
              <a:gd name="adj" fmla="val 7000"/>
            </a:avLst>
          </a:prstGeom>
          <a:solidFill>
            <a:srgbClr val="0E121E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60586" y="3017520"/>
            <a:ext cx="216941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spc="400">
                <a:solidFill>
                  <a:srgbClr val="C9A86B"/>
                </a:solidFill>
                <a:latin typeface="Calibr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60586" y="3291840"/>
            <a:ext cx="216941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F6F7FB"/>
                </a:solidFill>
                <a:latin typeface="Calibri"/>
              </a:rPr>
              <a:t>Estimate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0586" y="3794760"/>
            <a:ext cx="216941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8B95AE"/>
                </a:solidFill>
                <a:latin typeface="Calibri"/>
              </a:rPr>
              <a:t>Receives instant pricing.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4498848"/>
            <a:ext cx="2718054" cy="1554480"/>
          </a:xfrm>
          <a:prstGeom prst="roundRect">
            <a:avLst>
              <a:gd name="adj" fmla="val 7000"/>
            </a:avLst>
          </a:prstGeom>
          <a:solidFill>
            <a:srgbClr val="0E121E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7240" y="4681728"/>
            <a:ext cx="216941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spc="400">
                <a:solidFill>
                  <a:srgbClr val="C9A86B"/>
                </a:solidFill>
                <a:latin typeface="Calibri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4956048"/>
            <a:ext cx="216941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F6F7FB"/>
                </a:solidFill>
                <a:latin typeface="Calibri"/>
              </a:rPr>
              <a:t>Chat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58968"/>
            <a:ext cx="216941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8B95AE"/>
                </a:solidFill>
                <a:latin typeface="Calibri"/>
              </a:rPr>
              <a:t>Assistant answers questions.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20974" y="5138928"/>
            <a:ext cx="10972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5ED9C4"/>
                </a:solidFill>
                <a:latin typeface="Calibri"/>
              </a:rPr>
              <a:t>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30702" y="4498848"/>
            <a:ext cx="2718054" cy="1554480"/>
          </a:xfrm>
          <a:prstGeom prst="roundRect">
            <a:avLst>
              <a:gd name="adj" fmla="val 7000"/>
            </a:avLst>
          </a:prstGeom>
          <a:solidFill>
            <a:srgbClr val="0E121E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05022" y="4681728"/>
            <a:ext cx="216941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spc="400">
                <a:solidFill>
                  <a:srgbClr val="C9A86B"/>
                </a:solidFill>
                <a:latin typeface="Calibri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05022" y="4956048"/>
            <a:ext cx="216941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F6F7FB"/>
                </a:solidFill>
                <a:latin typeface="Calibri"/>
              </a:rPr>
              <a:t>Lead Captured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05022" y="5458968"/>
            <a:ext cx="216941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8B95AE"/>
                </a:solidFill>
                <a:latin typeface="Calibri"/>
              </a:rPr>
              <a:t>Details + intent saved cleanly.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48756" y="5138928"/>
            <a:ext cx="10972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5ED9C4"/>
                </a:solidFill>
                <a:latin typeface="Calibri"/>
              </a:rPr>
              <a:t>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58484" y="4498848"/>
            <a:ext cx="2718054" cy="1554480"/>
          </a:xfrm>
          <a:prstGeom prst="roundRect">
            <a:avLst>
              <a:gd name="adj" fmla="val 7000"/>
            </a:avLst>
          </a:prstGeom>
          <a:solidFill>
            <a:srgbClr val="0E121E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32804" y="4681728"/>
            <a:ext cx="216941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spc="400">
                <a:solidFill>
                  <a:srgbClr val="C9A86B"/>
                </a:solidFill>
                <a:latin typeface="Calibri"/>
              </a:rPr>
              <a:t>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32804" y="4956048"/>
            <a:ext cx="216941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F6F7FB"/>
                </a:solidFill>
                <a:latin typeface="Calibri"/>
              </a:rPr>
              <a:t>WhatsApp Follow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32804" y="5458968"/>
            <a:ext cx="216941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8B95AE"/>
                </a:solidFill>
                <a:latin typeface="Calibri"/>
              </a:rPr>
              <a:t>Conversation continues there.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76538" y="5138928"/>
            <a:ext cx="10972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5ED9C4"/>
                </a:solidFill>
                <a:latin typeface="Calibri"/>
              </a:rPr>
              <a:t>›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86266" y="4498848"/>
            <a:ext cx="2718054" cy="1554480"/>
          </a:xfrm>
          <a:prstGeom prst="roundRect">
            <a:avLst>
              <a:gd name="adj" fmla="val 7000"/>
            </a:avLst>
          </a:prstGeom>
          <a:solidFill>
            <a:srgbClr val="0E121E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260586" y="4681728"/>
            <a:ext cx="216941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spc="400">
                <a:solidFill>
                  <a:srgbClr val="C9A86B"/>
                </a:solidFill>
                <a:latin typeface="Calibri"/>
              </a:rPr>
              <a:t>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60586" y="4956048"/>
            <a:ext cx="216941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F6F7FB"/>
                </a:solidFill>
                <a:latin typeface="Calibri"/>
              </a:rPr>
              <a:t>Management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60586" y="5458968"/>
            <a:ext cx="216941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8B95AE"/>
                </a:solidFill>
                <a:latin typeface="Calibri"/>
              </a:rPr>
              <a:t>Owner &amp; sales notified instantly.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6035040"/>
            <a:ext cx="11201400" cy="365760"/>
          </a:xfrm>
          <a:prstGeom prst="roundRect">
            <a:avLst>
              <a:gd name="adj" fmla="val 18000"/>
            </a:avLst>
          </a:prstGeom>
          <a:solidFill>
            <a:srgbClr val="14192A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02920" y="6035040"/>
            <a:ext cx="11201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C8CFDE"/>
                </a:solidFill>
                <a:latin typeface="Calibri"/>
              </a:rPr>
              <a:t>Same path, every visitor — but feels personal, premium and effortless.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38466"/>
            <a:ext cx="12191695" cy="6858000"/>
          </a:xfrm>
          <a:prstGeom prst="rect">
            <a:avLst/>
          </a:prstGeom>
          <a:solidFill>
            <a:srgbClr val="0608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92608" cy="27940"/>
          </a:xfrm>
          <a:prstGeom prst="rect">
            <a:avLst/>
          </a:prstGeom>
          <a:solidFill>
            <a:srgbClr val="C9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2743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spc="300">
                <a:solidFill>
                  <a:srgbClr val="8B95AE"/>
                </a:solidFill>
                <a:latin typeface="Calibri"/>
              </a:rPr>
              <a:t>GENOSAI  ×  AQUA TECHNIC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74320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spc="300">
                <a:solidFill>
                  <a:srgbClr val="8B95AE"/>
                </a:solidFill>
                <a:latin typeface="Calibri"/>
              </a:rPr>
              <a:t>05  ·  BENEFITS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6350">
            <a:solidFill>
              <a:srgbClr val="222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B95AE"/>
                </a:solidFill>
                <a:latin typeface="Calibri"/>
              </a:rPr>
              <a:t>Luxury Website &amp; Digital Experience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510528"/>
            <a:ext cx="3456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spc="200">
                <a:solidFill>
                  <a:srgbClr val="8B95AE"/>
                </a:solidFill>
                <a:latin typeface="Calibri"/>
              </a:rPr>
              <a:t>11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914400"/>
            <a:ext cx="228600" cy="25400"/>
          </a:xfrm>
          <a:prstGeom prst="rect">
            <a:avLst/>
          </a:prstGeom>
          <a:solidFill>
            <a:srgbClr val="5E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80467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spc="400">
                <a:solidFill>
                  <a:srgbClr val="5ED9C4"/>
                </a:solidFill>
                <a:latin typeface="Calibri"/>
              </a:rPr>
              <a:t>WHY THIS WORKS FOR AQUA TECHNIC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14300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6F7FB"/>
                </a:solidFill>
                <a:latin typeface="Calibri"/>
              </a:rPr>
              <a:t>What Changes After Launch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743200"/>
            <a:ext cx="2788920" cy="1783080"/>
          </a:xfrm>
          <a:prstGeom prst="roundRect">
            <a:avLst>
              <a:gd name="adj" fmla="val 6000"/>
            </a:avLst>
          </a:prstGeom>
          <a:solidFill>
            <a:srgbClr val="0E121E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77240" y="301752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122A28"/>
          </a:solidFill>
          <a:ln w="6350">
            <a:solidFill>
              <a:srgbClr val="1F7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01752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5ED9C4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2044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>
                <a:solidFill>
                  <a:srgbClr val="F6F7FB"/>
                </a:solidFill>
                <a:latin typeface="Calibri"/>
              </a:rPr>
              <a:t>Premium brand perception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88620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8B95AE"/>
                </a:solidFill>
                <a:latin typeface="Calibri"/>
              </a:rPr>
              <a:t>Look and feel of a luxury aquatic engineering brand.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01568" y="2743200"/>
            <a:ext cx="2788920" cy="1783080"/>
          </a:xfrm>
          <a:prstGeom prst="roundRect">
            <a:avLst>
              <a:gd name="adj" fmla="val 6000"/>
            </a:avLst>
          </a:prstGeom>
          <a:solidFill>
            <a:srgbClr val="0E121E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675888" y="301752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122A28"/>
          </a:solidFill>
          <a:ln w="6350">
            <a:solidFill>
              <a:srgbClr val="1F7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75888" y="301752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5ED9C4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8" y="352044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6F7FB"/>
                </a:solidFill>
                <a:latin typeface="Calibri"/>
              </a:rPr>
              <a:t>Higher-quality leads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75888" y="388620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8B95AE"/>
                </a:solidFill>
                <a:latin typeface="Calibri"/>
              </a:rPr>
              <a:t>Calculator filters tyre-kickers from serious buyers.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0216" y="2743200"/>
            <a:ext cx="2788920" cy="1783080"/>
          </a:xfrm>
          <a:prstGeom prst="roundRect">
            <a:avLst>
              <a:gd name="adj" fmla="val 6000"/>
            </a:avLst>
          </a:prstGeom>
          <a:solidFill>
            <a:srgbClr val="0E121E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574536" y="301752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122A28"/>
          </a:solidFill>
          <a:ln w="6350">
            <a:solidFill>
              <a:srgbClr val="1F7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74536" y="301752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5ED9C4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74536" y="352044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6F7FB"/>
                </a:solidFill>
                <a:latin typeface="Calibri"/>
              </a:rPr>
              <a:t>Stronger client trust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74536" y="388620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8B95AE"/>
                </a:solidFill>
                <a:latin typeface="Calibri"/>
              </a:rPr>
              <a:t>Storytelling + transparency build confidence early.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98864" y="2743200"/>
            <a:ext cx="2788920" cy="1783080"/>
          </a:xfrm>
          <a:prstGeom prst="roundRect">
            <a:avLst>
              <a:gd name="adj" fmla="val 6000"/>
            </a:avLst>
          </a:prstGeom>
          <a:solidFill>
            <a:srgbClr val="0E121E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473184" y="301752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122A28"/>
          </a:solidFill>
          <a:ln w="6350">
            <a:solidFill>
              <a:srgbClr val="1F7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473184" y="301752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5ED9C4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73184" y="352044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6F7FB"/>
                </a:solidFill>
                <a:latin typeface="Calibri"/>
              </a:rPr>
              <a:t>Less manual inquiry 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73184" y="388620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8B95AE"/>
                </a:solidFill>
                <a:latin typeface="Calibri"/>
              </a:rPr>
              <a:t>Assistant handles routine questions automatically.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4636008"/>
            <a:ext cx="2788920" cy="1783080"/>
          </a:xfrm>
          <a:prstGeom prst="roundRect">
            <a:avLst>
              <a:gd name="adj" fmla="val 6000"/>
            </a:avLst>
          </a:prstGeom>
          <a:solidFill>
            <a:srgbClr val="0E121E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777240" y="491032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122A28"/>
          </a:solidFill>
          <a:ln w="6350">
            <a:solidFill>
              <a:srgbClr val="1F7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7240" y="4910328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5ED9C4"/>
                </a:solidFill>
                <a:latin typeface="Calibr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13248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6F7FB"/>
                </a:solidFill>
                <a:latin typeface="Calibri"/>
              </a:rPr>
              <a:t>Better conversion rates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779008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8B95AE"/>
                </a:solidFill>
                <a:latin typeface="Calibri"/>
              </a:rPr>
              <a:t>Clear flows, clear pricing, clear next steps.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01568" y="4636008"/>
            <a:ext cx="2788920" cy="1783080"/>
          </a:xfrm>
          <a:prstGeom prst="roundRect">
            <a:avLst>
              <a:gd name="adj" fmla="val 6000"/>
            </a:avLst>
          </a:prstGeom>
          <a:solidFill>
            <a:srgbClr val="0E121E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3675888" y="491032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122A28"/>
          </a:solidFill>
          <a:ln w="6350">
            <a:solidFill>
              <a:srgbClr val="1F7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675888" y="4910328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5ED9C4"/>
                </a:solidFill>
                <a:latin typeface="Calibri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75888" y="5413248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6F7FB"/>
                </a:solidFill>
                <a:latin typeface="Calibri"/>
              </a:rPr>
              <a:t>Modern luxury positioning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75888" y="5779008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8B95AE"/>
                </a:solidFill>
                <a:latin typeface="Calibri"/>
              </a:rPr>
              <a:t>Owners, architects and builders take you seriously.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00216" y="4636008"/>
            <a:ext cx="2788920" cy="1783080"/>
          </a:xfrm>
          <a:prstGeom prst="roundRect">
            <a:avLst>
              <a:gd name="adj" fmla="val 6000"/>
            </a:avLst>
          </a:prstGeom>
          <a:solidFill>
            <a:srgbClr val="0E121E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6574536" y="491032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122A28"/>
          </a:solidFill>
          <a:ln w="6350">
            <a:solidFill>
              <a:srgbClr val="1F7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74536" y="4910328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5ED9C4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74536" y="5413248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6F7FB"/>
                </a:solidFill>
                <a:latin typeface="Calibri"/>
              </a:rPr>
              <a:t>Automated engagement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74536" y="5779008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8B95AE"/>
                </a:solidFill>
                <a:latin typeface="Calibri"/>
              </a:rPr>
              <a:t>Every visitor gets a response — 24×7, on-brand.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198864" y="4636008"/>
            <a:ext cx="2788920" cy="1783080"/>
          </a:xfrm>
          <a:prstGeom prst="roundRect">
            <a:avLst>
              <a:gd name="adj" fmla="val 6000"/>
            </a:avLst>
          </a:prstGeom>
          <a:solidFill>
            <a:srgbClr val="0E121E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9473184" y="491032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122A28"/>
          </a:solidFill>
          <a:ln w="6350">
            <a:solidFill>
              <a:srgbClr val="1F7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473184" y="4910328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5ED9C4"/>
                </a:solidFill>
                <a:latin typeface="Calibri"/>
              </a:rP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73184" y="5413248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6F7FB"/>
                </a:solidFill>
                <a:latin typeface="Calibri"/>
              </a:rPr>
              <a:t>Scalable digital presence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73184" y="5779008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8B95AE"/>
                </a:solidFill>
                <a:latin typeface="Calibri"/>
              </a:rPr>
              <a:t>Add cities, services, languages — same platform.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92608" cy="27940"/>
          </a:xfrm>
          <a:prstGeom prst="rect">
            <a:avLst/>
          </a:prstGeom>
          <a:solidFill>
            <a:srgbClr val="C9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2743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spc="300">
                <a:solidFill>
                  <a:srgbClr val="8B95AE"/>
                </a:solidFill>
                <a:latin typeface="Calibri"/>
              </a:rPr>
              <a:t>GENOSAI  ×  AQUA TECHNIC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74320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spc="300">
                <a:solidFill>
                  <a:srgbClr val="8B95AE"/>
                </a:solidFill>
                <a:latin typeface="Calibri"/>
              </a:rPr>
              <a:t>06  ·  ROADMAP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6350">
            <a:solidFill>
              <a:srgbClr val="222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B95AE"/>
                </a:solidFill>
                <a:latin typeface="Calibri"/>
              </a:rPr>
              <a:t>Luxury Website &amp; Digital Experience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510528"/>
            <a:ext cx="3456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spc="200">
                <a:solidFill>
                  <a:srgbClr val="8B95AE"/>
                </a:solidFill>
                <a:latin typeface="Calibri"/>
              </a:rPr>
              <a:t>12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914400"/>
            <a:ext cx="228600" cy="25400"/>
          </a:xfrm>
          <a:prstGeom prst="rect">
            <a:avLst/>
          </a:prstGeom>
          <a:solidFill>
            <a:srgbClr val="5E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80467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spc="400">
                <a:solidFill>
                  <a:srgbClr val="5ED9C4"/>
                </a:solidFill>
                <a:latin typeface="Calibri"/>
              </a:rPr>
              <a:t>BEYOND THE LAUNCH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14300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6F7FB"/>
                </a:solidFill>
                <a:latin typeface="Calibri"/>
              </a:rPr>
              <a:t>Future Scalability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24028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8B95AE"/>
                </a:solidFill>
                <a:latin typeface="Calibri"/>
              </a:rPr>
              <a:t>The same foundation can grow into a full digital ecosystem for Aqua Technic.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743200"/>
            <a:ext cx="2788920" cy="1691640"/>
          </a:xfrm>
          <a:prstGeom prst="roundRect">
            <a:avLst>
              <a:gd name="adj" fmla="val 6000"/>
            </a:avLst>
          </a:prstGeom>
          <a:solidFill>
            <a:srgbClr val="0E121E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3017520"/>
            <a:ext cx="27940" cy="1188720"/>
          </a:xfrm>
          <a:prstGeom prst="rect">
            <a:avLst/>
          </a:prstGeom>
          <a:solidFill>
            <a:srgbClr val="C9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017520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6F7FB"/>
                </a:solidFill>
                <a:latin typeface="Calibri"/>
              </a:rPr>
              <a:t>Maintenance Booking Portal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520440"/>
            <a:ext cx="2240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8B95AE"/>
                </a:solidFill>
                <a:latin typeface="Calibri"/>
              </a:rPr>
              <a:t>Existing clients book service visits in seconds.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01568" y="2743200"/>
            <a:ext cx="2788920" cy="1691640"/>
          </a:xfrm>
          <a:prstGeom prst="roundRect">
            <a:avLst>
              <a:gd name="adj" fmla="val 6000"/>
            </a:avLst>
          </a:prstGeom>
          <a:solidFill>
            <a:srgbClr val="0E121E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401568" y="3017520"/>
            <a:ext cx="27940" cy="1188720"/>
          </a:xfrm>
          <a:prstGeom prst="rect">
            <a:avLst/>
          </a:prstGeom>
          <a:solidFill>
            <a:srgbClr val="C9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75888" y="3017520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6F7FB"/>
                </a:solidFill>
                <a:latin typeface="Calibri"/>
              </a:rPr>
              <a:t>AMC Subscription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8" y="3520440"/>
            <a:ext cx="2240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8B95AE"/>
                </a:solidFill>
                <a:latin typeface="Calibri"/>
              </a:rPr>
              <a:t>Annual maintenance plans sold and managed online.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0216" y="2743200"/>
            <a:ext cx="2788920" cy="1691640"/>
          </a:xfrm>
          <a:prstGeom prst="roundRect">
            <a:avLst>
              <a:gd name="adj" fmla="val 6000"/>
            </a:avLst>
          </a:prstGeom>
          <a:solidFill>
            <a:srgbClr val="0E121E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00216" y="3017520"/>
            <a:ext cx="27940" cy="1188720"/>
          </a:xfrm>
          <a:prstGeom prst="rect">
            <a:avLst/>
          </a:prstGeom>
          <a:solidFill>
            <a:srgbClr val="C9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74536" y="3017520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6F7FB"/>
                </a:solidFill>
                <a:latin typeface="Calibri"/>
              </a:rPr>
              <a:t>Client Dashboards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74536" y="3520440"/>
            <a:ext cx="2240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8B95AE"/>
                </a:solidFill>
                <a:latin typeface="Calibri"/>
              </a:rPr>
              <a:t>Logged-in view: projects, visits, invoices, photos.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98864" y="2743200"/>
            <a:ext cx="2788920" cy="1691640"/>
          </a:xfrm>
          <a:prstGeom prst="roundRect">
            <a:avLst>
              <a:gd name="adj" fmla="val 6000"/>
            </a:avLst>
          </a:prstGeom>
          <a:solidFill>
            <a:srgbClr val="0E121E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198864" y="3017520"/>
            <a:ext cx="27940" cy="1188720"/>
          </a:xfrm>
          <a:prstGeom prst="rect">
            <a:avLst/>
          </a:prstGeom>
          <a:solidFill>
            <a:srgbClr val="C9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473184" y="3017520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6F7FB"/>
                </a:solidFill>
                <a:latin typeface="Calibri"/>
              </a:rPr>
              <a:t>Project Tracking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73184" y="3520440"/>
            <a:ext cx="2240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8B95AE"/>
                </a:solidFill>
                <a:latin typeface="Calibri"/>
              </a:rPr>
              <a:t>Live progress on ongoing builds — visible to clients.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544568"/>
            <a:ext cx="2788920" cy="1691640"/>
          </a:xfrm>
          <a:prstGeom prst="roundRect">
            <a:avLst>
              <a:gd name="adj" fmla="val 6000"/>
            </a:avLst>
          </a:prstGeom>
          <a:solidFill>
            <a:srgbClr val="0E121E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02920" y="4818888"/>
            <a:ext cx="27940" cy="1188720"/>
          </a:xfrm>
          <a:prstGeom prst="rect">
            <a:avLst/>
          </a:prstGeom>
          <a:solidFill>
            <a:srgbClr val="C9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7240" y="4818888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6F7FB"/>
                </a:solidFill>
                <a:latin typeface="Calibri"/>
              </a:rPr>
              <a:t>Smart Support, 24×7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321808"/>
            <a:ext cx="2240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8B95AE"/>
                </a:solidFill>
                <a:latin typeface="Calibri"/>
              </a:rPr>
              <a:t>Assistant evolves into a full digital concierge.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01568" y="4544568"/>
            <a:ext cx="2788920" cy="1691640"/>
          </a:xfrm>
          <a:prstGeom prst="roundRect">
            <a:avLst>
              <a:gd name="adj" fmla="val 6000"/>
            </a:avLst>
          </a:prstGeom>
          <a:solidFill>
            <a:srgbClr val="0E121E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401568" y="4818888"/>
            <a:ext cx="27940" cy="1188720"/>
          </a:xfrm>
          <a:prstGeom prst="rect">
            <a:avLst/>
          </a:prstGeom>
          <a:solidFill>
            <a:srgbClr val="C9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75888" y="4818888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6F7FB"/>
                </a:solidFill>
                <a:latin typeface="Calibri"/>
              </a:rPr>
              <a:t>Multilingual Support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75888" y="5321808"/>
            <a:ext cx="2240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8B95AE"/>
                </a:solidFill>
                <a:latin typeface="Calibri"/>
              </a:rPr>
              <a:t>Hindi, Telugu, English — meet every client comfortably.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0216" y="4544568"/>
            <a:ext cx="2788920" cy="1691640"/>
          </a:xfrm>
          <a:prstGeom prst="roundRect">
            <a:avLst>
              <a:gd name="adj" fmla="val 6000"/>
            </a:avLst>
          </a:prstGeom>
          <a:solidFill>
            <a:srgbClr val="0E121E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300216" y="4818888"/>
            <a:ext cx="27940" cy="1188720"/>
          </a:xfrm>
          <a:prstGeom prst="rect">
            <a:avLst/>
          </a:prstGeom>
          <a:solidFill>
            <a:srgbClr val="C9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74536" y="4818888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6F7FB"/>
                </a:solidFill>
                <a:latin typeface="Calibri"/>
              </a:rPr>
              <a:t>Automated Quotations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74536" y="5321808"/>
            <a:ext cx="2240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8B95AE"/>
                </a:solidFill>
                <a:latin typeface="Calibri"/>
              </a:rPr>
              <a:t>Detailed PDFs generated and sent on calculator submit.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98864" y="4544568"/>
            <a:ext cx="2788920" cy="1691640"/>
          </a:xfrm>
          <a:prstGeom prst="roundRect">
            <a:avLst>
              <a:gd name="adj" fmla="val 6000"/>
            </a:avLst>
          </a:prstGeom>
          <a:solidFill>
            <a:srgbClr val="0E121E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9198864" y="4818888"/>
            <a:ext cx="27940" cy="1188720"/>
          </a:xfrm>
          <a:prstGeom prst="rect">
            <a:avLst/>
          </a:prstGeom>
          <a:solidFill>
            <a:srgbClr val="C9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473184" y="4818888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6F7FB"/>
                </a:solidFill>
                <a:latin typeface="Calibri"/>
              </a:rPr>
              <a:t>Architect / Builder Portal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73184" y="5321808"/>
            <a:ext cx="2240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8B95AE"/>
                </a:solidFill>
                <a:latin typeface="Calibri"/>
              </a:rPr>
              <a:t>B2B access for trade partners with custom pricing.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92608" cy="27940"/>
          </a:xfrm>
          <a:prstGeom prst="rect">
            <a:avLst/>
          </a:prstGeom>
          <a:solidFill>
            <a:srgbClr val="C9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2743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spc="300">
                <a:solidFill>
                  <a:srgbClr val="8B95AE"/>
                </a:solidFill>
                <a:latin typeface="Calibri"/>
              </a:rPr>
              <a:t>GENOSAI  ×  AQUA TECHNIC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74320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spc="300">
                <a:solidFill>
                  <a:srgbClr val="8B95AE"/>
                </a:solidFill>
                <a:latin typeface="Calibri"/>
              </a:rPr>
              <a:t>07  ·  IMPLEMENTATION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6350">
            <a:solidFill>
              <a:srgbClr val="222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B95AE"/>
                </a:solidFill>
                <a:latin typeface="Calibri"/>
              </a:rPr>
              <a:t>Luxury Website &amp; Digital Experience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510528"/>
            <a:ext cx="3456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spc="200">
                <a:solidFill>
                  <a:srgbClr val="8B95AE"/>
                </a:solidFill>
                <a:latin typeface="Calibri"/>
              </a:rPr>
              <a:t>13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914400"/>
            <a:ext cx="228600" cy="25400"/>
          </a:xfrm>
          <a:prstGeom prst="rect">
            <a:avLst/>
          </a:prstGeom>
          <a:solidFill>
            <a:srgbClr val="5E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80467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spc="400">
                <a:solidFill>
                  <a:srgbClr val="5ED9C4"/>
                </a:solidFill>
                <a:latin typeface="Calibri"/>
              </a:rPr>
              <a:t>BUILT IN THREE CLEAN STAGES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14300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6F7FB"/>
                </a:solidFill>
                <a:latin typeface="Calibri"/>
              </a:rPr>
              <a:t>Implementation Phases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24028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8B95AE"/>
                </a:solidFill>
                <a:latin typeface="Calibri"/>
              </a:rPr>
              <a:t>Each phase ships visible value — no big-bang risk, no months of silence.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97480"/>
            <a:ext cx="3703320" cy="3657600"/>
          </a:xfrm>
          <a:prstGeom prst="roundRect">
            <a:avLst>
              <a:gd name="adj" fmla="val 6000"/>
            </a:avLst>
          </a:prstGeom>
          <a:solidFill>
            <a:srgbClr val="0E121E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77240" y="2971800"/>
            <a:ext cx="1417320" cy="320040"/>
          </a:xfrm>
          <a:prstGeom prst="roundRect">
            <a:avLst>
              <a:gd name="adj" fmla="val 40000"/>
            </a:avLst>
          </a:prstGeom>
          <a:solidFill>
            <a:srgbClr val="122A28"/>
          </a:solidFill>
          <a:ln w="6350">
            <a:solidFill>
              <a:srgbClr val="1F7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2971800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spc="300">
                <a:solidFill>
                  <a:srgbClr val="5ED9C4"/>
                </a:solidFill>
                <a:latin typeface="Calibri"/>
              </a:rPr>
              <a:t>PHASE 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429000"/>
            <a:ext cx="3154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F6F7FB"/>
                </a:solidFill>
                <a:latin typeface="Calibri"/>
              </a:rPr>
              <a:t>Luxury Website Redesign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206240"/>
            <a:ext cx="315468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19" b="0">
                <a:solidFill>
                  <a:srgbClr val="8B95AE"/>
                </a:solidFill>
                <a:latin typeface="Calibri"/>
              </a:rPr>
              <a:t>The cinematic brand experience goes live: design system, hero pages, work showcase, mobile polish, performance.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212080"/>
            <a:ext cx="137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C9A86B"/>
                </a:solidFill>
                <a:latin typeface="Calibri"/>
              </a:rPr>
              <a:t>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212080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C8CFDE"/>
                </a:solidFill>
                <a:latin typeface="Calibri"/>
              </a:rPr>
              <a:t>Design system &amp; UI kit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76672"/>
            <a:ext cx="137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C9A86B"/>
                </a:solidFill>
                <a:latin typeface="Calibri"/>
              </a:rPr>
              <a:t>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376672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C8CFDE"/>
                </a:solidFill>
                <a:latin typeface="Calibri"/>
              </a:rPr>
              <a:t>Cinematic homepage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541264"/>
            <a:ext cx="137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C9A86B"/>
                </a:solidFill>
                <a:latin typeface="Calibri"/>
              </a:rPr>
              <a:t>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41264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C8CFDE"/>
                </a:solidFill>
                <a:latin typeface="Calibri"/>
              </a:rPr>
              <a:t>Project showcase pages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705856"/>
            <a:ext cx="137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C9A86B"/>
                </a:solidFill>
                <a:latin typeface="Calibri"/>
              </a:rPr>
              <a:t>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705856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C8CFDE"/>
                </a:solidFill>
                <a:latin typeface="Calibri"/>
              </a:rPr>
              <a:t>Services &amp; about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870448"/>
            <a:ext cx="137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C9A86B"/>
                </a:solidFill>
                <a:latin typeface="Calibri"/>
              </a:rPr>
              <a:t>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870448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C8CFDE"/>
                </a:solidFill>
                <a:latin typeface="Calibri"/>
              </a:rPr>
              <a:t>Mobile &amp; performance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6035040"/>
            <a:ext cx="137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C9A86B"/>
                </a:solidFill>
                <a:latin typeface="Calibri"/>
              </a:rPr>
              <a:t>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6035040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C8CFDE"/>
                </a:solidFill>
                <a:latin typeface="Calibri"/>
              </a:rPr>
              <a:t>Soft launch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15968" y="2697480"/>
            <a:ext cx="3703320" cy="3657600"/>
          </a:xfrm>
          <a:prstGeom prst="roundRect">
            <a:avLst>
              <a:gd name="adj" fmla="val 6000"/>
            </a:avLst>
          </a:prstGeom>
          <a:solidFill>
            <a:srgbClr val="0E121E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4590288" y="2971800"/>
            <a:ext cx="1417320" cy="320040"/>
          </a:xfrm>
          <a:prstGeom prst="roundRect">
            <a:avLst>
              <a:gd name="adj" fmla="val 40000"/>
            </a:avLst>
          </a:prstGeom>
          <a:solidFill>
            <a:srgbClr val="122A28"/>
          </a:solidFill>
          <a:ln w="6350">
            <a:solidFill>
              <a:srgbClr val="1F7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90288" y="2971800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spc="300">
                <a:solidFill>
                  <a:srgbClr val="5ED9C4"/>
                </a:solidFill>
                <a:latin typeface="Calibri"/>
              </a:rPr>
              <a:t>PHASE 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90288" y="3429000"/>
            <a:ext cx="3154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F6F7FB"/>
                </a:solidFill>
                <a:latin typeface="Calibri"/>
              </a:rPr>
              <a:t>Interactive Cost Calculator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90288" y="4206240"/>
            <a:ext cx="315468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19" b="0">
                <a:solidFill>
                  <a:srgbClr val="8B95AE"/>
                </a:solidFill>
                <a:latin typeface="Calibri"/>
              </a:rPr>
              <a:t>The pricing flow goes live — visitors build their pool and get a real estimate that flows straight into your inbox.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81728" y="5212080"/>
            <a:ext cx="137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C9A86B"/>
                </a:solidFill>
                <a:latin typeface="Calibri"/>
              </a:rPr>
              <a:t>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64608" y="5212080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C8CFDE"/>
                </a:solidFill>
                <a:latin typeface="Calibri"/>
              </a:rPr>
              <a:t>Calculator flow design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81728" y="5376672"/>
            <a:ext cx="137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C9A86B"/>
                </a:solidFill>
                <a:latin typeface="Calibri"/>
              </a:rPr>
              <a:t>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64608" y="5376672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C8CFDE"/>
                </a:solidFill>
                <a:latin typeface="Calibri"/>
              </a:rPr>
              <a:t>Pricing logic &amp; ranges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81728" y="5541264"/>
            <a:ext cx="137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C9A86B"/>
                </a:solidFill>
                <a:latin typeface="Calibri"/>
              </a:rPr>
              <a:t>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64608" y="5541264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C8CFDE"/>
                </a:solidFill>
                <a:latin typeface="Calibri"/>
              </a:rPr>
              <a:t>Inquiry capture form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81728" y="5705856"/>
            <a:ext cx="137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C9A86B"/>
                </a:solidFill>
                <a:latin typeface="Calibri"/>
              </a:rPr>
              <a:t>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64608" y="5705856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C8CFDE"/>
                </a:solidFill>
                <a:latin typeface="Calibri"/>
              </a:rPr>
              <a:t>Lead routing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81728" y="5870448"/>
            <a:ext cx="137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C9A86B"/>
                </a:solidFill>
                <a:latin typeface="Calibri"/>
              </a:rPr>
              <a:t>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64608" y="5870448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C8CFDE"/>
                </a:solidFill>
                <a:latin typeface="Calibri"/>
              </a:rPr>
              <a:t>Admin view of submissions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81728" y="6035040"/>
            <a:ext cx="137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C9A86B"/>
                </a:solidFill>
                <a:latin typeface="Calibri"/>
              </a:rPr>
              <a:t>›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64608" y="6035040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C8CFDE"/>
                </a:solidFill>
                <a:latin typeface="Calibri"/>
              </a:rPr>
              <a:t>A/B copy tuning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129016" y="2697480"/>
            <a:ext cx="3703320" cy="3657600"/>
          </a:xfrm>
          <a:prstGeom prst="roundRect">
            <a:avLst>
              <a:gd name="adj" fmla="val 6000"/>
            </a:avLst>
          </a:prstGeom>
          <a:solidFill>
            <a:srgbClr val="0E121E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403336" y="2971800"/>
            <a:ext cx="1417320" cy="320040"/>
          </a:xfrm>
          <a:prstGeom prst="roundRect">
            <a:avLst>
              <a:gd name="adj" fmla="val 40000"/>
            </a:avLst>
          </a:prstGeom>
          <a:solidFill>
            <a:srgbClr val="122A28"/>
          </a:solidFill>
          <a:ln w="6350">
            <a:solidFill>
              <a:srgbClr val="1F7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403336" y="2971800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spc="300">
                <a:solidFill>
                  <a:srgbClr val="5ED9C4"/>
                </a:solidFill>
                <a:latin typeface="Calibri"/>
              </a:rPr>
              <a:t>PHASE 03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03336" y="3429000"/>
            <a:ext cx="3154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F6F7FB"/>
                </a:solidFill>
                <a:latin typeface="Calibri"/>
              </a:rPr>
              <a:t>WhatsApp &amp; Smart Assistant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03336" y="4206240"/>
            <a:ext cx="315468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19" b="0">
                <a:solidFill>
                  <a:srgbClr val="8B95AE"/>
                </a:solidFill>
                <a:latin typeface="Calibri"/>
              </a:rPr>
              <a:t>Automation layer goes live: WhatsApp buttons, smart replies, AMC reminders, and the customer assistant.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94776" y="5212080"/>
            <a:ext cx="137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C9A86B"/>
                </a:solidFill>
                <a:latin typeface="Calibri"/>
              </a:rPr>
              <a:t>›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77656" y="5212080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C8CFDE"/>
                </a:solidFill>
                <a:latin typeface="Calibri"/>
              </a:rPr>
              <a:t>WhatsApp integration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94776" y="5376672"/>
            <a:ext cx="137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C9A86B"/>
                </a:solidFill>
                <a:latin typeface="Calibri"/>
              </a:rPr>
              <a:t>›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77656" y="5376672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C8CFDE"/>
                </a:solidFill>
                <a:latin typeface="Calibri"/>
              </a:rPr>
              <a:t>Smart chat assistant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94776" y="5541264"/>
            <a:ext cx="137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C9A86B"/>
                </a:solidFill>
                <a:latin typeface="Calibri"/>
              </a:rPr>
              <a:t>›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77656" y="5541264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C8CFDE"/>
                </a:solidFill>
                <a:latin typeface="Calibri"/>
              </a:rPr>
              <a:t>Calculator → WhatsApp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94776" y="5705856"/>
            <a:ext cx="137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C9A86B"/>
                </a:solidFill>
                <a:latin typeface="Calibri"/>
              </a:rPr>
              <a:t>›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77656" y="5705856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C8CFDE"/>
                </a:solidFill>
                <a:latin typeface="Calibri"/>
              </a:rPr>
              <a:t>Automated follow-ups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94776" y="5870448"/>
            <a:ext cx="137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C9A86B"/>
                </a:solidFill>
                <a:latin typeface="Calibri"/>
              </a:rPr>
              <a:t>›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77656" y="5870448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C8CFDE"/>
                </a:solidFill>
                <a:latin typeface="Calibri"/>
              </a:rPr>
              <a:t>Handover dashboard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94776" y="6035040"/>
            <a:ext cx="137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C9A86B"/>
                </a:solidFill>
                <a:latin typeface="Calibri"/>
              </a:rPr>
              <a:t>›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77656" y="6035040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C8CFDE"/>
                </a:solidFill>
                <a:latin typeface="Calibri"/>
              </a:rPr>
              <a:t>Training &amp; handover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92608" cy="27940"/>
          </a:xfrm>
          <a:prstGeom prst="rect">
            <a:avLst/>
          </a:prstGeom>
          <a:solidFill>
            <a:srgbClr val="C9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2743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spc="300">
                <a:solidFill>
                  <a:srgbClr val="8B95AE"/>
                </a:solidFill>
                <a:latin typeface="Calibri"/>
              </a:rPr>
              <a:t>GENOSAI  ×  AQUA TECHNIC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74320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spc="300">
                <a:solidFill>
                  <a:srgbClr val="8B95AE"/>
                </a:solidFill>
                <a:latin typeface="Calibri"/>
              </a:rPr>
              <a:t>08  ·  TIMELINE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6350">
            <a:solidFill>
              <a:srgbClr val="222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B95AE"/>
                </a:solidFill>
                <a:latin typeface="Calibri"/>
              </a:rPr>
              <a:t>Luxury Website &amp; Digital Experience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510528"/>
            <a:ext cx="3456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spc="200">
                <a:solidFill>
                  <a:srgbClr val="8B95AE"/>
                </a:solidFill>
                <a:latin typeface="Calibri"/>
              </a:rPr>
              <a:t>14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914400"/>
            <a:ext cx="228600" cy="25400"/>
          </a:xfrm>
          <a:prstGeom prst="rect">
            <a:avLst/>
          </a:prstGeom>
          <a:solidFill>
            <a:srgbClr val="5E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80467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spc="400">
                <a:solidFill>
                  <a:srgbClr val="5ED9C4"/>
                </a:solidFill>
                <a:latin typeface="Calibri"/>
              </a:rPr>
              <a:t>REALISTIC, NOT RUSHED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143000"/>
            <a:ext cx="11155680" cy="4961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dirty="0">
                <a:solidFill>
                  <a:srgbClr val="F6F7FB"/>
                </a:solidFill>
                <a:latin typeface="Calibri"/>
              </a:rPr>
              <a:t>Estimated Timeline · 3 – </a:t>
            </a:r>
            <a:r>
              <a:rPr lang="en-IN" sz="3200" b="1" dirty="0">
                <a:solidFill>
                  <a:srgbClr val="F6F7FB"/>
                </a:solidFill>
                <a:latin typeface="Calibri"/>
              </a:rPr>
              <a:t>7</a:t>
            </a:r>
            <a:r>
              <a:rPr sz="3200" b="1" dirty="0">
                <a:solidFill>
                  <a:srgbClr val="F6F7FB"/>
                </a:solidFill>
                <a:latin typeface="Calibri"/>
              </a:rPr>
              <a:t> Weeks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24028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8B95AE"/>
                </a:solidFill>
                <a:latin typeface="Calibri"/>
              </a:rPr>
              <a:t>Final timeline depends on chosen scope and the speed of internal reviews.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56432"/>
            <a:ext cx="10698480" cy="164592"/>
          </a:xfrm>
          <a:prstGeom prst="roundRect">
            <a:avLst>
              <a:gd name="adj" fmla="val 40000"/>
            </a:avLst>
          </a:prstGeom>
          <a:solidFill>
            <a:srgbClr val="0E121E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31520" y="3456432"/>
            <a:ext cx="4011930" cy="164592"/>
          </a:xfrm>
          <a:prstGeom prst="roundRect">
            <a:avLst>
              <a:gd name="adj" fmla="val 40000"/>
            </a:avLst>
          </a:prstGeom>
          <a:solidFill>
            <a:srgbClr val="5ED9C4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58368" y="3419856"/>
            <a:ext cx="237744" cy="237744"/>
          </a:xfrm>
          <a:prstGeom prst="ellipse">
            <a:avLst/>
          </a:prstGeom>
          <a:solidFill>
            <a:srgbClr val="5E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2834640"/>
            <a:ext cx="4011930" cy="1896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dirty="0">
                <a:solidFill>
                  <a:srgbClr val="F6F7FB"/>
                </a:solidFill>
                <a:latin typeface="Calibri"/>
              </a:rPr>
              <a:t>Phase 1 · </a:t>
            </a:r>
            <a:r>
              <a:rPr sz="1100" b="1" dirty="0" err="1">
                <a:solidFill>
                  <a:srgbClr val="F6F7FB"/>
                </a:solidFill>
                <a:latin typeface="Calibri"/>
              </a:rPr>
              <a:t>Wk</a:t>
            </a:r>
            <a:r>
              <a:rPr sz="1100" b="1" dirty="0">
                <a:solidFill>
                  <a:srgbClr val="F6F7FB"/>
                </a:solidFill>
                <a:latin typeface="Calibri"/>
              </a:rPr>
              <a:t> 1–</a:t>
            </a:r>
            <a:r>
              <a:rPr lang="en-IN" sz="1100" b="1" dirty="0">
                <a:solidFill>
                  <a:srgbClr val="F6F7FB"/>
                </a:solidFill>
                <a:latin typeface="Calibri"/>
              </a:rPr>
              <a:t>2</a:t>
            </a:r>
            <a:endParaRPr sz="1100" b="1" dirty="0">
              <a:solidFill>
                <a:srgbClr val="F6F7FB"/>
              </a:solidFill>
              <a:latin typeface="Calibr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743450" y="3456432"/>
            <a:ext cx="2674620" cy="164592"/>
          </a:xfrm>
          <a:prstGeom prst="roundRect">
            <a:avLst>
              <a:gd name="adj" fmla="val 40000"/>
            </a:avLst>
          </a:prstGeom>
          <a:solidFill>
            <a:srgbClr val="C9A86B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670298" y="3419856"/>
            <a:ext cx="237744" cy="237744"/>
          </a:xfrm>
          <a:prstGeom prst="ellipse">
            <a:avLst/>
          </a:prstGeom>
          <a:solidFill>
            <a:srgbClr val="C9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43450" y="2834640"/>
            <a:ext cx="2674620" cy="1896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dirty="0">
                <a:solidFill>
                  <a:srgbClr val="F6F7FB"/>
                </a:solidFill>
                <a:latin typeface="Calibri"/>
              </a:rPr>
              <a:t>Phase 2 · </a:t>
            </a:r>
            <a:r>
              <a:rPr sz="1100" b="1" dirty="0" err="1">
                <a:solidFill>
                  <a:srgbClr val="F6F7FB"/>
                </a:solidFill>
                <a:latin typeface="Calibri"/>
              </a:rPr>
              <a:t>Wk</a:t>
            </a:r>
            <a:r>
              <a:rPr sz="1100" b="1" dirty="0">
                <a:solidFill>
                  <a:srgbClr val="F6F7FB"/>
                </a:solidFill>
                <a:latin typeface="Calibri"/>
              </a:rPr>
              <a:t> </a:t>
            </a:r>
            <a:r>
              <a:rPr lang="en-IN" sz="1100" b="1" dirty="0">
                <a:solidFill>
                  <a:srgbClr val="F6F7FB"/>
                </a:solidFill>
                <a:latin typeface="Calibri"/>
              </a:rPr>
              <a:t>3</a:t>
            </a:r>
            <a:r>
              <a:rPr sz="1100" b="1" dirty="0">
                <a:solidFill>
                  <a:srgbClr val="F6F7FB"/>
                </a:solidFill>
                <a:latin typeface="Calibri"/>
              </a:rPr>
              <a:t>–5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18070" y="3456432"/>
            <a:ext cx="4011930" cy="164592"/>
          </a:xfrm>
          <a:prstGeom prst="roundRect">
            <a:avLst>
              <a:gd name="adj" fmla="val 40000"/>
            </a:avLst>
          </a:prstGeom>
          <a:solidFill>
            <a:srgbClr val="4AD991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344918" y="3419856"/>
            <a:ext cx="237744" cy="237744"/>
          </a:xfrm>
          <a:prstGeom prst="ellipse">
            <a:avLst/>
          </a:prstGeom>
          <a:solidFill>
            <a:srgbClr val="4AD9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18070" y="2834640"/>
            <a:ext cx="4011930" cy="1896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dirty="0">
                <a:solidFill>
                  <a:srgbClr val="F6F7FB"/>
                </a:solidFill>
                <a:latin typeface="Calibri"/>
              </a:rPr>
              <a:t>Phase 3 · </a:t>
            </a:r>
            <a:r>
              <a:rPr sz="1100" b="1" dirty="0" err="1">
                <a:solidFill>
                  <a:srgbClr val="F6F7FB"/>
                </a:solidFill>
                <a:latin typeface="Calibri"/>
              </a:rPr>
              <a:t>Wk</a:t>
            </a:r>
            <a:r>
              <a:rPr sz="1100" b="1" dirty="0">
                <a:solidFill>
                  <a:srgbClr val="F6F7FB"/>
                </a:solidFill>
                <a:latin typeface="Calibri"/>
              </a:rPr>
              <a:t> </a:t>
            </a:r>
            <a:r>
              <a:rPr lang="en-IN" sz="1100" b="1" dirty="0">
                <a:solidFill>
                  <a:srgbClr val="F6F7FB"/>
                </a:solidFill>
                <a:latin typeface="Calibri"/>
              </a:rPr>
              <a:t>5</a:t>
            </a:r>
            <a:r>
              <a:rPr sz="1100" b="1" dirty="0">
                <a:solidFill>
                  <a:srgbClr val="F6F7FB"/>
                </a:solidFill>
                <a:latin typeface="Calibri"/>
              </a:rPr>
              <a:t>–</a:t>
            </a:r>
            <a:r>
              <a:rPr lang="en-IN" sz="1100" b="1" dirty="0">
                <a:solidFill>
                  <a:srgbClr val="F6F7FB"/>
                </a:solidFill>
                <a:latin typeface="Calibri"/>
              </a:rPr>
              <a:t>7</a:t>
            </a:r>
            <a:endParaRPr sz="1100" b="1" dirty="0">
              <a:solidFill>
                <a:srgbClr val="F6F7FB"/>
              </a:solidFill>
              <a:latin typeface="Calibri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11311128" y="3419856"/>
            <a:ext cx="237744" cy="237744"/>
          </a:xfrm>
          <a:prstGeom prst="ellipse">
            <a:avLst/>
          </a:prstGeom>
          <a:solidFill>
            <a:srgbClr val="4AD9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379476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8B95AE"/>
                </a:solidFill>
                <a:latin typeface="Calibri"/>
              </a:rPr>
              <a:t>Start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31670" y="379476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8B95AE"/>
                </a:solidFill>
                <a:latin typeface="Calibri"/>
              </a:rPr>
              <a:t>W1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68980" y="379476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8B95AE"/>
                </a:solidFill>
                <a:latin typeface="Calibri"/>
              </a:rPr>
              <a:t>W2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6290" y="379476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8B95AE"/>
                </a:solidFill>
                <a:latin typeface="Calibri"/>
              </a:rPr>
              <a:t>W3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379476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8B95AE"/>
                </a:solidFill>
                <a:latin typeface="Calibri"/>
              </a:rPr>
              <a:t>W4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80910" y="379476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8B95AE"/>
                </a:solidFill>
                <a:latin typeface="Calibri"/>
              </a:rPr>
              <a:t>W5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18220" y="379476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8B95AE"/>
                </a:solidFill>
                <a:latin typeface="Calibri"/>
              </a:rPr>
              <a:t>W6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55530" y="379476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8B95AE"/>
                </a:solidFill>
                <a:latin typeface="Calibri"/>
              </a:rPr>
              <a:t>W7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379476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8B95AE"/>
                </a:solidFill>
                <a:latin typeface="Calibri"/>
              </a:rPr>
              <a:t>W8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9719" y="4572000"/>
            <a:ext cx="3657600" cy="1645920"/>
          </a:xfrm>
          <a:prstGeom prst="roundRect">
            <a:avLst>
              <a:gd name="adj" fmla="val 5000"/>
            </a:avLst>
          </a:prstGeom>
          <a:solidFill>
            <a:srgbClr val="0E121E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99719" y="4800600"/>
            <a:ext cx="27940" cy="1143000"/>
          </a:xfrm>
          <a:prstGeom prst="rect">
            <a:avLst/>
          </a:prstGeom>
          <a:solidFill>
            <a:srgbClr val="5E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74039" y="4800600"/>
            <a:ext cx="3200400" cy="2240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dirty="0">
                <a:solidFill>
                  <a:srgbClr val="F6F7FB"/>
                </a:solidFill>
                <a:latin typeface="Calibri"/>
              </a:rPr>
              <a:t>Phase 1 · </a:t>
            </a:r>
            <a:r>
              <a:rPr lang="en-IN" sz="1300" b="1" dirty="0">
                <a:solidFill>
                  <a:srgbClr val="F6F7FB"/>
                </a:solidFill>
                <a:latin typeface="Calibri"/>
              </a:rPr>
              <a:t>1</a:t>
            </a:r>
            <a:r>
              <a:rPr sz="1300" b="1" dirty="0">
                <a:solidFill>
                  <a:srgbClr val="F6F7FB"/>
                </a:solidFill>
                <a:latin typeface="Calibri"/>
              </a:rPr>
              <a:t>–</a:t>
            </a:r>
            <a:r>
              <a:rPr lang="en-IN" sz="1300" b="1" dirty="0">
                <a:solidFill>
                  <a:srgbClr val="F6F7FB"/>
                </a:solidFill>
                <a:latin typeface="Calibri"/>
              </a:rPr>
              <a:t>2</a:t>
            </a:r>
            <a:r>
              <a:rPr sz="1300" b="1" dirty="0">
                <a:solidFill>
                  <a:srgbClr val="F6F7FB"/>
                </a:solidFill>
                <a:latin typeface="Calibri"/>
              </a:rPr>
              <a:t> weeks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4039" y="5257800"/>
            <a:ext cx="3200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8B95AE"/>
                </a:solidFill>
                <a:latin typeface="Calibri"/>
              </a:rPr>
              <a:t>Luxury website goes live with full brand experience and project showcase.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67047" y="4572000"/>
            <a:ext cx="3657600" cy="1645920"/>
          </a:xfrm>
          <a:prstGeom prst="roundRect">
            <a:avLst>
              <a:gd name="adj" fmla="val 5000"/>
            </a:avLst>
          </a:prstGeom>
          <a:solidFill>
            <a:srgbClr val="0E121E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267047" y="4800600"/>
            <a:ext cx="27940" cy="1143000"/>
          </a:xfrm>
          <a:prstGeom prst="rect">
            <a:avLst/>
          </a:prstGeom>
          <a:solidFill>
            <a:srgbClr val="C9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41367" y="480060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6F7FB"/>
                </a:solidFill>
                <a:latin typeface="Calibri"/>
              </a:rPr>
              <a:t>Phase 2 · 1–2 weeks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41367" y="5257800"/>
            <a:ext cx="3200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8B95AE"/>
                </a:solidFill>
                <a:latin typeface="Calibri"/>
              </a:rPr>
              <a:t>Interactive cost calculator launched. Inquiries flow in cleanly.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34375" y="4572000"/>
            <a:ext cx="3657600" cy="1645920"/>
          </a:xfrm>
          <a:prstGeom prst="roundRect">
            <a:avLst>
              <a:gd name="adj" fmla="val 5000"/>
            </a:avLst>
          </a:prstGeom>
          <a:solidFill>
            <a:srgbClr val="0E121E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034375" y="4800600"/>
            <a:ext cx="27940" cy="1143000"/>
          </a:xfrm>
          <a:prstGeom prst="rect">
            <a:avLst/>
          </a:prstGeom>
          <a:solidFill>
            <a:srgbClr val="4AD9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308695" y="4800600"/>
            <a:ext cx="3200400" cy="2240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dirty="0">
                <a:solidFill>
                  <a:srgbClr val="F6F7FB"/>
                </a:solidFill>
                <a:latin typeface="Calibri"/>
              </a:rPr>
              <a:t>Phase 3 · </a:t>
            </a:r>
            <a:r>
              <a:rPr lang="en-IN" sz="1300" b="1" dirty="0">
                <a:solidFill>
                  <a:srgbClr val="F6F7FB"/>
                </a:solidFill>
                <a:latin typeface="Calibri"/>
              </a:rPr>
              <a:t>1</a:t>
            </a:r>
            <a:r>
              <a:rPr sz="1300" b="1" dirty="0">
                <a:solidFill>
                  <a:srgbClr val="F6F7FB"/>
                </a:solidFill>
                <a:latin typeface="Calibri"/>
              </a:rPr>
              <a:t>–</a:t>
            </a:r>
            <a:r>
              <a:rPr lang="en-IN" sz="1300" b="1" dirty="0">
                <a:solidFill>
                  <a:srgbClr val="F6F7FB"/>
                </a:solidFill>
                <a:latin typeface="Calibri"/>
              </a:rPr>
              <a:t>3 </a:t>
            </a:r>
            <a:r>
              <a:rPr sz="1300" b="1" dirty="0">
                <a:solidFill>
                  <a:srgbClr val="F6F7FB"/>
                </a:solidFill>
                <a:latin typeface="Calibri"/>
              </a:rPr>
              <a:t>weeks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08695" y="5257800"/>
            <a:ext cx="3200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8B95AE"/>
                </a:solidFill>
                <a:latin typeface="Calibri"/>
              </a:rPr>
              <a:t>WhatsApp + smart assistant turned on. Handover, training, polish.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92608" cy="27940"/>
          </a:xfrm>
          <a:prstGeom prst="rect">
            <a:avLst/>
          </a:prstGeom>
          <a:solidFill>
            <a:srgbClr val="C9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2743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spc="300">
                <a:solidFill>
                  <a:srgbClr val="8B95AE"/>
                </a:solidFill>
                <a:latin typeface="Calibri"/>
              </a:rPr>
              <a:t>GENOSAI  ×  AQUA TECHNIC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74320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spc="300">
                <a:solidFill>
                  <a:srgbClr val="8B95AE"/>
                </a:solidFill>
                <a:latin typeface="Calibri"/>
              </a:rPr>
              <a:t>09  ·  ABOUT US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6350">
            <a:solidFill>
              <a:srgbClr val="222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B95AE"/>
                </a:solidFill>
                <a:latin typeface="Calibri"/>
              </a:rPr>
              <a:t>Luxury Website &amp; Digital Experience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510528"/>
            <a:ext cx="3456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spc="200">
                <a:solidFill>
                  <a:srgbClr val="8B95AE"/>
                </a:solidFill>
                <a:latin typeface="Calibri"/>
              </a:rPr>
              <a:t>15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914400"/>
            <a:ext cx="228600" cy="25400"/>
          </a:xfrm>
          <a:prstGeom prst="rect">
            <a:avLst/>
          </a:prstGeom>
          <a:solidFill>
            <a:srgbClr val="5E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80467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spc="400">
                <a:solidFill>
                  <a:srgbClr val="5ED9C4"/>
                </a:solidFill>
                <a:latin typeface="Calibri"/>
              </a:rPr>
              <a:t>WHO IS BEHIND THIS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14300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6F7FB"/>
                </a:solidFill>
                <a:latin typeface="Calibri"/>
              </a:rPr>
              <a:t>GenosAI Tech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743200"/>
            <a:ext cx="5669280" cy="3611880"/>
          </a:xfrm>
          <a:prstGeom prst="roundRect">
            <a:avLst>
              <a:gd name="adj" fmla="val 5000"/>
            </a:avLst>
          </a:prstGeom>
          <a:solidFill>
            <a:srgbClr val="0E121E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68680" y="310896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122A28"/>
          </a:solidFill>
          <a:ln w="6350">
            <a:solidFill>
              <a:srgbClr val="1F7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10896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1" spc="200">
                <a:solidFill>
                  <a:srgbClr val="5ED9C4"/>
                </a:solidFill>
                <a:latin typeface="Calibri"/>
              </a:rPr>
              <a:t>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182112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spc="400">
                <a:solidFill>
                  <a:srgbClr val="C9A86B"/>
                </a:solidFill>
                <a:latin typeface="Calibri"/>
              </a:rPr>
              <a:t>FOUNDER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3429000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F6F7FB"/>
                </a:solidFill>
                <a:latin typeface="Calibri"/>
              </a:rPr>
              <a:t>Rohan Malik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38221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B95AE"/>
                </a:solidFill>
                <a:latin typeface="Calibri"/>
              </a:rPr>
              <a:t>Building premium digital systems for serious businesses.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434840"/>
            <a:ext cx="493776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C8CFDE"/>
                </a:solidFill>
                <a:latin typeface="Calibri"/>
              </a:rPr>
              <a:t>GenosAI Tech designs premium websites and operational systems for businesses that take craft seriously. We pair clean engineering with strong design taste — and a clear-eyed sense of how to convert visitors into clients.</a:t>
            </a:r>
          </a:p>
          <a:p>
            <a:pPr algn="l">
              <a:lnSpc>
                <a:spcPct val="150000"/>
              </a:lnSpc>
            </a:pPr>
            <a:endParaRPr sz="1100" b="0">
              <a:solidFill>
                <a:srgbClr val="C8CFDE"/>
              </a:solidFill>
              <a:latin typeface="Calibri"/>
            </a:endParaRP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C8CFDE"/>
                </a:solidFill>
                <a:latin typeface="Calibri"/>
              </a:rPr>
              <a:t>Every project we ship is built to look luxury, behave smartly, and quietly drive growth.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2743200"/>
            <a:ext cx="5349240" cy="3611880"/>
          </a:xfrm>
          <a:prstGeom prst="roundRect">
            <a:avLst>
              <a:gd name="adj" fmla="val 5000"/>
            </a:avLst>
          </a:prstGeom>
          <a:solidFill>
            <a:srgbClr val="14192A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20840" y="3017520"/>
            <a:ext cx="4617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spc="400">
                <a:solidFill>
                  <a:srgbClr val="C9A86B"/>
                </a:solidFill>
                <a:latin typeface="Calibri"/>
              </a:rPr>
              <a:t>WHAT WE BUILD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0840" y="3520440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122A28"/>
          </a:solidFill>
          <a:ln w="6350">
            <a:solidFill>
              <a:srgbClr val="1F7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20840" y="3520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5ED9C4"/>
                </a:solidFill>
                <a:latin typeface="Calibri"/>
              </a:rPr>
              <a:t>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3520440"/>
            <a:ext cx="19431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F6F7FB"/>
                </a:solidFill>
                <a:latin typeface="Calibri"/>
              </a:rPr>
              <a:t>Premium Websites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3794760"/>
            <a:ext cx="19431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8B95AE"/>
                </a:solidFill>
                <a:latin typeface="Calibri"/>
              </a:rPr>
              <a:t>Cinematic, fast, on-brand.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12580" y="3520440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122A28"/>
          </a:solidFill>
          <a:ln w="6350">
            <a:solidFill>
              <a:srgbClr val="1F7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212580" y="3520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5ED9C4"/>
                </a:solidFill>
                <a:latin typeface="Calibri"/>
              </a:rPr>
              <a:t>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5500" y="3520440"/>
            <a:ext cx="19431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F6F7FB"/>
                </a:solidFill>
                <a:latin typeface="Calibri"/>
              </a:rPr>
              <a:t>Smart Customer Systems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15500" y="3794760"/>
            <a:ext cx="19431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8B95AE"/>
                </a:solidFill>
                <a:latin typeface="Calibri"/>
              </a:rPr>
              <a:t>Calculators, chat, lead capture.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20840" y="4389120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122A28"/>
          </a:solidFill>
          <a:ln w="6350">
            <a:solidFill>
              <a:srgbClr val="1F7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20840" y="43891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5ED9C4"/>
                </a:solidFill>
                <a:latin typeface="Calibri"/>
              </a:rPr>
              <a:t>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389120"/>
            <a:ext cx="19431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F6F7FB"/>
                </a:solidFill>
                <a:latin typeface="Calibri"/>
              </a:rPr>
              <a:t>WhatsApp Automation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4663440"/>
            <a:ext cx="19431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8B95AE"/>
                </a:solidFill>
                <a:latin typeface="Calibri"/>
              </a:rPr>
              <a:t>Where your customers already live.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12580" y="4389120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122A28"/>
          </a:solidFill>
          <a:ln w="6350">
            <a:solidFill>
              <a:srgbClr val="1F7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212580" y="43891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5ED9C4"/>
                </a:solidFill>
                <a:latin typeface="Calibri"/>
              </a:rPr>
              <a:t>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15500" y="4389120"/>
            <a:ext cx="19431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F6F7FB"/>
                </a:solidFill>
                <a:latin typeface="Calibri"/>
              </a:rPr>
              <a:t>Operational Systems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15500" y="4663440"/>
            <a:ext cx="19431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8B95AE"/>
                </a:solidFill>
                <a:latin typeface="Calibri"/>
              </a:rPr>
              <a:t>Run the business behind the brand.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20840" y="5257800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122A28"/>
          </a:solidFill>
          <a:ln w="6350">
            <a:solidFill>
              <a:srgbClr val="1F7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720840" y="52578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5ED9C4"/>
                </a:solidFill>
                <a:latin typeface="Calibri"/>
              </a:rPr>
              <a:t>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5257800"/>
            <a:ext cx="19431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F6F7FB"/>
                </a:solidFill>
                <a:latin typeface="Calibri"/>
              </a:rPr>
              <a:t>Business Automation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23760" y="5532120"/>
            <a:ext cx="19431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8B95AE"/>
                </a:solidFill>
                <a:latin typeface="Calibri"/>
              </a:rPr>
              <a:t>Less manual work, more growth.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212580" y="5257800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122A28"/>
          </a:solidFill>
          <a:ln w="6350">
            <a:solidFill>
              <a:srgbClr val="1F7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212580" y="52578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5ED9C4"/>
                </a:solidFill>
                <a:latin typeface="Calibri"/>
              </a:rPr>
              <a:t>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15500" y="5257800"/>
            <a:ext cx="19431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F6F7FB"/>
                </a:solidFill>
                <a:latin typeface="Calibri"/>
              </a:rPr>
              <a:t>AI-Powered Tools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15500" y="5532120"/>
            <a:ext cx="19431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8B95AE"/>
                </a:solidFill>
                <a:latin typeface="Calibri"/>
              </a:rPr>
              <a:t>Used quietly, where it actually saves time.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050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023360" y="0"/>
            <a:ext cx="15240" cy="6858000"/>
          </a:xfrm>
          <a:prstGeom prst="rect">
            <a:avLst/>
          </a:prstGeom>
          <a:solidFill>
            <a:srgbClr val="22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280160" cy="31750"/>
          </a:xfrm>
          <a:prstGeom prst="rect">
            <a:avLst/>
          </a:prstGeom>
          <a:solidFill>
            <a:srgbClr val="C9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508760"/>
            <a:ext cx="640080" cy="31750"/>
          </a:xfrm>
          <a:prstGeom prst="rect">
            <a:avLst/>
          </a:prstGeom>
          <a:solidFill>
            <a:srgbClr val="5E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5029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500">
                <a:solidFill>
                  <a:srgbClr val="C9A86B"/>
                </a:solidFill>
                <a:latin typeface="Calibri"/>
              </a:rPr>
              <a:t>GENOSAI  ·  TECH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8046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spc="200">
                <a:solidFill>
                  <a:srgbClr val="8B95AE"/>
                </a:solidFill>
                <a:latin typeface="Calibri"/>
              </a:rPr>
              <a:t>End of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7150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6F7FB"/>
                </a:solidFill>
                <a:latin typeface="Calibri"/>
              </a:rPr>
              <a:t>Rohan Malik  ·  Founder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9893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B95AE"/>
                </a:solidFill>
                <a:latin typeface="Calibri"/>
              </a:rPr>
              <a:t>GenosAI Tech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2920" y="6327648"/>
            <a:ext cx="3154680" cy="0"/>
          </a:xfrm>
          <a:prstGeom prst="line">
            <a:avLst/>
          </a:prstGeom>
          <a:ln w="9525">
            <a:solidFill>
              <a:srgbClr val="222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02920" y="6400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300">
                <a:solidFill>
                  <a:srgbClr val="8B95AE"/>
                </a:solidFill>
                <a:latin typeface="Calibri"/>
              </a:rPr>
              <a:t>Confidential  ·  Aqua Technic  · 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005840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spc="500">
                <a:solidFill>
                  <a:srgbClr val="5ED9C4"/>
                </a:solidFill>
                <a:latin typeface="Calibri"/>
              </a:rPr>
              <a:t>CLOSING NOTE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554480"/>
            <a:ext cx="548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200" b="1">
                <a:solidFill>
                  <a:srgbClr val="C9A86B"/>
                </a:solidFill>
                <a:latin typeface="Calibri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194560"/>
            <a:ext cx="704088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1">
                <a:solidFill>
                  <a:srgbClr val="F6F7FB"/>
                </a:solidFill>
                <a:latin typeface="Calibri"/>
              </a:rPr>
              <a:t>Built to position Aqua Technic</a:t>
            </a:r>
          </a:p>
          <a:p>
            <a:pPr algn="l">
              <a:lnSpc>
                <a:spcPct val="118000"/>
              </a:lnSpc>
            </a:pPr>
            <a:r>
              <a:rPr sz="3200" b="1">
                <a:solidFill>
                  <a:srgbClr val="F6F7FB"/>
                </a:solidFill>
                <a:latin typeface="Calibri"/>
              </a:rPr>
              <a:t>as a modern premium aquatic</a:t>
            </a:r>
          </a:p>
          <a:p>
            <a:pPr algn="l">
              <a:lnSpc>
                <a:spcPct val="118000"/>
              </a:lnSpc>
            </a:pPr>
            <a:r>
              <a:rPr sz="3200" b="1">
                <a:solidFill>
                  <a:srgbClr val="F6F7FB"/>
                </a:solidFill>
                <a:latin typeface="Calibri"/>
              </a:rPr>
              <a:t>engineering brand.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0" y="4754880"/>
            <a:ext cx="7040880" cy="0"/>
          </a:xfrm>
          <a:prstGeom prst="line">
            <a:avLst/>
          </a:prstGeom>
          <a:ln w="9525">
            <a:solidFill>
              <a:srgbClr val="222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572000" y="4983480"/>
            <a:ext cx="7040880" cy="1417320"/>
          </a:xfrm>
          <a:prstGeom prst="roundRect">
            <a:avLst>
              <a:gd name="adj" fmla="val 8000"/>
            </a:avLst>
          </a:prstGeom>
          <a:solidFill>
            <a:srgbClr val="0E121E"/>
          </a:solidFill>
          <a:ln w="6350">
            <a:solidFill>
              <a:srgbClr val="22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37760" y="5166360"/>
            <a:ext cx="6309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spc="400">
                <a:solidFill>
                  <a:srgbClr val="C9A86B"/>
                </a:solidFill>
                <a:latin typeface="Calibri"/>
              </a:rPr>
              <a:t>NEXT STEPS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548640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5ED9C4"/>
                </a:solidFill>
                <a:latin typeface="Calibri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5486400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C8CFDE"/>
                </a:solidFill>
                <a:latin typeface="Calibri"/>
              </a:rPr>
              <a:t>Brand &amp; moodboard alignment session.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577900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5ED9C4"/>
                </a:solidFill>
                <a:latin typeface="Calibri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5779008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C8CFDE"/>
                </a:solidFill>
                <a:latin typeface="Calibri"/>
              </a:rPr>
              <a:t>Final scope, pricing and rollout schedule.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6071616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5ED9C4"/>
                </a:solidFill>
                <a:latin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6071616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C8CFDE"/>
                </a:solidFill>
                <a:latin typeface="Calibri"/>
              </a:rPr>
              <a:t>Design kick-off — first hero screens within 10 days.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7040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spc="400">
                <a:solidFill>
                  <a:srgbClr val="8B95AE"/>
                </a:solidFill>
                <a:latin typeface="Calibri"/>
              </a:rPr>
              <a:t>Thank you  ·  GenosAI Tech  ·  Built for Aqua Technic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2207</Words>
  <Application>Microsoft Office PowerPoint</Application>
  <PresentationFormat>Widescreen</PresentationFormat>
  <Paragraphs>480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Rohan Malik</dc:creator>
  <cp:keywords/>
  <dc:description>generated using python-pptx</dc:description>
  <cp:lastModifiedBy>Rohan Malik</cp:lastModifiedBy>
  <cp:revision>3</cp:revision>
  <dcterms:created xsi:type="dcterms:W3CDTF">2013-01-27T09:14:16Z</dcterms:created>
  <dcterms:modified xsi:type="dcterms:W3CDTF">2026-05-14T19:31:42Z</dcterms:modified>
  <cp:category/>
</cp:coreProperties>
</file>