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4315968"/>
            <a:ext cx="11530584" cy="502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822960"/>
            <a:ext cx="12188952" cy="7315"/>
          </a:xfrm>
          <a:prstGeom prst="rect">
            <a:avLst/>
          </a:prstGeom>
          <a:solidFill>
            <a:srgbClr val="14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12188952" cy="7315"/>
          </a:xfrm>
          <a:prstGeom prst="rect">
            <a:avLst/>
          </a:prstGeom>
          <a:solidFill>
            <a:srgbClr val="14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468880"/>
            <a:ext cx="12188952" cy="7315"/>
          </a:xfrm>
          <a:prstGeom prst="rect">
            <a:avLst/>
          </a:prstGeom>
          <a:solidFill>
            <a:srgbClr val="14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3291840"/>
            <a:ext cx="12188952" cy="7315"/>
          </a:xfrm>
          <a:prstGeom prst="rect">
            <a:avLst/>
          </a:prstGeom>
          <a:solidFill>
            <a:srgbClr val="14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114800"/>
            <a:ext cx="12188952" cy="7315"/>
          </a:xfrm>
          <a:prstGeom prst="rect">
            <a:avLst/>
          </a:prstGeom>
          <a:solidFill>
            <a:srgbClr val="14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937760"/>
            <a:ext cx="12188952" cy="7315"/>
          </a:xfrm>
          <a:prstGeom prst="rect">
            <a:avLst/>
          </a:prstGeom>
          <a:solidFill>
            <a:srgbClr val="14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760720"/>
            <a:ext cx="12188952" cy="7315"/>
          </a:xfrm>
          <a:prstGeom prst="rect">
            <a:avLst/>
          </a:prstGeom>
          <a:solidFill>
            <a:srgbClr val="14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7498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TOKUTI  ·  WEB3 REAL ESTATE TOKENIZATION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389888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Website Services &amp;
AI Automation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5643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60FF"/>
                </a:solidFill>
              </a:rPr>
              <a:t>Why Webflow is your starting point — not your destination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0AA"/>
                </a:solidFill>
              </a:rPr>
              <a:t>Prepared for: Mark Mariampillai, CEO &amp; Founder — Tokuti.io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47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88"/>
                </a:solidFill>
              </a:rPr>
              <a:t>By: Genos Apollo  |  May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61081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AA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2FF"/>
                </a:solidFill>
              </a:rPr>
              <a:t>What we cover in this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AA"/>
                </a:solidFill>
              </a:rPr>
              <a:t>Tokuti  |  Web Development &amp; Automation Proposal  |  Genos Apollo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7784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0080" cy="9601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29892"/>
            <a:ext cx="5577840" cy="475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2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A14"/>
                </a:solidFill>
              </a:rPr>
              <a:t>About Tokuti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19293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AA"/>
                </a:solidFill>
              </a:rPr>
              <a:t>Your vision, platform and where you are building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57784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417320"/>
            <a:ext cx="640080" cy="9601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329892"/>
            <a:ext cx="5577840" cy="475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2FF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A14"/>
                </a:solidFill>
              </a:rPr>
              <a:t>The Webflow Ceiling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19293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AA"/>
                </a:solidFill>
              </a:rPr>
              <a:t>Why Webflow works now — and where it breaks down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532888"/>
            <a:ext cx="557784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532888"/>
            <a:ext cx="640080" cy="9601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45460"/>
            <a:ext cx="5577840" cy="475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2FF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26243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A14"/>
                </a:solidFill>
              </a:rPr>
              <a:t>Our Web Development Pitch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30449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AA"/>
                </a:solidFill>
              </a:rPr>
              <a:t>What a professional build gives Tokuti instead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532888"/>
            <a:ext cx="557784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2532888"/>
            <a:ext cx="640080" cy="9601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3445460"/>
            <a:ext cx="5577840" cy="475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2FF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26243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A14"/>
                </a:solidFill>
              </a:rPr>
              <a:t>AI Automation Opportunities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30449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AA"/>
                </a:solidFill>
              </a:rPr>
              <a:t>Where AI accelerates your platform, deals &amp; growth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48456"/>
            <a:ext cx="557784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648456"/>
            <a:ext cx="640080" cy="9601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561028"/>
            <a:ext cx="5577840" cy="475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2FF"/>
                </a:solidFill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2728" y="37398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A14"/>
                </a:solidFill>
              </a:rPr>
              <a:t>Benefits of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2728" y="41605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AA"/>
                </a:solidFill>
              </a:rPr>
              <a:t>Speed, scale and investor confidence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3648456"/>
            <a:ext cx="557784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3648456"/>
            <a:ext cx="640080" cy="9601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4561028"/>
            <a:ext cx="5577840" cy="475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2FF"/>
                </a:solidFill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4888" y="37398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A14"/>
                </a:solidFill>
              </a:rPr>
              <a:t>Implementation 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4888" y="41605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AA"/>
                </a:solidFill>
              </a:rPr>
              <a:t>How we build it, phase by phase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764024"/>
            <a:ext cx="557784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764024"/>
            <a:ext cx="640080" cy="9601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5676596"/>
            <a:ext cx="5577840" cy="475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9926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2FF"/>
                </a:solidFill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52728" y="48554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A14"/>
                </a:solidFill>
              </a:rPr>
              <a:t>Investment &amp; Next Steps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52728" y="52760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AA"/>
                </a:solidFill>
              </a:rPr>
              <a:t>Transparent pricing and how to get started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About Tokuti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2FF"/>
                </a:solidFill>
              </a:rPr>
              <a:t>Understanding the vision before we build the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AA"/>
                </a:solidFill>
              </a:rPr>
              <a:t>Tokuti  |  Web Development &amp; Automation Proposal  |  Genos Apollo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350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Tokuti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0A14"/>
                </a:solidFill>
              </a:rPr>
              <a:t>Founder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1847088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Mark Mariampillai, CEO — 25 yrs in finance (Credit Suisse, HSBC)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0A14"/>
                </a:solidFill>
              </a:rPr>
              <a:t>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233172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Web3 / PropTech Startup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1635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0A14"/>
                </a:solidFill>
              </a:rPr>
              <a:t>Core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8" y="281635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Tokuti Auction — blockchain real estate auction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0098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0A14"/>
                </a:solidFill>
              </a:rPr>
              <a:t>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3300984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High-net-worth investors &amp; crypto-native buyers globally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8561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0A14"/>
                </a:solidFill>
              </a:rPr>
              <a:t>Technology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3785616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Blockchain / smart contracts / tokenized real estate (RWA)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7024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0A14"/>
                </a:solidFill>
              </a:rPr>
              <a:t>Linked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4270248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GATENet — GATE token &amp; staking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0A14"/>
                </a:solidFill>
              </a:rPr>
              <a:t>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475488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Global RWA tokenization ($4T+ by 2030 per Deloitte)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3951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0A14"/>
                </a:solidFill>
              </a:rPr>
              <a:t>Current Site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523951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Building on Webflow — smart MVP starting point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280160"/>
            <a:ext cx="594360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9904" y="133502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A14"/>
                </a:solidFill>
              </a:rPr>
              <a:t>The Market Opportunity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9904" y="2130551"/>
            <a:ext cx="5029200" cy="3200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9904" y="18745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$4 Trillion+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1892807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Projected tokenized RWA market by 2030 (Deloitte)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9904" y="2816351"/>
            <a:ext cx="5029200" cy="3200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9904" y="25603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50%+ CAGR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2578607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Growth rate of tokenized real estate assets globally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9904" y="3502151"/>
            <a:ext cx="5029200" cy="3200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9904" y="32461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$10B+ (2025)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3264407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Tokenized real estate assets already on-chain today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9904" y="4187951"/>
            <a:ext cx="5029200" cy="3200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9904" y="39319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$1.4T (2026)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3950207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Market forecast — explosive near-term expansion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9904" y="4873751"/>
            <a:ext cx="5029200" cy="3200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9904" y="46177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1st-Mover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4636007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RWA tokenization still early — no dominant auction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9904" y="5230368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60FF"/>
                </a:solidFill>
              </a:rPr>
              <a:t>Why it matters: The platform Tokuti builds today must be ready to handle institutional-grade traffic, compliance and scale within 12–18 months.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The Webflow Ceiling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2FF"/>
                </a:solidFill>
              </a:rPr>
              <a:t>Webflow is a great start — here's exactly where it stops working for Tokuti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AA"/>
                </a:solidFill>
              </a:rPr>
              <a:t>Tokuti  |  Web Development &amp; Automation Proposal  |  Genos Apollo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0AA"/>
                </a:solidFill>
              </a:rPr>
              <a:t>Webflow is perfect for validating your brand and generating early interest. But a blockchain auction platform has needs Webflow cannot meet.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55648"/>
            <a:ext cx="114300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755648"/>
            <a:ext cx="201168" cy="8412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2880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0A14"/>
                </a:solidFill>
              </a:rPr>
              <a:t>No Blockchain / Web3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5798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0AA"/>
                </a:solidFill>
              </a:rPr>
              <a:t>Webflow cannot connect to smart contracts, wallet authentication (MetaMask/WalletConnect), or on-chain auction logic. You'll need custom code for every crypto interaction — making Webflow a liability, not an asset.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0116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4545"/>
                </a:solidFill>
              </a:rPr>
              <a:t>Critical — Tokuti's core product requires native Web3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70048"/>
            <a:ext cx="114300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70048"/>
            <a:ext cx="201168" cy="8412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74320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0A14"/>
                </a:solidFill>
              </a:rPr>
              <a:t>No Real-Time Auction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07238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0AA"/>
                </a:solidFill>
              </a:rPr>
              <a:t>Live bidding, countdown timers synced to blockchain state, dynamic price updates — all require WebSocket connections and server-side logic that Webflow's static hosting cannot support.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29260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4545"/>
                </a:solidFill>
              </a:rPr>
              <a:t>Critical — auction integrity depends on this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84448"/>
            <a:ext cx="114300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584448"/>
            <a:ext cx="201168" cy="841248"/>
          </a:xfrm>
          <a:prstGeom prst="rect">
            <a:avLst/>
          </a:prstGeom>
          <a:solidFill>
            <a:srgbClr val="FFA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5760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0A14"/>
                </a:solidFill>
              </a:rPr>
              <a:t>Investor-Grade Security &amp;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98678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0AA"/>
                </a:solidFill>
              </a:rPr>
              <a:t>KYC/AML flows, accredited investor verification, jurisdictional access controls, and audit trails need backend infrastructure. Webflow's form handling is not built for regulated financial transactions.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38404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A530"/>
                </a:solidFill>
              </a:rPr>
              <a:t>High — HNW investors expect institutional security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98848"/>
            <a:ext cx="114300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498848"/>
            <a:ext cx="201168" cy="841248"/>
          </a:xfrm>
          <a:prstGeom prst="rect">
            <a:avLst/>
          </a:prstGeom>
          <a:solidFill>
            <a:srgbClr val="FFA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57200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0A14"/>
                </a:solidFill>
              </a:rPr>
              <a:t>Scalability for High-Traffic Launch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90118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0AA"/>
                </a:solidFill>
              </a:rPr>
              <a:t>A major tokenized property auction could spike traffic 100× overnight. Webflow's CDN is optimised for marketing sites, not financial platforms under simultaneous global load.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47548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A530"/>
                </a:solidFill>
              </a:rPr>
              <a:t>High — one bad launch = reputational damage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13248"/>
            <a:ext cx="114300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413248"/>
            <a:ext cx="201168" cy="841248"/>
          </a:xfrm>
          <a:prstGeom prst="rect">
            <a:avLst/>
          </a:prstGeom>
          <a:solidFill>
            <a:srgbClr val="44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48640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0A14"/>
                </a:solidFill>
              </a:rPr>
              <a:t>Ownership &amp; Portability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1558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0AA"/>
                </a:solidFill>
              </a:rPr>
              <a:t>Your Webflow site lives on Webflow's infrastructure. For an investor-facing platform, you need full code ownership, custom deployment pipelines, and the ability to migrate or self-host.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56692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488CC"/>
                </a:solidFill>
              </a:rPr>
              <a:t>Medium — long-term strategic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Our Web Development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2FF"/>
                </a:solidFill>
              </a:rPr>
              <a:t>What Genos Apollo builds for Tokuti — purpose-built for Web3 auctions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AA"/>
                </a:solidFill>
              </a:rPr>
              <a:t>Tokuti  |  Web Development &amp; Automation Proposal  |  Genos Apollo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4251960" cy="5138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251960" cy="41148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3502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Purpose-Built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28800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80A14"/>
                </a:solidFill>
              </a:rPr>
              <a:t>Next.js 15 — fast, SEO-ready, server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31136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Web3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231136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80A14"/>
                </a:solidFill>
              </a:rPr>
              <a:t>wagmi + viem — wallet connect, smart contract reads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33472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Wallet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633472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80A14"/>
                </a:solidFill>
              </a:rPr>
              <a:t>RainbowKit — MetaMask, WalletConnect, Coinbase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35808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Smart Ctrcts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35808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80A14"/>
                </a:solidFill>
              </a:rPr>
              <a:t>Solidity / EVM — auction logic on-chain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38144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438144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80A14"/>
                </a:solidFill>
              </a:rPr>
              <a:t>WebSockets — live bids, countdowns, price feeds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40480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CMS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840480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80A14"/>
                </a:solidFill>
              </a:rPr>
              <a:t>Sanity.io — property listings, legal docs, news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42816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KYC / AML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242816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80A14"/>
                </a:solidFill>
              </a:rPr>
              <a:t>Sumsub / Onfido — accredited investor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45152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645152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80A14"/>
                </a:solidFill>
              </a:rPr>
              <a:t>Stripe + crypto gateway (USDC / ETH / BTC)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047488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047488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80A14"/>
                </a:solidFill>
              </a:rPr>
              <a:t>Auth0 + wallet-signature login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449824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449824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80A14"/>
                </a:solidFill>
              </a:rPr>
              <a:t>GA4 + Mixpanel + on-chain event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52160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Hosting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5852160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80A14"/>
                </a:solidFill>
              </a:rPr>
              <a:t>Vercel + Cloudflare — global low-latency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73168" y="1280160"/>
            <a:ext cx="7068312" cy="5138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73168" y="1280160"/>
            <a:ext cx="7068312" cy="41148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19472" y="1335024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Key Platform Deliverables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19472" y="1920240"/>
            <a:ext cx="73152" cy="2011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02352" y="181051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0A14"/>
                </a:solidFill>
              </a:rPr>
              <a:t>Live Blockchain Auction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2" y="208483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Real-time bidding synced to smart contracts. Countdown clocks, bid history, reserve price logic, automatic settlement on-chain at auction close.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19472" y="2560320"/>
            <a:ext cx="73152" cy="2011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02352" y="245059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0A14"/>
                </a:solidFill>
              </a:rPr>
              <a:t>Wallet-Native Investor Experience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2" y="272491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MetaMask / WalletConnect login. Portfolio dashboard showing owned tokens, auction history, upcoming drops, and live P&amp;L.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9472" y="3200400"/>
            <a:ext cx="73152" cy="2011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02352" y="309067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0A14"/>
                </a:solidFill>
              </a:rPr>
              <a:t>KYC / AML Onboarding 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02352" y="336499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Integrated Sumsub identity verification. Accredited investor status checks. Jurisdictional access controls (block non-compliant regions automatically).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19472" y="3840480"/>
            <a:ext cx="73152" cy="2011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02352" y="373075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0A14"/>
                </a:solidFill>
              </a:rPr>
              <a:t>Property Listing &amp; Tokenisation Interface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02352" y="400507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Rich property pages: 3D tours, legal docs, tokenomics breakdown, projected yields, smart contract address with Etherscan link.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19472" y="4480560"/>
            <a:ext cx="73152" cy="2011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02352" y="437083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0A14"/>
                </a:solidFill>
              </a:rPr>
              <a:t>Admin Dashboard for Tokuti Team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02352" y="464515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Create auctions, set reserve prices, approve bidders, monitor bids in real-time, trigger settlement, generate compliance reports.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19472" y="5120640"/>
            <a:ext cx="73152" cy="2011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02352" y="501091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0A14"/>
                </a:solidFill>
              </a:rPr>
              <a:t>Mobile-Responsive, SEO-Optimised Marketing Site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02352" y="528523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Sanity-powered public site: how it works, listed properties, press, investor FAQs — fast, indexed, and brand-perfect.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19472" y="5760720"/>
            <a:ext cx="73152" cy="2011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02352" y="565099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0A14"/>
                </a:solidFill>
              </a:rPr>
              <a:t>Webflow → Custom Migration Path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02352" y="592531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AA"/>
                </a:solidFill>
              </a:rPr>
              <a:t>We migrate your existing Webflow content cleanly. Zero downtime. Your brand and copy preserved; the engine replaced underneath.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Why Genos Apollo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2FF"/>
                </a:solidFill>
              </a:rPr>
              <a:t>What makes us the right partner for a Web3 startup pitch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AA"/>
                </a:solidFill>
              </a:rPr>
              <a:t>Tokuti  |  Web Development &amp; Automation Proposal  |  Genos Apollo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8A90AA"/>
                </a:solidFill>
              </a:rPr>
              <a:t>We don't build generic websites. We build platforms that close deals, build investor confidence, and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11430000" cy="822960"/>
          </a:xfrm>
          <a:prstGeom prst="rect">
            <a:avLst/>
          </a:prstGeom>
          <a:solidFill>
            <a:srgbClr val="141C38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182880" cy="8229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922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Web3-Native Development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214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4D8"/>
                </a:solidFill>
              </a:rPr>
              <a:t>We work with wagmi, viem, Solidity and EVM daily. No learning curve — no 'we'll figure out the blockchain part later.' Your auction logic is our core competency.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15184"/>
            <a:ext cx="11430000" cy="822960"/>
          </a:xfrm>
          <a:prstGeom prst="rect">
            <a:avLst/>
          </a:prstGeom>
          <a:solidFill>
            <a:srgbClr val="141C38"/>
          </a:solidFill>
          <a:ln w="1016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615184"/>
            <a:ext cx="182880" cy="82296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883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FF"/>
                </a:solidFill>
              </a:rPr>
              <a:t>Startup-Speed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175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4D8"/>
                </a:solidFill>
              </a:rPr>
              <a:t>We run 2-week sprints with daily standups. MVP auction engine in 6–8 weeks. Full platform in 16–20 weeks. You're racing to market — we build at founder pace.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11296"/>
            <a:ext cx="11430000" cy="822960"/>
          </a:xfrm>
          <a:prstGeom prst="rect">
            <a:avLst/>
          </a:prstGeom>
          <a:solidFill>
            <a:srgbClr val="141C38"/>
          </a:solidFill>
          <a:ln w="10160">
            <a:solidFill>
              <a:srgbClr val="00E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1296"/>
            <a:ext cx="182880" cy="822960"/>
          </a:xfrm>
          <a:prstGeom prst="rect">
            <a:avLst/>
          </a:prstGeom>
          <a:solidFill>
            <a:srgbClr val="00E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844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E"/>
                </a:solidFill>
              </a:rPr>
              <a:t>Investor-Grade UX &amp; Trust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136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4D8"/>
                </a:solidFill>
              </a:rPr>
              <a:t>HNW investors and crypto whales judge a platform in 4 seconds. We design for the trust signals that matter: security badges, audit links, KYC flow clarity, smart contract transparency.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07408"/>
            <a:ext cx="11430000" cy="822960"/>
          </a:xfrm>
          <a:prstGeom prst="rect">
            <a:avLst/>
          </a:prstGeom>
          <a:solidFill>
            <a:srgbClr val="141C38"/>
          </a:solidFill>
          <a:ln w="1016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407408"/>
            <a:ext cx="182880" cy="82296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48056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42"/>
                </a:solidFill>
              </a:rPr>
              <a:t>Compliance Architecture from Day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097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4D8"/>
                </a:solidFill>
              </a:rPr>
              <a:t>KYC/AML, accredited investor checks, GDPR/POPIA data handling and jurisdictional access controls built in — not bolted on. Avoid costly re-architecture when regulators come knocking.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03520"/>
            <a:ext cx="11430000" cy="822960"/>
          </a:xfrm>
          <a:prstGeom prst="rect">
            <a:avLst/>
          </a:prstGeom>
          <a:solidFill>
            <a:srgbClr val="141C38"/>
          </a:solidFill>
          <a:ln w="10160">
            <a:solidFill>
              <a:srgbClr val="A0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303520"/>
            <a:ext cx="182880" cy="82296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3766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60FF"/>
                </a:solidFill>
              </a:rPr>
              <a:t>Full Code Ownership — Always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058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4D8"/>
                </a:solidFill>
              </a:rPr>
              <a:t>You own 100% of the codebase, hosted on your infrastructure. No vendor lock-in. No Webflow monthly plan holding your platform hostage. Raise, pivot, or self-host — your choice.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AI Automation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2FF"/>
                </a:solidFill>
              </a:rPr>
              <a:t>Where AI gives Tokuti an unfair advantage over manual processes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AA"/>
                </a:solidFill>
              </a:rPr>
              <a:t>Tokuti  |  Web Development &amp; Automation Proposal  |  Genos Apollo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66928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669280" cy="41148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98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Investor Acquisition &amp; Onboarding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20240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8562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AI chatbot: answers RWA, auction, KYC FAQs 24/7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313432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24942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Lead scoring — rank investors by wallet size &amp; activity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706624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64261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Auto-personalise outreach by investor type (crypto / HNW / TradFi)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099816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035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AI-drafted welcome sequences for newly verified investors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3493008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4290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Accreditation check automation — minutes not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325880"/>
            <a:ext cx="566928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325880"/>
            <a:ext cx="5669280" cy="41148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3898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Auction Intelligence &amp; Pricing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1920240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18562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AI property valuation model — cross-reference comparables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2313432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24942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Dynamic reserve price recommendations per property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2706624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264261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Bidder behaviour analysis — predict auction close price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73952" y="3099816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3035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Fraud / shill bidding detection (on-chain pattern analysis)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73952" y="3493008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2" y="34290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Post-auction AI report — market insights for sellers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9352"/>
            <a:ext cx="566928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959352"/>
            <a:ext cx="5669280" cy="411480"/>
          </a:xfrm>
          <a:prstGeom prst="rect">
            <a:avLst/>
          </a:prstGeom>
          <a:solidFill>
            <a:srgbClr val="0D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023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Compliance &amp; Risk Automation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4553712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48970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Auto-trigger KYC re-verification at transaction thresholds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4946904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48828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Jurisdictional compliance check per bidder wallet address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" y="5340096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2760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AML transaction monitoring — flag suspicious patterns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" y="5733288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6692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Automated FICA/GDPR data retention and deletion flows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6126480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60624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Regulatory change alerts — update access rules automatically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959352"/>
            <a:ext cx="566928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3959352"/>
            <a:ext cx="5669280" cy="411480"/>
          </a:xfrm>
          <a:prstGeom prst="rect">
            <a:avLst/>
          </a:prstGeom>
          <a:solidFill>
            <a:srgbClr val="05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4023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E"/>
                </a:solidFill>
              </a:rPr>
              <a:t>Operations &amp; Growth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73952" y="4553712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448970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AI generates property listing copy from spec documents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73952" y="4946904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56832" y="48828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Social media auto-posts for new auctions (LinkedIn, X, Telegram)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73952" y="5340096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6832" y="52760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Smart contract deployment automation (reduce dev bottleneck)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73952" y="5733288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56832" y="56692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Investor newsletter — AI-curated weekly RWA market brief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73952" y="6126480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56832" y="60624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Meeting notes → action items (AI transcription for BD calls)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Benefits of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2FF"/>
                </a:solidFill>
              </a:rPr>
              <a:t>Why automation is not optional for a Web3 auction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AA"/>
                </a:solidFill>
              </a:rPr>
              <a:t>Tokuti  |  Web Development &amp; Automation Proposal  |  Genos Apollo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150876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411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9047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2FF"/>
                </a:solidFill>
              </a:rPr>
              <a:t>10×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0AA"/>
                </a:solidFill>
              </a:rPr>
              <a:t>Faster investor
onboarding vs. manual KYC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25880"/>
            <a:ext cx="2743200" cy="150876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25880"/>
            <a:ext cx="2743200" cy="411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49047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2FF"/>
                </a:solidFill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0AA"/>
                </a:solidFill>
              </a:rPr>
              <a:t>AI handles enquiries
while you sleep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2743200" cy="150876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25880"/>
            <a:ext cx="2743200" cy="411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49047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2FF"/>
                </a:solidFill>
              </a:rPr>
              <a:t>60%+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0AA"/>
                </a:solidFill>
              </a:rPr>
              <a:t>Reduction in ops
staff time on repetitive tasks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325880"/>
            <a:ext cx="2743200" cy="150876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325880"/>
            <a:ext cx="2743200" cy="411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49047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2FF"/>
                </a:solidFill>
              </a:rPr>
              <a:t>Zero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0AA"/>
                </a:solidFill>
              </a:rPr>
              <a:t>Compliance gaps with
automated regulatory checks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99232"/>
            <a:ext cx="566928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999232"/>
            <a:ext cx="5669280" cy="402336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" y="3054096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Trust &amp; Investor Confidence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5295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Instant KYC + accredited verification = professional 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AI chatbot answers questions without 48hr email delays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15137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Automated smart contract audit trail = full transparency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4622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Compliance automation proves you take regulation seriously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999232"/>
            <a:ext cx="566928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2999232"/>
            <a:ext cx="5669280" cy="402336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3054096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Speed to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5295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10 auctions or 10,000 — AI handles the workload either 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8404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Onboard 500 investors in a week without extra headcount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15137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Automated listing copy means new properties go live in hours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622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Smart contract deployment automation reduces dev lag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718304"/>
            <a:ext cx="566928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718304"/>
            <a:ext cx="5669280" cy="402336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" y="4773168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Revenue &amp; Monetisation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2486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AI lead scoring focuses BD effort on highest-value investors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5595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Personalised emails outperform generic blasts by 3–5×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87044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Automated follow-up captures deals that manual outreach misses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1813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AI market reports become a premium investor subscription product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718304"/>
            <a:ext cx="566928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4718304"/>
            <a:ext cx="5669280" cy="402336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7376" y="4773168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Competitive Moat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2486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First RWA auction platform with AI-native investor experience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5595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Compliance automation = market access competitors can't unlock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587044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On-chain data compounding builds irreplaceable platform intelligence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61813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22A"/>
                </a:solidFill>
              </a:rPr>
              <a:t>◆  AI + blockchain = defensible, hard-to-replicate product 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Implementation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2FF"/>
                </a:solidFill>
              </a:rPr>
              <a:t>From Webflow prototype to production-grade Web3 auction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AA"/>
                </a:solidFill>
              </a:rPr>
              <a:t>Tokuti  |  Web Development &amp; Automation Proposal  |  Genos Apollo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5138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88920" cy="6583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A14"/>
                </a:solidFill>
              </a:rPr>
              <a:t>Phase 1
Wk 1–6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1600200"/>
            <a:ext cx="128016" cy="54864"/>
          </a:xfrm>
          <a:prstGeom prst="rect">
            <a:avLst/>
          </a:prstGeom>
          <a:solidFill>
            <a:srgbClr val="8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221992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Webflow → Next.js migration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990088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Wallet auth (RainbowKit) 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758184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KYC/AML flow (Sumsub) live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526280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AI chatbot MVP on site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294376"/>
            <a:ext cx="914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Sanity CMS + property pages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0128" y="1325880"/>
            <a:ext cx="2788920" cy="5138928"/>
          </a:xfrm>
          <a:prstGeom prst="rect">
            <a:avLst/>
          </a:prstGeom>
          <a:solidFill>
            <a:srgbClr val="FFFFFF"/>
          </a:solidFill>
          <a:ln w="1016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0128" y="1325880"/>
            <a:ext cx="2788920" cy="65836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128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
Wk 7–12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336" y="1600200"/>
            <a:ext cx="128016" cy="54864"/>
          </a:xfrm>
          <a:prstGeom prst="rect">
            <a:avLst/>
          </a:prstGeom>
          <a:solidFill>
            <a:srgbClr val="8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0" y="2221992"/>
            <a:ext cx="91440" cy="914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Live auction engine (smart contract)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2990088"/>
            <a:ext cx="91440" cy="914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Real-time bidding UI (WebSockets)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758184"/>
            <a:ext cx="91440" cy="914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Investor dashboard &amp; portfolio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4526280"/>
            <a:ext cx="91440" cy="914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Admin auction management panel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5294376"/>
            <a:ext cx="91440" cy="914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Crypto + fiat payment gateway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54496" y="1325880"/>
            <a:ext cx="2788920" cy="5138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0E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54496" y="1325880"/>
            <a:ext cx="2788920" cy="658368"/>
          </a:xfrm>
          <a:prstGeom prst="rect">
            <a:avLst/>
          </a:prstGeom>
          <a:solidFill>
            <a:srgbClr val="00E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A14"/>
                </a:solidFill>
              </a:rPr>
              <a:t>Phase 3
Wk 13–18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61704" y="1600200"/>
            <a:ext cx="128016" cy="54864"/>
          </a:xfrm>
          <a:prstGeom prst="rect">
            <a:avLst/>
          </a:prstGeom>
          <a:solidFill>
            <a:srgbClr val="8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19088" y="2221992"/>
            <a:ext cx="91440" cy="91440"/>
          </a:xfrm>
          <a:prstGeom prst="rect">
            <a:avLst/>
          </a:prstGeom>
          <a:solidFill>
            <a:srgbClr val="00E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AI lead scoring + investor CRM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9088" y="2990088"/>
            <a:ext cx="91440" cy="91440"/>
          </a:xfrm>
          <a:prstGeom prst="rect">
            <a:avLst/>
          </a:prstGeom>
          <a:solidFill>
            <a:srgbClr val="00E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AI listing copy generator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19088" y="3758184"/>
            <a:ext cx="91440" cy="91440"/>
          </a:xfrm>
          <a:prstGeom prst="rect">
            <a:avLst/>
          </a:prstGeom>
          <a:solidFill>
            <a:srgbClr val="00E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01968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Social auto-posting pipeline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9088" y="4526280"/>
            <a:ext cx="91440" cy="91440"/>
          </a:xfrm>
          <a:prstGeom prst="rect">
            <a:avLst/>
          </a:prstGeom>
          <a:solidFill>
            <a:srgbClr val="00E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Compliance monitoring automation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19088" y="5294376"/>
            <a:ext cx="91440" cy="91440"/>
          </a:xfrm>
          <a:prstGeom prst="rect">
            <a:avLst/>
          </a:prstGeom>
          <a:solidFill>
            <a:srgbClr val="00E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Fraud / shill bid detection AI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98864" y="1325880"/>
            <a:ext cx="2788920" cy="5138928"/>
          </a:xfrm>
          <a:prstGeom prst="rect">
            <a:avLst/>
          </a:prstGeom>
          <a:solidFill>
            <a:srgbClr val="FFFFFF"/>
          </a:solidFill>
          <a:ln w="1016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98864" y="1325880"/>
            <a:ext cx="2788920" cy="65836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98864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A14"/>
                </a:solidFill>
              </a:rPr>
              <a:t>Phase 4
Wk 19–24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63456" y="2221992"/>
            <a:ext cx="91440" cy="9144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46336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AI property valuation model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63456" y="2990088"/>
            <a:ext cx="91440" cy="9144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46336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Investor newsletter automation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63456" y="3758184"/>
            <a:ext cx="91440" cy="9144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46336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Smart contract auto-deployment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63456" y="4526280"/>
            <a:ext cx="91440" cy="9144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46336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Market intelligence AI reports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63456" y="5294376"/>
            <a:ext cx="91440" cy="9144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46336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0A14"/>
                </a:solidFill>
              </a:rPr>
              <a:t>Scale testing &amp; security audit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6464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80A14"/>
                </a:solidFill>
              </a:rPr>
              <a:t>MVP auction engine ready in ~12 weeks  |  Full platform + AI suite live in ~24 weeks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Investment &amp;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2FF"/>
                </a:solidFill>
              </a:rPr>
              <a:t>Transparent, milestone-based — built for a startup's runway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AA"/>
                </a:solidFill>
              </a:rPr>
              <a:t>Tokuti  |  Web Development &amp; Automation Proposal  |  Genos Apollo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3703320" cy="5138928"/>
          </a:xfrm>
          <a:prstGeom prst="rect">
            <a:avLst/>
          </a:prstGeom>
          <a:solidFill>
            <a:srgbClr val="141C38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3703320" cy="4572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8928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2FF"/>
                </a:solidFill>
              </a:rPr>
              <a:t>✓  Webflow → Next.js migration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2219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2FF"/>
                </a:solidFill>
              </a:rPr>
              <a:t>✓  Wallet auth (RainbowKit)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5511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2FF"/>
                </a:solidFill>
              </a:rPr>
              <a:t>✓  KYC/AML onboarding (Sumsub)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8803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2FF"/>
                </a:solidFill>
              </a:rPr>
              <a:t>✓  Sanity CMS + property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2095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2FF"/>
                </a:solidFill>
              </a:rPr>
              <a:t>✓  AI chatbot (FAQ bot)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5387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0AA"/>
                </a:solidFill>
              </a:rPr>
              <a:t>✗  Auction engine (smart ctrct)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8679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0AA"/>
                </a:solidFill>
              </a:rPr>
              <a:t>✗  Live bidding UI (WebSocket)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19709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0AA"/>
                </a:solidFill>
              </a:rPr>
              <a:t>✗  Investor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52628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0AA"/>
                </a:solidFill>
              </a:rPr>
              <a:t>✗  AI lead scoring + CRM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85546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0AA"/>
                </a:solidFill>
              </a:rPr>
              <a:t>✗  AI listing copy generator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37033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4924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2FF"/>
                </a:solidFill>
              </a:rPr>
              <a:t>$12 000 – $18 000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96712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0AA"/>
                </a:solidFill>
              </a:rPr>
              <a:t>~6 weeks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2" y="1325880"/>
            <a:ext cx="3703320" cy="5138928"/>
          </a:xfrm>
          <a:prstGeom prst="rect">
            <a:avLst/>
          </a:prstGeom>
          <a:solidFill>
            <a:srgbClr val="141C38"/>
          </a:solidFill>
          <a:ln w="1016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2" y="1325880"/>
            <a:ext cx="3703320" cy="4572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1389888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18928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2FFF"/>
                </a:solidFill>
              </a:rPr>
              <a:t>✓  Webflow → Next.js migration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22219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2FFF"/>
                </a:solidFill>
              </a:rPr>
              <a:t>✓  Wallet auth (RainbowKit)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25511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2FFF"/>
                </a:solidFill>
              </a:rPr>
              <a:t>✓  KYC/AML onboarding (Sumsub)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28803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2FFF"/>
                </a:solidFill>
              </a:rPr>
              <a:t>✓  Sanity CMS + property pages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5424" y="32095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2FFF"/>
                </a:solidFill>
              </a:rPr>
              <a:t>✓  AI chatbot (FAQ bot)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4" y="35387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2FFF"/>
                </a:solidFill>
              </a:rPr>
              <a:t>✓  Auction engine (smart ctrct)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5424" y="38679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2FFF"/>
                </a:solidFill>
              </a:rPr>
              <a:t>✓  Live bidding UI (WebSocket)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419709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2FFF"/>
                </a:solidFill>
              </a:rPr>
              <a:t>✓  Investor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452628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0AA"/>
                </a:solidFill>
              </a:rPr>
              <a:t>✗  AI lead scoring + CRM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5424" y="485546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0AA"/>
                </a:solidFill>
              </a:rPr>
              <a:t>✗  AI listing copy generator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0832" y="5257800"/>
            <a:ext cx="3703320" cy="36576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0832" y="534924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B2FFF"/>
                </a:solidFill>
              </a:rPr>
              <a:t>$28 000 – $40 000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2" y="5696712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0AA"/>
                </a:solidFill>
              </a:rPr>
              <a:t>~12 weeks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84464" y="1325880"/>
            <a:ext cx="3703320" cy="5138928"/>
          </a:xfrm>
          <a:prstGeom prst="rect">
            <a:avLst/>
          </a:prstGeom>
          <a:solidFill>
            <a:srgbClr val="141C38"/>
          </a:solidFill>
          <a:ln w="10160">
            <a:solidFill>
              <a:srgbClr val="00E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84464" y="1325880"/>
            <a:ext cx="3703320" cy="457200"/>
          </a:xfrm>
          <a:prstGeom prst="rect">
            <a:avLst/>
          </a:prstGeom>
          <a:solidFill>
            <a:srgbClr val="00E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84464" y="1389888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A14"/>
                </a:solidFill>
              </a:rPr>
              <a:t>FULL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49056" y="18928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9E"/>
                </a:solidFill>
              </a:rPr>
              <a:t>✓  Webflow → Next.js migration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9056" y="22219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9E"/>
                </a:solidFill>
              </a:rPr>
              <a:t>✓  Wallet auth (RainbowKit)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49056" y="25511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9E"/>
                </a:solidFill>
              </a:rPr>
              <a:t>✓  KYC/AML onboarding (Sumsub)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28803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9E"/>
                </a:solidFill>
              </a:rPr>
              <a:t>✓  Sanity CMS + property pages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49056" y="32095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9E"/>
                </a:solidFill>
              </a:rPr>
              <a:t>✓  AI chatbot (FAQ bot)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49056" y="35387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9E"/>
                </a:solidFill>
              </a:rPr>
              <a:t>✓  Auction engine (smart ctrct)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49056" y="38679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9E"/>
                </a:solidFill>
              </a:rPr>
              <a:t>✓  Live bidding UI (WebSocket)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49056" y="419709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9E"/>
                </a:solidFill>
              </a:rPr>
              <a:t>✓  Investor dashboard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49056" y="452628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9E"/>
                </a:solidFill>
              </a:rPr>
              <a:t>✓  AI lead scoring + CRM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49056" y="485546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9E"/>
                </a:solidFill>
              </a:rPr>
              <a:t>✓  AI listing copy generator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84464" y="5257800"/>
            <a:ext cx="3703320" cy="36576"/>
          </a:xfrm>
          <a:prstGeom prst="rect">
            <a:avLst/>
          </a:prstGeom>
          <a:solidFill>
            <a:srgbClr val="00E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84464" y="534924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E59E"/>
                </a:solidFill>
              </a:rPr>
              <a:t>$55 000 – $80 000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4464" y="5696712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0AA"/>
                </a:solidFill>
              </a:rPr>
              <a:t>~24 weeks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64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8A90AA"/>
                </a:solidFill>
              </a:rPr>
              <a:t>All tiers: milestone billing  ·  full code ownership  ·  monthly retainer available post-launch  ·  no vendor lock-in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2FF"/>
                </a:solidFill>
              </a:rPr>
              <a:t>How we start — fast, low-friction, no obligation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AA"/>
                </a:solidFill>
              </a:rPr>
              <a:t>Tokuti  |  Web Development &amp; Automation Proposal  |  Genos Apollo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88920" cy="3749039"/>
          </a:xfrm>
          <a:prstGeom prst="rect">
            <a:avLst/>
          </a:prstGeom>
          <a:solidFill>
            <a:srgbClr val="FFFFFF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88920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80A14"/>
                </a:solidFill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Discovery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0AA"/>
                </a:solidFill>
              </a:rPr>
              <a:t>30-minute call with Mark. We review the current Webflow build, audit the smart contract architecture, and align on Phase 1 scope and timeline.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371600"/>
            <a:ext cx="2788920" cy="3749039"/>
          </a:xfrm>
          <a:prstGeom prst="rect">
            <a:avLst/>
          </a:prstGeom>
          <a:solidFill>
            <a:srgbClr val="FFFFFF"/>
          </a:solidFill>
          <a:ln w="1016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371600"/>
            <a:ext cx="2788920" cy="41148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FF"/>
                </a:solidFill>
              </a:rPr>
              <a:t>Technical Scoping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0AA"/>
                </a:solidFill>
              </a:rPr>
              <a:t>We deliver a detailed technical spec: chain selection, wallet auth approach, KYC provider, API architecture, and a refined project plan.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4496" y="1371600"/>
            <a:ext cx="2788920" cy="3749039"/>
          </a:xfrm>
          <a:prstGeom prst="rect">
            <a:avLst/>
          </a:prstGeom>
          <a:solidFill>
            <a:srgbClr val="FFFFFF"/>
          </a:solidFill>
          <a:ln w="10160">
            <a:solidFill>
              <a:srgbClr val="00E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371600"/>
            <a:ext cx="2788920" cy="411480"/>
          </a:xfrm>
          <a:prstGeom prst="rect">
            <a:avLst/>
          </a:prstGeom>
          <a:solidFill>
            <a:srgbClr val="00E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80A14"/>
                </a:solidFill>
              </a:rPr>
              <a:t>Day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E"/>
                </a:solidFill>
              </a:rPr>
              <a:t>Proposal Accepted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0AA"/>
                </a:solidFill>
              </a:rPr>
              <a:t>Sign engagement letter. Milestone 1 deposit triggered. Sprint 1 begins. Your Webflow site stays live — zero downtime during migration.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1371600"/>
            <a:ext cx="2788920" cy="3749039"/>
          </a:xfrm>
          <a:prstGeom prst="rect">
            <a:avLst/>
          </a:prstGeom>
          <a:solidFill>
            <a:srgbClr val="FFFFFF"/>
          </a:solidFill>
          <a:ln w="1016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4" y="1371600"/>
            <a:ext cx="2788920" cy="41148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4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80A14"/>
                </a:solidFill>
              </a:rPr>
              <a:t>Week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42"/>
                </a:solidFill>
              </a:rPr>
              <a:t>MVP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0AA"/>
                </a:solidFill>
              </a:rPr>
              <a:t>Starter tier: Next.js site with wallet login, KYC flow, AI chatbot and property pages deployed. Ready for your first investor beta audience.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21808"/>
            <a:ext cx="11430000" cy="1005840"/>
          </a:xfrm>
          <a:prstGeom prst="rect">
            <a:avLst/>
          </a:prstGeom>
          <a:solidFill>
            <a:srgbClr val="080A14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321808"/>
            <a:ext cx="11430000" cy="502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41324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Ready to build the platform Tokuti deserves — not just a Webflow placeholder?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77900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Book your discovery call — we move at startup speed.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577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00C2FF"/>
                </a:solidFill>
              </a:rPr>
              <a:t>tokuti.io  •  mark@tokuti.io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3246120"/>
            <a:ext cx="11530584" cy="502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Let's Build
Tokuti.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44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2FF"/>
                </a:solidFill>
              </a:rPr>
              <a:t>The future of real estate investment is on-chain. The platform that captures it should be built right — from day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Genos Apollo  ·  Web3 &amp; AI Development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AA"/>
                </a:solidFill>
              </a:rPr>
              <a:t>Prepared for Mark Mariampillai, CEO &amp; Founder — Tokuti.io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