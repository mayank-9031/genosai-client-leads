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4251960"/>
            <a:ext cx="11530584" cy="5029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BT INDUSTRIES  ·  INTEGRATED SOLUTIONS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A Strategic Digital Transformation Blueprint for 65 Years of Supply Chain 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09E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868E"/>
                </a:solidFill>
              </a:rPr>
              <a:t>btindustries.co.za  •  South Africa  •  ISO 9001  •  Level 2 B-BBEE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1081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3549"/>
            <a:ext cx="557784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50A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26"/>
                </a:solidFill>
              </a:rPr>
              <a:t>Company Digital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929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Current state of btindustries.co.za &amp; digital presence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333549"/>
            <a:ext cx="557784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50A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26"/>
                </a:solidFill>
              </a:rPr>
              <a:t>Website Audit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929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UX, performance, SEO, B2B portal &amp; content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49117"/>
            <a:ext cx="557784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50A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26"/>
                </a:solidFill>
              </a:rPr>
              <a:t>Web Development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044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Modernising the site for B2B customer experience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449117"/>
            <a:ext cx="557784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50A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26"/>
                </a:solidFill>
              </a:rPr>
              <a:t>AI Automation Opportunities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3044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Where AI transforms supply chain, ops &amp; client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564685"/>
            <a:ext cx="557784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50A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26"/>
                </a:solidFill>
              </a:rPr>
              <a:t>Benefits of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Efficiency, cost savings &amp; competitive advantage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4564685"/>
            <a:ext cx="557784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50A"/>
                </a:solidFill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26"/>
                </a:solidFill>
              </a:rPr>
              <a:t>Implementation Timeline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Phased 12-month delivery 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680253"/>
            <a:ext cx="557784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50A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2728" y="48554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E26"/>
                </a:solidFill>
              </a:rPr>
              <a:t>Investment &amp; Next Steps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2728" y="52760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Company Digital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BT Industries – current digital footprint &amp; B2B platform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02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50A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Heritage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8470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65+ years in South African distribution &amp; supply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23042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Integrated Solutions Partner — 'Confidence of Supply'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Sectors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27614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Automotive/OEM  ·  Industrial  ·  Aftermarket  ·  Mining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New Sector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32186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Renewable Energy / Solar (DoGo Power partnership,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Speciality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6758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Fasteners, components, engineered parts, supply chain mgmt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Certifications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41330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ISO 9001  ·  Level 2 B-BBEE Contributor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5902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btindustries.co.za  (primary digital channel)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LinkedIn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50474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BT Industries Africa – active company presence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046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E26"/>
                </a:solidFill>
              </a:rP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9968" y="550468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OEMs, manufacturers, mining ops, solar developers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5943600" cy="5102352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13350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Digital Health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184708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Mobile Page Speed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184708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~55 / 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184708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Needs improvement for field 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226771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Desktop Page 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26771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~74 / 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232" y="2267712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Reasonable – target 90+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9904" y="268833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SEO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68833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~60 /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268833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Sector/product pages under-optimised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31089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SSL / HTTPS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10896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✓ 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3108960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Valid certificate in place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9904" y="352958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B2B Customer Portal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529584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828"/>
                </a:solidFill>
              </a:rPr>
              <a:t>Not present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352958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No self-service ordering / tracking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9904" y="3950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Product / Parts Catalogue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95020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828"/>
                </a:solidFill>
              </a:rPr>
              <a:t>Not present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57232" y="395020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No searchable online catalogue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9904" y="437083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RFQ / Quoting Online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37083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828"/>
                </a:solidFill>
              </a:rPr>
              <a:t>Not present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7232" y="4370832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Enquiry form only — no automation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904" y="47914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Live Inventory Visibility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79145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828"/>
                </a:solidFill>
              </a:rPr>
              <a:t>Not present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57232" y="479145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Critical gap for OEM customers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9904" y="52120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AI / Personalisation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521208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828"/>
                </a:solidFill>
              </a:rPr>
              <a:t>None detected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57232" y="5212080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Major opportunity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9904" y="56327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3E48"/>
                </a:solidFill>
              </a:rPr>
              <a:t>Social Media Integration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5632704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Minimal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57232" y="563270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09E"/>
                </a:solidFill>
              </a:rPr>
              <a:t>LinkedIn content not 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Website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btindustries.co.za – key gaps vs. modern B2B industrial expectations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0749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 &amp; Technical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1965960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Mobile speed ~55 – poor for field/plant engineers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633472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CDN – assets served from single SA origin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3300984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Render-blocking scripts slow time-to-interactive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3968496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Images not optimised (WebP/AVIF missing)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" y="4636008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Core Web Vitals LCP &amp; INP need improvement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325880"/>
            <a:ext cx="2788920" cy="50749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41148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E26"/>
                </a:solidFill>
              </a:rPr>
              <a:t>B2B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5576" y="1965960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456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customer self-service portal (major gap)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5576" y="2633472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searchable product/parts catalogue online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3300984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8456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RFQ process is manual form only — slow &amp; opaque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65576" y="3968496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8456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order status tracking for existing clients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5576" y="4636008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account manager contact directly on product pages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1325880"/>
            <a:ext cx="2788920" cy="50749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1325880"/>
            <a:ext cx="2788920" cy="41148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 &amp;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9944" y="1965960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Sector and product pages thin on keyword content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2633472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structured data (Product / Organization schema)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9944" y="3300984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Blog/news section under-utilised for thought leadership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9944" y="3968496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92824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Missing local SEO signals for Gauteng / Cape Town / Durban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9944" y="4636008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2824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DoGo Power / solar story not amplified for new market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98864" y="1325880"/>
            <a:ext cx="2788920" cy="50749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98864" y="1325880"/>
            <a:ext cx="2788920" cy="41148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08592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Trust &amp; Conversion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54312" y="1965960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37192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ISO 9001 &amp; B-BBEE credentials buried on site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54312" y="2633472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37192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case studies or client success stories visible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54312" y="3300984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37192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sustainability / ESG section despite solar pivot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4312" y="3968496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37192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65-year heritage story not told compellingly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54312" y="4636008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37192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No live chat / WhatsApp CTA for urgent B2B enquiries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6272784"/>
            <a:ext cx="1143000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3093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A3E48"/>
                </a:solidFill>
              </a:rPr>
              <a:t>Biggest gap: No B2B self-service portal — OEM customers expect real-time inventory, orders &amp; RFQs online 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Web Development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Building a world-class B2B digital platform for BT Industries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224528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224528" cy="411480"/>
          </a:xfrm>
          <a:prstGeom prst="rect">
            <a:avLst/>
          </a:prstGeom>
          <a:solidFill>
            <a:srgbClr val="2C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50A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Next.js 15 — fast, SEO-ready, B2B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4942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2494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Sanity.io — product data, news, sector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7004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B2B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700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Custom React dashboard — orders, RFQ,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067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Catalogue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90672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Elasticsearch — 10,000s of SKUs, instant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ERP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51129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REST / GraphQL API to SAP / Sage / SYSPRO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93192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HubSpot or Salesforce — B2B lead &amp; account mgmt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5254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Quotes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35254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Quoter / Custom RFQ engine — auto-pricing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7316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77316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Twilio / Meta Cloud API — B2B instant comms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9379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193792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GA4 + Segment CDP + HubSpot revenue attribution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1441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50A"/>
                </a:solidFill>
              </a:rPr>
              <a:t>Hosting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61441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E48"/>
                </a:solidFill>
              </a:rPr>
              <a:t>Vercel + Cloudflare CDN — SA + global edge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1280160"/>
            <a:ext cx="708660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01184" y="1335024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50A"/>
                </a:solidFill>
              </a:rPr>
              <a:t>Key Improvements &amp; Platform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01184" y="1920240"/>
            <a:ext cx="73152" cy="2011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E26"/>
                </a:solidFill>
              </a:rPr>
              <a:t>B2B Self-Service Customer Portal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20848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Secure client login: live inventory levels, order history, delivery tracking, invoice download, account statements — zero phone calls needed.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01184" y="2560320"/>
            <a:ext cx="73152" cy="2011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4064" y="245059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E26"/>
                </a:solidFill>
              </a:rPr>
              <a:t>Searchable Product &amp; Parts Catalogue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4064" y="27249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100,000+ SKUs searchable by part number, spec, application, sector. Cross-reference by OEM code. PDF spec sheet download per item.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01184" y="3200400"/>
            <a:ext cx="73152" cy="2011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4064" y="3090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E26"/>
                </a:solidFill>
              </a:rPr>
              <a:t>Automated RFQ &amp; Digital Quoting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4064" y="336499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Customers submit RFQs online. System auto-prices standard items, routes complex queries to the right account manager with SLA timers.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01184" y="3840480"/>
            <a:ext cx="73152" cy="2011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4064" y="373075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E26"/>
                </a:solidFill>
              </a:rPr>
              <a:t>ERP / Inventory API Integration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84064" y="400507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Real-time stock availability fed from SAP/Sage/SYSPRO into the web portal — customers see live stock before they enquire.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01184" y="4480560"/>
            <a:ext cx="73152" cy="2011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84064" y="437083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E26"/>
                </a:solidFill>
              </a:rPr>
              <a:t>Sector &amp; Solution Landing Pages (SEO)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4064" y="464515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Dedicated, keyword-rich pages per sector: Automotive, Mining, Renewable Energy, Aftermarket — each with case studies and schema markup.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1184" y="5120640"/>
            <a:ext cx="73152" cy="2011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84064" y="50109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E26"/>
                </a:solidFill>
              </a:rPr>
              <a:t>65-Year Heritage &amp; Sustainability Story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84064" y="52852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Compelling About section: timeline, milestones, ISO 9001, B-BBEE Level 2, DoGo Power solar partnership, ESG commitments.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01184" y="5760720"/>
            <a:ext cx="73152" cy="2011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84064" y="565099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E26"/>
                </a:solidFill>
              </a:rPr>
              <a:t>WhatsApp Business &amp; Live Chat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4064" y="59253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09E"/>
                </a:solidFill>
              </a:rPr>
              <a:t>Floating WhatsApp CTA — critical for SA B2B — plus Intercom live chat for RFQ follow-up and urgent supply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AI Automation Opportunity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Where AI transforms BT Industries' supply chain, operations &amp; client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</a:rPr>
              <a:t>Supply Chain &amp; Inventory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20240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AI demand forecasting — predict stock needs per client &amp; season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13432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Automated re-order triggers based on usage 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706624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Supplier lead time risk alerts &amp; mitigation recommendations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099816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Multi-warehouse inventory optimisation across SA locations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3493008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Solar/renewable demand spike detection (DoGo Power pipeline)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566928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E26"/>
                </a:solidFill>
              </a:rPr>
              <a:t>B2B Customer Experience &amp; Sales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1920240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AI chatbot: 24/7 product enquiries, spec lookups, RFQ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313432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WhatsApp bot: instant stock check &amp; order confirmation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2706624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Personalised product recommendations per sector / account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099816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Automated quote follow-up sequences (CRM-triggered)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3493008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Account health scoring — flag at-risk or growth accounts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9352"/>
            <a:ext cx="566928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9352"/>
            <a:ext cx="5669280" cy="41148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Procurement &amp; Vendor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553712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4897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AI-powered supplier performance scoring &amp; benchmarking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4946904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8828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Automated PO generation when stock hits reorder point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5340096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2760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Invoice processing &amp; 3-way match (PO / GRN / invoice)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33288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669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Contract review: flag non-standard terms or price deviations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6126480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6062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Freight &amp; clearing document automation (import logistics)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959352"/>
            <a:ext cx="566928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3959352"/>
            <a:ext cx="5669280" cy="41148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Quality, Compliance &amp; Reporting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4553712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4897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ISO 9001 audit trail automation &amp; non-conformance tracking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3952" y="4946904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48828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B-BBEE scorecard data collection &amp; reporting automation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73952" y="5340096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52760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AI-generated monthly operations &amp; client performance reports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73952" y="5733288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56832" y="5669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Defect image recognition at goods receiving (computer vision)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3952" y="6126480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6062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Regulatory compliance alerts (SABS, customs, SARS changes)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Benefits of AI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Measurable impact across BT Industries' operations, supply chain &amp;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50876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7218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650A"/>
                </a:solidFill>
              </a:rPr>
              <a:t>55–65%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30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09E"/>
                </a:solidFill>
              </a:rPr>
              <a:t>Reduction in
manual admin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43200" cy="150876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7218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650A"/>
                </a:solidFill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30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09E"/>
                </a:solidFill>
              </a:rPr>
              <a:t>Lower inventory
holding costs (AI forecasting)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743200" cy="150876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7218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650A"/>
                </a:solidFill>
              </a:rPr>
              <a:t>3×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30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09E"/>
                </a:solidFill>
              </a:rPr>
              <a:t>Faster RFQ-to-order
conversion 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743200" cy="150876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47218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650A"/>
                </a:solidFill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30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09E"/>
                </a:solidFill>
              </a:rPr>
              <a:t>B2B customer service
via AI &amp; WhatsApp bot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99232"/>
            <a:ext cx="5669280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99232"/>
            <a:ext cx="5669280" cy="402336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305409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</a:rPr>
              <a:t>Supply Continuity &amp;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29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AI forecasting prevents stock-outs for OEM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40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Supplier risk alerts keep production lines 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513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Automated re-orders eliminate manual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'Confidence of Supply' delivered by data, not guesswork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999232"/>
            <a:ext cx="5669280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999232"/>
            <a:ext cx="5669280" cy="402336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05409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</a:rPr>
              <a:t>Operational Cost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29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Slash admin time on POs, invoices &amp; reporting by &gt;55%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40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Reduce excess inventory with demand-driven ordering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513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Automate ISO 9001 compliance reporting — zero manual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Free up key staff for strategic account 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18304"/>
            <a:ext cx="5669280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718304"/>
            <a:ext cx="5669280" cy="402336"/>
          </a:xfrm>
          <a:prstGeom prst="rect">
            <a:avLst/>
          </a:prstGeom>
          <a:solidFill>
            <a:srgbClr val="2C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477316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</a:rPr>
              <a:t>B2B Customer 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248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Instant 24/7 stock checks via WhatsApp or web portal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5595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Self-service RFQ + order tracking — no phone queues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704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Personalised account dashboards for each OEM client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81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Automated delivery updates and proof-of-delivery docs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718304"/>
            <a:ext cx="5669280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718304"/>
            <a:ext cx="5669280" cy="402336"/>
          </a:xfrm>
          <a:prstGeom prst="rect">
            <a:avLst/>
          </a:prstGeom>
          <a:solidFill>
            <a:srgbClr val="2C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77316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</a:rPr>
              <a:t>Revenue Growth &amp; New Markets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248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Digital catalogue opens door to long-tail &amp; SME clients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5595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Solar / renewable energy sector served digitally at scale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8704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Data-driven upsell: AI suggests complementary products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6181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▸  National reach beyond current SA footprint via e-commerce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ROI &amp;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Projected returns from web + AI investment for BT Industries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50A"/>
                </a:solidFill>
              </a:rPr>
              <a:t>Indicative Investment (Year 1 – ZAR)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Next.js website rebuild + Sanity CMS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8653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200 000 – R 320 000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B2B Customer Portal (orders, RFQ, tracking)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2860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250 000 – R 420 000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066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Product catalogue + Elasticsearch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7066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 80 000 – R 140 000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2724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ERP / Inventory API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31272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120 000 – R 200 000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4787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AI chatbot + WhatsApp B2B 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35478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 60 000 – R 100 000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6849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AI demand forecasting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39684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 90 000 – R 160 000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SEO, schema &amp; content sprint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438912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 40 000 – R  70 000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974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HubSpot CRM + quote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480974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 50 000 – R  90 000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303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Monthly support / hosting / AI APIs (est.)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3632" y="523036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R  20 000 – R  35 000 / 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96128"/>
            <a:ext cx="530352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3E48"/>
                </a:solidFill>
              </a:rPr>
              <a:t>TOTAL YEAR 1 (once-off + 12 mo support)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2" y="57424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R 1.13M – R 1.92M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280160"/>
            <a:ext cx="594360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9904" y="13350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Savings (ZAR / Year)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1865376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Admin &amp; procurement staff time saved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1865376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1.5–3 FTE / yr  ≈ R 500 000+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2286000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Inventory cost reduction (AI forecasting)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228600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~R 300 000 – R 600 000 / yr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2706624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Faster RFQ → order cycle (reduced lost deals)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4352" y="270662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+20–30% quote conversion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3127248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Self-service portal reduces call centre 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4352" y="312724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−40% inbound query volume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354787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New SME &amp; solar clients via digital catalogue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354787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Significant new revenue stream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3968496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Reduced stock-out incidents for OEM clients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3968496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Prevents penalty clauses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9904" y="4389120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E48"/>
                </a:solidFill>
              </a:rPr>
              <a:t>B-BBEE &amp; ISO reporting automation savings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74352" y="438912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6EA6"/>
                </a:solidFill>
              </a:rPr>
              <a:t>~R 80 000 – R 150 000 / yr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4754880"/>
            <a:ext cx="5943600" cy="43891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9904" y="4901184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3E48"/>
                </a:solidFill>
              </a:rPr>
              <a:t>ESTIMATED YEAR 1 SAVINGS / UPSIDE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4352" y="490118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R 1.2M – R 2.5M+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A3E48"/>
                </a:solidFill>
              </a:rPr>
              <a:t>Preventing a single major OEM stock-out event pays for the entire programme  |  AI forecasting ROI positive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Phased 12-month delivery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658368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
Mon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600200"/>
            <a:ext cx="128016" cy="54864"/>
          </a:xfrm>
          <a:prstGeom prst="rect">
            <a:avLst/>
          </a:prstGeom>
          <a:solidFill>
            <a:srgbClr val="8A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21992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Site speed &amp; SEO audit + quick fixes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990088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WhatsApp CTA &amp; live chat 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758184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Sanity CMS + blog / news migration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526280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HubSpot CRM + RFQ lead routing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294376"/>
            <a:ext cx="91440" cy="914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Sector landing pages (SEO sprint)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128" y="1325880"/>
            <a:ext cx="2788920" cy="65836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E26"/>
                </a:solidFill>
              </a:rPr>
              <a:t>Phase 2
Mon 4–6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1600200"/>
            <a:ext cx="128016" cy="54864"/>
          </a:xfrm>
          <a:prstGeom prst="rect">
            <a:avLst/>
          </a:prstGeom>
          <a:solidFill>
            <a:srgbClr val="8A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2221992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Next.js full website rebuild 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990088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Searchable product catalogue (MVP)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58184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Digital RFQ &amp; quoting engine live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526280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AI chatbot launch on site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5294376"/>
            <a:ext cx="91440" cy="9144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ERP inventory API integration (MVP)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1325880"/>
            <a:ext cx="27889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54496" y="1325880"/>
            <a:ext cx="2788920" cy="65836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7–9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61704" y="1600200"/>
            <a:ext cx="128016" cy="54864"/>
          </a:xfrm>
          <a:prstGeom prst="rect">
            <a:avLst/>
          </a:prstGeom>
          <a:solidFill>
            <a:srgbClr val="8A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19088" y="2221992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B2B customer self-service portal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2990088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Live inventory visibility per account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088" y="3758184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Order tracking + delivery updates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AI demand forecasting module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19088" y="5294376"/>
            <a:ext cx="91440" cy="91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Automated PO / re-order triggers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98864" y="1325880"/>
            <a:ext cx="27889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98864" y="1325880"/>
            <a:ext cx="2788920" cy="658368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98864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10–12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63456" y="2221992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46336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AI supplier risk scoring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3456" y="2990088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46336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ISO 9001 compliance automation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63456" y="3758184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46336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B-BBEE reporting automation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63456" y="4526280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46336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Computer vision quality check pilot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63456" y="5294376"/>
            <a:ext cx="91440" cy="9144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46336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3E48"/>
                </a:solidFill>
              </a:rPr>
              <a:t>Full analytics audit &amp; Year 2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650A"/>
                </a:solidFill>
              </a:rPr>
              <a:t>Why Automate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F5A623"/>
                </a:solidFill>
              </a:rPr>
              <a:t>Industrial distribution is being disrupted globally. Digital-first competitors are winning contracts before a salesperson ever makes a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502920" cy="475488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E26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OEM procurement is moving fully digital — right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8A0"/>
                </a:solidFill>
              </a:rPr>
              <a:t>South Africa's automotive and mining OEMs are mandating supplier portal integration and EDI connectivity. Distributors without digital order channels risk losing preferred supplier status within 24 months.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24328"/>
            <a:ext cx="5029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2432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E26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2432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Supply chain disruption is the new normal — AI is the antidote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9864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8A0"/>
                </a:solidFill>
              </a:rPr>
              <a:t>Post-COVID and geopolitical volatility have made demand forecasting critical. AI-driven inventory models reduce stock-out risk by 40–60% while cutting excess carrying costs simultaneously.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11296"/>
            <a:ext cx="50292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1129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E26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1129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solar / renewable sector is moving fast — digital wins the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8561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8A0"/>
                </a:solidFill>
              </a:rPr>
              <a:t>The DoGo Power partnership opens a high-growth market. Solar developers and EPCs issue RFQs digitally and make decisions in days. A modern digital quoting platform captures this revenue that a phone-and-email process misses.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98264"/>
            <a:ext cx="502920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9826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E26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9826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65 years of data is an untapped competitive weapon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7258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8A0"/>
                </a:solidFill>
              </a:rPr>
              <a:t>BT Industries holds decades of transaction, component, and supply chain data. AI unlocks it for demand forecasting, supplier scoring, and market intelligence that no competitor can replicate.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85232"/>
            <a:ext cx="502920" cy="475488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8523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E26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8523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B-BBEE Level 2 and ISO 9001 are advantages — only if clients can see them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55955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8A0"/>
                </a:solidFill>
              </a:rPr>
              <a:t>Certification and transformation credentials are increasingly part of procurement scoring. A modern, content-rich digital presence ensures these differentiators are visible, verifiable and compelling at the point of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From audit to action – what happens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09E"/>
                </a:solidFill>
              </a:rPr>
              <a:t>BT Industries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88920" cy="3749039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88920" cy="41148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</a:rPr>
              <a:t>Stakeholder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09E"/>
                </a:solidFill>
              </a:rPr>
              <a:t>Present findings to BT Industries leadership. Agree priority workstreams, budget envelope and ERP/system access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2788920" cy="3749039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371600"/>
            <a:ext cx="2788920" cy="41148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E26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E26"/>
                </a:solidFill>
              </a:rPr>
              <a:t>Discovery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09E"/>
                </a:solidFill>
              </a:rPr>
              <a:t>Share access to website CMS, ERP/inventory system, CRM and analytics. Technical architecture review and data mapping session.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371600"/>
            <a:ext cx="2788920" cy="3749039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371600"/>
            <a:ext cx="2788920" cy="41148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</a:rPr>
              <a:t>Sprint 1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09E"/>
                </a:solidFill>
              </a:rPr>
              <a:t>Speed &amp; SEO fixes, WhatsApp CTA, HubSpot CRM setup and sector landing pages running in parallel across dedicated tracks.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371600"/>
            <a:ext cx="2788920" cy="3749039"/>
          </a:xfrm>
          <a:prstGeom prst="rect">
            <a:avLst/>
          </a:prstGeom>
          <a:solidFill>
            <a:srgbClr val="FFFFFF"/>
          </a:solidFill>
          <a:ln w="762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371600"/>
            <a:ext cx="2788920" cy="411480"/>
          </a:xfrm>
          <a:prstGeom prst="rect">
            <a:avLst/>
          </a:prstGeom>
          <a:solidFill>
            <a:srgbClr val="0D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50A"/>
                </a:solidFill>
              </a:rPr>
              <a:t>Phase 1 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09E"/>
                </a:solidFill>
              </a:rPr>
              <a:t>Improved site live. RFQ digital routing active. WhatsApp bot handling stock enquiries. HubSpot welcome sequence for new leads.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21808"/>
            <a:ext cx="11430000" cy="100584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321808"/>
            <a:ext cx="11430000" cy="50292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4132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50A"/>
                </a:solidFill>
              </a:rPr>
              <a:t>Ready to give your OEM clients the Confidence of Supply they expect — digitally?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7900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 and ERP integration scoping session.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577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5A623"/>
                </a:solidFill>
              </a:rPr>
              <a:t>btindustries.co.za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E86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3246120"/>
            <a:ext cx="11530584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077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</a:rPr>
              <a:t>65 years of supply chain mastery — now powered by data, AI and digital excellence.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27880"/>
                </a:solidFill>
              </a:rPr>
              <a:t>BT Industries  •  btindustries.co.za  •  ISO 9001  •  Level 2 B-BBEE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09E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