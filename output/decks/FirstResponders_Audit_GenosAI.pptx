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0" y="0"/>
            <a:ext cx="4416552"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0" y="365760"/>
            <a:ext cx="3200400" cy="731520"/>
          </a:xfrm>
          <a:prstGeom prst="rect">
            <a:avLst/>
          </a:prstGeom>
          <a:noFill/>
        </p:spPr>
        <p:txBody>
          <a:bodyPr wrap="square">
            <a:spAutoFit/>
          </a:bodyPr>
          <a:lstStyle/>
          <a:p>
            <a:pPr algn="r"/>
            <a:r>
              <a:rPr sz="2800" b="1" i="0">
                <a:solidFill>
                  <a:srgbClr val="4F8EFF"/>
                </a:solidFill>
              </a:rPr>
              <a:t>GENOS AI</a:t>
            </a:r>
          </a:p>
        </p:txBody>
      </p:sp>
      <p:sp>
        <p:nvSpPr>
          <p:cNvPr id="6" name="TextBox 5"/>
          <p:cNvSpPr txBox="1"/>
          <p:nvPr/>
        </p:nvSpPr>
        <p:spPr>
          <a:xfrm>
            <a:off x="8412480" y="960120"/>
            <a:ext cx="3200400" cy="457200"/>
          </a:xfrm>
          <a:prstGeom prst="rect">
            <a:avLst/>
          </a:prstGeom>
          <a:noFill/>
        </p:spPr>
        <p:txBody>
          <a:bodyPr wrap="square">
            <a:spAutoFit/>
          </a:bodyPr>
          <a:lstStyle/>
          <a:p>
            <a:pPr algn="r"/>
            <a:r>
              <a:rPr sz="1200" b="0" i="0">
                <a:solidFill>
                  <a:srgbClr val="8A9BBB"/>
                </a:solidFill>
              </a:rPr>
              <a:t>www.genosai.tech</a:t>
            </a:r>
          </a:p>
        </p:txBody>
      </p:sp>
      <p:sp>
        <p:nvSpPr>
          <p:cNvPr id="7" name="TextBox 6"/>
          <p:cNvSpPr txBox="1"/>
          <p:nvPr/>
        </p:nvSpPr>
        <p:spPr>
          <a:xfrm>
            <a:off x="502920" y="1463040"/>
            <a:ext cx="8229600" cy="548640"/>
          </a:xfrm>
          <a:prstGeom prst="rect">
            <a:avLst/>
          </a:prstGeom>
          <a:noFill/>
        </p:spPr>
        <p:txBody>
          <a:bodyPr wrap="square">
            <a:spAutoFit/>
          </a:bodyPr>
          <a:lstStyle/>
          <a:p>
            <a:pPr algn="l"/>
            <a:r>
              <a:rPr sz="1300" b="0" i="0">
                <a:solidFill>
                  <a:srgbClr val="FF4D4D"/>
                </a:solidFill>
              </a:rPr>
              <a:t>THE FIRST RESPONDERS / DAVE POLITZER</a:t>
            </a:r>
          </a:p>
        </p:txBody>
      </p:sp>
      <p:sp>
        <p:nvSpPr>
          <p:cNvPr id="8" name="TextBox 7"/>
          <p:cNvSpPr txBox="1"/>
          <p:nvPr/>
        </p:nvSpPr>
        <p:spPr>
          <a:xfrm>
            <a:off x="502920" y="1920240"/>
            <a:ext cx="8229600" cy="1645920"/>
          </a:xfrm>
          <a:prstGeom prst="rect">
            <a:avLst/>
          </a:prstGeom>
          <a:noFill/>
        </p:spPr>
        <p:txBody>
          <a:bodyPr wrap="square">
            <a:spAutoFit/>
          </a:bodyPr>
          <a:lstStyle/>
          <a:p>
            <a:pPr algn="l"/>
            <a:r>
              <a:rPr sz="4800" b="1" i="0">
                <a:solidFill>
                  <a:srgbClr val="FFFFFF"/>
                </a:solidFill>
              </a:rPr>
              <a:t>Website &amp; AI Growth
Audit Report</a:t>
            </a:r>
          </a:p>
        </p:txBody>
      </p:sp>
      <p:sp>
        <p:nvSpPr>
          <p:cNvPr id="9" name="Rectangle 8"/>
          <p:cNvSpPr/>
          <p:nvPr/>
        </p:nvSpPr>
        <p:spPr>
          <a:xfrm>
            <a:off x="502920" y="3520440"/>
            <a:ext cx="27432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3794760"/>
            <a:ext cx="8229600" cy="457200"/>
          </a:xfrm>
          <a:prstGeom prst="rect">
            <a:avLst/>
          </a:prstGeom>
          <a:noFill/>
        </p:spPr>
        <p:txBody>
          <a:bodyPr wrap="square">
            <a:spAutoFit/>
          </a:bodyPr>
          <a:lstStyle/>
          <a:p>
            <a:pPr algn="l"/>
            <a:r>
              <a:rPr sz="1400" b="0" i="0">
                <a:solidFill>
                  <a:srgbClr val="C8D4EE"/>
                </a:solidFill>
              </a:rPr>
              <a:t>Prepared exclusively for Dave Politzer, REALTOR / Founder</a:t>
            </a:r>
          </a:p>
        </p:txBody>
      </p:sp>
      <p:sp>
        <p:nvSpPr>
          <p:cNvPr id="11" name="Rectangle 10"/>
          <p:cNvSpPr/>
          <p:nvPr/>
        </p:nvSpPr>
        <p:spPr>
          <a:xfrm>
            <a:off x="0" y="5943600"/>
            <a:ext cx="12188952"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035040"/>
            <a:ext cx="8229600" cy="457200"/>
          </a:xfrm>
          <a:prstGeom prst="rect">
            <a:avLst/>
          </a:prstGeom>
          <a:noFill/>
        </p:spPr>
        <p:txBody>
          <a:bodyPr wrap="square">
            <a:spAutoFit/>
          </a:bodyPr>
          <a:lstStyle/>
          <a:p>
            <a:pPr algn="l"/>
            <a:r>
              <a:rPr sz="1200" b="0" i="0">
                <a:solidFill>
                  <a:srgbClr val="8A9BBB"/>
                </a:solidFill>
              </a:rPr>
              <a:t>Rohan Malik  |  CEO, Genos AI  |  hello@genosai.tech  |  +91 638-714-2699</a:t>
            </a:r>
          </a:p>
        </p:txBody>
      </p:sp>
      <p:sp>
        <p:nvSpPr>
          <p:cNvPr id="13" name="TextBox 12"/>
          <p:cNvSpPr txBox="1"/>
          <p:nvPr/>
        </p:nvSpPr>
        <p:spPr>
          <a:xfrm>
            <a:off x="8686800" y="6035040"/>
            <a:ext cx="3017520" cy="457200"/>
          </a:xfrm>
          <a:prstGeom prst="rect">
            <a:avLst/>
          </a:prstGeom>
          <a:noFill/>
        </p:spPr>
        <p:txBody>
          <a:bodyPr wrap="square">
            <a:spAutoFit/>
          </a:bodyPr>
          <a:lstStyle/>
          <a:p>
            <a:pPr algn="r"/>
            <a:r>
              <a:rPr sz="1200" b="0" i="0">
                <a:solidFill>
                  <a:srgbClr val="8A9BBB"/>
                </a:solidFill>
              </a:rPr>
              <a:t>May 2026  |  CONFIDENTIAL</a:t>
            </a:r>
          </a:p>
        </p:txBody>
      </p:sp>
      <p:sp>
        <p:nvSpPr>
          <p:cNvPr id="14" name="Rectangle 13"/>
          <p:cNvSpPr/>
          <p:nvPr/>
        </p:nvSpPr>
        <p:spPr>
          <a:xfrm>
            <a:off x="9601200" y="3017520"/>
            <a:ext cx="2103120" cy="2286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46920" y="3108960"/>
            <a:ext cx="2011680" cy="457200"/>
          </a:xfrm>
          <a:prstGeom prst="rect">
            <a:avLst/>
          </a:prstGeom>
          <a:noFill/>
        </p:spPr>
        <p:txBody>
          <a:bodyPr wrap="square">
            <a:spAutoFit/>
          </a:bodyPr>
          <a:lstStyle/>
          <a:p>
            <a:pPr algn="ctr"/>
            <a:r>
              <a:rPr sz="1100" b="1" i="0">
                <a:solidFill>
                  <a:srgbClr val="8A9BBB"/>
                </a:solidFill>
              </a:rPr>
              <a:t>AUDIT SCORE</a:t>
            </a:r>
          </a:p>
        </p:txBody>
      </p:sp>
      <p:sp>
        <p:nvSpPr>
          <p:cNvPr id="16" name="TextBox 15"/>
          <p:cNvSpPr txBox="1"/>
          <p:nvPr/>
        </p:nvSpPr>
        <p:spPr>
          <a:xfrm>
            <a:off x="9646920" y="3429000"/>
            <a:ext cx="2011680" cy="1005840"/>
          </a:xfrm>
          <a:prstGeom prst="rect">
            <a:avLst/>
          </a:prstGeom>
          <a:noFill/>
        </p:spPr>
        <p:txBody>
          <a:bodyPr wrap="square">
            <a:spAutoFit/>
          </a:bodyPr>
          <a:lstStyle/>
          <a:p>
            <a:pPr algn="ctr"/>
            <a:r>
              <a:rPr sz="7200" b="1" i="0">
                <a:solidFill>
                  <a:srgbClr val="F5C518"/>
                </a:solidFill>
              </a:rPr>
              <a:t>5</a:t>
            </a:r>
          </a:p>
        </p:txBody>
      </p:sp>
      <p:sp>
        <p:nvSpPr>
          <p:cNvPr id="17" name="TextBox 16"/>
          <p:cNvSpPr txBox="1"/>
          <p:nvPr/>
        </p:nvSpPr>
        <p:spPr>
          <a:xfrm>
            <a:off x="9646920" y="4297680"/>
            <a:ext cx="2011680" cy="365760"/>
          </a:xfrm>
          <a:prstGeom prst="rect">
            <a:avLst/>
          </a:prstGeom>
          <a:noFill/>
        </p:spPr>
        <p:txBody>
          <a:bodyPr wrap="square">
            <a:spAutoFit/>
          </a:bodyPr>
          <a:lstStyle/>
          <a:p>
            <a:pPr algn="ctr"/>
            <a:r>
              <a:rPr sz="1800" b="0" i="0">
                <a:solidFill>
                  <a:srgbClr val="C8D4EE"/>
                </a:solidFill>
              </a:rPr>
              <a:t>/ 10</a:t>
            </a:r>
          </a:p>
        </p:txBody>
      </p:sp>
      <p:sp>
        <p:nvSpPr>
          <p:cNvPr id="18" name="Oval 17"/>
          <p:cNvSpPr/>
          <p:nvPr/>
        </p:nvSpPr>
        <p:spPr>
          <a:xfrm>
            <a:off x="9829800" y="4663440"/>
            <a:ext cx="1613916"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000" b="1">
                <a:solidFill>
                  <a:srgbClr val="FFFFFF"/>
                </a:solidFill>
              </a:rPr>
              <a:t>HIGH PRIORITY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AT A GLANCE</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Dave Politzer — Who He Is</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783080"/>
            <a:ext cx="1920240" cy="1005840"/>
          </a:xfrm>
          <a:prstGeom prst="rect">
            <a:avLst/>
          </a:prstGeom>
          <a:noFill/>
        </p:spPr>
        <p:txBody>
          <a:bodyPr wrap="square">
            <a:spAutoFit/>
          </a:bodyPr>
          <a:lstStyle/>
          <a:p>
            <a:pPr algn="ctr"/>
            <a:r>
              <a:rPr sz="2800" b="1" i="0">
                <a:solidFill>
                  <a:srgbClr val="F5C518"/>
                </a:solidFill>
              </a:rPr>
              <a:t>21 Years</a:t>
            </a:r>
          </a:p>
        </p:txBody>
      </p:sp>
      <p:sp>
        <p:nvSpPr>
          <p:cNvPr id="9" name="TextBox 8"/>
          <p:cNvSpPr txBox="1"/>
          <p:nvPr/>
        </p:nvSpPr>
        <p:spPr>
          <a:xfrm>
            <a:off x="594360" y="2788920"/>
            <a:ext cx="1920240" cy="640080"/>
          </a:xfrm>
          <a:prstGeom prst="rect">
            <a:avLst/>
          </a:prstGeom>
          <a:noFill/>
        </p:spPr>
        <p:txBody>
          <a:bodyPr wrap="square">
            <a:spAutoFit/>
          </a:bodyPr>
          <a:lstStyle/>
          <a:p>
            <a:pPr algn="ctr"/>
            <a:r>
              <a:rPr sz="1200" b="0" i="0">
                <a:solidFill>
                  <a:srgbClr val="C8D4EE"/>
                </a:solidFill>
              </a:rPr>
              <a:t>Oakland PD, Sgt &amp; Detective</a:t>
            </a:r>
          </a:p>
        </p:txBody>
      </p:sp>
      <p:sp>
        <p:nvSpPr>
          <p:cNvPr id="10" name="Rectangle 9"/>
          <p:cNvSpPr/>
          <p:nvPr/>
        </p:nvSpPr>
        <p:spPr>
          <a:xfrm>
            <a:off x="2770632"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62072" y="1783080"/>
            <a:ext cx="1920240" cy="1005840"/>
          </a:xfrm>
          <a:prstGeom prst="rect">
            <a:avLst/>
          </a:prstGeom>
          <a:noFill/>
        </p:spPr>
        <p:txBody>
          <a:bodyPr wrap="square">
            <a:spAutoFit/>
          </a:bodyPr>
          <a:lstStyle/>
          <a:p>
            <a:pPr algn="ctr"/>
            <a:r>
              <a:rPr sz="2800" b="1" i="0">
                <a:solidFill>
                  <a:srgbClr val="F5C518"/>
                </a:solidFill>
              </a:rPr>
              <a:t>1984</a:t>
            </a:r>
          </a:p>
        </p:txBody>
      </p:sp>
      <p:sp>
        <p:nvSpPr>
          <p:cNvPr id="12" name="TextBox 11"/>
          <p:cNvSpPr txBox="1"/>
          <p:nvPr/>
        </p:nvSpPr>
        <p:spPr>
          <a:xfrm>
            <a:off x="2862072" y="2788920"/>
            <a:ext cx="1920240" cy="640080"/>
          </a:xfrm>
          <a:prstGeom prst="rect">
            <a:avLst/>
          </a:prstGeom>
          <a:noFill/>
        </p:spPr>
        <p:txBody>
          <a:bodyPr wrap="square">
            <a:spAutoFit/>
          </a:bodyPr>
          <a:lstStyle/>
          <a:p>
            <a:pPr algn="ctr"/>
            <a:r>
              <a:rPr sz="1200" b="0" i="0">
                <a:solidFill>
                  <a:srgbClr val="C8D4EE"/>
                </a:solidFill>
              </a:rPr>
              <a:t>Started Real Estate</a:t>
            </a:r>
          </a:p>
        </p:txBody>
      </p:sp>
      <p:sp>
        <p:nvSpPr>
          <p:cNvPr id="13" name="Rectangle 12"/>
          <p:cNvSpPr/>
          <p:nvPr/>
        </p:nvSpPr>
        <p:spPr>
          <a:xfrm>
            <a:off x="5038344"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9784" y="1783080"/>
            <a:ext cx="1920240" cy="1005840"/>
          </a:xfrm>
          <a:prstGeom prst="rect">
            <a:avLst/>
          </a:prstGeom>
          <a:noFill/>
        </p:spPr>
        <p:txBody>
          <a:bodyPr wrap="square">
            <a:spAutoFit/>
          </a:bodyPr>
          <a:lstStyle/>
          <a:p>
            <a:pPr algn="ctr"/>
            <a:r>
              <a:rPr sz="2800" b="1" i="0">
                <a:solidFill>
                  <a:srgbClr val="F5C518"/>
                </a:solidFill>
              </a:rPr>
              <a:t>1999</a:t>
            </a:r>
          </a:p>
        </p:txBody>
      </p:sp>
      <p:sp>
        <p:nvSpPr>
          <p:cNvPr id="15" name="TextBox 14"/>
          <p:cNvSpPr txBox="1"/>
          <p:nvPr/>
        </p:nvSpPr>
        <p:spPr>
          <a:xfrm>
            <a:off x="5129784" y="2788920"/>
            <a:ext cx="1920240" cy="640080"/>
          </a:xfrm>
          <a:prstGeom prst="rect">
            <a:avLst/>
          </a:prstGeom>
          <a:noFill/>
        </p:spPr>
        <p:txBody>
          <a:bodyPr wrap="square">
            <a:spAutoFit/>
          </a:bodyPr>
          <a:lstStyle/>
          <a:p>
            <a:pPr algn="ctr"/>
            <a:r>
              <a:rPr sz="1200" b="0" i="0">
                <a:solidFill>
                  <a:srgbClr val="C8D4EE"/>
                </a:solidFill>
              </a:rPr>
              <a:t>Founded Interloan.com</a:t>
            </a:r>
          </a:p>
        </p:txBody>
      </p:sp>
      <p:sp>
        <p:nvSpPr>
          <p:cNvPr id="16" name="Rectangle 15"/>
          <p:cNvSpPr/>
          <p:nvPr/>
        </p:nvSpPr>
        <p:spPr>
          <a:xfrm>
            <a:off x="7306056"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783080"/>
            <a:ext cx="1920240" cy="1005840"/>
          </a:xfrm>
          <a:prstGeom prst="rect">
            <a:avLst/>
          </a:prstGeom>
          <a:noFill/>
        </p:spPr>
        <p:txBody>
          <a:bodyPr wrap="square">
            <a:spAutoFit/>
          </a:bodyPr>
          <a:lstStyle/>
          <a:p>
            <a:pPr algn="ctr"/>
            <a:r>
              <a:rPr sz="2800" b="1" i="0">
                <a:solidFill>
                  <a:srgbClr val="F5C518"/>
                </a:solidFill>
              </a:rPr>
              <a:t>40+</a:t>
            </a:r>
          </a:p>
        </p:txBody>
      </p:sp>
      <p:sp>
        <p:nvSpPr>
          <p:cNvPr id="18" name="TextBox 17"/>
          <p:cNvSpPr txBox="1"/>
          <p:nvPr/>
        </p:nvSpPr>
        <p:spPr>
          <a:xfrm>
            <a:off x="7397496" y="2788920"/>
            <a:ext cx="1920240" cy="640080"/>
          </a:xfrm>
          <a:prstGeom prst="rect">
            <a:avLst/>
          </a:prstGeom>
          <a:noFill/>
        </p:spPr>
        <p:txBody>
          <a:bodyPr wrap="square">
            <a:spAutoFit/>
          </a:bodyPr>
          <a:lstStyle/>
          <a:p>
            <a:pPr algn="ctr"/>
            <a:r>
              <a:rPr sz="1200" b="0" i="0">
                <a:solidFill>
                  <a:srgbClr val="C8D4EE"/>
                </a:solidFill>
              </a:rPr>
              <a:t>Years RE + Mortgage</a:t>
            </a:r>
          </a:p>
        </p:txBody>
      </p:sp>
      <p:sp>
        <p:nvSpPr>
          <p:cNvPr id="19" name="Rectangle 18"/>
          <p:cNvSpPr/>
          <p:nvPr/>
        </p:nvSpPr>
        <p:spPr>
          <a:xfrm>
            <a:off x="9573768" y="1645920"/>
            <a:ext cx="2103120" cy="2011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65208" y="1783080"/>
            <a:ext cx="1920240" cy="1005840"/>
          </a:xfrm>
          <a:prstGeom prst="rect">
            <a:avLst/>
          </a:prstGeom>
          <a:noFill/>
        </p:spPr>
        <p:txBody>
          <a:bodyPr wrap="square">
            <a:spAutoFit/>
          </a:bodyPr>
          <a:lstStyle/>
          <a:p>
            <a:pPr algn="ctr"/>
            <a:r>
              <a:rPr sz="2800" b="1" i="0">
                <a:solidFill>
                  <a:srgbClr val="F5C518"/>
                </a:solidFill>
              </a:rPr>
              <a:t>5.0</a:t>
            </a:r>
          </a:p>
        </p:txBody>
      </p:sp>
      <p:sp>
        <p:nvSpPr>
          <p:cNvPr id="21" name="TextBox 20"/>
          <p:cNvSpPr txBox="1"/>
          <p:nvPr/>
        </p:nvSpPr>
        <p:spPr>
          <a:xfrm>
            <a:off x="9665208" y="2788920"/>
            <a:ext cx="1920240" cy="640080"/>
          </a:xfrm>
          <a:prstGeom prst="rect">
            <a:avLst/>
          </a:prstGeom>
          <a:noFill/>
        </p:spPr>
        <p:txBody>
          <a:bodyPr wrap="square">
            <a:spAutoFit/>
          </a:bodyPr>
          <a:lstStyle/>
          <a:p>
            <a:pPr algn="ctr"/>
            <a:r>
              <a:rPr sz="1200" b="0" i="0">
                <a:solidFill>
                  <a:srgbClr val="C8D4EE"/>
                </a:solidFill>
              </a:rPr>
              <a:t>Stars — 14 Reviews</a:t>
            </a:r>
          </a:p>
        </p:txBody>
      </p:sp>
      <p:sp>
        <p:nvSpPr>
          <p:cNvPr id="22" name="Rectangle 21"/>
          <p:cNvSpPr/>
          <p:nvPr/>
        </p:nvSpPr>
        <p:spPr>
          <a:xfrm>
            <a:off x="502920" y="3840480"/>
            <a:ext cx="11183112" cy="5486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 y="3913632"/>
            <a:ext cx="10972800" cy="411480"/>
          </a:xfrm>
          <a:prstGeom prst="rect">
            <a:avLst/>
          </a:prstGeom>
          <a:noFill/>
        </p:spPr>
        <p:txBody>
          <a:bodyPr wrap="square">
            <a:spAutoFit/>
          </a:bodyPr>
          <a:lstStyle/>
          <a:p>
            <a:pPr algn="ctr"/>
            <a:r>
              <a:rPr sz="1200" b="0" i="0">
                <a:solidFill>
                  <a:srgbClr val="C8D4EE"/>
                </a:solidFill>
              </a:rPr>
              <a:t>Danville &amp; East Bay CA  ·  Compass  ·  DRE# 00866434  ·  Specialties: Buyer, Listing, Relocation, New Construction  ·  thefirstresponders.org</a:t>
            </a:r>
          </a:p>
        </p:txBody>
      </p:sp>
      <p:sp>
        <p:nvSpPr>
          <p:cNvPr id="24" name="TextBox 23"/>
          <p:cNvSpPr txBox="1"/>
          <p:nvPr/>
        </p:nvSpPr>
        <p:spPr>
          <a:xfrm>
            <a:off x="502920" y="4572000"/>
            <a:ext cx="5303520" cy="320040"/>
          </a:xfrm>
          <a:prstGeom prst="rect">
            <a:avLst/>
          </a:prstGeom>
          <a:noFill/>
        </p:spPr>
        <p:txBody>
          <a:bodyPr wrap="square">
            <a:spAutoFit/>
          </a:bodyPr>
          <a:lstStyle/>
          <a:p>
            <a:pPr algn="l"/>
            <a:r>
              <a:rPr sz="1100" b="1" i="0">
                <a:solidFill>
                  <a:srgbClr val="FF4D4D"/>
                </a:solidFill>
              </a:rPr>
              <a:t>WHY FIRST RESPONDERS TRUST DAVE</a:t>
            </a:r>
          </a:p>
        </p:txBody>
      </p:sp>
      <p:sp>
        <p:nvSpPr>
          <p:cNvPr id="25" name="TextBox 24"/>
          <p:cNvSpPr txBox="1"/>
          <p:nvPr/>
        </p:nvSpPr>
        <p:spPr>
          <a:xfrm>
            <a:off x="502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21 years Oakland PD — the credential no other agent can fake</a:t>
            </a:r>
          </a:p>
          <a:p>
            <a:pPr algn="l">
              <a:spcAft>
                <a:spcPts val="600"/>
              </a:spcAft>
            </a:pPr>
            <a:r>
              <a:rPr sz="1100"/>
              <a:t>  </a:t>
            </a:r>
            <a:r>
              <a:rPr sz="1100" b="1">
                <a:solidFill>
                  <a:srgbClr val="4F8EFF"/>
                </a:solidFill>
              </a:rPr>
              <a:t>• </a:t>
            </a:r>
            <a:r>
              <a:rPr sz="1300">
                <a:solidFill>
                  <a:srgbClr val="C8D4EE"/>
                </a:solidFill>
              </a:rPr>
              <a:t>Understands the financial pressures of public service salaries</a:t>
            </a:r>
          </a:p>
          <a:p>
            <a:pPr algn="l"/>
            <a:r>
              <a:rPr sz="1100"/>
              <a:t>  </a:t>
            </a:r>
            <a:r>
              <a:rPr sz="1100" b="1">
                <a:solidFill>
                  <a:srgbClr val="4F8EFF"/>
                </a:solidFill>
              </a:rPr>
              <a:t>• </a:t>
            </a:r>
            <a:r>
              <a:rPr sz="1300">
                <a:solidFill>
                  <a:srgbClr val="C8D4EE"/>
                </a:solidFill>
              </a:rPr>
              <a:t>Knows what first responders actually need in a home (commute, schedule, lifestyle)</a:t>
            </a:r>
          </a:p>
        </p:txBody>
      </p:sp>
      <p:sp>
        <p:nvSpPr>
          <p:cNvPr id="26" name="TextBox 25"/>
          <p:cNvSpPr txBox="1"/>
          <p:nvPr/>
        </p:nvSpPr>
        <p:spPr>
          <a:xfrm>
            <a:off x="6217920" y="4572000"/>
            <a:ext cx="5303520" cy="320040"/>
          </a:xfrm>
          <a:prstGeom prst="rect">
            <a:avLst/>
          </a:prstGeom>
          <a:noFill/>
        </p:spPr>
        <p:txBody>
          <a:bodyPr wrap="square">
            <a:spAutoFit/>
          </a:bodyPr>
          <a:lstStyle/>
          <a:p>
            <a:pPr algn="l"/>
            <a:r>
              <a:rPr sz="1100" b="1" i="0">
                <a:solidFill>
                  <a:srgbClr val="FF4D4D"/>
                </a:solidFill>
              </a:rPr>
              <a:t>TRANSACTION RANGE</a:t>
            </a:r>
          </a:p>
        </p:txBody>
      </p:sp>
      <p:sp>
        <p:nvSpPr>
          <p:cNvPr id="27" name="TextBox 26"/>
          <p:cNvSpPr txBox="1"/>
          <p:nvPr/>
        </p:nvSpPr>
        <p:spPr>
          <a:xfrm>
            <a:off x="6217920" y="4892040"/>
            <a:ext cx="5303520" cy="1371600"/>
          </a:xfrm>
          <a:prstGeom prst="rect">
            <a:avLst/>
          </a:prstGeom>
          <a:noFill/>
        </p:spPr>
        <p:txBody>
          <a:bodyPr wrap="square">
            <a:spAutoFit/>
          </a:bodyPr>
          <a:lstStyle/>
          <a:p>
            <a:pPr algn="l">
              <a:spcAft>
                <a:spcPts val="600"/>
              </a:spcAft>
            </a:pPr>
            <a:r>
              <a:rPr sz="1100"/>
              <a:t>  </a:t>
            </a:r>
            <a:r>
              <a:rPr sz="1100" b="1">
                <a:solidFill>
                  <a:srgbClr val="4F8EFF"/>
                </a:solidFill>
              </a:rPr>
              <a:t>• </a:t>
            </a:r>
            <a:r>
              <a:rPr sz="1300">
                <a:solidFill>
                  <a:srgbClr val="C8D4EE"/>
                </a:solidFill>
              </a:rPr>
              <a:t>Sales range: $1.3M to $3.1M</a:t>
            </a:r>
          </a:p>
          <a:p>
            <a:pPr algn="l">
              <a:spcAft>
                <a:spcPts val="600"/>
              </a:spcAft>
            </a:pPr>
            <a:r>
              <a:rPr sz="1100"/>
              <a:t>  </a:t>
            </a:r>
            <a:r>
              <a:rPr sz="1100" b="1">
                <a:solidFill>
                  <a:srgbClr val="4F8EFF"/>
                </a:solidFill>
              </a:rPr>
              <a:t>• </a:t>
            </a:r>
            <a:r>
              <a:rPr sz="1300">
                <a:solidFill>
                  <a:srgbClr val="C8D4EE"/>
                </a:solidFill>
              </a:rPr>
              <a:t>East Bay focus: Danville, San Ramon, Pleasanton, Alameda County</a:t>
            </a:r>
          </a:p>
          <a:p>
            <a:pPr algn="l"/>
            <a:r>
              <a:rPr sz="1100"/>
              <a:t>  </a:t>
            </a:r>
            <a:r>
              <a:rPr sz="1100" b="1">
                <a:solidFill>
                  <a:srgbClr val="4F8EFF"/>
                </a:solidFill>
              </a:rPr>
              <a:t>• </a:t>
            </a:r>
            <a:r>
              <a:rPr sz="1300">
                <a:solidFill>
                  <a:srgbClr val="C8D4EE"/>
                </a:solidFill>
              </a:rPr>
              <a:t>Mortgage broker license — handles full transaction from search to close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WHAT'S WORKING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Strengths to Build On</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Irreplaceable First Responder Credibility</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21 years in Oakland PD, retiring as a Sergeant and Detective, is a credential no competitor can manufacture. When a police officer, firefighter, or paramedic meets Dave, they're talking to someone who did the job. That trust converts.</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Niche Positioning with a Dedicated Domain</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thefirstresponders.org gives Dave a standalone identity beyond just being a Compass agent. A dedicated program site signals commitment to the community, not just a checkbox on a Compass profile that says 'first responders welcome.'</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Early Tech Adopter Track Record</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Dave built Interloan.com in 1999 - one of the first online multi-lender mortgage platforms. He sold it to a public company in 2000. That instinct to adopt tech early is exactly what makes AI automation a natural next step, not a foreign concept.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Dual License Advantage</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Most agents are just agents. Dave handles both real estate and mortgage brokering, which means he controls more of the transaction, can offer better guidance on first responder loan programs, and builds deeper client relationships.</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5.0 Stars Across 14 Reviews</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Perfect rating from 14 clients signals a high-satisfaction, repeat and referral business. The first responder community is tight-knit - one satisfied police officer or firefighter who refers within their department is worth five cold leads.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WHERE LEADS ARE LEAKING</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000" b="1" i="0">
                <a:solidFill>
                  <a:srgbClr val="FFFFFF"/>
                </a:solidFill>
              </a:rPr>
              <a:t>The Niche Is Perfect. The Digital Infrastructure Isn't.</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8412480" cy="347472"/>
          </a:xfrm>
          <a:prstGeom prst="rect">
            <a:avLst/>
          </a:prstGeom>
          <a:noFill/>
        </p:spPr>
        <p:txBody>
          <a:bodyPr wrap="square">
            <a:spAutoFit/>
          </a:bodyPr>
          <a:lstStyle/>
          <a:p>
            <a:pPr algn="l"/>
            <a:r>
              <a:rPr sz="1200" b="1" i="0">
                <a:solidFill>
                  <a:srgbClr val="FFFFFF"/>
                </a:solidFill>
              </a:rPr>
              <a:t>NO AI CHAT FOR AFTER-HOURS FIRST RESPONDER BUYERS</a:t>
            </a:r>
          </a:p>
        </p:txBody>
      </p:sp>
      <p:sp>
        <p:nvSpPr>
          <p:cNvPr id="9" name="Oval 8"/>
          <p:cNvSpPr/>
          <p:nvPr/>
        </p:nvSpPr>
        <p:spPr>
          <a:xfrm>
            <a:off x="9235440" y="160020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0" name="TextBox 9"/>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First responders work nights, weekends, 48-hour shifts. The buyer who's ready is browsing thefirstresponders.org at 2am after a night shift, not at 10am. With no chat widget, that visitor either fills a contact form and waits, or goes to Zillow. There's no real-time engagement path built for the schedule Dave's clients actually keep.</a:t>
            </a:r>
          </a:p>
        </p:txBody>
      </p:sp>
      <p:sp>
        <p:nvSpPr>
          <p:cNvPr id="11" name="Rectangle 10"/>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514600"/>
            <a:ext cx="8412480" cy="347472"/>
          </a:xfrm>
          <a:prstGeom prst="rect">
            <a:avLst/>
          </a:prstGeom>
          <a:noFill/>
        </p:spPr>
        <p:txBody>
          <a:bodyPr wrap="square">
            <a:spAutoFit/>
          </a:bodyPr>
          <a:lstStyle/>
          <a:p>
            <a:pPr algn="l"/>
            <a:r>
              <a:rPr sz="1200" b="1" i="0">
                <a:solidFill>
                  <a:srgbClr val="FFFFFF"/>
                </a:solidFill>
              </a:rPr>
              <a:t>NO AUTOMATED FOLLOW-UP FOR INQUIRIES</a:t>
            </a:r>
          </a:p>
        </p:txBody>
      </p:sp>
      <p:sp>
        <p:nvSpPr>
          <p:cNvPr id="13" name="Oval 12"/>
          <p:cNvSpPr/>
          <p:nvPr/>
        </p:nvSpPr>
        <p:spPr>
          <a:xfrm>
            <a:off x="9235440" y="256032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4" name="TextBox 13"/>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 first responder who fills out a contact form on a Friday night won't hear back until Monday. They may be back on shift by then. Automated follow-up within 30 minutes of an inquiry - even just an acknowledgment with next steps - keeps that lead warm through the weekend.</a:t>
            </a:r>
          </a:p>
        </p:txBody>
      </p:sp>
      <p:sp>
        <p:nvSpPr>
          <p:cNvPr id="15" name="Rectangle 14"/>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8412480" cy="347472"/>
          </a:xfrm>
          <a:prstGeom prst="rect">
            <a:avLst/>
          </a:prstGeom>
          <a:noFill/>
        </p:spPr>
        <p:txBody>
          <a:bodyPr wrap="square">
            <a:spAutoFit/>
          </a:bodyPr>
          <a:lstStyle/>
          <a:p>
            <a:pPr algn="l"/>
            <a:r>
              <a:rPr sz="1200" b="1" i="0">
                <a:solidFill>
                  <a:srgbClr val="FFFFFF"/>
                </a:solidFill>
              </a:rPr>
              <a:t>NO VIDEO TESTIMONIALS OR AUTOMATED REVIEW COLLECTION</a:t>
            </a:r>
          </a:p>
        </p:txBody>
      </p:sp>
      <p:sp>
        <p:nvSpPr>
          <p:cNvPr id="17" name="Oval 16"/>
          <p:cNvSpPr/>
          <p:nvPr/>
        </p:nvSpPr>
        <p:spPr>
          <a:xfrm>
            <a:off x="9235440" y="3520440"/>
            <a:ext cx="749808" cy="274320"/>
          </a:xfrm>
          <a:prstGeom prst="ellipse">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HIGH</a:t>
            </a:r>
          </a:p>
        </p:txBody>
      </p:sp>
      <p:sp>
        <p:nvSpPr>
          <p:cNvPr id="18" name="TextBox 17"/>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The site has three first responder testimonials - Dave S. from Pleasanton PD, V. Bullock from Oakland PD, R. Harmon from the DA's office. That's real social proof. But static text testimonials don't compound. With video testimonials and post-closing review automation that asks clients to mention their profession and department, the peer proof builds with every transaction.</a:t>
            </a:r>
          </a:p>
        </p:txBody>
      </p:sp>
      <p:sp>
        <p:nvSpPr>
          <p:cNvPr id="19" name="Rectangle 18"/>
          <p:cNvSpPr/>
          <p:nvPr/>
        </p:nvSpPr>
        <p:spPr>
          <a:xfrm>
            <a:off x="502920" y="443484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434840"/>
            <a:ext cx="8412480" cy="347472"/>
          </a:xfrm>
          <a:prstGeom prst="rect">
            <a:avLst/>
          </a:prstGeom>
          <a:noFill/>
        </p:spPr>
        <p:txBody>
          <a:bodyPr wrap="square">
            <a:spAutoFit/>
          </a:bodyPr>
          <a:lstStyle/>
          <a:p>
            <a:pPr algn="l"/>
            <a:r>
              <a:rPr sz="1200" b="1" i="0">
                <a:solidFill>
                  <a:srgbClr val="FFFFFF"/>
                </a:solidFill>
              </a:rPr>
              <a:t>NO AUTOMATED MARKET REPORTS TO FIRST RESPONDER DATABASE</a:t>
            </a:r>
          </a:p>
        </p:txBody>
      </p:sp>
      <p:sp>
        <p:nvSpPr>
          <p:cNvPr id="21" name="Oval 20"/>
          <p:cNvSpPr/>
          <p:nvPr/>
        </p:nvSpPr>
        <p:spPr>
          <a:xfrm>
            <a:off x="9235440" y="448056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2" name="TextBox 21"/>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Dave has served police, fire, and EMS buyers across the East Bay for 40 years. That's a database. Automated monthly market reports sent to that list - customized for their areas and price ranges - keep Dave top of mind for the moment a first responder decides it's time to buy or sell.</a:t>
            </a:r>
          </a:p>
        </p:txBody>
      </p:sp>
      <p:sp>
        <p:nvSpPr>
          <p:cNvPr id="23" name="Rectangle 22"/>
          <p:cNvSpPr/>
          <p:nvPr/>
        </p:nvSpPr>
        <p:spPr>
          <a:xfrm>
            <a:off x="502920" y="5394960"/>
            <a:ext cx="54864" cy="64008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5394960"/>
            <a:ext cx="8412480" cy="347472"/>
          </a:xfrm>
          <a:prstGeom prst="rect">
            <a:avLst/>
          </a:prstGeom>
          <a:noFill/>
        </p:spPr>
        <p:txBody>
          <a:bodyPr wrap="square">
            <a:spAutoFit/>
          </a:bodyPr>
          <a:lstStyle/>
          <a:p>
            <a:pPr algn="l"/>
            <a:r>
              <a:rPr sz="1200" b="1" i="0">
                <a:solidFill>
                  <a:srgbClr val="FFFFFF"/>
                </a:solidFill>
              </a:rPr>
              <a:t>PROGRAM BENEFITS NOT CLEARLY EXPLAINED ON SITE</a:t>
            </a:r>
          </a:p>
        </p:txBody>
      </p:sp>
      <p:sp>
        <p:nvSpPr>
          <p:cNvPr id="25" name="Oval 24"/>
          <p:cNvSpPr/>
          <p:nvPr/>
        </p:nvSpPr>
        <p:spPr>
          <a:xfrm>
            <a:off x="9235440" y="5440680"/>
            <a:ext cx="941832" cy="274320"/>
          </a:xfrm>
          <a:prstGeom prst="ellipse">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rPr>
              <a:t>MEDIUM</a:t>
            </a:r>
          </a:p>
        </p:txBody>
      </p:sp>
      <p:sp>
        <p:nvSpPr>
          <p:cNvPr id="26" name="TextBox 25"/>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First responder home buying programs (CalHFA, HUD Good Neighbor Next Door, local grants) are complex. Most buyers don't know what they qualify for. Dedicated landing pages by profession - police, fire, EMS, dispatch - that clearly explain the benefits and have a calculator would convert research visits into appointments.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A055FF"/>
                </a:solidFill>
              </a:rPr>
              <a:t>WEBSITE DESIGN AUDIT</a:t>
            </a:r>
          </a:p>
        </p:txBody>
      </p:sp>
      <p:sp>
        <p:nvSpPr>
          <p:cNvPr id="5" name="TextBox 4"/>
          <p:cNvSpPr txBox="1"/>
          <p:nvPr/>
        </p:nvSpPr>
        <p:spPr>
          <a:xfrm>
            <a:off x="502920" y="640080"/>
            <a:ext cx="10972800" cy="731520"/>
          </a:xfrm>
          <a:prstGeom prst="rect">
            <a:avLst/>
          </a:prstGeom>
          <a:noFill/>
        </p:spPr>
        <p:txBody>
          <a:bodyPr wrap="square">
            <a:spAutoFit/>
          </a:bodyPr>
          <a:lstStyle/>
          <a:p>
            <a:pPr algn="l"/>
            <a:r>
              <a:rPr sz="3200" b="1" i="0">
                <a:solidFill>
                  <a:srgbClr val="FFFFFF"/>
                </a:solidFill>
              </a:rPr>
              <a:t>A Niche This Strong Deserves a Site That Matches.</a:t>
            </a:r>
          </a:p>
        </p:txBody>
      </p:sp>
      <p:sp>
        <p:nvSpPr>
          <p:cNvPr id="6" name="Rectangle 5"/>
          <p:cNvSpPr/>
          <p:nvPr/>
        </p:nvSpPr>
        <p:spPr>
          <a:xfrm>
            <a:off x="502920" y="1325880"/>
            <a:ext cx="1371600" cy="36576"/>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737360"/>
            <a:ext cx="347472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37360"/>
            <a:ext cx="3474720" cy="38404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755648"/>
            <a:ext cx="3291840" cy="347472"/>
          </a:xfrm>
          <a:prstGeom prst="rect">
            <a:avLst/>
          </a:prstGeom>
          <a:noFill/>
        </p:spPr>
        <p:txBody>
          <a:bodyPr wrap="square">
            <a:spAutoFit/>
          </a:bodyPr>
          <a:lstStyle/>
          <a:p>
            <a:pPr algn="ctr"/>
            <a:r>
              <a:rPr sz="1000" b="1" i="0">
                <a:solidFill>
                  <a:srgbClr val="FFFFFF"/>
                </a:solidFill>
              </a:rPr>
              <a:t>THEFIRSTRESPONDERS.ORG TODAY</a:t>
            </a:r>
          </a:p>
        </p:txBody>
      </p:sp>
      <p:sp>
        <p:nvSpPr>
          <p:cNvPr id="10" name="TextBox 9"/>
          <p:cNvSpPr txBox="1"/>
          <p:nvPr/>
        </p:nvSpPr>
        <p:spPr>
          <a:xfrm>
            <a:off x="640080" y="2212848"/>
            <a:ext cx="3291840" cy="2651760"/>
          </a:xfrm>
          <a:prstGeom prst="rect">
            <a:avLst/>
          </a:prstGeom>
          <a:noFill/>
        </p:spPr>
        <p:txBody>
          <a:bodyPr wrap="square">
            <a:spAutoFit/>
          </a:bodyPr>
          <a:lstStyle/>
          <a:p>
            <a:pPr algn="l">
              <a:spcAft>
                <a:spcPts val="600"/>
              </a:spcAft>
            </a:pPr>
            <a:r>
              <a:rPr sz="900"/>
              <a:t>  </a:t>
            </a:r>
            <a:r>
              <a:rPr sz="900" b="1">
                <a:solidFill>
                  <a:srgbClr val="FF4D4D"/>
                </a:solidFill>
              </a:rPr>
              <a:t>• </a:t>
            </a:r>
            <a:r>
              <a:rPr sz="1100">
                <a:solidFill>
                  <a:srgbClr val="C8D4EE"/>
                </a:solidFill>
              </a:rPr>
              <a:t>Good content: benefits, stats, 3 FR testimonials</a:t>
            </a:r>
          </a:p>
          <a:p>
            <a:pPr algn="l">
              <a:spcAft>
                <a:spcPts val="600"/>
              </a:spcAft>
            </a:pPr>
            <a:r>
              <a:rPr sz="900"/>
              <a:t>  </a:t>
            </a:r>
            <a:r>
              <a:rPr sz="900" b="1">
                <a:solidFill>
                  <a:srgbClr val="FF4D4D"/>
                </a:solidFill>
              </a:rPr>
              <a:t>• </a:t>
            </a:r>
            <a:r>
              <a:rPr sz="1100">
                <a:solidFill>
                  <a:srgbClr val="C8D4EE"/>
                </a:solidFill>
              </a:rPr>
              <a:t>Static contact form - no automated follow-up</a:t>
            </a:r>
          </a:p>
          <a:p>
            <a:pPr algn="l">
              <a:spcAft>
                <a:spcPts val="600"/>
              </a:spcAft>
            </a:pPr>
            <a:r>
              <a:rPr sz="900"/>
              <a:t>  </a:t>
            </a:r>
            <a:r>
              <a:rPr sz="900" b="1">
                <a:solidFill>
                  <a:srgbClr val="FF4D4D"/>
                </a:solidFill>
              </a:rPr>
              <a:t>• </a:t>
            </a:r>
            <a:r>
              <a:rPr sz="1100">
                <a:solidFill>
                  <a:srgbClr val="C8D4EE"/>
                </a:solidFill>
              </a:rPr>
              <a:t>No AI chat for 2am shift-worker browsers</a:t>
            </a:r>
          </a:p>
          <a:p>
            <a:pPr algn="l">
              <a:spcAft>
                <a:spcPts val="600"/>
              </a:spcAft>
            </a:pPr>
            <a:r>
              <a:rPr sz="900"/>
              <a:t>  </a:t>
            </a:r>
            <a:r>
              <a:rPr sz="900" b="1">
                <a:solidFill>
                  <a:srgbClr val="FF4D4D"/>
                </a:solidFill>
              </a:rPr>
              <a:t>• </a:t>
            </a:r>
            <a:r>
              <a:rPr sz="1100">
                <a:solidFill>
                  <a:srgbClr val="C8D4EE"/>
                </a:solidFill>
              </a:rPr>
              <a:t>No video testimonials or review automation</a:t>
            </a:r>
          </a:p>
          <a:p>
            <a:pPr algn="l">
              <a:spcAft>
                <a:spcPts val="600"/>
              </a:spcAft>
            </a:pPr>
            <a:r>
              <a:rPr sz="900"/>
              <a:t>  </a:t>
            </a:r>
            <a:r>
              <a:rPr sz="900" b="1">
                <a:solidFill>
                  <a:srgbClr val="FF4D4D"/>
                </a:solidFill>
              </a:rPr>
              <a:t>• </a:t>
            </a:r>
            <a:r>
              <a:rPr sz="1100">
                <a:solidFill>
                  <a:srgbClr val="C8D4EE"/>
                </a:solidFill>
              </a:rPr>
              <a:t>No department-specific pages (Police/Fire/EMS)</a:t>
            </a:r>
          </a:p>
          <a:p>
            <a:pPr algn="l">
              <a:spcAft>
                <a:spcPts val="600"/>
              </a:spcAft>
            </a:pPr>
            <a:r>
              <a:rPr sz="900"/>
              <a:t>  </a:t>
            </a:r>
            <a:r>
              <a:rPr sz="900" b="1">
                <a:solidFill>
                  <a:srgbClr val="FF4D4D"/>
                </a:solidFill>
              </a:rPr>
              <a:t>• </a:t>
            </a:r>
            <a:r>
              <a:rPr sz="1100">
                <a:solidFill>
                  <a:srgbClr val="C8D4EE"/>
                </a:solidFill>
              </a:rPr>
              <a:t>No program benefit calculator by profession</a:t>
            </a:r>
          </a:p>
          <a:p>
            <a:pPr algn="l">
              <a:spcAft>
                <a:spcPts val="600"/>
              </a:spcAft>
            </a:pPr>
            <a:r>
              <a:rPr sz="900"/>
              <a:t>  </a:t>
            </a:r>
            <a:r>
              <a:rPr sz="900" b="1">
                <a:solidFill>
                  <a:srgbClr val="FF4D4D"/>
                </a:solidFill>
              </a:rPr>
              <a:t>• </a:t>
            </a:r>
            <a:r>
              <a:rPr sz="1100">
                <a:solidFill>
                  <a:srgbClr val="C8D4EE"/>
                </a:solidFill>
              </a:rPr>
              <a:t>No market report pipeline to FR database</a:t>
            </a:r>
          </a:p>
          <a:p>
            <a:pPr algn="l"/>
            <a:r>
              <a:rPr sz="900"/>
              <a:t>  </a:t>
            </a:r>
            <a:r>
              <a:rPr sz="900" b="1">
                <a:solidFill>
                  <a:srgbClr val="FF4D4D"/>
                </a:solidFill>
              </a:rPr>
              <a:t>• </a:t>
            </a:r>
            <a:r>
              <a:rPr sz="1100">
                <a:solidFill>
                  <a:srgbClr val="C8D4EE"/>
                </a:solidFill>
              </a:rPr>
              <a:t>No department referral landing pages</a:t>
            </a:r>
          </a:p>
        </p:txBody>
      </p:sp>
      <p:sp>
        <p:nvSpPr>
          <p:cNvPr id="11" name="TextBox 10"/>
          <p:cNvSpPr txBox="1"/>
          <p:nvPr/>
        </p:nvSpPr>
        <p:spPr>
          <a:xfrm>
            <a:off x="4069080" y="3291840"/>
            <a:ext cx="457200" cy="457200"/>
          </a:xfrm>
          <a:prstGeom prst="rect">
            <a:avLst/>
          </a:prstGeom>
          <a:noFill/>
        </p:spPr>
        <p:txBody>
          <a:bodyPr wrap="square">
            <a:spAutoFit/>
          </a:bodyPr>
          <a:lstStyle/>
          <a:p>
            <a:pPr algn="ctr"/>
            <a:r>
              <a:rPr sz="3000" b="1" i="0">
                <a:solidFill>
                  <a:srgbClr val="A055FF"/>
                </a:solidFill>
              </a:rPr>
              <a:t>-&gt;</a:t>
            </a:r>
          </a:p>
        </p:txBody>
      </p:sp>
      <p:sp>
        <p:nvSpPr>
          <p:cNvPr id="12" name="Rectangle 11"/>
          <p:cNvSpPr/>
          <p:nvPr/>
        </p:nvSpPr>
        <p:spPr>
          <a:xfrm>
            <a:off x="45720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1737360"/>
            <a:ext cx="329184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1755648"/>
            <a:ext cx="3108960" cy="347472"/>
          </a:xfrm>
          <a:prstGeom prst="rect">
            <a:avLst/>
          </a:prstGeom>
          <a:noFill/>
        </p:spPr>
        <p:txBody>
          <a:bodyPr wrap="square">
            <a:spAutoFit/>
          </a:bodyPr>
          <a:lstStyle/>
          <a:p>
            <a:pPr algn="ctr"/>
            <a:r>
              <a:rPr sz="900" b="1" i="0">
                <a:solidFill>
                  <a:srgbClr val="FFFFFF"/>
                </a:solidFill>
              </a:rPr>
              <a:t>TOP NICHE REAL ESTATE SITES DO THIS</a:t>
            </a:r>
          </a:p>
        </p:txBody>
      </p:sp>
      <p:sp>
        <p:nvSpPr>
          <p:cNvPr id="15" name="TextBox 14"/>
          <p:cNvSpPr txBox="1"/>
          <p:nvPr/>
        </p:nvSpPr>
        <p:spPr>
          <a:xfrm>
            <a:off x="4663440" y="2212848"/>
            <a:ext cx="3108960" cy="2651760"/>
          </a:xfrm>
          <a:prstGeom prst="rect">
            <a:avLst/>
          </a:prstGeom>
          <a:noFill/>
        </p:spPr>
        <p:txBody>
          <a:bodyPr wrap="square">
            <a:spAutoFit/>
          </a:bodyPr>
          <a:lstStyle/>
          <a:p>
            <a:pPr algn="l">
              <a:spcAft>
                <a:spcPts val="600"/>
              </a:spcAft>
            </a:pPr>
            <a:r>
              <a:rPr sz="900"/>
              <a:t>  </a:t>
            </a:r>
            <a:r>
              <a:rPr sz="900" b="1">
                <a:solidFill>
                  <a:srgbClr val="F5C518"/>
                </a:solidFill>
              </a:rPr>
              <a:t>• </a:t>
            </a:r>
            <a:r>
              <a:rPr sz="1100">
                <a:solidFill>
                  <a:srgbClr val="C8D4EE"/>
                </a:solidFill>
              </a:rPr>
              <a:t>Homes for Heroes: profession-specific pages with calculators</a:t>
            </a:r>
          </a:p>
          <a:p>
            <a:pPr algn="l">
              <a:spcAft>
                <a:spcPts val="600"/>
              </a:spcAft>
            </a:pPr>
            <a:r>
              <a:rPr sz="900"/>
              <a:t>  </a:t>
            </a:r>
            <a:r>
              <a:rPr sz="900" b="1">
                <a:solidFill>
                  <a:srgbClr val="F5C518"/>
                </a:solidFill>
              </a:rPr>
              <a:t>• </a:t>
            </a:r>
            <a:r>
              <a:rPr sz="1100">
                <a:solidFill>
                  <a:srgbClr val="C8D4EE"/>
                </a:solidFill>
              </a:rPr>
              <a:t>Testimonials from buyers in the same profession</a:t>
            </a:r>
          </a:p>
          <a:p>
            <a:pPr algn="l">
              <a:spcAft>
                <a:spcPts val="600"/>
              </a:spcAft>
            </a:pPr>
            <a:r>
              <a:rPr sz="900"/>
              <a:t>  </a:t>
            </a:r>
            <a:r>
              <a:rPr sz="900" b="1">
                <a:solidFill>
                  <a:srgbClr val="F5C518"/>
                </a:solidFill>
              </a:rPr>
              <a:t>• </a:t>
            </a:r>
            <a:r>
              <a:rPr sz="1100">
                <a:solidFill>
                  <a:srgbClr val="C8D4EE"/>
                </a:solidFill>
              </a:rPr>
              <a:t>Clear program benefit comparison by profession</a:t>
            </a:r>
          </a:p>
          <a:p>
            <a:pPr algn="l">
              <a:spcAft>
                <a:spcPts val="600"/>
              </a:spcAft>
            </a:pPr>
            <a:r>
              <a:rPr sz="900"/>
              <a:t>  </a:t>
            </a:r>
            <a:r>
              <a:rPr sz="900" b="1">
                <a:solidFill>
                  <a:srgbClr val="F5C518"/>
                </a:solidFill>
              </a:rPr>
              <a:t>• </a:t>
            </a:r>
            <a:r>
              <a:rPr sz="1100">
                <a:solidFill>
                  <a:srgbClr val="C8D4EE"/>
                </a:solidFill>
              </a:rPr>
              <a:t>AI chat or chatbot for after-hours inquiry capture</a:t>
            </a:r>
          </a:p>
          <a:p>
            <a:pPr algn="l">
              <a:spcAft>
                <a:spcPts val="600"/>
              </a:spcAft>
            </a:pPr>
            <a:r>
              <a:rPr sz="900"/>
              <a:t>  </a:t>
            </a:r>
            <a:r>
              <a:rPr sz="900" b="1">
                <a:solidFill>
                  <a:srgbClr val="F5C518"/>
                </a:solidFill>
              </a:rPr>
              <a:t>• </a:t>
            </a:r>
            <a:r>
              <a:rPr sz="1100">
                <a:solidFill>
                  <a:srgbClr val="C8D4EE"/>
                </a:solidFill>
              </a:rPr>
              <a:t>Automated email sequences post-contact</a:t>
            </a:r>
          </a:p>
          <a:p>
            <a:pPr algn="l">
              <a:spcAft>
                <a:spcPts val="600"/>
              </a:spcAft>
            </a:pPr>
            <a:r>
              <a:rPr sz="900"/>
              <a:t>  </a:t>
            </a:r>
            <a:r>
              <a:rPr sz="900" b="1">
                <a:solidFill>
                  <a:srgbClr val="F5C518"/>
                </a:solidFill>
              </a:rPr>
              <a:t>• </a:t>
            </a:r>
            <a:r>
              <a:rPr sz="1100">
                <a:solidFill>
                  <a:srgbClr val="C8D4EE"/>
                </a:solidFill>
              </a:rPr>
              <a:t>Market reports segmented by buyer type</a:t>
            </a:r>
          </a:p>
          <a:p>
            <a:pPr algn="l">
              <a:spcAft>
                <a:spcPts val="600"/>
              </a:spcAft>
            </a:pPr>
            <a:r>
              <a:rPr sz="900"/>
              <a:t>  </a:t>
            </a:r>
            <a:r>
              <a:rPr sz="900" b="1">
                <a:solidFill>
                  <a:srgbClr val="F5C518"/>
                </a:solidFill>
              </a:rPr>
              <a:t>• </a:t>
            </a:r>
            <a:r>
              <a:rPr sz="1100">
                <a:solidFill>
                  <a:srgbClr val="C8D4EE"/>
                </a:solidFill>
              </a:rPr>
              <a:t>Video testimonials from satisfied clients</a:t>
            </a:r>
          </a:p>
          <a:p>
            <a:pPr algn="l"/>
            <a:r>
              <a:rPr sz="900"/>
              <a:t>  </a:t>
            </a:r>
            <a:r>
              <a:rPr sz="900" b="1">
                <a:solidFill>
                  <a:srgbClr val="F5C518"/>
                </a:solidFill>
              </a:rPr>
              <a:t>• </a:t>
            </a:r>
            <a:r>
              <a:rPr sz="1100">
                <a:solidFill>
                  <a:srgbClr val="C8D4EE"/>
                </a:solidFill>
              </a:rPr>
              <a:t>Community pages for local first responder areas</a:t>
            </a:r>
          </a:p>
        </p:txBody>
      </p:sp>
      <p:sp>
        <p:nvSpPr>
          <p:cNvPr id="16" name="TextBox 15"/>
          <p:cNvSpPr txBox="1"/>
          <p:nvPr/>
        </p:nvSpPr>
        <p:spPr>
          <a:xfrm>
            <a:off x="7936992" y="3291840"/>
            <a:ext cx="457200" cy="457200"/>
          </a:xfrm>
          <a:prstGeom prst="rect">
            <a:avLst/>
          </a:prstGeom>
          <a:noFill/>
        </p:spPr>
        <p:txBody>
          <a:bodyPr wrap="square">
            <a:spAutoFit/>
          </a:bodyPr>
          <a:lstStyle/>
          <a:p>
            <a:pPr algn="ctr"/>
            <a:r>
              <a:rPr sz="3000" b="1" i="0">
                <a:solidFill>
                  <a:srgbClr val="A055FF"/>
                </a:solidFill>
              </a:rPr>
              <a:t>-&gt;</a:t>
            </a:r>
          </a:p>
        </p:txBody>
      </p:sp>
      <p:sp>
        <p:nvSpPr>
          <p:cNvPr id="17" name="Rectangle 16"/>
          <p:cNvSpPr/>
          <p:nvPr/>
        </p:nvSpPr>
        <p:spPr>
          <a:xfrm>
            <a:off x="8458200" y="1737360"/>
            <a:ext cx="3291840" cy="32918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458200" y="1737360"/>
            <a:ext cx="329184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49640" y="1755648"/>
            <a:ext cx="3108960" cy="347472"/>
          </a:xfrm>
          <a:prstGeom prst="rect">
            <a:avLst/>
          </a:prstGeom>
          <a:noFill/>
        </p:spPr>
        <p:txBody>
          <a:bodyPr wrap="square">
            <a:spAutoFit/>
          </a:bodyPr>
          <a:lstStyle/>
          <a:p>
            <a:pPr algn="ctr"/>
            <a:r>
              <a:rPr sz="1000" b="1" i="0">
                <a:solidFill>
                  <a:srgbClr val="FFFFFF"/>
                </a:solidFill>
              </a:rPr>
              <a:t>WHAT GENOS AI BUILDS</a:t>
            </a:r>
          </a:p>
        </p:txBody>
      </p:sp>
      <p:sp>
        <p:nvSpPr>
          <p:cNvPr id="20" name="TextBox 19"/>
          <p:cNvSpPr txBox="1"/>
          <p:nvPr/>
        </p:nvSpPr>
        <p:spPr>
          <a:xfrm>
            <a:off x="8549640" y="2212848"/>
            <a:ext cx="3108960" cy="2651760"/>
          </a:xfrm>
          <a:prstGeom prst="rect">
            <a:avLst/>
          </a:prstGeom>
          <a:noFill/>
        </p:spPr>
        <p:txBody>
          <a:bodyPr wrap="square">
            <a:spAutoFit/>
          </a:bodyPr>
          <a:lstStyle/>
          <a:p>
            <a:pPr algn="l">
              <a:spcAft>
                <a:spcPts val="600"/>
              </a:spcAft>
            </a:pPr>
            <a:r>
              <a:rPr sz="900"/>
              <a:t>  </a:t>
            </a:r>
            <a:r>
              <a:rPr sz="900" b="1">
                <a:solidFill>
                  <a:srgbClr val="2ECC71"/>
                </a:solidFill>
              </a:rPr>
              <a:t>• </a:t>
            </a:r>
            <a:r>
              <a:rPr sz="1100">
                <a:solidFill>
                  <a:srgbClr val="C8D4EE"/>
                </a:solidFill>
              </a:rPr>
              <a:t>Dedicated pages: Police / Fire / EMS / Dispatch</a:t>
            </a:r>
          </a:p>
          <a:p>
            <a:pPr algn="l">
              <a:spcAft>
                <a:spcPts val="600"/>
              </a:spcAft>
            </a:pPr>
            <a:r>
              <a:rPr sz="900"/>
              <a:t>  </a:t>
            </a:r>
            <a:r>
              <a:rPr sz="900" b="1">
                <a:solidFill>
                  <a:srgbClr val="2ECC71"/>
                </a:solidFill>
              </a:rPr>
              <a:t>• </a:t>
            </a:r>
            <a:r>
              <a:rPr sz="1100">
                <a:solidFill>
                  <a:srgbClr val="C8D4EE"/>
                </a:solidFill>
              </a:rPr>
              <a:t>First responder program benefit calculator</a:t>
            </a:r>
          </a:p>
          <a:p>
            <a:pPr algn="l">
              <a:spcAft>
                <a:spcPts val="600"/>
              </a:spcAft>
            </a:pPr>
            <a:r>
              <a:rPr sz="900"/>
              <a:t>  </a:t>
            </a:r>
            <a:r>
              <a:rPr sz="900" b="1">
                <a:solidFill>
                  <a:srgbClr val="2ECC71"/>
                </a:solidFill>
              </a:rPr>
              <a:t>• </a:t>
            </a:r>
            <a:r>
              <a:rPr sz="1100">
                <a:solidFill>
                  <a:srgbClr val="C8D4EE"/>
                </a:solidFill>
              </a:rPr>
              <a:t>Peer testimonials from fellow officers and firefighters</a:t>
            </a:r>
          </a:p>
          <a:p>
            <a:pPr algn="l">
              <a:spcAft>
                <a:spcPts val="600"/>
              </a:spcAft>
            </a:pPr>
            <a:r>
              <a:rPr sz="900"/>
              <a:t>  </a:t>
            </a:r>
            <a:r>
              <a:rPr sz="900" b="1">
                <a:solidFill>
                  <a:srgbClr val="2ECC71"/>
                </a:solidFill>
              </a:rPr>
              <a:t>• </a:t>
            </a:r>
            <a:r>
              <a:rPr sz="1100">
                <a:solidFill>
                  <a:srgbClr val="C8D4EE"/>
                </a:solidFill>
              </a:rPr>
              <a:t>AI chat trained on first responder programs 24/7</a:t>
            </a:r>
          </a:p>
          <a:p>
            <a:pPr algn="l">
              <a:spcAft>
                <a:spcPts val="600"/>
              </a:spcAft>
            </a:pPr>
            <a:r>
              <a:rPr sz="900"/>
              <a:t>  </a:t>
            </a:r>
            <a:r>
              <a:rPr sz="900" b="1">
                <a:solidFill>
                  <a:srgbClr val="2ECC71"/>
                </a:solidFill>
              </a:rPr>
              <a:t>• </a:t>
            </a:r>
            <a:r>
              <a:rPr sz="1100">
                <a:solidFill>
                  <a:srgbClr val="C8D4EE"/>
                </a:solidFill>
              </a:rPr>
              <a:t>Automated follow-up within 30 min of any contact form</a:t>
            </a:r>
          </a:p>
          <a:p>
            <a:pPr algn="l">
              <a:spcAft>
                <a:spcPts val="600"/>
              </a:spcAft>
            </a:pPr>
            <a:r>
              <a:rPr sz="900"/>
              <a:t>  </a:t>
            </a:r>
            <a:r>
              <a:rPr sz="900" b="1">
                <a:solidFill>
                  <a:srgbClr val="2ECC71"/>
                </a:solidFill>
              </a:rPr>
              <a:t>• </a:t>
            </a:r>
            <a:r>
              <a:rPr sz="1100">
                <a:solidFill>
                  <a:srgbClr val="C8D4EE"/>
                </a:solidFill>
              </a:rPr>
              <a:t>Market reports auto-sent to Dave's FR database monthly</a:t>
            </a:r>
          </a:p>
          <a:p>
            <a:pPr algn="l">
              <a:spcAft>
                <a:spcPts val="600"/>
              </a:spcAft>
            </a:pPr>
            <a:r>
              <a:rPr sz="900"/>
              <a:t>  </a:t>
            </a:r>
            <a:r>
              <a:rPr sz="900" b="1">
                <a:solidFill>
                  <a:srgbClr val="2ECC71"/>
                </a:solidFill>
              </a:rPr>
              <a:t>• </a:t>
            </a:r>
            <a:r>
              <a:rPr sz="1100">
                <a:solidFill>
                  <a:srgbClr val="C8D4EE"/>
                </a:solidFill>
              </a:rPr>
              <a:t>Video testimonials section auto-populating post-close</a:t>
            </a:r>
          </a:p>
          <a:p>
            <a:pPr algn="l"/>
            <a:r>
              <a:rPr sz="900"/>
              <a:t>  </a:t>
            </a:r>
            <a:r>
              <a:rPr sz="900" b="1">
                <a:solidFill>
                  <a:srgbClr val="2ECC71"/>
                </a:solidFill>
              </a:rPr>
              <a:t>• </a:t>
            </a:r>
            <a:r>
              <a:rPr sz="1100">
                <a:solidFill>
                  <a:srgbClr val="C8D4EE"/>
                </a:solidFill>
              </a:rPr>
              <a:t>Department referral landing pages for OPD, LAFD, SFFD</a:t>
            </a:r>
          </a:p>
        </p:txBody>
      </p:sp>
      <p:sp>
        <p:nvSpPr>
          <p:cNvPr id="21" name="Rectangle 20"/>
          <p:cNvSpPr/>
          <p:nvPr/>
        </p:nvSpPr>
        <p:spPr>
          <a:xfrm>
            <a:off x="502920" y="5230368"/>
            <a:ext cx="11183112" cy="1170432"/>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285232"/>
            <a:ext cx="2011680" cy="347472"/>
          </a:xfrm>
          <a:prstGeom prst="rect">
            <a:avLst/>
          </a:prstGeom>
          <a:noFill/>
        </p:spPr>
        <p:txBody>
          <a:bodyPr wrap="square">
            <a:spAutoFit/>
          </a:bodyPr>
          <a:lstStyle/>
          <a:p>
            <a:pPr algn="l"/>
            <a:r>
              <a:rPr sz="1100" b="1" i="0">
                <a:solidFill>
                  <a:srgbClr val="A055FF"/>
                </a:solidFill>
              </a:rPr>
              <a:t>WHY IT MATTERS:</a:t>
            </a:r>
          </a:p>
        </p:txBody>
      </p:sp>
      <p:sp>
        <p:nvSpPr>
          <p:cNvPr id="23" name="TextBox 22"/>
          <p:cNvSpPr txBox="1"/>
          <p:nvPr/>
        </p:nvSpPr>
        <p:spPr>
          <a:xfrm>
            <a:off x="2651760" y="5257800"/>
            <a:ext cx="2286000" cy="502920"/>
          </a:xfrm>
          <a:prstGeom prst="rect">
            <a:avLst/>
          </a:prstGeom>
          <a:noFill/>
        </p:spPr>
        <p:txBody>
          <a:bodyPr wrap="square">
            <a:spAutoFit/>
          </a:bodyPr>
          <a:lstStyle/>
          <a:p>
            <a:pPr algn="ctr"/>
            <a:r>
              <a:rPr sz="2400" b="1" i="0">
                <a:solidFill>
                  <a:srgbClr val="F5C518"/>
                </a:solidFill>
              </a:rPr>
              <a:t>67%</a:t>
            </a:r>
          </a:p>
        </p:txBody>
      </p:sp>
      <p:sp>
        <p:nvSpPr>
          <p:cNvPr id="24" name="TextBox 23"/>
          <p:cNvSpPr txBox="1"/>
          <p:nvPr/>
        </p:nvSpPr>
        <p:spPr>
          <a:xfrm>
            <a:off x="2651760" y="5687568"/>
            <a:ext cx="2286000" cy="640080"/>
          </a:xfrm>
          <a:prstGeom prst="rect">
            <a:avLst/>
          </a:prstGeom>
          <a:noFill/>
        </p:spPr>
        <p:txBody>
          <a:bodyPr wrap="square">
            <a:spAutoFit/>
          </a:bodyPr>
          <a:lstStyle/>
          <a:p>
            <a:pPr algn="ctr"/>
            <a:r>
              <a:rPr sz="1000" b="0" i="0">
                <a:solidFill>
                  <a:srgbClr val="C8D4EE"/>
                </a:solidFill>
              </a:rPr>
              <a:t>of home searches start
between 8pm and 8am</a:t>
            </a:r>
          </a:p>
        </p:txBody>
      </p:sp>
      <p:sp>
        <p:nvSpPr>
          <p:cNvPr id="25" name="TextBox 24"/>
          <p:cNvSpPr txBox="1"/>
          <p:nvPr/>
        </p:nvSpPr>
        <p:spPr>
          <a:xfrm>
            <a:off x="5120640" y="5257800"/>
            <a:ext cx="2286000" cy="502920"/>
          </a:xfrm>
          <a:prstGeom prst="rect">
            <a:avLst/>
          </a:prstGeom>
          <a:noFill/>
        </p:spPr>
        <p:txBody>
          <a:bodyPr wrap="square">
            <a:spAutoFit/>
          </a:bodyPr>
          <a:lstStyle/>
          <a:p>
            <a:pPr algn="ctr"/>
            <a:r>
              <a:rPr sz="2400" b="1" i="0">
                <a:solidFill>
                  <a:srgbClr val="F5C518"/>
                </a:solidFill>
              </a:rPr>
              <a:t>5x</a:t>
            </a:r>
          </a:p>
        </p:txBody>
      </p:sp>
      <p:sp>
        <p:nvSpPr>
          <p:cNvPr id="26" name="TextBox 25"/>
          <p:cNvSpPr txBox="1"/>
          <p:nvPr/>
        </p:nvSpPr>
        <p:spPr>
          <a:xfrm>
            <a:off x="5120640" y="5687568"/>
            <a:ext cx="2286000" cy="640080"/>
          </a:xfrm>
          <a:prstGeom prst="rect">
            <a:avLst/>
          </a:prstGeom>
          <a:noFill/>
        </p:spPr>
        <p:txBody>
          <a:bodyPr wrap="square">
            <a:spAutoFit/>
          </a:bodyPr>
          <a:lstStyle/>
          <a:p>
            <a:pPr algn="ctr"/>
            <a:r>
              <a:rPr sz="1000" b="0" i="0">
                <a:solidFill>
                  <a:srgbClr val="C8D4EE"/>
                </a:solidFill>
              </a:rPr>
              <a:t>referral rate within
tight-knit peer communities</a:t>
            </a:r>
          </a:p>
        </p:txBody>
      </p:sp>
      <p:sp>
        <p:nvSpPr>
          <p:cNvPr id="27" name="TextBox 26"/>
          <p:cNvSpPr txBox="1"/>
          <p:nvPr/>
        </p:nvSpPr>
        <p:spPr>
          <a:xfrm>
            <a:off x="7589520" y="5257800"/>
            <a:ext cx="2286000" cy="502920"/>
          </a:xfrm>
          <a:prstGeom prst="rect">
            <a:avLst/>
          </a:prstGeom>
          <a:noFill/>
        </p:spPr>
        <p:txBody>
          <a:bodyPr wrap="square">
            <a:spAutoFit/>
          </a:bodyPr>
          <a:lstStyle/>
          <a:p>
            <a:pPr algn="ctr"/>
            <a:r>
              <a:rPr sz="2400" b="1" i="0">
                <a:solidFill>
                  <a:srgbClr val="F5C518"/>
                </a:solidFill>
              </a:rPr>
              <a:t>30 min</a:t>
            </a:r>
          </a:p>
        </p:txBody>
      </p:sp>
      <p:sp>
        <p:nvSpPr>
          <p:cNvPr id="28" name="TextBox 27"/>
          <p:cNvSpPr txBox="1"/>
          <p:nvPr/>
        </p:nvSpPr>
        <p:spPr>
          <a:xfrm>
            <a:off x="7589520" y="5687568"/>
            <a:ext cx="2286000" cy="640080"/>
          </a:xfrm>
          <a:prstGeom prst="rect">
            <a:avLst/>
          </a:prstGeom>
          <a:noFill/>
        </p:spPr>
        <p:txBody>
          <a:bodyPr wrap="square">
            <a:spAutoFit/>
          </a:bodyPr>
          <a:lstStyle/>
          <a:p>
            <a:pPr algn="ctr"/>
            <a:r>
              <a:rPr sz="1000" b="0" i="0">
                <a:solidFill>
                  <a:srgbClr val="C8D4EE"/>
                </a:solidFill>
              </a:rPr>
              <a:t>response time = 10x
more likely to convert</a:t>
            </a:r>
          </a:p>
        </p:txBody>
      </p:sp>
      <p:sp>
        <p:nvSpPr>
          <p:cNvPr id="29" name="TextBox 28"/>
          <p:cNvSpPr txBox="1"/>
          <p:nvPr/>
        </p:nvSpPr>
        <p:spPr>
          <a:xfrm>
            <a:off x="10058400" y="5257800"/>
            <a:ext cx="2286000" cy="502920"/>
          </a:xfrm>
          <a:prstGeom prst="rect">
            <a:avLst/>
          </a:prstGeom>
          <a:noFill/>
        </p:spPr>
        <p:txBody>
          <a:bodyPr wrap="square">
            <a:spAutoFit/>
          </a:bodyPr>
          <a:lstStyle/>
          <a:p>
            <a:pPr algn="ctr"/>
            <a:r>
              <a:rPr sz="2400" b="1" i="0">
                <a:solidFill>
                  <a:srgbClr val="F5C518"/>
                </a:solidFill>
              </a:rPr>
              <a:t>200%+</a:t>
            </a:r>
          </a:p>
        </p:txBody>
      </p:sp>
      <p:sp>
        <p:nvSpPr>
          <p:cNvPr id="30" name="TextBox 29"/>
          <p:cNvSpPr txBox="1"/>
          <p:nvPr/>
        </p:nvSpPr>
        <p:spPr>
          <a:xfrm>
            <a:off x="10058400" y="5687568"/>
            <a:ext cx="2286000" cy="640080"/>
          </a:xfrm>
          <a:prstGeom prst="rect">
            <a:avLst/>
          </a:prstGeom>
          <a:noFill/>
        </p:spPr>
        <p:txBody>
          <a:bodyPr wrap="square">
            <a:spAutoFit/>
          </a:bodyPr>
          <a:lstStyle/>
          <a:p>
            <a:pPr algn="ctr"/>
            <a:r>
              <a:rPr sz="1000" b="0" i="0">
                <a:solidFill>
                  <a:srgbClr val="C8D4EE"/>
                </a:solidFill>
              </a:rPr>
              <a:t>lift in conversions with
niche-specific landing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AI AUTOMATION OPPORTUNITIES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400" b="1" i="0">
                <a:solidFill>
                  <a:srgbClr val="FFFFFF"/>
                </a:solidFill>
              </a:rPr>
              <a:t>Built for a Buyer Who Works When You're Asleep.</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2148840" cy="54864"/>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2648" y="1810512"/>
            <a:ext cx="1929384" cy="594360"/>
          </a:xfrm>
          <a:prstGeom prst="rect">
            <a:avLst/>
          </a:prstGeom>
          <a:noFill/>
        </p:spPr>
        <p:txBody>
          <a:bodyPr wrap="square">
            <a:spAutoFit/>
          </a:bodyPr>
          <a:lstStyle/>
          <a:p>
            <a:pPr algn="l"/>
            <a:r>
              <a:rPr sz="1300" b="1" i="0">
                <a:solidFill>
                  <a:srgbClr val="FF4D4D"/>
                </a:solidFill>
              </a:rPr>
              <a:t>AI Chat — 24/7
First Responder Intake</a:t>
            </a:r>
          </a:p>
        </p:txBody>
      </p:sp>
      <p:sp>
        <p:nvSpPr>
          <p:cNvPr id="10" name="TextBox 9"/>
          <p:cNvSpPr txBox="1"/>
          <p:nvPr/>
        </p:nvSpPr>
        <p:spPr>
          <a:xfrm>
            <a:off x="612648" y="2423160"/>
            <a:ext cx="1929384" cy="3291840"/>
          </a:xfrm>
          <a:prstGeom prst="rect">
            <a:avLst/>
          </a:prstGeom>
          <a:noFill/>
        </p:spPr>
        <p:txBody>
          <a:bodyPr wrap="square">
            <a:spAutoFit/>
          </a:bodyPr>
          <a:lstStyle/>
          <a:p>
            <a:pPr algn="l"/>
            <a:r>
              <a:rPr sz="1100" b="0" i="0">
                <a:solidFill>
                  <a:srgbClr val="C8D4EE"/>
                </a:solidFill>
              </a:rPr>
              <a:t>A chat widget trained on all first responder home buying programs. CalHFA, Good Neighbor Next Door, local East Bay grants, VA loans for vets who are also first responders. Captures the 2am browser. Routes qualified leads to Dave by morning.</a:t>
            </a:r>
          </a:p>
        </p:txBody>
      </p:sp>
      <p:sp>
        <p:nvSpPr>
          <p:cNvPr id="11" name="Rectangle 10"/>
          <p:cNvSpPr/>
          <p:nvPr/>
        </p:nvSpPr>
        <p:spPr>
          <a:xfrm>
            <a:off x="2779776" y="1645920"/>
            <a:ext cx="2148840" cy="54864"/>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9776"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4" y="1810512"/>
            <a:ext cx="1929384" cy="594360"/>
          </a:xfrm>
          <a:prstGeom prst="rect">
            <a:avLst/>
          </a:prstGeom>
          <a:noFill/>
        </p:spPr>
        <p:txBody>
          <a:bodyPr wrap="square">
            <a:spAutoFit/>
          </a:bodyPr>
          <a:lstStyle/>
          <a:p>
            <a:pPr algn="l"/>
            <a:r>
              <a:rPr sz="1300" b="1" i="0">
                <a:solidFill>
                  <a:srgbClr val="4F8EFF"/>
                </a:solidFill>
              </a:rPr>
              <a:t>Lead Follow-Up
Sequences</a:t>
            </a:r>
          </a:p>
        </p:txBody>
      </p:sp>
      <p:sp>
        <p:nvSpPr>
          <p:cNvPr id="14" name="TextBox 13"/>
          <p:cNvSpPr txBox="1"/>
          <p:nvPr/>
        </p:nvSpPr>
        <p:spPr>
          <a:xfrm>
            <a:off x="2889504" y="2423160"/>
            <a:ext cx="1929384" cy="3291840"/>
          </a:xfrm>
          <a:prstGeom prst="rect">
            <a:avLst/>
          </a:prstGeom>
          <a:noFill/>
        </p:spPr>
        <p:txBody>
          <a:bodyPr wrap="square">
            <a:spAutoFit/>
          </a:bodyPr>
          <a:lstStyle/>
          <a:p>
            <a:pPr algn="l"/>
            <a:r>
              <a:rPr sz="1100" b="0" i="0">
                <a:solidFill>
                  <a:srgbClr val="C8D4EE"/>
                </a:solidFill>
              </a:rPr>
              <a:t>Contact form submitted at midnight on a Saturday? Automated acknowledgment within 30 minutes, follow-up sequence every 48 hours until Dave can personally connect. Built around shift schedules - not a 9-5 email cadence.</a:t>
            </a:r>
          </a:p>
        </p:txBody>
      </p:sp>
      <p:sp>
        <p:nvSpPr>
          <p:cNvPr id="15" name="Rectangle 14"/>
          <p:cNvSpPr/>
          <p:nvPr/>
        </p:nvSpPr>
        <p:spPr>
          <a:xfrm>
            <a:off x="5056632" y="1645920"/>
            <a:ext cx="2148840" cy="54864"/>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56632"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1810512"/>
            <a:ext cx="1929384" cy="594360"/>
          </a:xfrm>
          <a:prstGeom prst="rect">
            <a:avLst/>
          </a:prstGeom>
          <a:noFill/>
        </p:spPr>
        <p:txBody>
          <a:bodyPr wrap="square">
            <a:spAutoFit/>
          </a:bodyPr>
          <a:lstStyle/>
          <a:p>
            <a:pPr algn="l"/>
            <a:r>
              <a:rPr sz="1300" b="1" i="0">
                <a:solidFill>
                  <a:srgbClr val="2ECC71"/>
                </a:solidFill>
              </a:rPr>
              <a:t>Market Report
Automation</a:t>
            </a:r>
          </a:p>
        </p:txBody>
      </p:sp>
      <p:sp>
        <p:nvSpPr>
          <p:cNvPr id="18" name="TextBox 17"/>
          <p:cNvSpPr txBox="1"/>
          <p:nvPr/>
        </p:nvSpPr>
        <p:spPr>
          <a:xfrm>
            <a:off x="5166360" y="2423160"/>
            <a:ext cx="1929384" cy="3291840"/>
          </a:xfrm>
          <a:prstGeom prst="rect">
            <a:avLst/>
          </a:prstGeom>
          <a:noFill/>
        </p:spPr>
        <p:txBody>
          <a:bodyPr wrap="square">
            <a:spAutoFit/>
          </a:bodyPr>
          <a:lstStyle/>
          <a:p>
            <a:pPr algn="l"/>
            <a:r>
              <a:rPr sz="1100" b="0" i="0">
                <a:solidFill>
                  <a:srgbClr val="C8D4EE"/>
                </a:solidFill>
              </a:rPr>
              <a:t>Monthly automated reports to Dave's first responder database. Segmented by location and price range - Oakland buyer sees Alameda County data, San Ramon buyer sees Contra Costa. Keeps Dave top of mind before the first responder decides it's time to move.</a:t>
            </a:r>
          </a:p>
        </p:txBody>
      </p:sp>
      <p:sp>
        <p:nvSpPr>
          <p:cNvPr id="19" name="Rectangle 18"/>
          <p:cNvSpPr/>
          <p:nvPr/>
        </p:nvSpPr>
        <p:spPr>
          <a:xfrm>
            <a:off x="7333488" y="1645920"/>
            <a:ext cx="2148840" cy="54864"/>
          </a:xfrm>
          <a:prstGeom prst="rect">
            <a:avLst/>
          </a:prstGeom>
          <a:solidFill>
            <a:srgbClr val="A05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33488"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43216" y="1810512"/>
            <a:ext cx="1929384" cy="594360"/>
          </a:xfrm>
          <a:prstGeom prst="rect">
            <a:avLst/>
          </a:prstGeom>
          <a:noFill/>
        </p:spPr>
        <p:txBody>
          <a:bodyPr wrap="square">
            <a:spAutoFit/>
          </a:bodyPr>
          <a:lstStyle/>
          <a:p>
            <a:pPr algn="l"/>
            <a:r>
              <a:rPr sz="1300" b="1" i="0">
                <a:solidFill>
                  <a:srgbClr val="A055FF"/>
                </a:solidFill>
              </a:rPr>
              <a:t>Peer Review
Automation</a:t>
            </a:r>
          </a:p>
        </p:txBody>
      </p:sp>
      <p:sp>
        <p:nvSpPr>
          <p:cNvPr id="22" name="TextBox 21"/>
          <p:cNvSpPr txBox="1"/>
          <p:nvPr/>
        </p:nvSpPr>
        <p:spPr>
          <a:xfrm>
            <a:off x="7443216" y="2423160"/>
            <a:ext cx="1929384" cy="3291840"/>
          </a:xfrm>
          <a:prstGeom prst="rect">
            <a:avLst/>
          </a:prstGeom>
          <a:noFill/>
        </p:spPr>
        <p:txBody>
          <a:bodyPr wrap="square">
            <a:spAutoFit/>
          </a:bodyPr>
          <a:lstStyle/>
          <a:p>
            <a:pPr algn="l"/>
            <a:r>
              <a:rPr sz="1100" b="0" i="0">
                <a:solidFill>
                  <a:srgbClr val="C8D4EE"/>
                </a:solidFill>
              </a:rPr>
              <a:t>30 days after closing, automated review request goes to the client. Specifically asks them to mention their profession in the review - because a review from 'Officer Martinez from OPD' converts 5x better with other first responders than a review from 'a satisfied buyer.'</a:t>
            </a:r>
          </a:p>
        </p:txBody>
      </p:sp>
      <p:sp>
        <p:nvSpPr>
          <p:cNvPr id="23" name="Rectangle 22"/>
          <p:cNvSpPr/>
          <p:nvPr/>
        </p:nvSpPr>
        <p:spPr>
          <a:xfrm>
            <a:off x="9610344" y="1645920"/>
            <a:ext cx="2148840" cy="54864"/>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0344" y="1700784"/>
            <a:ext cx="2148840" cy="420624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20072" y="1810512"/>
            <a:ext cx="1929384" cy="594360"/>
          </a:xfrm>
          <a:prstGeom prst="rect">
            <a:avLst/>
          </a:prstGeom>
          <a:noFill/>
        </p:spPr>
        <p:txBody>
          <a:bodyPr wrap="square">
            <a:spAutoFit/>
          </a:bodyPr>
          <a:lstStyle/>
          <a:p>
            <a:pPr algn="l"/>
            <a:r>
              <a:rPr sz="1300" b="1" i="0">
                <a:solidFill>
                  <a:srgbClr val="F5C518"/>
                </a:solidFill>
              </a:rPr>
              <a:t>Department
Referral Sequences</a:t>
            </a:r>
          </a:p>
        </p:txBody>
      </p:sp>
      <p:sp>
        <p:nvSpPr>
          <p:cNvPr id="26" name="TextBox 25"/>
          <p:cNvSpPr txBox="1"/>
          <p:nvPr/>
        </p:nvSpPr>
        <p:spPr>
          <a:xfrm>
            <a:off x="9720072" y="2423160"/>
            <a:ext cx="1929384" cy="3291840"/>
          </a:xfrm>
          <a:prstGeom prst="rect">
            <a:avLst/>
          </a:prstGeom>
          <a:noFill/>
        </p:spPr>
        <p:txBody>
          <a:bodyPr wrap="square">
            <a:spAutoFit/>
          </a:bodyPr>
          <a:lstStyle/>
          <a:p>
            <a:pPr algn="l"/>
            <a:r>
              <a:rPr sz="1100" b="0" i="0">
                <a:solidFill>
                  <a:srgbClr val="C8D4EE"/>
                </a:solidFill>
              </a:rPr>
              <a:t>When a first responder closes with Dave, an automated sequence goes out asking for referrals within their department. Pre-written message they can forward. Targets the exact community where Dave has the strongest trust advantage and where referrals cluster.</a:t>
            </a:r>
          </a:p>
        </p:txBody>
      </p:sp>
      <p:sp>
        <p:nvSpPr>
          <p:cNvPr id="27" name="Rectangle 26"/>
          <p:cNvSpPr/>
          <p:nvPr/>
        </p:nvSpPr>
        <p:spPr>
          <a:xfrm>
            <a:off x="502920" y="6126480"/>
            <a:ext cx="11183112" cy="4114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6172200"/>
            <a:ext cx="10972800" cy="320040"/>
          </a:xfrm>
          <a:prstGeom prst="rect">
            <a:avLst/>
          </a:prstGeom>
          <a:noFill/>
        </p:spPr>
        <p:txBody>
          <a:bodyPr wrap="square">
            <a:spAutoFit/>
          </a:bodyPr>
          <a:lstStyle/>
          <a:p>
            <a:pPr algn="l"/>
            <a:r>
              <a:rPr sz="1100" b="0" i="1">
                <a:solidFill>
                  <a:srgbClr val="F5C518"/>
                </a:solidFill>
              </a:rPr>
              <a:t>Dave built Interloan.com in 1999 before any agent was online. The instinct hasn't changed - it's just AI now instead of the internet.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FF4D4D"/>
                </a:solidFill>
              </a:rPr>
              <a:t>WHAT THIS IS COSTING YOU</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The Niche Is There. The Leads Are Leaking.</a:t>
            </a:r>
          </a:p>
        </p:txBody>
      </p:sp>
      <p:sp>
        <p:nvSpPr>
          <p:cNvPr id="6" name="Rectangle 5"/>
          <p:cNvSpPr/>
          <p:nvPr/>
        </p:nvSpPr>
        <p:spPr>
          <a:xfrm>
            <a:off x="502920" y="1234440"/>
            <a:ext cx="1097280" cy="36576"/>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No after-hours chat = every 2am first responder browser goes somewhere else</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Most first responders don't browse homes at noon. They browse after shifts, on nights and weekends. Without AI chat on thefirstresponders.org, every visitor who has a question at midnight gets silence. That lead goes to Zillow, Redfin, or a competitor who has a bot running.</a:t>
            </a:r>
          </a:p>
        </p:txBody>
      </p:sp>
      <p:sp>
        <p:nvSpPr>
          <p:cNvPr id="10" name="Rectangle 9"/>
          <p:cNvSpPr/>
          <p:nvPr/>
        </p:nvSpPr>
        <p:spPr>
          <a:xfrm>
            <a:off x="502920" y="251460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No automated follow-up = leads going cold on 48-hour shifts</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A paramedic who fills out a contact form on a Sunday morning and goes on shift won't be reachable until Tuesday. If Dave doesn't respond until Monday and they're unavailable until Tuesday, the lead is cold by Wednesday. Automated follow-up keeps the conversation alive regardless of shift schedule.</a:t>
            </a:r>
          </a:p>
        </p:txBody>
      </p:sp>
      <p:sp>
        <p:nvSpPr>
          <p:cNvPr id="13" name="Rectangle 12"/>
          <p:cNvSpPr/>
          <p:nvPr/>
        </p:nvSpPr>
        <p:spPr>
          <a:xfrm>
            <a:off x="502920" y="347472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Text testimonials don't compound — video and review automation do</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Dave has three genuine first responder testimonials on the site. That's more than most. But static text from 2024 doesn't grow. With automated post-closing review requests that ask clients to mention their profession and department, a new profession-specific testimonial gets added after every transaction. Video converts 3x better than text in trust-based niches.</a:t>
            </a:r>
          </a:p>
        </p:txBody>
      </p:sp>
      <p:sp>
        <p:nvSpPr>
          <p:cNvPr id="16" name="Rectangle 15"/>
          <p:cNvSpPr/>
          <p:nvPr/>
        </p:nvSpPr>
        <p:spPr>
          <a:xfrm>
            <a:off x="502920" y="443484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No market reports = out of sight before buyers are ready</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A first responder thinking about buying in 6 months is not actively searching right now. They're forming an opinion about which agent to call when the time comes. Monthly market reports keep Dave's name in front of that decision. Without them, whoever sends the most relevant content wins.</a:t>
            </a:r>
          </a:p>
        </p:txBody>
      </p:sp>
      <p:sp>
        <p:nvSpPr>
          <p:cNvPr id="19" name="Rectangle 18"/>
          <p:cNvSpPr/>
          <p:nvPr/>
        </p:nvSpPr>
        <p:spPr>
          <a:xfrm>
            <a:off x="502920" y="5394960"/>
            <a:ext cx="54864" cy="6400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No program landing pages = confused visitors who don't convert</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First responder home buying programs are genuinely confusing. Different programs for police vs. fire vs. EMS. Federal programs vs. CalHFA vs. local grants. A visitor who can't figure out what they qualify for will not schedule an appointment - they'll keep researching. Clear pages by profession with calculators turn that research into a call.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2ECC71"/>
                </a:solidFill>
              </a:rPr>
              <a:t>WHAT WE'D BUILD</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Genos AI for The First Responders</a:t>
            </a:r>
          </a:p>
        </p:txBody>
      </p:sp>
      <p:sp>
        <p:nvSpPr>
          <p:cNvPr id="6" name="Rectangle 5"/>
          <p:cNvSpPr/>
          <p:nvPr/>
        </p:nvSpPr>
        <p:spPr>
          <a:xfrm>
            <a:off x="502920" y="1234440"/>
            <a:ext cx="1097280" cy="36576"/>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55448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554480"/>
            <a:ext cx="10789920" cy="347472"/>
          </a:xfrm>
          <a:prstGeom prst="rect">
            <a:avLst/>
          </a:prstGeom>
          <a:noFill/>
        </p:spPr>
        <p:txBody>
          <a:bodyPr wrap="square">
            <a:spAutoFit/>
          </a:bodyPr>
          <a:lstStyle/>
          <a:p>
            <a:pPr algn="l"/>
            <a:r>
              <a:rPr sz="1400" b="1" i="0">
                <a:solidFill>
                  <a:srgbClr val="FFFFFF"/>
                </a:solidFill>
              </a:rPr>
              <a:t>thefirstresponders.org Full Rebuild</a:t>
            </a:r>
          </a:p>
        </p:txBody>
      </p:sp>
      <p:sp>
        <p:nvSpPr>
          <p:cNvPr id="9" name="TextBox 8"/>
          <p:cNvSpPr txBox="1"/>
          <p:nvPr/>
        </p:nvSpPr>
        <p:spPr>
          <a:xfrm>
            <a:off x="685800" y="1874520"/>
            <a:ext cx="10789920" cy="502920"/>
          </a:xfrm>
          <a:prstGeom prst="rect">
            <a:avLst/>
          </a:prstGeom>
          <a:noFill/>
        </p:spPr>
        <p:txBody>
          <a:bodyPr wrap="square">
            <a:spAutoFit/>
          </a:bodyPr>
          <a:lstStyle/>
          <a:p>
            <a:pPr algn="l"/>
            <a:r>
              <a:rPr sz="1200" b="0" i="0">
                <a:solidFill>
                  <a:srgbClr val="C8D4EE"/>
                </a:solidFill>
              </a:rPr>
              <a:t>Dedicated landing pages by profession: Police, Fire, EMS, Dispatch. Each explains the specific programs available for that role, with a calculator. Peer testimonial sections with names and departments visible. Dave's OPD background front and center, not buried in a bio.</a:t>
            </a:r>
          </a:p>
        </p:txBody>
      </p:sp>
      <p:sp>
        <p:nvSpPr>
          <p:cNvPr id="10" name="Rectangle 9"/>
          <p:cNvSpPr/>
          <p:nvPr/>
        </p:nvSpPr>
        <p:spPr>
          <a:xfrm>
            <a:off x="502920" y="251460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14600"/>
            <a:ext cx="10789920" cy="347472"/>
          </a:xfrm>
          <a:prstGeom prst="rect">
            <a:avLst/>
          </a:prstGeom>
          <a:noFill/>
        </p:spPr>
        <p:txBody>
          <a:bodyPr wrap="square">
            <a:spAutoFit/>
          </a:bodyPr>
          <a:lstStyle/>
          <a:p>
            <a:pPr algn="l"/>
            <a:r>
              <a:rPr sz="1400" b="1" i="0">
                <a:solidFill>
                  <a:srgbClr val="FFFFFF"/>
                </a:solidFill>
              </a:rPr>
              <a:t>AI Chat — 24/7 First Responder Intake</a:t>
            </a:r>
          </a:p>
        </p:txBody>
      </p:sp>
      <p:sp>
        <p:nvSpPr>
          <p:cNvPr id="12" name="TextBox 11"/>
          <p:cNvSpPr txBox="1"/>
          <p:nvPr/>
        </p:nvSpPr>
        <p:spPr>
          <a:xfrm>
            <a:off x="685800" y="2834640"/>
            <a:ext cx="10789920" cy="502920"/>
          </a:xfrm>
          <a:prstGeom prst="rect">
            <a:avLst/>
          </a:prstGeom>
          <a:noFill/>
        </p:spPr>
        <p:txBody>
          <a:bodyPr wrap="square">
            <a:spAutoFit/>
          </a:bodyPr>
          <a:lstStyle/>
          <a:p>
            <a:pPr algn="l"/>
            <a:r>
              <a:rPr sz="1200" b="0" i="0">
                <a:solidFill>
                  <a:srgbClr val="C8D4EE"/>
                </a:solidFill>
              </a:rPr>
              <a:t>Widget trained on all first responder home buying programs - CalHFA, Good Neighbor Next Door, East Bay grants, VA overlaps for vets. Captures inquiries at 2am on a Tuesday. Routes the conversation to Dave by morning with context already gathered.</a:t>
            </a:r>
          </a:p>
        </p:txBody>
      </p:sp>
      <p:sp>
        <p:nvSpPr>
          <p:cNvPr id="13" name="Rectangle 12"/>
          <p:cNvSpPr/>
          <p:nvPr/>
        </p:nvSpPr>
        <p:spPr>
          <a:xfrm>
            <a:off x="502920" y="347472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3474720"/>
            <a:ext cx="10789920" cy="347472"/>
          </a:xfrm>
          <a:prstGeom prst="rect">
            <a:avLst/>
          </a:prstGeom>
          <a:noFill/>
        </p:spPr>
        <p:txBody>
          <a:bodyPr wrap="square">
            <a:spAutoFit/>
          </a:bodyPr>
          <a:lstStyle/>
          <a:p>
            <a:pPr algn="l"/>
            <a:r>
              <a:rPr sz="1400" b="1" i="0">
                <a:solidFill>
                  <a:srgbClr val="FFFFFF"/>
                </a:solidFill>
              </a:rPr>
              <a:t>Lead Follow-Up &amp; Shift-Aware Sequences</a:t>
            </a:r>
          </a:p>
        </p:txBody>
      </p:sp>
      <p:sp>
        <p:nvSpPr>
          <p:cNvPr id="15" name="TextBox 14"/>
          <p:cNvSpPr txBox="1"/>
          <p:nvPr/>
        </p:nvSpPr>
        <p:spPr>
          <a:xfrm>
            <a:off x="685800" y="3794760"/>
            <a:ext cx="10789920" cy="502920"/>
          </a:xfrm>
          <a:prstGeom prst="rect">
            <a:avLst/>
          </a:prstGeom>
          <a:noFill/>
        </p:spPr>
        <p:txBody>
          <a:bodyPr wrap="square">
            <a:spAutoFit/>
          </a:bodyPr>
          <a:lstStyle/>
          <a:p>
            <a:pPr algn="l"/>
            <a:r>
              <a:rPr sz="1200" b="0" i="0">
                <a:solidFill>
                  <a:srgbClr val="C8D4EE"/>
                </a:solidFill>
              </a:rPr>
              <a:t>When a first responder submits a contact form, automated sequence activates. Acknowledgment within 30 minutes. Follow-up cadence adjusted for the schedule Dave's clients keep - not a corporate 9-to-5 email sequence. Keeps the lead warm through a 48-hour shift.</a:t>
            </a:r>
          </a:p>
        </p:txBody>
      </p:sp>
      <p:sp>
        <p:nvSpPr>
          <p:cNvPr id="16" name="Rectangle 15"/>
          <p:cNvSpPr/>
          <p:nvPr/>
        </p:nvSpPr>
        <p:spPr>
          <a:xfrm>
            <a:off x="502920" y="443484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434840"/>
            <a:ext cx="10789920" cy="347472"/>
          </a:xfrm>
          <a:prstGeom prst="rect">
            <a:avLst/>
          </a:prstGeom>
          <a:noFill/>
        </p:spPr>
        <p:txBody>
          <a:bodyPr wrap="square">
            <a:spAutoFit/>
          </a:bodyPr>
          <a:lstStyle/>
          <a:p>
            <a:pPr algn="l"/>
            <a:r>
              <a:rPr sz="1400" b="1" i="0">
                <a:solidFill>
                  <a:srgbClr val="FFFFFF"/>
                </a:solidFill>
              </a:rPr>
              <a:t>Automated Market Reports + Peer Review Automation</a:t>
            </a:r>
          </a:p>
        </p:txBody>
      </p:sp>
      <p:sp>
        <p:nvSpPr>
          <p:cNvPr id="18" name="TextBox 17"/>
          <p:cNvSpPr txBox="1"/>
          <p:nvPr/>
        </p:nvSpPr>
        <p:spPr>
          <a:xfrm>
            <a:off x="685800" y="4754880"/>
            <a:ext cx="10789920" cy="502920"/>
          </a:xfrm>
          <a:prstGeom prst="rect">
            <a:avLst/>
          </a:prstGeom>
          <a:noFill/>
        </p:spPr>
        <p:txBody>
          <a:bodyPr wrap="square">
            <a:spAutoFit/>
          </a:bodyPr>
          <a:lstStyle/>
          <a:p>
            <a:pPr algn="l"/>
            <a:r>
              <a:rPr sz="1200" b="0" i="0">
                <a:solidFill>
                  <a:srgbClr val="C8D4EE"/>
                </a:solidFill>
              </a:rPr>
              <a:t>Monthly market reports segmented by buyer location and price range, auto-sent to Dave's first responder database. Post-closing, automated review requests that specifically prompt clients to mention their profession and department - the testimonials that convert most in this niche.</a:t>
            </a:r>
          </a:p>
        </p:txBody>
      </p:sp>
      <p:sp>
        <p:nvSpPr>
          <p:cNvPr id="19" name="Rectangle 18"/>
          <p:cNvSpPr/>
          <p:nvPr/>
        </p:nvSpPr>
        <p:spPr>
          <a:xfrm>
            <a:off x="502920" y="5394960"/>
            <a:ext cx="54864" cy="6400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5394960"/>
            <a:ext cx="10789920" cy="347472"/>
          </a:xfrm>
          <a:prstGeom prst="rect">
            <a:avLst/>
          </a:prstGeom>
          <a:noFill/>
        </p:spPr>
        <p:txBody>
          <a:bodyPr wrap="square">
            <a:spAutoFit/>
          </a:bodyPr>
          <a:lstStyle/>
          <a:p>
            <a:pPr algn="l"/>
            <a:r>
              <a:rPr sz="1400" b="1" i="0">
                <a:solidFill>
                  <a:srgbClr val="FFFFFF"/>
                </a:solidFill>
              </a:rPr>
              <a:t>Department Referral Landing Pages</a:t>
            </a:r>
          </a:p>
        </p:txBody>
      </p:sp>
      <p:sp>
        <p:nvSpPr>
          <p:cNvPr id="21" name="TextBox 20"/>
          <p:cNvSpPr txBox="1"/>
          <p:nvPr/>
        </p:nvSpPr>
        <p:spPr>
          <a:xfrm>
            <a:off x="685800" y="5715000"/>
            <a:ext cx="10789920" cy="502920"/>
          </a:xfrm>
          <a:prstGeom prst="rect">
            <a:avLst/>
          </a:prstGeom>
          <a:noFill/>
        </p:spPr>
        <p:txBody>
          <a:bodyPr wrap="square">
            <a:spAutoFit/>
          </a:bodyPr>
          <a:lstStyle/>
          <a:p>
            <a:pPr algn="l"/>
            <a:r>
              <a:rPr sz="1200" b="0" i="0">
                <a:solidFill>
                  <a:srgbClr val="C8D4EE"/>
                </a:solidFill>
              </a:rPr>
              <a:t>Dedicated pages for specific departments - OPD, SFFD, Contra Costa EMS. When a satisfied client refers within their department, the referral link goes to a page that speaks directly to that department's specific programs. Warm transfer, not a cold website visit.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74320"/>
            <a:ext cx="10972800" cy="457200"/>
          </a:xfrm>
          <a:prstGeom prst="rect">
            <a:avLst/>
          </a:prstGeom>
          <a:noFill/>
        </p:spPr>
        <p:txBody>
          <a:bodyPr wrap="square">
            <a:spAutoFit/>
          </a:bodyPr>
          <a:lstStyle/>
          <a:p>
            <a:pPr algn="l"/>
            <a:r>
              <a:rPr sz="1100" b="1" i="0">
                <a:solidFill>
                  <a:srgbClr val="4F8EFF"/>
                </a:solidFill>
              </a:rPr>
              <a:t>90-DAY OUTCOMES</a:t>
            </a:r>
          </a:p>
        </p:txBody>
      </p:sp>
      <p:sp>
        <p:nvSpPr>
          <p:cNvPr id="5" name="TextBox 4"/>
          <p:cNvSpPr txBox="1"/>
          <p:nvPr/>
        </p:nvSpPr>
        <p:spPr>
          <a:xfrm>
            <a:off x="502920" y="640080"/>
            <a:ext cx="10972800" cy="640080"/>
          </a:xfrm>
          <a:prstGeom prst="rect">
            <a:avLst/>
          </a:prstGeom>
          <a:noFill/>
        </p:spPr>
        <p:txBody>
          <a:bodyPr wrap="square">
            <a:spAutoFit/>
          </a:bodyPr>
          <a:lstStyle/>
          <a:p>
            <a:pPr algn="l"/>
            <a:r>
              <a:rPr sz="3200" b="1" i="0">
                <a:solidFill>
                  <a:srgbClr val="FFFFFF"/>
                </a:solidFill>
              </a:rPr>
              <a:t>What Changes in 90 Days</a:t>
            </a:r>
          </a:p>
        </p:txBody>
      </p:sp>
      <p:sp>
        <p:nvSpPr>
          <p:cNvPr id="6" name="Rectangle 5"/>
          <p:cNvSpPr/>
          <p:nvPr/>
        </p:nvSpPr>
        <p:spPr>
          <a:xfrm>
            <a:off x="502920" y="1234440"/>
            <a:ext cx="1097280" cy="36576"/>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45920"/>
            <a:ext cx="3566160" cy="384048"/>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682496"/>
            <a:ext cx="3383280" cy="329184"/>
          </a:xfrm>
          <a:prstGeom prst="rect">
            <a:avLst/>
          </a:prstGeom>
          <a:noFill/>
        </p:spPr>
        <p:txBody>
          <a:bodyPr wrap="square">
            <a:spAutoFit/>
          </a:bodyPr>
          <a:lstStyle/>
          <a:p>
            <a:pPr algn="ctr"/>
            <a:r>
              <a:rPr sz="1400" b="1" i="0">
                <a:solidFill>
                  <a:srgbClr val="0A0F2E"/>
                </a:solidFill>
              </a:rPr>
              <a:t>MONTH 1</a:t>
            </a:r>
          </a:p>
        </p:txBody>
      </p:sp>
      <p:sp>
        <p:nvSpPr>
          <p:cNvPr id="9" name="Rectangle 8"/>
          <p:cNvSpPr/>
          <p:nvPr/>
        </p:nvSpPr>
        <p:spPr>
          <a:xfrm>
            <a:off x="502920"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148840"/>
            <a:ext cx="3291840" cy="4023360"/>
          </a:xfrm>
          <a:prstGeom prst="rect">
            <a:avLst/>
          </a:prstGeom>
          <a:noFill/>
        </p:spPr>
        <p:txBody>
          <a:bodyPr wrap="square">
            <a:spAutoFit/>
          </a:bodyPr>
          <a:lstStyle/>
          <a:p>
            <a:pPr algn="l">
              <a:spcAft>
                <a:spcPts val="600"/>
              </a:spcAft>
            </a:pPr>
            <a:r>
              <a:rPr sz="1000"/>
              <a:t>  </a:t>
            </a:r>
            <a:r>
              <a:rPr sz="1000" b="1">
                <a:solidFill>
                  <a:srgbClr val="F5C518"/>
                </a:solidFill>
              </a:rPr>
              <a:t>• </a:t>
            </a:r>
            <a:r>
              <a:rPr sz="1200">
                <a:solidFill>
                  <a:srgbClr val="C8D4EE"/>
                </a:solidFill>
              </a:rPr>
              <a:t>AI chat live on thefirstresponders.org - capturing 2am first responder browsers</a:t>
            </a:r>
          </a:p>
          <a:p>
            <a:pPr algn="l">
              <a:spcAft>
                <a:spcPts val="600"/>
              </a:spcAft>
            </a:pPr>
            <a:r>
              <a:rPr sz="1000"/>
              <a:t>  </a:t>
            </a:r>
            <a:r>
              <a:rPr sz="1000" b="1">
                <a:solidFill>
                  <a:srgbClr val="F5C518"/>
                </a:solidFill>
              </a:rPr>
              <a:t>• </a:t>
            </a:r>
            <a:r>
              <a:rPr sz="1200">
                <a:solidFill>
                  <a:srgbClr val="C8D4EE"/>
                </a:solidFill>
              </a:rPr>
              <a:t>Automated lead follow-up sequences active - no inquiry goes cold over a weekend shift</a:t>
            </a:r>
          </a:p>
          <a:p>
            <a:pPr algn="l">
              <a:spcAft>
                <a:spcPts val="600"/>
              </a:spcAft>
            </a:pPr>
            <a:r>
              <a:rPr sz="1000"/>
              <a:t>  </a:t>
            </a:r>
            <a:r>
              <a:rPr sz="1000" b="1">
                <a:solidFill>
                  <a:srgbClr val="F5C518"/>
                </a:solidFill>
              </a:rPr>
              <a:t>• </a:t>
            </a:r>
            <a:r>
              <a:rPr sz="1200">
                <a:solidFill>
                  <a:srgbClr val="C8D4EE"/>
                </a:solidFill>
              </a:rPr>
              <a:t>Market report pipeline set up - first automated send to Dave's FR database</a:t>
            </a:r>
          </a:p>
          <a:p>
            <a:pPr algn="l"/>
            <a:r>
              <a:rPr sz="1000"/>
              <a:t>  </a:t>
            </a:r>
            <a:r>
              <a:rPr sz="1000" b="1">
                <a:solidFill>
                  <a:srgbClr val="F5C518"/>
                </a:solidFill>
              </a:rPr>
              <a:t>• </a:t>
            </a:r>
            <a:r>
              <a:rPr sz="1200">
                <a:solidFill>
                  <a:srgbClr val="C8D4EE"/>
                </a:solidFill>
              </a:rPr>
              <a:t>Site rebuild begins - profession-specific pages and program calculators in design</a:t>
            </a:r>
          </a:p>
        </p:txBody>
      </p:sp>
      <p:sp>
        <p:nvSpPr>
          <p:cNvPr id="11" name="Rectangle 10"/>
          <p:cNvSpPr/>
          <p:nvPr/>
        </p:nvSpPr>
        <p:spPr>
          <a:xfrm>
            <a:off x="4233672" y="1645920"/>
            <a:ext cx="3566160" cy="384048"/>
          </a:xfrm>
          <a:prstGeom prst="rect">
            <a:avLst/>
          </a:prstGeom>
          <a:solidFill>
            <a:srgbClr val="4F8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5112" y="1682496"/>
            <a:ext cx="3383280" cy="329184"/>
          </a:xfrm>
          <a:prstGeom prst="rect">
            <a:avLst/>
          </a:prstGeom>
          <a:noFill/>
        </p:spPr>
        <p:txBody>
          <a:bodyPr wrap="square">
            <a:spAutoFit/>
          </a:bodyPr>
          <a:lstStyle/>
          <a:p>
            <a:pPr algn="ctr"/>
            <a:r>
              <a:rPr sz="1400" b="1" i="0">
                <a:solidFill>
                  <a:srgbClr val="0A0F2E"/>
                </a:solidFill>
              </a:rPr>
              <a:t>MONTH 2</a:t>
            </a:r>
          </a:p>
        </p:txBody>
      </p:sp>
      <p:sp>
        <p:nvSpPr>
          <p:cNvPr id="13" name="Rectangle 12"/>
          <p:cNvSpPr/>
          <p:nvPr/>
        </p:nvSpPr>
        <p:spPr>
          <a:xfrm>
            <a:off x="4233672"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70832" y="2148840"/>
            <a:ext cx="3291840" cy="4023360"/>
          </a:xfrm>
          <a:prstGeom prst="rect">
            <a:avLst/>
          </a:prstGeom>
          <a:noFill/>
        </p:spPr>
        <p:txBody>
          <a:bodyPr wrap="square">
            <a:spAutoFit/>
          </a:bodyPr>
          <a:lstStyle/>
          <a:p>
            <a:pPr algn="l">
              <a:spcAft>
                <a:spcPts val="600"/>
              </a:spcAft>
            </a:pPr>
            <a:r>
              <a:rPr sz="1000"/>
              <a:t>  </a:t>
            </a:r>
            <a:r>
              <a:rPr sz="1000" b="1">
                <a:solidFill>
                  <a:srgbClr val="4F8EFF"/>
                </a:solidFill>
              </a:rPr>
              <a:t>• </a:t>
            </a:r>
            <a:r>
              <a:rPr sz="1200">
                <a:solidFill>
                  <a:srgbClr val="C8D4EE"/>
                </a:solidFill>
              </a:rPr>
              <a:t>thefirstresponders.org live with profession-specific pages (Police/Fire/EMS/Dispatch)</a:t>
            </a:r>
          </a:p>
          <a:p>
            <a:pPr algn="l">
              <a:spcAft>
                <a:spcPts val="600"/>
              </a:spcAft>
            </a:pPr>
            <a:r>
              <a:rPr sz="1000"/>
              <a:t>  </a:t>
            </a:r>
            <a:r>
              <a:rPr sz="1000" b="1">
                <a:solidFill>
                  <a:srgbClr val="4F8EFF"/>
                </a:solidFill>
              </a:rPr>
              <a:t>• </a:t>
            </a:r>
            <a:r>
              <a:rPr sz="1200">
                <a:solidFill>
                  <a:srgbClr val="C8D4EE"/>
                </a:solidFill>
              </a:rPr>
              <a:t>Peer review automation running - post-closing prompts generating profession-identified reviews</a:t>
            </a:r>
          </a:p>
          <a:p>
            <a:pPr algn="l">
              <a:spcAft>
                <a:spcPts val="600"/>
              </a:spcAft>
            </a:pPr>
            <a:r>
              <a:rPr sz="1000"/>
              <a:t>  </a:t>
            </a:r>
            <a:r>
              <a:rPr sz="1000" b="1">
                <a:solidFill>
                  <a:srgbClr val="4F8EFF"/>
                </a:solidFill>
              </a:rPr>
              <a:t>• </a:t>
            </a:r>
            <a:r>
              <a:rPr sz="1200">
                <a:solidFill>
                  <a:srgbClr val="C8D4EE"/>
                </a:solidFill>
              </a:rPr>
              <a:t>Department referral pages live for OPD, SFFD, Contra Costa EMS</a:t>
            </a:r>
          </a:p>
          <a:p>
            <a:pPr algn="l"/>
            <a:r>
              <a:rPr sz="1000"/>
              <a:t>  </a:t>
            </a:r>
            <a:r>
              <a:rPr sz="1000" b="1">
                <a:solidFill>
                  <a:srgbClr val="4F8EFF"/>
                </a:solidFill>
              </a:rPr>
              <a:t>• </a:t>
            </a:r>
            <a:r>
              <a:rPr sz="1200">
                <a:solidFill>
                  <a:srgbClr val="C8D4EE"/>
                </a:solidFill>
              </a:rPr>
              <a:t>Second market report send - tracking opens and click-throughs by segment</a:t>
            </a:r>
          </a:p>
        </p:txBody>
      </p:sp>
      <p:sp>
        <p:nvSpPr>
          <p:cNvPr id="15" name="Rectangle 14"/>
          <p:cNvSpPr/>
          <p:nvPr/>
        </p:nvSpPr>
        <p:spPr>
          <a:xfrm>
            <a:off x="7964424" y="1645920"/>
            <a:ext cx="3566160" cy="38404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1682496"/>
            <a:ext cx="3383280" cy="329184"/>
          </a:xfrm>
          <a:prstGeom prst="rect">
            <a:avLst/>
          </a:prstGeom>
          <a:noFill/>
        </p:spPr>
        <p:txBody>
          <a:bodyPr wrap="square">
            <a:spAutoFit/>
          </a:bodyPr>
          <a:lstStyle/>
          <a:p>
            <a:pPr algn="ctr"/>
            <a:r>
              <a:rPr sz="1400" b="1" i="0">
                <a:solidFill>
                  <a:srgbClr val="0A0F2E"/>
                </a:solidFill>
              </a:rPr>
              <a:t>MONTH 3</a:t>
            </a:r>
          </a:p>
        </p:txBody>
      </p:sp>
      <p:sp>
        <p:nvSpPr>
          <p:cNvPr id="17" name="Rectangle 16"/>
          <p:cNvSpPr/>
          <p:nvPr/>
        </p:nvSpPr>
        <p:spPr>
          <a:xfrm>
            <a:off x="7964424" y="2029968"/>
            <a:ext cx="3566160" cy="429768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01584" y="2148840"/>
            <a:ext cx="3291840" cy="4023360"/>
          </a:xfrm>
          <a:prstGeom prst="rect">
            <a:avLst/>
          </a:prstGeom>
          <a:noFill/>
        </p:spPr>
        <p:txBody>
          <a:bodyPr wrap="square">
            <a:spAutoFit/>
          </a:bodyPr>
          <a:lstStyle/>
          <a:p>
            <a:pPr algn="l">
              <a:spcAft>
                <a:spcPts val="600"/>
              </a:spcAft>
            </a:pPr>
            <a:r>
              <a:rPr sz="1000"/>
              <a:t>  </a:t>
            </a:r>
            <a:r>
              <a:rPr sz="1000" b="1">
                <a:solidFill>
                  <a:srgbClr val="2ECC71"/>
                </a:solidFill>
              </a:rPr>
              <a:t>• </a:t>
            </a:r>
            <a:r>
              <a:rPr sz="1200">
                <a:solidFill>
                  <a:srgbClr val="C8D4EE"/>
                </a:solidFill>
              </a:rPr>
              <a:t>AI chat conversion data: after-hours inquiries captured vs. prior period</a:t>
            </a:r>
          </a:p>
          <a:p>
            <a:pPr algn="l">
              <a:spcAft>
                <a:spcPts val="600"/>
              </a:spcAft>
            </a:pPr>
            <a:r>
              <a:rPr sz="1000"/>
              <a:t>  </a:t>
            </a:r>
            <a:r>
              <a:rPr sz="1000" b="1">
                <a:solidFill>
                  <a:srgbClr val="2ECC71"/>
                </a:solidFill>
              </a:rPr>
              <a:t>• </a:t>
            </a:r>
            <a:r>
              <a:rPr sz="1200">
                <a:solidFill>
                  <a:srgbClr val="C8D4EE"/>
                </a:solidFill>
              </a:rPr>
              <a:t>Review velocity measurably up with profession-specific peer testimonials accumulating</a:t>
            </a:r>
          </a:p>
          <a:p>
            <a:pPr algn="l">
              <a:spcAft>
                <a:spcPts val="600"/>
              </a:spcAft>
            </a:pPr>
            <a:r>
              <a:rPr sz="1000"/>
              <a:t>  </a:t>
            </a:r>
            <a:r>
              <a:rPr sz="1000" b="1">
                <a:solidFill>
                  <a:srgbClr val="2ECC71"/>
                </a:solidFill>
              </a:rPr>
              <a:t>• </a:t>
            </a:r>
            <a:r>
              <a:rPr sz="1200">
                <a:solidFill>
                  <a:srgbClr val="C8D4EE"/>
                </a:solidFill>
              </a:rPr>
              <a:t>Referral sequences driving qualified leads from within first responder departments</a:t>
            </a:r>
          </a:p>
          <a:p>
            <a:pPr algn="l"/>
            <a:r>
              <a:rPr sz="1000"/>
              <a:t>  </a:t>
            </a:r>
            <a:r>
              <a:rPr sz="1000" b="1">
                <a:solidFill>
                  <a:srgbClr val="2ECC71"/>
                </a:solidFill>
              </a:rPr>
              <a:t>• </a:t>
            </a:r>
            <a:r>
              <a:rPr sz="1200">
                <a:solidFill>
                  <a:srgbClr val="C8D4EE"/>
                </a:solidFill>
              </a:rPr>
              <a:t>Market reports building top-of-mind presence with the 6-month-out buyer pool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0" y="0"/>
            <a:ext cx="5330952" cy="68580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74320"/>
            <a:ext cx="5943600" cy="457200"/>
          </a:xfrm>
          <a:prstGeom prst="rect">
            <a:avLst/>
          </a:prstGeom>
          <a:noFill/>
        </p:spPr>
        <p:txBody>
          <a:bodyPr wrap="square">
            <a:spAutoFit/>
          </a:bodyPr>
          <a:lstStyle/>
          <a:p>
            <a:pPr algn="l"/>
            <a:r>
              <a:rPr sz="1100" b="1" i="0">
                <a:solidFill>
                  <a:srgbClr val="F5C518"/>
                </a:solidFill>
              </a:rPr>
              <a:t>NEXT STEPS</a:t>
            </a:r>
          </a:p>
        </p:txBody>
      </p:sp>
      <p:sp>
        <p:nvSpPr>
          <p:cNvPr id="6" name="TextBox 5"/>
          <p:cNvSpPr txBox="1"/>
          <p:nvPr/>
        </p:nvSpPr>
        <p:spPr>
          <a:xfrm>
            <a:off x="502920" y="731520"/>
            <a:ext cx="6217920" cy="1828800"/>
          </a:xfrm>
          <a:prstGeom prst="rect">
            <a:avLst/>
          </a:prstGeom>
          <a:noFill/>
        </p:spPr>
        <p:txBody>
          <a:bodyPr wrap="square">
            <a:spAutoFit/>
          </a:bodyPr>
          <a:lstStyle/>
          <a:p>
            <a:pPr algn="l"/>
            <a:r>
              <a:rPr sz="4800" b="1" i="0">
                <a:solidFill>
                  <a:srgbClr val="FFFFFF"/>
                </a:solidFill>
              </a:rPr>
              <a:t>Let's Talk for
15 Minutes.</a:t>
            </a:r>
          </a:p>
        </p:txBody>
      </p:sp>
      <p:sp>
        <p:nvSpPr>
          <p:cNvPr id="7" name="Rectangle 6"/>
          <p:cNvSpPr/>
          <p:nvPr/>
        </p:nvSpPr>
        <p:spPr>
          <a:xfrm>
            <a:off x="502920" y="2560320"/>
            <a:ext cx="228600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788920"/>
            <a:ext cx="5943600" cy="731520"/>
          </a:xfrm>
          <a:prstGeom prst="rect">
            <a:avLst/>
          </a:prstGeom>
          <a:noFill/>
        </p:spPr>
        <p:txBody>
          <a:bodyPr wrap="square">
            <a:spAutoFit/>
          </a:bodyPr>
          <a:lstStyle/>
          <a:p>
            <a:pPr algn="l"/>
            <a:r>
              <a:rPr sz="1400" b="0" i="0">
                <a:solidFill>
                  <a:srgbClr val="C8D4EE"/>
                </a:solidFill>
              </a:rPr>
              <a:t>No pitch deck required. Reply or book a call directly.
We'll walk through what fits The First Responders program.</a:t>
            </a:r>
          </a:p>
        </p:txBody>
      </p:sp>
      <p:sp>
        <p:nvSpPr>
          <p:cNvPr id="9" name="TextBox 8"/>
          <p:cNvSpPr txBox="1"/>
          <p:nvPr/>
        </p:nvSpPr>
        <p:spPr>
          <a:xfrm>
            <a:off x="502920" y="3611880"/>
            <a:ext cx="5943600" cy="1828800"/>
          </a:xfrm>
          <a:prstGeom prst="rect">
            <a:avLst/>
          </a:prstGeom>
          <a:noFill/>
        </p:spPr>
        <p:txBody>
          <a:bodyPr wrap="square">
            <a:spAutoFit/>
          </a:bodyPr>
          <a:lstStyle/>
          <a:p>
            <a:pPr algn="l">
              <a:spcAft>
                <a:spcPts val="600"/>
              </a:spcAft>
            </a:pPr>
            <a:r>
              <a:rPr sz="1200"/>
              <a:t>  </a:t>
            </a:r>
            <a:r>
              <a:rPr sz="1200" b="1">
                <a:solidFill>
                  <a:srgbClr val="F5C518"/>
                </a:solidFill>
              </a:rPr>
              <a:t>• </a:t>
            </a:r>
            <a:r>
              <a:rPr sz="1400">
                <a:solidFill>
                  <a:srgbClr val="FFFFFF"/>
                </a:solidFill>
              </a:rPr>
              <a:t>Reply to this email - we'll set up a time</a:t>
            </a:r>
          </a:p>
          <a:p>
            <a:pPr algn="l">
              <a:spcAft>
                <a:spcPts val="600"/>
              </a:spcAft>
            </a:pPr>
            <a:r>
              <a:rPr sz="1200"/>
              <a:t>  </a:t>
            </a:r>
            <a:r>
              <a:rPr sz="1200" b="1">
                <a:solidFill>
                  <a:srgbClr val="F5C518"/>
                </a:solidFill>
              </a:rPr>
              <a:t>• </a:t>
            </a:r>
            <a:r>
              <a:rPr sz="1400">
                <a:solidFill>
                  <a:srgbClr val="FFFFFF"/>
                </a:solidFill>
              </a:rPr>
              <a:t>Book directly: www.genosai.tech/call</a:t>
            </a:r>
          </a:p>
          <a:p>
            <a:pPr algn="l">
              <a:spcAft>
                <a:spcPts val="600"/>
              </a:spcAft>
            </a:pPr>
            <a:r>
              <a:rPr sz="1200"/>
              <a:t>  </a:t>
            </a:r>
            <a:r>
              <a:rPr sz="1200" b="1">
                <a:solidFill>
                  <a:srgbClr val="F5C518"/>
                </a:solidFill>
              </a:rPr>
              <a:t>• </a:t>
            </a:r>
            <a:r>
              <a:rPr sz="1400">
                <a:solidFill>
                  <a:srgbClr val="FFFFFF"/>
                </a:solidFill>
              </a:rPr>
              <a:t>Walk through the audit findings in 15 minutes</a:t>
            </a:r>
          </a:p>
          <a:p>
            <a:pPr algn="l"/>
            <a:r>
              <a:rPr sz="1200"/>
              <a:t>  </a:t>
            </a:r>
            <a:r>
              <a:rPr sz="1200" b="1">
                <a:solidFill>
                  <a:srgbClr val="F5C518"/>
                </a:solidFill>
              </a:rPr>
              <a:t>• </a:t>
            </a:r>
            <a:r>
              <a:rPr sz="1400">
                <a:solidFill>
                  <a:srgbClr val="FFFFFF"/>
                </a:solidFill>
              </a:rPr>
              <a:t>You decide what, if anything, makes sense to move on</a:t>
            </a:r>
          </a:p>
        </p:txBody>
      </p:sp>
      <p:sp>
        <p:nvSpPr>
          <p:cNvPr id="10" name="Rectangle 9"/>
          <p:cNvSpPr/>
          <p:nvPr/>
        </p:nvSpPr>
        <p:spPr>
          <a:xfrm>
            <a:off x="0" y="5943600"/>
            <a:ext cx="6858000" cy="914400"/>
          </a:xfrm>
          <a:prstGeom prst="rect">
            <a:avLst/>
          </a:prstGeom>
          <a:solidFill>
            <a:srgbClr val="101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6035040"/>
            <a:ext cx="6217920" cy="457200"/>
          </a:xfrm>
          <a:prstGeom prst="rect">
            <a:avLst/>
          </a:prstGeom>
          <a:noFill/>
        </p:spPr>
        <p:txBody>
          <a:bodyPr wrap="square">
            <a:spAutoFit/>
          </a:bodyPr>
          <a:lstStyle/>
          <a:p>
            <a:pPr algn="l"/>
            <a:r>
              <a:rPr sz="1200" b="0" i="0">
                <a:solidFill>
                  <a:srgbClr val="8A9BBB"/>
                </a:solidFill>
              </a:rPr>
              <a:t>Rohan Malik  |  CEO, Genos AI  |  hello@genosai.tech  |  +91 638-714-2699  |  www.genosai.tech</a:t>
            </a:r>
          </a:p>
        </p:txBody>
      </p:sp>
      <p:sp>
        <p:nvSpPr>
          <p:cNvPr id="12" name="TextBox 11"/>
          <p:cNvSpPr txBox="1"/>
          <p:nvPr/>
        </p:nvSpPr>
        <p:spPr>
          <a:xfrm>
            <a:off x="7178040" y="548640"/>
            <a:ext cx="4572000" cy="822960"/>
          </a:xfrm>
          <a:prstGeom prst="rect">
            <a:avLst/>
          </a:prstGeom>
          <a:noFill/>
        </p:spPr>
        <p:txBody>
          <a:bodyPr wrap="square">
            <a:spAutoFit/>
          </a:bodyPr>
          <a:lstStyle/>
          <a:p>
            <a:pPr algn="l"/>
            <a:r>
              <a:rPr sz="1800" b="1" i="0">
                <a:solidFill>
                  <a:srgbClr val="F5C518"/>
                </a:solidFill>
              </a:rPr>
              <a:t>WHAT WE BUILD FOR
FIRST RESPONDERS</a:t>
            </a:r>
          </a:p>
        </p:txBody>
      </p:sp>
      <p:sp>
        <p:nvSpPr>
          <p:cNvPr id="13" name="Rectangle 12"/>
          <p:cNvSpPr/>
          <p:nvPr/>
        </p:nvSpPr>
        <p:spPr>
          <a:xfrm>
            <a:off x="502920" y="1325880"/>
            <a:ext cx="1097280" cy="36576"/>
          </a:xfrm>
          <a:prstGeom prst="rect">
            <a:avLst/>
          </a:prstGeom>
          <a:solidFill>
            <a:srgbClr val="F5C5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178040" y="146304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23760" y="1508760"/>
            <a:ext cx="1280160" cy="292608"/>
          </a:xfrm>
          <a:prstGeom prst="rect">
            <a:avLst/>
          </a:prstGeom>
          <a:noFill/>
        </p:spPr>
        <p:txBody>
          <a:bodyPr wrap="square">
            <a:spAutoFit/>
          </a:bodyPr>
          <a:lstStyle/>
          <a:p>
            <a:pPr algn="l"/>
            <a:r>
              <a:rPr sz="1000" b="1" i="0">
                <a:solidFill>
                  <a:srgbClr val="F5C518"/>
                </a:solidFill>
              </a:rPr>
              <a:t>Site Rebuild</a:t>
            </a:r>
          </a:p>
        </p:txBody>
      </p:sp>
      <p:sp>
        <p:nvSpPr>
          <p:cNvPr id="16" name="TextBox 15"/>
          <p:cNvSpPr txBox="1"/>
          <p:nvPr/>
        </p:nvSpPr>
        <p:spPr>
          <a:xfrm>
            <a:off x="8686800" y="1508760"/>
            <a:ext cx="3291840" cy="594360"/>
          </a:xfrm>
          <a:prstGeom prst="rect">
            <a:avLst/>
          </a:prstGeom>
          <a:noFill/>
        </p:spPr>
        <p:txBody>
          <a:bodyPr wrap="square">
            <a:spAutoFit/>
          </a:bodyPr>
          <a:lstStyle/>
          <a:p>
            <a:pPr algn="l"/>
            <a:r>
              <a:rPr sz="1100" b="0" i="0">
                <a:solidFill>
                  <a:srgbClr val="C8D4EE"/>
                </a:solidFill>
              </a:rPr>
              <a:t>Profession pages: Police / Fire / EMS / Dispatch + calculators</a:t>
            </a:r>
          </a:p>
        </p:txBody>
      </p:sp>
      <p:sp>
        <p:nvSpPr>
          <p:cNvPr id="17" name="Rectangle 16"/>
          <p:cNvSpPr/>
          <p:nvPr/>
        </p:nvSpPr>
        <p:spPr>
          <a:xfrm>
            <a:off x="7178040" y="2267712"/>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60" y="2313432"/>
            <a:ext cx="1280160" cy="292608"/>
          </a:xfrm>
          <a:prstGeom prst="rect">
            <a:avLst/>
          </a:prstGeom>
          <a:noFill/>
        </p:spPr>
        <p:txBody>
          <a:bodyPr wrap="square">
            <a:spAutoFit/>
          </a:bodyPr>
          <a:lstStyle/>
          <a:p>
            <a:pPr algn="l"/>
            <a:r>
              <a:rPr sz="1000" b="1" i="0">
                <a:solidFill>
                  <a:srgbClr val="F5C518"/>
                </a:solidFill>
              </a:rPr>
              <a:t>AI Chat</a:t>
            </a:r>
          </a:p>
        </p:txBody>
      </p:sp>
      <p:sp>
        <p:nvSpPr>
          <p:cNvPr id="19" name="TextBox 18"/>
          <p:cNvSpPr txBox="1"/>
          <p:nvPr/>
        </p:nvSpPr>
        <p:spPr>
          <a:xfrm>
            <a:off x="8686800" y="2313432"/>
            <a:ext cx="3291840" cy="594360"/>
          </a:xfrm>
          <a:prstGeom prst="rect">
            <a:avLst/>
          </a:prstGeom>
          <a:noFill/>
        </p:spPr>
        <p:txBody>
          <a:bodyPr wrap="square">
            <a:spAutoFit/>
          </a:bodyPr>
          <a:lstStyle/>
          <a:p>
            <a:pPr algn="l"/>
            <a:r>
              <a:rPr sz="1100" b="0" i="0">
                <a:solidFill>
                  <a:srgbClr val="C8D4EE"/>
                </a:solidFill>
              </a:rPr>
              <a:t>24/7 first responder program intake - catches the 2am browser</a:t>
            </a:r>
          </a:p>
        </p:txBody>
      </p:sp>
      <p:sp>
        <p:nvSpPr>
          <p:cNvPr id="20" name="Rectangle 19"/>
          <p:cNvSpPr/>
          <p:nvPr/>
        </p:nvSpPr>
        <p:spPr>
          <a:xfrm>
            <a:off x="7178040" y="3072384"/>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23760" y="3118104"/>
            <a:ext cx="1280160" cy="292608"/>
          </a:xfrm>
          <a:prstGeom prst="rect">
            <a:avLst/>
          </a:prstGeom>
          <a:noFill/>
        </p:spPr>
        <p:txBody>
          <a:bodyPr wrap="square">
            <a:spAutoFit/>
          </a:bodyPr>
          <a:lstStyle/>
          <a:p>
            <a:pPr algn="l"/>
            <a:r>
              <a:rPr sz="1000" b="1" i="0">
                <a:solidFill>
                  <a:srgbClr val="F5C518"/>
                </a:solidFill>
              </a:rPr>
              <a:t>Follow-Up</a:t>
            </a:r>
          </a:p>
        </p:txBody>
      </p:sp>
      <p:sp>
        <p:nvSpPr>
          <p:cNvPr id="22" name="TextBox 21"/>
          <p:cNvSpPr txBox="1"/>
          <p:nvPr/>
        </p:nvSpPr>
        <p:spPr>
          <a:xfrm>
            <a:off x="8686800" y="3118104"/>
            <a:ext cx="3291840" cy="594360"/>
          </a:xfrm>
          <a:prstGeom prst="rect">
            <a:avLst/>
          </a:prstGeom>
          <a:noFill/>
        </p:spPr>
        <p:txBody>
          <a:bodyPr wrap="square">
            <a:spAutoFit/>
          </a:bodyPr>
          <a:lstStyle/>
          <a:p>
            <a:pPr algn="l"/>
            <a:r>
              <a:rPr sz="1100" b="0" i="0">
                <a:solidFill>
                  <a:srgbClr val="C8D4EE"/>
                </a:solidFill>
              </a:rPr>
              <a:t>Shift-aware sequences - no lead cold over a 48-hour shift</a:t>
            </a:r>
          </a:p>
        </p:txBody>
      </p:sp>
      <p:sp>
        <p:nvSpPr>
          <p:cNvPr id="23" name="Rectangle 22"/>
          <p:cNvSpPr/>
          <p:nvPr/>
        </p:nvSpPr>
        <p:spPr>
          <a:xfrm>
            <a:off x="7178040" y="3877056"/>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23760" y="3922776"/>
            <a:ext cx="1280160" cy="292608"/>
          </a:xfrm>
          <a:prstGeom prst="rect">
            <a:avLst/>
          </a:prstGeom>
          <a:noFill/>
        </p:spPr>
        <p:txBody>
          <a:bodyPr wrap="square">
            <a:spAutoFit/>
          </a:bodyPr>
          <a:lstStyle/>
          <a:p>
            <a:pPr algn="l"/>
            <a:r>
              <a:rPr sz="1000" b="1" i="0">
                <a:solidFill>
                  <a:srgbClr val="F5C518"/>
                </a:solidFill>
              </a:rPr>
              <a:t>Market Reports</a:t>
            </a:r>
          </a:p>
        </p:txBody>
      </p:sp>
      <p:sp>
        <p:nvSpPr>
          <p:cNvPr id="25" name="TextBox 24"/>
          <p:cNvSpPr txBox="1"/>
          <p:nvPr/>
        </p:nvSpPr>
        <p:spPr>
          <a:xfrm>
            <a:off x="8686800" y="3922776"/>
            <a:ext cx="3291840" cy="594360"/>
          </a:xfrm>
          <a:prstGeom prst="rect">
            <a:avLst/>
          </a:prstGeom>
          <a:noFill/>
        </p:spPr>
        <p:txBody>
          <a:bodyPr wrap="square">
            <a:spAutoFit/>
          </a:bodyPr>
          <a:lstStyle/>
          <a:p>
            <a:pPr algn="l"/>
            <a:r>
              <a:rPr sz="1100" b="0" i="0">
                <a:solidFill>
                  <a:srgbClr val="C8D4EE"/>
                </a:solidFill>
              </a:rPr>
              <a:t>Monthly auto-send to Dave's first responder database</a:t>
            </a:r>
          </a:p>
        </p:txBody>
      </p:sp>
      <p:sp>
        <p:nvSpPr>
          <p:cNvPr id="26" name="Rectangle 25"/>
          <p:cNvSpPr/>
          <p:nvPr/>
        </p:nvSpPr>
        <p:spPr>
          <a:xfrm>
            <a:off x="7178040" y="4681728"/>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0" y="4727448"/>
            <a:ext cx="1280160" cy="292608"/>
          </a:xfrm>
          <a:prstGeom prst="rect">
            <a:avLst/>
          </a:prstGeom>
          <a:noFill/>
        </p:spPr>
        <p:txBody>
          <a:bodyPr wrap="square">
            <a:spAutoFit/>
          </a:bodyPr>
          <a:lstStyle/>
          <a:p>
            <a:pPr algn="l"/>
            <a:r>
              <a:rPr sz="1000" b="1" i="0">
                <a:solidFill>
                  <a:srgbClr val="F5C518"/>
                </a:solidFill>
              </a:rPr>
              <a:t>Peer Reviews</a:t>
            </a:r>
          </a:p>
        </p:txBody>
      </p:sp>
      <p:sp>
        <p:nvSpPr>
          <p:cNvPr id="28" name="TextBox 27"/>
          <p:cNvSpPr txBox="1"/>
          <p:nvPr/>
        </p:nvSpPr>
        <p:spPr>
          <a:xfrm>
            <a:off x="8686800" y="4727448"/>
            <a:ext cx="3291840" cy="594360"/>
          </a:xfrm>
          <a:prstGeom prst="rect">
            <a:avLst/>
          </a:prstGeom>
          <a:noFill/>
        </p:spPr>
        <p:txBody>
          <a:bodyPr wrap="square">
            <a:spAutoFit/>
          </a:bodyPr>
          <a:lstStyle/>
          <a:p>
            <a:pPr algn="l"/>
            <a:r>
              <a:rPr sz="1100" b="0" i="0">
                <a:solidFill>
                  <a:srgbClr val="C8D4EE"/>
                </a:solidFill>
              </a:rPr>
              <a:t>Post-closing automation prompts profession-identified testimonials</a:t>
            </a:r>
          </a:p>
        </p:txBody>
      </p:sp>
      <p:sp>
        <p:nvSpPr>
          <p:cNvPr id="29" name="Rectangle 28"/>
          <p:cNvSpPr/>
          <p:nvPr/>
        </p:nvSpPr>
        <p:spPr>
          <a:xfrm>
            <a:off x="7178040" y="5486400"/>
            <a:ext cx="1371600" cy="658368"/>
          </a:xfrm>
          <a:prstGeom prst="rect">
            <a:avLst/>
          </a:prstGeom>
          <a:solidFill>
            <a:srgbClr val="0A0F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223760" y="5532120"/>
            <a:ext cx="1280160" cy="292608"/>
          </a:xfrm>
          <a:prstGeom prst="rect">
            <a:avLst/>
          </a:prstGeom>
          <a:noFill/>
        </p:spPr>
        <p:txBody>
          <a:bodyPr wrap="square">
            <a:spAutoFit/>
          </a:bodyPr>
          <a:lstStyle/>
          <a:p>
            <a:pPr algn="l"/>
            <a:r>
              <a:rPr sz="1000" b="1" i="0">
                <a:solidFill>
                  <a:srgbClr val="F5C518"/>
                </a:solidFill>
              </a:rPr>
              <a:t>Referrals</a:t>
            </a:r>
          </a:p>
        </p:txBody>
      </p:sp>
      <p:sp>
        <p:nvSpPr>
          <p:cNvPr id="31" name="TextBox 30"/>
          <p:cNvSpPr txBox="1"/>
          <p:nvPr/>
        </p:nvSpPr>
        <p:spPr>
          <a:xfrm>
            <a:off x="8686800" y="5532120"/>
            <a:ext cx="3291840" cy="594360"/>
          </a:xfrm>
          <a:prstGeom prst="rect">
            <a:avLst/>
          </a:prstGeom>
          <a:noFill/>
        </p:spPr>
        <p:txBody>
          <a:bodyPr wrap="square">
            <a:spAutoFit/>
          </a:bodyPr>
          <a:lstStyle/>
          <a:p>
            <a:pPr algn="l"/>
            <a:r>
              <a:rPr sz="1100" b="0" i="0">
                <a:solidFill>
                  <a:srgbClr val="C8D4EE"/>
                </a:solidFill>
              </a:rPr>
              <a:t>Department referral pages for OPD, SFFD, Contra Costa 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