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463040"/>
            <a:ext cx="8229600" cy="548640"/>
          </a:xfrm>
          <a:prstGeom prst="rect">
            <a:avLst/>
          </a:prstGeom>
          <a:noFill/>
        </p:spPr>
        <p:txBody>
          <a:bodyPr wrap="square">
            <a:spAutoFit/>
          </a:bodyPr>
          <a:lstStyle/>
          <a:p>
            <a:pPr algn="l"/>
            <a:r>
              <a:rPr sz="1300" b="0" i="0">
                <a:solidFill>
                  <a:srgbClr val="A055FF"/>
                </a:solidFill>
              </a:rPr>
              <a:t>NOTARY WORKFORCE</a:t>
            </a:r>
          </a:p>
        </p:txBody>
      </p:sp>
      <p:sp>
        <p:nvSpPr>
          <p:cNvPr id="8" name="TextBox 7"/>
          <p:cNvSpPr txBox="1"/>
          <p:nvPr/>
        </p:nvSpPr>
        <p:spPr>
          <a:xfrm>
            <a:off x="502920" y="1874519"/>
            <a:ext cx="8229600" cy="1645920"/>
          </a:xfrm>
          <a:prstGeom prst="rect">
            <a:avLst/>
          </a:prstGeom>
          <a:noFill/>
        </p:spPr>
        <p:txBody>
          <a:bodyPr wrap="square">
            <a:spAutoFit/>
          </a:bodyPr>
          <a:lstStyle/>
          <a:p>
            <a:pPr algn="l"/>
            <a:r>
              <a:rPr sz="4800" b="1" i="0">
                <a:solidFill>
                  <a:srgbClr val="FFFFFF"/>
                </a:solidFill>
              </a:rPr>
              <a:t>Website &amp; AI Growth
Audit Report</a:t>
            </a:r>
          </a:p>
        </p:txBody>
      </p:sp>
      <p:sp>
        <p:nvSpPr>
          <p:cNvPr id="9" name="Rectangle 8"/>
          <p:cNvSpPr/>
          <p:nvPr/>
        </p:nvSpPr>
        <p:spPr>
          <a:xfrm>
            <a:off x="502920" y="3520440"/>
            <a:ext cx="27432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229600" cy="457200"/>
          </a:xfrm>
          <a:prstGeom prst="rect">
            <a:avLst/>
          </a:prstGeom>
          <a:noFill/>
        </p:spPr>
        <p:txBody>
          <a:bodyPr wrap="square">
            <a:spAutoFit/>
          </a:bodyPr>
          <a:lstStyle/>
          <a:p>
            <a:pPr algn="l"/>
            <a:r>
              <a:rPr sz="1400" b="0" i="0">
                <a:solidFill>
                  <a:srgbClr val="C8D4EE"/>
                </a:solidFill>
              </a:rPr>
              <a:t>Prepared exclusively for June James, CNTDA, CNSA - Founder</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5C518"/>
                </a:solidFill>
              </a:rPr>
              <a:t>5</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June James and Notary Workforce</a:t>
            </a:r>
          </a:p>
        </p:txBody>
      </p:sp>
      <p:sp>
        <p:nvSpPr>
          <p:cNvPr id="6" name="Rectangle 5"/>
          <p:cNvSpPr/>
          <p:nvPr/>
        </p:nvSpPr>
        <p:spPr>
          <a:xfrm>
            <a:off x="502920" y="1234440"/>
            <a:ext cx="109728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1800" b="1" i="0">
                <a:solidFill>
                  <a:srgbClr val="A055FF"/>
                </a:solidFill>
              </a:rPr>
              <a:t>845+</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100" b="0" i="0">
                <a:solidFill>
                  <a:srgbClr val="C8D4EE"/>
                </a:solidFill>
              </a:rPr>
              <a:t>Notarized trusts
across all 50 states</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1800" b="1" i="0">
                <a:solidFill>
                  <a:srgbClr val="A055FF"/>
                </a:solidFill>
              </a:rPr>
              <a:t>20+ yrs</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100" b="0" i="0">
                <a:solidFill>
                  <a:srgbClr val="C8D4EE"/>
                </a:solidFill>
              </a:rPr>
              <a:t>Notary + real estate
+ mortgage consulting</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1800" b="1" i="0">
                <a:solidFill>
                  <a:srgbClr val="A055FF"/>
                </a:solidFill>
              </a:rPr>
              <a:t>2002</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100" b="0" i="0">
                <a:solidFill>
                  <a:srgbClr val="C8D4EE"/>
                </a:solidFill>
              </a:rPr>
              <a:t>First commissioned
at Wachovia/Wells Fargo</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1800" b="1" i="0">
                <a:solidFill>
                  <a:srgbClr val="A055FF"/>
                </a:solidFill>
              </a:rPr>
              <a:t>CNTDA
CNSA</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100" b="0" i="0">
                <a:solidFill>
                  <a:srgbClr val="C8D4EE"/>
                </a:solidFill>
              </a:rPr>
              <a:t>Certified Notary
Trust Delivery Agent</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1800" b="1" i="0">
                <a:solidFill>
                  <a:srgbClr val="A055FF"/>
                </a:solidFill>
              </a:rPr>
              <a:t>50 states</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100" b="0" i="0">
                <a:solidFill>
                  <a:srgbClr val="C8D4EE"/>
                </a:solidFill>
              </a:rPr>
              <a:t>Coverage - B2C
+ B2B attorney clients</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100" b="0" i="0">
                <a:solidFill>
                  <a:srgbClr val="C8D4EE"/>
                </a:solidFill>
              </a:rPr>
              <a:t>Legacy Curator-in-Chief  |  Manassas, Virginia  |  WordPress site  |  Also Managing Director at The Signing Workforce LLC</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A055FF"/>
                </a:solidFill>
              </a:rPr>
              <a:t>JUNE'S BACKGROUND</a:t>
            </a:r>
          </a:p>
        </p:txBody>
      </p:sp>
      <p:sp>
        <p:nvSpPr>
          <p:cNvPr id="25" name="TextBox 24"/>
          <p:cNvSpPr txBox="1"/>
          <p:nvPr/>
        </p:nvSpPr>
        <p:spPr>
          <a:xfrm>
            <a:off x="502920" y="4892040"/>
            <a:ext cx="5303520" cy="137160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Notary since 2002 - Wachovia/Wells Fargo Financial Specialist</a:t>
            </a:r>
          </a:p>
          <a:p>
            <a:pPr algn="l">
              <a:spcAft>
                <a:spcPts val="600"/>
              </a:spcAft>
            </a:pPr>
            <a:r>
              <a:rPr sz="1000"/>
              <a:t>  </a:t>
            </a:r>
            <a:r>
              <a:rPr sz="1000" b="1">
                <a:solidFill>
                  <a:srgbClr val="4F8EFF"/>
                </a:solidFill>
              </a:rPr>
              <a:t>* </a:t>
            </a:r>
            <a:r>
              <a:rPr sz="1200">
                <a:solidFill>
                  <a:srgbClr val="C8D4EE"/>
                </a:solidFill>
              </a:rPr>
              <a:t>Certified Notary Trust Delivery Agent (CNTDA) + CNSA credentials</a:t>
            </a:r>
          </a:p>
          <a:p>
            <a:pPr algn="l">
              <a:spcAft>
                <a:spcPts val="600"/>
              </a:spcAft>
            </a:pPr>
            <a:r>
              <a:rPr sz="1000"/>
              <a:t>  </a:t>
            </a:r>
            <a:r>
              <a:rPr sz="1000" b="1">
                <a:solidFill>
                  <a:srgbClr val="4F8EFF"/>
                </a:solidFill>
              </a:rPr>
              <a:t>* </a:t>
            </a:r>
            <a:r>
              <a:rPr sz="1200">
                <a:solidFill>
                  <a:srgbClr val="C8D4EE"/>
                </a:solidFill>
              </a:rPr>
              <a:t>20+ years: notary, real estate, mortgage consulting</a:t>
            </a:r>
          </a:p>
          <a:p>
            <a:pPr algn="l"/>
            <a:r>
              <a:rPr sz="1000"/>
              <a:t>  </a:t>
            </a:r>
            <a:r>
              <a:rPr sz="1000" b="1">
                <a:solidFill>
                  <a:srgbClr val="4F8EFF"/>
                </a:solidFill>
              </a:rPr>
              <a:t>* </a:t>
            </a:r>
            <a:r>
              <a:rPr sz="1200">
                <a:solidFill>
                  <a:srgbClr val="C8D4EE"/>
                </a:solidFill>
              </a:rPr>
              <a:t>B2B pivot: pitching attorneys to outsource trust delivery admin</a:t>
            </a:r>
          </a:p>
        </p:txBody>
      </p:sp>
      <p:sp>
        <p:nvSpPr>
          <p:cNvPr id="26" name="TextBox 25"/>
          <p:cNvSpPr txBox="1"/>
          <p:nvPr/>
        </p:nvSpPr>
        <p:spPr>
          <a:xfrm>
            <a:off x="6217920" y="4572000"/>
            <a:ext cx="5303520" cy="320040"/>
          </a:xfrm>
          <a:prstGeom prst="rect">
            <a:avLst/>
          </a:prstGeom>
          <a:noFill/>
        </p:spPr>
        <p:txBody>
          <a:bodyPr wrap="square">
            <a:spAutoFit/>
          </a:bodyPr>
          <a:lstStyle/>
          <a:p>
            <a:pPr algn="l"/>
            <a:r>
              <a:rPr sz="1100" b="1" i="0">
                <a:solidFill>
                  <a:srgbClr val="A055FF"/>
                </a:solidFill>
              </a:rPr>
              <a:t>NOTARY WORKFORCE SERVICES</a:t>
            </a:r>
          </a:p>
        </p:txBody>
      </p:sp>
      <p:sp>
        <p:nvSpPr>
          <p:cNvPr id="27" name="TextBox 26"/>
          <p:cNvSpPr txBox="1"/>
          <p:nvPr/>
        </p:nvSpPr>
        <p:spPr>
          <a:xfrm>
            <a:off x="6217920" y="4892040"/>
            <a:ext cx="5303520" cy="137160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Free 25-min estate planning webinar (ClickMeeting)</a:t>
            </a:r>
          </a:p>
          <a:p>
            <a:pPr algn="l">
              <a:spcAft>
                <a:spcPts val="600"/>
              </a:spcAft>
            </a:pPr>
            <a:r>
              <a:rPr sz="1000"/>
              <a:t>  </a:t>
            </a:r>
            <a:r>
              <a:rPr sz="1000" b="1">
                <a:solidFill>
                  <a:srgbClr val="4F8EFF"/>
                </a:solidFill>
              </a:rPr>
              <a:t>* </a:t>
            </a:r>
            <a:r>
              <a:rPr sz="1200">
                <a:solidFill>
                  <a:srgbClr val="C8D4EE"/>
                </a:solidFill>
              </a:rPr>
              <a:t>Free 15-min consultation with Legacy Curators</a:t>
            </a:r>
          </a:p>
          <a:p>
            <a:pPr algn="l">
              <a:spcAft>
                <a:spcPts val="600"/>
              </a:spcAft>
            </a:pPr>
            <a:r>
              <a:rPr sz="1000"/>
              <a:t>  </a:t>
            </a:r>
            <a:r>
              <a:rPr sz="1000" b="1">
                <a:solidFill>
                  <a:srgbClr val="4F8EFF"/>
                </a:solidFill>
              </a:rPr>
              <a:t>* </a:t>
            </a:r>
            <a:r>
              <a:rPr sz="1200">
                <a:solidFill>
                  <a:srgbClr val="C8D4EE"/>
                </a:solidFill>
              </a:rPr>
              <a:t>Document planning with partner attorney advocates</a:t>
            </a:r>
          </a:p>
          <a:p>
            <a:pPr algn="l"/>
            <a:r>
              <a:rPr sz="1000"/>
              <a:t>  </a:t>
            </a:r>
            <a:r>
              <a:rPr sz="1000" b="1">
                <a:solidFill>
                  <a:srgbClr val="4F8EFF"/>
                </a:solidFill>
              </a:rPr>
              <a:t>* </a:t>
            </a:r>
            <a:r>
              <a:rPr sz="1200">
                <a:solidFill>
                  <a:srgbClr val="C8D4EE"/>
                </a:solidFill>
              </a:rPr>
              <a:t>White-Glove Trust Delivery: mobile, after-hours, weekends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WHAT'S WORKING</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2200" b="1" i="0">
                <a:solidFill>
                  <a:srgbClr val="FFFFFF"/>
                </a:solidFill>
              </a:rPr>
              <a:t>845 Trusts. A Sharp B2B Pivot. And a Webinar Funnel That Just Needs a Back End.</a:t>
            </a:r>
          </a:p>
        </p:txBody>
      </p:sp>
      <p:sp>
        <p:nvSpPr>
          <p:cNvPr id="6" name="Rectangle 5"/>
          <p:cNvSpPr/>
          <p:nvPr/>
        </p:nvSpPr>
        <p:spPr>
          <a:xfrm>
            <a:off x="502920" y="132588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300" b="1" i="0">
                <a:solidFill>
                  <a:srgbClr val="FFFFFF"/>
                </a:solidFill>
              </a:rPr>
              <a:t>Free Webinar Top-of-Funnel Is the Right Move for Estate Planning</a:t>
            </a:r>
          </a:p>
        </p:txBody>
      </p:sp>
      <p:sp>
        <p:nvSpPr>
          <p:cNvPr id="9" name="TextBox 8"/>
          <p:cNvSpPr txBox="1"/>
          <p:nvPr/>
        </p:nvSpPr>
        <p:spPr>
          <a:xfrm>
            <a:off x="685800" y="1874520"/>
            <a:ext cx="10789920" cy="548640"/>
          </a:xfrm>
          <a:prstGeom prst="rect">
            <a:avLst/>
          </a:prstGeom>
          <a:noFill/>
        </p:spPr>
        <p:txBody>
          <a:bodyPr wrap="square">
            <a:spAutoFit/>
          </a:bodyPr>
          <a:lstStyle/>
          <a:p>
            <a:pPr algn="l"/>
            <a:r>
              <a:rPr sz="1100" b="0" i="0">
                <a:solidFill>
                  <a:srgbClr val="C8D4EE"/>
                </a:solidFill>
              </a:rPr>
              <a:t>Estate planning is a high-consideration purchase. Prospects need education before they need a pitch. The free 25-minute webinar on ClickMeeting is the correct lead magnet for this category. The gap is not the funnel entry - it is everything that happens after someone watches and does not immediately book. A post-webinar sequence turns the webinar investment into an asset that compounds.</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300" b="1" i="0">
                <a:solidFill>
                  <a:srgbClr val="FFFFFF"/>
                </a:solidFill>
              </a:rPr>
              <a:t>845 Notarized Trusts Across 50 States = Proof That Scaling Is Possible</a:t>
            </a:r>
          </a:p>
        </p:txBody>
      </p:sp>
      <p:sp>
        <p:nvSpPr>
          <p:cNvPr id="12" name="TextBox 11"/>
          <p:cNvSpPr txBox="1"/>
          <p:nvPr/>
        </p:nvSpPr>
        <p:spPr>
          <a:xfrm>
            <a:off x="685800" y="2834640"/>
            <a:ext cx="10789920" cy="548640"/>
          </a:xfrm>
          <a:prstGeom prst="rect">
            <a:avLst/>
          </a:prstGeom>
          <a:noFill/>
        </p:spPr>
        <p:txBody>
          <a:bodyPr wrap="square">
            <a:spAutoFit/>
          </a:bodyPr>
          <a:lstStyle/>
          <a:p>
            <a:pPr algn="l"/>
            <a:r>
              <a:rPr sz="1100" b="0" i="0">
                <a:solidFill>
                  <a:srgbClr val="C8D4EE"/>
                </a:solidFill>
              </a:rPr>
              <a:t>Most notary operations are local. Operating across all 50 states with 845 completed trusts and 31 years of combined experience is a genuine differentiator. This is the headline social proof that should be above the fold on the homepage. Right now it is buried or invisible. The operational track record is there - the marketing of it is not.</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300" b="1" i="0">
                <a:solidFill>
                  <a:srgbClr val="FFFFFF"/>
                </a:solidFill>
              </a:rPr>
              <a:t>B2B Attorney Pivot Is a High-Value Channel If the Infrastructure Matches</a:t>
            </a:r>
          </a:p>
        </p:txBody>
      </p:sp>
      <p:sp>
        <p:nvSpPr>
          <p:cNvPr id="15" name="TextBox 14"/>
          <p:cNvSpPr txBox="1"/>
          <p:nvPr/>
        </p:nvSpPr>
        <p:spPr>
          <a:xfrm>
            <a:off x="685800" y="3794760"/>
            <a:ext cx="10789920" cy="548640"/>
          </a:xfrm>
          <a:prstGeom prst="rect">
            <a:avLst/>
          </a:prstGeom>
          <a:noFill/>
        </p:spPr>
        <p:txBody>
          <a:bodyPr wrap="square">
            <a:spAutoFit/>
          </a:bodyPr>
          <a:lstStyle/>
          <a:p>
            <a:pPr algn="l"/>
            <a:r>
              <a:rPr sz="1100" b="0" i="0">
                <a:solidFill>
                  <a:srgbClr val="C8D4EE"/>
                </a:solidFill>
              </a:rPr>
              <a:t>June's LinkedIn posts are pitching estate planning attorneys directly: outsource your mobile trust delivery, client onboarding, and signing ceremonies to Notary Workforce. The angle is strong - attorneys want billable hours, not admin. But the website has no attorney landing page, no attorney-specific intake, and no qualifying form. The pitch is happening on LinkedIn and landing on a site built for consumers.</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300" b="1" i="0">
                <a:solidFill>
                  <a:srgbClr val="FFFFFF"/>
                </a:solidFill>
              </a:rPr>
              <a:t>White-Glove Trust Delivery Is Premium and Differentiated</a:t>
            </a:r>
          </a:p>
        </p:txBody>
      </p:sp>
      <p:sp>
        <p:nvSpPr>
          <p:cNvPr id="18" name="TextBox 17"/>
          <p:cNvSpPr txBox="1"/>
          <p:nvPr/>
        </p:nvSpPr>
        <p:spPr>
          <a:xfrm>
            <a:off x="685800" y="4754880"/>
            <a:ext cx="10789920" cy="548640"/>
          </a:xfrm>
          <a:prstGeom prst="rect">
            <a:avLst/>
          </a:prstGeom>
          <a:noFill/>
        </p:spPr>
        <p:txBody>
          <a:bodyPr wrap="square">
            <a:spAutoFit/>
          </a:bodyPr>
          <a:lstStyle/>
          <a:p>
            <a:pPr algn="l"/>
            <a:r>
              <a:rPr sz="1100" b="0" i="0">
                <a:solidFill>
                  <a:srgbClr val="C8D4EE"/>
                </a:solidFill>
              </a:rPr>
              <a:t>After-hours, weekends, mobile delivery to clients' homes or offices. Most competitors do not offer this. It is the right service for high-value estate planning clients who will not rearrange their schedules for paperwork. The product is differentiated. The website does not describe it with enough specificity or urgency to convert the prospects who would value it most.</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300" b="1" i="0">
                <a:solidFill>
                  <a:srgbClr val="FFFFFF"/>
                </a:solidFill>
              </a:rPr>
              <a:t>Probate Calculator Exists as a Lead Tool - Just Needs a Gate</a:t>
            </a:r>
          </a:p>
        </p:txBody>
      </p:sp>
      <p:sp>
        <p:nvSpPr>
          <p:cNvPr id="21" name="TextBox 20"/>
          <p:cNvSpPr txBox="1"/>
          <p:nvPr/>
        </p:nvSpPr>
        <p:spPr>
          <a:xfrm>
            <a:off x="685800" y="5715000"/>
            <a:ext cx="10789920" cy="548640"/>
          </a:xfrm>
          <a:prstGeom prst="rect">
            <a:avLst/>
          </a:prstGeom>
          <a:noFill/>
        </p:spPr>
        <p:txBody>
          <a:bodyPr wrap="square">
            <a:spAutoFit/>
          </a:bodyPr>
          <a:lstStyle/>
          <a:p>
            <a:pPr algn="l"/>
            <a:r>
              <a:rPr sz="1100" b="0" i="0">
                <a:solidFill>
                  <a:srgbClr val="C8D4EE"/>
                </a:solidFill>
              </a:rPr>
              <a:t>An interactive probate cost calculator is already live on the site. This is a genuine lead magnet - people searching 'how much does probate cost in Virginia' are high-intent estate planning prospects. The calculator currently shows results without requiring an email. One change - gate the results behind an email capture - turns passive traffic into a list-building machine.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THE THREE GAPS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600" b="1" i="0">
                <a:solidFill>
                  <a:srgbClr val="FFFFFF"/>
                </a:solidFill>
              </a:rPr>
              <a:t>The Webinar Works. The 80% Who Don't Book Immediately Are Gone.</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611880" cy="4572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691640"/>
            <a:ext cx="3392424" cy="384048"/>
          </a:xfrm>
          <a:prstGeom prst="rect">
            <a:avLst/>
          </a:prstGeom>
          <a:noFill/>
        </p:spPr>
        <p:txBody>
          <a:bodyPr wrap="square">
            <a:spAutoFit/>
          </a:bodyPr>
          <a:lstStyle/>
          <a:p>
            <a:pPr algn="ctr"/>
            <a:r>
              <a:rPr sz="1100" b="1" i="0">
                <a:solidFill>
                  <a:srgbClr val="0A0F2E"/>
                </a:solidFill>
              </a:rPr>
              <a:t>GAP 1
POST-WEBINAR
SILENCE</a:t>
            </a:r>
          </a:p>
        </p:txBody>
      </p:sp>
      <p:sp>
        <p:nvSpPr>
          <p:cNvPr id="9" name="Rectangle 8"/>
          <p:cNvSpPr/>
          <p:nvPr/>
        </p:nvSpPr>
        <p:spPr>
          <a:xfrm>
            <a:off x="502920" y="2103120"/>
            <a:ext cx="361188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176272"/>
            <a:ext cx="3392424" cy="320040"/>
          </a:xfrm>
          <a:prstGeom prst="rect">
            <a:avLst/>
          </a:prstGeom>
          <a:noFill/>
        </p:spPr>
        <p:txBody>
          <a:bodyPr wrap="square">
            <a:spAutoFit/>
          </a:bodyPr>
          <a:lstStyle/>
          <a:p>
            <a:pPr algn="l"/>
            <a:r>
              <a:rPr sz="1000" b="0" i="1">
                <a:solidFill>
                  <a:srgbClr val="FF4D4D"/>
                </a:solidFill>
              </a:rPr>
              <a:t>Where 80% of registrants go</a:t>
            </a:r>
          </a:p>
        </p:txBody>
      </p:sp>
      <p:sp>
        <p:nvSpPr>
          <p:cNvPr id="11" name="TextBox 10"/>
          <p:cNvSpPr txBox="1"/>
          <p:nvPr/>
        </p:nvSpPr>
        <p:spPr>
          <a:xfrm>
            <a:off x="612648" y="2542032"/>
            <a:ext cx="3392424" cy="35661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Prospect watches 25-min webinar, does not immediately book 15-min call - nothing follows up</a:t>
            </a:r>
          </a:p>
          <a:p>
            <a:pPr algn="l">
              <a:spcAft>
                <a:spcPts val="600"/>
              </a:spcAft>
            </a:pPr>
            <a:r>
              <a:rPr sz="900"/>
              <a:t>  </a:t>
            </a:r>
            <a:r>
              <a:rPr sz="900" b="1">
                <a:solidFill>
                  <a:srgbClr val="FF4D4D"/>
                </a:solidFill>
              </a:rPr>
              <a:t>* </a:t>
            </a:r>
            <a:r>
              <a:rPr sz="1100">
                <a:solidFill>
                  <a:srgbClr val="C8D4EE"/>
                </a:solidFill>
              </a:rPr>
              <a:t>No automated Day 1, Day 3, Day 7 email sequence to re-engage warm registrants</a:t>
            </a:r>
          </a:p>
          <a:p>
            <a:pPr algn="l">
              <a:spcAft>
                <a:spcPts val="600"/>
              </a:spcAft>
            </a:pPr>
            <a:r>
              <a:rPr sz="900"/>
              <a:t>  </a:t>
            </a:r>
            <a:r>
              <a:rPr sz="900" b="1">
                <a:solidFill>
                  <a:srgbClr val="FF4D4D"/>
                </a:solidFill>
              </a:rPr>
              <a:t>* </a:t>
            </a:r>
            <a:r>
              <a:rPr sz="1100">
                <a:solidFill>
                  <a:srgbClr val="C8D4EE"/>
                </a:solidFill>
              </a:rPr>
              <a:t>No AI chatbot to answer questions they have at 10pm after watching</a:t>
            </a:r>
          </a:p>
          <a:p>
            <a:pPr algn="l"/>
            <a:r>
              <a:rPr sz="900"/>
              <a:t>  </a:t>
            </a:r>
            <a:r>
              <a:rPr sz="900" b="1">
                <a:solidFill>
                  <a:srgbClr val="FF4D4D"/>
                </a:solidFill>
              </a:rPr>
              <a:t>* </a:t>
            </a:r>
            <a:r>
              <a:rPr sz="1100">
                <a:solidFill>
                  <a:srgbClr val="C8D4EE"/>
                </a:solidFill>
              </a:rPr>
              <a:t>Industry average: 3-5 touchpoints needed before estate planning purchase decision</a:t>
            </a:r>
          </a:p>
        </p:txBody>
      </p:sp>
      <p:sp>
        <p:nvSpPr>
          <p:cNvPr id="12" name="Rectangle 11"/>
          <p:cNvSpPr/>
          <p:nvPr/>
        </p:nvSpPr>
        <p:spPr>
          <a:xfrm>
            <a:off x="4279392" y="1645920"/>
            <a:ext cx="3611880" cy="4572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1691640"/>
            <a:ext cx="3392424" cy="384048"/>
          </a:xfrm>
          <a:prstGeom prst="rect">
            <a:avLst/>
          </a:prstGeom>
          <a:noFill/>
        </p:spPr>
        <p:txBody>
          <a:bodyPr wrap="square">
            <a:spAutoFit/>
          </a:bodyPr>
          <a:lstStyle/>
          <a:p>
            <a:pPr algn="ctr"/>
            <a:r>
              <a:rPr sz="1100" b="1" i="0">
                <a:solidFill>
                  <a:srgbClr val="0A0F2E"/>
                </a:solidFill>
              </a:rPr>
              <a:t>GAP 2
B2B PITCH WITH
NO B2B WEBSITE</a:t>
            </a:r>
          </a:p>
        </p:txBody>
      </p:sp>
      <p:sp>
        <p:nvSpPr>
          <p:cNvPr id="14" name="Rectangle 13"/>
          <p:cNvSpPr/>
          <p:nvPr/>
        </p:nvSpPr>
        <p:spPr>
          <a:xfrm>
            <a:off x="4279392" y="2103120"/>
            <a:ext cx="361188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176272"/>
            <a:ext cx="3392424" cy="320040"/>
          </a:xfrm>
          <a:prstGeom prst="rect">
            <a:avLst/>
          </a:prstGeom>
          <a:noFill/>
        </p:spPr>
        <p:txBody>
          <a:bodyPr wrap="square">
            <a:spAutoFit/>
          </a:bodyPr>
          <a:lstStyle/>
          <a:p>
            <a:pPr algn="l"/>
            <a:r>
              <a:rPr sz="1000" b="0" i="1">
                <a:solidFill>
                  <a:srgbClr val="F5C518"/>
                </a:solidFill>
              </a:rPr>
              <a:t>Attorney pipeline built on LinkedIn, not the site</a:t>
            </a:r>
          </a:p>
        </p:txBody>
      </p:sp>
      <p:sp>
        <p:nvSpPr>
          <p:cNvPr id="16" name="TextBox 15"/>
          <p:cNvSpPr txBox="1"/>
          <p:nvPr/>
        </p:nvSpPr>
        <p:spPr>
          <a:xfrm>
            <a:off x="4389120" y="2542032"/>
            <a:ext cx="3392424" cy="35661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LinkedIn posts pitch attorneys to outsource trust delivery - strong angle, real pain point</a:t>
            </a:r>
          </a:p>
          <a:p>
            <a:pPr algn="l">
              <a:spcAft>
                <a:spcPts val="600"/>
              </a:spcAft>
            </a:pPr>
            <a:r>
              <a:rPr sz="900"/>
              <a:t>  </a:t>
            </a:r>
            <a:r>
              <a:rPr sz="900" b="1">
                <a:solidFill>
                  <a:srgbClr val="F5C518"/>
                </a:solidFill>
              </a:rPr>
              <a:t>* </a:t>
            </a:r>
            <a:r>
              <a:rPr sz="1100">
                <a:solidFill>
                  <a:srgbClr val="C8D4EE"/>
                </a:solidFill>
              </a:rPr>
              <a:t>No dedicated attorney landing page - attorney lands on consumer homepage</a:t>
            </a:r>
          </a:p>
          <a:p>
            <a:pPr algn="l">
              <a:spcAft>
                <a:spcPts val="600"/>
              </a:spcAft>
            </a:pPr>
            <a:r>
              <a:rPr sz="900"/>
              <a:t>  </a:t>
            </a:r>
            <a:r>
              <a:rPr sz="900" b="1">
                <a:solidFill>
                  <a:srgbClr val="F5C518"/>
                </a:solidFill>
              </a:rPr>
              <a:t>* </a:t>
            </a:r>
            <a:r>
              <a:rPr sz="1100">
                <a:solidFill>
                  <a:srgbClr val="C8D4EE"/>
                </a:solidFill>
              </a:rPr>
              <a:t>No qualifying intake form: state coverage needed, trust volume, current process, pain points</a:t>
            </a:r>
          </a:p>
          <a:p>
            <a:pPr algn="l"/>
            <a:r>
              <a:rPr sz="900"/>
              <a:t>  </a:t>
            </a:r>
            <a:r>
              <a:rPr sz="900" b="1">
                <a:solidFill>
                  <a:srgbClr val="F5C518"/>
                </a:solidFill>
              </a:rPr>
              <a:t>* </a:t>
            </a:r>
            <a:r>
              <a:rPr sz="1100">
                <a:solidFill>
                  <a:srgbClr val="C8D4EE"/>
                </a:solidFill>
              </a:rPr>
              <a:t>No pricing or service scope for attorney partnerships vs. consumer clients</a:t>
            </a:r>
          </a:p>
        </p:txBody>
      </p:sp>
      <p:sp>
        <p:nvSpPr>
          <p:cNvPr id="17" name="Rectangle 16"/>
          <p:cNvSpPr/>
          <p:nvPr/>
        </p:nvSpPr>
        <p:spPr>
          <a:xfrm>
            <a:off x="8055864" y="1645920"/>
            <a:ext cx="3611880" cy="4572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65592" y="1691640"/>
            <a:ext cx="3392424" cy="384048"/>
          </a:xfrm>
          <a:prstGeom prst="rect">
            <a:avLst/>
          </a:prstGeom>
          <a:noFill/>
        </p:spPr>
        <p:txBody>
          <a:bodyPr wrap="square">
            <a:spAutoFit/>
          </a:bodyPr>
          <a:lstStyle/>
          <a:p>
            <a:pPr algn="ctr"/>
            <a:r>
              <a:rPr sz="1100" b="1" i="0">
                <a:solidFill>
                  <a:srgbClr val="0A0F2E"/>
                </a:solidFill>
              </a:rPr>
              <a:t>GAP 3
SOCIAL PROOF
BURIED</a:t>
            </a:r>
          </a:p>
        </p:txBody>
      </p:sp>
      <p:sp>
        <p:nvSpPr>
          <p:cNvPr id="19" name="Rectangle 18"/>
          <p:cNvSpPr/>
          <p:nvPr/>
        </p:nvSpPr>
        <p:spPr>
          <a:xfrm>
            <a:off x="8055864" y="2103120"/>
            <a:ext cx="361188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65592" y="2176272"/>
            <a:ext cx="3392424" cy="320040"/>
          </a:xfrm>
          <a:prstGeom prst="rect">
            <a:avLst/>
          </a:prstGeom>
          <a:noFill/>
        </p:spPr>
        <p:txBody>
          <a:bodyPr wrap="square">
            <a:spAutoFit/>
          </a:bodyPr>
          <a:lstStyle/>
          <a:p>
            <a:pPr algn="l"/>
            <a:r>
              <a:rPr sz="1000" b="0" i="1">
                <a:solidFill>
                  <a:srgbClr val="4F8EFF"/>
                </a:solidFill>
              </a:rPr>
              <a:t>845 trusts invisible. Calculator leaks leads.</a:t>
            </a:r>
          </a:p>
        </p:txBody>
      </p:sp>
      <p:sp>
        <p:nvSpPr>
          <p:cNvPr id="21" name="TextBox 20"/>
          <p:cNvSpPr txBox="1"/>
          <p:nvPr/>
        </p:nvSpPr>
        <p:spPr>
          <a:xfrm>
            <a:off x="8165592" y="2542032"/>
            <a:ext cx="3392424" cy="3566160"/>
          </a:xfrm>
          <a:prstGeom prst="rect">
            <a:avLst/>
          </a:prstGeom>
          <a:noFill/>
        </p:spPr>
        <p:txBody>
          <a:bodyPr wrap="square">
            <a:spAutoFit/>
          </a:bodyPr>
          <a:lstStyle/>
          <a:p>
            <a:pPr algn="l">
              <a:spcAft>
                <a:spcPts val="600"/>
              </a:spcAft>
            </a:pPr>
            <a:r>
              <a:rPr sz="900"/>
              <a:t>  </a:t>
            </a:r>
            <a:r>
              <a:rPr sz="900" b="1">
                <a:solidFill>
                  <a:srgbClr val="4F8EFF"/>
                </a:solidFill>
              </a:rPr>
              <a:t>* </a:t>
            </a:r>
            <a:r>
              <a:rPr sz="1100">
                <a:solidFill>
                  <a:srgbClr val="C8D4EE"/>
                </a:solidFill>
              </a:rPr>
              <a:t>845 notarized trusts across 50 states - not visible on homepage above the fold</a:t>
            </a:r>
          </a:p>
          <a:p>
            <a:pPr algn="l">
              <a:spcAft>
                <a:spcPts val="600"/>
              </a:spcAft>
            </a:pPr>
            <a:r>
              <a:rPr sz="900"/>
              <a:t>  </a:t>
            </a:r>
            <a:r>
              <a:rPr sz="900" b="1">
                <a:solidFill>
                  <a:srgbClr val="4F8EFF"/>
                </a:solidFill>
              </a:rPr>
              <a:t>* </a:t>
            </a:r>
            <a:r>
              <a:rPr sz="1100">
                <a:solidFill>
                  <a:srgbClr val="C8D4EE"/>
                </a:solidFill>
              </a:rPr>
              <a:t>Probate calculator shows results without email capture - high-intent traffic leaves with no contact</a:t>
            </a:r>
          </a:p>
          <a:p>
            <a:pPr algn="l">
              <a:spcAft>
                <a:spcPts val="600"/>
              </a:spcAft>
            </a:pPr>
            <a:r>
              <a:rPr sz="900"/>
              <a:t>  </a:t>
            </a:r>
            <a:r>
              <a:rPr sz="900" b="1">
                <a:solidFill>
                  <a:srgbClr val="4F8EFF"/>
                </a:solidFill>
              </a:rPr>
              <a:t>* </a:t>
            </a:r>
            <a:r>
              <a:rPr sz="1100">
                <a:solidFill>
                  <a:srgbClr val="C8D4EE"/>
                </a:solidFill>
              </a:rPr>
              <a:t>No testimonials or case studies from attorney partners or consumer clients</a:t>
            </a:r>
          </a:p>
          <a:p>
            <a:pPr algn="l"/>
            <a:r>
              <a:rPr sz="900"/>
              <a:t>  </a:t>
            </a:r>
            <a:r>
              <a:rPr sz="900" b="1">
                <a:solidFill>
                  <a:srgbClr val="4F8EFF"/>
                </a:solidFill>
              </a:rPr>
              <a:t>* </a:t>
            </a:r>
            <a:r>
              <a:rPr sz="1100">
                <a:solidFill>
                  <a:srgbClr val="C8D4EE"/>
                </a:solidFill>
              </a:rPr>
              <a:t>No state coverage map showing 50-state reach despite this being the key differentiator</a:t>
            </a:r>
          </a:p>
        </p:txBody>
      </p:sp>
      <p:sp>
        <p:nvSpPr>
          <p:cNvPr id="22" name="Rectangle 21"/>
          <p:cNvSpPr/>
          <p:nvPr/>
        </p:nvSpPr>
        <p:spPr>
          <a:xfrm>
            <a:off x="502920" y="6446520"/>
            <a:ext cx="11183112" cy="2743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10972800" cy="228600"/>
          </a:xfrm>
          <a:prstGeom prst="rect">
            <a:avLst/>
          </a:prstGeom>
          <a:noFill/>
        </p:spPr>
        <p:txBody>
          <a:bodyPr wrap="square">
            <a:spAutoFit/>
          </a:bodyPr>
          <a:lstStyle/>
          <a:p>
            <a:pPr algn="l"/>
            <a:r>
              <a:rPr sz="1100" b="0" i="1">
                <a:solidFill>
                  <a:srgbClr val="F5C518"/>
                </a:solidFill>
              </a:rPr>
              <a:t>The funnel entry works. The re-engagement layer, the B2B infrastructure, and the social proof deployment are what's missing.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WEBSITE DESIGN AUDIT</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3600" b="1" i="0">
                <a:solidFill>
                  <a:srgbClr val="FFFFFF"/>
                </a:solidFill>
              </a:rPr>
              <a:t>Good Entry. No Back End.</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347472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34747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3291840" cy="347472"/>
          </a:xfrm>
          <a:prstGeom prst="rect">
            <a:avLst/>
          </a:prstGeom>
          <a:noFill/>
        </p:spPr>
        <p:txBody>
          <a:bodyPr wrap="square">
            <a:spAutoFit/>
          </a:bodyPr>
          <a:lstStyle/>
          <a:p>
            <a:pPr algn="ctr"/>
            <a:r>
              <a:rPr sz="900" b="1" i="0">
                <a:solidFill>
                  <a:srgbClr val="FFFFFF"/>
                </a:solidFill>
              </a:rPr>
              <a:t>NOTARYWORKFORCE.COM TODAY</a:t>
            </a:r>
          </a:p>
        </p:txBody>
      </p:sp>
      <p:sp>
        <p:nvSpPr>
          <p:cNvPr id="10" name="TextBox 9"/>
          <p:cNvSpPr txBox="1"/>
          <p:nvPr/>
        </p:nvSpPr>
        <p:spPr>
          <a:xfrm>
            <a:off x="640080" y="2212848"/>
            <a:ext cx="3291840" cy="26517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No post-webinar email sequence</a:t>
            </a:r>
          </a:p>
          <a:p>
            <a:pPr algn="l">
              <a:spcAft>
                <a:spcPts val="600"/>
              </a:spcAft>
            </a:pPr>
            <a:r>
              <a:rPr sz="900"/>
              <a:t>  </a:t>
            </a:r>
            <a:r>
              <a:rPr sz="900" b="1">
                <a:solidFill>
                  <a:srgbClr val="FF4D4D"/>
                </a:solidFill>
              </a:rPr>
              <a:t>* </a:t>
            </a:r>
            <a:r>
              <a:rPr sz="1100">
                <a:solidFill>
                  <a:srgbClr val="C8D4EE"/>
                </a:solidFill>
              </a:rPr>
              <a:t>No AI chatbot or live chat - 10pm questions get nothing</a:t>
            </a:r>
          </a:p>
          <a:p>
            <a:pPr algn="l">
              <a:spcAft>
                <a:spcPts val="600"/>
              </a:spcAft>
            </a:pPr>
            <a:r>
              <a:rPr sz="900"/>
              <a:t>  </a:t>
            </a:r>
            <a:r>
              <a:rPr sz="900" b="1">
                <a:solidFill>
                  <a:srgbClr val="FF4D4D"/>
                </a:solidFill>
              </a:rPr>
              <a:t>* </a:t>
            </a:r>
            <a:r>
              <a:rPr sz="1100">
                <a:solidFill>
                  <a:srgbClr val="C8D4EE"/>
                </a:solidFill>
              </a:rPr>
              <a:t>845 trusts not visible on homepage</a:t>
            </a:r>
          </a:p>
          <a:p>
            <a:pPr algn="l">
              <a:spcAft>
                <a:spcPts val="600"/>
              </a:spcAft>
            </a:pPr>
            <a:r>
              <a:rPr sz="900"/>
              <a:t>  </a:t>
            </a:r>
            <a:r>
              <a:rPr sz="900" b="1">
                <a:solidFill>
                  <a:srgbClr val="FF4D4D"/>
                </a:solidFill>
              </a:rPr>
              <a:t>* </a:t>
            </a:r>
            <a:r>
              <a:rPr sz="1100">
                <a:solidFill>
                  <a:srgbClr val="C8D4EE"/>
                </a:solidFill>
              </a:rPr>
              <a:t>Probate calculator shows results without email gate</a:t>
            </a:r>
          </a:p>
          <a:p>
            <a:pPr algn="l">
              <a:spcAft>
                <a:spcPts val="600"/>
              </a:spcAft>
            </a:pPr>
            <a:r>
              <a:rPr sz="900"/>
              <a:t>  </a:t>
            </a:r>
            <a:r>
              <a:rPr sz="900" b="1">
                <a:solidFill>
                  <a:srgbClr val="FF4D4D"/>
                </a:solidFill>
              </a:rPr>
              <a:t>* </a:t>
            </a:r>
            <a:r>
              <a:rPr sz="1100">
                <a:solidFill>
                  <a:srgbClr val="C8D4EE"/>
                </a:solidFill>
              </a:rPr>
              <a:t>No attorney landing page or B2B intake form</a:t>
            </a:r>
          </a:p>
          <a:p>
            <a:pPr algn="l">
              <a:spcAft>
                <a:spcPts val="600"/>
              </a:spcAft>
            </a:pPr>
            <a:r>
              <a:rPr sz="900"/>
              <a:t>  </a:t>
            </a:r>
            <a:r>
              <a:rPr sz="900" b="1">
                <a:solidFill>
                  <a:srgbClr val="FF4D4D"/>
                </a:solidFill>
              </a:rPr>
              <a:t>* </a:t>
            </a:r>
            <a:r>
              <a:rPr sz="1100">
                <a:solidFill>
                  <a:srgbClr val="C8D4EE"/>
                </a:solidFill>
              </a:rPr>
              <a:t>No scheduling automation for mobile delivery</a:t>
            </a:r>
          </a:p>
          <a:p>
            <a:pPr algn="l">
              <a:spcAft>
                <a:spcPts val="600"/>
              </a:spcAft>
            </a:pPr>
            <a:r>
              <a:rPr sz="900"/>
              <a:t>  </a:t>
            </a:r>
            <a:r>
              <a:rPr sz="900" b="1">
                <a:solidFill>
                  <a:srgbClr val="FF4D4D"/>
                </a:solidFill>
              </a:rPr>
              <a:t>* </a:t>
            </a:r>
            <a:r>
              <a:rPr sz="1100">
                <a:solidFill>
                  <a:srgbClr val="C8D4EE"/>
                </a:solidFill>
              </a:rPr>
              <a:t>No SEO content by state despite 50-state coverage</a:t>
            </a:r>
          </a:p>
          <a:p>
            <a:pPr algn="l"/>
            <a:r>
              <a:rPr sz="900"/>
              <a:t>  </a:t>
            </a:r>
            <a:r>
              <a:rPr sz="900" b="1">
                <a:solidFill>
                  <a:srgbClr val="FF4D4D"/>
                </a:solidFill>
              </a:rPr>
              <a:t>* </a:t>
            </a:r>
            <a:r>
              <a:rPr sz="1100">
                <a:solidFill>
                  <a:srgbClr val="C8D4EE"/>
                </a:solidFill>
              </a:rPr>
              <a:t>No pricing page or package transparency</a:t>
            </a:r>
          </a:p>
        </p:txBody>
      </p:sp>
      <p:sp>
        <p:nvSpPr>
          <p:cNvPr id="11" name="TextBox 10"/>
          <p:cNvSpPr txBox="1"/>
          <p:nvPr/>
        </p:nvSpPr>
        <p:spPr>
          <a:xfrm>
            <a:off x="4069080" y="3291840"/>
            <a:ext cx="457200" cy="457200"/>
          </a:xfrm>
          <a:prstGeom prst="rect">
            <a:avLst/>
          </a:prstGeom>
          <a:noFill/>
        </p:spPr>
        <p:txBody>
          <a:bodyPr wrap="square">
            <a:spAutoFit/>
          </a:bodyPr>
          <a:lstStyle/>
          <a:p>
            <a:pPr algn="ctr"/>
            <a:r>
              <a:rPr sz="3000" b="1" i="0">
                <a:solidFill>
                  <a:srgbClr val="A055FF"/>
                </a:solidFill>
              </a:rPr>
              <a:t>-&gt;</a:t>
            </a:r>
          </a:p>
        </p:txBody>
      </p:sp>
      <p:sp>
        <p:nvSpPr>
          <p:cNvPr id="12" name="Rectangle 11"/>
          <p:cNvSpPr/>
          <p:nvPr/>
        </p:nvSpPr>
        <p:spPr>
          <a:xfrm>
            <a:off x="45720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737360"/>
            <a:ext cx="329184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55648"/>
            <a:ext cx="3108960" cy="347472"/>
          </a:xfrm>
          <a:prstGeom prst="rect">
            <a:avLst/>
          </a:prstGeom>
          <a:noFill/>
        </p:spPr>
        <p:txBody>
          <a:bodyPr wrap="square">
            <a:spAutoFit/>
          </a:bodyPr>
          <a:lstStyle/>
          <a:p>
            <a:pPr algn="ctr"/>
            <a:r>
              <a:rPr sz="900" b="1" i="0">
                <a:solidFill>
                  <a:srgbClr val="FFFFFF"/>
                </a:solidFill>
              </a:rPr>
              <a:t>WHAT A CONVERTING SERVICE SITE DOES</a:t>
            </a:r>
          </a:p>
        </p:txBody>
      </p:sp>
      <p:sp>
        <p:nvSpPr>
          <p:cNvPr id="15" name="TextBox 14"/>
          <p:cNvSpPr txBox="1"/>
          <p:nvPr/>
        </p:nvSpPr>
        <p:spPr>
          <a:xfrm>
            <a:off x="4663440" y="2212848"/>
            <a:ext cx="3108960" cy="26517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Post-webinar nurture: Day 1/3/7/14 email sequence</a:t>
            </a:r>
          </a:p>
          <a:p>
            <a:pPr algn="l">
              <a:spcAft>
                <a:spcPts val="600"/>
              </a:spcAft>
            </a:pPr>
            <a:r>
              <a:rPr sz="900"/>
              <a:t>  </a:t>
            </a:r>
            <a:r>
              <a:rPr sz="900" b="1">
                <a:solidFill>
                  <a:srgbClr val="F5C518"/>
                </a:solidFill>
              </a:rPr>
              <a:t>* </a:t>
            </a:r>
            <a:r>
              <a:rPr sz="1100">
                <a:solidFill>
                  <a:srgbClr val="C8D4EE"/>
                </a:solidFill>
              </a:rPr>
              <a:t>AI chatbot pre-qualifies and books 24/7</a:t>
            </a:r>
          </a:p>
          <a:p>
            <a:pPr algn="l">
              <a:spcAft>
                <a:spcPts val="600"/>
              </a:spcAft>
            </a:pPr>
            <a:r>
              <a:rPr sz="900"/>
              <a:t>  </a:t>
            </a:r>
            <a:r>
              <a:rPr sz="900" b="1">
                <a:solidFill>
                  <a:srgbClr val="F5C518"/>
                </a:solidFill>
              </a:rPr>
              <a:t>* </a:t>
            </a:r>
            <a:r>
              <a:rPr sz="1100">
                <a:solidFill>
                  <a:srgbClr val="C8D4EE"/>
                </a:solidFill>
              </a:rPr>
              <a:t>Social proof above fold with trust stats + testimonials</a:t>
            </a:r>
          </a:p>
          <a:p>
            <a:pPr algn="l">
              <a:spcAft>
                <a:spcPts val="600"/>
              </a:spcAft>
            </a:pPr>
            <a:r>
              <a:rPr sz="900"/>
              <a:t>  </a:t>
            </a:r>
            <a:r>
              <a:rPr sz="900" b="1">
                <a:solidFill>
                  <a:srgbClr val="F5C518"/>
                </a:solidFill>
              </a:rPr>
              <a:t>* </a:t>
            </a:r>
            <a:r>
              <a:rPr sz="1100">
                <a:solidFill>
                  <a:srgbClr val="C8D4EE"/>
                </a:solidFill>
              </a:rPr>
              <a:t>Calculator gated behind email capture</a:t>
            </a:r>
          </a:p>
          <a:p>
            <a:pPr algn="l">
              <a:spcAft>
                <a:spcPts val="600"/>
              </a:spcAft>
            </a:pPr>
            <a:r>
              <a:rPr sz="900"/>
              <a:t>  </a:t>
            </a:r>
            <a:r>
              <a:rPr sz="900" b="1">
                <a:solidFill>
                  <a:srgbClr val="F5C518"/>
                </a:solidFill>
              </a:rPr>
              <a:t>* </a:t>
            </a:r>
            <a:r>
              <a:rPr sz="1100">
                <a:solidFill>
                  <a:srgbClr val="C8D4EE"/>
                </a:solidFill>
              </a:rPr>
              <a:t>Dedicated B2B page with attorney-specific intake</a:t>
            </a:r>
          </a:p>
          <a:p>
            <a:pPr algn="l">
              <a:spcAft>
                <a:spcPts val="600"/>
              </a:spcAft>
            </a:pPr>
            <a:r>
              <a:rPr sz="900"/>
              <a:t>  </a:t>
            </a:r>
            <a:r>
              <a:rPr sz="900" b="1">
                <a:solidFill>
                  <a:srgbClr val="F5C518"/>
                </a:solidFill>
              </a:rPr>
              <a:t>* </a:t>
            </a:r>
            <a:r>
              <a:rPr sz="1100">
                <a:solidFill>
                  <a:srgbClr val="C8D4EE"/>
                </a:solidFill>
              </a:rPr>
              <a:t>AI scheduling for service appointments</a:t>
            </a:r>
          </a:p>
          <a:p>
            <a:pPr algn="l">
              <a:spcAft>
                <a:spcPts val="600"/>
              </a:spcAft>
            </a:pPr>
            <a:r>
              <a:rPr sz="900"/>
              <a:t>  </a:t>
            </a:r>
            <a:r>
              <a:rPr sz="900" b="1">
                <a:solidFill>
                  <a:srgbClr val="F5C518"/>
                </a:solidFill>
              </a:rPr>
              <a:t>* </a:t>
            </a:r>
            <a:r>
              <a:rPr sz="1100">
                <a:solidFill>
                  <a:srgbClr val="C8D4EE"/>
                </a:solidFill>
              </a:rPr>
              <a:t>SEO content targeting state + service keywords</a:t>
            </a:r>
          </a:p>
          <a:p>
            <a:pPr algn="l"/>
            <a:r>
              <a:rPr sz="900"/>
              <a:t>  </a:t>
            </a:r>
            <a:r>
              <a:rPr sz="900" b="1">
                <a:solidFill>
                  <a:srgbClr val="F5C518"/>
                </a:solidFill>
              </a:rPr>
              <a:t>* </a:t>
            </a:r>
            <a:r>
              <a:rPr sz="1100">
                <a:solidFill>
                  <a:srgbClr val="C8D4EE"/>
                </a:solidFill>
              </a:rPr>
              <a:t>Transparent packages for B2C and B2B tiers</a:t>
            </a:r>
          </a:p>
        </p:txBody>
      </p:sp>
      <p:sp>
        <p:nvSpPr>
          <p:cNvPr id="16" name="TextBox 15"/>
          <p:cNvSpPr txBox="1"/>
          <p:nvPr/>
        </p:nvSpPr>
        <p:spPr>
          <a:xfrm>
            <a:off x="7936992" y="3291840"/>
            <a:ext cx="457200" cy="457200"/>
          </a:xfrm>
          <a:prstGeom prst="rect">
            <a:avLst/>
          </a:prstGeom>
          <a:noFill/>
        </p:spPr>
        <p:txBody>
          <a:bodyPr wrap="square">
            <a:spAutoFit/>
          </a:bodyPr>
          <a:lstStyle/>
          <a:p>
            <a:pPr algn="ctr"/>
            <a:r>
              <a:rPr sz="3000" b="1" i="0">
                <a:solidFill>
                  <a:srgbClr val="A055FF"/>
                </a:solidFill>
              </a:rPr>
              <a:t>-&gt;</a:t>
            </a:r>
          </a:p>
        </p:txBody>
      </p:sp>
      <p:sp>
        <p:nvSpPr>
          <p:cNvPr id="17" name="Rectangle 16"/>
          <p:cNvSpPr/>
          <p:nvPr/>
        </p:nvSpPr>
        <p:spPr>
          <a:xfrm>
            <a:off x="84582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1737360"/>
            <a:ext cx="329184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755648"/>
            <a:ext cx="3108960" cy="347472"/>
          </a:xfrm>
          <a:prstGeom prst="rect">
            <a:avLst/>
          </a:prstGeom>
          <a:noFill/>
        </p:spPr>
        <p:txBody>
          <a:bodyPr wrap="square">
            <a:spAutoFit/>
          </a:bodyPr>
          <a:lstStyle/>
          <a:p>
            <a:pPr algn="ctr"/>
            <a:r>
              <a:rPr sz="1000" b="1" i="0">
                <a:solidFill>
                  <a:srgbClr val="FFFFFF"/>
                </a:solidFill>
              </a:rPr>
              <a:t>WHAT GENOS AI BUILDS</a:t>
            </a:r>
          </a:p>
        </p:txBody>
      </p:sp>
      <p:sp>
        <p:nvSpPr>
          <p:cNvPr id="20" name="TextBox 19"/>
          <p:cNvSpPr txBox="1"/>
          <p:nvPr/>
        </p:nvSpPr>
        <p:spPr>
          <a:xfrm>
            <a:off x="8549640" y="2212848"/>
            <a:ext cx="3108960" cy="265176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Post-webinar nurture sequence (Day 1/3/7/14)</a:t>
            </a:r>
          </a:p>
          <a:p>
            <a:pPr algn="l">
              <a:spcAft>
                <a:spcPts val="600"/>
              </a:spcAft>
            </a:pPr>
            <a:r>
              <a:rPr sz="900"/>
              <a:t>  </a:t>
            </a:r>
            <a:r>
              <a:rPr sz="900" b="1">
                <a:solidFill>
                  <a:srgbClr val="2ECC71"/>
                </a:solidFill>
              </a:rPr>
              <a:t>* </a:t>
            </a:r>
            <a:r>
              <a:rPr sz="1100">
                <a:solidFill>
                  <a:srgbClr val="C8D4EE"/>
                </a:solidFill>
              </a:rPr>
              <a:t>AI chatbot: estate planning FAQ + pre-qualification</a:t>
            </a:r>
          </a:p>
          <a:p>
            <a:pPr algn="l">
              <a:spcAft>
                <a:spcPts val="600"/>
              </a:spcAft>
            </a:pPr>
            <a:r>
              <a:rPr sz="900"/>
              <a:t>  </a:t>
            </a:r>
            <a:r>
              <a:rPr sz="900" b="1">
                <a:solidFill>
                  <a:srgbClr val="2ECC71"/>
                </a:solidFill>
              </a:rPr>
              <a:t>* </a:t>
            </a:r>
            <a:r>
              <a:rPr sz="1100">
                <a:solidFill>
                  <a:srgbClr val="C8D4EE"/>
                </a:solidFill>
              </a:rPr>
              <a:t>845 trusts + testimonials above fold</a:t>
            </a:r>
          </a:p>
          <a:p>
            <a:pPr algn="l">
              <a:spcAft>
                <a:spcPts val="600"/>
              </a:spcAft>
            </a:pPr>
            <a:r>
              <a:rPr sz="900"/>
              <a:t>  </a:t>
            </a:r>
            <a:r>
              <a:rPr sz="900" b="1">
                <a:solidFill>
                  <a:srgbClr val="2ECC71"/>
                </a:solidFill>
              </a:rPr>
              <a:t>* </a:t>
            </a:r>
            <a:r>
              <a:rPr sz="1100">
                <a:solidFill>
                  <a:srgbClr val="C8D4EE"/>
                </a:solidFill>
              </a:rPr>
              <a:t>Probate calculator: email gate before results</a:t>
            </a:r>
          </a:p>
          <a:p>
            <a:pPr algn="l">
              <a:spcAft>
                <a:spcPts val="600"/>
              </a:spcAft>
            </a:pPr>
            <a:r>
              <a:rPr sz="900"/>
              <a:t>  </a:t>
            </a:r>
            <a:r>
              <a:rPr sz="900" b="1">
                <a:solidFill>
                  <a:srgbClr val="2ECC71"/>
                </a:solidFill>
              </a:rPr>
              <a:t>* </a:t>
            </a:r>
            <a:r>
              <a:rPr sz="1100">
                <a:solidFill>
                  <a:srgbClr val="C8D4EE"/>
                </a:solidFill>
              </a:rPr>
              <a:t>Attorney B2B landing page + qualifying intake form</a:t>
            </a:r>
          </a:p>
          <a:p>
            <a:pPr algn="l">
              <a:spcAft>
                <a:spcPts val="600"/>
              </a:spcAft>
            </a:pPr>
            <a:r>
              <a:rPr sz="900"/>
              <a:t>  </a:t>
            </a:r>
            <a:r>
              <a:rPr sz="900" b="1">
                <a:solidFill>
                  <a:srgbClr val="2ECC71"/>
                </a:solidFill>
              </a:rPr>
              <a:t>* </a:t>
            </a:r>
            <a:r>
              <a:rPr sz="1100">
                <a:solidFill>
                  <a:srgbClr val="C8D4EE"/>
                </a:solidFill>
              </a:rPr>
              <a:t>AI scheduling for mobile trust delivery</a:t>
            </a:r>
          </a:p>
          <a:p>
            <a:pPr algn="l">
              <a:spcAft>
                <a:spcPts val="600"/>
              </a:spcAft>
            </a:pPr>
            <a:r>
              <a:rPr sz="900"/>
              <a:t>  </a:t>
            </a:r>
            <a:r>
              <a:rPr sz="900" b="1">
                <a:solidFill>
                  <a:srgbClr val="2ECC71"/>
                </a:solidFill>
              </a:rPr>
              <a:t>* </a:t>
            </a:r>
            <a:r>
              <a:rPr sz="1100">
                <a:solidFill>
                  <a:srgbClr val="C8D4EE"/>
                </a:solidFill>
              </a:rPr>
              <a:t>State-specific SEO content engine (50 states)</a:t>
            </a:r>
          </a:p>
          <a:p>
            <a:pPr algn="l"/>
            <a:r>
              <a:rPr sz="900"/>
              <a:t>  </a:t>
            </a:r>
            <a:r>
              <a:rPr sz="900" b="1">
                <a:solidFill>
                  <a:srgbClr val="2ECC71"/>
                </a:solidFill>
              </a:rPr>
              <a:t>* </a:t>
            </a:r>
            <a:r>
              <a:rPr sz="1100">
                <a:solidFill>
                  <a:srgbClr val="C8D4EE"/>
                </a:solidFill>
              </a:rPr>
              <a:t>B2C + B2B pricing transparency pages</a:t>
            </a:r>
          </a:p>
        </p:txBody>
      </p:sp>
      <p:sp>
        <p:nvSpPr>
          <p:cNvPr id="21" name="Rectangle 20"/>
          <p:cNvSpPr/>
          <p:nvPr/>
        </p:nvSpPr>
        <p:spPr>
          <a:xfrm>
            <a:off x="502920" y="5230368"/>
            <a:ext cx="11183112"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85232"/>
            <a:ext cx="1828800" cy="347472"/>
          </a:xfrm>
          <a:prstGeom prst="rect">
            <a:avLst/>
          </a:prstGeom>
          <a:noFill/>
        </p:spPr>
        <p:txBody>
          <a:bodyPr wrap="square">
            <a:spAutoFit/>
          </a:bodyPr>
          <a:lstStyle/>
          <a:p>
            <a:pPr algn="l"/>
            <a:r>
              <a:rPr sz="1100" b="1" i="0">
                <a:solidFill>
                  <a:srgbClr val="A055FF"/>
                </a:solidFill>
              </a:rPr>
              <a:t>CONVERSION LEAKS:</a:t>
            </a:r>
          </a:p>
        </p:txBody>
      </p:sp>
      <p:sp>
        <p:nvSpPr>
          <p:cNvPr id="23" name="TextBox 22"/>
          <p:cNvSpPr txBox="1"/>
          <p:nvPr/>
        </p:nvSpPr>
        <p:spPr>
          <a:xfrm>
            <a:off x="2743200" y="5257800"/>
            <a:ext cx="2286000" cy="502920"/>
          </a:xfrm>
          <a:prstGeom prst="rect">
            <a:avLst/>
          </a:prstGeom>
          <a:noFill/>
        </p:spPr>
        <p:txBody>
          <a:bodyPr wrap="square">
            <a:spAutoFit/>
          </a:bodyPr>
          <a:lstStyle/>
          <a:p>
            <a:pPr algn="ctr"/>
            <a:r>
              <a:rPr sz="2200" b="1" i="0">
                <a:solidFill>
                  <a:srgbClr val="F5C518"/>
                </a:solidFill>
              </a:rPr>
              <a:t>80%</a:t>
            </a:r>
          </a:p>
        </p:txBody>
      </p:sp>
      <p:sp>
        <p:nvSpPr>
          <p:cNvPr id="24" name="TextBox 23"/>
          <p:cNvSpPr txBox="1"/>
          <p:nvPr/>
        </p:nvSpPr>
        <p:spPr>
          <a:xfrm>
            <a:off x="2743200" y="5687568"/>
            <a:ext cx="2286000" cy="640080"/>
          </a:xfrm>
          <a:prstGeom prst="rect">
            <a:avLst/>
          </a:prstGeom>
          <a:noFill/>
        </p:spPr>
        <p:txBody>
          <a:bodyPr wrap="square">
            <a:spAutoFit/>
          </a:bodyPr>
          <a:lstStyle/>
          <a:p>
            <a:pPr algn="ctr"/>
            <a:r>
              <a:rPr sz="1000" b="0" i="0">
                <a:solidFill>
                  <a:srgbClr val="C8D4EE"/>
                </a:solidFill>
              </a:rPr>
              <a:t>Webinar registrants lost
with no follow-up</a:t>
            </a:r>
          </a:p>
        </p:txBody>
      </p:sp>
      <p:sp>
        <p:nvSpPr>
          <p:cNvPr id="25" name="TextBox 24"/>
          <p:cNvSpPr txBox="1"/>
          <p:nvPr/>
        </p:nvSpPr>
        <p:spPr>
          <a:xfrm>
            <a:off x="5138013" y="5257800"/>
            <a:ext cx="2286000" cy="502920"/>
          </a:xfrm>
          <a:prstGeom prst="rect">
            <a:avLst/>
          </a:prstGeom>
          <a:noFill/>
        </p:spPr>
        <p:txBody>
          <a:bodyPr wrap="square">
            <a:spAutoFit/>
          </a:bodyPr>
          <a:lstStyle/>
          <a:p>
            <a:pPr algn="ctr"/>
            <a:r>
              <a:rPr sz="2200" b="1" i="0">
                <a:solidFill>
                  <a:srgbClr val="F5C518"/>
                </a:solidFill>
              </a:rPr>
              <a:t>0</a:t>
            </a:r>
          </a:p>
        </p:txBody>
      </p:sp>
      <p:sp>
        <p:nvSpPr>
          <p:cNvPr id="26" name="TextBox 25"/>
          <p:cNvSpPr txBox="1"/>
          <p:nvPr/>
        </p:nvSpPr>
        <p:spPr>
          <a:xfrm>
            <a:off x="5138013" y="5687568"/>
            <a:ext cx="2286000" cy="640080"/>
          </a:xfrm>
          <a:prstGeom prst="rect">
            <a:avLst/>
          </a:prstGeom>
          <a:noFill/>
        </p:spPr>
        <p:txBody>
          <a:bodyPr wrap="square">
            <a:spAutoFit/>
          </a:bodyPr>
          <a:lstStyle/>
          <a:p>
            <a:pPr algn="ctr"/>
            <a:r>
              <a:rPr sz="1000" b="0" i="0">
                <a:solidFill>
                  <a:srgbClr val="C8D4EE"/>
                </a:solidFill>
              </a:rPr>
              <a:t>Attorney-specific pages
despite B2B LinkedIn pivot</a:t>
            </a:r>
          </a:p>
        </p:txBody>
      </p:sp>
      <p:sp>
        <p:nvSpPr>
          <p:cNvPr id="27" name="TextBox 26"/>
          <p:cNvSpPr txBox="1"/>
          <p:nvPr/>
        </p:nvSpPr>
        <p:spPr>
          <a:xfrm>
            <a:off x="7532827" y="5257800"/>
            <a:ext cx="2286000" cy="502920"/>
          </a:xfrm>
          <a:prstGeom prst="rect">
            <a:avLst/>
          </a:prstGeom>
          <a:noFill/>
        </p:spPr>
        <p:txBody>
          <a:bodyPr wrap="square">
            <a:spAutoFit/>
          </a:bodyPr>
          <a:lstStyle/>
          <a:p>
            <a:pPr algn="ctr"/>
            <a:r>
              <a:rPr sz="2200" b="1" i="0">
                <a:solidFill>
                  <a:srgbClr val="F5C518"/>
                </a:solidFill>
              </a:rPr>
              <a:t>845</a:t>
            </a:r>
          </a:p>
        </p:txBody>
      </p:sp>
      <p:sp>
        <p:nvSpPr>
          <p:cNvPr id="28" name="TextBox 27"/>
          <p:cNvSpPr txBox="1"/>
          <p:nvPr/>
        </p:nvSpPr>
        <p:spPr>
          <a:xfrm>
            <a:off x="7532827" y="5687568"/>
            <a:ext cx="2286000" cy="640080"/>
          </a:xfrm>
          <a:prstGeom prst="rect">
            <a:avLst/>
          </a:prstGeom>
          <a:noFill/>
        </p:spPr>
        <p:txBody>
          <a:bodyPr wrap="square">
            <a:spAutoFit/>
          </a:bodyPr>
          <a:lstStyle/>
          <a:p>
            <a:pPr algn="ctr"/>
            <a:r>
              <a:rPr sz="1000" b="0" i="0">
                <a:solidFill>
                  <a:srgbClr val="C8D4EE"/>
                </a:solidFill>
              </a:rPr>
              <a:t>Trusts invisible
on homepage</a:t>
            </a:r>
          </a:p>
        </p:txBody>
      </p:sp>
      <p:sp>
        <p:nvSpPr>
          <p:cNvPr id="29" name="TextBox 28"/>
          <p:cNvSpPr txBox="1"/>
          <p:nvPr/>
        </p:nvSpPr>
        <p:spPr>
          <a:xfrm>
            <a:off x="9927640" y="5257800"/>
            <a:ext cx="2286000" cy="502920"/>
          </a:xfrm>
          <a:prstGeom prst="rect">
            <a:avLst/>
          </a:prstGeom>
          <a:noFill/>
        </p:spPr>
        <p:txBody>
          <a:bodyPr wrap="square">
            <a:spAutoFit/>
          </a:bodyPr>
          <a:lstStyle/>
          <a:p>
            <a:pPr algn="ctr"/>
            <a:r>
              <a:rPr sz="2200" b="1" i="0">
                <a:solidFill>
                  <a:srgbClr val="F5C518"/>
                </a:solidFill>
              </a:rPr>
              <a:t>50 states</a:t>
            </a:r>
          </a:p>
        </p:txBody>
      </p:sp>
      <p:sp>
        <p:nvSpPr>
          <p:cNvPr id="30" name="TextBox 29"/>
          <p:cNvSpPr txBox="1"/>
          <p:nvPr/>
        </p:nvSpPr>
        <p:spPr>
          <a:xfrm>
            <a:off x="9927640" y="5687568"/>
            <a:ext cx="2286000" cy="640080"/>
          </a:xfrm>
          <a:prstGeom prst="rect">
            <a:avLst/>
          </a:prstGeom>
          <a:noFill/>
        </p:spPr>
        <p:txBody>
          <a:bodyPr wrap="square">
            <a:spAutoFit/>
          </a:bodyPr>
          <a:lstStyle/>
          <a:p>
            <a:pPr algn="ctr"/>
            <a:r>
              <a:rPr sz="1000" b="0" i="0">
                <a:solidFill>
                  <a:srgbClr val="C8D4EE"/>
                </a:solidFill>
              </a:rPr>
              <a:t>Coverage with zero
state SEO content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AI AUTOMATION STACK</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600" b="1" i="0">
                <a:solidFill>
                  <a:srgbClr val="FFFFFF"/>
                </a:solidFill>
              </a:rPr>
              <a:t>Four Layers That Convert the Pipeline June Is Already Building.</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69748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10512"/>
            <a:ext cx="2478024" cy="594360"/>
          </a:xfrm>
          <a:prstGeom prst="rect">
            <a:avLst/>
          </a:prstGeom>
          <a:noFill/>
        </p:spPr>
        <p:txBody>
          <a:bodyPr wrap="square">
            <a:spAutoFit/>
          </a:bodyPr>
          <a:lstStyle/>
          <a:p>
            <a:pPr algn="l"/>
            <a:r>
              <a:rPr sz="1300" b="1" i="0">
                <a:solidFill>
                  <a:srgbClr val="00B4D8"/>
                </a:solidFill>
              </a:rPr>
              <a:t>Post-Webinar
Nurture Sequence</a:t>
            </a:r>
          </a:p>
        </p:txBody>
      </p:sp>
      <p:sp>
        <p:nvSpPr>
          <p:cNvPr id="10" name="TextBox 9"/>
          <p:cNvSpPr txBox="1"/>
          <p:nvPr/>
        </p:nvSpPr>
        <p:spPr>
          <a:xfrm>
            <a:off x="612648" y="2423160"/>
            <a:ext cx="2478024" cy="3337560"/>
          </a:xfrm>
          <a:prstGeom prst="rect">
            <a:avLst/>
          </a:prstGeom>
          <a:noFill/>
        </p:spPr>
        <p:txBody>
          <a:bodyPr wrap="square">
            <a:spAutoFit/>
          </a:bodyPr>
          <a:lstStyle/>
          <a:p>
            <a:pPr algn="l"/>
            <a:r>
              <a:rPr sz="1100" b="0" i="0">
                <a:solidFill>
                  <a:srgbClr val="C8D4EE"/>
                </a:solidFill>
              </a:rPr>
              <a:t>The webinar already runs. The 80% of registrants who watch but don't immediately book a 15-minute call are not saying no - they are thinking about it. A Day 1 recap email, Day 3 FAQ email, Day 7 social proof email, and Day 14 urgency email re-engages them at the moment they are ready. Most estate planning purchases happen in the second or third touchpoint, not the first.</a:t>
            </a:r>
          </a:p>
        </p:txBody>
      </p:sp>
      <p:sp>
        <p:nvSpPr>
          <p:cNvPr id="11" name="Rectangle 10"/>
          <p:cNvSpPr/>
          <p:nvPr/>
        </p:nvSpPr>
        <p:spPr>
          <a:xfrm>
            <a:off x="3346704" y="1645920"/>
            <a:ext cx="269748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46704"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6432" y="1810512"/>
            <a:ext cx="2478024" cy="594360"/>
          </a:xfrm>
          <a:prstGeom prst="rect">
            <a:avLst/>
          </a:prstGeom>
          <a:noFill/>
        </p:spPr>
        <p:txBody>
          <a:bodyPr wrap="square">
            <a:spAutoFit/>
          </a:bodyPr>
          <a:lstStyle/>
          <a:p>
            <a:pPr algn="l"/>
            <a:r>
              <a:rPr sz="1300" b="1" i="0">
                <a:solidFill>
                  <a:srgbClr val="F5C518"/>
                </a:solidFill>
              </a:rPr>
              <a:t>AI Chatbot for
Pre-Qualification</a:t>
            </a:r>
          </a:p>
        </p:txBody>
      </p:sp>
      <p:sp>
        <p:nvSpPr>
          <p:cNvPr id="14" name="TextBox 13"/>
          <p:cNvSpPr txBox="1"/>
          <p:nvPr/>
        </p:nvSpPr>
        <p:spPr>
          <a:xfrm>
            <a:off x="3456432" y="2423160"/>
            <a:ext cx="2478024" cy="3337560"/>
          </a:xfrm>
          <a:prstGeom prst="rect">
            <a:avLst/>
          </a:prstGeom>
          <a:noFill/>
        </p:spPr>
        <p:txBody>
          <a:bodyPr wrap="square">
            <a:spAutoFit/>
          </a:bodyPr>
          <a:lstStyle/>
          <a:p>
            <a:pPr algn="l"/>
            <a:r>
              <a:rPr sz="1100" b="0" i="0">
                <a:solidFill>
                  <a:srgbClr val="C8D4EE"/>
                </a:solidFill>
              </a:rPr>
              <a:t>Someone watches the webinar at 10pm and has questions. Or they land on the site from a Google search and want to know if this is right for them. An AI chatbot trained on June's content, the service details, and estate planning FAQ answers in real time, pre-qualifies B2C and B2B visitors, and either books a 15-minute call or routes attorney prospects to the B2B intake. Runs 24/7 without June's time.</a:t>
            </a:r>
          </a:p>
        </p:txBody>
      </p:sp>
      <p:sp>
        <p:nvSpPr>
          <p:cNvPr id="15" name="Rectangle 14"/>
          <p:cNvSpPr/>
          <p:nvPr/>
        </p:nvSpPr>
        <p:spPr>
          <a:xfrm>
            <a:off x="6190488" y="1645920"/>
            <a:ext cx="269748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0488"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0216" y="1810512"/>
            <a:ext cx="2478024" cy="594360"/>
          </a:xfrm>
          <a:prstGeom prst="rect">
            <a:avLst/>
          </a:prstGeom>
          <a:noFill/>
        </p:spPr>
        <p:txBody>
          <a:bodyPr wrap="square">
            <a:spAutoFit/>
          </a:bodyPr>
          <a:lstStyle/>
          <a:p>
            <a:pPr algn="l"/>
            <a:r>
              <a:rPr sz="1300" b="1" i="0">
                <a:solidFill>
                  <a:srgbClr val="2ECC71"/>
                </a:solidFill>
              </a:rPr>
              <a:t>Attorney B2B
Infrastructure</a:t>
            </a:r>
          </a:p>
        </p:txBody>
      </p:sp>
      <p:sp>
        <p:nvSpPr>
          <p:cNvPr id="18" name="TextBox 17"/>
          <p:cNvSpPr txBox="1"/>
          <p:nvPr/>
        </p:nvSpPr>
        <p:spPr>
          <a:xfrm>
            <a:off x="6300216" y="2423160"/>
            <a:ext cx="2478024" cy="3337560"/>
          </a:xfrm>
          <a:prstGeom prst="rect">
            <a:avLst/>
          </a:prstGeom>
          <a:noFill/>
        </p:spPr>
        <p:txBody>
          <a:bodyPr wrap="square">
            <a:spAutoFit/>
          </a:bodyPr>
          <a:lstStyle/>
          <a:p>
            <a:pPr algn="l"/>
            <a:r>
              <a:rPr sz="1100" b="0" i="0">
                <a:solidFill>
                  <a:srgbClr val="C8D4EE"/>
                </a:solidFill>
              </a:rPr>
              <a:t>June's LinkedIn post is generating attorney interest. An attorney who clicks through lands on a consumer homepage. A dedicated attorney landing page, a qualifying intake form (states needed, monthly trust volume, current signing process, main pain point), and a tailored follow-up sequence convert that LinkedIn traffic into a qualified pipeline. The B2B pitch is already being made - it just needs a place to land.</a:t>
            </a:r>
          </a:p>
        </p:txBody>
      </p:sp>
      <p:sp>
        <p:nvSpPr>
          <p:cNvPr id="19" name="Rectangle 18"/>
          <p:cNvSpPr/>
          <p:nvPr/>
        </p:nvSpPr>
        <p:spPr>
          <a:xfrm>
            <a:off x="9034272" y="1645920"/>
            <a:ext cx="2697480" cy="54864"/>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4272"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1810512"/>
            <a:ext cx="2478024" cy="594360"/>
          </a:xfrm>
          <a:prstGeom prst="rect">
            <a:avLst/>
          </a:prstGeom>
          <a:noFill/>
        </p:spPr>
        <p:txBody>
          <a:bodyPr wrap="square">
            <a:spAutoFit/>
          </a:bodyPr>
          <a:lstStyle/>
          <a:p>
            <a:pPr algn="l"/>
            <a:r>
              <a:rPr sz="1300" b="1" i="0">
                <a:solidFill>
                  <a:srgbClr val="A055FF"/>
                </a:solidFill>
              </a:rPr>
              <a:t>AI Scheduling for
Mobile Trust Delivery</a:t>
            </a:r>
          </a:p>
        </p:txBody>
      </p:sp>
      <p:sp>
        <p:nvSpPr>
          <p:cNvPr id="22" name="TextBox 21"/>
          <p:cNvSpPr txBox="1"/>
          <p:nvPr/>
        </p:nvSpPr>
        <p:spPr>
          <a:xfrm>
            <a:off x="9144000" y="2423160"/>
            <a:ext cx="2478024" cy="3337560"/>
          </a:xfrm>
          <a:prstGeom prst="rect">
            <a:avLst/>
          </a:prstGeom>
          <a:noFill/>
        </p:spPr>
        <p:txBody>
          <a:bodyPr wrap="square">
            <a:spAutoFit/>
          </a:bodyPr>
          <a:lstStyle/>
          <a:p>
            <a:pPr algn="l"/>
            <a:r>
              <a:rPr sz="1100" b="0" i="0">
                <a:solidFill>
                  <a:srgbClr val="C8D4EE"/>
                </a:solidFill>
              </a:rPr>
              <a:t>Mobile trust delivery means logistics: client location, availability window, notary routing, document readiness check, post-signing follow-up. Each step currently involves manual communication. An AI scheduling system that handles intake, confirms appointment windows, sends reminders, and automates post-signing document delivery removes the administrative layer that scales poorly as client volume grows.</a:t>
            </a:r>
          </a:p>
        </p:txBody>
      </p:sp>
      <p:sp>
        <p:nvSpPr>
          <p:cNvPr id="23" name="Rectangle 22"/>
          <p:cNvSpPr/>
          <p:nvPr/>
        </p:nvSpPr>
        <p:spPr>
          <a:xfrm>
            <a:off x="502920" y="6126480"/>
            <a:ext cx="11183112" cy="4114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172200"/>
            <a:ext cx="10972800" cy="320040"/>
          </a:xfrm>
          <a:prstGeom prst="rect">
            <a:avLst/>
          </a:prstGeom>
          <a:noFill/>
        </p:spPr>
        <p:txBody>
          <a:bodyPr wrap="square">
            <a:spAutoFit/>
          </a:bodyPr>
          <a:lstStyle/>
          <a:p>
            <a:pPr algn="l"/>
            <a:r>
              <a:rPr sz="1100" b="0" i="1">
                <a:solidFill>
                  <a:srgbClr val="F5C518"/>
                </a:solidFill>
              </a:rPr>
              <a:t>June's job is delivering trust signings. The automation layer handles everything between 'watched the webinar' and 'ready to sign.'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8C00"/>
                </a:solidFill>
              </a:rPr>
              <a:t>THE WEBINAR FUNNEL</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What Happens After Someone Watches - Today vs. After Genos AI.</a:t>
            </a:r>
          </a:p>
        </p:txBody>
      </p:sp>
      <p:sp>
        <p:nvSpPr>
          <p:cNvPr id="6" name="Rectangle 5"/>
          <p:cNvSpPr/>
          <p:nvPr/>
        </p:nvSpPr>
        <p:spPr>
          <a:xfrm>
            <a:off x="502920" y="1234440"/>
            <a:ext cx="2286000" cy="3657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11183112" cy="14173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81912"/>
            <a:ext cx="2011680" cy="594360"/>
          </a:xfrm>
          <a:prstGeom prst="rect">
            <a:avLst/>
          </a:prstGeom>
          <a:noFill/>
        </p:spPr>
        <p:txBody>
          <a:bodyPr wrap="square">
            <a:spAutoFit/>
          </a:bodyPr>
          <a:lstStyle/>
          <a:p>
            <a:pPr algn="ctr"/>
            <a:r>
              <a:rPr sz="2000" b="1" i="0">
                <a:solidFill>
                  <a:srgbClr val="FF8C00"/>
                </a:solidFill>
              </a:rPr>
              <a:t>80%</a:t>
            </a:r>
          </a:p>
        </p:txBody>
      </p:sp>
      <p:sp>
        <p:nvSpPr>
          <p:cNvPr id="9" name="TextBox 8"/>
          <p:cNvSpPr txBox="1"/>
          <p:nvPr/>
        </p:nvSpPr>
        <p:spPr>
          <a:xfrm>
            <a:off x="640080" y="2130552"/>
            <a:ext cx="2011680" cy="457200"/>
          </a:xfrm>
          <a:prstGeom prst="rect">
            <a:avLst/>
          </a:prstGeom>
          <a:noFill/>
        </p:spPr>
        <p:txBody>
          <a:bodyPr wrap="square">
            <a:spAutoFit/>
          </a:bodyPr>
          <a:lstStyle/>
          <a:p>
            <a:pPr algn="ctr"/>
            <a:r>
              <a:rPr sz="1000" b="0" i="0">
                <a:solidFill>
                  <a:srgbClr val="C8D4EE"/>
                </a:solidFill>
              </a:rPr>
              <a:t>Webinar registrants who
don't book immediately</a:t>
            </a:r>
          </a:p>
        </p:txBody>
      </p:sp>
      <p:sp>
        <p:nvSpPr>
          <p:cNvPr id="10" name="TextBox 9"/>
          <p:cNvSpPr txBox="1"/>
          <p:nvPr/>
        </p:nvSpPr>
        <p:spPr>
          <a:xfrm>
            <a:off x="2788920" y="1581912"/>
            <a:ext cx="2011680" cy="594360"/>
          </a:xfrm>
          <a:prstGeom prst="rect">
            <a:avLst/>
          </a:prstGeom>
          <a:noFill/>
        </p:spPr>
        <p:txBody>
          <a:bodyPr wrap="square">
            <a:spAutoFit/>
          </a:bodyPr>
          <a:lstStyle/>
          <a:p>
            <a:pPr algn="ctr"/>
            <a:r>
              <a:rPr sz="2000" b="1" i="0">
                <a:solidFill>
                  <a:srgbClr val="FF8C00"/>
                </a:solidFill>
              </a:rPr>
              <a:t>3-5x</a:t>
            </a:r>
          </a:p>
        </p:txBody>
      </p:sp>
      <p:sp>
        <p:nvSpPr>
          <p:cNvPr id="11" name="TextBox 10"/>
          <p:cNvSpPr txBox="1"/>
          <p:nvPr/>
        </p:nvSpPr>
        <p:spPr>
          <a:xfrm>
            <a:off x="2788920" y="2130552"/>
            <a:ext cx="2011680" cy="457200"/>
          </a:xfrm>
          <a:prstGeom prst="rect">
            <a:avLst/>
          </a:prstGeom>
          <a:noFill/>
        </p:spPr>
        <p:txBody>
          <a:bodyPr wrap="square">
            <a:spAutoFit/>
          </a:bodyPr>
          <a:lstStyle/>
          <a:p>
            <a:pPr algn="ctr"/>
            <a:r>
              <a:rPr sz="1000" b="0" i="0">
                <a:solidFill>
                  <a:srgbClr val="C8D4EE"/>
                </a:solidFill>
              </a:rPr>
              <a:t>Touchpoints needed before
estate planning decision</a:t>
            </a:r>
          </a:p>
        </p:txBody>
      </p:sp>
      <p:sp>
        <p:nvSpPr>
          <p:cNvPr id="12" name="TextBox 11"/>
          <p:cNvSpPr txBox="1"/>
          <p:nvPr/>
        </p:nvSpPr>
        <p:spPr>
          <a:xfrm>
            <a:off x="4937760" y="1581912"/>
            <a:ext cx="2011680" cy="594360"/>
          </a:xfrm>
          <a:prstGeom prst="rect">
            <a:avLst/>
          </a:prstGeom>
          <a:noFill/>
        </p:spPr>
        <p:txBody>
          <a:bodyPr wrap="square">
            <a:spAutoFit/>
          </a:bodyPr>
          <a:lstStyle/>
          <a:p>
            <a:pPr algn="ctr"/>
            <a:r>
              <a:rPr sz="2000" b="1" i="0">
                <a:solidFill>
                  <a:srgbClr val="FF8C00"/>
                </a:solidFill>
              </a:rPr>
              <a:t>Day 14</a:t>
            </a:r>
          </a:p>
        </p:txBody>
      </p:sp>
      <p:sp>
        <p:nvSpPr>
          <p:cNvPr id="13" name="TextBox 12"/>
          <p:cNvSpPr txBox="1"/>
          <p:nvPr/>
        </p:nvSpPr>
        <p:spPr>
          <a:xfrm>
            <a:off x="4937760" y="2130552"/>
            <a:ext cx="2011680" cy="457200"/>
          </a:xfrm>
          <a:prstGeom prst="rect">
            <a:avLst/>
          </a:prstGeom>
          <a:noFill/>
        </p:spPr>
        <p:txBody>
          <a:bodyPr wrap="square">
            <a:spAutoFit/>
          </a:bodyPr>
          <a:lstStyle/>
          <a:p>
            <a:pPr algn="ctr"/>
            <a:r>
              <a:rPr sz="1000" b="0" i="0">
                <a:solidFill>
                  <a:srgbClr val="C8D4EE"/>
                </a:solidFill>
              </a:rPr>
              <a:t>Last automated re-engagement
before lead goes cold</a:t>
            </a:r>
          </a:p>
        </p:txBody>
      </p:sp>
      <p:sp>
        <p:nvSpPr>
          <p:cNvPr id="14" name="TextBox 13"/>
          <p:cNvSpPr txBox="1"/>
          <p:nvPr/>
        </p:nvSpPr>
        <p:spPr>
          <a:xfrm>
            <a:off x="7086600" y="1581912"/>
            <a:ext cx="2011680" cy="594360"/>
          </a:xfrm>
          <a:prstGeom prst="rect">
            <a:avLst/>
          </a:prstGeom>
          <a:noFill/>
        </p:spPr>
        <p:txBody>
          <a:bodyPr wrap="square">
            <a:spAutoFit/>
          </a:bodyPr>
          <a:lstStyle/>
          <a:p>
            <a:pPr algn="ctr"/>
            <a:r>
              <a:rPr sz="2000" b="1" i="0">
                <a:solidFill>
                  <a:srgbClr val="FF8C00"/>
                </a:solidFill>
              </a:rPr>
              <a:t>24/7</a:t>
            </a:r>
          </a:p>
        </p:txBody>
      </p:sp>
      <p:sp>
        <p:nvSpPr>
          <p:cNvPr id="15" name="TextBox 14"/>
          <p:cNvSpPr txBox="1"/>
          <p:nvPr/>
        </p:nvSpPr>
        <p:spPr>
          <a:xfrm>
            <a:off x="7086600" y="2130552"/>
            <a:ext cx="2011680" cy="457200"/>
          </a:xfrm>
          <a:prstGeom prst="rect">
            <a:avLst/>
          </a:prstGeom>
          <a:noFill/>
        </p:spPr>
        <p:txBody>
          <a:bodyPr wrap="square">
            <a:spAutoFit/>
          </a:bodyPr>
          <a:lstStyle/>
          <a:p>
            <a:pPr algn="ctr"/>
            <a:r>
              <a:rPr sz="1000" b="0" i="0">
                <a:solidFill>
                  <a:srgbClr val="C8D4EE"/>
                </a:solidFill>
              </a:rPr>
              <a:t>Chatbot coverage for
post-webinar questions</a:t>
            </a:r>
          </a:p>
        </p:txBody>
      </p:sp>
      <p:sp>
        <p:nvSpPr>
          <p:cNvPr id="16" name="TextBox 15"/>
          <p:cNvSpPr txBox="1"/>
          <p:nvPr/>
        </p:nvSpPr>
        <p:spPr>
          <a:xfrm>
            <a:off x="9235440" y="1581912"/>
            <a:ext cx="2011680" cy="594360"/>
          </a:xfrm>
          <a:prstGeom prst="rect">
            <a:avLst/>
          </a:prstGeom>
          <a:noFill/>
        </p:spPr>
        <p:txBody>
          <a:bodyPr wrap="square">
            <a:spAutoFit/>
          </a:bodyPr>
          <a:lstStyle/>
          <a:p>
            <a:pPr algn="ctr"/>
            <a:r>
              <a:rPr sz="2000" b="1" i="0">
                <a:solidFill>
                  <a:srgbClr val="FF8C00"/>
                </a:solidFill>
              </a:rPr>
              <a:t>100%</a:t>
            </a:r>
          </a:p>
        </p:txBody>
      </p:sp>
      <p:sp>
        <p:nvSpPr>
          <p:cNvPr id="17" name="TextBox 16"/>
          <p:cNvSpPr txBox="1"/>
          <p:nvPr/>
        </p:nvSpPr>
        <p:spPr>
          <a:xfrm>
            <a:off x="9235440" y="2130552"/>
            <a:ext cx="2011680" cy="457200"/>
          </a:xfrm>
          <a:prstGeom prst="rect">
            <a:avLst/>
          </a:prstGeom>
          <a:noFill/>
        </p:spPr>
        <p:txBody>
          <a:bodyPr wrap="square">
            <a:spAutoFit/>
          </a:bodyPr>
          <a:lstStyle/>
          <a:p>
            <a:pPr algn="ctr"/>
            <a:r>
              <a:rPr sz="1000" b="0" i="0">
                <a:solidFill>
                  <a:srgbClr val="C8D4EE"/>
                </a:solidFill>
              </a:rPr>
              <a:t>Attorney leads with
B2B intake captured</a:t>
            </a:r>
          </a:p>
        </p:txBody>
      </p:sp>
      <p:sp>
        <p:nvSpPr>
          <p:cNvPr id="18" name="Rectangle 17"/>
          <p:cNvSpPr/>
          <p:nvPr/>
        </p:nvSpPr>
        <p:spPr>
          <a:xfrm>
            <a:off x="502920" y="3108960"/>
            <a:ext cx="5394960" cy="29718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172968"/>
            <a:ext cx="5120640" cy="320040"/>
          </a:xfrm>
          <a:prstGeom prst="rect">
            <a:avLst/>
          </a:prstGeom>
          <a:noFill/>
        </p:spPr>
        <p:txBody>
          <a:bodyPr wrap="square">
            <a:spAutoFit/>
          </a:bodyPr>
          <a:lstStyle/>
          <a:p>
            <a:pPr algn="l"/>
            <a:r>
              <a:rPr sz="1100" b="1" i="0">
                <a:solidFill>
                  <a:srgbClr val="FF4D4D"/>
                </a:solidFill>
              </a:rPr>
              <a:t>TODAY: WHAT HAPPENS AFTER THE WEBINAR</a:t>
            </a:r>
          </a:p>
        </p:txBody>
      </p:sp>
      <p:sp>
        <p:nvSpPr>
          <p:cNvPr id="20" name="TextBox 19"/>
          <p:cNvSpPr txBox="1"/>
          <p:nvPr/>
        </p:nvSpPr>
        <p:spPr>
          <a:xfrm>
            <a:off x="640080" y="3520440"/>
            <a:ext cx="5120640" cy="233172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Prospect watches 25-min webinar</a:t>
            </a:r>
          </a:p>
          <a:p>
            <a:pPr algn="l">
              <a:spcAft>
                <a:spcPts val="600"/>
              </a:spcAft>
            </a:pPr>
            <a:r>
              <a:rPr sz="900"/>
              <a:t>  </a:t>
            </a:r>
            <a:r>
              <a:rPr sz="900" b="1">
                <a:solidFill>
                  <a:srgbClr val="FF4D4D"/>
                </a:solidFill>
              </a:rPr>
              <a:t>* </a:t>
            </a:r>
            <a:r>
              <a:rPr sz="1100">
                <a:solidFill>
                  <a:srgbClr val="C8D4EE"/>
                </a:solidFill>
              </a:rPr>
              <a:t>Prompted to book a 15-minute call</a:t>
            </a:r>
          </a:p>
          <a:p>
            <a:pPr algn="l">
              <a:spcAft>
                <a:spcPts val="600"/>
              </a:spcAft>
            </a:pPr>
            <a:r>
              <a:rPr sz="900"/>
              <a:t>  </a:t>
            </a:r>
            <a:r>
              <a:rPr sz="900" b="1">
                <a:solidFill>
                  <a:srgbClr val="FF4D4D"/>
                </a:solidFill>
              </a:rPr>
              <a:t>* </a:t>
            </a:r>
            <a:r>
              <a:rPr sz="1100">
                <a:solidFill>
                  <a:srgbClr val="C8D4EE"/>
                </a:solidFill>
              </a:rPr>
              <a:t>Does not book immediately -&gt; nothing happens</a:t>
            </a:r>
          </a:p>
          <a:p>
            <a:pPr algn="l">
              <a:spcAft>
                <a:spcPts val="600"/>
              </a:spcAft>
            </a:pPr>
            <a:r>
              <a:rPr sz="900"/>
              <a:t>  </a:t>
            </a:r>
            <a:r>
              <a:rPr sz="900" b="1">
                <a:solidFill>
                  <a:srgbClr val="FF4D4D"/>
                </a:solidFill>
              </a:rPr>
              <a:t>* </a:t>
            </a:r>
            <a:r>
              <a:rPr sz="1100">
                <a:solidFill>
                  <a:srgbClr val="C8D4EE"/>
                </a:solidFill>
              </a:rPr>
              <a:t>Has a question at 10pm -&gt; no chatbot, no answer</a:t>
            </a:r>
          </a:p>
          <a:p>
            <a:pPr algn="l">
              <a:spcAft>
                <a:spcPts val="600"/>
              </a:spcAft>
            </a:pPr>
            <a:r>
              <a:rPr sz="900"/>
              <a:t>  </a:t>
            </a:r>
            <a:r>
              <a:rPr sz="900" b="1">
                <a:solidFill>
                  <a:srgbClr val="FF4D4D"/>
                </a:solidFill>
              </a:rPr>
              <a:t>* </a:t>
            </a:r>
            <a:r>
              <a:rPr sz="1100">
                <a:solidFill>
                  <a:srgbClr val="C8D4EE"/>
                </a:solidFill>
              </a:rPr>
              <a:t>Visits again next week -&gt; no retargeting sequence</a:t>
            </a:r>
          </a:p>
          <a:p>
            <a:pPr algn="l">
              <a:spcAft>
                <a:spcPts val="600"/>
              </a:spcAft>
            </a:pPr>
            <a:r>
              <a:rPr sz="900"/>
              <a:t>  </a:t>
            </a:r>
            <a:r>
              <a:rPr sz="900" b="1">
                <a:solidFill>
                  <a:srgbClr val="FF4D4D"/>
                </a:solidFill>
              </a:rPr>
              <a:t>* </a:t>
            </a:r>
            <a:r>
              <a:rPr sz="1100">
                <a:solidFill>
                  <a:srgbClr val="C8D4EE"/>
                </a:solidFill>
              </a:rPr>
              <a:t>Searches for estate planning 3 weeks later -&gt; finds a competitor</a:t>
            </a:r>
          </a:p>
          <a:p>
            <a:pPr algn="l"/>
            <a:r>
              <a:rPr sz="900"/>
              <a:t>  </a:t>
            </a:r>
            <a:r>
              <a:rPr sz="900" b="1">
                <a:solidFill>
                  <a:srgbClr val="FF4D4D"/>
                </a:solidFill>
              </a:rPr>
              <a:t>* </a:t>
            </a:r>
            <a:r>
              <a:rPr sz="1100">
                <a:solidFill>
                  <a:srgbClr val="C8D4EE"/>
                </a:solidFill>
              </a:rPr>
              <a:t>Attorney sees LinkedIn post, visits homepage -&gt; finds a consumer site</a:t>
            </a:r>
          </a:p>
        </p:txBody>
      </p:sp>
      <p:sp>
        <p:nvSpPr>
          <p:cNvPr id="21" name="Rectangle 20"/>
          <p:cNvSpPr/>
          <p:nvPr/>
        </p:nvSpPr>
        <p:spPr>
          <a:xfrm>
            <a:off x="6080760" y="3108960"/>
            <a:ext cx="5605272" cy="29718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3172968"/>
            <a:ext cx="5303520" cy="320040"/>
          </a:xfrm>
          <a:prstGeom prst="rect">
            <a:avLst/>
          </a:prstGeom>
          <a:noFill/>
        </p:spPr>
        <p:txBody>
          <a:bodyPr wrap="square">
            <a:spAutoFit/>
          </a:bodyPr>
          <a:lstStyle/>
          <a:p>
            <a:pPr algn="l"/>
            <a:r>
              <a:rPr sz="1100" b="1" i="0">
                <a:solidFill>
                  <a:srgbClr val="2ECC71"/>
                </a:solidFill>
              </a:rPr>
              <a:t>AFTER GENOS AI: THE SAME PROSPECT</a:t>
            </a:r>
          </a:p>
        </p:txBody>
      </p:sp>
      <p:sp>
        <p:nvSpPr>
          <p:cNvPr id="23" name="TextBox 22"/>
          <p:cNvSpPr txBox="1"/>
          <p:nvPr/>
        </p:nvSpPr>
        <p:spPr>
          <a:xfrm>
            <a:off x="6217920" y="3520440"/>
            <a:ext cx="5303520" cy="233172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Watches webinar -&gt; Day 1 email: recap + FAQ answers</a:t>
            </a:r>
          </a:p>
          <a:p>
            <a:pPr algn="l">
              <a:spcAft>
                <a:spcPts val="600"/>
              </a:spcAft>
            </a:pPr>
            <a:r>
              <a:rPr sz="900"/>
              <a:t>  </a:t>
            </a:r>
            <a:r>
              <a:rPr sz="900" b="1">
                <a:solidFill>
                  <a:srgbClr val="2ECC71"/>
                </a:solidFill>
              </a:rPr>
              <a:t>* </a:t>
            </a:r>
            <a:r>
              <a:rPr sz="1100">
                <a:solidFill>
                  <a:srgbClr val="C8D4EE"/>
                </a:solidFill>
              </a:rPr>
              <a:t>Day 3 email: social proof (845 trusts, testimonials)</a:t>
            </a:r>
          </a:p>
          <a:p>
            <a:pPr algn="l">
              <a:spcAft>
                <a:spcPts val="600"/>
              </a:spcAft>
            </a:pPr>
            <a:r>
              <a:rPr sz="900"/>
              <a:t>  </a:t>
            </a:r>
            <a:r>
              <a:rPr sz="900" b="1">
                <a:solidFill>
                  <a:srgbClr val="2ECC71"/>
                </a:solidFill>
              </a:rPr>
              <a:t>* </a:t>
            </a:r>
            <a:r>
              <a:rPr sz="1100">
                <a:solidFill>
                  <a:srgbClr val="C8D4EE"/>
                </a:solidFill>
              </a:rPr>
              <a:t>Has a question at 10pm -&gt; AI chatbot answers + qualifies</a:t>
            </a:r>
          </a:p>
          <a:p>
            <a:pPr algn="l">
              <a:spcAft>
                <a:spcPts val="600"/>
              </a:spcAft>
            </a:pPr>
            <a:r>
              <a:rPr sz="900"/>
              <a:t>  </a:t>
            </a:r>
            <a:r>
              <a:rPr sz="900" b="1">
                <a:solidFill>
                  <a:srgbClr val="2ECC71"/>
                </a:solidFill>
              </a:rPr>
              <a:t>* </a:t>
            </a:r>
            <a:r>
              <a:rPr sz="1100">
                <a:solidFill>
                  <a:srgbClr val="C8D4EE"/>
                </a:solidFill>
              </a:rPr>
              <a:t>Day 7 email: White-Glove Trust Delivery explained</a:t>
            </a:r>
          </a:p>
          <a:p>
            <a:pPr algn="l">
              <a:spcAft>
                <a:spcPts val="600"/>
              </a:spcAft>
            </a:pPr>
            <a:r>
              <a:rPr sz="900"/>
              <a:t>  </a:t>
            </a:r>
            <a:r>
              <a:rPr sz="900" b="1">
                <a:solidFill>
                  <a:srgbClr val="2ECC71"/>
                </a:solidFill>
              </a:rPr>
              <a:t>* </a:t>
            </a:r>
            <a:r>
              <a:rPr sz="1100">
                <a:solidFill>
                  <a:srgbClr val="C8D4EE"/>
                </a:solidFill>
              </a:rPr>
              <a:t>Day 14 email: probate cost urgency + booking CTA</a:t>
            </a:r>
          </a:p>
          <a:p>
            <a:pPr algn="l">
              <a:spcAft>
                <a:spcPts val="600"/>
              </a:spcAft>
            </a:pPr>
            <a:r>
              <a:rPr sz="900"/>
              <a:t>  </a:t>
            </a:r>
            <a:r>
              <a:rPr sz="900" b="1">
                <a:solidFill>
                  <a:srgbClr val="2ECC71"/>
                </a:solidFill>
              </a:rPr>
              <a:t>* </a:t>
            </a:r>
            <a:r>
              <a:rPr sz="1100">
                <a:solidFill>
                  <a:srgbClr val="C8D4EE"/>
                </a:solidFill>
              </a:rPr>
              <a:t>Books call at Day 14 -&gt; arrives pre-qualified with context</a:t>
            </a:r>
          </a:p>
          <a:p>
            <a:pPr algn="l"/>
            <a:r>
              <a:rPr sz="900"/>
              <a:t>  </a:t>
            </a:r>
            <a:r>
              <a:rPr sz="900" b="1">
                <a:solidFill>
                  <a:srgbClr val="2ECC71"/>
                </a:solidFill>
              </a:rPr>
              <a:t>* </a:t>
            </a:r>
            <a:r>
              <a:rPr sz="1100">
                <a:solidFill>
                  <a:srgbClr val="C8D4EE"/>
                </a:solidFill>
              </a:rPr>
              <a:t>Attorney sees LinkedIn post -&gt; dedicated attorney page + intake form</a:t>
            </a:r>
          </a:p>
        </p:txBody>
      </p:sp>
      <p:sp>
        <p:nvSpPr>
          <p:cNvPr id="24" name="Rectangle 23"/>
          <p:cNvSpPr/>
          <p:nvPr/>
        </p:nvSpPr>
        <p:spPr>
          <a:xfrm>
            <a:off x="502920" y="6217920"/>
            <a:ext cx="11183112" cy="34747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263640"/>
            <a:ext cx="10972800" cy="256032"/>
          </a:xfrm>
          <a:prstGeom prst="rect">
            <a:avLst/>
          </a:prstGeom>
          <a:noFill/>
        </p:spPr>
        <p:txBody>
          <a:bodyPr wrap="square">
            <a:spAutoFit/>
          </a:bodyPr>
          <a:lstStyle/>
          <a:p>
            <a:pPr algn="l"/>
            <a:r>
              <a:rPr sz="1100" b="0" i="1">
                <a:solidFill>
                  <a:srgbClr val="FF8C00"/>
                </a:solidFill>
              </a:rPr>
              <a:t>The webinar is the asset. The sequence is what turns the asset into revenue.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IMPLEMENTATION PLAN</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Back End First. B2B Second. SEO Third.</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56616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682496"/>
            <a:ext cx="1673352" cy="384048"/>
          </a:xfrm>
          <a:prstGeom prst="rect">
            <a:avLst/>
          </a:prstGeom>
          <a:noFill/>
        </p:spPr>
        <p:txBody>
          <a:bodyPr wrap="square">
            <a:spAutoFit/>
          </a:bodyPr>
          <a:lstStyle/>
          <a:p>
            <a:pPr algn="l"/>
            <a:r>
              <a:rPr sz="1300" b="1" i="0">
                <a:solidFill>
                  <a:srgbClr val="0A0F2E"/>
                </a:solidFill>
              </a:rPr>
              <a:t>PHASE 1</a:t>
            </a:r>
          </a:p>
        </p:txBody>
      </p:sp>
      <p:sp>
        <p:nvSpPr>
          <p:cNvPr id="9" name="TextBox 8"/>
          <p:cNvSpPr txBox="1"/>
          <p:nvPr/>
        </p:nvSpPr>
        <p:spPr>
          <a:xfrm>
            <a:off x="2107692" y="1719072"/>
            <a:ext cx="1824228" cy="347472"/>
          </a:xfrm>
          <a:prstGeom prst="rect">
            <a:avLst/>
          </a:prstGeom>
          <a:noFill/>
        </p:spPr>
        <p:txBody>
          <a:bodyPr wrap="square">
            <a:spAutoFit/>
          </a:bodyPr>
          <a:lstStyle/>
          <a:p>
            <a:pPr algn="r"/>
            <a:r>
              <a:rPr sz="1100" b="0" i="0">
                <a:solidFill>
                  <a:srgbClr val="0A0F2E"/>
                </a:solidFill>
              </a:rPr>
              <a:t>Weeks 1-3</a:t>
            </a:r>
          </a:p>
        </p:txBody>
      </p:sp>
      <p:sp>
        <p:nvSpPr>
          <p:cNvPr id="10" name="Rectangle 9"/>
          <p:cNvSpPr/>
          <p:nvPr/>
        </p:nvSpPr>
        <p:spPr>
          <a:xfrm>
            <a:off x="502920"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 y="226771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212848"/>
            <a:ext cx="3218688" cy="292608"/>
          </a:xfrm>
          <a:prstGeom prst="rect">
            <a:avLst/>
          </a:prstGeom>
          <a:noFill/>
        </p:spPr>
        <p:txBody>
          <a:bodyPr wrap="square">
            <a:spAutoFit/>
          </a:bodyPr>
          <a:lstStyle/>
          <a:p>
            <a:pPr algn="l"/>
            <a:r>
              <a:rPr sz="1200" b="1" i="0">
                <a:solidFill>
                  <a:srgbClr val="F5C518"/>
                </a:solidFill>
              </a:rPr>
              <a:t>Post-Webinar Sequence Live</a:t>
            </a:r>
          </a:p>
        </p:txBody>
      </p:sp>
      <p:sp>
        <p:nvSpPr>
          <p:cNvPr id="13" name="TextBox 12"/>
          <p:cNvSpPr txBox="1"/>
          <p:nvPr/>
        </p:nvSpPr>
        <p:spPr>
          <a:xfrm>
            <a:off x="731520" y="2487168"/>
            <a:ext cx="3218688" cy="411480"/>
          </a:xfrm>
          <a:prstGeom prst="rect">
            <a:avLst/>
          </a:prstGeom>
          <a:noFill/>
        </p:spPr>
        <p:txBody>
          <a:bodyPr wrap="square">
            <a:spAutoFit/>
          </a:bodyPr>
          <a:lstStyle/>
          <a:p>
            <a:pPr algn="l"/>
            <a:r>
              <a:rPr sz="1100" b="0" i="0">
                <a:solidFill>
                  <a:srgbClr val="C8D4EE"/>
                </a:solidFill>
              </a:rPr>
              <a:t>Day 1/3/7/14 email sequence connected to ClickMeeting registration. Every future webinar registrant enters the nurture automatically. Historic registrants back-filled.</a:t>
            </a:r>
          </a:p>
        </p:txBody>
      </p:sp>
      <p:sp>
        <p:nvSpPr>
          <p:cNvPr id="14" name="Rectangle 13"/>
          <p:cNvSpPr/>
          <p:nvPr/>
        </p:nvSpPr>
        <p:spPr>
          <a:xfrm>
            <a:off x="612648" y="313639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081528"/>
            <a:ext cx="3218688" cy="292608"/>
          </a:xfrm>
          <a:prstGeom prst="rect">
            <a:avLst/>
          </a:prstGeom>
          <a:noFill/>
        </p:spPr>
        <p:txBody>
          <a:bodyPr wrap="square">
            <a:spAutoFit/>
          </a:bodyPr>
          <a:lstStyle/>
          <a:p>
            <a:pPr algn="l"/>
            <a:r>
              <a:rPr sz="1200" b="1" i="0">
                <a:solidFill>
                  <a:srgbClr val="F5C518"/>
                </a:solidFill>
              </a:rPr>
              <a:t>AI Chatbot Deployed</a:t>
            </a:r>
          </a:p>
        </p:txBody>
      </p:sp>
      <p:sp>
        <p:nvSpPr>
          <p:cNvPr id="16" name="TextBox 15"/>
          <p:cNvSpPr txBox="1"/>
          <p:nvPr/>
        </p:nvSpPr>
        <p:spPr>
          <a:xfrm>
            <a:off x="731520" y="3355848"/>
            <a:ext cx="3218688" cy="411480"/>
          </a:xfrm>
          <a:prstGeom prst="rect">
            <a:avLst/>
          </a:prstGeom>
          <a:noFill/>
        </p:spPr>
        <p:txBody>
          <a:bodyPr wrap="square">
            <a:spAutoFit/>
          </a:bodyPr>
          <a:lstStyle/>
          <a:p>
            <a:pPr algn="l"/>
            <a:r>
              <a:rPr sz="1100" b="0" i="0">
                <a:solidFill>
                  <a:srgbClr val="C8D4EE"/>
                </a:solidFill>
              </a:rPr>
              <a:t>Trained on webinar content, service details, estate planning FAQ. Pre-qualifies B2C and B2B visitors 24/7. Books calls or routes attorney prospects to intake.</a:t>
            </a:r>
          </a:p>
        </p:txBody>
      </p:sp>
      <p:sp>
        <p:nvSpPr>
          <p:cNvPr id="17" name="Rectangle 16"/>
          <p:cNvSpPr/>
          <p:nvPr/>
        </p:nvSpPr>
        <p:spPr>
          <a:xfrm>
            <a:off x="612648" y="400507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950208"/>
            <a:ext cx="3218688" cy="292608"/>
          </a:xfrm>
          <a:prstGeom prst="rect">
            <a:avLst/>
          </a:prstGeom>
          <a:noFill/>
        </p:spPr>
        <p:txBody>
          <a:bodyPr wrap="square">
            <a:spAutoFit/>
          </a:bodyPr>
          <a:lstStyle/>
          <a:p>
            <a:pPr algn="l"/>
            <a:r>
              <a:rPr sz="1200" b="1" i="0">
                <a:solidFill>
                  <a:srgbClr val="F5C518"/>
                </a:solidFill>
              </a:rPr>
              <a:t>Probate Calculator Gated</a:t>
            </a:r>
          </a:p>
        </p:txBody>
      </p:sp>
      <p:sp>
        <p:nvSpPr>
          <p:cNvPr id="19" name="TextBox 18"/>
          <p:cNvSpPr txBox="1"/>
          <p:nvPr/>
        </p:nvSpPr>
        <p:spPr>
          <a:xfrm>
            <a:off x="731520" y="4224528"/>
            <a:ext cx="3218688" cy="411480"/>
          </a:xfrm>
          <a:prstGeom prst="rect">
            <a:avLst/>
          </a:prstGeom>
          <a:noFill/>
        </p:spPr>
        <p:txBody>
          <a:bodyPr wrap="square">
            <a:spAutoFit/>
          </a:bodyPr>
          <a:lstStyle/>
          <a:p>
            <a:pPr algn="l"/>
            <a:r>
              <a:rPr sz="1100" b="0" i="0">
                <a:solidFill>
                  <a:srgbClr val="C8D4EE"/>
                </a:solidFill>
              </a:rPr>
              <a:t>Email capture before results shown. Immediate list-building from existing calculator traffic.</a:t>
            </a:r>
          </a:p>
        </p:txBody>
      </p:sp>
      <p:sp>
        <p:nvSpPr>
          <p:cNvPr id="20" name="Rectangle 19"/>
          <p:cNvSpPr/>
          <p:nvPr/>
        </p:nvSpPr>
        <p:spPr>
          <a:xfrm>
            <a:off x="4233672" y="1645920"/>
            <a:ext cx="356616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1682496"/>
            <a:ext cx="1673352" cy="384048"/>
          </a:xfrm>
          <a:prstGeom prst="rect">
            <a:avLst/>
          </a:prstGeom>
          <a:noFill/>
        </p:spPr>
        <p:txBody>
          <a:bodyPr wrap="square">
            <a:spAutoFit/>
          </a:bodyPr>
          <a:lstStyle/>
          <a:p>
            <a:pPr algn="l"/>
            <a:r>
              <a:rPr sz="1300" b="1" i="0">
                <a:solidFill>
                  <a:srgbClr val="0A0F2E"/>
                </a:solidFill>
              </a:rPr>
              <a:t>PHASE 2</a:t>
            </a:r>
          </a:p>
        </p:txBody>
      </p:sp>
      <p:sp>
        <p:nvSpPr>
          <p:cNvPr id="22" name="TextBox 21"/>
          <p:cNvSpPr txBox="1"/>
          <p:nvPr/>
        </p:nvSpPr>
        <p:spPr>
          <a:xfrm>
            <a:off x="5838444" y="1719072"/>
            <a:ext cx="1824228" cy="347472"/>
          </a:xfrm>
          <a:prstGeom prst="rect">
            <a:avLst/>
          </a:prstGeom>
          <a:noFill/>
        </p:spPr>
        <p:txBody>
          <a:bodyPr wrap="square">
            <a:spAutoFit/>
          </a:bodyPr>
          <a:lstStyle/>
          <a:p>
            <a:pPr algn="r"/>
            <a:r>
              <a:rPr sz="1100" b="0" i="0">
                <a:solidFill>
                  <a:srgbClr val="0A0F2E"/>
                </a:solidFill>
              </a:rPr>
              <a:t>Weeks 4-6</a:t>
            </a:r>
          </a:p>
        </p:txBody>
      </p:sp>
      <p:sp>
        <p:nvSpPr>
          <p:cNvPr id="23" name="Rectangle 22"/>
          <p:cNvSpPr/>
          <p:nvPr/>
        </p:nvSpPr>
        <p:spPr>
          <a:xfrm>
            <a:off x="4233672"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43400" y="2267712"/>
            <a:ext cx="4572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62272" y="2212848"/>
            <a:ext cx="3218688" cy="292608"/>
          </a:xfrm>
          <a:prstGeom prst="rect">
            <a:avLst/>
          </a:prstGeom>
          <a:noFill/>
        </p:spPr>
        <p:txBody>
          <a:bodyPr wrap="square">
            <a:spAutoFit/>
          </a:bodyPr>
          <a:lstStyle/>
          <a:p>
            <a:pPr algn="l"/>
            <a:r>
              <a:rPr sz="1200" b="1" i="0">
                <a:solidFill>
                  <a:srgbClr val="4F8EFF"/>
                </a:solidFill>
              </a:rPr>
              <a:t>Attorney B2B Page Live</a:t>
            </a:r>
          </a:p>
        </p:txBody>
      </p:sp>
      <p:sp>
        <p:nvSpPr>
          <p:cNvPr id="26" name="TextBox 25"/>
          <p:cNvSpPr txBox="1"/>
          <p:nvPr/>
        </p:nvSpPr>
        <p:spPr>
          <a:xfrm>
            <a:off x="4462272" y="2487168"/>
            <a:ext cx="3218688" cy="411480"/>
          </a:xfrm>
          <a:prstGeom prst="rect">
            <a:avLst/>
          </a:prstGeom>
          <a:noFill/>
        </p:spPr>
        <p:txBody>
          <a:bodyPr wrap="square">
            <a:spAutoFit/>
          </a:bodyPr>
          <a:lstStyle/>
          <a:p>
            <a:pPr algn="l"/>
            <a:r>
              <a:rPr sz="1100" b="0" i="0">
                <a:solidFill>
                  <a:srgbClr val="C8D4EE"/>
                </a:solidFill>
              </a:rPr>
              <a:t>Dedicated landing page: mobile trust delivery outsourcing for estate planning attorneys. Qualifying intake form routing to June with full context.</a:t>
            </a:r>
          </a:p>
        </p:txBody>
      </p:sp>
      <p:sp>
        <p:nvSpPr>
          <p:cNvPr id="27" name="Rectangle 26"/>
          <p:cNvSpPr/>
          <p:nvPr/>
        </p:nvSpPr>
        <p:spPr>
          <a:xfrm>
            <a:off x="4343400" y="3136392"/>
            <a:ext cx="4572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62272" y="3081528"/>
            <a:ext cx="3218688" cy="292608"/>
          </a:xfrm>
          <a:prstGeom prst="rect">
            <a:avLst/>
          </a:prstGeom>
          <a:noFill/>
        </p:spPr>
        <p:txBody>
          <a:bodyPr wrap="square">
            <a:spAutoFit/>
          </a:bodyPr>
          <a:lstStyle/>
          <a:p>
            <a:pPr algn="l"/>
            <a:r>
              <a:rPr sz="1200" b="1" i="0">
                <a:solidFill>
                  <a:srgbClr val="4F8EFF"/>
                </a:solidFill>
              </a:rPr>
              <a:t>Social Proof Above Fold</a:t>
            </a:r>
          </a:p>
        </p:txBody>
      </p:sp>
      <p:sp>
        <p:nvSpPr>
          <p:cNvPr id="29" name="TextBox 28"/>
          <p:cNvSpPr txBox="1"/>
          <p:nvPr/>
        </p:nvSpPr>
        <p:spPr>
          <a:xfrm>
            <a:off x="4462272" y="3355848"/>
            <a:ext cx="3218688" cy="411480"/>
          </a:xfrm>
          <a:prstGeom prst="rect">
            <a:avLst/>
          </a:prstGeom>
          <a:noFill/>
        </p:spPr>
        <p:txBody>
          <a:bodyPr wrap="square">
            <a:spAutoFit/>
          </a:bodyPr>
          <a:lstStyle/>
          <a:p>
            <a:pPr algn="l"/>
            <a:r>
              <a:rPr sz="1100" b="0" i="0">
                <a:solidFill>
                  <a:srgbClr val="C8D4EE"/>
                </a:solidFill>
              </a:rPr>
              <a:t>845 trusts + testimonials surfaced on homepage. State coverage map or counter added for 50-state differentiation.</a:t>
            </a:r>
          </a:p>
        </p:txBody>
      </p:sp>
      <p:sp>
        <p:nvSpPr>
          <p:cNvPr id="30" name="Rectangle 29"/>
          <p:cNvSpPr/>
          <p:nvPr/>
        </p:nvSpPr>
        <p:spPr>
          <a:xfrm>
            <a:off x="4343400" y="4005072"/>
            <a:ext cx="4572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62272" y="3950208"/>
            <a:ext cx="3218688" cy="292608"/>
          </a:xfrm>
          <a:prstGeom prst="rect">
            <a:avLst/>
          </a:prstGeom>
          <a:noFill/>
        </p:spPr>
        <p:txBody>
          <a:bodyPr wrap="square">
            <a:spAutoFit/>
          </a:bodyPr>
          <a:lstStyle/>
          <a:p>
            <a:pPr algn="l"/>
            <a:r>
              <a:rPr sz="1200" b="1" i="0">
                <a:solidFill>
                  <a:srgbClr val="4F8EFF"/>
                </a:solidFill>
              </a:rPr>
              <a:t>AI Scheduling for Delivery</a:t>
            </a:r>
          </a:p>
        </p:txBody>
      </p:sp>
      <p:sp>
        <p:nvSpPr>
          <p:cNvPr id="32" name="TextBox 31"/>
          <p:cNvSpPr txBox="1"/>
          <p:nvPr/>
        </p:nvSpPr>
        <p:spPr>
          <a:xfrm>
            <a:off x="4462272" y="4224528"/>
            <a:ext cx="3218688" cy="411480"/>
          </a:xfrm>
          <a:prstGeom prst="rect">
            <a:avLst/>
          </a:prstGeom>
          <a:noFill/>
        </p:spPr>
        <p:txBody>
          <a:bodyPr wrap="square">
            <a:spAutoFit/>
          </a:bodyPr>
          <a:lstStyle/>
          <a:p>
            <a:pPr algn="l"/>
            <a:r>
              <a:rPr sz="1100" b="0" i="0">
                <a:solidFill>
                  <a:srgbClr val="C8D4EE"/>
                </a:solidFill>
              </a:rPr>
              <a:t>Mobile trust delivery appointment automation: intake, window confirmation, reminders, post-signing document delivery.</a:t>
            </a:r>
          </a:p>
        </p:txBody>
      </p:sp>
      <p:sp>
        <p:nvSpPr>
          <p:cNvPr id="33" name="Rectangle 32"/>
          <p:cNvSpPr/>
          <p:nvPr/>
        </p:nvSpPr>
        <p:spPr>
          <a:xfrm>
            <a:off x="7964424" y="1645920"/>
            <a:ext cx="356616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74152" y="1682496"/>
            <a:ext cx="1673352" cy="384048"/>
          </a:xfrm>
          <a:prstGeom prst="rect">
            <a:avLst/>
          </a:prstGeom>
          <a:noFill/>
        </p:spPr>
        <p:txBody>
          <a:bodyPr wrap="square">
            <a:spAutoFit/>
          </a:bodyPr>
          <a:lstStyle/>
          <a:p>
            <a:pPr algn="l"/>
            <a:r>
              <a:rPr sz="1300" b="1" i="0">
                <a:solidFill>
                  <a:srgbClr val="0A0F2E"/>
                </a:solidFill>
              </a:rPr>
              <a:t>PHASE 3</a:t>
            </a:r>
          </a:p>
        </p:txBody>
      </p:sp>
      <p:sp>
        <p:nvSpPr>
          <p:cNvPr id="35" name="TextBox 34"/>
          <p:cNvSpPr txBox="1"/>
          <p:nvPr/>
        </p:nvSpPr>
        <p:spPr>
          <a:xfrm>
            <a:off x="9569196" y="1719072"/>
            <a:ext cx="1824228" cy="347472"/>
          </a:xfrm>
          <a:prstGeom prst="rect">
            <a:avLst/>
          </a:prstGeom>
          <a:noFill/>
        </p:spPr>
        <p:txBody>
          <a:bodyPr wrap="square">
            <a:spAutoFit/>
          </a:bodyPr>
          <a:lstStyle/>
          <a:p>
            <a:pPr algn="r"/>
            <a:r>
              <a:rPr sz="1100" b="0" i="0">
                <a:solidFill>
                  <a:srgbClr val="0A0F2E"/>
                </a:solidFill>
              </a:rPr>
              <a:t>Months 2-3</a:t>
            </a:r>
          </a:p>
        </p:txBody>
      </p:sp>
      <p:sp>
        <p:nvSpPr>
          <p:cNvPr id="36" name="Rectangle 35"/>
          <p:cNvSpPr/>
          <p:nvPr/>
        </p:nvSpPr>
        <p:spPr>
          <a:xfrm>
            <a:off x="7964424"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74152" y="226771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93024" y="2212848"/>
            <a:ext cx="3218688" cy="292608"/>
          </a:xfrm>
          <a:prstGeom prst="rect">
            <a:avLst/>
          </a:prstGeom>
          <a:noFill/>
        </p:spPr>
        <p:txBody>
          <a:bodyPr wrap="square">
            <a:spAutoFit/>
          </a:bodyPr>
          <a:lstStyle/>
          <a:p>
            <a:pPr algn="l"/>
            <a:r>
              <a:rPr sz="1200" b="1" i="0">
                <a:solidFill>
                  <a:srgbClr val="2ECC71"/>
                </a:solidFill>
              </a:rPr>
              <a:t>SEO Content Engine</a:t>
            </a:r>
          </a:p>
        </p:txBody>
      </p:sp>
      <p:sp>
        <p:nvSpPr>
          <p:cNvPr id="39" name="TextBox 38"/>
          <p:cNvSpPr txBox="1"/>
          <p:nvPr/>
        </p:nvSpPr>
        <p:spPr>
          <a:xfrm>
            <a:off x="8193024" y="2487168"/>
            <a:ext cx="3218688" cy="411480"/>
          </a:xfrm>
          <a:prstGeom prst="rect">
            <a:avLst/>
          </a:prstGeom>
          <a:noFill/>
        </p:spPr>
        <p:txBody>
          <a:bodyPr wrap="square">
            <a:spAutoFit/>
          </a:bodyPr>
          <a:lstStyle/>
          <a:p>
            <a:pPr algn="l"/>
            <a:r>
              <a:rPr sz="1100" b="0" i="0">
                <a:solidFill>
                  <a:srgbClr val="C8D4EE"/>
                </a:solidFill>
              </a:rPr>
              <a:t>State-specific estate planning guides: Virginia, Maryland, DC, Florida, Texas first. Probate cost by state, trust delivery by state - high-intent keyword targeting.</a:t>
            </a:r>
          </a:p>
        </p:txBody>
      </p:sp>
      <p:sp>
        <p:nvSpPr>
          <p:cNvPr id="40" name="Rectangle 39"/>
          <p:cNvSpPr/>
          <p:nvPr/>
        </p:nvSpPr>
        <p:spPr>
          <a:xfrm>
            <a:off x="8074152" y="313639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93024" y="3081528"/>
            <a:ext cx="3218688" cy="292608"/>
          </a:xfrm>
          <a:prstGeom prst="rect">
            <a:avLst/>
          </a:prstGeom>
          <a:noFill/>
        </p:spPr>
        <p:txBody>
          <a:bodyPr wrap="square">
            <a:spAutoFit/>
          </a:bodyPr>
          <a:lstStyle/>
          <a:p>
            <a:pPr algn="l"/>
            <a:r>
              <a:rPr sz="1200" b="1" i="0">
                <a:solidFill>
                  <a:srgbClr val="2ECC71"/>
                </a:solidFill>
              </a:rPr>
              <a:t>Attorney Pipeline Data</a:t>
            </a:r>
          </a:p>
        </p:txBody>
      </p:sp>
      <p:sp>
        <p:nvSpPr>
          <p:cNvPr id="42" name="TextBox 41"/>
          <p:cNvSpPr txBox="1"/>
          <p:nvPr/>
        </p:nvSpPr>
        <p:spPr>
          <a:xfrm>
            <a:off x="8193024" y="3355848"/>
            <a:ext cx="3218688" cy="411480"/>
          </a:xfrm>
          <a:prstGeom prst="rect">
            <a:avLst/>
          </a:prstGeom>
          <a:noFill/>
        </p:spPr>
        <p:txBody>
          <a:bodyPr wrap="square">
            <a:spAutoFit/>
          </a:bodyPr>
          <a:lstStyle/>
          <a:p>
            <a:pPr algn="l"/>
            <a:r>
              <a:rPr sz="1100" b="0" i="0">
                <a:solidFill>
                  <a:srgbClr val="C8D4EE"/>
                </a:solidFill>
              </a:rPr>
              <a:t>Intake form data analyzed to refine B2B targeting. Attorney conversion sequence built based on first 30 days of qualified intake.</a:t>
            </a:r>
          </a:p>
        </p:txBody>
      </p:sp>
      <p:sp>
        <p:nvSpPr>
          <p:cNvPr id="43" name="Rectangle 42"/>
          <p:cNvSpPr/>
          <p:nvPr/>
        </p:nvSpPr>
        <p:spPr>
          <a:xfrm>
            <a:off x="8074152" y="400507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93024" y="3950208"/>
            <a:ext cx="3218688" cy="292608"/>
          </a:xfrm>
          <a:prstGeom prst="rect">
            <a:avLst/>
          </a:prstGeom>
          <a:noFill/>
        </p:spPr>
        <p:txBody>
          <a:bodyPr wrap="square">
            <a:spAutoFit/>
          </a:bodyPr>
          <a:lstStyle/>
          <a:p>
            <a:pPr algn="l"/>
            <a:r>
              <a:rPr sz="1200" b="1" i="0">
                <a:solidFill>
                  <a:srgbClr val="2ECC71"/>
                </a:solidFill>
              </a:rPr>
              <a:t>Pricing + Package Pages</a:t>
            </a:r>
          </a:p>
        </p:txBody>
      </p:sp>
      <p:sp>
        <p:nvSpPr>
          <p:cNvPr id="45" name="TextBox 44"/>
          <p:cNvSpPr txBox="1"/>
          <p:nvPr/>
        </p:nvSpPr>
        <p:spPr>
          <a:xfrm>
            <a:off x="8193024" y="4224528"/>
            <a:ext cx="3218688" cy="411480"/>
          </a:xfrm>
          <a:prstGeom prst="rect">
            <a:avLst/>
          </a:prstGeom>
          <a:noFill/>
        </p:spPr>
        <p:txBody>
          <a:bodyPr wrap="square">
            <a:spAutoFit/>
          </a:bodyPr>
          <a:lstStyle/>
          <a:p>
            <a:pPr algn="l"/>
            <a:r>
              <a:rPr sz="1100" b="0" i="0">
                <a:solidFill>
                  <a:srgbClr val="C8D4EE"/>
                </a:solidFill>
              </a:rPr>
              <a:t>Transparent B2C and B2B tier pages. White-Glove Trust Delivery positioned as premium tier. Attorney partnership pricing and scope documented.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BEFORE vs AFTER</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What Actually Changes for Notary Workforce in 90 Days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4937760" cy="32004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4754880" cy="256032"/>
          </a:xfrm>
          <a:prstGeom prst="rect">
            <a:avLst/>
          </a:prstGeom>
          <a:noFill/>
        </p:spPr>
        <p:txBody>
          <a:bodyPr wrap="square">
            <a:spAutoFit/>
          </a:bodyPr>
          <a:lstStyle/>
          <a:p>
            <a:pPr algn="l"/>
            <a:r>
              <a:rPr sz="1100" b="1" i="0">
                <a:solidFill>
                  <a:srgbClr val="FFFFFF"/>
                </a:solidFill>
              </a:rPr>
              <a:t>TODAY</a:t>
            </a:r>
          </a:p>
        </p:txBody>
      </p:sp>
      <p:sp>
        <p:nvSpPr>
          <p:cNvPr id="9" name="Rectangle 8"/>
          <p:cNvSpPr/>
          <p:nvPr/>
        </p:nvSpPr>
        <p:spPr>
          <a:xfrm>
            <a:off x="5897880" y="1508760"/>
            <a:ext cx="5330952" cy="3200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89320" y="1536192"/>
            <a:ext cx="4937760" cy="256032"/>
          </a:xfrm>
          <a:prstGeom prst="rect">
            <a:avLst/>
          </a:prstGeom>
          <a:noFill/>
        </p:spPr>
        <p:txBody>
          <a:bodyPr wrap="square">
            <a:spAutoFit/>
          </a:bodyPr>
          <a:lstStyle/>
          <a:p>
            <a:pPr algn="l"/>
            <a:r>
              <a:rPr sz="1100" b="1" i="0">
                <a:solidFill>
                  <a:srgbClr val="FFFFFF"/>
                </a:solidFill>
              </a:rPr>
              <a:t>AFTER 90 DAYS</a:t>
            </a:r>
          </a:p>
        </p:txBody>
      </p:sp>
      <p:sp>
        <p:nvSpPr>
          <p:cNvPr id="11" name="Rectangle 10"/>
          <p:cNvSpPr/>
          <p:nvPr/>
        </p:nvSpPr>
        <p:spPr>
          <a:xfrm>
            <a:off x="502920" y="1920240"/>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938528"/>
            <a:ext cx="10972800" cy="182880"/>
          </a:xfrm>
          <a:prstGeom prst="rect">
            <a:avLst/>
          </a:prstGeom>
          <a:noFill/>
        </p:spPr>
        <p:txBody>
          <a:bodyPr wrap="square">
            <a:spAutoFit/>
          </a:bodyPr>
          <a:lstStyle/>
          <a:p>
            <a:pPr algn="l"/>
            <a:r>
              <a:rPr sz="900" b="1" i="0">
                <a:solidFill>
                  <a:srgbClr val="8A9BBB"/>
                </a:solidFill>
              </a:rPr>
              <a:t>POST-WEBINAR PIPELINE</a:t>
            </a:r>
          </a:p>
        </p:txBody>
      </p:sp>
      <p:sp>
        <p:nvSpPr>
          <p:cNvPr id="13" name="TextBox 12"/>
          <p:cNvSpPr txBox="1"/>
          <p:nvPr/>
        </p:nvSpPr>
        <p:spPr>
          <a:xfrm>
            <a:off x="594360" y="2139696"/>
            <a:ext cx="4754880" cy="603504"/>
          </a:xfrm>
          <a:prstGeom prst="rect">
            <a:avLst/>
          </a:prstGeom>
          <a:noFill/>
        </p:spPr>
        <p:txBody>
          <a:bodyPr wrap="square">
            <a:spAutoFit/>
          </a:bodyPr>
          <a:lstStyle/>
          <a:p>
            <a:pPr algn="l"/>
            <a:r>
              <a:rPr sz="1100" b="0" i="0">
                <a:solidFill>
                  <a:srgbClr val="C8D4EE"/>
                </a:solidFill>
              </a:rPr>
              <a:t>80% of webinar registrants who don't immediately book a call are permanently lost. The webinar spend generates a one-shot chance at conversion.</a:t>
            </a:r>
          </a:p>
        </p:txBody>
      </p:sp>
      <p:sp>
        <p:nvSpPr>
          <p:cNvPr id="14" name="TextBox 13"/>
          <p:cNvSpPr txBox="1"/>
          <p:nvPr/>
        </p:nvSpPr>
        <p:spPr>
          <a:xfrm>
            <a:off x="5989320" y="2139696"/>
            <a:ext cx="4937760" cy="603504"/>
          </a:xfrm>
          <a:prstGeom prst="rect">
            <a:avLst/>
          </a:prstGeom>
          <a:noFill/>
        </p:spPr>
        <p:txBody>
          <a:bodyPr wrap="square">
            <a:spAutoFit/>
          </a:bodyPr>
          <a:lstStyle/>
          <a:p>
            <a:pPr algn="l"/>
            <a:r>
              <a:rPr sz="1100" b="0" i="0">
                <a:solidFill>
                  <a:srgbClr val="FFFFFF"/>
                </a:solidFill>
              </a:rPr>
              <a:t>Day 1/3/7/14 sequence re-engages every registrant. Estate planning conversions happen at touchpoint 3-5. The webinar becomes a compounding asset.</a:t>
            </a:r>
          </a:p>
        </p:txBody>
      </p:sp>
      <p:sp>
        <p:nvSpPr>
          <p:cNvPr id="15" name="Rectangle 14"/>
          <p:cNvSpPr/>
          <p:nvPr/>
        </p:nvSpPr>
        <p:spPr>
          <a:xfrm>
            <a:off x="502920" y="2852928"/>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871216"/>
            <a:ext cx="10972800" cy="182880"/>
          </a:xfrm>
          <a:prstGeom prst="rect">
            <a:avLst/>
          </a:prstGeom>
          <a:noFill/>
        </p:spPr>
        <p:txBody>
          <a:bodyPr wrap="square">
            <a:spAutoFit/>
          </a:bodyPr>
          <a:lstStyle/>
          <a:p>
            <a:pPr algn="l"/>
            <a:r>
              <a:rPr sz="900" b="1" i="0">
                <a:solidFill>
                  <a:srgbClr val="8A9BBB"/>
                </a:solidFill>
              </a:rPr>
              <a:t>AFTER-HOURS QUESTIONS</a:t>
            </a:r>
          </a:p>
        </p:txBody>
      </p:sp>
      <p:sp>
        <p:nvSpPr>
          <p:cNvPr id="17" name="TextBox 16"/>
          <p:cNvSpPr txBox="1"/>
          <p:nvPr/>
        </p:nvSpPr>
        <p:spPr>
          <a:xfrm>
            <a:off x="594360" y="3072384"/>
            <a:ext cx="4754880" cy="603504"/>
          </a:xfrm>
          <a:prstGeom prst="rect">
            <a:avLst/>
          </a:prstGeom>
          <a:noFill/>
        </p:spPr>
        <p:txBody>
          <a:bodyPr wrap="square">
            <a:spAutoFit/>
          </a:bodyPr>
          <a:lstStyle/>
          <a:p>
            <a:pPr algn="l"/>
            <a:r>
              <a:rPr sz="1100" b="0" i="0">
                <a:solidFill>
                  <a:srgbClr val="C8D4EE"/>
                </a:solidFill>
              </a:rPr>
              <a:t>Prospect has estate planning questions at 10pm after watching the webinar. No chatbot, no reply. They Google a competitor.</a:t>
            </a:r>
          </a:p>
        </p:txBody>
      </p:sp>
      <p:sp>
        <p:nvSpPr>
          <p:cNvPr id="18" name="TextBox 17"/>
          <p:cNvSpPr txBox="1"/>
          <p:nvPr/>
        </p:nvSpPr>
        <p:spPr>
          <a:xfrm>
            <a:off x="5989320" y="3072384"/>
            <a:ext cx="4937760" cy="603504"/>
          </a:xfrm>
          <a:prstGeom prst="rect">
            <a:avLst/>
          </a:prstGeom>
          <a:noFill/>
        </p:spPr>
        <p:txBody>
          <a:bodyPr wrap="square">
            <a:spAutoFit/>
          </a:bodyPr>
          <a:lstStyle/>
          <a:p>
            <a:pPr algn="l"/>
            <a:r>
              <a:rPr sz="1100" b="0" i="0">
                <a:solidFill>
                  <a:srgbClr val="FFFFFF"/>
                </a:solidFill>
              </a:rPr>
              <a:t>AI chatbot answers immediately, pre-qualifies, books a call or routes to the right intake. Zero late-night traffic exits without capture.</a:t>
            </a:r>
          </a:p>
        </p:txBody>
      </p:sp>
      <p:sp>
        <p:nvSpPr>
          <p:cNvPr id="19" name="Rectangle 18"/>
          <p:cNvSpPr/>
          <p:nvPr/>
        </p:nvSpPr>
        <p:spPr>
          <a:xfrm>
            <a:off x="502920" y="3785616"/>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803904"/>
            <a:ext cx="10972800" cy="182880"/>
          </a:xfrm>
          <a:prstGeom prst="rect">
            <a:avLst/>
          </a:prstGeom>
          <a:noFill/>
        </p:spPr>
        <p:txBody>
          <a:bodyPr wrap="square">
            <a:spAutoFit/>
          </a:bodyPr>
          <a:lstStyle/>
          <a:p>
            <a:pPr algn="l"/>
            <a:r>
              <a:rPr sz="900" b="1" i="0">
                <a:solidFill>
                  <a:srgbClr val="8A9BBB"/>
                </a:solidFill>
              </a:rPr>
              <a:t>ATTORNEY B2B PIPELINE</a:t>
            </a:r>
          </a:p>
        </p:txBody>
      </p:sp>
      <p:sp>
        <p:nvSpPr>
          <p:cNvPr id="21" name="TextBox 20"/>
          <p:cNvSpPr txBox="1"/>
          <p:nvPr/>
        </p:nvSpPr>
        <p:spPr>
          <a:xfrm>
            <a:off x="594360" y="4005072"/>
            <a:ext cx="4754880" cy="603504"/>
          </a:xfrm>
          <a:prstGeom prst="rect">
            <a:avLst/>
          </a:prstGeom>
          <a:noFill/>
        </p:spPr>
        <p:txBody>
          <a:bodyPr wrap="square">
            <a:spAutoFit/>
          </a:bodyPr>
          <a:lstStyle/>
          <a:p>
            <a:pPr algn="l"/>
            <a:r>
              <a:rPr sz="1100" b="0" i="0">
                <a:solidFill>
                  <a:srgbClr val="C8D4EE"/>
                </a:solidFill>
              </a:rPr>
              <a:t>June pitches attorneys on LinkedIn. Interested attorneys visit notaryworkforce.com and find a consumer homepage. No qualifying form, no context captured.</a:t>
            </a:r>
          </a:p>
        </p:txBody>
      </p:sp>
      <p:sp>
        <p:nvSpPr>
          <p:cNvPr id="22" name="TextBox 21"/>
          <p:cNvSpPr txBox="1"/>
          <p:nvPr/>
        </p:nvSpPr>
        <p:spPr>
          <a:xfrm>
            <a:off x="5989320" y="4005072"/>
            <a:ext cx="4937760" cy="603504"/>
          </a:xfrm>
          <a:prstGeom prst="rect">
            <a:avLst/>
          </a:prstGeom>
          <a:noFill/>
        </p:spPr>
        <p:txBody>
          <a:bodyPr wrap="square">
            <a:spAutoFit/>
          </a:bodyPr>
          <a:lstStyle/>
          <a:p>
            <a:pPr algn="l"/>
            <a:r>
              <a:rPr sz="1100" b="0" i="0">
                <a:solidFill>
                  <a:srgbClr val="FFFFFF"/>
                </a:solidFill>
              </a:rPr>
              <a:t>Dedicated attorney landing page. Qualifying intake captures state coverage, volume, current process. June receives only pre-qualified attorney prospects.</a:t>
            </a:r>
          </a:p>
        </p:txBody>
      </p:sp>
      <p:sp>
        <p:nvSpPr>
          <p:cNvPr id="23" name="Rectangle 22"/>
          <p:cNvSpPr/>
          <p:nvPr/>
        </p:nvSpPr>
        <p:spPr>
          <a:xfrm>
            <a:off x="502920" y="4718304"/>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736592"/>
            <a:ext cx="10972800" cy="182880"/>
          </a:xfrm>
          <a:prstGeom prst="rect">
            <a:avLst/>
          </a:prstGeom>
          <a:noFill/>
        </p:spPr>
        <p:txBody>
          <a:bodyPr wrap="square">
            <a:spAutoFit/>
          </a:bodyPr>
          <a:lstStyle/>
          <a:p>
            <a:pPr algn="l"/>
            <a:r>
              <a:rPr sz="900" b="1" i="0">
                <a:solidFill>
                  <a:srgbClr val="8A9BBB"/>
                </a:solidFill>
              </a:rPr>
              <a:t>PROBATE CALCULATOR</a:t>
            </a:r>
          </a:p>
        </p:txBody>
      </p:sp>
      <p:sp>
        <p:nvSpPr>
          <p:cNvPr id="25" name="TextBox 24"/>
          <p:cNvSpPr txBox="1"/>
          <p:nvPr/>
        </p:nvSpPr>
        <p:spPr>
          <a:xfrm>
            <a:off x="594360" y="4937760"/>
            <a:ext cx="4754880" cy="603504"/>
          </a:xfrm>
          <a:prstGeom prst="rect">
            <a:avLst/>
          </a:prstGeom>
          <a:noFill/>
        </p:spPr>
        <p:txBody>
          <a:bodyPr wrap="square">
            <a:spAutoFit/>
          </a:bodyPr>
          <a:lstStyle/>
          <a:p>
            <a:pPr algn="l"/>
            <a:r>
              <a:rPr sz="1100" b="0" i="0">
                <a:solidFill>
                  <a:srgbClr val="C8D4EE"/>
                </a:solidFill>
              </a:rPr>
              <a:t>High-intent visitors (searching 'probate cost Virginia') use the calculator and see results. No email captured. They leave with the answer and no relationship.</a:t>
            </a:r>
          </a:p>
        </p:txBody>
      </p:sp>
      <p:sp>
        <p:nvSpPr>
          <p:cNvPr id="26" name="TextBox 25"/>
          <p:cNvSpPr txBox="1"/>
          <p:nvPr/>
        </p:nvSpPr>
        <p:spPr>
          <a:xfrm>
            <a:off x="5989320" y="4937760"/>
            <a:ext cx="4937760" cy="603504"/>
          </a:xfrm>
          <a:prstGeom prst="rect">
            <a:avLst/>
          </a:prstGeom>
          <a:noFill/>
        </p:spPr>
        <p:txBody>
          <a:bodyPr wrap="square">
            <a:spAutoFit/>
          </a:bodyPr>
          <a:lstStyle/>
          <a:p>
            <a:pPr algn="l"/>
            <a:r>
              <a:rPr sz="1100" b="0" i="0">
                <a:solidFill>
                  <a:srgbClr val="FFFFFF"/>
                </a:solidFill>
              </a:rPr>
              <a:t>Email gate before results. High-intent calculator traffic builds the list. Follow-up sequence addresses probate concern and introduces Notary Workforce services.</a:t>
            </a:r>
          </a:p>
        </p:txBody>
      </p:sp>
      <p:sp>
        <p:nvSpPr>
          <p:cNvPr id="27" name="Rectangle 26"/>
          <p:cNvSpPr/>
          <p:nvPr/>
        </p:nvSpPr>
        <p:spPr>
          <a:xfrm>
            <a:off x="502920" y="5650992"/>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669280"/>
            <a:ext cx="10972800" cy="182880"/>
          </a:xfrm>
          <a:prstGeom prst="rect">
            <a:avLst/>
          </a:prstGeom>
          <a:noFill/>
        </p:spPr>
        <p:txBody>
          <a:bodyPr wrap="square">
            <a:spAutoFit/>
          </a:bodyPr>
          <a:lstStyle/>
          <a:p>
            <a:pPr algn="l"/>
            <a:r>
              <a:rPr sz="900" b="1" i="0">
                <a:solidFill>
                  <a:srgbClr val="8A9BBB"/>
                </a:solidFill>
              </a:rPr>
              <a:t>MOBILE DELIVERY LOGISTICS</a:t>
            </a:r>
          </a:p>
        </p:txBody>
      </p:sp>
      <p:sp>
        <p:nvSpPr>
          <p:cNvPr id="29" name="TextBox 28"/>
          <p:cNvSpPr txBox="1"/>
          <p:nvPr/>
        </p:nvSpPr>
        <p:spPr>
          <a:xfrm>
            <a:off x="594360" y="5870448"/>
            <a:ext cx="4754880" cy="603504"/>
          </a:xfrm>
          <a:prstGeom prst="rect">
            <a:avLst/>
          </a:prstGeom>
          <a:noFill/>
        </p:spPr>
        <p:txBody>
          <a:bodyPr wrap="square">
            <a:spAutoFit/>
          </a:bodyPr>
          <a:lstStyle/>
          <a:p>
            <a:pPr algn="l"/>
            <a:r>
              <a:rPr sz="1100" b="0" i="0">
                <a:solidFill>
                  <a:srgbClr val="C8D4EE"/>
                </a:solidFill>
              </a:rPr>
              <a:t>Scheduling mobile trust delivery involves manual back-and-forth for location, timing, document readiness, and post-signing follow-up as volume grows.</a:t>
            </a:r>
          </a:p>
        </p:txBody>
      </p:sp>
      <p:sp>
        <p:nvSpPr>
          <p:cNvPr id="30" name="TextBox 29"/>
          <p:cNvSpPr txBox="1"/>
          <p:nvPr/>
        </p:nvSpPr>
        <p:spPr>
          <a:xfrm>
            <a:off x="5989320" y="5870448"/>
            <a:ext cx="4937760" cy="603504"/>
          </a:xfrm>
          <a:prstGeom prst="rect">
            <a:avLst/>
          </a:prstGeom>
          <a:noFill/>
        </p:spPr>
        <p:txBody>
          <a:bodyPr wrap="square">
            <a:spAutoFit/>
          </a:bodyPr>
          <a:lstStyle/>
          <a:p>
            <a:pPr algn="l"/>
            <a:r>
              <a:rPr sz="1100" b="0" i="0">
                <a:solidFill>
                  <a:srgbClr val="FFFFFF"/>
                </a:solidFill>
              </a:rPr>
              <a:t>AI scheduling handles intake, window confirmation, reminders, and post-signing document delivery. June's time goes to the signing itself, not the coordination.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5330952" cy="6858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5943600" cy="457200"/>
          </a:xfrm>
          <a:prstGeom prst="rect">
            <a:avLst/>
          </a:prstGeom>
          <a:noFill/>
        </p:spPr>
        <p:txBody>
          <a:bodyPr wrap="square">
            <a:spAutoFit/>
          </a:bodyPr>
          <a:lstStyle/>
          <a:p>
            <a:pPr algn="l"/>
            <a:r>
              <a:rPr sz="1100" b="1" i="0">
                <a:solidFill>
                  <a:srgbClr val="A055FF"/>
                </a:solidFill>
              </a:rPr>
              <a:t>NEXT STEPS</a:t>
            </a:r>
          </a:p>
        </p:txBody>
      </p:sp>
      <p:sp>
        <p:nvSpPr>
          <p:cNvPr id="6" name="TextBox 5"/>
          <p:cNvSpPr txBox="1"/>
          <p:nvPr/>
        </p:nvSpPr>
        <p:spPr>
          <a:xfrm>
            <a:off x="502920" y="731520"/>
            <a:ext cx="6217920" cy="1828800"/>
          </a:xfrm>
          <a:prstGeom prst="rect">
            <a:avLst/>
          </a:prstGeom>
          <a:noFill/>
        </p:spPr>
        <p:txBody>
          <a:bodyPr wrap="square">
            <a:spAutoFit/>
          </a:bodyPr>
          <a:lstStyle/>
          <a:p>
            <a:pPr algn="l"/>
            <a:r>
              <a:rPr sz="4800" b="1" i="0">
                <a:solidFill>
                  <a:srgbClr val="FFFFFF"/>
                </a:solidFill>
              </a:rPr>
              <a:t>Let's Talk for
15 Minutes.</a:t>
            </a:r>
          </a:p>
        </p:txBody>
      </p:sp>
      <p:sp>
        <p:nvSpPr>
          <p:cNvPr id="7" name="Rectangle 6"/>
          <p:cNvSpPr/>
          <p:nvPr/>
        </p:nvSpPr>
        <p:spPr>
          <a:xfrm>
            <a:off x="502920" y="2560320"/>
            <a:ext cx="22860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788920"/>
            <a:ext cx="5943600" cy="731520"/>
          </a:xfrm>
          <a:prstGeom prst="rect">
            <a:avLst/>
          </a:prstGeom>
          <a:noFill/>
        </p:spPr>
        <p:txBody>
          <a:bodyPr wrap="square">
            <a:spAutoFit/>
          </a:bodyPr>
          <a:lstStyle/>
          <a:p>
            <a:pPr algn="l"/>
            <a:r>
              <a:rPr sz="1400" b="0" i="0">
                <a:solidFill>
                  <a:srgbClr val="C8D4EE"/>
                </a:solidFill>
              </a:rPr>
              <a:t>No pitch deck needed. Reply or book a call.
We'll focus on the post-webinar sequence first.</a:t>
            </a:r>
          </a:p>
        </p:txBody>
      </p:sp>
      <p:sp>
        <p:nvSpPr>
          <p:cNvPr id="9" name="TextBox 8"/>
          <p:cNvSpPr txBox="1"/>
          <p:nvPr/>
        </p:nvSpPr>
        <p:spPr>
          <a:xfrm>
            <a:off x="502920" y="3611880"/>
            <a:ext cx="5943600" cy="1828800"/>
          </a:xfrm>
          <a:prstGeom prst="rect">
            <a:avLst/>
          </a:prstGeom>
          <a:noFill/>
        </p:spPr>
        <p:txBody>
          <a:bodyPr wrap="square">
            <a:spAutoFit/>
          </a:bodyPr>
          <a:lstStyle/>
          <a:p>
            <a:pPr algn="l">
              <a:spcAft>
                <a:spcPts val="600"/>
              </a:spcAft>
            </a:pPr>
            <a:r>
              <a:rPr sz="1200"/>
              <a:t>  </a:t>
            </a:r>
            <a:r>
              <a:rPr sz="1200" b="1">
                <a:solidFill>
                  <a:srgbClr val="A055FF"/>
                </a:solidFill>
              </a:rPr>
              <a:t>* </a:t>
            </a:r>
            <a:r>
              <a:rPr sz="1400">
                <a:solidFill>
                  <a:srgbClr val="FFFFFF"/>
                </a:solidFill>
              </a:rPr>
              <a:t>Reply to this email - we'll set up a time</a:t>
            </a:r>
          </a:p>
          <a:p>
            <a:pPr algn="l">
              <a:spcAft>
                <a:spcPts val="600"/>
              </a:spcAft>
            </a:pPr>
            <a:r>
              <a:rPr sz="1200"/>
              <a:t>  </a:t>
            </a:r>
            <a:r>
              <a:rPr sz="1200" b="1">
                <a:solidFill>
                  <a:srgbClr val="A055FF"/>
                </a:solidFill>
              </a:rPr>
              <a:t>* </a:t>
            </a:r>
            <a:r>
              <a:rPr sz="1400">
                <a:solidFill>
                  <a:srgbClr val="FFFFFF"/>
                </a:solidFill>
              </a:rPr>
              <a:t>Start with post-webinar sequence (fastest revenue impact)</a:t>
            </a:r>
          </a:p>
          <a:p>
            <a:pPr algn="l">
              <a:spcAft>
                <a:spcPts val="600"/>
              </a:spcAft>
            </a:pPr>
            <a:r>
              <a:rPr sz="1200"/>
              <a:t>  </a:t>
            </a:r>
            <a:r>
              <a:rPr sz="1200" b="1">
                <a:solidFill>
                  <a:srgbClr val="A055FF"/>
                </a:solidFill>
              </a:rPr>
              <a:t>* </a:t>
            </a:r>
            <a:r>
              <a:rPr sz="1400">
                <a:solidFill>
                  <a:srgbClr val="FFFFFF"/>
                </a:solidFill>
              </a:rPr>
              <a:t>Add AI chatbot + attorney B2B page in weeks 2-4</a:t>
            </a:r>
          </a:p>
          <a:p>
            <a:pPr algn="l"/>
            <a:r>
              <a:rPr sz="1200"/>
              <a:t>  </a:t>
            </a:r>
            <a:r>
              <a:rPr sz="1200" b="1">
                <a:solidFill>
                  <a:srgbClr val="A055FF"/>
                </a:solidFill>
              </a:rPr>
              <a:t>* </a:t>
            </a:r>
            <a:r>
              <a:rPr sz="1400">
                <a:solidFill>
                  <a:srgbClr val="FFFFFF"/>
                </a:solidFill>
              </a:rPr>
              <a:t>SEO + scheduling automation in months 2-3</a:t>
            </a:r>
          </a:p>
        </p:txBody>
      </p:sp>
      <p:sp>
        <p:nvSpPr>
          <p:cNvPr id="10" name="Rectangle 9"/>
          <p:cNvSpPr/>
          <p:nvPr/>
        </p:nvSpPr>
        <p:spPr>
          <a:xfrm>
            <a:off x="0" y="5943600"/>
            <a:ext cx="685800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6217920" cy="457200"/>
          </a:xfrm>
          <a:prstGeom prst="rect">
            <a:avLst/>
          </a:prstGeom>
          <a:noFill/>
        </p:spPr>
        <p:txBody>
          <a:bodyPr wrap="square">
            <a:spAutoFit/>
          </a:bodyPr>
          <a:lstStyle/>
          <a:p>
            <a:pPr algn="l"/>
            <a:r>
              <a:rPr sz="1100" b="0" i="0">
                <a:solidFill>
                  <a:srgbClr val="8A9BBB"/>
                </a:solidFill>
              </a:rPr>
              <a:t>Rohan Malik  |  CEO, Genos AI  |  hello@genosai.tech  |  +91 638-714-2699  |  www.genosai.tech</a:t>
            </a:r>
          </a:p>
        </p:txBody>
      </p:sp>
      <p:sp>
        <p:nvSpPr>
          <p:cNvPr id="12" name="TextBox 11"/>
          <p:cNvSpPr txBox="1"/>
          <p:nvPr/>
        </p:nvSpPr>
        <p:spPr>
          <a:xfrm>
            <a:off x="7178040" y="548640"/>
            <a:ext cx="4572000" cy="1005840"/>
          </a:xfrm>
          <a:prstGeom prst="rect">
            <a:avLst/>
          </a:prstGeom>
          <a:noFill/>
        </p:spPr>
        <p:txBody>
          <a:bodyPr wrap="square">
            <a:spAutoFit/>
          </a:bodyPr>
          <a:lstStyle/>
          <a:p>
            <a:pPr algn="l"/>
            <a:r>
              <a:rPr sz="2200" b="1" i="0">
                <a:solidFill>
                  <a:srgbClr val="A055FF"/>
                </a:solidFill>
              </a:rPr>
              <a:t>THREE GAPS.
THREE FIXES.</a:t>
            </a:r>
          </a:p>
        </p:txBody>
      </p:sp>
      <p:sp>
        <p:nvSpPr>
          <p:cNvPr id="13" name="Rectangle 12"/>
          <p:cNvSpPr/>
          <p:nvPr/>
        </p:nvSpPr>
        <p:spPr>
          <a:xfrm>
            <a:off x="502920" y="1508760"/>
            <a:ext cx="109728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169164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737360"/>
            <a:ext cx="1280160" cy="292608"/>
          </a:xfrm>
          <a:prstGeom prst="rect">
            <a:avLst/>
          </a:prstGeom>
          <a:noFill/>
        </p:spPr>
        <p:txBody>
          <a:bodyPr wrap="square">
            <a:spAutoFit/>
          </a:bodyPr>
          <a:lstStyle/>
          <a:p>
            <a:pPr algn="l"/>
            <a:r>
              <a:rPr sz="1000" b="1" i="0">
                <a:solidFill>
                  <a:srgbClr val="A055FF"/>
                </a:solidFill>
              </a:rPr>
              <a:t>Post-Webinar Silence</a:t>
            </a:r>
          </a:p>
        </p:txBody>
      </p:sp>
      <p:sp>
        <p:nvSpPr>
          <p:cNvPr id="16" name="TextBox 15"/>
          <p:cNvSpPr txBox="1"/>
          <p:nvPr/>
        </p:nvSpPr>
        <p:spPr>
          <a:xfrm>
            <a:off x="8686800" y="1737360"/>
            <a:ext cx="3291840" cy="594360"/>
          </a:xfrm>
          <a:prstGeom prst="rect">
            <a:avLst/>
          </a:prstGeom>
          <a:noFill/>
        </p:spPr>
        <p:txBody>
          <a:bodyPr wrap="square">
            <a:spAutoFit/>
          </a:bodyPr>
          <a:lstStyle/>
          <a:p>
            <a:pPr algn="l"/>
            <a:r>
              <a:rPr sz="1100" b="0" i="0">
                <a:solidFill>
                  <a:srgbClr val="C8D4EE"/>
                </a:solidFill>
              </a:rPr>
              <a:t>Day 1/3/7/14 nurture sequence captures the 80%</a:t>
            </a:r>
          </a:p>
        </p:txBody>
      </p:sp>
      <p:sp>
        <p:nvSpPr>
          <p:cNvPr id="17" name="Rectangle 16"/>
          <p:cNvSpPr/>
          <p:nvPr/>
        </p:nvSpPr>
        <p:spPr>
          <a:xfrm>
            <a:off x="7178040" y="2496312"/>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542032"/>
            <a:ext cx="1280160" cy="292608"/>
          </a:xfrm>
          <a:prstGeom prst="rect">
            <a:avLst/>
          </a:prstGeom>
          <a:noFill/>
        </p:spPr>
        <p:txBody>
          <a:bodyPr wrap="square">
            <a:spAutoFit/>
          </a:bodyPr>
          <a:lstStyle/>
          <a:p>
            <a:pPr algn="l"/>
            <a:r>
              <a:rPr sz="1000" b="1" i="0">
                <a:solidFill>
                  <a:srgbClr val="A055FF"/>
                </a:solidFill>
              </a:rPr>
              <a:t>B2B No Infrastructure</a:t>
            </a:r>
          </a:p>
        </p:txBody>
      </p:sp>
      <p:sp>
        <p:nvSpPr>
          <p:cNvPr id="19" name="TextBox 18"/>
          <p:cNvSpPr txBox="1"/>
          <p:nvPr/>
        </p:nvSpPr>
        <p:spPr>
          <a:xfrm>
            <a:off x="8686800" y="2542032"/>
            <a:ext cx="3291840" cy="594360"/>
          </a:xfrm>
          <a:prstGeom prst="rect">
            <a:avLst/>
          </a:prstGeom>
          <a:noFill/>
        </p:spPr>
        <p:txBody>
          <a:bodyPr wrap="square">
            <a:spAutoFit/>
          </a:bodyPr>
          <a:lstStyle/>
          <a:p>
            <a:pPr algn="l"/>
            <a:r>
              <a:rPr sz="1100" b="0" i="0">
                <a:solidFill>
                  <a:srgbClr val="C8D4EE"/>
                </a:solidFill>
              </a:rPr>
              <a:t>Attorney landing page + qualifying intake form</a:t>
            </a:r>
          </a:p>
        </p:txBody>
      </p:sp>
      <p:sp>
        <p:nvSpPr>
          <p:cNvPr id="20" name="Rectangle 19"/>
          <p:cNvSpPr/>
          <p:nvPr/>
        </p:nvSpPr>
        <p:spPr>
          <a:xfrm>
            <a:off x="7178040" y="3300984"/>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346704"/>
            <a:ext cx="1280160" cy="292608"/>
          </a:xfrm>
          <a:prstGeom prst="rect">
            <a:avLst/>
          </a:prstGeom>
          <a:noFill/>
        </p:spPr>
        <p:txBody>
          <a:bodyPr wrap="square">
            <a:spAutoFit/>
          </a:bodyPr>
          <a:lstStyle/>
          <a:p>
            <a:pPr algn="l"/>
            <a:r>
              <a:rPr sz="1000" b="1" i="0">
                <a:solidFill>
                  <a:srgbClr val="A055FF"/>
                </a:solidFill>
              </a:rPr>
              <a:t>Buried Social Proof</a:t>
            </a:r>
          </a:p>
        </p:txBody>
      </p:sp>
      <p:sp>
        <p:nvSpPr>
          <p:cNvPr id="22" name="TextBox 21"/>
          <p:cNvSpPr txBox="1"/>
          <p:nvPr/>
        </p:nvSpPr>
        <p:spPr>
          <a:xfrm>
            <a:off x="8686800" y="3346704"/>
            <a:ext cx="3291840" cy="594360"/>
          </a:xfrm>
          <a:prstGeom prst="rect">
            <a:avLst/>
          </a:prstGeom>
          <a:noFill/>
        </p:spPr>
        <p:txBody>
          <a:bodyPr wrap="square">
            <a:spAutoFit/>
          </a:bodyPr>
          <a:lstStyle/>
          <a:p>
            <a:pPr algn="l"/>
            <a:r>
              <a:rPr sz="1100" b="0" i="0">
                <a:solidFill>
                  <a:srgbClr val="C8D4EE"/>
                </a:solidFill>
              </a:rPr>
              <a:t>845 trusts above fold + calculator email gate</a:t>
            </a:r>
          </a:p>
        </p:txBody>
      </p:sp>
      <p:sp>
        <p:nvSpPr>
          <p:cNvPr id="23" name="Rectangle 22"/>
          <p:cNvSpPr/>
          <p:nvPr/>
        </p:nvSpPr>
        <p:spPr>
          <a:xfrm>
            <a:off x="7178040" y="4105656"/>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4151376"/>
            <a:ext cx="1280160" cy="292608"/>
          </a:xfrm>
          <a:prstGeom prst="rect">
            <a:avLst/>
          </a:prstGeom>
          <a:noFill/>
        </p:spPr>
        <p:txBody>
          <a:bodyPr wrap="square">
            <a:spAutoFit/>
          </a:bodyPr>
          <a:lstStyle/>
          <a:p>
            <a:pPr algn="l"/>
            <a:r>
              <a:rPr sz="1000" b="1" i="0">
                <a:solidFill>
                  <a:srgbClr val="A055FF"/>
                </a:solidFill>
              </a:rPr>
              <a:t>No Scheduling AI</a:t>
            </a:r>
          </a:p>
        </p:txBody>
      </p:sp>
      <p:sp>
        <p:nvSpPr>
          <p:cNvPr id="25" name="TextBox 24"/>
          <p:cNvSpPr txBox="1"/>
          <p:nvPr/>
        </p:nvSpPr>
        <p:spPr>
          <a:xfrm>
            <a:off x="8686800" y="4151376"/>
            <a:ext cx="3291840" cy="594360"/>
          </a:xfrm>
          <a:prstGeom prst="rect">
            <a:avLst/>
          </a:prstGeom>
          <a:noFill/>
        </p:spPr>
        <p:txBody>
          <a:bodyPr wrap="square">
            <a:spAutoFit/>
          </a:bodyPr>
          <a:lstStyle/>
          <a:p>
            <a:pPr algn="l"/>
            <a:r>
              <a:rPr sz="1100" b="0" i="0">
                <a:solidFill>
                  <a:srgbClr val="C8D4EE"/>
                </a:solidFill>
              </a:rPr>
              <a:t>Mobile delivery automation removes manual coord.</a:t>
            </a:r>
          </a:p>
        </p:txBody>
      </p:sp>
      <p:sp>
        <p:nvSpPr>
          <p:cNvPr id="26" name="Rectangle 25"/>
          <p:cNvSpPr/>
          <p:nvPr/>
        </p:nvSpPr>
        <p:spPr>
          <a:xfrm>
            <a:off x="7178040" y="4910328"/>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956048"/>
            <a:ext cx="1280160" cy="292608"/>
          </a:xfrm>
          <a:prstGeom prst="rect">
            <a:avLst/>
          </a:prstGeom>
          <a:noFill/>
        </p:spPr>
        <p:txBody>
          <a:bodyPr wrap="square">
            <a:spAutoFit/>
          </a:bodyPr>
          <a:lstStyle/>
          <a:p>
            <a:pPr algn="l"/>
            <a:r>
              <a:rPr sz="1000" b="1" i="0">
                <a:solidFill>
                  <a:srgbClr val="A055FF"/>
                </a:solidFill>
              </a:rPr>
              <a:t>Zero SEO by State</a:t>
            </a:r>
          </a:p>
        </p:txBody>
      </p:sp>
      <p:sp>
        <p:nvSpPr>
          <p:cNvPr id="28" name="TextBox 27"/>
          <p:cNvSpPr txBox="1"/>
          <p:nvPr/>
        </p:nvSpPr>
        <p:spPr>
          <a:xfrm>
            <a:off x="8686800" y="4956048"/>
            <a:ext cx="3291840" cy="594360"/>
          </a:xfrm>
          <a:prstGeom prst="rect">
            <a:avLst/>
          </a:prstGeom>
          <a:noFill/>
        </p:spPr>
        <p:txBody>
          <a:bodyPr wrap="square">
            <a:spAutoFit/>
          </a:bodyPr>
          <a:lstStyle/>
          <a:p>
            <a:pPr algn="l"/>
            <a:r>
              <a:rPr sz="1100" b="0" i="0">
                <a:solidFill>
                  <a:srgbClr val="C8D4EE"/>
                </a:solidFill>
              </a:rPr>
              <a:t>State-specific content engine: all 50 states</a:t>
            </a:r>
          </a:p>
        </p:txBody>
      </p:sp>
      <p:sp>
        <p:nvSpPr>
          <p:cNvPr id="29" name="Rectangle 28"/>
          <p:cNvSpPr/>
          <p:nvPr/>
        </p:nvSpPr>
        <p:spPr>
          <a:xfrm>
            <a:off x="7178040" y="571500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5760720"/>
            <a:ext cx="1280160" cy="292608"/>
          </a:xfrm>
          <a:prstGeom prst="rect">
            <a:avLst/>
          </a:prstGeom>
          <a:noFill/>
        </p:spPr>
        <p:txBody>
          <a:bodyPr wrap="square">
            <a:spAutoFit/>
          </a:bodyPr>
          <a:lstStyle/>
          <a:p>
            <a:pPr algn="l"/>
            <a:r>
              <a:rPr sz="1000" b="1" i="0">
                <a:solidFill>
                  <a:srgbClr val="A055FF"/>
                </a:solidFill>
              </a:rPr>
              <a:t>Late-Night Gap</a:t>
            </a:r>
          </a:p>
        </p:txBody>
      </p:sp>
      <p:sp>
        <p:nvSpPr>
          <p:cNvPr id="31" name="TextBox 30"/>
          <p:cNvSpPr txBox="1"/>
          <p:nvPr/>
        </p:nvSpPr>
        <p:spPr>
          <a:xfrm>
            <a:off x="8686800" y="5760720"/>
            <a:ext cx="3291840" cy="594360"/>
          </a:xfrm>
          <a:prstGeom prst="rect">
            <a:avLst/>
          </a:prstGeom>
          <a:noFill/>
        </p:spPr>
        <p:txBody>
          <a:bodyPr wrap="square">
            <a:spAutoFit/>
          </a:bodyPr>
          <a:lstStyle/>
          <a:p>
            <a:pPr algn="l"/>
            <a:r>
              <a:rPr sz="1100" b="0" i="0">
                <a:solidFill>
                  <a:srgbClr val="C8D4EE"/>
                </a:solidFill>
              </a:rPr>
              <a:t>AI chatbot: estate planning FAQ + pre-qual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