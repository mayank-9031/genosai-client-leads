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870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58600" y="0"/>
            <a:ext cx="347472" cy="6858000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06240"/>
            <a:ext cx="11548872" cy="4572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777240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F6A"/>
                </a:solidFill>
              </a:rPr>
              <a:t>AG LUXURY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141732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45643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4AF6A"/>
                </a:solidFill>
              </a:rPr>
              <a:t>A Strategic Digital Transformation Blueprint for Lagos's Premier Luxury Developer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645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</a:rPr>
              <a:t>Prepared by: Genos Apollo  |  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07868"/>
                </a:solidFill>
              </a:rPr>
              <a:t>agluxurydev.com  •  Lekki Phase 1, Lagos, Nigeria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61081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F6A"/>
                </a:solidFill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36292"/>
            <a:ext cx="557784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6A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</a:rPr>
              <a:t>Company Digital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9293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</a:rPr>
              <a:t>Current state of agluxurydev.com &amp; brand digital footprint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336292"/>
            <a:ext cx="557784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6A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</a:rPr>
              <a:t>Website Audit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19293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</a:rPr>
              <a:t>UX, performance, SEO, security &amp; luxury brand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51860"/>
            <a:ext cx="557784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6A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</a:rPr>
              <a:t>Web Development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044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</a:rPr>
              <a:t>Enhancements to match AG Luxury's premium positioning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451860"/>
            <a:ext cx="557784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6A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</a:rPr>
              <a:t>AI Automation Opportunities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3044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</a:rPr>
              <a:t>Where AI elevates client experience &amp; operational efficiency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567428"/>
            <a:ext cx="557784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6A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</a:rPr>
              <a:t>Benefits of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4160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</a:rPr>
              <a:t>Time savings, ROI and competitive advantage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4567428"/>
            <a:ext cx="557784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6A"/>
                </a:solidFill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</a:rPr>
              <a:t>Implementation Timeline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4160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</a:rPr>
              <a:t>Phased 12-month delivery plan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682996"/>
            <a:ext cx="557784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6A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2728" y="48554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</a:rPr>
              <a:t>Investment &amp; Next Steps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2728" y="52760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Company Digital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F6A"/>
                </a:solidFill>
              </a:rPr>
              <a:t>AG Luxury – current digital footprint &amp; brand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0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6A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Industry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Luxury Residential Real Estate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13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HQ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23134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Periwinkle Estate, Lekki Phase 1, Lagos, Nigeria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2798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Premium — Luxury Living · Sustainability · Turnkey Excellence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826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3282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AG Rosa (current)  |  Festus Court (completed 2021)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673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7673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Next.js (already modern — strong foundation)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51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4251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Instagram  •  TikTok  •  Facebook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365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47365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Sales@agluxurydev.com  |  +234 081 3446 5400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2122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5221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Affluent buyers, diaspora investors, HNW individuals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510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13350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</a:rPr>
              <a:t>Digital Health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18288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1828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9E6A"/>
                </a:solidFill>
              </a:rPr>
              <a:t>Next.js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182880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AA"/>
                </a:solidFill>
              </a:rPr>
              <a:t>Modern stack – great foundation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226771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Mobile Page 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22677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7A20"/>
                </a:solidFill>
              </a:rPr>
              <a:t>~52 /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26771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AA"/>
                </a:solidFill>
              </a:rPr>
              <a:t>Good start; luxury UX needs 85+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270662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Desktop Page Speed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27066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9E6A"/>
                </a:solidFill>
              </a:rPr>
              <a:t>~78 /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2706624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AA"/>
                </a:solidFill>
              </a:rPr>
              <a:t>Above average – optimise further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314553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SEO Coverage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31455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7A20"/>
                </a:solidFill>
              </a:rPr>
              <a:t>~58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145536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AA"/>
                </a:solidFill>
              </a:rPr>
              <a:t>Meta/schema gaps; content thin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9904" y="35844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Luxury Brand Consistency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5844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7A20"/>
                </a:solidFill>
              </a:rPr>
              <a:t>Partial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35844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AA"/>
                </a:solidFill>
              </a:rPr>
              <a:t>Some pages miss premium feel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9904" y="40233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SSL / HTTPS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4023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9E6A"/>
                </a:solidFill>
              </a:rPr>
              <a:t>✓ Active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402336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AA"/>
                </a:solidFill>
              </a:rPr>
              <a:t>Valid certificate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9904" y="446227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Virtual Tours / 3D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4622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A2E"/>
                </a:solidFill>
              </a:rPr>
              <a:t>Not present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46227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AA"/>
                </a:solidFill>
              </a:rPr>
              <a:t>Major gap for luxury segment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9904" y="490118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Social Feed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4901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A2E"/>
                </a:solidFill>
              </a:rPr>
              <a:t>Not present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4901184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AA"/>
                </a:solidFill>
              </a:rPr>
              <a:t>Instagram/TikTok not embedded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9904" y="534009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E2A"/>
                </a:solidFill>
              </a:rPr>
              <a:t>CRM / Lead Tracking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32520" y="53400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A2E"/>
                </a:solidFill>
              </a:rPr>
              <a:t>Not visible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5340096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AAA"/>
                </a:solidFill>
              </a:rPr>
              <a:t>No apparent lead nurture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Website Audit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F6A"/>
                </a:solidFill>
              </a:rPr>
              <a:t>agluxurydev.com – gaps vs. luxury brand expectations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1965960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Mobile speed ~52 – luxury buyers expect instant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2633472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Large hero images not fully optimised (WebP/AVIF)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" y="3300984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No progressive image loading on gallery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3968496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Opportunity: prefetch project pages on hover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" y="4636008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Core Web Vitals LCP improvement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1325880"/>
            <a:ext cx="27889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0128" y="1325880"/>
            <a:ext cx="2788920" cy="41148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UX &amp; Luxury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5576" y="1965960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8456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No immersive 3D / virtual tour capability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65576" y="2633472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Property enquiry form too generic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5576" y="3300984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8456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No live availability / unit status widget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65576" y="3968496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8456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Missing floor plan viewer &amp; specification sheets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65576" y="4636008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No concierge-style chat or callback booking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1325880"/>
            <a:ext cx="27889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4496" y="1325880"/>
            <a:ext cx="2788920" cy="41148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212"/>
                </a:solidFill>
              </a:rPr>
              <a:t>SEO &amp; 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9944" y="1965960"/>
            <a:ext cx="91440" cy="9144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Meta descriptions missing on key listing pages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9944" y="2633472"/>
            <a:ext cx="91440" cy="9144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No structured data (RealEstateListing schema)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9944" y="3300984"/>
            <a:ext cx="91440" cy="9144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Blog / insights absent – zero organic authority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9944" y="3968496"/>
            <a:ext cx="91440" cy="9144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92824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Thin project descriptions (SEO underserving)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9944" y="4636008"/>
            <a:ext cx="91440" cy="9144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92824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Google Business Profile not linked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98864" y="1325880"/>
            <a:ext cx="27889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98864" y="1325880"/>
            <a:ext cx="2788920" cy="411480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08592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212"/>
                </a:solidFill>
              </a:rPr>
              <a:t>Brand &amp; Conversion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54312" y="1965960"/>
            <a:ext cx="91440" cy="91440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37192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No social proof — awards, press, testimonials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54312" y="2633472"/>
            <a:ext cx="91440" cy="91440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37192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Instagram / TikTok content not embedded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54312" y="3300984"/>
            <a:ext cx="91440" cy="91440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37192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No investor or realtor partner portal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4312" y="3968496"/>
            <a:ext cx="91440" cy="91440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37192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WhatsApp CTA missing (critical for Lagos market)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54312" y="4636008"/>
            <a:ext cx="91440" cy="91440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37192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Email lead capture / drip nurture not visible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6272784"/>
            <a:ext cx="1143000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3093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1E2A"/>
                </a:solidFill>
              </a:rPr>
              <a:t>Critical gaps: No 3D tours, no WhatsApp CTA, no social proof — all essential for Lagos luxury buyers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Web Development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F6A"/>
                </a:solidFill>
              </a:rPr>
              <a:t>Elevating agluxurydev.com to match AG Luxury's premium standard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20624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206240" cy="41148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6A"/>
                </a:solidFill>
              </a:rPr>
              <a:t>Enhanced Tech Stack (Built on Next.js)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0512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1810512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Next.js 15 — already in use, upgrade to App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31136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223113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Sanity.io — rich media, property schema, editors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3D / Tours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265176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Matterport / Kuula integration — immersive tours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72384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07238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Cloudinary — AVIF/WebP auto, video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349300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Algolia — instant project &amp; unit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13632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3913632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HubSpot — lead capture, drip, realtor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34256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1952" y="433425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Flutterwave — reservation deposits, EOI fees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475488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Twilio / Meta Cloud API — instant lead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75504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952" y="517550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GA4 + Hotjar + Meta Pixel + TikTok Pixel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96128"/>
            <a:ext cx="1298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6A"/>
                </a:solidFill>
              </a:rPr>
              <a:t>Hosting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1952" y="559612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Vercel Pro — global CDN, preview deploys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1280160"/>
            <a:ext cx="708660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01184" y="1335024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6A"/>
                </a:solidFill>
              </a:rPr>
              <a:t>Key Improvements &amp; Premium 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01184" y="1920240"/>
            <a:ext cx="73152" cy="20116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212"/>
                </a:solidFill>
              </a:rPr>
              <a:t>Immersive 3D Virtual Tours &amp; Gallery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20848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Matterport tours per unit, drone video integration, AVIF photo gallery with lightbox — matching Dubai-level luxury portals.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01184" y="2578608"/>
            <a:ext cx="73152" cy="20116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84064" y="246888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212"/>
                </a:solidFill>
              </a:rPr>
              <a:t>Smart Property Discovery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4064" y="274320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Unit-level availability, floor plan viewer, interactive site map, spec sheet download — all indexed by Algolia.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01184" y="3236976"/>
            <a:ext cx="73152" cy="20116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4064" y="312724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212"/>
                </a:solidFill>
              </a:rPr>
              <a:t>WhatsApp-First Lead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4064" y="340156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Floating WhatsApp CTA, instant auto-reply bot, agent routing — critical for Lagos HNW buyer behaviour.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01184" y="3895344"/>
            <a:ext cx="73152" cy="20116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84064" y="378561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212"/>
                </a:solidFill>
              </a:rPr>
              <a:t>Realtor &amp; Investor Partner Portal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84064" y="4059936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Secure login: commission tracking, inventory availability, co-marketing assets, deal registration.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01184" y="4553712"/>
            <a:ext cx="73152" cy="20116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84064" y="444398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212"/>
                </a:solidFill>
              </a:rPr>
              <a:t>Social Proof &amp; Content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4064" y="471830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Live Instagram/TikTok feed embed, press coverage section, video testimonials, awards &amp; certifications wall.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1184" y="5212080"/>
            <a:ext cx="73152" cy="20116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84064" y="510235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212"/>
                </a:solidFill>
              </a:rPr>
              <a:t>Performance &amp; SEO to 90+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84064" y="537667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AVIF images, edge CDN, font subsetting, structured data schema — targeting 90+ PageSpeed and top-3 ranking for 'luxury homes Lagos'.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01184" y="5870448"/>
            <a:ext cx="73152" cy="20116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84064" y="576072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212"/>
                </a:solidFill>
              </a:rPr>
              <a:t>NDPR Compliance &amp; Security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84064" y="603504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6A"/>
                </a:solidFill>
              </a:rPr>
              <a:t>Cookie consent banner, data subject request flow, CSP headers, form validation hardening.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AI Automation Opportunity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F6A"/>
                </a:solidFill>
              </a:rPr>
              <a:t>Where AI elevates the AG Luxury client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6A"/>
                </a:solidFill>
              </a:rPr>
              <a:t>Luxury Listings &amp; Marketing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20240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AI writes premium listing copy from spec sheets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13432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Auto-generate Instagram / TikTok caption variants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706624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Photo &amp; video AI enhancement and staging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099816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Dynamic pricing model per unit type &amp; demand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3493008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Auto-publish to website + social on approval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25880"/>
            <a:ext cx="56692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6A"/>
                </a:solidFill>
              </a:rPr>
              <a:t>High-Touch Client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1920240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AI concierge chatbot — trained on AG Luxury brand voice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313432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WhatsApp bot: instant unit availability &amp; brochure send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2706624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Personalised property match emails to enquiry 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3099816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Automated viewing scheduling &amp; calendar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2" y="3493008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Post-viewing follow-up sequence (AI-drafted, human-reviewed)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9352"/>
            <a:ext cx="56692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59352"/>
            <a:ext cx="5669280" cy="41148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212"/>
                </a:solidFill>
              </a:rPr>
              <a:t>Investor Intelligence &amp; Reporting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553712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48970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Auto-generate Lagos luxury market monthly 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4946904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8828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Portfolio ROI dashboards — live, zero manual effort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5340096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2760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Diaspora investor email newsletters (AI-personalised)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733288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669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Lead scoring: rank hot leads by engagement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6126480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6062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Competitor listing monitoring &amp; price alert alerts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959352"/>
            <a:ext cx="56692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3959352"/>
            <a:ext cx="5669280" cy="411480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212"/>
                </a:solidFill>
              </a:rPr>
              <a:t>Operations &amp; Back-Office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4553712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48970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KYC / AML document verification automation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3952" y="4946904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6832" y="48828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Contract review: AI flags non-standard clauses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73952" y="5340096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52760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Invoice processing &amp; vendor payment automation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73952" y="5733288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56832" y="5669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Construction progress reporting from site photos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3952" y="6126480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6062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HR: CV screening, onboarding document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Benefits of AI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F6A"/>
                </a:solidFill>
              </a:rPr>
              <a:t>Measurable impact across the AG Luxury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5087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9047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6A"/>
                </a:solidFill>
              </a:rPr>
              <a:t>70%+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AA"/>
                </a:solidFill>
              </a:rPr>
              <a:t>Reduction in
repetitive admin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43200" cy="15087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9047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6A"/>
                </a:solidFill>
              </a:rPr>
              <a:t>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AA"/>
                </a:solidFill>
              </a:rPr>
              <a:t>Faster luxury listing
publication &amp; go-live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2743200" cy="15087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9047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6A"/>
                </a:solidFill>
              </a:rP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AA"/>
                </a:solidFill>
              </a:rPr>
              <a:t>Lower cost per
qualified enquiry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2743200" cy="15087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49047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6A"/>
                </a:solidFill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9AAA"/>
                </a:solidFill>
              </a:rPr>
              <a:t>AI concierge — always
on, zero overtime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99232"/>
            <a:ext cx="56692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99232"/>
            <a:ext cx="5669280" cy="40233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3054096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6A"/>
                </a:solidFill>
              </a:rPr>
              <a:t>Speed to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29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New development live online within hours of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40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AI writes premium copy; human approves in one click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513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Photos auto-enhanced, watermarked &amp; gallery-ready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622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Instagram/TikTok posts drafted &amp; scheduled instantly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999232"/>
            <a:ext cx="56692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999232"/>
            <a:ext cx="5669280" cy="40233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054096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6A"/>
                </a:solidFill>
              </a:rPr>
              <a:t>Cost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529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Slash admin time on data entry and reporting by &gt;60%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840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Reduce marketing agency copywriting spend significantly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1513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Scale marketing output without scaling headcount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4622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24/7 WhatsApp bot handles initial enquiries for free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18304"/>
            <a:ext cx="56692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718304"/>
            <a:ext cx="5669280" cy="40233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477316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6A"/>
                </a:solidFill>
              </a:rPr>
              <a:t>Premium Client 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2486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Instant personalised responses in AG Luxury brand voice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5595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AI concierge recommends units matching buyer profile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704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Auto viewing confirmations, reminders &amp; follow-ups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1813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Investor dashboard: live ROI data, no manual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718304"/>
            <a:ext cx="56692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718304"/>
            <a:ext cx="5669280" cy="40233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477316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6A"/>
                </a:solidFill>
              </a:rPr>
              <a:t>Competitive &amp; Strategic 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2486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First luxury developer in Lekki with full AI suite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5595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Diaspora investors served digitally — no agent needed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8704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Proprietary buyer &amp; market data compounds year-on-year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61813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◆  Premium digital experience matches Dubai/London peers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ROI &amp;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F6A"/>
                </a:solidFill>
              </a:rPr>
              <a:t>Projected returns from web + AI investment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6A"/>
                </a:solidFill>
              </a:rPr>
              <a:t>Indicative Investment (Year 1 – USD)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8366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Next.js upgrade + Sanity CMS + premium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8836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$8 000 – $14 000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4086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3D Virtual Tour integration (Matterport)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3408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$3 500 – $6 000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AI Concierge chatbot + WhatsApp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7980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$4 000 – $7 000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5526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Listing AI copywriting &amp; social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32552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$2 500 – $4 500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1246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CRM (HubSpot) setup + lead nurture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37124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$2 000 – $3 500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966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SEO architecture + NDPR compliance sprint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41696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$2 000 – $3 000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2686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Realtor / Investor portal (Phase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46268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$4 000 – $7 000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8406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Monthly support / hosting / AI APIs (est.)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50840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$700 – $1 200 / 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530352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6327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A"/>
                </a:solidFill>
              </a:rPr>
              <a:t>TOTAL YEAR 1 (once-off + 12 mo support)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3632" y="56327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9E6A"/>
                </a:solidFill>
              </a:rPr>
              <a:t>$34 400 – $58 400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280160"/>
            <a:ext cx="594360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E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9904" y="13350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Savings (USD / Year)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18836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Admin &amp; copywriting time saved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18836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~$15 000 – $22 000 / yr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23408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Marketing agency cost reduction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23408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~$8 000 – $12 000 / yr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27980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Increased qualified leads (SEO + UX uplift)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27980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+35–55 % organic enquiries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32552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Faster unit sell-through (3D tours + AI)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32552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Est. −20 % time-on-market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37124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WhatsApp bot lead capture (no agent cost)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8" y="37124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Captures 35 %+ after-hours leads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4" y="41696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Diaspora investor digital conversion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41696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New high-value segment unlocked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9904" y="46268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E2A"/>
                </a:solidFill>
              </a:rPr>
              <a:t>Realtor portal: faster deals, more referrals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8" y="46268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6A"/>
                </a:solidFill>
              </a:rPr>
              <a:t>Shorter sales cycle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5029200"/>
            <a:ext cx="5943600" cy="4114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9904" y="51755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A"/>
                </a:solidFill>
              </a:rPr>
              <a:t>ESTIMATED YEAR 1 SAVINGS / UPSIDE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0928" y="517550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9E6A"/>
                </a:solidFill>
              </a:rPr>
              <a:t>$30 000 – $55 000+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1E2A"/>
                </a:solidFill>
              </a:rPr>
              <a:t>One sold unit pays for the entire 12-month programme  |  All subsequent gains are pure upside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F6A"/>
                </a:solidFill>
              </a:rPr>
              <a:t>Phased 12-month delivery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6583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6A"/>
                </a:solidFill>
              </a:rPr>
              <a:t>Phase 1
Mon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600200"/>
            <a:ext cx="128016" cy="54864"/>
          </a:xfrm>
          <a:prstGeom prst="rect">
            <a:avLst/>
          </a:prstGeom>
          <a:solidFill>
            <a:srgbClr val="9A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21992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Next.js upgrade &amp; CMS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990088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Speed / Core Web Vitals sprint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758184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WhatsApp CTA + bot MVP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526280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NDPR compliance &amp; SEO fixes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294376"/>
            <a:ext cx="91440" cy="914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Instagram / TikTok feed embed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1325880"/>
            <a:ext cx="278892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128" y="1325880"/>
            <a:ext cx="2788920" cy="658368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6A"/>
                </a:solidFill>
              </a:rPr>
              <a:t>Phase 2
Mon 4–6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336" y="1600200"/>
            <a:ext cx="128016" cy="54864"/>
          </a:xfrm>
          <a:prstGeom prst="rect">
            <a:avLst/>
          </a:prstGeom>
          <a:solidFill>
            <a:srgbClr val="9A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2221992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3D Virtual Tour launch (Matterport)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990088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AI listing copywriting in production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758184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Floor plan viewer &amp; spec sheets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526280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HubSpot CRM + lead nurture flows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5294376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Social auto-posting pipeline live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4496" y="1325880"/>
            <a:ext cx="278892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54496" y="1325880"/>
            <a:ext cx="2788920" cy="65836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</a:rPr>
              <a:t>Phase 3
Mon 7–9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61704" y="1600200"/>
            <a:ext cx="128016" cy="54864"/>
          </a:xfrm>
          <a:prstGeom prst="rect">
            <a:avLst/>
          </a:prstGeom>
          <a:solidFill>
            <a:srgbClr val="9A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19088" y="2221992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Realtor partner portal (secure login)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2990088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Investor dashboard &amp; ROI reports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9088" y="3758184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Flutterwave reservation deposits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526280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AI concierge chatbot full launch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19088" y="5294376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Staff training &amp; enablement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98864" y="1325880"/>
            <a:ext cx="278892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98864" y="1325880"/>
            <a:ext cx="2788920" cy="658368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98864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</a:rPr>
              <a:t>Phase 4
Mon 10–12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63456" y="2221992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46336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Predictive lead scoring (AI)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3456" y="2990088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46336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Construction progress AI updates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63456" y="3758184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46336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KYC / AML document automation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63456" y="4526280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46336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Full analytics &amp; attribution audit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63456" y="5294376"/>
            <a:ext cx="91440" cy="9144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46336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1E2A"/>
                </a:solidFill>
              </a:rPr>
              <a:t>Review, optimise &amp; plan Year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6A"/>
                </a:solidFill>
              </a:rPr>
              <a:t>Why Automate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789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FFFFFF"/>
                </a:solidFill>
              </a:rPr>
              <a:t>Lagos luxury real estate is a $2B+ market. Digital-first developers are closing faster, cheaper, and at higher margins.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502920" cy="475488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212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Luxury buyers research online before any human 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8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0A0"/>
                </a:solidFill>
              </a:rPr>
              <a:t>90 %+ of HNW property decisions in Lagos now begin on Instagram, Google, or WhatsApp. A slow, content-poor site loses those buyers before a single conversation.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24328"/>
            <a:ext cx="502920" cy="475488"/>
          </a:xfrm>
          <a:prstGeom prst="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2432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2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2432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Dubai and London are the benchmark — not other Lagos developers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9864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0A0"/>
                </a:solidFill>
              </a:rPr>
              <a:t>AG Luxury's buyers have seen Emaar, Knight Frank and Savills digital experiences. Your site must compete with those, not just local peers.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11296"/>
            <a:ext cx="502920" cy="475488"/>
          </a:xfrm>
          <a:prstGeom prst="rect">
            <a:avLst/>
          </a:prstGeom>
          <a:solidFill>
            <a:srgbClr val="2E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1129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212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1129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WhatsApp is Nigeria's primary sales channel — and it can be automated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8561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0A0"/>
                </a:solidFill>
              </a:rPr>
              <a:t>Over 85 % of Nigerian HNW property enquiries come via WhatsApp. An AI bot that responds in under 60 seconds — 24/7 — converts dramatically more leads.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398264"/>
            <a:ext cx="502920" cy="475488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9826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212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9826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3D virtual tours reduce time-on-market by up to 25 %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7258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0A0"/>
                </a:solidFill>
              </a:rPr>
              <a:t>Diaspora and international investors cannot visit in person. Matterport tours and drone video close the gap — and command premium pricing through confident remote buying.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285232"/>
            <a:ext cx="502920" cy="475488"/>
          </a:xfrm>
          <a:prstGeom prst="rect">
            <a:avLst/>
          </a:prstGeom>
          <a:solidFill>
            <a:srgbClr val="9A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8523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212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28523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collected today is a moat for tomorrow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55955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0A0"/>
                </a:solidFill>
              </a:rPr>
              <a:t>Every lead, interaction, and sale captured in a CRM becomes a predictive asset. In 18–24 months, AG Luxury can forecast demand, personalise outreach, and price units with AI precision.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F6A"/>
                </a:solidFill>
              </a:rPr>
              <a:t>From audit to action – what happens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AA"/>
                </a:solidFill>
              </a:rPr>
              <a:t>AG Luxury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889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88920" cy="4114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6A"/>
                </a:solidFill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212"/>
                </a:solidFill>
              </a:rPr>
              <a:t>Stakeholder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A6A"/>
                </a:solidFill>
              </a:rPr>
              <a:t>Present findings to leadership. Agree priority areas and budget. Assign AG Luxury internal digital champion.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27889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371600"/>
            <a:ext cx="2788920" cy="41148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6A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A"/>
                </a:solidFill>
              </a:rPr>
              <a:t>Kick-Off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A6A"/>
                </a:solidFill>
              </a:rPr>
              <a:t>Provide Vercel, CMS, analytics, HubSpot and social access. Finalise scope. Parallel sprint tracks begin.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371600"/>
            <a:ext cx="27889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371600"/>
            <a:ext cx="2788920" cy="41148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1212"/>
                </a:solidFill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A"/>
                </a:solidFill>
              </a:rPr>
              <a:t>Sprint 1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A6A"/>
                </a:solidFill>
              </a:rPr>
              <a:t>Speed &amp; SEO fixes, WhatsApp bot, NDPR compliance and Next.js upgrade running in parallel immediately.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371600"/>
            <a:ext cx="27889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0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371600"/>
            <a:ext cx="2788920" cy="411480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1212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A"/>
                </a:solidFill>
              </a:rPr>
              <a:t>Phase 1 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A6A"/>
                </a:solidFill>
              </a:rPr>
              <a:t>WhatsApp bot live. Instagram feed embedded. SEO/speed fixes deployed. First AI listing copy in production.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21808"/>
            <a:ext cx="11430000" cy="10058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321808"/>
            <a:ext cx="11430000" cy="50292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4132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6A"/>
                </a:solidFill>
              </a:rPr>
              <a:t>Ready to position AG Luxury as Lagos's most digitally sophisticated developer?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790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discovery workshop.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5595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D4AF6A"/>
                </a:solidFill>
              </a:rPr>
              <a:t>agluxurydev.com  •  Sales@agluxurydev.com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46120"/>
            <a:ext cx="11548872" cy="50292"/>
          </a:xfrm>
          <a:prstGeom prst="rect">
            <a:avLst/>
          </a:prstGeom>
          <a:solidFill>
            <a:srgbClr val="D4A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077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4AF6A"/>
                </a:solidFill>
              </a:rPr>
              <a:t>Defining a new standard — in property, and in digital excellence.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7868"/>
                </a:solidFill>
              </a:rPr>
              <a:t>AG Luxury  •  agluxurydev.com  •  Lekki Phase 1, Lagos, Nigeria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5A6A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