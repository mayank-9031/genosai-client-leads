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114800"/>
            <a:ext cx="11548872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914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FORTRESS REAL ESTATE INVESTMENTS LIMITED  |  JSE: FFA &amp; FFB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Web Development &amp;
AI Automation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649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5C518"/>
                </a:solidFill>
              </a:rPr>
              <a:t>Digital Strategy Review &amp; Innovation Roadmap  |  Johannesburg, South Africa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B"/>
                </a:solidFill>
              </a:rPr>
              <a:t>Prepared by: Genos Apollo  |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6035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BBB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658368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What we will cover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55778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640080" cy="96012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C518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Company Digital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89280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B"/>
                </a:solidFill>
              </a:rPr>
              <a:t>Fortress's current digital footprint vs. REIT peers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417320"/>
            <a:ext cx="55778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640080" cy="96012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C518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Website Audit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189280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B"/>
                </a:solidFill>
              </a:rPr>
              <a:t>IR, leasing UX, SEO and platform performance gaps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532888"/>
            <a:ext cx="55778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532888"/>
            <a:ext cx="640080" cy="96012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7614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C518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26243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Web Development Roadmap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0083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B"/>
                </a:solidFill>
              </a:rPr>
              <a:t>Tenant portal, IR hub &amp; modern platform stack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2532888"/>
            <a:ext cx="55778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2532888"/>
            <a:ext cx="640080" cy="96012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7614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C518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243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AI Automation Opportunity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0083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B"/>
                </a:solidFill>
              </a:rPr>
              <a:t>Where AI drives leasing, IR and operations at scale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648456"/>
            <a:ext cx="55778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3648456"/>
            <a:ext cx="640080" cy="96012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87705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C518"/>
                </a:solidFill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373989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Benefits of Automation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12394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B"/>
                </a:solidFill>
              </a:rPr>
              <a:t>ROI at R29.6B market cap scale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3648456"/>
            <a:ext cx="55778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5080" y="3648456"/>
            <a:ext cx="640080" cy="96012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387705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C518"/>
                </a:solidFill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373989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Implementation Timeline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412394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B"/>
                </a:solidFill>
              </a:rPr>
              <a:t>Phased 12-month delivery plan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764024"/>
            <a:ext cx="55778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4764024"/>
            <a:ext cx="640080" cy="96012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499262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C518"/>
                </a:solidFill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4440" y="485546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Investment &amp; Next Steps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523951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B"/>
                </a:solidFill>
              </a:rPr>
              <a:t>Budget guidance and immediate 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COMPANY DIGITAL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658368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Fortress Real Estate Investments – current digital footprint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303520" cy="50292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5303520" cy="41148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167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Company Snapshot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4708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18470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Internally managed REIT  |  3rd largest in South Africa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2257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JSE Listing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32257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FFA &amp; FFB  |  Market cap: R29.6 billion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9806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CEO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79806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Steven Brown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735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HQ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2735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Johannesburg, Gauteng, South Africa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4904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Portfolio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749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2.9M sqm GLA  |  4.0% vacancy  |  52 retail centres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2452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Segments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2245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Logistics (SA + CEE)  |  Convenience Retail  |  NEPI Rockcastle 23.9%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0001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Dividend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70001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7.36% yield  |  86.29 cps FFB H1 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17550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Website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17550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fortressfund.co.za  (JS-rendered — SEO risk)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1280160"/>
            <a:ext cx="5943600" cy="50292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0" y="1280160"/>
            <a:ext cx="5943600" cy="4114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31673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Key Digital Health Indicators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18470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Custom Domain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184708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ECC71"/>
                </a:solidFill>
              </a:rPr>
              <a:t>✓ Active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18470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fortressfund.co.za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232257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JS Rendering (SEO Risk)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2322576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4D4D"/>
                </a:solidFill>
              </a:rPr>
              <a:t>⚠ SPA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232257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JS-only = content invisible to crawlers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279806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Mobile Page Speed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2798064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4D4D"/>
                </a:solidFill>
              </a:rPr>
              <a:t>~50 / 100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279806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Heavy JS bundle — est. below benchmark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32735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Investor Relations Hub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327355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39C12"/>
                </a:solidFill>
              </a:rPr>
              <a:t>Basic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32735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SENS/reports exist; UX lags peers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60" y="3749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Logistics Leasing 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374904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4D4D"/>
                </a:solidFill>
              </a:rPr>
              <a:t>Limited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0" y="37490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No live availability or enquiry portal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0760" y="422452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AI / Automation Visible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4224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4D4D"/>
                </a:solidFill>
              </a:rPr>
              <a:t>None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42245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No chatbot, no self-serve IR tools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0760" y="470001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ESG / Sustainability Section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4700016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39C12"/>
                </a:solidFill>
              </a:rPr>
              <a:t>Partial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84080" y="470001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Content exists; not interactively scored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60" y="517550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Social Media Integration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5175504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39C12"/>
                </a:solidFill>
              </a:rPr>
              <a:t>Limited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517550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LinkedIn + Facebook present; no live feed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WEBSITE AUDIT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658368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fortressfund.co.za – gaps vs. global REIT digital benchmarks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788920" cy="48463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2788920" cy="41148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80744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Performance &amp; Tech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56816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9280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JS-rendered SPA — Google cannot index content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615184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55117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Heavy bundle slows mobile load below 50/100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273552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20954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No server-side rendering for critical IR pages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931920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8679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Risk: institutional ESG screeners can't parse 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1325880"/>
            <a:ext cx="2788920" cy="48463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0" y="1325880"/>
            <a:ext cx="2788920" cy="41148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1380744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Investor Relations UX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1956816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1880" y="189280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SENS announcements buried — not auto-aggregated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2615184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1880" y="255117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No live share price widget (FFA &amp; FFB) on homepage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29000" y="3273552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320954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Annual / interim reports require deep navigation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29000" y="3931920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11880" y="38679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No investor FAQ chatbot or self-serve IR tools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325880"/>
            <a:ext cx="2788920" cy="48463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1325880"/>
            <a:ext cx="2788920" cy="41148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1380744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Leasing &amp; Tenant Acquisition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1956816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189280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No searchable logistics or retail availability database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15184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255117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Prospective tenants cannot filter by GLA, location, spec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80" y="3273552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320954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No enquiry-to-lease pipeline or self-serve portal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931920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38679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CEE portfolio barely visible to European prospects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1325880"/>
            <a:ext cx="2788920" cy="48463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44000" y="1325880"/>
            <a:ext cx="2788920" cy="41148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35440" y="1380744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ESG &amp; Compliance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81160" y="1956816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64040" y="189280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ESG dashboard not machine-readable for fund screeners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81160" y="2615184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64040" y="255117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POPIA cookie consent not prominently displayed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81160" y="3273552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64040" y="320954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Sustainability KPIs not dynamically updated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81160" y="3931920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64040" y="38679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No TCFD or carbon reporting interactive module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6217920"/>
            <a:ext cx="11430000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627278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A0F2E"/>
                </a:solidFill>
              </a:rPr>
              <a:t>Critical: SPA rendering blocks search engine indexing — Growthpoint and Redefine both serve SSR IR pages; Fortress is losing organic institutional traffic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WEB DEVELOPMENT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658368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Elevating fortressfund.co.za to global REIT digital standards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4114800" cy="51206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4114800" cy="411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1673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Recommended Tech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470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4F8A"/>
                </a:solidFill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8470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Next.js 15 – SSR/SSG (full SEO &amp; IR indexing)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042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4F8A"/>
                </a:solidFill>
              </a:rPr>
              <a:t>CMS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3042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Sanity.io – IR docs, properties, ESG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614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4F8A"/>
                </a:solidFill>
              </a:rPr>
              <a:t>Hosting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7614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Vercel + Cloudflare CDN (SA + EU / CEE edge)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186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4F8A"/>
                </a:solidFill>
              </a:rPr>
              <a:t>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2186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Algolia – logistics &amp; retail availability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758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4F8A"/>
                </a:solidFill>
              </a:rPr>
              <a:t>IR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6758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JSE SENS API feed + live share price widget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330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4F8A"/>
                </a:solidFill>
              </a:rPr>
              <a:t>Portal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41330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Auth0 – institutional investor &amp; tenant portal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902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4F8A"/>
                </a:solidFill>
              </a:rPr>
              <a:t>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5902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GA4 + Hotjar — IR funnel &amp; leasing journey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0474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4F8A"/>
                </a:solidFill>
              </a:rPr>
              <a:t>AI / Chat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50474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Claude API – IR chatbot + leasing qualification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1280160"/>
            <a:ext cx="7086600" cy="51206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54880" y="1280160"/>
            <a:ext cx="7086600" cy="41148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92040" y="1316736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Key Improvements &amp; Features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92040" y="1901952"/>
            <a:ext cx="73152" cy="2286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1810512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F2E"/>
                </a:solidFill>
              </a:rPr>
              <a:t>SSR Migration — Full IR &amp; SEO Visibility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4920" y="2084832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Convert SPA to Next.js SSR/SSG. Every SENS page, property listing, and ESG report becomes fully indexed. Institutional investors and analysts find Fortress in organic search.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92040" y="2615184"/>
            <a:ext cx="73152" cy="2286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4920" y="2523744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F2E"/>
                </a:solidFill>
              </a:rPr>
              <a:t>Live Investor Relations Hub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20" y="2798064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Auto-aggregated SENS feed, live FFA/FFB share price ticker, interactive dividend history, downloadable annual and interim reports — all accessible within two clicks from homepage.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92040" y="3328416"/>
            <a:ext cx="73152" cy="2286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3236976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F2E"/>
                </a:solidFill>
              </a:rPr>
              <a:t>Logistics &amp; Retail Availability Portal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74920" y="3511296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Searchable database of available GLA by province, spec, size and expected occupation. Prospective tenants enquire via portal — no cold-calling facilities teams.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92040" y="4041648"/>
            <a:ext cx="73152" cy="2286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920" y="3950208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F2E"/>
                </a:solidFill>
              </a:rPr>
              <a:t>ESG / Sustainability Interactive Dashboard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74920" y="4224528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Machine-readable TCFD-aligned ESG KPIs, live carbon intensity data, and downloadable ESG reports. Meets institutional fund screener requirements for JSE SRI and GRESB.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92040" y="4754880"/>
            <a:ext cx="73152" cy="2286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74920" y="4663440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F2E"/>
                </a:solidFill>
              </a:rPr>
              <a:t>CEE Portfolio International Showcase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74920" y="4937760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Dedicated English-language section for Central &amp; Eastern European logistics assets — targeting EU-based PE firms, logistics operators and sovereign wealth funds.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92040" y="5468112"/>
            <a:ext cx="73152" cy="2286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74920" y="5376672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F2E"/>
                </a:solidFill>
              </a:rPr>
              <a:t>POPIA &amp; Cookie Consent Compliance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74920" y="5650992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Full POPIA-compliant consent flow, privacy policy, data processing agreements and security headers — protecting Fortress from regulatory risk as a JSE-listed entity.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AI AUTOMATION OPPORTUNITY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658368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Where AI delivers institutional-scale value for Fortress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669280" cy="24231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5669280" cy="41148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8074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Investor Relations Automation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1965960"/>
            <a:ext cx="91440" cy="914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89280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AI chatbot answers IR queries 24/7 (dividends, SENS, NAV)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2404872"/>
            <a:ext cx="91440" cy="914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33172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Auto-summarise and publish SENS announcements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2843784"/>
            <a:ext cx="91440" cy="914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77063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Personalised IR email sequences by investor profile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3282696"/>
            <a:ext cx="91440" cy="914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20954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Earnings call transcript → key metrics auto-extracted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325880"/>
            <a:ext cx="5669280" cy="24231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325880"/>
            <a:ext cx="5669280" cy="4114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38074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Leasing &amp; Tenant Acquisition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73952" y="1965960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56832" y="189280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AI qualifies inbound leasing enquiries by size &amp; spec fit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73952" y="2404872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56832" y="233172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Auto-match available GLA to tenant requirements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73952" y="2843784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56832" y="277063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Heads of lease drafting assistant (AI-powered)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73952" y="3282696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56832" y="320954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Vacancy alert emails auto-sent to registered tenant prospects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931920"/>
            <a:ext cx="5669280" cy="24231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931920"/>
            <a:ext cx="5669280" cy="411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98678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Portfolio &amp; Asset Management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" y="4572000"/>
            <a:ext cx="91440" cy="914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49884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AI-generated monthly portfolio performance summaries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0352" y="5010912"/>
            <a:ext cx="91440" cy="914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493776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Predictive lease expiry &amp; renewal risk flagging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" y="5449824"/>
            <a:ext cx="91440" cy="914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537667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Automated valuation variance reports per asset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0352" y="5888736"/>
            <a:ext cx="91440" cy="914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581558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CEE market intelligence digest (EU logistics trends)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3931920"/>
            <a:ext cx="5669280" cy="24231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09360" y="3931920"/>
            <a:ext cx="566928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398678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ESG &amp; Reporting Automation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73952" y="4572000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56832" y="449884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Auto-compile ESG KPIs from property management systems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73952" y="5010912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56832" y="493776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AI-draft TCFD and GRESB submissions from internal data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73952" y="5449824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56832" y="537667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Carbon intensity trend alerts by portfolio segment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73952" y="5888736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56832" y="581558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Board ESG pack auto-generated monthly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BENEFITS OF AI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658368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Institutional-scale impact across Fortress's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743200" cy="14630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2743200" cy="457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C518"/>
                </a:solidFill>
              </a:rPr>
              <a:t>24/7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31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AI-powered IR &amp;
leasing enquiry coverage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325880"/>
            <a:ext cx="2743200" cy="14630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325880"/>
            <a:ext cx="2743200" cy="457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C518"/>
                </a:solidFill>
              </a:rPr>
              <a:t>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331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Faster SENS &amp;
report publication cycle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325880"/>
            <a:ext cx="2743200" cy="14630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325880"/>
            <a:ext cx="2743200" cy="457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C518"/>
                </a:solidFill>
              </a:rPr>
              <a:t>3×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331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More tenant leads
qualified per month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325880"/>
            <a:ext cx="2743200" cy="14630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325880"/>
            <a:ext cx="2743200" cy="457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C518"/>
                </a:solidFill>
              </a:rPr>
              <a:t>R29.6B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331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Market cap scale —
every basis point counts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926080"/>
            <a:ext cx="5669280" cy="15087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2926080"/>
            <a:ext cx="5669280" cy="38404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2926080"/>
            <a:ext cx="45720" cy="15087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9718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Investor Relations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364992"/>
            <a:ext cx="5532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Analysts find Fortress via Google (SSR unlocks this)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IR chatbot answers dividend queries instantly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SENS auto-summarised = media picks up faster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Institutional buyers engage deeper with live data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2926080"/>
            <a:ext cx="5669280" cy="15087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2926080"/>
            <a:ext cx="5669280" cy="38404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2926080"/>
            <a:ext cx="45720" cy="15087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9718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Leasing &amp; Occupancy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364992"/>
            <a:ext cx="5532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Available GLA visible 24/7 to logistics operators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AI pre-qualifies tenants before BD team engages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Vacancy periods shortened — direct NAV impact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CEE assets marketed to EU capital via digital portal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617720"/>
            <a:ext cx="5669280" cy="15087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4617720"/>
            <a:ext cx="5669280" cy="384048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4617720"/>
            <a:ext cx="45720" cy="15087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66344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ESG &amp; Governance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056632"/>
            <a:ext cx="5532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Machine-readable ESG data satisfies fund mandates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GRESB and JSE SRI submissions automated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Board packs prepared in hours, not days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Regulatory risk reduced across POPIA and GDPR (CEE)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4617720"/>
            <a:ext cx="5669280" cy="15087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9360" y="4617720"/>
            <a:ext cx="5669280" cy="384048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9360" y="4617720"/>
            <a:ext cx="45720" cy="15087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466344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Competitive Positioning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056632"/>
            <a:ext cx="5532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Match Growthpoint + Redefine's digital IR standard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AI-native REIT attracts next-gen institutional allocators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Global logistics operators find Fortress digitally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Data flywheel: AI improves with every lease interaction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ROI &amp; BUSINESS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658368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Projected returns from digital + AI investment (ZAR)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303520" cy="51206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5303520" cy="41148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167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Indicative Investment (Year 1 – ZAR)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SSR Website Rebuild (Next.js + Sanity)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8288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R 600,000 – R 1,200,000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Live IR Hub + SENS API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2860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R 350,000 – R   700,000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43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Logistics &amp; Retail Leasing Portal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7432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R 400,000 – R   800,000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00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AI IR Chatbot (Claude API)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2004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R 150,000 – R   300,000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ESG Dashboard + TCFD Module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6576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R 250,000 – R   500,000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POPIA Compliance &amp; Security 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41148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R  80,000 – R   160,000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72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Ongoing monthly support (est.)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45720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R  80,000 – R   150,000 / mo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983480"/>
            <a:ext cx="5303520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1389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F2E"/>
                </a:solidFill>
              </a:rPr>
              <a:t>TOTAL YEAR 1 (once-off + 12 mo)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513892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ECC71"/>
                </a:solidFill>
              </a:rPr>
              <a:t>R 2,790,000 – R 5,460,000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1280160"/>
            <a:ext cx="5943600" cy="51206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0" y="1280160"/>
            <a:ext cx="594360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131673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Projected Returns &amp; Value Unlocked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18288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1 new logistics tenant (5,000 sqm @ R85/sqm)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1828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R 5.1M+ annual rental income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22860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Vacancy reduction: 0.5% of 2.9M sqm GLA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2286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R 12M–R 25M+ annual rental upside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27432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IR: reduced analyst roadshow admin cost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2743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R 1.5M–R 3M / year est.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32004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ESG rating uplift → lower cost of capital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3200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10–20 bps saving on R29.6B portfolio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36576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AI lease admin time saving (10 staff × 20%)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3657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R 2M–R 4M annual salary equivalent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41148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CEE digital presence → EU institutional inflows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4114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Long-term AUM growth at fund level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4526280"/>
            <a:ext cx="5943600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80760" y="468172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F2E"/>
                </a:solidFill>
              </a:rPr>
              <a:t>TOTAL YEAR 1 VALUE (conservative)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46817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ECC71"/>
                </a:solidFill>
              </a:rPr>
              <a:t>R 20M – R 45M+ identifiable upside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6480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A0F2E"/>
                </a:solidFill>
              </a:rPr>
              <a:t>Investment of R2.8M–R5.5M against R20M–R45M+ identifiable return = 7–16× ROI — and that excludes long-term ESG and AUM compounding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IMPLEMENTATION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658368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Phased 12-month delivery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743200" cy="50749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2743200" cy="6400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8074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F2E"/>
                </a:solidFill>
              </a:rPr>
              <a:t>Phase 1
Mon 1–3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27248" y="1600200"/>
            <a:ext cx="146304" cy="54864"/>
          </a:xfrm>
          <a:prstGeom prst="rect">
            <a:avLst/>
          </a:prstGeom>
          <a:solidFill>
            <a:srgbClr val="8A9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" y="2203704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1305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POPIA compliance &amp; cookie consent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3026664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9535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SSR migration — unlock Google indexing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3849624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7764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Live FFA/FFB share price on homepage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" y="4672584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5994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SENS auto-aggregation feed live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1325880"/>
            <a:ext cx="2743200" cy="50749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91840" y="1325880"/>
            <a:ext cx="2743200" cy="64008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138074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2
Mon 4–6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53328" y="1600200"/>
            <a:ext cx="146304" cy="54864"/>
          </a:xfrm>
          <a:prstGeom prst="rect">
            <a:avLst/>
          </a:prstGeom>
          <a:solidFill>
            <a:srgbClr val="8A9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56432" y="2203704"/>
            <a:ext cx="91440" cy="914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39312" y="21305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Full Next.js + Sanity CMS rebuild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56432" y="3026664"/>
            <a:ext cx="91440" cy="914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39312" y="29535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Logistics &amp; retail availability portal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56432" y="3849624"/>
            <a:ext cx="91440" cy="914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39312" y="37764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IR Hub: reports, dividends, results centre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56432" y="4672584"/>
            <a:ext cx="91440" cy="914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39312" y="45994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AI IR chatbot (Claude API) MVP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325880"/>
            <a:ext cx="2743200" cy="50749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1325880"/>
            <a:ext cx="2743200" cy="6400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138074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3
Mon 7–9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79408" y="1600200"/>
            <a:ext cx="146304" cy="54864"/>
          </a:xfrm>
          <a:prstGeom prst="rect">
            <a:avLst/>
          </a:prstGeom>
          <a:solidFill>
            <a:srgbClr val="8A9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82512" y="2203704"/>
            <a:ext cx="91440" cy="914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21305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ESG interactive dashboard + TCFD module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82512" y="3026664"/>
            <a:ext cx="91440" cy="914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65392" y="29535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CEE portfolio international showcase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82512" y="3849624"/>
            <a:ext cx="91440" cy="914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65392" y="37764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Tenant enquiry-to-pipeline portal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82512" y="4672584"/>
            <a:ext cx="91440" cy="914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65392" y="45994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AI leasing qualification workflows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0" y="1325880"/>
            <a:ext cx="2743200" cy="50749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44000" y="1325880"/>
            <a:ext cx="2743200" cy="6400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0" y="138074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4
Mon 9–12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08592" y="2203704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91472" y="21305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GRESB &amp; JSE SRI auto-reporting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08592" y="3026664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91472" y="29535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AI portfolio performance summaries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08592" y="3849624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91472" y="37764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Institutional investor portal (Auth0)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08592" y="4672584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91472" y="45994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Full audit, optimise &amp; benchmarking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C518"/>
                </a:solidFill>
              </a:rPr>
              <a:t>Why Act — Now?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At R29.6 billion, every digital inefficiency compounds. The gap between Fortress and global REIT digital benchmarks is measurable in basis points.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502920" cy="5029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F2E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7830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The SPA rendering issue is leaking institutional traffic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574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CCDD"/>
                </a:solidFill>
              </a:rPr>
              <a:t>Fortress's JavaScript-only site is invisible to Google search crawlers for key queries: 'logistics property South Africa', 'SA REIT dividend yield', 'CEE logistics investment'. Growthpoint and Redefine serve fully-indexed SSR IR pages. Fixing this in Phase 1 recaptures that traffic immediately.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79192"/>
            <a:ext cx="502920" cy="5029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791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67919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SA REITs returned 5.9% in April 2026 — investor interest is surging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5351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CCDD"/>
                </a:solidFill>
              </a:rPr>
              <a:t>With rate cuts anticipated through 2026, institutional capital is rotating back into REITs. Fortress needs a world-class digital IR experience to capture these inflows before they commit to better-presented peers on the JSE.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575304"/>
            <a:ext cx="502920" cy="5029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57530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F2E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7530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Logistics vacancy is a direct NAV lever — digital leasing scales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849624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CCDD"/>
                </a:solidFill>
              </a:rPr>
              <a:t>At 2.9M sqm GLA and 4.0% vacancy, Fortress has ~116,000 sqm of unlet space. A searchable digital availability portal, combined with AI lead qualification, directly compresses that vacancy figure — each 0.5% improvement is worth R12M–R25M in annual rental income.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471416"/>
            <a:ext cx="502920" cy="5029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7141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47141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ESG mandates are now a capital allocation prerequisite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745736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CCDD"/>
                </a:solidFill>
              </a:rPr>
              <a:t>Institutional fund managers operating under SFDR, PRI, and JSE SRI mandates require machine-readable ESG data. An interactive TCFD dashboard and GRESB-aligned reporting module directly influences Fortress's inclusion in ESG-screened portfolios — which represent a growing share of global institutional AUM.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367528"/>
            <a:ext cx="502920" cy="5029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3675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F2E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367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The CEE portfolio is under-marketed to European capital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641848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CCDD"/>
                </a:solidFill>
              </a:rPr>
              <a:t>Fortress holds a 23.9% stake in NEPI Rockcastle and has direct CEE logistics exposure. Without a dedicated English-language digital showcase targeting EU private equity, logistics operators, and sovereign wealth funds, this premium European positioning generates no inbound deal flow.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658368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From audit to action — what happens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2743200" cy="36576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2743200" cy="4114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2646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F2E"/>
                </a:solidFill>
              </a:rP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019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4F8A"/>
                </a:solidFill>
              </a:rPr>
              <a:t>Technical 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Genos Apollo conducts full technical audit: SSR gap analysis, SENS feed mapping, GLA data structure, existing CMS review and IR content inventory.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371600"/>
            <a:ext cx="2743200" cy="36576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371600"/>
            <a:ext cx="2743200" cy="41148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42646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Week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9019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F2E"/>
                </a:solidFill>
              </a:rPr>
              <a:t>Stakeholder Alignment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28600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Present findings to Steven Brown and digital / IR team. Agree Phase 1 scope: POPIA fix, SSR migration priority and live share price integration.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371600"/>
            <a:ext cx="2743200" cy="36576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371600"/>
            <a:ext cx="2743200" cy="411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42646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Week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9019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4F8A"/>
                </a:solidFill>
              </a:rPr>
              <a:t>Phase 1 Sprint Begins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28600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POPIA consent live. SSR migration starts (no design change required). SENS feed integrated. Google re-indexing begins within days of deployment.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1371600"/>
            <a:ext cx="2743200" cy="36576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0" y="1371600"/>
            <a:ext cx="274320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142646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Month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19019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IR Hub &amp; Portal 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28600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Fully indexed IR hub live. Logistics availability portal in testing. AI IR chatbot MVP deployed. Fortress visible in Google for key REIT queries.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303520"/>
            <a:ext cx="11430000" cy="10058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376672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</a:rPr>
              <a:t>Ready to bring Fortress's digital presence in line with its R29.6B market position?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4243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Contact Genos Apollo to schedule your technical discovery session.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548640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F5C518"/>
                </a:solidFill>
              </a:rPr>
              <a:t>fortressfund.co.za  |  JSE: FFA &amp; FFB  |  Johannesburg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200400"/>
            <a:ext cx="11548872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5C518"/>
                </a:solidFill>
              </a:rPr>
              <a:t>Premium logistics and retail real estate — built for the digital investor era.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57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Fortress Real Estate Investments Limited  ·  JSE: FFA &amp; FFB  ·  fortressfund.co.za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Prepared by Genos Apollo  |  May 2026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