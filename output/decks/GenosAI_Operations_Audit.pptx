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6552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365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4F8EFF"/>
                </a:solidFill>
              </a:rPr>
              <a:t>GENOS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960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BB"/>
                </a:solidFill>
              </a:rPr>
              <a:t>www.genosai.tech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8EFF"/>
                </a:solidFill>
              </a:rPr>
              <a:t>[CLIENT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AI Operations &amp;
Productivity Audit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20440"/>
            <a:ext cx="27432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94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Prepared exclusively for [Contact Name], [Title]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Rohan Malik  |  CEO, Genos AI  |  hello@genosai.tech  |  +91 638-714-2699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035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BB"/>
                </a:solidFill>
              </a:rPr>
              <a:t>May 2026  |  CONFIDENTIAL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3017520"/>
            <a:ext cx="2103120" cy="2286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9BBB"/>
                </a:solidFill>
              </a:rPr>
              <a:t>AUDIT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34290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C518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D4EE"/>
                </a:solidFill>
              </a:rPr>
              <a:t>/ 10</a:t>
            </a:r>
          </a:p>
        </p:txBody>
      </p:sp>
      <p:sp>
        <p:nvSpPr>
          <p:cNvPr id="18" name="Oval 17"/>
          <p:cNvSpPr/>
          <p:nvPr/>
        </p:nvSpPr>
        <p:spPr>
          <a:xfrm>
            <a:off x="9829800" y="4663440"/>
            <a:ext cx="1613916" cy="2743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HIGH PRIORITY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At a Glance — Current Reality &amp;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56616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356616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Current Operational Reality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90+ employees across 6 departments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Heavy manual dependency in reporting &amp; revisions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Repetitive workflows consuming skilled hours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Disconnected tools and manual approvals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High dependency on human follow-ups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463040"/>
            <a:ext cx="356616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463040"/>
            <a:ext cx="356616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5727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Current Bottlenecks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96596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Delayed execution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Manual reporting overhead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Slower client turnaround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Inconsistent workflow quality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High operational fatigue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Difficulty scaling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463040"/>
            <a:ext cx="3776472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463040"/>
            <a:ext cx="377647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57276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AI Transformation Opportunity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2011680"/>
            <a:ext cx="3566160" cy="47548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08483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Task 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084832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C518"/>
                </a:solidFill>
              </a:rPr>
              <a:t>+35–60%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2578608"/>
            <a:ext cx="3566160" cy="47548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26517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Reporting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2651760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C518"/>
                </a:solidFill>
              </a:rPr>
              <a:t>70% faster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3145536"/>
            <a:ext cx="3566160" cy="47548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321868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Manual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21868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C518"/>
                </a:solidFill>
              </a:rPr>
              <a:t>−40%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3712464"/>
            <a:ext cx="3566160" cy="47548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378561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Efficiency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3785616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C518"/>
                </a:solidFill>
              </a:rPr>
              <a:t>+45%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4279392"/>
            <a:ext cx="3566160" cy="47548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435254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Productivity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4352544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C518"/>
                </a:solidFill>
              </a:rPr>
              <a:t>1.8×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4846320"/>
            <a:ext cx="3566160" cy="47548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491947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Annual Savings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4919472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C518"/>
                </a:solidFill>
              </a:rPr>
              <a:t>₹45L–₹1.2Cr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779008"/>
            <a:ext cx="11183112" cy="34747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824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2E"/>
                </a:solidFill>
              </a:rPr>
              <a:t>KEY INSIGHT: "The goal is not replacement — the goal is MORE OUTPUT per employee."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OPERATIONAL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5 Gaps Limiting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148840" cy="47548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8249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2E"/>
                </a:solidFill>
              </a:rPr>
              <a:t>GAP 1
REPETITIVE
MANUAL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2148840" cy="409651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4D4D"/>
                </a:solidFill>
              </a:rPr>
              <a:t>Skilled employees on manual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Hours lost to edits, data entry, formatting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High salary cost on low-value tasks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AI removes the backlog permanently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1488" y="1645920"/>
            <a:ext cx="214884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168249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2E"/>
                </a:solidFill>
              </a:rPr>
              <a:t>GAP 2
KNOWLEDGE
SILOS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121408"/>
            <a:ext cx="2148840" cy="409651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2928" y="21945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C518"/>
                </a:solidFill>
              </a:rPr>
              <a:t>Workflows live only in people's heads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2578608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Onboarding delays + inconsistent output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Operational chaos when key staff leave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AI codifies SOP into automated processes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0056" y="1645920"/>
            <a:ext cx="2148840" cy="4754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6" y="168249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2E"/>
                </a:solidFill>
              </a:rPr>
              <a:t>GAP 3
REPORTING
IS SLOW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0056" y="2121408"/>
            <a:ext cx="2148840" cy="409651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1496" y="21945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8C00"/>
                </a:solidFill>
              </a:rPr>
              <a:t>Decision-making waits on manual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2578608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Managers wait hours/days for metrics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Campaign, HR, and inventory data delayed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AI dashboards deliver it in real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8624" y="1645920"/>
            <a:ext cx="2148840" cy="475488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0064" y="168249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2E"/>
                </a:solidFill>
              </a:rPr>
              <a:t>GAP 4
TOOL
FRAGMENTATION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78624" y="2121408"/>
            <a:ext cx="2148840" cy="409651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0064" y="21945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55FF"/>
                </a:solidFill>
              </a:rPr>
              <a:t>Excel, WhatsApp, Email, Drive, approvals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2578608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A055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Inefficiency and communication gaps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A055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single source of truth for operations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A055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AI unifies data across all tools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37192" y="1645920"/>
            <a:ext cx="2148840" cy="4754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28632" y="168249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2E"/>
                </a:solidFill>
              </a:rPr>
              <a:t>GAP 5
SCALING
REQUIRES HIRING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37192" y="2121408"/>
            <a:ext cx="2148840" cy="409651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28632" y="21945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D4AA"/>
                </a:solidFill>
              </a:rPr>
              <a:t>Without AI: 150 hires for 2×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2578608"/>
            <a:ext cx="1965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With AI: 90 employees → output of 150+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Every new hire costs ₹6–18L/year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AI closes the headcount gap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09360"/>
            <a:ext cx="11183112" cy="32918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35508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C518"/>
                </a:solidFill>
              </a:rPr>
              <a:t>Every gap has a documented AI solution. None require replacing your team — only augmenting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AI AUTOMATION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Four Layers That Remove Bottlenecks Across Every Department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64592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6974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00784"/>
            <a:ext cx="2697480" cy="4242816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HR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423160"/>
            <a:ext cx="247802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AI resume ranking, employee support chatbot (Hindi + English), automated onboarding flows, and live HR analytics dashboards. Reduces HR coordination by 50% and screening time by 80%.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6704" y="1645920"/>
            <a:ext cx="269748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6704" y="1700784"/>
            <a:ext cx="2697480" cy="4242816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Design &amp; CAD
Acceleration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423160"/>
            <a:ext cx="247802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Batch Photoshop automation for exports and resizing, AI-assisted design variations, CAD template acceleration, and smart asset management. Design throughput increases 60%.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645920"/>
            <a:ext cx="269748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00784"/>
            <a:ext cx="2697480" cy="4242816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5FF"/>
                </a:solidFill>
              </a:rPr>
              <a:t>Marketing &amp;
Content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423160"/>
            <a:ext cx="247802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AI blogs, ad copy, and captions at 3× current velocity. Automated PPC reporting, keyword clustering, social scheduling, and wasted ad spend detection. Reporting time cut 90%.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34272" y="1645920"/>
            <a:ext cx="26974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34272" y="1700784"/>
            <a:ext cx="2697480" cy="4242816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Analytics &amp;
Inventory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423160"/>
            <a:ext cx="247802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Predictive inventory forecasting, automated daily/weekly reports, AI anomaly detection, and executive dashboards. Reporting speed 10× faster. Forecasting accuracy +35%.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053328"/>
            <a:ext cx="11183112" cy="502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081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C518"/>
                </a:solidFill>
              </a:rPr>
              <a:t>Anurag's team builds the products. Genos AI handles the operational layer that scales without adding headcount.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BEFORE VS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Actually Changes in 90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4937760" cy="3200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508760"/>
            <a:ext cx="5330952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3619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AFTER 90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11183112" cy="2011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38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HOTEL DEVELOPER INQUIRY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39696"/>
            <a:ext cx="4754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Form submitted Sunday. Reply arrives Monday. Competitor already has site visit booked.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139696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WhatsApp AI responds in 60 seconds. 5 qualifying questions. Site visit booked before Monday.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52928"/>
            <a:ext cx="11183112" cy="2011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71216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AMC RENEWAL (490 CLIENTS)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072384"/>
            <a:ext cx="4754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Contracts expire. Manual calls or no contact. Each lapsed AMC is direct revenue lost.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072384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WhatsApp reminders at 30/7/1 days. Payment link in message. 490 clients managed automatically.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85616"/>
            <a:ext cx="11183112" cy="2011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039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005072"/>
            <a:ext cx="4754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Managers wait hours for campaign, HR, or inventory data. Decisions are delayed.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005072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Live dashboards refresh in real time. Every department has data without asking for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18304"/>
            <a:ext cx="11183112" cy="2011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7365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CONTENT 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937760"/>
            <a:ext cx="4754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1 article published last quarter. SCI invisible to organic search. Competitors rank instead.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937760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4–8 articles published monthly. SEO traction compounds. Inbound qualified leads start flowing.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650992"/>
            <a:ext cx="11183112" cy="2011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6692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CANDIDATE SCREENING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870448"/>
            <a:ext cx="4754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Consultants spend 60%+ of time on manual resume review. High-value time on low-value work.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5870448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scoring pipeline: top candidates surfaced in minutes. Consultants focus on relationships.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Your Path to AI-Powered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269748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99616"/>
            <a:ext cx="12390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6786" y="1536192"/>
            <a:ext cx="134645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A0F2E"/>
                </a:solidFill>
              </a:rPr>
              <a:t>Weeks 1–3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2697480" cy="386791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" y="2084832"/>
            <a:ext cx="4572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29968"/>
            <a:ext cx="2350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Workflow Audit &amp; SOP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04288"/>
            <a:ext cx="2350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Department workflow mapping, SOP analysis, repetitive task identification, ROI priority ranking.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2953512"/>
            <a:ext cx="4572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98648"/>
            <a:ext cx="2350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Quick-Win Automations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72968"/>
            <a:ext cx="2350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HR chatbot, AI reporting dashboards, batch design automation deployed.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46704" y="1463040"/>
            <a:ext cx="2697480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499616"/>
            <a:ext cx="12390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0570" y="1536192"/>
            <a:ext cx="134645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A0F2E"/>
                </a:solidFill>
              </a:rPr>
              <a:t>Weeks 4–8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6704" y="1938528"/>
            <a:ext cx="2697480" cy="386791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56432" y="2084832"/>
            <a:ext cx="45720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029968"/>
            <a:ext cx="2350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F"/>
                </a:solidFill>
              </a:rPr>
              <a:t>Department AI Copilots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2304288"/>
            <a:ext cx="2350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HR, Marketing, Analytics, and Dev copilots deployed and trained on company SOPs.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6432" y="2953512"/>
            <a:ext cx="45720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75304" y="2898648"/>
            <a:ext cx="2350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F"/>
                </a:solidFill>
              </a:rPr>
              <a:t>AI Content Engine Running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75304" y="3172968"/>
            <a:ext cx="2350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4–8 articles/month. PPC reporting automated. Social scheduling active.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0488" y="1463040"/>
            <a:ext cx="2697480" cy="475488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216" y="1499616"/>
            <a:ext cx="12390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PHASE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4354" y="1536192"/>
            <a:ext cx="134645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A0F2E"/>
                </a:solidFill>
              </a:rPr>
              <a:t>Months 2–3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0488" y="1938528"/>
            <a:ext cx="2697480" cy="386791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0216" y="2084832"/>
            <a:ext cx="45720" cy="475488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2029968"/>
            <a:ext cx="2350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5FF"/>
                </a:solidFill>
              </a:rPr>
              <a:t>Advanced AI Integrations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2304288"/>
            <a:ext cx="2350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Inventory forecasting, candidate outreach engine, executive movement intelligence.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0216" y="2953512"/>
            <a:ext cx="45720" cy="475488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2898648"/>
            <a:ext cx="2350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5FF"/>
                </a:solidFill>
              </a:rPr>
              <a:t>Unified Dashboard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3172968"/>
            <a:ext cx="2350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Leadership gets live operational visibility across all departments.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34272" y="1463040"/>
            <a:ext cx="269748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1499616"/>
            <a:ext cx="12390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PHASE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8138" y="1536192"/>
            <a:ext cx="134645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A0F2E"/>
                </a:solidFill>
              </a:rPr>
              <a:t>Ongoing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34272" y="1938528"/>
            <a:ext cx="2697480" cy="386791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2084832"/>
            <a:ext cx="4572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62872" y="2029968"/>
            <a:ext cx="2350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Full AI Operations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2872" y="2304288"/>
            <a:ext cx="2350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All copilots live, workflow orchestration active, continuous optimisation cadence.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2953512"/>
            <a:ext cx="4572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62872" y="2898648"/>
            <a:ext cx="2350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Scale Without Headcount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62872" y="3172968"/>
            <a:ext cx="2350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90 employees delivering output of 140–160. AI closes the gap.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897880"/>
            <a:ext cx="11183112" cy="43891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2E"/>
                </a:solidFill>
              </a:rPr>
              <a:t>"Companies that scale fastest will not have the most employees — but the best Human + AI systems."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Projected ROI — 12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103120" cy="1828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</a:rPr>
              <a:t>+45%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Overall
productivity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1645920"/>
            <a:ext cx="2103120" cy="1828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</a:rPr>
              <a:t>10×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Reporting
speed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4" y="1645920"/>
            <a:ext cx="2103120" cy="1828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</a:rPr>
              <a:t>−40%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Repetitive
manual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6056" y="1645920"/>
            <a:ext cx="2103120" cy="1828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</a:rPr>
              <a:t>1.8×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Employee
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73768" y="1645920"/>
            <a:ext cx="2103120" cy="1828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</a:rPr>
              <a:t>₹45L–1.2Cr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Annual
savings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39"/>
            <a:ext cx="5303520" cy="1828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49039"/>
            <a:ext cx="530352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58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WITHOUT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24528"/>
            <a:ext cx="50292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25–40 additional hires required for 2× growth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Yearly operational cost increase: ₹1.8Cr – ₹3.5Cr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Reporting delays slow every strategic decision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749039"/>
            <a:ext cx="5605272" cy="1828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3749039"/>
            <a:ext cx="560527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38587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WITH AI +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224528"/>
            <a:ext cx="53949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Same 90 employees, output of 140–160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Annual operational savings: ₹45L – ₹1.2Cr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Every department has live data without asking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687568"/>
            <a:ext cx="11183112" cy="43891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424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AI removes repetitive work, coordination bottlenecks &amp; operational inefficiency — not leadership, creativity, or strategy.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Let's Talk for
15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6032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No pitch. No commitment.
We walk through the findings and show you exactly what we'd automate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118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/>
              <a:t>  </a:t>
            </a:r>
            <a:r>
              <a:rPr sz="1100" b="1">
                <a:solidFill>
                  <a:srgbClr val="00D4AA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Reply or book a 15-min call: hello@genosai.tech</a:t>
            </a:r>
          </a:p>
          <a:p>
            <a:pPr algn="l">
              <a:spcAft>
                <a:spcPts val="600"/>
              </a:spcAft>
            </a:pPr>
            <a:r>
              <a:rPr sz="1100"/>
              <a:t>  </a:t>
            </a:r>
            <a:r>
              <a:rPr sz="1100" b="1">
                <a:solidFill>
                  <a:srgbClr val="00D4AA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Free strategy session: map highest-ROI automations for your team</a:t>
            </a:r>
          </a:p>
          <a:p>
            <a:pPr algn="l">
              <a:spcAft>
                <a:spcPts val="600"/>
              </a:spcAft>
            </a:pPr>
            <a:r>
              <a:rPr sz="1100"/>
              <a:t>  </a:t>
            </a:r>
            <a:r>
              <a:rPr sz="1100" b="1">
                <a:solidFill>
                  <a:srgbClr val="00D4AA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Custom AI roadmap: timeline, deliverables, cost estimate</a:t>
            </a:r>
          </a:p>
          <a:p>
            <a:pPr algn="l"/>
            <a:r>
              <a:rPr sz="1100"/>
              <a:t>  </a:t>
            </a:r>
            <a:r>
              <a:rPr sz="1100" b="1">
                <a:solidFill>
                  <a:srgbClr val="00D4AA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Phase 1 live in 2–3 weeks — quick wins before month 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0"/>
            <a:ext cx="6858000" cy="914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B"/>
                </a:solidFill>
              </a:rPr>
              <a:t>Rohan Malik  |  CEO, Genos AI  |  hello@genosai.tech  |  +91 638-714-2699  |  www.genosai.tech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5486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</a:rPr>
              <a:t>5 GAPS.
5 FIXES.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0876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1691640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7373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Manual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37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AI copilots eliminate repetitive tasks across every dept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2496312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5420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Slow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420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Live dashboards — no more waiting for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3300984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3467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Tool Chaos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4670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AI unifies your stack into a single operational 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4105656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1513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Content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15137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AI content engine: 4-8 articles/month, SEO compounds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4910328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49560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Scaling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95604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90 employees → output of 140+ with AI augmentation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