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3657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4F8EFF"/>
                </a:solidFill>
              </a:rPr>
              <a:t>GENOS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960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www.genosai.tech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CERTAINTY HOME LENDING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Website &amp; AI Growth
Audit Report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E"/>
                </a:solidFill>
              </a:rPr>
              <a:t>Prepared exclusively for Franco Terango, CEO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Rohan Malik  |  CEO, Genos AI  |  hello@genosai.tech  |  +91 638-714-2699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0350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8A9BBB"/>
                </a:solidFill>
              </a:rPr>
              <a:t>May 2026  |  CONFIDENTIAL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3017520"/>
            <a:ext cx="2103120" cy="2286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31089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9BBB"/>
                </a:solidFill>
              </a:rPr>
              <a:t>AUDIT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42900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5C518"/>
                </a:solidFill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8D4EE"/>
                </a:solidFill>
              </a:rPr>
              <a:t>/ 10</a:t>
            </a:r>
          </a:p>
        </p:txBody>
      </p:sp>
      <p:sp>
        <p:nvSpPr>
          <p:cNvPr id="18" name="Oval 17"/>
          <p:cNvSpPr/>
          <p:nvPr/>
        </p:nvSpPr>
        <p:spPr>
          <a:xfrm>
            <a:off x="9829800" y="4663440"/>
            <a:ext cx="1613916" cy="274320"/>
          </a:xfrm>
          <a:prstGeom prst="ellipse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HIGH PRIORITY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Franco Terango and Certainty Home Lending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25 yrs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Mortgage banking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0632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34 states
+ 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Licensed nationwide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38344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9784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200+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9784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Employees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06056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10,671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Reviews at 4.9 stars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73768" y="1645920"/>
            <a:ext cx="2103120" cy="2011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78308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5x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MortgageCX Best-In-Class
2018-2022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40480"/>
            <a:ext cx="11183112" cy="5486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136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DBA of Guaranteed Rate (#2 US Retail Mortgage Lender)  |  Founded 2000 as WR Starkey Mortgage  |  Conventional / FHA / VA / Jumbo / HELOC / Renovation / 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FRANCO'S BACKGROUND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892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CEO since April 2023 - 35+ years in financial services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BA Economics, George Mason University 1987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Board of Trustees, Greater Los Angeles Zoo Association since 2019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Published: HousingWire, Scotsman Guide, MBA NewsLink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572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WHAT CERTAINTY OFFERS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920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Purchase, refinance, HELOC across all major loan types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Spanish-language digital mortgage (launched March 2026)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Agent Advantage portal for Realtor partner relationships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Parent Rate Intelligence AI platform (launched Oct 2024)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WHAT'S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Strong Foundations - and a CEO Who Already Believes in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Franco Has Already Done the Ideological Work on AI in Mortgage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He wrote in HousingWire that the LO role will soon be fundamentally different because of technology. He wrote in Scotsman Guide that user-friendly tools reducing administrative burden are the defining factor in LO recruitment and retention. He has publicly stated that real-time decision-making must occur across the organization - not just at the top. The concept sell is already done. The conversation with Franco is about specifics, not whether AI matters.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Parent Rate's $100M AI Infrastructure Investment Is Already in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Rate Intelligence (launched October 2024) reduces mortgage approval from weeks to minutes. SmartUnderwrite provides real-time income and employment verification. The Same Day Mortgage program closed $1.1B in its pilot year. Certainty as a DBA benefits from this infrastructure investment. The gap is not at the underwriting layer - it is at the customer-facing layer: chatbot, social proof, rate alerts, and post-close automation that Certainty's website and brand do not yet have.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7472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10,671 Reviews at 4.9 Stars Is a Trust Asset Most Lenders Cannot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The volume and rating on RaveCapture represents years of deliberate service investment. It is one of the most powerful trust signals in mortgage lending - a space where referrals and reputation drive the majority of loan volume. The asset exists. The gap is deployment: it is not visible to a prospect landing on certaintyhomelending.com for the first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3484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348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Spanish-Language Digital Mortgage Shows Active UX Investment Mindset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754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Launching a complete Spanish-language digital mortgage experience in March 2026 is not a conservative move. It requires design, translation, legal review, and platform integration. It demonstrates that Franco and the leadership team invest in borrower experience as a competitive lever. An AI pre-qualification chatbot and embedded review module are natural extensions of that same investment mindset.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39496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949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34-State Coverage and 200-Plus Employees Means Scale to Absorb Automation-Generated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A lender operating at this scale with active executive hiring in 2024-2025 is in expansion mode. Automation-generated lead volume will be absorbed by the existing LO team - not create a headcount problem. This is the right moment to build the customer-facing AI layer: the team is large enough to handle what better digital infrastructure generates.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THE THREE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10,671 Five-Star Reviews. Zero of Them on the Homepage.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361188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91640"/>
            <a:ext cx="3392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2E"/>
                </a:solidFill>
              </a:rPr>
              <a:t>GAP 1
BURIED
SOCIAL PROOF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29968"/>
            <a:ext cx="36118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10312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4D4D"/>
                </a:solidFill>
              </a:rPr>
              <a:t>The trust signal that should be closing prospects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87168"/>
            <a:ext cx="339242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10,671 reviews at 4.9 stars on RaveCapture - not a single one visible on the homepage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Prospects landing on certaintyhomelending.com see a calculator and a directory button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Review embedded on the page that describes the loan converts at 2-3x the rate of the same page without it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Competitors who embed testimonials above the fold are winning on trust before the LO conversation starts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645920"/>
            <a:ext cx="361188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40"/>
            <a:ext cx="3392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2E"/>
                </a:solidFill>
              </a:rPr>
              <a:t>GAP 2
ZERO AFTER-HOURS
CONVERSION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9392" y="2029968"/>
            <a:ext cx="36118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10312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C518"/>
                </a:solidFill>
              </a:rPr>
              <a:t>Where Sunday evening traffic goes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487168"/>
            <a:ext cx="339242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5C518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No chatbot, no live chat - a prospect at 9pm on a Sunday hits a static page and leaves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5C518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AI lead response tools answer in under 90 seconds and pre-qualify before a human is needed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5C518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Industry data: lenders using AI chatbots convert 37% more ready-to-apply leads within 60 days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F5C518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For a 34-state operation, weekend and after-hours traffic is not a rounding error - it is a substantial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1645920"/>
            <a:ext cx="3611880" cy="38404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1691640"/>
            <a:ext cx="3392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2E"/>
                </a:solidFill>
              </a:rPr>
              <a:t>GAP 3
NO PIPELINE FOR
NOT-YET-READY LEADS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5864" y="2029968"/>
            <a:ext cx="36118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103120"/>
            <a:ext cx="3392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F8EFF"/>
                </a:solidFill>
              </a:rPr>
              <a:t>What happens to prospects who are 6 months 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487168"/>
            <a:ext cx="339242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No rate alert subscription for prospects who want to transact when rates drop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No email nurture capture for visitors who research but are not ready to apply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No post-close referral sequence - warm referrals solicited manually or not at all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4F8EFF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A prospect who visits today and buys in 6 months will use whichever lender stayed in touch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46520"/>
            <a:ext cx="11183112" cy="274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C518"/>
                </a:solidFill>
              </a:rPr>
              <a:t>The reviews are there. The traffic is there. The gaps are in what the website does with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5FF"/>
                </a:solidFill>
              </a:rPr>
              <a:t>WEBSITE DESIGN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 Professional Site That Stops Short of Converting.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371600" cy="36576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474720" cy="3291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474720" cy="384048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CERTAINTYHOMELENDING.COM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12848"/>
            <a:ext cx="3291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No reviews embedded - 10,671 stars invisible to visitors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Find a Loan Officer = directory dead end, no intelligent routing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No chatbot or live chat - zero after-hours engagement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No rate quote or rate alert tool for top-of-funnel visitors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No video content or personalized LO video messaging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No email nurture capture for not-yet-ready prospects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Blog/content: press releases only, no SEO strategy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Agent portal exists but has no AI or co-marketing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55FF"/>
                </a:solidFill>
              </a:rPr>
              <a:t>-&gt;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737360"/>
            <a:ext cx="3291840" cy="3291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737360"/>
            <a:ext cx="329184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556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WHAT A CONVERTING LENDER SITE DOES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12848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Reviews above the fold - trust signal visible before scroll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AI chatbot: pre-qualifies and routes to right LO with context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Rate alert subscription for not-yet-ready prospects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Live rate quote or affordability calculator top of funnel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LO video messaging for personalized prospect outreach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Email nurture capture with automated drip for researchers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SEO content hub targeting state-specific loan keywords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Agent portal with co-marketing automation and lead sharing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36992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55FF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58200" y="1737360"/>
            <a:ext cx="3291840" cy="3291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58200" y="1737360"/>
            <a:ext cx="3291840" cy="38404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7556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WHAT GENOS AI BUILDS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212848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Reviews embedded above fold on homepage + loan pages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AI chatbot: 5-7 pre-qual questions, intelligent LO routing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Rate alert subscription with automated drip on rate drops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SEO content engine: state-specific + loan-type keywords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Post-close referral and review sequence (D+3/7/30)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Email nurture for research-stage prospects not yet applying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LO video messaging capability for personalized outreach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ECC71"/>
                </a:solidFill>
              </a:rPr>
              <a:t>* </a:t>
            </a:r>
            <a:r>
              <a:rPr sz="1100">
                <a:solidFill>
                  <a:srgbClr val="C8D4EE"/>
                </a:solidFill>
              </a:rPr>
              <a:t>Agent portal AI layer: co-marketing and lead sharing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230368"/>
            <a:ext cx="11183112" cy="117043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852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5FF"/>
                </a:solidFill>
              </a:rPr>
              <a:t>CONVERSION BENCHMARK: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5257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10,671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68756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five-star reviews not
showing on homepage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5257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0 sec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568756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chatbot response time
vs. Monday morning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5257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37%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568756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more ready-to-apply leads
with AI lead 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52578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34 states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68756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of weekend traffic
with no after-hours capture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AI AUTOMATION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 Layers That Work While the LO Team Focuses on Relationships.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9748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00784"/>
            <a:ext cx="26974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AI Pre-Qualification
Chatbot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23160"/>
            <a:ext cx="24780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Replaces the Find a Loan Officer directory dead end. A prospect answers 5-7 qualifying questions - purchase or refi, loan type, credit range, loan amount, state, timeline. The system routes to the right LO with full context. After-hours prospects are captured and queued. Unqualified traffic is filtered without an LO spending time on it. Runs 24/7 across all 34 licensed states.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6704" y="1645920"/>
            <a:ext cx="2697480" cy="54864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46704" y="1700784"/>
            <a:ext cx="26974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Rate Alert
Subscription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423160"/>
            <a:ext cx="24780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Visitors who are researching but not yet ready to transact subscribe to a rate watch. When rates drop to their threshold, they receive an automated email or SMS with a personalised affordability scenario. Franco's stated strategic concern is the market rebound - this is the pipeline infrastructure for when it comes. Prospects who subscribed 4 months ago become active leads the day rates move.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269748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00784"/>
            <a:ext cx="26974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Post-Close Review
and Referral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2423160"/>
            <a:ext cx="24780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Certainty already has 10,671 reviews. The question is whether the next 10,000 come through systematic automation or manual follow-up. An automated sequence at Day 3, Day 7, and Day 30 post-close solicits the review at the emotional high point and then asks: do you know anyone buying or refinancing? Warm referrals generated at close are the highest-converting lead source in mortgage.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34272" y="1645920"/>
            <a:ext cx="2697480" cy="54864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34272" y="1700784"/>
            <a:ext cx="269748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810512"/>
            <a:ext cx="24780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5FF"/>
                </a:solidFill>
              </a:rPr>
              <a:t>LO Prospecting
Automation for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23160"/>
            <a:ext cx="2478024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Certainty's model is Realtor-referred. The Agent Advantage portal exists but has no AI layer. An automated system that monitors Realtor production data, sends co-marketing content on a cadence, and reminds LOs to follow up with top-producing agents at the right moment is a force multiplier for the existing agent relationship model - without adding headcount to the BD function.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126480"/>
            <a:ext cx="11183112" cy="4114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C518"/>
                </a:solidFill>
              </a:rPr>
              <a:t>The LO's job is relationships and closings. The automation layer handles everything that doesn't require a licensed professional.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INDUSTRY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the Leading Lenders Are Already Running.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64592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11183112" cy="141732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81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&lt; 90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AI lead response time
vs. industry avg 12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581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37%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more ready-to-apply leads
with AI chatbot qualification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581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of lenders starting/expanding
AI trials in 2025 (Fannie Mae)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581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$100M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Rate Intelligence AI
investment by parent company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581912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D+3/7/30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130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8D4EE"/>
                </a:solidFill>
              </a:rPr>
              <a:t>post-close sequence timing
for highest referral 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08960"/>
            <a:ext cx="5394960" cy="2971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729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</a:rPr>
              <a:t>WHAT TOP LENDERS ARE DEPLOYING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51206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8C00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AI chatbot pre-qualification with intelligent LO routing (Structurely, Conversica, custom)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8C00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Rate alert and market update automation for pipeline prospects (Bonzo, Mortgage Coach)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8C00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Post-close review and referral sequences driving 20-30% of new loan volume (RaveCapture + CRM)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8C00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SEO content engines publishing 50-200 articles/month on state and loan-type keywords (Rocket, LoanDepot)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FF8C00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LO video messaging for pre-approval and rate lock communication (BombBomb, Vidyard)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108960"/>
            <a:ext cx="5605272" cy="29718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1729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WHAT CERTAINTY HAS 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520440"/>
            <a:ext cx="5303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No AI chatbot - Find a Loan Officer directory replaces qualification layer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No rate alert subscription - not-yet-ready prospects have no re-engagement mechanism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Post-close reviews exist (10,671) but solicitation sequence is not systematized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No SEO content strategy - press releases only, long-tail keywords unaddressed across 34 states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* </a:t>
            </a:r>
            <a:r>
              <a:rPr sz="1200">
                <a:solidFill>
                  <a:srgbClr val="C8D4EE"/>
                </a:solidFill>
              </a:rPr>
              <a:t>No LO video messaging capability at the brand level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217920"/>
            <a:ext cx="11183112" cy="347472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263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8C00"/>
                </a:solidFill>
              </a:rPr>
              <a:t>Parent Rate is investing $100M in AI at the underwriting layer. The customer-facing layer is where Certainty builds its own brand advantage.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 Phased Build - Start with One Market, Prove It,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356616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82496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7190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Weeks 1-3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356616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226771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Reviews Embedded on Homepage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8716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RaveCapture review module integrated above the fold. Star rating, count, and rotating testimonials visible before prospect scrolls. Immediate trust signal for all existing traffic.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313639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8152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AI Chatbot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Pre-qualification flow trained on Certainty's loan types, 34-state geography, and LO roster. After-hours capture active. Routes to correct LO with prospect context on submission.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4005072"/>
            <a:ext cx="457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502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Rate Alert Subscription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2452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Email capture with rate threshold input live on homepage and loan pages. Prospect enters target rate - automated alert fires when market hits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3672" y="1645920"/>
            <a:ext cx="356616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682496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17190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Weeks 4-6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3672" y="2121408"/>
            <a:ext cx="356616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226771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221284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Post-Close Sequence Active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248716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D+3 thank you and review request. D+7 review reminder. D+30 referral ask. All loans closed from Phase 1 go into the sequence immediately.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13639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308152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LO Video Messaging Deployed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335584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Video messaging capability live for pilot group of 10 LOs. Pre-approval delivery, rate lock confirmation, and market update templates provided.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005072"/>
            <a:ext cx="45720" cy="475488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62272" y="39502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</a:rPr>
              <a:t>Agent Portal AI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422452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Co-marketing automation and production-triggered LO follow-up live in Agent Advantage. Pilot with top 20 Realtor relationships.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64424" y="1645920"/>
            <a:ext cx="356616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4152" y="1682496"/>
            <a:ext cx="1673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2E"/>
                </a:solidFill>
              </a:rPr>
              <a:t>PHASE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171907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0A0F2E"/>
                </a:solidFill>
              </a:rPr>
              <a:t>Weeks 7-12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64424" y="2121408"/>
            <a:ext cx="3566160" cy="4206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2" y="226771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024" y="221284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SEO Content Engine Live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248716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First 20 state-specific and loan-type articles published. Targeting VA loans Texas, HELOC rates California, FHA first-time buyer Illinois, and equivalent across top 10 licensed states.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74152" y="313639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93024" y="308152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Chatbot Optimisation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335584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Pre-qualification routing refined based on 6 weeks of live data. Conversion rate per loan type tracked. LO routing accuracy verified against closed loan data.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74152" y="4005072"/>
            <a:ext cx="4572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93024" y="3950208"/>
            <a:ext cx="32186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Full-Team Rollout Ready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3024" y="4224528"/>
            <a:ext cx="32186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Phase 1-2 pilot results packaged for Franco to present internally. Video messaging, agent automation, and SEO scaled to full 34-state LO team.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8EFF"/>
                </a:solidFill>
              </a:rPr>
              <a:t>BEFORE vs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Actually Changes at Certainty in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1097280" cy="36576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4937760" cy="3200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508760"/>
            <a:ext cx="5330952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89320" y="153619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AFTER 90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38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HOMEPAGE TRUST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39696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10,671 reviews at 4.9 stars sit on RaveCapture. A prospect landing on certaintyhomelending.com sees none of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39696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Reviews embedded above the fold. Star rating and testimonials visible before scroll on every loan type page. Trust gap closed before the LO conversation starts.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52928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71216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AFTER-HOURS LEAD CAPTURE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072384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 prospect landing on a Sunday evening hits a static page. No chatbot. No capture. They leave and a competitor's AI follows up within 90 seconds.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072384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chatbot pre-qualifies, captures contact, and queues for Monday morning LO follow-up with full context. Zero after-hours traffic goes cold.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6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803904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NOT-YET-READY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005072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 researcher who visits today but buys in 6 months has no connection to Certainty unless they call back. Most do not.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005072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Rate alert subscriber list grows from every site visit. Automated email fires when their threshold rate hits. They re-engage as an active, warm lead.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18304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73659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POST-CLOSE REFERRALS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937760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Referral solicitation depends on LO memory and manual follow-up. The most valuable moment (emotional high at close) passes without a systematic ask.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4937760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D+3, D+7, D+30 automated sequence. Review solicited at peak satisfaction. Referral asked at D+30. Warm referral volume measurable and growing monthly.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650992"/>
            <a:ext cx="11183112" cy="201168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6692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LO ADMINISTRATIVE 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70448"/>
            <a:ext cx="47548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LOs spend significant time on pre-qualification questions, chasing documents, and manually nurturing relationships that automation handles at other lenders.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587044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Chatbot pre-qualifies. Rate alerts nurture. Post-close sequences handle referrals. LOs focus on relationships and closings - which is where their expertise creates value.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73152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Let's Talk for
15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E"/>
                </a:solidFill>
              </a:rPr>
              <a:t>No pitch deck required. Reply or book a call.
We'll walk through what fits Certainty Home Lending.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* </a:t>
            </a:r>
            <a:r>
              <a:rPr sz="1400">
                <a:solidFill>
                  <a:srgbClr val="FFFFFF"/>
                </a:solidFill>
              </a:rPr>
              <a:t>Reply to this email - we'll set up a time</a:t>
            </a:r>
          </a:p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* </a:t>
            </a:r>
            <a:r>
              <a:rPr sz="1400">
                <a:solidFill>
                  <a:srgbClr val="FFFFFF"/>
                </a:solidFill>
              </a:rPr>
              <a:t>Pick one gap to pilot first (Franco's preferred approach)</a:t>
            </a:r>
          </a:p>
          <a:p>
            <a:pPr algn="l">
              <a:spcAft>
                <a:spcPts val="600"/>
              </a:spcAft>
            </a:pPr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* </a:t>
            </a:r>
            <a:r>
              <a:rPr sz="1400">
                <a:solidFill>
                  <a:srgbClr val="FFFFFF"/>
                </a:solidFill>
              </a:rPr>
              <a:t>Walk through the audit findings in 15 minutes</a:t>
            </a:r>
          </a:p>
          <a:p>
            <a:pPr algn="l"/>
            <a:r>
              <a:rPr sz="1200"/>
              <a:t>  </a:t>
            </a:r>
            <a:r>
              <a:rPr sz="1200" b="1">
                <a:solidFill>
                  <a:srgbClr val="00B4D8"/>
                </a:solidFill>
              </a:rPr>
              <a:t>* </a:t>
            </a:r>
            <a:r>
              <a:rPr sz="1400">
                <a:solidFill>
                  <a:srgbClr val="FFFFFF"/>
                </a:solidFill>
              </a:rPr>
              <a:t>You decide what, if anything, makes sense to move 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943600"/>
            <a:ext cx="6858000" cy="9144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0350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Rohan Malik  |  CEO, Genos AI  |  hello@genosai.tech  |  +91 638-714-2699  |  www.genosai.tech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54864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THREE GAPS.
THREE FIXES.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0876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8040" y="1691640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73736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Buried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373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Embed 10,671 five-star reviews above the fold on homepage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2496312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254203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Zero After-Hours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4203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chatbot pre-qualifies and routes - 24/7 across 34 states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3300984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334670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No Pipeline Nurture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46704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Rate alert subscription + D+3/7/30 post-close sequences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4105656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415137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No SEO Content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151376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State-specific + loan-type keyword targeting across licensed states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4910328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49560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Agent Portal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956048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AI co-marketing layer on Agent Advantage for Realtor partners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5715000"/>
            <a:ext cx="1371600" cy="658368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576072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LO Admin 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7607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4EE"/>
                </a:solidFill>
              </a:rPr>
              <a:t>Automation removes pre-qual, nurture, and referral manual 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