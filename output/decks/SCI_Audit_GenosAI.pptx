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4F8EFF"/>
                </a:solidFill>
              </a:rPr>
              <a:t>GENOS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www.genosai.tech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EFF"/>
                </a:solidFill>
              </a:rPr>
              <a:t>SPECIALTY CONSULTANTS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Website &amp; AI Growth
Audit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Prepared exclusively for Thomas Williams, COO &amp; EVP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May 2026  | 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3017520"/>
            <a:ext cx="2103120" cy="2286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BBB"/>
                </a:solidFill>
              </a:rPr>
              <a:t>AUDIT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4290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4663440"/>
            <a:ext cx="161391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 PRIORITY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Specialty Consultants Inc. — Who They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5
Decades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In 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7,500+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Searches
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Forbes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Best Exec
Search Firms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Blue-Chip
Clients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SCI.ON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Site-Level
Staffing Product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31920"/>
            <a:ext cx="11183112" cy="548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05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4EE"/>
                </a:solidFill>
              </a:rPr>
              <a:t>KEY CLIENTS:  Prologis  ·  Brookfield  ·  Related Companies  ·  Truist  ·  GID  ·  CenterPoint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63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SERVICE 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83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Investment Management &amp; Finance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Development &amp; Construction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Property Operations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663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ASSET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83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Multifamily &amp; Affordable Housing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Industrial / Logistics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Seniors Housing &amp; Healthcare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Working — Strengths to Build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Forbes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Named one of 'America's Best Executive Search Firms' — a credibility signal few competitors can match.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Blue-Chip Client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Working with Prologis, Brookfield, Related Companies, Truist, and 30+ others provides undeniable social proof.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198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5-Decade Track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7,500+ completed executive searches is a compounding moat. Longevity builds trust in a relationship-driven business.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52544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525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SCI.ON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81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Launching a dedicated site-level staffing technology product shows forward-thinking leadership beyond headhunting.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85232"/>
            <a:ext cx="54864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852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Clear Service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14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The website segments Investment Management, Development, Construction, Management, and Finance — easy to self-qualify.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Critical Gaps Identified in the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" cy="6583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LIVE CHAT OR AI BOT</a:t>
            </a:r>
          </a:p>
        </p:txBody>
      </p:sp>
      <p:sp>
        <p:nvSpPr>
          <p:cNvPr id="9" name="Oval 8"/>
          <p:cNvSpPr/>
          <p:nvPr/>
        </p:nvSpPr>
        <p:spPr>
          <a:xfrm>
            <a:off x="9235440" y="1600200"/>
            <a:ext cx="749808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836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Zero real-time engagement for visitors. Candidates and clients landing outside business hours leave with no way to connect — permanently lost to a competitor.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87168"/>
            <a:ext cx="54864" cy="65836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ONLY 1 BLOG POST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2532888"/>
            <a:ext cx="749808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163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Real estate hiring managers search Google monthly for executive search resources. With 1 article, SCI is invisible. Competitors rank instead.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19856"/>
            <a:ext cx="54864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CLIENT TESTIMONIALS</a:t>
            </a:r>
          </a:p>
        </p:txBody>
      </p:sp>
      <p:sp>
        <p:nvSpPr>
          <p:cNvPr id="17" name="Oval 16"/>
          <p:cNvSpPr/>
          <p:nvPr/>
        </p:nvSpPr>
        <p:spPr>
          <a:xfrm>
            <a:off x="9235440" y="3465576"/>
            <a:ext cx="941832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49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Stats (7,500 searches) are good. Quotes are better. No client voices reduces conversion for first-time visitors who can't independently validate the track record.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52544"/>
            <a:ext cx="54864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525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WEAK CTAs THROUGHOUT</a:t>
            </a:r>
          </a:p>
        </p:txBody>
      </p:sp>
      <p:sp>
        <p:nvSpPr>
          <p:cNvPr id="21" name="Oval 20"/>
          <p:cNvSpPr/>
          <p:nvPr/>
        </p:nvSpPr>
        <p:spPr>
          <a:xfrm>
            <a:off x="9235440" y="4398264"/>
            <a:ext cx="941832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81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'Schedule a Call' buried in the nav is the only conversion path. No lead magnets, gated content, or email capture. The site is a brochure, not a funnel.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85232"/>
            <a:ext cx="54864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85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SCI.ON VALUE PROP MISSING</a:t>
            </a:r>
          </a:p>
        </p:txBody>
      </p:sp>
      <p:sp>
        <p:nvSpPr>
          <p:cNvPr id="25" name="Oval 24"/>
          <p:cNvSpPr/>
          <p:nvPr/>
        </p:nvSpPr>
        <p:spPr>
          <a:xfrm>
            <a:off x="9235440" y="5330952"/>
            <a:ext cx="941832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14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A product page with only a tagline and 'Learn More' fails to sell SCI.ON to site-level staffing clients. This is a missed revenue 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WEBSITE DESIGN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Your Website Looks Like 2015. Your Clients Expect 2025.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474720" cy="3200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47472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SCI TODAY — WHAT WE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Dense text, no visual breathing room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Generic blue-on-white — zero brand personality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hero video or dynamic content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2015-style corporate brochure typography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CTAs buried — no conversion hierarchy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sticky nav or UX micro-interactions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Team page: no photos, bios, or LinkedIn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SCI.ON: tagline only, no landing 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3246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3291840" cy="3200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920240"/>
            <a:ext cx="329184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476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INDUSTRY LEADERS — WHAT THEY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95728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CBRE: full-screen video hero, dark premium palette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JLL: animated stats, bold type, card case studies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Newmark: clean white space, strong hierarchy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Cushman &amp; Wakefield: motion design, modular UX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Lincoln Property: fast, mobile-first, clear CTAs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Top search firms: AI chat on every page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Modern leaders: gated thought leadership content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Best-in-class: 95+ mobile Lighthouse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246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920240"/>
            <a:ext cx="3291840" cy="3200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1920240"/>
            <a:ext cx="329184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476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WHAT GENOS AI BUILDS FOR SCI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395728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Dark/premium design with bold brand identity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Full-screen hero with animated stat counters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Sector case study cards (Multifamily, Industrial…)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SCI.ON dedicated landing page + funnel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Team page: pro headshots, bios, LinkedIn links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AI chat trained on SCI services — always on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Mobile-first, sub-2s load, SEO architecture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Lead capture: forms, calendar booking, CRM sync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21808"/>
            <a:ext cx="11183112" cy="117043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WHY THIS MATTERS: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3492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7790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of first impressions
are design-related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3492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7790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of visitors judge
credibility 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3492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3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7790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before a visitor
bounces — or stays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534924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200%+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57790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more leads from
a modern redesign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AI AUTOMATION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Six AI Systems We'd Build for SCI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1874519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00784"/>
            <a:ext cx="1874519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6550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AI Candidate
Pre-Screening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165506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Automated resume parsing and scoring against role requirements — cuts consultant time-to-shortlist by 30–50%.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1" y="1645920"/>
            <a:ext cx="1874519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96311" y="1700784"/>
            <a:ext cx="1874519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1810512"/>
            <a:ext cx="16550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24/7 AI
Chat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423160"/>
            <a:ext cx="165506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Conversational AI trained on SCI's services captures and qualifies candidate and client inquiries around the clock.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9702" y="1645920"/>
            <a:ext cx="1874519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9702" y="1700784"/>
            <a:ext cx="1874519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0" y="1810512"/>
            <a:ext cx="16550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SCI.ON AI
Matching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0" y="2423160"/>
            <a:ext cx="165506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Layer AI matching intelligence onto SCI.ON to score site-level candidates against open roles in real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3093" y="1645920"/>
            <a:ext cx="1874519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3093" y="1700784"/>
            <a:ext cx="1874519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1" y="1810512"/>
            <a:ext cx="16550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Automated Candidate
Outreach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1" y="2423160"/>
            <a:ext cx="165506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Multi-touch personalized outreach sequences that nurture passive candidates until they're ready to engage — at scale.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76484" y="1645920"/>
            <a:ext cx="1874519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76484" y="1700784"/>
            <a:ext cx="1874519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86212" y="1810512"/>
            <a:ext cx="16550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Executive Movement
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2" y="2423160"/>
            <a:ext cx="165506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AI monitors LinkedIn and news for signals (promotions, company events) to surface warm, timely outreach opportunities.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69875" y="1645920"/>
            <a:ext cx="1874519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469875" y="1700784"/>
            <a:ext cx="1874519" cy="4242816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79603" y="1810512"/>
            <a:ext cx="16550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Automated Client
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9603" y="2423160"/>
            <a:ext cx="165506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Auto-generated weekly search progress updates sent to clients — saving 3–5 hours per consultant per week.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053328"/>
            <a:ext cx="11183112" cy="502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Every system plugs into SCI's existing ATS and workflow — no replacement, only augmentation.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THE COST OF INACTION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Hidden Cost of the Status Quo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1183112" cy="102412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4864" cy="10241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Manual 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Consultants spend 60%+ of their time on manual resume review. At SCI's billing rates, that's significant revenue-generating time going to administrative work instead of client relationships.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11183112" cy="102412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724912"/>
            <a:ext cx="54864" cy="10241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63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After-Hours Blind Spots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No chat or AI bot means every website visitor outside 9–5 leaves without capturing their interest. In executive search, first contact timing is everything — best candidates are passive and busy.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95344"/>
            <a:ext cx="11183112" cy="102412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95344"/>
            <a:ext cx="54864" cy="10241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SEO Invisibility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708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Real estate executives and HR leaders Google 'real estate executive search firm' thousands of times monthly. With 1 blog post, SCI doesn't appear. Competitors with content strategies capture those leads.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65776"/>
            <a:ext cx="11183112" cy="102412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065776"/>
            <a:ext cx="54864" cy="10241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572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Lost SCI.ON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412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An under-explained product page leaves site-level staffing clients on the table. SCI.ON has the potential to be a significant ARR business — it needs a proper digital funnel.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WHAT WE'D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Genos AI Stack for SCI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0607040" cy="8046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4864" cy="80467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73352"/>
            <a:ext cx="438912" cy="43891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367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58191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Candidate Screening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293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ATS-integrated AI scores inbound resumes, flags top matches, and de-prioritizes poor fits — automatically.</a:t>
            </a:r>
          </a:p>
        </p:txBody>
      </p:sp>
      <p:sp>
        <p:nvSpPr>
          <p:cNvPr id="13" name="Oval 12"/>
          <p:cNvSpPr/>
          <p:nvPr/>
        </p:nvSpPr>
        <p:spPr>
          <a:xfrm>
            <a:off x="11201400" y="1764792"/>
            <a:ext cx="1229868" cy="274320"/>
          </a:xfrm>
          <a:prstGeom prst="ellipse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9BBB"/>
                </a:solidFill>
              </a:rPr>
              <a:t>Weeks 1–4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23160"/>
            <a:ext cx="10607040" cy="8046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423160"/>
            <a:ext cx="54864" cy="80467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2587752"/>
            <a:ext cx="438912" cy="43891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511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49631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Chat Widget (Website)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8437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Conversational assistant trained on SCI's services, sectors, and FAQs. Captures leads 24/7 and routes to the right consultant.</a:t>
            </a:r>
          </a:p>
        </p:txBody>
      </p:sp>
      <p:sp>
        <p:nvSpPr>
          <p:cNvPr id="20" name="Oval 19"/>
          <p:cNvSpPr/>
          <p:nvPr/>
        </p:nvSpPr>
        <p:spPr>
          <a:xfrm>
            <a:off x="11201400" y="2679192"/>
            <a:ext cx="1229868" cy="274320"/>
          </a:xfrm>
          <a:prstGeom prst="ellipse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9BBB"/>
                </a:solidFill>
              </a:rPr>
              <a:t>Weeks 1–3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37560"/>
            <a:ext cx="10607040" cy="8046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337560"/>
            <a:ext cx="54864" cy="80467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3502152"/>
            <a:ext cx="438912" cy="43891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4655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SCI.ON AI Matching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37581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ranking engine for site-level candidates — matches open roles to profiles using skills, location, and availability signals.</a:t>
            </a:r>
          </a:p>
        </p:txBody>
      </p:sp>
      <p:sp>
        <p:nvSpPr>
          <p:cNvPr id="27" name="Oval 26"/>
          <p:cNvSpPr/>
          <p:nvPr/>
        </p:nvSpPr>
        <p:spPr>
          <a:xfrm>
            <a:off x="11201400" y="3593592"/>
            <a:ext cx="1229868" cy="274320"/>
          </a:xfrm>
          <a:prstGeom prst="ellipse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9BBB"/>
                </a:solidFill>
              </a:rPr>
              <a:t>Weeks 4–8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51960"/>
            <a:ext cx="10607040" cy="8046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251960"/>
            <a:ext cx="54864" cy="80467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" y="4416552"/>
            <a:ext cx="438912" cy="43891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3799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432511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Automated Candidate Outreach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6725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Personalized multi-touch outreach sequences (email + LinkedIn) that nurture passive executive candidates through a warm pipeline.</a:t>
            </a:r>
          </a:p>
        </p:txBody>
      </p:sp>
      <p:sp>
        <p:nvSpPr>
          <p:cNvPr id="34" name="Oval 33"/>
          <p:cNvSpPr/>
          <p:nvPr/>
        </p:nvSpPr>
        <p:spPr>
          <a:xfrm>
            <a:off x="11201400" y="4507992"/>
            <a:ext cx="1229868" cy="274320"/>
          </a:xfrm>
          <a:prstGeom prst="ellipse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9BBB"/>
                </a:solidFill>
              </a:rPr>
              <a:t>Weeks 3–6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166360"/>
            <a:ext cx="10607040" cy="8046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166360"/>
            <a:ext cx="54864" cy="80467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" y="5330952"/>
            <a:ext cx="438912" cy="43891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2943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5239512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SEO Content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55869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4–8 expert articles per month targeting real estate hiring managers on Google — built from SCI's expertise and case studies.</a:t>
            </a:r>
          </a:p>
        </p:txBody>
      </p:sp>
      <p:sp>
        <p:nvSpPr>
          <p:cNvPr id="41" name="Oval 40"/>
          <p:cNvSpPr/>
          <p:nvPr/>
        </p:nvSpPr>
        <p:spPr>
          <a:xfrm>
            <a:off x="11201400" y="5422392"/>
            <a:ext cx="1037844" cy="274320"/>
          </a:xfrm>
          <a:prstGeom prst="ellipse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8A9BBB"/>
                </a:solidFill>
              </a:rPr>
              <a:t>Ongoing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90-DAY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SCI Looks Like 90 Days from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56616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538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MONTH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7692" y="1490472"/>
            <a:ext cx="18242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Days 1–30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92808"/>
            <a:ext cx="3566160" cy="414223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03911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AI chat live on specialtyconsultants.com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585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Capturing candidate &amp; client inquiries 24/7. First 3 SEO articles published and indexing.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290779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529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Automated outreach sequences drafted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Sequences tested and deployed for passive executive candidates.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77647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216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SCI.ON landing page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959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Dedicated funnel with value prop, case studies, and contact gate.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417320"/>
            <a:ext cx="356616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4538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MONTH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6732" y="1490472"/>
            <a:ext cx="18242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Days 31–60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892808"/>
            <a:ext cx="3566160" cy="414223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203911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19842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AI screening pipeline in 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2585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30% reduction in time-to-shortlist per mandate. 4–6 articles live and ranking.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90779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8529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SCI.ON AI matching prototype tested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1272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Internal validation against active site-level mandates.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377647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7216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Content velocity ramping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9959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6–8 articles published; first ranking signals from Google.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1417320"/>
            <a:ext cx="35661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0728" y="14538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MONTH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5772" y="1490472"/>
            <a:ext cx="18242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Days 61–90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1892808"/>
            <a:ext cx="3566160" cy="414223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0728" y="203911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9842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SCI.ON AI matching live for clients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2585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Executive movement intelligence alerts active. Timely, warm outreach at scale.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0728" y="290779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28529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Automated client reporting 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1272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Saving 3–5 hrs/week per consultant. Full funnel: search → chat → call.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10728" y="377647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37216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10+ articles indexing, SEO traction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9959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Inbound qualified leads from organic search beginning to 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One Call to See
What's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No pitch. No commitment.
We walk you through the audit findings and answer any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Reply or book a 15-min call with Rohan: hello@genosai.tech</a:t>
            </a:r>
          </a:p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Free strategy session: map the highest-ROI automations for SCI</a:t>
            </a:r>
          </a:p>
          <a:p>
            <a:pPr algn="l">
              <a:spcAft>
                <a:spcPts val="600"/>
              </a:spcAft>
            </a:pPr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Custom AI roadmap: timeline, deliverables, cost estimate</a:t>
            </a:r>
          </a:p>
          <a:p>
            <a:pPr algn="l"/>
            <a:r>
              <a:rPr sz="1100"/>
              <a:t>  </a:t>
            </a:r>
            <a:r>
              <a:rPr sz="1100" b="1">
                <a:solidFill>
                  <a:srgbClr val="00D4AA"/>
                </a:solidFill>
              </a:rPr>
              <a:t>● </a:t>
            </a:r>
            <a:r>
              <a:rPr sz="1300">
                <a:solidFill>
                  <a:srgbClr val="FFFFFF"/>
                </a:solidFill>
              </a:rPr>
              <a:t>Month 1: AI chat live + screening pipeline + SCI.ON funnel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6858000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B"/>
                </a:solidFill>
              </a:rPr>
              <a:t>Rohan Malik  |  CEO, Genos AI  |  hello@genosai.tech  |  +91 638-714-2699  |  www.genosai.tech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5486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THREE GAPS.
THREE FIXES.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0972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69164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37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No Live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chat widget — captures leads 24/7, trained on SCI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496312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5420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1 Blog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420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SEO content engine — 4-8 articles/month targeting real estate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300984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No Testimonials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467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Client quote capture — automated post-search review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4105656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1513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Weak CTAs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513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Full funnel redesign — lead magnets, calendar booking, CRM sync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910328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9560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SCI.ON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560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Dedicated landing page + AI matching layer + client demo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