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0" y="0"/>
            <a:ext cx="4416552"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0" y="365760"/>
            <a:ext cx="3200400" cy="731520"/>
          </a:xfrm>
          <a:prstGeom prst="rect">
            <a:avLst/>
          </a:prstGeom>
          <a:noFill/>
        </p:spPr>
        <p:txBody>
          <a:bodyPr wrap="square">
            <a:spAutoFit/>
          </a:bodyPr>
          <a:lstStyle/>
          <a:p>
            <a:pPr algn="r"/>
            <a:r>
              <a:rPr sz="2800" b="1" i="0">
                <a:solidFill>
                  <a:srgbClr val="4F8EFF"/>
                </a:solidFill>
              </a:rPr>
              <a:t>GENOS AI</a:t>
            </a:r>
          </a:p>
        </p:txBody>
      </p:sp>
      <p:sp>
        <p:nvSpPr>
          <p:cNvPr id="6" name="TextBox 5"/>
          <p:cNvSpPr txBox="1"/>
          <p:nvPr/>
        </p:nvSpPr>
        <p:spPr>
          <a:xfrm>
            <a:off x="8412480" y="960120"/>
            <a:ext cx="3200400" cy="457200"/>
          </a:xfrm>
          <a:prstGeom prst="rect">
            <a:avLst/>
          </a:prstGeom>
          <a:noFill/>
        </p:spPr>
        <p:txBody>
          <a:bodyPr wrap="square">
            <a:spAutoFit/>
          </a:bodyPr>
          <a:lstStyle/>
          <a:p>
            <a:pPr algn="r"/>
            <a:r>
              <a:rPr sz="1200" b="0" i="0">
                <a:solidFill>
                  <a:srgbClr val="8A9BBB"/>
                </a:solidFill>
              </a:rPr>
              <a:t>www.genosai.tech</a:t>
            </a:r>
          </a:p>
        </p:txBody>
      </p:sp>
      <p:sp>
        <p:nvSpPr>
          <p:cNvPr id="7" name="TextBox 6"/>
          <p:cNvSpPr txBox="1"/>
          <p:nvPr/>
        </p:nvSpPr>
        <p:spPr>
          <a:xfrm>
            <a:off x="502920" y="1463040"/>
            <a:ext cx="8229600" cy="548640"/>
          </a:xfrm>
          <a:prstGeom prst="rect">
            <a:avLst/>
          </a:prstGeom>
          <a:noFill/>
        </p:spPr>
        <p:txBody>
          <a:bodyPr wrap="square">
            <a:spAutoFit/>
          </a:bodyPr>
          <a:lstStyle/>
          <a:p>
            <a:pPr algn="l"/>
            <a:r>
              <a:rPr sz="1300" b="0" i="0">
                <a:solidFill>
                  <a:srgbClr val="F5C518"/>
                </a:solidFill>
              </a:rPr>
              <a:t>QUALITY ACCEPTANCE / NEXA OPTIMUM SOLUTIONS</a:t>
            </a:r>
          </a:p>
        </p:txBody>
      </p:sp>
      <p:sp>
        <p:nvSpPr>
          <p:cNvPr id="8" name="TextBox 7"/>
          <p:cNvSpPr txBox="1"/>
          <p:nvPr/>
        </p:nvSpPr>
        <p:spPr>
          <a:xfrm>
            <a:off x="502920" y="1920240"/>
            <a:ext cx="8229600" cy="1645920"/>
          </a:xfrm>
          <a:prstGeom prst="rect">
            <a:avLst/>
          </a:prstGeom>
          <a:noFill/>
        </p:spPr>
        <p:txBody>
          <a:bodyPr wrap="square">
            <a:spAutoFit/>
          </a:bodyPr>
          <a:lstStyle/>
          <a:p>
            <a:pPr algn="l"/>
            <a:r>
              <a:rPr sz="4800" b="1" i="0">
                <a:solidFill>
                  <a:srgbClr val="FFFFFF"/>
                </a:solidFill>
              </a:rPr>
              <a:t>Website &amp; AI Growth
Audit Report</a:t>
            </a:r>
          </a:p>
        </p:txBody>
      </p:sp>
      <p:sp>
        <p:nvSpPr>
          <p:cNvPr id="9" name="Rectangle 8"/>
          <p:cNvSpPr/>
          <p:nvPr/>
        </p:nvSpPr>
        <p:spPr>
          <a:xfrm>
            <a:off x="502920" y="3520440"/>
            <a:ext cx="274320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94760"/>
            <a:ext cx="8229600" cy="457200"/>
          </a:xfrm>
          <a:prstGeom prst="rect">
            <a:avLst/>
          </a:prstGeom>
          <a:noFill/>
        </p:spPr>
        <p:txBody>
          <a:bodyPr wrap="square">
            <a:spAutoFit/>
          </a:bodyPr>
          <a:lstStyle/>
          <a:p>
            <a:pPr algn="l"/>
            <a:r>
              <a:rPr sz="1400" b="0" i="0">
                <a:solidFill>
                  <a:srgbClr val="C8D4EE"/>
                </a:solidFill>
              </a:rPr>
              <a:t>Prepared exclusively for Ofer Alon, CEO &amp; Founder</a:t>
            </a:r>
          </a:p>
        </p:txBody>
      </p:sp>
      <p:sp>
        <p:nvSpPr>
          <p:cNvPr id="11" name="Rectangle 10"/>
          <p:cNvSpPr/>
          <p:nvPr/>
        </p:nvSpPr>
        <p:spPr>
          <a:xfrm>
            <a:off x="0" y="5943600"/>
            <a:ext cx="12188952"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035040"/>
            <a:ext cx="8229600" cy="457200"/>
          </a:xfrm>
          <a:prstGeom prst="rect">
            <a:avLst/>
          </a:prstGeom>
          <a:noFill/>
        </p:spPr>
        <p:txBody>
          <a:bodyPr wrap="square">
            <a:spAutoFit/>
          </a:bodyPr>
          <a:lstStyle/>
          <a:p>
            <a:pPr algn="l"/>
            <a:r>
              <a:rPr sz="1200" b="0" i="0">
                <a:solidFill>
                  <a:srgbClr val="8A9BBB"/>
                </a:solidFill>
              </a:rPr>
              <a:t>Rohan Malik  |  CEO, Genos AI  |  hello@genosai.tech  |  +91 638-714-2699</a:t>
            </a:r>
          </a:p>
        </p:txBody>
      </p:sp>
      <p:sp>
        <p:nvSpPr>
          <p:cNvPr id="13" name="TextBox 12"/>
          <p:cNvSpPr txBox="1"/>
          <p:nvPr/>
        </p:nvSpPr>
        <p:spPr>
          <a:xfrm>
            <a:off x="8686800" y="6035040"/>
            <a:ext cx="3017520" cy="457200"/>
          </a:xfrm>
          <a:prstGeom prst="rect">
            <a:avLst/>
          </a:prstGeom>
          <a:noFill/>
        </p:spPr>
        <p:txBody>
          <a:bodyPr wrap="square">
            <a:spAutoFit/>
          </a:bodyPr>
          <a:lstStyle/>
          <a:p>
            <a:pPr algn="r"/>
            <a:r>
              <a:rPr sz="1200" b="0" i="0">
                <a:solidFill>
                  <a:srgbClr val="8A9BBB"/>
                </a:solidFill>
              </a:rPr>
              <a:t>May 2026  |  CONFIDENTIAL</a:t>
            </a:r>
          </a:p>
        </p:txBody>
      </p:sp>
      <p:sp>
        <p:nvSpPr>
          <p:cNvPr id="14" name="Rectangle 13"/>
          <p:cNvSpPr/>
          <p:nvPr/>
        </p:nvSpPr>
        <p:spPr>
          <a:xfrm>
            <a:off x="9601200" y="3017520"/>
            <a:ext cx="2103120" cy="2286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3108960"/>
            <a:ext cx="2011680" cy="457200"/>
          </a:xfrm>
          <a:prstGeom prst="rect">
            <a:avLst/>
          </a:prstGeom>
          <a:noFill/>
        </p:spPr>
        <p:txBody>
          <a:bodyPr wrap="square">
            <a:spAutoFit/>
          </a:bodyPr>
          <a:lstStyle/>
          <a:p>
            <a:pPr algn="ctr"/>
            <a:r>
              <a:rPr sz="1100" b="1" i="0">
                <a:solidFill>
                  <a:srgbClr val="8A9BBB"/>
                </a:solidFill>
              </a:rPr>
              <a:t>AUDIT SCORE</a:t>
            </a:r>
          </a:p>
        </p:txBody>
      </p:sp>
      <p:sp>
        <p:nvSpPr>
          <p:cNvPr id="16" name="TextBox 15"/>
          <p:cNvSpPr txBox="1"/>
          <p:nvPr/>
        </p:nvSpPr>
        <p:spPr>
          <a:xfrm>
            <a:off x="9646920" y="3429000"/>
            <a:ext cx="2011680" cy="1005840"/>
          </a:xfrm>
          <a:prstGeom prst="rect">
            <a:avLst/>
          </a:prstGeom>
          <a:noFill/>
        </p:spPr>
        <p:txBody>
          <a:bodyPr wrap="square">
            <a:spAutoFit/>
          </a:bodyPr>
          <a:lstStyle/>
          <a:p>
            <a:pPr algn="ctr"/>
            <a:r>
              <a:rPr sz="7200" b="1" i="0">
                <a:solidFill>
                  <a:srgbClr val="F5C518"/>
                </a:solidFill>
              </a:rPr>
              <a:t>5</a:t>
            </a:r>
          </a:p>
        </p:txBody>
      </p:sp>
      <p:sp>
        <p:nvSpPr>
          <p:cNvPr id="17" name="TextBox 16"/>
          <p:cNvSpPr txBox="1"/>
          <p:nvPr/>
        </p:nvSpPr>
        <p:spPr>
          <a:xfrm>
            <a:off x="9646920" y="4297680"/>
            <a:ext cx="2011680" cy="365760"/>
          </a:xfrm>
          <a:prstGeom prst="rect">
            <a:avLst/>
          </a:prstGeom>
          <a:noFill/>
        </p:spPr>
        <p:txBody>
          <a:bodyPr wrap="square">
            <a:spAutoFit/>
          </a:bodyPr>
          <a:lstStyle/>
          <a:p>
            <a:pPr algn="ctr"/>
            <a:r>
              <a:rPr sz="1800" b="0" i="0">
                <a:solidFill>
                  <a:srgbClr val="C8D4EE"/>
                </a:solidFill>
              </a:rPr>
              <a:t>/ 10</a:t>
            </a:r>
          </a:p>
        </p:txBody>
      </p:sp>
      <p:sp>
        <p:nvSpPr>
          <p:cNvPr id="18" name="Oval 17"/>
          <p:cNvSpPr/>
          <p:nvPr/>
        </p:nvSpPr>
        <p:spPr>
          <a:xfrm>
            <a:off x="9829800" y="4663440"/>
            <a:ext cx="1613916"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HIGH PRIORITY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5C518"/>
                </a:solidFill>
              </a:rPr>
              <a:t>AT A GLANCE</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Ofer Alon — Who He Is</a:t>
            </a:r>
          </a:p>
        </p:txBody>
      </p:sp>
      <p:sp>
        <p:nvSpPr>
          <p:cNvPr id="6" name="Rectangle 5"/>
          <p:cNvSpPr/>
          <p:nvPr/>
        </p:nvSpPr>
        <p:spPr>
          <a:xfrm>
            <a:off x="502920" y="1234440"/>
            <a:ext cx="109728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83080"/>
            <a:ext cx="1920240" cy="1005840"/>
          </a:xfrm>
          <a:prstGeom prst="rect">
            <a:avLst/>
          </a:prstGeom>
          <a:noFill/>
        </p:spPr>
        <p:txBody>
          <a:bodyPr wrap="square">
            <a:spAutoFit/>
          </a:bodyPr>
          <a:lstStyle/>
          <a:p>
            <a:pPr algn="ctr"/>
            <a:r>
              <a:rPr sz="2800" b="1" i="0">
                <a:solidFill>
                  <a:srgbClr val="F5C518"/>
                </a:solidFill>
              </a:rPr>
              <a:t>25+</a:t>
            </a:r>
          </a:p>
        </p:txBody>
      </p:sp>
      <p:sp>
        <p:nvSpPr>
          <p:cNvPr id="9" name="TextBox 8"/>
          <p:cNvSpPr txBox="1"/>
          <p:nvPr/>
        </p:nvSpPr>
        <p:spPr>
          <a:xfrm>
            <a:off x="594360" y="2788920"/>
            <a:ext cx="1920240" cy="640080"/>
          </a:xfrm>
          <a:prstGeom prst="rect">
            <a:avLst/>
          </a:prstGeom>
          <a:noFill/>
        </p:spPr>
        <p:txBody>
          <a:bodyPr wrap="square">
            <a:spAutoFit/>
          </a:bodyPr>
          <a:lstStyle/>
          <a:p>
            <a:pPr algn="ctr"/>
            <a:r>
              <a:rPr sz="1200" b="0" i="0">
                <a:solidFill>
                  <a:srgbClr val="C8D4EE"/>
                </a:solidFill>
              </a:rPr>
              <a:t>Years Auto Finance</a:t>
            </a:r>
          </a:p>
        </p:txBody>
      </p:sp>
      <p:sp>
        <p:nvSpPr>
          <p:cNvPr id="10" name="Rectangle 9"/>
          <p:cNvSpPr/>
          <p:nvPr/>
        </p:nvSpPr>
        <p:spPr>
          <a:xfrm>
            <a:off x="2770632"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62072" y="1783080"/>
            <a:ext cx="1920240" cy="1005840"/>
          </a:xfrm>
          <a:prstGeom prst="rect">
            <a:avLst/>
          </a:prstGeom>
          <a:noFill/>
        </p:spPr>
        <p:txBody>
          <a:bodyPr wrap="square">
            <a:spAutoFit/>
          </a:bodyPr>
          <a:lstStyle/>
          <a:p>
            <a:pPr algn="ctr"/>
            <a:r>
              <a:rPr sz="2800" b="1" i="0">
                <a:solidFill>
                  <a:srgbClr val="F5C518"/>
                </a:solidFill>
              </a:rPr>
              <a:t>$1B+</a:t>
            </a:r>
          </a:p>
        </p:txBody>
      </p:sp>
      <p:sp>
        <p:nvSpPr>
          <p:cNvPr id="12" name="TextBox 11"/>
          <p:cNvSpPr txBox="1"/>
          <p:nvPr/>
        </p:nvSpPr>
        <p:spPr>
          <a:xfrm>
            <a:off x="2862072" y="2788920"/>
            <a:ext cx="1920240" cy="640080"/>
          </a:xfrm>
          <a:prstGeom prst="rect">
            <a:avLst/>
          </a:prstGeom>
          <a:noFill/>
        </p:spPr>
        <p:txBody>
          <a:bodyPr wrap="square">
            <a:spAutoFit/>
          </a:bodyPr>
          <a:lstStyle/>
          <a:p>
            <a:pPr algn="ctr"/>
            <a:r>
              <a:rPr sz="1200" b="0" i="0">
                <a:solidFill>
                  <a:srgbClr val="C8D4EE"/>
                </a:solidFill>
              </a:rPr>
              <a:t>Funded Transactions</a:t>
            </a:r>
          </a:p>
        </p:txBody>
      </p:sp>
      <p:sp>
        <p:nvSpPr>
          <p:cNvPr id="13" name="Rectangle 12"/>
          <p:cNvSpPr/>
          <p:nvPr/>
        </p:nvSpPr>
        <p:spPr>
          <a:xfrm>
            <a:off x="5038344"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9784" y="1783080"/>
            <a:ext cx="1920240" cy="1005840"/>
          </a:xfrm>
          <a:prstGeom prst="rect">
            <a:avLst/>
          </a:prstGeom>
          <a:noFill/>
        </p:spPr>
        <p:txBody>
          <a:bodyPr wrap="square">
            <a:spAutoFit/>
          </a:bodyPr>
          <a:lstStyle/>
          <a:p>
            <a:pPr algn="ctr"/>
            <a:r>
              <a:rPr sz="2800" b="1" i="0">
                <a:solidFill>
                  <a:srgbClr val="F5C518"/>
                </a:solidFill>
              </a:rPr>
              <a:t>180K+</a:t>
            </a:r>
          </a:p>
        </p:txBody>
      </p:sp>
      <p:sp>
        <p:nvSpPr>
          <p:cNvPr id="15" name="TextBox 14"/>
          <p:cNvSpPr txBox="1"/>
          <p:nvPr/>
        </p:nvSpPr>
        <p:spPr>
          <a:xfrm>
            <a:off x="5129784" y="2788920"/>
            <a:ext cx="1920240" cy="640080"/>
          </a:xfrm>
          <a:prstGeom prst="rect">
            <a:avLst/>
          </a:prstGeom>
          <a:noFill/>
        </p:spPr>
        <p:txBody>
          <a:bodyPr wrap="square">
            <a:spAutoFit/>
          </a:bodyPr>
          <a:lstStyle/>
          <a:p>
            <a:pPr algn="ctr"/>
            <a:r>
              <a:rPr sz="1200" b="0" i="0">
                <a:solidFill>
                  <a:srgbClr val="C8D4EE"/>
                </a:solidFill>
              </a:rPr>
              <a:t>Consumers Served</a:t>
            </a:r>
          </a:p>
        </p:txBody>
      </p:sp>
      <p:sp>
        <p:nvSpPr>
          <p:cNvPr id="16" name="Rectangle 15"/>
          <p:cNvSpPr/>
          <p:nvPr/>
        </p:nvSpPr>
        <p:spPr>
          <a:xfrm>
            <a:off x="7306056"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97496" y="1783080"/>
            <a:ext cx="1920240" cy="1005840"/>
          </a:xfrm>
          <a:prstGeom prst="rect">
            <a:avLst/>
          </a:prstGeom>
          <a:noFill/>
        </p:spPr>
        <p:txBody>
          <a:bodyPr wrap="square">
            <a:spAutoFit/>
          </a:bodyPr>
          <a:lstStyle/>
          <a:p>
            <a:pPr algn="ctr"/>
            <a:r>
              <a:rPr sz="2800" b="1" i="0">
                <a:solidFill>
                  <a:srgbClr val="F5C518"/>
                </a:solidFill>
              </a:rPr>
              <a:t>4 States</a:t>
            </a:r>
          </a:p>
        </p:txBody>
      </p:sp>
      <p:sp>
        <p:nvSpPr>
          <p:cNvPr id="18" name="TextBox 17"/>
          <p:cNvSpPr txBox="1"/>
          <p:nvPr/>
        </p:nvSpPr>
        <p:spPr>
          <a:xfrm>
            <a:off x="7397496" y="2788920"/>
            <a:ext cx="1920240" cy="640080"/>
          </a:xfrm>
          <a:prstGeom prst="rect">
            <a:avLst/>
          </a:prstGeom>
          <a:noFill/>
        </p:spPr>
        <p:txBody>
          <a:bodyPr wrap="square">
            <a:spAutoFit/>
          </a:bodyPr>
          <a:lstStyle/>
          <a:p>
            <a:pPr algn="ctr"/>
            <a:r>
              <a:rPr sz="1200" b="0" i="0">
                <a:solidFill>
                  <a:srgbClr val="C8D4EE"/>
                </a:solidFill>
              </a:rPr>
              <a:t>CA, NV, TX, AZ</a:t>
            </a:r>
          </a:p>
        </p:txBody>
      </p:sp>
      <p:sp>
        <p:nvSpPr>
          <p:cNvPr id="19" name="Rectangle 18"/>
          <p:cNvSpPr/>
          <p:nvPr/>
        </p:nvSpPr>
        <p:spPr>
          <a:xfrm>
            <a:off x="9573768"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65208" y="1783080"/>
            <a:ext cx="1920240" cy="1005840"/>
          </a:xfrm>
          <a:prstGeom prst="rect">
            <a:avLst/>
          </a:prstGeom>
          <a:noFill/>
        </p:spPr>
        <p:txBody>
          <a:bodyPr wrap="square">
            <a:spAutoFit/>
          </a:bodyPr>
          <a:lstStyle/>
          <a:p>
            <a:pPr algn="ctr"/>
            <a:r>
              <a:rPr sz="2800" b="1" i="0">
                <a:solidFill>
                  <a:srgbClr val="F5C518"/>
                </a:solidFill>
              </a:rPr>
              <a:t>A+</a:t>
            </a:r>
          </a:p>
        </p:txBody>
      </p:sp>
      <p:sp>
        <p:nvSpPr>
          <p:cNvPr id="21" name="TextBox 20"/>
          <p:cNvSpPr txBox="1"/>
          <p:nvPr/>
        </p:nvSpPr>
        <p:spPr>
          <a:xfrm>
            <a:off x="9665208" y="2788920"/>
            <a:ext cx="1920240" cy="640080"/>
          </a:xfrm>
          <a:prstGeom prst="rect">
            <a:avLst/>
          </a:prstGeom>
          <a:noFill/>
        </p:spPr>
        <p:txBody>
          <a:bodyPr wrap="square">
            <a:spAutoFit/>
          </a:bodyPr>
          <a:lstStyle/>
          <a:p>
            <a:pPr algn="ctr"/>
            <a:r>
              <a:rPr sz="1200" b="0" i="0">
                <a:solidFill>
                  <a:srgbClr val="C8D4EE"/>
                </a:solidFill>
              </a:rPr>
              <a:t>BBB Rating</a:t>
            </a:r>
          </a:p>
        </p:txBody>
      </p:sp>
      <p:sp>
        <p:nvSpPr>
          <p:cNvPr id="22" name="Rectangle 21"/>
          <p:cNvSpPr/>
          <p:nvPr/>
        </p:nvSpPr>
        <p:spPr>
          <a:xfrm>
            <a:off x="502920" y="3840480"/>
            <a:ext cx="11183112" cy="548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913632"/>
            <a:ext cx="10972800" cy="411480"/>
          </a:xfrm>
          <a:prstGeom prst="rect">
            <a:avLst/>
          </a:prstGeom>
          <a:noFill/>
        </p:spPr>
        <p:txBody>
          <a:bodyPr wrap="square">
            <a:spAutoFit/>
          </a:bodyPr>
          <a:lstStyle/>
          <a:p>
            <a:pPr algn="ctr"/>
            <a:r>
              <a:rPr sz="1200" b="0" i="0">
                <a:solidFill>
                  <a:srgbClr val="C8D4EE"/>
                </a:solidFill>
              </a:rPr>
              <a:t>Van Nuys CA  ·  Founded 1998  ·  IDB Bank-Backed Facility  ·  AFSA Board Member  ·  1st Franklin Financial Board (April 2026)  ·  Nexa Optimum Solutions (2025)</a:t>
            </a:r>
          </a:p>
        </p:txBody>
      </p:sp>
      <p:sp>
        <p:nvSpPr>
          <p:cNvPr id="24" name="TextBox 23"/>
          <p:cNvSpPr txBox="1"/>
          <p:nvPr/>
        </p:nvSpPr>
        <p:spPr>
          <a:xfrm>
            <a:off x="502920" y="4572000"/>
            <a:ext cx="5303520" cy="320040"/>
          </a:xfrm>
          <a:prstGeom prst="rect">
            <a:avLst/>
          </a:prstGeom>
          <a:noFill/>
        </p:spPr>
        <p:txBody>
          <a:bodyPr wrap="square">
            <a:spAutoFit/>
          </a:bodyPr>
          <a:lstStyle/>
          <a:p>
            <a:pPr algn="l"/>
            <a:r>
              <a:rPr sz="1100" b="1" i="0">
                <a:solidFill>
                  <a:srgbClr val="F5C518"/>
                </a:solidFill>
              </a:rPr>
              <a:t>BACKGROUND THAT SETS HIM APART</a:t>
            </a:r>
          </a:p>
        </p:txBody>
      </p:sp>
      <p:sp>
        <p:nvSpPr>
          <p:cNvPr id="25" name="TextBox 24"/>
          <p:cNvSpPr txBox="1"/>
          <p:nvPr/>
        </p:nvSpPr>
        <p:spPr>
          <a:xfrm>
            <a:off x="502920" y="4892040"/>
            <a:ext cx="5303520" cy="1371600"/>
          </a:xfrm>
          <a:prstGeom prst="rect">
            <a:avLst/>
          </a:prstGeom>
          <a:noFill/>
        </p:spPr>
        <p:txBody>
          <a:bodyPr wrap="square">
            <a:spAutoFit/>
          </a:bodyPr>
          <a:lstStyle/>
          <a:p>
            <a:pPr algn="l">
              <a:spcAft>
                <a:spcPts val="600"/>
              </a:spcAft>
            </a:pPr>
            <a:r>
              <a:rPr sz="1100"/>
              <a:t>  </a:t>
            </a:r>
            <a:r>
              <a:rPr sz="1100" b="1">
                <a:solidFill>
                  <a:srgbClr val="4F8EFF"/>
                </a:solidFill>
              </a:rPr>
              <a:t>• </a:t>
            </a:r>
            <a:r>
              <a:rPr sz="1300">
                <a:solidFill>
                  <a:srgbClr val="C8D4EE"/>
                </a:solidFill>
              </a:rPr>
              <a:t>Harvard Business School, University of Bradford, Tel Aviv University CPA</a:t>
            </a:r>
          </a:p>
          <a:p>
            <a:pPr algn="l">
              <a:spcAft>
                <a:spcPts val="600"/>
              </a:spcAft>
            </a:pPr>
            <a:r>
              <a:rPr sz="1100"/>
              <a:t>  </a:t>
            </a:r>
            <a:r>
              <a:rPr sz="1100" b="1">
                <a:solidFill>
                  <a:srgbClr val="4F8EFF"/>
                </a:solidFill>
              </a:rPr>
              <a:t>• </a:t>
            </a:r>
            <a:r>
              <a:rPr sz="1300">
                <a:solidFill>
                  <a:srgbClr val="C8D4EE"/>
                </a:solidFill>
              </a:rPr>
              <a:t>Former Ernst &amp; Young manager — discipline of a Big Four firm</a:t>
            </a:r>
          </a:p>
          <a:p>
            <a:pPr algn="l"/>
            <a:r>
              <a:rPr sz="1100"/>
              <a:t>  </a:t>
            </a:r>
            <a:r>
              <a:rPr sz="1100" b="1">
                <a:solidFill>
                  <a:srgbClr val="4F8EFF"/>
                </a:solidFill>
              </a:rPr>
              <a:t>• </a:t>
            </a:r>
            <a:r>
              <a:rPr sz="1300">
                <a:solidFill>
                  <a:srgbClr val="C8D4EE"/>
                </a:solidFill>
              </a:rPr>
              <a:t>Former tech CEO at Buildcom.com — not a typical auto finance background</a:t>
            </a:r>
          </a:p>
        </p:txBody>
      </p:sp>
      <p:sp>
        <p:nvSpPr>
          <p:cNvPr id="26" name="TextBox 25"/>
          <p:cNvSpPr txBox="1"/>
          <p:nvPr/>
        </p:nvSpPr>
        <p:spPr>
          <a:xfrm>
            <a:off x="6217920" y="4572000"/>
            <a:ext cx="5303520" cy="320040"/>
          </a:xfrm>
          <a:prstGeom prst="rect">
            <a:avLst/>
          </a:prstGeom>
          <a:noFill/>
        </p:spPr>
        <p:txBody>
          <a:bodyPr wrap="square">
            <a:spAutoFit/>
          </a:bodyPr>
          <a:lstStyle/>
          <a:p>
            <a:pPr algn="l"/>
            <a:r>
              <a:rPr sz="1100" b="1" i="0">
                <a:solidFill>
                  <a:srgbClr val="F5C518"/>
                </a:solidFill>
              </a:rPr>
              <a:t>WHAT HE BUILT</a:t>
            </a:r>
          </a:p>
        </p:txBody>
      </p:sp>
      <p:sp>
        <p:nvSpPr>
          <p:cNvPr id="27" name="TextBox 26"/>
          <p:cNvSpPr txBox="1"/>
          <p:nvPr/>
        </p:nvSpPr>
        <p:spPr>
          <a:xfrm>
            <a:off x="6217920" y="4892040"/>
            <a:ext cx="5303520" cy="1371600"/>
          </a:xfrm>
          <a:prstGeom prst="rect">
            <a:avLst/>
          </a:prstGeom>
          <a:noFill/>
        </p:spPr>
        <p:txBody>
          <a:bodyPr wrap="square">
            <a:spAutoFit/>
          </a:bodyPr>
          <a:lstStyle/>
          <a:p>
            <a:pPr algn="l">
              <a:spcAft>
                <a:spcPts val="600"/>
              </a:spcAft>
            </a:pPr>
            <a:r>
              <a:rPr sz="1100"/>
              <a:t>  </a:t>
            </a:r>
            <a:r>
              <a:rPr sz="1100" b="1">
                <a:solidFill>
                  <a:srgbClr val="4F8EFF"/>
                </a:solidFill>
              </a:rPr>
              <a:t>• </a:t>
            </a:r>
            <a:r>
              <a:rPr sz="1300">
                <a:solidFill>
                  <a:srgbClr val="C8D4EE"/>
                </a:solidFill>
              </a:rPr>
              <a:t>Quality Acceptance: subprime auto finance, 1998 to present</a:t>
            </a:r>
          </a:p>
          <a:p>
            <a:pPr algn="l">
              <a:spcAft>
                <a:spcPts val="600"/>
              </a:spcAft>
            </a:pPr>
            <a:r>
              <a:rPr sz="1100"/>
              <a:t>  </a:t>
            </a:r>
            <a:r>
              <a:rPr sz="1100" b="1">
                <a:solidFill>
                  <a:srgbClr val="4F8EFF"/>
                </a:solidFill>
              </a:rPr>
              <a:t>• </a:t>
            </a:r>
            <a:r>
              <a:rPr sz="1300">
                <a:solidFill>
                  <a:srgbClr val="C8D4EE"/>
                </a:solidFill>
              </a:rPr>
              <a:t>Nexa Optimum Solutions: collections-focused lender adaptation platform, 2025</a:t>
            </a:r>
          </a:p>
          <a:p>
            <a:pPr algn="l"/>
            <a:r>
              <a:rPr sz="1100"/>
              <a:t>  </a:t>
            </a:r>
            <a:r>
              <a:rPr sz="1100" b="1">
                <a:solidFill>
                  <a:srgbClr val="4F8EFF"/>
                </a:solidFill>
              </a:rPr>
              <a:t>• </a:t>
            </a:r>
            <a:r>
              <a:rPr sz="1300">
                <a:solidFill>
                  <a:srgbClr val="C8D4EE"/>
                </a:solidFill>
              </a:rPr>
              <a:t>Auto Remarketing commentary author on the AI implementation gap in finance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WHAT'S WORKING</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Strengths to Build On</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25+ Years in Subprime — Where Others Exit</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Quality Acceptance has operated continuously since 1998 through multiple credit cycles, recessions, and regulatory shifts. Most lenders in non-prime auto finance either blow up or exit. That survival record across 25+ years and $1B+ in funded transactions is institutional credibility most competitors can't replicate.</a:t>
            </a:r>
          </a:p>
        </p:txBody>
      </p:sp>
      <p:sp>
        <p:nvSpPr>
          <p:cNvPr id="10" name="Rectangle 9"/>
          <p:cNvSpPr/>
          <p:nvPr/>
        </p:nvSpPr>
        <p:spPr>
          <a:xfrm>
            <a:off x="502920" y="251460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Ofer's Tech-First Background Is Unusual for This Space</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Auto finance founders typically come from car dealerships or traditional lending. Ofer came from Ernst &amp; Young, Harvard, and ran an early tech company (Buildcom.com). He writes publicly about AI and implementation gaps in financial services. The sophistication is there — the question is whether the infrastructure underneath matches it.</a:t>
            </a:r>
          </a:p>
        </p:txBody>
      </p:sp>
      <p:sp>
        <p:nvSpPr>
          <p:cNvPr id="13" name="Rectangle 12"/>
          <p:cNvSpPr/>
          <p:nvPr/>
        </p:nvSpPr>
        <p:spPr>
          <a:xfrm>
            <a:off x="502920" y="347472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Nexa Optimum Solutions — He Sees Where Lending Is Going</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Founding Nexa in 2025 specifically to help lenders adapt to a changing market signals Ofer isn't waiting for the industry to modernize. He's building the infrastructure for it. That same instinct applied internally to Quality Acceptance's own dealer and consumer channels is a significant leverage point.</a:t>
            </a:r>
          </a:p>
        </p:txBody>
      </p:sp>
      <p:sp>
        <p:nvSpPr>
          <p:cNvPr id="16" name="Rectangle 15"/>
          <p:cNvSpPr/>
          <p:nvPr/>
        </p:nvSpPr>
        <p:spPr>
          <a:xfrm>
            <a:off x="502920" y="443484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Institutional Backing and Industry Credibility</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IDB Bank-backed asset revolving credit facility gives Quality Acceptance a serious capital foundation. AFSA board membership and the April 2026 appointment to 1st Franklin Financial's board put Ofer in rooms most auto finance operators don't access. The operation behind the website is substantially more sophisticated than the website suggests.</a:t>
            </a:r>
          </a:p>
        </p:txBody>
      </p:sp>
      <p:sp>
        <p:nvSpPr>
          <p:cNvPr id="19" name="Rectangle 18"/>
          <p:cNvSpPr/>
          <p:nvPr/>
        </p:nvSpPr>
        <p:spPr>
          <a:xfrm>
            <a:off x="502920" y="539496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Mobile App Already Deployed — Consumer Tech Infrastructure Exists</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Quality Acceptance has an iOS and Android app for consumer payment management. That's infrastructure most lenders this size don't have. The foundation for self-service and push notification automation is already built — the automation layer on top is what's missing.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THE IMPLEMENTATION GAP</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000" b="1" i="0">
                <a:solidFill>
                  <a:srgbClr val="FFFFFF"/>
                </a:solidFill>
              </a:rPr>
              <a:t>The Tech Is There. The Automation Layer Underneath Isn't.</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8412480" cy="347472"/>
          </a:xfrm>
          <a:prstGeom prst="rect">
            <a:avLst/>
          </a:prstGeom>
          <a:noFill/>
        </p:spPr>
        <p:txBody>
          <a:bodyPr wrap="square">
            <a:spAutoFit/>
          </a:bodyPr>
          <a:lstStyle/>
          <a:p>
            <a:pPr algn="l"/>
            <a:r>
              <a:rPr sz="1200" b="1" i="0">
                <a:solidFill>
                  <a:srgbClr val="FFFFFF"/>
                </a:solidFill>
              </a:rPr>
              <a:t>NO DEALER ACQUISITION FUNNEL — JUST A PHONE NUMBER</a:t>
            </a:r>
          </a:p>
        </p:txBody>
      </p:sp>
      <p:sp>
        <p:nvSpPr>
          <p:cNvPr id="9" name="Oval 8"/>
          <p:cNvSpPr/>
          <p:nvPr/>
        </p:nvSpPr>
        <p:spPr>
          <a:xfrm>
            <a:off x="9235440" y="160020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0" name="TextBox 9"/>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A dealer researching subprime financing partners lands on qualityacceptance.com and finds a 1-800 number. No online enrollment form, no CTA, no automated onboarding sequence. The conversion path from site visit to enrolled dealer is a phone call during business hours — which means every dealer who lands after hours either calls back or doesn't.</a:t>
            </a:r>
          </a:p>
        </p:txBody>
      </p:sp>
      <p:sp>
        <p:nvSpPr>
          <p:cNvPr id="11" name="Rectangle 10"/>
          <p:cNvSpPr/>
          <p:nvPr/>
        </p:nvSpPr>
        <p:spPr>
          <a:xfrm>
            <a:off x="502920" y="251460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514600"/>
            <a:ext cx="8412480" cy="347472"/>
          </a:xfrm>
          <a:prstGeom prst="rect">
            <a:avLst/>
          </a:prstGeom>
          <a:noFill/>
        </p:spPr>
        <p:txBody>
          <a:bodyPr wrap="square">
            <a:spAutoFit/>
          </a:bodyPr>
          <a:lstStyle/>
          <a:p>
            <a:pPr algn="l"/>
            <a:r>
              <a:rPr sz="1200" b="1" i="0">
                <a:solidFill>
                  <a:srgbClr val="FFFFFF"/>
                </a:solidFill>
              </a:rPr>
              <a:t>NO CONSUMER SELF-SERVICE OR AI CHAT</a:t>
            </a:r>
          </a:p>
        </p:txBody>
      </p:sp>
      <p:sp>
        <p:nvSpPr>
          <p:cNvPr id="13" name="Oval 12"/>
          <p:cNvSpPr/>
          <p:nvPr/>
        </p:nvSpPr>
        <p:spPr>
          <a:xfrm>
            <a:off x="9235440" y="256032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4" name="TextBox 13"/>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Consumers with questions about their balance, payment options, or insurance status call 818-503-1322. That's a servicing team handling inquiries that AI chat could resolve at 2am on a Sunday without any human involvement. The mobile app exists but the website has no chat widget, no self-service portal link, no automated response path.</a:t>
            </a:r>
          </a:p>
        </p:txBody>
      </p:sp>
      <p:sp>
        <p:nvSpPr>
          <p:cNvPr id="15" name="Rectangle 14"/>
          <p:cNvSpPr/>
          <p:nvPr/>
        </p:nvSpPr>
        <p:spPr>
          <a:xfrm>
            <a:off x="502920" y="347472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474720"/>
            <a:ext cx="8412480" cy="347472"/>
          </a:xfrm>
          <a:prstGeom prst="rect">
            <a:avLst/>
          </a:prstGeom>
          <a:noFill/>
        </p:spPr>
        <p:txBody>
          <a:bodyPr wrap="square">
            <a:spAutoFit/>
          </a:bodyPr>
          <a:lstStyle/>
          <a:p>
            <a:pPr algn="l"/>
            <a:r>
              <a:rPr sz="1200" b="1" i="0">
                <a:solidFill>
                  <a:srgbClr val="FFFFFF"/>
                </a:solidFill>
              </a:rPr>
              <a:t>PAYMENT REMINDERS APPEAR STATIC, NOT BEHAVIORAL</a:t>
            </a:r>
          </a:p>
        </p:txBody>
      </p:sp>
      <p:sp>
        <p:nvSpPr>
          <p:cNvPr id="17" name="Oval 16"/>
          <p:cNvSpPr/>
          <p:nvPr/>
        </p:nvSpPr>
        <p:spPr>
          <a:xfrm>
            <a:off x="9235440" y="352044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8" name="TextBox 17"/>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Standard payment reminder sequences send the same messages on the same schedule regardless of consumer behavior. Behavioral-trigger sequences respond to actual patterns — days since last payment, communication response history, payment method preference — and consistently outperform static schedules on early-stage delinquency reduction.</a:t>
            </a:r>
          </a:p>
        </p:txBody>
      </p:sp>
      <p:sp>
        <p:nvSpPr>
          <p:cNvPr id="19" name="Rectangle 18"/>
          <p:cNvSpPr/>
          <p:nvPr/>
        </p:nvSpPr>
        <p:spPr>
          <a:xfrm>
            <a:off x="502920" y="4434840"/>
            <a:ext cx="54864" cy="64008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434840"/>
            <a:ext cx="8412480" cy="347472"/>
          </a:xfrm>
          <a:prstGeom prst="rect">
            <a:avLst/>
          </a:prstGeom>
          <a:noFill/>
        </p:spPr>
        <p:txBody>
          <a:bodyPr wrap="square">
            <a:spAutoFit/>
          </a:bodyPr>
          <a:lstStyle/>
          <a:p>
            <a:pPr algn="l"/>
            <a:r>
              <a:rPr sz="1200" b="1" i="0">
                <a:solidFill>
                  <a:srgbClr val="FFFFFF"/>
                </a:solidFill>
              </a:rPr>
              <a:t>INSURANCE LAPSE MANAGEMENT APPEARS MANUAL</a:t>
            </a:r>
          </a:p>
        </p:txBody>
      </p:sp>
      <p:sp>
        <p:nvSpPr>
          <p:cNvPr id="21" name="Oval 20"/>
          <p:cNvSpPr/>
          <p:nvPr/>
        </p:nvSpPr>
        <p:spPr>
          <a:xfrm>
            <a:off x="9235440" y="4480560"/>
            <a:ext cx="941832" cy="274320"/>
          </a:xfrm>
          <a:prstGeom prst="ellipse">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MEDIUM</a:t>
            </a:r>
          </a:p>
        </p:txBody>
      </p:sp>
      <p:sp>
        <p:nvSpPr>
          <p:cNvPr id="22" name="TextBox 21"/>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Insurance lapse is both a compliance risk and a loss exposure. Automated alert sequences triggered immediately on lapse notification, with escalation at defined intervals before forced placement, reduce both exposure and the cost of managing it. Manual monitoring at this portfolio scale has gaps.</a:t>
            </a:r>
          </a:p>
        </p:txBody>
      </p:sp>
      <p:sp>
        <p:nvSpPr>
          <p:cNvPr id="23" name="Rectangle 22"/>
          <p:cNvSpPr/>
          <p:nvPr/>
        </p:nvSpPr>
        <p:spPr>
          <a:xfrm>
            <a:off x="502920" y="5394960"/>
            <a:ext cx="54864" cy="64008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394960"/>
            <a:ext cx="8412480" cy="347472"/>
          </a:xfrm>
          <a:prstGeom prst="rect">
            <a:avLst/>
          </a:prstGeom>
          <a:noFill/>
        </p:spPr>
        <p:txBody>
          <a:bodyPr wrap="square">
            <a:spAutoFit/>
          </a:bodyPr>
          <a:lstStyle/>
          <a:p>
            <a:pPr algn="l"/>
            <a:r>
              <a:rPr sz="1200" b="1" i="0">
                <a:solidFill>
                  <a:srgbClr val="FFFFFF"/>
                </a:solidFill>
              </a:rPr>
              <a:t>NO DEALER REACTIVATION AUTOMATION</a:t>
            </a:r>
          </a:p>
        </p:txBody>
      </p:sp>
      <p:sp>
        <p:nvSpPr>
          <p:cNvPr id="25" name="Oval 24"/>
          <p:cNvSpPr/>
          <p:nvPr/>
        </p:nvSpPr>
        <p:spPr>
          <a:xfrm>
            <a:off x="9235440" y="5440680"/>
            <a:ext cx="941832" cy="274320"/>
          </a:xfrm>
          <a:prstGeom prst="ellipse">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MEDIUM</a:t>
            </a:r>
          </a:p>
        </p:txBody>
      </p:sp>
      <p:sp>
        <p:nvSpPr>
          <p:cNvPr id="26" name="TextBox 25"/>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Dealers who stop submitting deals don't always leave — they get busy, get recruited by a competitor, or stop after one friction point. Automated sequences at 30, 60, and 90 days of dormancy, with content relevant to what they submitted before, recover a percentage of those relationships without requiring a manual call for every 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A055FF"/>
                </a:solidFill>
              </a:rPr>
              <a:t>WEBSITE DESIGN AUDIT</a:t>
            </a:r>
          </a:p>
        </p:txBody>
      </p:sp>
      <p:sp>
        <p:nvSpPr>
          <p:cNvPr id="5" name="TextBox 4"/>
          <p:cNvSpPr txBox="1"/>
          <p:nvPr/>
        </p:nvSpPr>
        <p:spPr>
          <a:xfrm>
            <a:off x="502920" y="640080"/>
            <a:ext cx="10972800" cy="731520"/>
          </a:xfrm>
          <a:prstGeom prst="rect">
            <a:avLst/>
          </a:prstGeom>
          <a:noFill/>
        </p:spPr>
        <p:txBody>
          <a:bodyPr wrap="square">
            <a:spAutoFit/>
          </a:bodyPr>
          <a:lstStyle/>
          <a:p>
            <a:pPr algn="l"/>
            <a:r>
              <a:rPr sz="3200" b="1" i="0">
                <a:solidFill>
                  <a:srgbClr val="FFFFFF"/>
                </a:solidFill>
              </a:rPr>
              <a:t>$1B+ Funded. 25 Years. The Site Doesn't Show It.</a:t>
            </a:r>
          </a:p>
        </p:txBody>
      </p:sp>
      <p:sp>
        <p:nvSpPr>
          <p:cNvPr id="6" name="Rectangle 5"/>
          <p:cNvSpPr/>
          <p:nvPr/>
        </p:nvSpPr>
        <p:spPr>
          <a:xfrm>
            <a:off x="502920" y="1325880"/>
            <a:ext cx="1371600" cy="36576"/>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37360"/>
            <a:ext cx="347472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37360"/>
            <a:ext cx="3474720" cy="384048"/>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55648"/>
            <a:ext cx="3291840" cy="347472"/>
          </a:xfrm>
          <a:prstGeom prst="rect">
            <a:avLst/>
          </a:prstGeom>
          <a:noFill/>
        </p:spPr>
        <p:txBody>
          <a:bodyPr wrap="square">
            <a:spAutoFit/>
          </a:bodyPr>
          <a:lstStyle/>
          <a:p>
            <a:pPr algn="ctr"/>
            <a:r>
              <a:rPr sz="1000" b="1" i="0">
                <a:solidFill>
                  <a:srgbClr val="FFFFFF"/>
                </a:solidFill>
              </a:rPr>
              <a:t>QUALITYACCEPTANCE.COM TODAY</a:t>
            </a:r>
          </a:p>
        </p:txBody>
      </p:sp>
      <p:sp>
        <p:nvSpPr>
          <p:cNvPr id="10" name="TextBox 9"/>
          <p:cNvSpPr txBox="1"/>
          <p:nvPr/>
        </p:nvSpPr>
        <p:spPr>
          <a:xfrm>
            <a:off x="640080" y="2212848"/>
            <a:ext cx="3291840" cy="2651760"/>
          </a:xfrm>
          <a:prstGeom prst="rect">
            <a:avLst/>
          </a:prstGeom>
          <a:noFill/>
        </p:spPr>
        <p:txBody>
          <a:bodyPr wrap="square">
            <a:spAutoFit/>
          </a:bodyPr>
          <a:lstStyle/>
          <a:p>
            <a:pPr algn="l">
              <a:spcAft>
                <a:spcPts val="600"/>
              </a:spcAft>
            </a:pPr>
            <a:r>
              <a:rPr sz="900"/>
              <a:t>  </a:t>
            </a:r>
            <a:r>
              <a:rPr sz="900" b="1">
                <a:solidFill>
                  <a:srgbClr val="FF4D4D"/>
                </a:solidFill>
              </a:rPr>
              <a:t>• </a:t>
            </a:r>
            <a:r>
              <a:rPr sz="1100">
                <a:solidFill>
                  <a:srgbClr val="C8D4EE"/>
                </a:solidFill>
              </a:rPr>
              <a:t>Dated design understates institutional scale</a:t>
            </a:r>
          </a:p>
          <a:p>
            <a:pPr algn="l">
              <a:spcAft>
                <a:spcPts val="600"/>
              </a:spcAft>
            </a:pPr>
            <a:r>
              <a:rPr sz="900"/>
              <a:t>  </a:t>
            </a:r>
            <a:r>
              <a:rPr sz="900" b="1">
                <a:solidFill>
                  <a:srgbClr val="FF4D4D"/>
                </a:solidFill>
              </a:rPr>
              <a:t>• </a:t>
            </a:r>
            <a:r>
              <a:rPr sz="1100">
                <a:solidFill>
                  <a:srgbClr val="C8D4EE"/>
                </a:solidFill>
              </a:rPr>
              <a:t>Dealer page = phone number only, no enrollment funnel</a:t>
            </a:r>
          </a:p>
          <a:p>
            <a:pPr algn="l">
              <a:spcAft>
                <a:spcPts val="600"/>
              </a:spcAft>
            </a:pPr>
            <a:r>
              <a:rPr sz="900"/>
              <a:t>  </a:t>
            </a:r>
            <a:r>
              <a:rPr sz="900" b="1">
                <a:solidFill>
                  <a:srgbClr val="FF4D4D"/>
                </a:solidFill>
              </a:rPr>
              <a:t>• </a:t>
            </a:r>
            <a:r>
              <a:rPr sz="1100">
                <a:solidFill>
                  <a:srgbClr val="C8D4EE"/>
                </a:solidFill>
              </a:rPr>
              <a:t>No AI chat or self-service widget for consumers</a:t>
            </a:r>
          </a:p>
          <a:p>
            <a:pPr algn="l">
              <a:spcAft>
                <a:spcPts val="600"/>
              </a:spcAft>
            </a:pPr>
            <a:r>
              <a:rPr sz="900"/>
              <a:t>  </a:t>
            </a:r>
            <a:r>
              <a:rPr sz="900" b="1">
                <a:solidFill>
                  <a:srgbClr val="FF4D4D"/>
                </a:solidFill>
              </a:rPr>
              <a:t>• </a:t>
            </a:r>
            <a:r>
              <a:rPr sz="1100">
                <a:solidFill>
                  <a:srgbClr val="C8D4EE"/>
                </a:solidFill>
              </a:rPr>
              <a:t>No testimonials from dealers or borrowers</a:t>
            </a:r>
          </a:p>
          <a:p>
            <a:pPr algn="l">
              <a:spcAft>
                <a:spcPts val="600"/>
              </a:spcAft>
            </a:pPr>
            <a:r>
              <a:rPr sz="900"/>
              <a:t>  </a:t>
            </a:r>
            <a:r>
              <a:rPr sz="900" b="1">
                <a:solidFill>
                  <a:srgbClr val="FF4D4D"/>
                </a:solidFill>
              </a:rPr>
              <a:t>• </a:t>
            </a:r>
            <a:r>
              <a:rPr sz="1100">
                <a:solidFill>
                  <a:srgbClr val="C8D4EE"/>
                </a:solidFill>
              </a:rPr>
              <a:t>No case studies or funded volume data visible</a:t>
            </a:r>
          </a:p>
          <a:p>
            <a:pPr algn="l">
              <a:spcAft>
                <a:spcPts val="600"/>
              </a:spcAft>
            </a:pPr>
            <a:r>
              <a:rPr sz="900"/>
              <a:t>  </a:t>
            </a:r>
            <a:r>
              <a:rPr sz="900" b="1">
                <a:solidFill>
                  <a:srgbClr val="FF4D4D"/>
                </a:solidFill>
              </a:rPr>
              <a:t>• </a:t>
            </a:r>
            <a:r>
              <a:rPr sz="1100">
                <a:solidFill>
                  <a:srgbClr val="C8D4EE"/>
                </a:solidFill>
              </a:rPr>
              <a:t>1-800 number as primary conversion action</a:t>
            </a:r>
          </a:p>
          <a:p>
            <a:pPr algn="l">
              <a:spcAft>
                <a:spcPts val="600"/>
              </a:spcAft>
            </a:pPr>
            <a:r>
              <a:rPr sz="900"/>
              <a:t>  </a:t>
            </a:r>
            <a:r>
              <a:rPr sz="900" b="1">
                <a:solidFill>
                  <a:srgbClr val="FF4D4D"/>
                </a:solidFill>
              </a:rPr>
              <a:t>• </a:t>
            </a:r>
            <a:r>
              <a:rPr sz="1100">
                <a:solidFill>
                  <a:srgbClr val="C8D4EE"/>
                </a:solidFill>
              </a:rPr>
              <a:t>Mobile app exists but site doesn't drive to it</a:t>
            </a:r>
          </a:p>
          <a:p>
            <a:pPr algn="l"/>
            <a:r>
              <a:rPr sz="900"/>
              <a:t>  </a:t>
            </a:r>
            <a:r>
              <a:rPr sz="900" b="1">
                <a:solidFill>
                  <a:srgbClr val="FF4D4D"/>
                </a:solidFill>
              </a:rPr>
              <a:t>• </a:t>
            </a:r>
            <a:r>
              <a:rPr sz="1100">
                <a:solidFill>
                  <a:srgbClr val="C8D4EE"/>
                </a:solidFill>
              </a:rPr>
              <a:t>No credibility signals: A+ BBB, $1B+, AFSA board</a:t>
            </a:r>
          </a:p>
        </p:txBody>
      </p:sp>
      <p:sp>
        <p:nvSpPr>
          <p:cNvPr id="11" name="TextBox 10"/>
          <p:cNvSpPr txBox="1"/>
          <p:nvPr/>
        </p:nvSpPr>
        <p:spPr>
          <a:xfrm>
            <a:off x="4069080" y="3291840"/>
            <a:ext cx="457200" cy="457200"/>
          </a:xfrm>
          <a:prstGeom prst="rect">
            <a:avLst/>
          </a:prstGeom>
          <a:noFill/>
        </p:spPr>
        <p:txBody>
          <a:bodyPr wrap="square">
            <a:spAutoFit/>
          </a:bodyPr>
          <a:lstStyle/>
          <a:p>
            <a:pPr algn="ctr"/>
            <a:r>
              <a:rPr sz="3000" b="1" i="0">
                <a:solidFill>
                  <a:srgbClr val="A055FF"/>
                </a:solidFill>
              </a:rPr>
              <a:t>-&gt;</a:t>
            </a:r>
          </a:p>
        </p:txBody>
      </p:sp>
      <p:sp>
        <p:nvSpPr>
          <p:cNvPr id="12" name="Rectangle 11"/>
          <p:cNvSpPr/>
          <p:nvPr/>
        </p:nvSpPr>
        <p:spPr>
          <a:xfrm>
            <a:off x="45720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1737360"/>
            <a:ext cx="329184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755648"/>
            <a:ext cx="3108960" cy="347472"/>
          </a:xfrm>
          <a:prstGeom prst="rect">
            <a:avLst/>
          </a:prstGeom>
          <a:noFill/>
        </p:spPr>
        <p:txBody>
          <a:bodyPr wrap="square">
            <a:spAutoFit/>
          </a:bodyPr>
          <a:lstStyle/>
          <a:p>
            <a:pPr algn="ctr"/>
            <a:r>
              <a:rPr sz="900" b="1" i="0">
                <a:solidFill>
                  <a:srgbClr val="FFFFFF"/>
                </a:solidFill>
              </a:rPr>
              <a:t>TOP AUTO FINANCE LENDER SITES DO THIS</a:t>
            </a:r>
          </a:p>
        </p:txBody>
      </p:sp>
      <p:sp>
        <p:nvSpPr>
          <p:cNvPr id="15" name="TextBox 14"/>
          <p:cNvSpPr txBox="1"/>
          <p:nvPr/>
        </p:nvSpPr>
        <p:spPr>
          <a:xfrm>
            <a:off x="4663440" y="2212848"/>
            <a:ext cx="3108960" cy="2651760"/>
          </a:xfrm>
          <a:prstGeom prst="rect">
            <a:avLst/>
          </a:prstGeom>
          <a:noFill/>
        </p:spPr>
        <p:txBody>
          <a:bodyPr wrap="square">
            <a:spAutoFit/>
          </a:bodyPr>
          <a:lstStyle/>
          <a:p>
            <a:pPr algn="l">
              <a:spcAft>
                <a:spcPts val="600"/>
              </a:spcAft>
            </a:pPr>
            <a:r>
              <a:rPr sz="900"/>
              <a:t>  </a:t>
            </a:r>
            <a:r>
              <a:rPr sz="900" b="1">
                <a:solidFill>
                  <a:srgbClr val="F5C518"/>
                </a:solidFill>
              </a:rPr>
              <a:t>• </a:t>
            </a:r>
            <a:r>
              <a:rPr sz="1100">
                <a:solidFill>
                  <a:srgbClr val="C8D4EE"/>
                </a:solidFill>
              </a:rPr>
              <a:t>Online dealer enrollment with instant confirmation</a:t>
            </a:r>
          </a:p>
          <a:p>
            <a:pPr algn="l">
              <a:spcAft>
                <a:spcPts val="600"/>
              </a:spcAft>
            </a:pPr>
            <a:r>
              <a:rPr sz="900"/>
              <a:t>  </a:t>
            </a:r>
            <a:r>
              <a:rPr sz="900" b="1">
                <a:solidFill>
                  <a:srgbClr val="F5C518"/>
                </a:solidFill>
              </a:rPr>
              <a:t>• </a:t>
            </a:r>
            <a:r>
              <a:rPr sz="1100">
                <a:solidFill>
                  <a:srgbClr val="C8D4EE"/>
                </a:solidFill>
              </a:rPr>
              <a:t>Consumer AI chat for balance/payment/insurance 24/7</a:t>
            </a:r>
          </a:p>
          <a:p>
            <a:pPr algn="l">
              <a:spcAft>
                <a:spcPts val="600"/>
              </a:spcAft>
            </a:pPr>
            <a:r>
              <a:rPr sz="900"/>
              <a:t>  </a:t>
            </a:r>
            <a:r>
              <a:rPr sz="900" b="1">
                <a:solidFill>
                  <a:srgbClr val="F5C518"/>
                </a:solidFill>
              </a:rPr>
              <a:t>• </a:t>
            </a:r>
            <a:r>
              <a:rPr sz="1100">
                <a:solidFill>
                  <a:srgbClr val="C8D4EE"/>
                </a:solidFill>
              </a:rPr>
              <a:t>Dealer testimonials and funded volume data</a:t>
            </a:r>
          </a:p>
          <a:p>
            <a:pPr algn="l">
              <a:spcAft>
                <a:spcPts val="600"/>
              </a:spcAft>
            </a:pPr>
            <a:r>
              <a:rPr sz="900"/>
              <a:t>  </a:t>
            </a:r>
            <a:r>
              <a:rPr sz="900" b="1">
                <a:solidFill>
                  <a:srgbClr val="F5C518"/>
                </a:solidFill>
              </a:rPr>
              <a:t>• </a:t>
            </a:r>
            <a:r>
              <a:rPr sz="1100">
                <a:solidFill>
                  <a:srgbClr val="C8D4EE"/>
                </a:solidFill>
              </a:rPr>
              <a:t>Credibility signals: ratings, years, capital backing</a:t>
            </a:r>
          </a:p>
          <a:p>
            <a:pPr algn="l">
              <a:spcAft>
                <a:spcPts val="600"/>
              </a:spcAft>
            </a:pPr>
            <a:r>
              <a:rPr sz="900"/>
              <a:t>  </a:t>
            </a:r>
            <a:r>
              <a:rPr sz="900" b="1">
                <a:solidFill>
                  <a:srgbClr val="F5C518"/>
                </a:solidFill>
              </a:rPr>
              <a:t>• </a:t>
            </a:r>
            <a:r>
              <a:rPr sz="1100">
                <a:solidFill>
                  <a:srgbClr val="C8D4EE"/>
                </a:solidFill>
              </a:rPr>
              <a:t>Behavioral payment reminder sequences, not static</a:t>
            </a:r>
          </a:p>
          <a:p>
            <a:pPr algn="l">
              <a:spcAft>
                <a:spcPts val="600"/>
              </a:spcAft>
            </a:pPr>
            <a:r>
              <a:rPr sz="900"/>
              <a:t>  </a:t>
            </a:r>
            <a:r>
              <a:rPr sz="900" b="1">
                <a:solidFill>
                  <a:srgbClr val="F5C518"/>
                </a:solidFill>
              </a:rPr>
              <a:t>• </a:t>
            </a:r>
            <a:r>
              <a:rPr sz="1100">
                <a:solidFill>
                  <a:srgbClr val="C8D4EE"/>
                </a:solidFill>
              </a:rPr>
              <a:t>Insurance lapse alert automation</a:t>
            </a:r>
          </a:p>
          <a:p>
            <a:pPr algn="l">
              <a:spcAft>
                <a:spcPts val="600"/>
              </a:spcAft>
            </a:pPr>
            <a:r>
              <a:rPr sz="900"/>
              <a:t>  </a:t>
            </a:r>
            <a:r>
              <a:rPr sz="900" b="1">
                <a:solidFill>
                  <a:srgbClr val="F5C518"/>
                </a:solidFill>
              </a:rPr>
              <a:t>• </a:t>
            </a:r>
            <a:r>
              <a:rPr sz="1100">
                <a:solidFill>
                  <a:srgbClr val="C8D4EE"/>
                </a:solidFill>
              </a:rPr>
              <a:t>Dealer dashboard/portal access from homepage</a:t>
            </a:r>
          </a:p>
          <a:p>
            <a:pPr algn="l"/>
            <a:r>
              <a:rPr sz="900"/>
              <a:t>  </a:t>
            </a:r>
            <a:r>
              <a:rPr sz="900" b="1">
                <a:solidFill>
                  <a:srgbClr val="F5C518"/>
                </a:solidFill>
              </a:rPr>
              <a:t>• </a:t>
            </a:r>
            <a:r>
              <a:rPr sz="1100">
                <a:solidFill>
                  <a:srgbClr val="C8D4EE"/>
                </a:solidFill>
              </a:rPr>
              <a:t>Case studies by dealer type and state</a:t>
            </a:r>
          </a:p>
        </p:txBody>
      </p:sp>
      <p:sp>
        <p:nvSpPr>
          <p:cNvPr id="16" name="TextBox 15"/>
          <p:cNvSpPr txBox="1"/>
          <p:nvPr/>
        </p:nvSpPr>
        <p:spPr>
          <a:xfrm>
            <a:off x="7936992" y="3291840"/>
            <a:ext cx="457200" cy="457200"/>
          </a:xfrm>
          <a:prstGeom prst="rect">
            <a:avLst/>
          </a:prstGeom>
          <a:noFill/>
        </p:spPr>
        <p:txBody>
          <a:bodyPr wrap="square">
            <a:spAutoFit/>
          </a:bodyPr>
          <a:lstStyle/>
          <a:p>
            <a:pPr algn="ctr"/>
            <a:r>
              <a:rPr sz="3000" b="1" i="0">
                <a:solidFill>
                  <a:srgbClr val="A055FF"/>
                </a:solidFill>
              </a:rPr>
              <a:t>-&gt;</a:t>
            </a:r>
          </a:p>
        </p:txBody>
      </p:sp>
      <p:sp>
        <p:nvSpPr>
          <p:cNvPr id="17" name="Rectangle 16"/>
          <p:cNvSpPr/>
          <p:nvPr/>
        </p:nvSpPr>
        <p:spPr>
          <a:xfrm>
            <a:off x="84582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58200" y="1737360"/>
            <a:ext cx="329184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40" y="1755648"/>
            <a:ext cx="3108960" cy="347472"/>
          </a:xfrm>
          <a:prstGeom prst="rect">
            <a:avLst/>
          </a:prstGeom>
          <a:noFill/>
        </p:spPr>
        <p:txBody>
          <a:bodyPr wrap="square">
            <a:spAutoFit/>
          </a:bodyPr>
          <a:lstStyle/>
          <a:p>
            <a:pPr algn="ctr"/>
            <a:r>
              <a:rPr sz="1000" b="1" i="0">
                <a:solidFill>
                  <a:srgbClr val="FFFFFF"/>
                </a:solidFill>
              </a:rPr>
              <a:t>WHAT GENOS AI BUILDS</a:t>
            </a:r>
          </a:p>
        </p:txBody>
      </p:sp>
      <p:sp>
        <p:nvSpPr>
          <p:cNvPr id="20" name="TextBox 19"/>
          <p:cNvSpPr txBox="1"/>
          <p:nvPr/>
        </p:nvSpPr>
        <p:spPr>
          <a:xfrm>
            <a:off x="8549640" y="2212848"/>
            <a:ext cx="3108960" cy="2651760"/>
          </a:xfrm>
          <a:prstGeom prst="rect">
            <a:avLst/>
          </a:prstGeom>
          <a:noFill/>
        </p:spPr>
        <p:txBody>
          <a:bodyPr wrap="square">
            <a:spAutoFit/>
          </a:bodyPr>
          <a:lstStyle/>
          <a:p>
            <a:pPr algn="l">
              <a:spcAft>
                <a:spcPts val="600"/>
              </a:spcAft>
            </a:pPr>
            <a:r>
              <a:rPr sz="900"/>
              <a:t>  </a:t>
            </a:r>
            <a:r>
              <a:rPr sz="900" b="1">
                <a:solidFill>
                  <a:srgbClr val="2ECC71"/>
                </a:solidFill>
              </a:rPr>
              <a:t>• </a:t>
            </a:r>
            <a:r>
              <a:rPr sz="1100">
                <a:solidFill>
                  <a:srgbClr val="C8D4EE"/>
                </a:solidFill>
              </a:rPr>
              <a:t>Dealer acquisition funnel with online enrollment CTA</a:t>
            </a:r>
          </a:p>
          <a:p>
            <a:pPr algn="l">
              <a:spcAft>
                <a:spcPts val="600"/>
              </a:spcAft>
            </a:pPr>
            <a:r>
              <a:rPr sz="900"/>
              <a:t>  </a:t>
            </a:r>
            <a:r>
              <a:rPr sz="900" b="1">
                <a:solidFill>
                  <a:srgbClr val="2ECC71"/>
                </a:solidFill>
              </a:rPr>
              <a:t>• </a:t>
            </a:r>
            <a:r>
              <a:rPr sz="1100">
                <a:solidFill>
                  <a:srgbClr val="C8D4EE"/>
                </a:solidFill>
              </a:rPr>
              <a:t>Consumer AI chat: balance, payment, insurance 24/7</a:t>
            </a:r>
          </a:p>
          <a:p>
            <a:pPr algn="l">
              <a:spcAft>
                <a:spcPts val="600"/>
              </a:spcAft>
            </a:pPr>
            <a:r>
              <a:rPr sz="900"/>
              <a:t>  </a:t>
            </a:r>
            <a:r>
              <a:rPr sz="900" b="1">
                <a:solidFill>
                  <a:srgbClr val="2ECC71"/>
                </a:solidFill>
              </a:rPr>
              <a:t>• </a:t>
            </a:r>
            <a:r>
              <a:rPr sz="1100">
                <a:solidFill>
                  <a:srgbClr val="C8D4EE"/>
                </a:solidFill>
              </a:rPr>
              <a:t>Dealer and consumer testimonials section</a:t>
            </a:r>
          </a:p>
          <a:p>
            <a:pPr algn="l">
              <a:spcAft>
                <a:spcPts val="600"/>
              </a:spcAft>
            </a:pPr>
            <a:r>
              <a:rPr sz="900"/>
              <a:t>  </a:t>
            </a:r>
            <a:r>
              <a:rPr sz="900" b="1">
                <a:solidFill>
                  <a:srgbClr val="2ECC71"/>
                </a:solidFill>
              </a:rPr>
              <a:t>• </a:t>
            </a:r>
            <a:r>
              <a:rPr sz="1100">
                <a:solidFill>
                  <a:srgbClr val="C8D4EE"/>
                </a:solidFill>
              </a:rPr>
              <a:t>Credibility signals front and center ($1B+, A+, 25yr)</a:t>
            </a:r>
          </a:p>
          <a:p>
            <a:pPr algn="l">
              <a:spcAft>
                <a:spcPts val="600"/>
              </a:spcAft>
            </a:pPr>
            <a:r>
              <a:rPr sz="900"/>
              <a:t>  </a:t>
            </a:r>
            <a:r>
              <a:rPr sz="900" b="1">
                <a:solidFill>
                  <a:srgbClr val="2ECC71"/>
                </a:solidFill>
              </a:rPr>
              <a:t>• </a:t>
            </a:r>
            <a:r>
              <a:rPr sz="1100">
                <a:solidFill>
                  <a:srgbClr val="C8D4EE"/>
                </a:solidFill>
              </a:rPr>
              <a:t>Behavioral-trigger payment reminder sequences</a:t>
            </a:r>
          </a:p>
          <a:p>
            <a:pPr algn="l">
              <a:spcAft>
                <a:spcPts val="600"/>
              </a:spcAft>
            </a:pPr>
            <a:r>
              <a:rPr sz="900"/>
              <a:t>  </a:t>
            </a:r>
            <a:r>
              <a:rPr sz="900" b="1">
                <a:solidFill>
                  <a:srgbClr val="2ECC71"/>
                </a:solidFill>
              </a:rPr>
              <a:t>• </a:t>
            </a:r>
            <a:r>
              <a:rPr sz="1100">
                <a:solidFill>
                  <a:srgbClr val="C8D4EE"/>
                </a:solidFill>
              </a:rPr>
              <a:t>Insurance lapse alert and escalation automation</a:t>
            </a:r>
          </a:p>
          <a:p>
            <a:pPr algn="l">
              <a:spcAft>
                <a:spcPts val="600"/>
              </a:spcAft>
            </a:pPr>
            <a:r>
              <a:rPr sz="900"/>
              <a:t>  </a:t>
            </a:r>
            <a:r>
              <a:rPr sz="900" b="1">
                <a:solidFill>
                  <a:srgbClr val="2ECC71"/>
                </a:solidFill>
              </a:rPr>
              <a:t>• </a:t>
            </a:r>
            <a:r>
              <a:rPr sz="1100">
                <a:solidFill>
                  <a:srgbClr val="C8D4EE"/>
                </a:solidFill>
              </a:rPr>
              <a:t>Dealer reactivation sequences (30/60/90 day)</a:t>
            </a:r>
          </a:p>
          <a:p>
            <a:pPr algn="l"/>
            <a:r>
              <a:rPr sz="900"/>
              <a:t>  </a:t>
            </a:r>
            <a:r>
              <a:rPr sz="900" b="1">
                <a:solidFill>
                  <a:srgbClr val="2ECC71"/>
                </a:solidFill>
              </a:rPr>
              <a:t>• </a:t>
            </a:r>
            <a:r>
              <a:rPr sz="1100">
                <a:solidFill>
                  <a:srgbClr val="C8D4EE"/>
                </a:solidFill>
              </a:rPr>
              <a:t>Site rebuild reflecting institutional scale</a:t>
            </a:r>
          </a:p>
        </p:txBody>
      </p:sp>
      <p:sp>
        <p:nvSpPr>
          <p:cNvPr id="21" name="Rectangle 20"/>
          <p:cNvSpPr/>
          <p:nvPr/>
        </p:nvSpPr>
        <p:spPr>
          <a:xfrm>
            <a:off x="502920" y="5230368"/>
            <a:ext cx="11183112" cy="117043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285232"/>
            <a:ext cx="2011680" cy="347472"/>
          </a:xfrm>
          <a:prstGeom prst="rect">
            <a:avLst/>
          </a:prstGeom>
          <a:noFill/>
        </p:spPr>
        <p:txBody>
          <a:bodyPr wrap="square">
            <a:spAutoFit/>
          </a:bodyPr>
          <a:lstStyle/>
          <a:p>
            <a:pPr algn="l"/>
            <a:r>
              <a:rPr sz="1100" b="1" i="0">
                <a:solidFill>
                  <a:srgbClr val="A055FF"/>
                </a:solidFill>
              </a:rPr>
              <a:t>WHY IT MATTERS:</a:t>
            </a:r>
          </a:p>
        </p:txBody>
      </p:sp>
      <p:sp>
        <p:nvSpPr>
          <p:cNvPr id="23" name="TextBox 22"/>
          <p:cNvSpPr txBox="1"/>
          <p:nvPr/>
        </p:nvSpPr>
        <p:spPr>
          <a:xfrm>
            <a:off x="2651760" y="5257800"/>
            <a:ext cx="2286000" cy="502920"/>
          </a:xfrm>
          <a:prstGeom prst="rect">
            <a:avLst/>
          </a:prstGeom>
          <a:noFill/>
        </p:spPr>
        <p:txBody>
          <a:bodyPr wrap="square">
            <a:spAutoFit/>
          </a:bodyPr>
          <a:lstStyle/>
          <a:p>
            <a:pPr algn="ctr"/>
            <a:r>
              <a:rPr sz="2400" b="1" i="0">
                <a:solidFill>
                  <a:srgbClr val="F5C518"/>
                </a:solidFill>
              </a:rPr>
              <a:t>60-70%</a:t>
            </a:r>
          </a:p>
        </p:txBody>
      </p:sp>
      <p:sp>
        <p:nvSpPr>
          <p:cNvPr id="24" name="TextBox 23"/>
          <p:cNvSpPr txBox="1"/>
          <p:nvPr/>
        </p:nvSpPr>
        <p:spPr>
          <a:xfrm>
            <a:off x="2651760" y="5687568"/>
            <a:ext cx="2286000" cy="640080"/>
          </a:xfrm>
          <a:prstGeom prst="rect">
            <a:avLst/>
          </a:prstGeom>
          <a:noFill/>
        </p:spPr>
        <p:txBody>
          <a:bodyPr wrap="square">
            <a:spAutoFit/>
          </a:bodyPr>
          <a:lstStyle/>
          <a:p>
            <a:pPr algn="ctr"/>
            <a:r>
              <a:rPr sz="1000" b="0" i="0">
                <a:solidFill>
                  <a:srgbClr val="C8D4EE"/>
                </a:solidFill>
              </a:rPr>
              <a:t>of inbound calls are
routine self-service questions</a:t>
            </a:r>
          </a:p>
        </p:txBody>
      </p:sp>
      <p:sp>
        <p:nvSpPr>
          <p:cNvPr id="25" name="TextBox 24"/>
          <p:cNvSpPr txBox="1"/>
          <p:nvPr/>
        </p:nvSpPr>
        <p:spPr>
          <a:xfrm>
            <a:off x="5120640" y="5257800"/>
            <a:ext cx="2286000" cy="502920"/>
          </a:xfrm>
          <a:prstGeom prst="rect">
            <a:avLst/>
          </a:prstGeom>
          <a:noFill/>
        </p:spPr>
        <p:txBody>
          <a:bodyPr wrap="square">
            <a:spAutoFit/>
          </a:bodyPr>
          <a:lstStyle/>
          <a:p>
            <a:pPr algn="ctr"/>
            <a:r>
              <a:rPr sz="2400" b="1" i="0">
                <a:solidFill>
                  <a:srgbClr val="F5C518"/>
                </a:solidFill>
              </a:rPr>
              <a:t>30/60/90</a:t>
            </a:r>
          </a:p>
        </p:txBody>
      </p:sp>
      <p:sp>
        <p:nvSpPr>
          <p:cNvPr id="26" name="TextBox 25"/>
          <p:cNvSpPr txBox="1"/>
          <p:nvPr/>
        </p:nvSpPr>
        <p:spPr>
          <a:xfrm>
            <a:off x="5120640" y="5687568"/>
            <a:ext cx="2286000" cy="640080"/>
          </a:xfrm>
          <a:prstGeom prst="rect">
            <a:avLst/>
          </a:prstGeom>
          <a:noFill/>
        </p:spPr>
        <p:txBody>
          <a:bodyPr wrap="square">
            <a:spAutoFit/>
          </a:bodyPr>
          <a:lstStyle/>
          <a:p>
            <a:pPr algn="ctr"/>
            <a:r>
              <a:rPr sz="1000" b="0" i="0">
                <a:solidFill>
                  <a:srgbClr val="C8D4EE"/>
                </a:solidFill>
              </a:rPr>
              <a:t>day dormancy sequences
recover 15-25% of lapsed dealers</a:t>
            </a:r>
          </a:p>
        </p:txBody>
      </p:sp>
      <p:sp>
        <p:nvSpPr>
          <p:cNvPr id="27" name="TextBox 26"/>
          <p:cNvSpPr txBox="1"/>
          <p:nvPr/>
        </p:nvSpPr>
        <p:spPr>
          <a:xfrm>
            <a:off x="7589520" y="5257800"/>
            <a:ext cx="2286000" cy="502920"/>
          </a:xfrm>
          <a:prstGeom prst="rect">
            <a:avLst/>
          </a:prstGeom>
          <a:noFill/>
        </p:spPr>
        <p:txBody>
          <a:bodyPr wrap="square">
            <a:spAutoFit/>
          </a:bodyPr>
          <a:lstStyle/>
          <a:p>
            <a:pPr algn="ctr"/>
            <a:r>
              <a:rPr sz="2400" b="1" i="0">
                <a:solidFill>
                  <a:srgbClr val="F5C518"/>
                </a:solidFill>
              </a:rPr>
              <a:t>48 hrs</a:t>
            </a:r>
          </a:p>
        </p:txBody>
      </p:sp>
      <p:sp>
        <p:nvSpPr>
          <p:cNvPr id="28" name="TextBox 27"/>
          <p:cNvSpPr txBox="1"/>
          <p:nvPr/>
        </p:nvSpPr>
        <p:spPr>
          <a:xfrm>
            <a:off x="7589520" y="5687568"/>
            <a:ext cx="2286000" cy="640080"/>
          </a:xfrm>
          <a:prstGeom prst="rect">
            <a:avLst/>
          </a:prstGeom>
          <a:noFill/>
        </p:spPr>
        <p:txBody>
          <a:bodyPr wrap="square">
            <a:spAutoFit/>
          </a:bodyPr>
          <a:lstStyle/>
          <a:p>
            <a:pPr algn="ctr"/>
            <a:r>
              <a:rPr sz="1000" b="0" i="0">
                <a:solidFill>
                  <a:srgbClr val="C8D4EE"/>
                </a:solidFill>
              </a:rPr>
              <a:t>insurance lapse window
before meaningful loss exposure</a:t>
            </a:r>
          </a:p>
        </p:txBody>
      </p:sp>
      <p:sp>
        <p:nvSpPr>
          <p:cNvPr id="29" name="TextBox 28"/>
          <p:cNvSpPr txBox="1"/>
          <p:nvPr/>
        </p:nvSpPr>
        <p:spPr>
          <a:xfrm>
            <a:off x="10058400" y="5257800"/>
            <a:ext cx="2286000" cy="502920"/>
          </a:xfrm>
          <a:prstGeom prst="rect">
            <a:avLst/>
          </a:prstGeom>
          <a:noFill/>
        </p:spPr>
        <p:txBody>
          <a:bodyPr wrap="square">
            <a:spAutoFit/>
          </a:bodyPr>
          <a:lstStyle/>
          <a:p>
            <a:pPr algn="ctr"/>
            <a:r>
              <a:rPr sz="2400" b="1" i="0">
                <a:solidFill>
                  <a:srgbClr val="F5C518"/>
                </a:solidFill>
              </a:rPr>
              <a:t>3x</a:t>
            </a:r>
          </a:p>
        </p:txBody>
      </p:sp>
      <p:sp>
        <p:nvSpPr>
          <p:cNvPr id="30" name="TextBox 29"/>
          <p:cNvSpPr txBox="1"/>
          <p:nvPr/>
        </p:nvSpPr>
        <p:spPr>
          <a:xfrm>
            <a:off x="10058400" y="5687568"/>
            <a:ext cx="2286000" cy="640080"/>
          </a:xfrm>
          <a:prstGeom prst="rect">
            <a:avLst/>
          </a:prstGeom>
          <a:noFill/>
        </p:spPr>
        <p:txBody>
          <a:bodyPr wrap="square">
            <a:spAutoFit/>
          </a:bodyPr>
          <a:lstStyle/>
          <a:p>
            <a:pPr algn="ctr"/>
            <a:r>
              <a:rPr sz="1000" b="0" i="0">
                <a:solidFill>
                  <a:srgbClr val="C8D4EE"/>
                </a:solidFill>
              </a:rPr>
              <a:t>conversion lift with
online enrollment vs. phone-only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AI AUTOMATION OPPORTUNITIES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400" b="1" i="0">
                <a:solidFill>
                  <a:srgbClr val="FFFFFF"/>
                </a:solidFill>
              </a:rPr>
              <a:t>Closing the Implementation Gap.</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48840" cy="5486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10512"/>
            <a:ext cx="1929384" cy="594360"/>
          </a:xfrm>
          <a:prstGeom prst="rect">
            <a:avLst/>
          </a:prstGeom>
          <a:noFill/>
        </p:spPr>
        <p:txBody>
          <a:bodyPr wrap="square">
            <a:spAutoFit/>
          </a:bodyPr>
          <a:lstStyle/>
          <a:p>
            <a:pPr algn="l"/>
            <a:r>
              <a:rPr sz="1300" b="1" i="0">
                <a:solidFill>
                  <a:srgbClr val="F5C518"/>
                </a:solidFill>
              </a:rPr>
              <a:t>Dealer Acquisition
Funnel</a:t>
            </a:r>
          </a:p>
        </p:txBody>
      </p:sp>
      <p:sp>
        <p:nvSpPr>
          <p:cNvPr id="10" name="TextBox 9"/>
          <p:cNvSpPr txBox="1"/>
          <p:nvPr/>
        </p:nvSpPr>
        <p:spPr>
          <a:xfrm>
            <a:off x="612648" y="2423160"/>
            <a:ext cx="1929384" cy="3291840"/>
          </a:xfrm>
          <a:prstGeom prst="rect">
            <a:avLst/>
          </a:prstGeom>
          <a:noFill/>
        </p:spPr>
        <p:txBody>
          <a:bodyPr wrap="square">
            <a:spAutoFit/>
          </a:bodyPr>
          <a:lstStyle/>
          <a:p>
            <a:pPr algn="l"/>
            <a:r>
              <a:rPr sz="1100" b="0" i="0">
                <a:solidFill>
                  <a:srgbClr val="C8D4EE"/>
                </a:solidFill>
              </a:rPr>
              <a:t>Online enrollment form with automated onboarding sequence. New dealer submits online, gets instant confirmation, automated deal-submission guide, first check-in at day 7. Converts site visits into active dealer relationships without a phone call per prospect.</a:t>
            </a:r>
          </a:p>
        </p:txBody>
      </p:sp>
      <p:sp>
        <p:nvSpPr>
          <p:cNvPr id="11" name="Rectangle 10"/>
          <p:cNvSpPr/>
          <p:nvPr/>
        </p:nvSpPr>
        <p:spPr>
          <a:xfrm>
            <a:off x="2779776" y="1645920"/>
            <a:ext cx="2148840" cy="54864"/>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79776"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89504" y="1810512"/>
            <a:ext cx="1929384" cy="594360"/>
          </a:xfrm>
          <a:prstGeom prst="rect">
            <a:avLst/>
          </a:prstGeom>
          <a:noFill/>
        </p:spPr>
        <p:txBody>
          <a:bodyPr wrap="square">
            <a:spAutoFit/>
          </a:bodyPr>
          <a:lstStyle/>
          <a:p>
            <a:pPr algn="l"/>
            <a:r>
              <a:rPr sz="1300" b="1" i="0">
                <a:solidFill>
                  <a:srgbClr val="4F8EFF"/>
                </a:solidFill>
              </a:rPr>
              <a:t>Consumer AI Chat
24/7 Self-Service</a:t>
            </a:r>
          </a:p>
        </p:txBody>
      </p:sp>
      <p:sp>
        <p:nvSpPr>
          <p:cNvPr id="14" name="TextBox 13"/>
          <p:cNvSpPr txBox="1"/>
          <p:nvPr/>
        </p:nvSpPr>
        <p:spPr>
          <a:xfrm>
            <a:off x="2889504" y="2423160"/>
            <a:ext cx="1929384" cy="3291840"/>
          </a:xfrm>
          <a:prstGeom prst="rect">
            <a:avLst/>
          </a:prstGeom>
          <a:noFill/>
        </p:spPr>
        <p:txBody>
          <a:bodyPr wrap="square">
            <a:spAutoFit/>
          </a:bodyPr>
          <a:lstStyle/>
          <a:p>
            <a:pPr algn="l"/>
            <a:r>
              <a:rPr sz="1100" b="0" i="0">
                <a:solidFill>
                  <a:srgbClr val="C8D4EE"/>
                </a:solidFill>
              </a:rPr>
              <a:t>Chat widget trained on Quality Acceptance payment options, insurance requirements, balance inquiries, and account procedures. Handles 60-70% of inbound call volume at any hour without touching servicing staff. Routes complex issues to the team with context already captured.</a:t>
            </a:r>
          </a:p>
        </p:txBody>
      </p:sp>
      <p:sp>
        <p:nvSpPr>
          <p:cNvPr id="15" name="Rectangle 14"/>
          <p:cNvSpPr/>
          <p:nvPr/>
        </p:nvSpPr>
        <p:spPr>
          <a:xfrm>
            <a:off x="5056632" y="1645920"/>
            <a:ext cx="214884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56632"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1810512"/>
            <a:ext cx="1929384" cy="594360"/>
          </a:xfrm>
          <a:prstGeom prst="rect">
            <a:avLst/>
          </a:prstGeom>
          <a:noFill/>
        </p:spPr>
        <p:txBody>
          <a:bodyPr wrap="square">
            <a:spAutoFit/>
          </a:bodyPr>
          <a:lstStyle/>
          <a:p>
            <a:pPr algn="l"/>
            <a:r>
              <a:rPr sz="1300" b="1" i="0">
                <a:solidFill>
                  <a:srgbClr val="2ECC71"/>
                </a:solidFill>
              </a:rPr>
              <a:t>Behavioral-Trigger
Payment Sequences</a:t>
            </a:r>
          </a:p>
        </p:txBody>
      </p:sp>
      <p:sp>
        <p:nvSpPr>
          <p:cNvPr id="18" name="TextBox 17"/>
          <p:cNvSpPr txBox="1"/>
          <p:nvPr/>
        </p:nvSpPr>
        <p:spPr>
          <a:xfrm>
            <a:off x="5166360" y="2423160"/>
            <a:ext cx="1929384" cy="3291840"/>
          </a:xfrm>
          <a:prstGeom prst="rect">
            <a:avLst/>
          </a:prstGeom>
          <a:noFill/>
        </p:spPr>
        <p:txBody>
          <a:bodyPr wrap="square">
            <a:spAutoFit/>
          </a:bodyPr>
          <a:lstStyle/>
          <a:p>
            <a:pPr algn="l"/>
            <a:r>
              <a:rPr sz="1100" b="0" i="0">
                <a:solidFill>
                  <a:srgbClr val="C8D4EE"/>
                </a:solidFill>
              </a:rPr>
              <a:t>Replace static reminder schedules with sequences that respond to consumer behavior: days since last payment, response to prior communications, payment method history. Early-stage delinquency reduction is measurable within the first 90 days.</a:t>
            </a:r>
          </a:p>
        </p:txBody>
      </p:sp>
      <p:sp>
        <p:nvSpPr>
          <p:cNvPr id="19" name="Rectangle 18"/>
          <p:cNvSpPr/>
          <p:nvPr/>
        </p:nvSpPr>
        <p:spPr>
          <a:xfrm>
            <a:off x="7333488" y="1645920"/>
            <a:ext cx="2148840" cy="54864"/>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33488"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43216" y="1810512"/>
            <a:ext cx="1929384" cy="594360"/>
          </a:xfrm>
          <a:prstGeom prst="rect">
            <a:avLst/>
          </a:prstGeom>
          <a:noFill/>
        </p:spPr>
        <p:txBody>
          <a:bodyPr wrap="square">
            <a:spAutoFit/>
          </a:bodyPr>
          <a:lstStyle/>
          <a:p>
            <a:pPr algn="l"/>
            <a:r>
              <a:rPr sz="1300" b="1" i="0">
                <a:solidFill>
                  <a:srgbClr val="FF4D4D"/>
                </a:solidFill>
              </a:rPr>
              <a:t>Insurance Lapse
Alert Automation</a:t>
            </a:r>
          </a:p>
        </p:txBody>
      </p:sp>
      <p:sp>
        <p:nvSpPr>
          <p:cNvPr id="22" name="TextBox 21"/>
          <p:cNvSpPr txBox="1"/>
          <p:nvPr/>
        </p:nvSpPr>
        <p:spPr>
          <a:xfrm>
            <a:off x="7443216" y="2423160"/>
            <a:ext cx="1929384" cy="3291840"/>
          </a:xfrm>
          <a:prstGeom prst="rect">
            <a:avLst/>
          </a:prstGeom>
          <a:noFill/>
        </p:spPr>
        <p:txBody>
          <a:bodyPr wrap="square">
            <a:spAutoFit/>
          </a:bodyPr>
          <a:lstStyle/>
          <a:p>
            <a:pPr algn="l"/>
            <a:r>
              <a:rPr sz="1100" b="0" i="0">
                <a:solidFill>
                  <a:srgbClr val="C8D4EE"/>
                </a:solidFill>
              </a:rPr>
              <a:t>Triggered immediately on lapse notification: consumer alert sequence, dealer notification if applicable, escalation at defined intervals before forced placement. Reduces both loss exposure and the manual cost of tracking lapse status across a large portfolio.</a:t>
            </a:r>
          </a:p>
        </p:txBody>
      </p:sp>
      <p:sp>
        <p:nvSpPr>
          <p:cNvPr id="23" name="Rectangle 22"/>
          <p:cNvSpPr/>
          <p:nvPr/>
        </p:nvSpPr>
        <p:spPr>
          <a:xfrm>
            <a:off x="9610344" y="1645920"/>
            <a:ext cx="2148840" cy="54864"/>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10344"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20072" y="1810512"/>
            <a:ext cx="1929384" cy="594360"/>
          </a:xfrm>
          <a:prstGeom prst="rect">
            <a:avLst/>
          </a:prstGeom>
          <a:noFill/>
        </p:spPr>
        <p:txBody>
          <a:bodyPr wrap="square">
            <a:spAutoFit/>
          </a:bodyPr>
          <a:lstStyle/>
          <a:p>
            <a:pPr algn="l"/>
            <a:r>
              <a:rPr sz="1300" b="1" i="0">
                <a:solidFill>
                  <a:srgbClr val="A055FF"/>
                </a:solidFill>
              </a:rPr>
              <a:t>Dealer Reactivation
Sequences</a:t>
            </a:r>
          </a:p>
        </p:txBody>
      </p:sp>
      <p:sp>
        <p:nvSpPr>
          <p:cNvPr id="26" name="TextBox 25"/>
          <p:cNvSpPr txBox="1"/>
          <p:nvPr/>
        </p:nvSpPr>
        <p:spPr>
          <a:xfrm>
            <a:off x="9720072" y="2423160"/>
            <a:ext cx="1929384" cy="3291840"/>
          </a:xfrm>
          <a:prstGeom prst="rect">
            <a:avLst/>
          </a:prstGeom>
          <a:noFill/>
        </p:spPr>
        <p:txBody>
          <a:bodyPr wrap="square">
            <a:spAutoFit/>
          </a:bodyPr>
          <a:lstStyle/>
          <a:p>
            <a:pPr algn="l"/>
            <a:r>
              <a:rPr sz="1100" b="0" i="0">
                <a:solidFill>
                  <a:srgbClr val="C8D4EE"/>
                </a:solidFill>
              </a:rPr>
              <a:t>Dealers who stop submitting deals at 30, 60, and 90 days receive automated outreach with content relevant to their prior submission history. Recovers a measurable percentage of dormant relationships without requiring a manual call for each one.</a:t>
            </a:r>
          </a:p>
        </p:txBody>
      </p:sp>
      <p:sp>
        <p:nvSpPr>
          <p:cNvPr id="27" name="Rectangle 26"/>
          <p:cNvSpPr/>
          <p:nvPr/>
        </p:nvSpPr>
        <p:spPr>
          <a:xfrm>
            <a:off x="502920" y="6126480"/>
            <a:ext cx="11183112" cy="4114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172200"/>
            <a:ext cx="10972800" cy="320040"/>
          </a:xfrm>
          <a:prstGeom prst="rect">
            <a:avLst/>
          </a:prstGeom>
          <a:noFill/>
        </p:spPr>
        <p:txBody>
          <a:bodyPr wrap="square">
            <a:spAutoFit/>
          </a:bodyPr>
          <a:lstStyle/>
          <a:p>
            <a:pPr algn="l"/>
            <a:r>
              <a:rPr sz="1100" b="0" i="1">
                <a:solidFill>
                  <a:srgbClr val="F5C518"/>
                </a:solidFill>
              </a:rPr>
              <a:t>"Technology is not failing; implementation is failing." — Ofer Alon, Auto Remarketing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WHAT THIS IS COSTING YOU</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The Operation Is Sophisticated. The Digital Layer Isn't.</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No dealer funnel = every new dealer relationship starts with a phone tag</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A dealer who finds Quality Acceptance after hours, fills out no form, gets no follow-up, and moves on to the next lender in their search results. The phone-only enrollment model means dealer acquisition is capped by when your team is available, not by how many dealers are looking.</a:t>
            </a:r>
          </a:p>
        </p:txBody>
      </p:sp>
      <p:sp>
        <p:nvSpPr>
          <p:cNvPr id="10" name="Rectangle 9"/>
          <p:cNvSpPr/>
          <p:nvPr/>
        </p:nvSpPr>
        <p:spPr>
          <a:xfrm>
            <a:off x="502920" y="251460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No consumer self-service = your servicing team fields questions AI could handle</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60-70% of consumer inbound calls are routine: what's my balance, when is my payment due, what are my payment options, why did my insurance get flagged. Those calls don't require a human. They require a system that answers reliably at 2am. Every one your team takes is cost that doesn't have to exist.</a:t>
            </a:r>
          </a:p>
        </p:txBody>
      </p:sp>
      <p:sp>
        <p:nvSpPr>
          <p:cNvPr id="13" name="Rectangle 12"/>
          <p:cNvSpPr/>
          <p:nvPr/>
        </p:nvSpPr>
        <p:spPr>
          <a:xfrm>
            <a:off x="502920" y="347472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Static payment reminders = higher early-stage delinquency than necessary</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The consumer who paid late twice and then recovered responds differently to reminders than the consumer who has never missed. Static schedules treat both the same. Behavioral-trigger sequences send the right message at the right moment based on actual account history, and the delinquency reduction shows up in the data.</a:t>
            </a:r>
          </a:p>
        </p:txBody>
      </p:sp>
      <p:sp>
        <p:nvSpPr>
          <p:cNvPr id="16" name="Rectangle 15"/>
          <p:cNvSpPr/>
          <p:nvPr/>
        </p:nvSpPr>
        <p:spPr>
          <a:xfrm>
            <a:off x="502920" y="443484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Manual insurance lapse tracking = exposure window between lapse and action</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At portfolio scale, manual monitoring of insurance lapse status has gaps. Every day between lapse and detection is risk. Automated alert sequences triggered at the moment of lapse notification close that window and create a documented escalation trail.</a:t>
            </a:r>
          </a:p>
        </p:txBody>
      </p:sp>
      <p:sp>
        <p:nvSpPr>
          <p:cNvPr id="19" name="Rectangle 18"/>
          <p:cNvSpPr/>
          <p:nvPr/>
        </p:nvSpPr>
        <p:spPr>
          <a:xfrm>
            <a:off x="502920" y="539496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No dealer reactivation = losing relationships that haven't actually ended</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A dealer who goes quiet at month 3 hasn't necessarily switched lenders. They may have had a bad experience with one deal, gotten busy, or simply not been contacted. An automated reactivation sequence at 30/60/90 days recovers the recoverable ones without requiring someone to manually review every dormant account.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 WE'D BUILD</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Genos AI for Quality Acceptance</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Dealer Acquisition Funnel + Automated Onboarding</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Online enrollment form on qualityacceptance.com with instant confirmation. Automated onboarding sequence: deal submission guide, program overview, first check-in at day 7, review request at day 30. Converts site visits into active dealer relationships without manual touchpoints for each prospect.</a:t>
            </a:r>
          </a:p>
        </p:txBody>
      </p:sp>
      <p:sp>
        <p:nvSpPr>
          <p:cNvPr id="10" name="Rectangle 9"/>
          <p:cNvSpPr/>
          <p:nvPr/>
        </p:nvSpPr>
        <p:spPr>
          <a:xfrm>
            <a:off x="502920" y="251460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Consumer AI Chat — 24/7 Self-Service</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Chat widget trained on Quality Acceptance products: payment options, insurance requirements, balance inquiries, account status, app download guidance. Handles 60-70% of inbound volume at any hour. Routes complex issues to the servicing team with full conversation context captured.</a:t>
            </a:r>
          </a:p>
        </p:txBody>
      </p:sp>
      <p:sp>
        <p:nvSpPr>
          <p:cNvPr id="13" name="Rectangle 12"/>
          <p:cNvSpPr/>
          <p:nvPr/>
        </p:nvSpPr>
        <p:spPr>
          <a:xfrm>
            <a:off x="502920" y="347472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Behavioral-Trigger Payment Reminder Sequences</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Replace static schedules with sequences built on account history. Consumer A (consistent payer, one late) receives different messaging than Consumer B (pattern of lates). Triggers respond to payment behavior in real time. Early-stage delinquency reduction is measurable within 90 days.</a:t>
            </a:r>
          </a:p>
        </p:txBody>
      </p:sp>
      <p:sp>
        <p:nvSpPr>
          <p:cNvPr id="16" name="Rectangle 15"/>
          <p:cNvSpPr/>
          <p:nvPr/>
        </p:nvSpPr>
        <p:spPr>
          <a:xfrm>
            <a:off x="502920" y="443484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Insurance Lapse Alert Automation + Escalation</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Triggered at the moment of lapse notification. Consumer sequence: immediate alert, payment options for reinstating coverage, escalation at day 3 and day 7. Internal escalation trail for compliance documentation. Closes the gap between lapse detection and action.</a:t>
            </a:r>
          </a:p>
        </p:txBody>
      </p:sp>
      <p:sp>
        <p:nvSpPr>
          <p:cNvPr id="19" name="Rectangle 18"/>
          <p:cNvSpPr/>
          <p:nvPr/>
        </p:nvSpPr>
        <p:spPr>
          <a:xfrm>
            <a:off x="502920" y="539496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Site Rebuild Reflecting Institutional Scale + Dealer Reactivation</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qualityacceptance.com rebuilt to reflect 25+ years, $1B+ funded, A+ BBB, IDB Bank backing. Dealer testimonials, case studies, funded volume data. Dealer reactivation sequences at 30/60/90 day dormancy marks, personalized by prior submission history and dealer type.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90-DAY OUTCOMES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What Changes in 90 Days</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356616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82496"/>
            <a:ext cx="3383280" cy="329184"/>
          </a:xfrm>
          <a:prstGeom prst="rect">
            <a:avLst/>
          </a:prstGeom>
          <a:noFill/>
        </p:spPr>
        <p:txBody>
          <a:bodyPr wrap="square">
            <a:spAutoFit/>
          </a:bodyPr>
          <a:lstStyle/>
          <a:p>
            <a:pPr algn="ctr"/>
            <a:r>
              <a:rPr sz="1400" b="1" i="0">
                <a:solidFill>
                  <a:srgbClr val="0A0F2E"/>
                </a:solidFill>
              </a:rPr>
              <a:t>MONTH 1</a:t>
            </a:r>
          </a:p>
        </p:txBody>
      </p:sp>
      <p:sp>
        <p:nvSpPr>
          <p:cNvPr id="9" name="Rectangle 8"/>
          <p:cNvSpPr/>
          <p:nvPr/>
        </p:nvSpPr>
        <p:spPr>
          <a:xfrm>
            <a:off x="502920"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148840"/>
            <a:ext cx="3291840" cy="4023360"/>
          </a:xfrm>
          <a:prstGeom prst="rect">
            <a:avLst/>
          </a:prstGeom>
          <a:noFill/>
        </p:spPr>
        <p:txBody>
          <a:bodyPr wrap="square">
            <a:spAutoFit/>
          </a:bodyPr>
          <a:lstStyle/>
          <a:p>
            <a:pPr algn="l">
              <a:spcAft>
                <a:spcPts val="600"/>
              </a:spcAft>
            </a:pPr>
            <a:r>
              <a:rPr sz="1000"/>
              <a:t>  </a:t>
            </a:r>
            <a:r>
              <a:rPr sz="1000" b="1">
                <a:solidFill>
                  <a:srgbClr val="F5C518"/>
                </a:solidFill>
              </a:rPr>
              <a:t>• </a:t>
            </a:r>
            <a:r>
              <a:rPr sz="1200">
                <a:solidFill>
                  <a:srgbClr val="C8D4EE"/>
                </a:solidFill>
              </a:rPr>
              <a:t>AI chat live on qualityacceptance.com - consumer self-service running 24/7</a:t>
            </a:r>
          </a:p>
          <a:p>
            <a:pPr algn="l">
              <a:spcAft>
                <a:spcPts val="600"/>
              </a:spcAft>
            </a:pPr>
            <a:r>
              <a:rPr sz="1000"/>
              <a:t>  </a:t>
            </a:r>
            <a:r>
              <a:rPr sz="1000" b="1">
                <a:solidFill>
                  <a:srgbClr val="F5C518"/>
                </a:solidFill>
              </a:rPr>
              <a:t>• </a:t>
            </a:r>
            <a:r>
              <a:rPr sz="1200">
                <a:solidFill>
                  <a:srgbClr val="C8D4EE"/>
                </a:solidFill>
              </a:rPr>
              <a:t>Dealer acquisition funnel active with online enrollment and automated onboarding</a:t>
            </a:r>
          </a:p>
          <a:p>
            <a:pPr algn="l">
              <a:spcAft>
                <a:spcPts val="600"/>
              </a:spcAft>
            </a:pPr>
            <a:r>
              <a:rPr sz="1000"/>
              <a:t>  </a:t>
            </a:r>
            <a:r>
              <a:rPr sz="1000" b="1">
                <a:solidFill>
                  <a:srgbClr val="F5C518"/>
                </a:solidFill>
              </a:rPr>
              <a:t>• </a:t>
            </a:r>
            <a:r>
              <a:rPr sz="1200">
                <a:solidFill>
                  <a:srgbClr val="C8D4EE"/>
                </a:solidFill>
              </a:rPr>
              <a:t>Insurance lapse alert automation deployed - gap between lapse and action closed</a:t>
            </a:r>
          </a:p>
          <a:p>
            <a:pPr algn="l"/>
            <a:r>
              <a:rPr sz="1000"/>
              <a:t>  </a:t>
            </a:r>
            <a:r>
              <a:rPr sz="1000" b="1">
                <a:solidFill>
                  <a:srgbClr val="F5C518"/>
                </a:solidFill>
              </a:rPr>
              <a:t>• </a:t>
            </a:r>
            <a:r>
              <a:rPr sz="1200">
                <a:solidFill>
                  <a:srgbClr val="C8D4EE"/>
                </a:solidFill>
              </a:rPr>
              <a:t>Behavioral-trigger payment sequence framework built and first segments running</a:t>
            </a:r>
          </a:p>
        </p:txBody>
      </p:sp>
      <p:sp>
        <p:nvSpPr>
          <p:cNvPr id="11" name="Rectangle 10"/>
          <p:cNvSpPr/>
          <p:nvPr/>
        </p:nvSpPr>
        <p:spPr>
          <a:xfrm>
            <a:off x="4233672" y="1645920"/>
            <a:ext cx="3566160" cy="38404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5112" y="1682496"/>
            <a:ext cx="3383280" cy="329184"/>
          </a:xfrm>
          <a:prstGeom prst="rect">
            <a:avLst/>
          </a:prstGeom>
          <a:noFill/>
        </p:spPr>
        <p:txBody>
          <a:bodyPr wrap="square">
            <a:spAutoFit/>
          </a:bodyPr>
          <a:lstStyle/>
          <a:p>
            <a:pPr algn="ctr"/>
            <a:r>
              <a:rPr sz="1400" b="1" i="0">
                <a:solidFill>
                  <a:srgbClr val="0A0F2E"/>
                </a:solidFill>
              </a:rPr>
              <a:t>MONTH 2</a:t>
            </a:r>
          </a:p>
        </p:txBody>
      </p:sp>
      <p:sp>
        <p:nvSpPr>
          <p:cNvPr id="13" name="Rectangle 12"/>
          <p:cNvSpPr/>
          <p:nvPr/>
        </p:nvSpPr>
        <p:spPr>
          <a:xfrm>
            <a:off x="4233672"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0832" y="2148840"/>
            <a:ext cx="3291840" cy="4023360"/>
          </a:xfrm>
          <a:prstGeom prst="rect">
            <a:avLst/>
          </a:prstGeom>
          <a:noFill/>
        </p:spPr>
        <p:txBody>
          <a:bodyPr wrap="square">
            <a:spAutoFit/>
          </a:bodyPr>
          <a:lstStyle/>
          <a:p>
            <a:pPr algn="l">
              <a:spcAft>
                <a:spcPts val="600"/>
              </a:spcAft>
            </a:pPr>
            <a:r>
              <a:rPr sz="1000"/>
              <a:t>  </a:t>
            </a:r>
            <a:r>
              <a:rPr sz="1000" b="1">
                <a:solidFill>
                  <a:srgbClr val="4F8EFF"/>
                </a:solidFill>
              </a:rPr>
              <a:t>• </a:t>
            </a:r>
            <a:r>
              <a:rPr sz="1200">
                <a:solidFill>
                  <a:srgbClr val="C8D4EE"/>
                </a:solidFill>
              </a:rPr>
              <a:t>Behavioral payment sequences fully deployed across consumer segments</a:t>
            </a:r>
          </a:p>
          <a:p>
            <a:pPr algn="l">
              <a:spcAft>
                <a:spcPts val="600"/>
              </a:spcAft>
            </a:pPr>
            <a:r>
              <a:rPr sz="1000"/>
              <a:t>  </a:t>
            </a:r>
            <a:r>
              <a:rPr sz="1000" b="1">
                <a:solidFill>
                  <a:srgbClr val="4F8EFF"/>
                </a:solidFill>
              </a:rPr>
              <a:t>• </a:t>
            </a:r>
            <a:r>
              <a:rPr sz="1200">
                <a:solidFill>
                  <a:srgbClr val="C8D4EE"/>
                </a:solidFill>
              </a:rPr>
              <a:t>Dealer reactivation sequences running for 30/60/90 day dormant accounts</a:t>
            </a:r>
          </a:p>
          <a:p>
            <a:pPr algn="l">
              <a:spcAft>
                <a:spcPts val="600"/>
              </a:spcAft>
            </a:pPr>
            <a:r>
              <a:rPr sz="1000"/>
              <a:t>  </a:t>
            </a:r>
            <a:r>
              <a:rPr sz="1000" b="1">
                <a:solidFill>
                  <a:srgbClr val="4F8EFF"/>
                </a:solidFill>
              </a:rPr>
              <a:t>• </a:t>
            </a:r>
            <a:r>
              <a:rPr sz="1200">
                <a:solidFill>
                  <a:srgbClr val="C8D4EE"/>
                </a:solidFill>
              </a:rPr>
              <a:t>Site rebuild underway with credibility signals, dealer testimonials, case studies</a:t>
            </a:r>
          </a:p>
          <a:p>
            <a:pPr algn="l"/>
            <a:r>
              <a:rPr sz="1000"/>
              <a:t>  </a:t>
            </a:r>
            <a:r>
              <a:rPr sz="1000" b="1">
                <a:solidFill>
                  <a:srgbClr val="4F8EFF"/>
                </a:solidFill>
              </a:rPr>
              <a:t>• </a:t>
            </a:r>
            <a:r>
              <a:rPr sz="1200">
                <a:solidFill>
                  <a:srgbClr val="C8D4EE"/>
                </a:solidFill>
              </a:rPr>
              <a:t>First AI chat deflection data: call volume reduction measurable</a:t>
            </a:r>
          </a:p>
        </p:txBody>
      </p:sp>
      <p:sp>
        <p:nvSpPr>
          <p:cNvPr id="15" name="Rectangle 14"/>
          <p:cNvSpPr/>
          <p:nvPr/>
        </p:nvSpPr>
        <p:spPr>
          <a:xfrm>
            <a:off x="7964424" y="1645920"/>
            <a:ext cx="356616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1682496"/>
            <a:ext cx="3383280" cy="329184"/>
          </a:xfrm>
          <a:prstGeom prst="rect">
            <a:avLst/>
          </a:prstGeom>
          <a:noFill/>
        </p:spPr>
        <p:txBody>
          <a:bodyPr wrap="square">
            <a:spAutoFit/>
          </a:bodyPr>
          <a:lstStyle/>
          <a:p>
            <a:pPr algn="ctr"/>
            <a:r>
              <a:rPr sz="1400" b="1" i="0">
                <a:solidFill>
                  <a:srgbClr val="0A0F2E"/>
                </a:solidFill>
              </a:rPr>
              <a:t>MONTH 3</a:t>
            </a:r>
          </a:p>
        </p:txBody>
      </p:sp>
      <p:sp>
        <p:nvSpPr>
          <p:cNvPr id="17" name="Rectangle 16"/>
          <p:cNvSpPr/>
          <p:nvPr/>
        </p:nvSpPr>
        <p:spPr>
          <a:xfrm>
            <a:off x="7964424"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01584" y="2148840"/>
            <a:ext cx="3291840" cy="4023360"/>
          </a:xfrm>
          <a:prstGeom prst="rect">
            <a:avLst/>
          </a:prstGeom>
          <a:noFill/>
        </p:spPr>
        <p:txBody>
          <a:bodyPr wrap="square">
            <a:spAutoFit/>
          </a:bodyPr>
          <a:lstStyle/>
          <a:p>
            <a:pPr algn="l">
              <a:spcAft>
                <a:spcPts val="600"/>
              </a:spcAft>
            </a:pPr>
            <a:r>
              <a:rPr sz="1000"/>
              <a:t>  </a:t>
            </a:r>
            <a:r>
              <a:rPr sz="1000" b="1">
                <a:solidFill>
                  <a:srgbClr val="2ECC71"/>
                </a:solidFill>
              </a:rPr>
              <a:t>• </a:t>
            </a:r>
            <a:r>
              <a:rPr sz="1200">
                <a:solidFill>
                  <a:srgbClr val="C8D4EE"/>
                </a:solidFill>
              </a:rPr>
              <a:t>Site live with institutional credibility: $1B+ funded, A+ BBB, dealer testimonials</a:t>
            </a:r>
          </a:p>
          <a:p>
            <a:pPr algn="l">
              <a:spcAft>
                <a:spcPts val="600"/>
              </a:spcAft>
            </a:pPr>
            <a:r>
              <a:rPr sz="1000"/>
              <a:t>  </a:t>
            </a:r>
            <a:r>
              <a:rPr sz="1000" b="1">
                <a:solidFill>
                  <a:srgbClr val="2ECC71"/>
                </a:solidFill>
              </a:rPr>
              <a:t>• </a:t>
            </a:r>
            <a:r>
              <a:rPr sz="1200">
                <a:solidFill>
                  <a:srgbClr val="C8D4EE"/>
                </a:solidFill>
              </a:rPr>
              <a:t>Early-stage delinquency change vs. prior static schedule measurable</a:t>
            </a:r>
          </a:p>
          <a:p>
            <a:pPr algn="l">
              <a:spcAft>
                <a:spcPts val="600"/>
              </a:spcAft>
            </a:pPr>
            <a:r>
              <a:rPr sz="1000"/>
              <a:t>  </a:t>
            </a:r>
            <a:r>
              <a:rPr sz="1000" b="1">
                <a:solidFill>
                  <a:srgbClr val="2ECC71"/>
                </a:solidFill>
              </a:rPr>
              <a:t>• </a:t>
            </a:r>
            <a:r>
              <a:rPr sz="1200">
                <a:solidFill>
                  <a:srgbClr val="C8D4EE"/>
                </a:solidFill>
              </a:rPr>
              <a:t>Dealer reactivation sequences recovering dormant relationships</a:t>
            </a:r>
          </a:p>
          <a:p>
            <a:pPr algn="l"/>
            <a:r>
              <a:rPr sz="1000"/>
              <a:t>  </a:t>
            </a:r>
            <a:r>
              <a:rPr sz="1000" b="1">
                <a:solidFill>
                  <a:srgbClr val="2ECC71"/>
                </a:solidFill>
              </a:rPr>
              <a:t>• </a:t>
            </a:r>
            <a:r>
              <a:rPr sz="1200">
                <a:solidFill>
                  <a:srgbClr val="C8D4EE"/>
                </a:solidFill>
              </a:rPr>
              <a:t>Full implementation gap closed - automation layer live across both audiences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0" y="0"/>
            <a:ext cx="5330952" cy="6858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5943600" cy="457200"/>
          </a:xfrm>
          <a:prstGeom prst="rect">
            <a:avLst/>
          </a:prstGeom>
          <a:noFill/>
        </p:spPr>
        <p:txBody>
          <a:bodyPr wrap="square">
            <a:spAutoFit/>
          </a:bodyPr>
          <a:lstStyle/>
          <a:p>
            <a:pPr algn="l"/>
            <a:r>
              <a:rPr sz="1100" b="1" i="0">
                <a:solidFill>
                  <a:srgbClr val="F5C518"/>
                </a:solidFill>
              </a:rPr>
              <a:t>NEXT STEPS</a:t>
            </a:r>
          </a:p>
        </p:txBody>
      </p:sp>
      <p:sp>
        <p:nvSpPr>
          <p:cNvPr id="6" name="TextBox 5"/>
          <p:cNvSpPr txBox="1"/>
          <p:nvPr/>
        </p:nvSpPr>
        <p:spPr>
          <a:xfrm>
            <a:off x="502920" y="731520"/>
            <a:ext cx="6217920" cy="1828800"/>
          </a:xfrm>
          <a:prstGeom prst="rect">
            <a:avLst/>
          </a:prstGeom>
          <a:noFill/>
        </p:spPr>
        <p:txBody>
          <a:bodyPr wrap="square">
            <a:spAutoFit/>
          </a:bodyPr>
          <a:lstStyle/>
          <a:p>
            <a:pPr algn="l"/>
            <a:r>
              <a:rPr sz="4800" b="1" i="0">
                <a:solidFill>
                  <a:srgbClr val="FFFFFF"/>
                </a:solidFill>
              </a:rPr>
              <a:t>Let's Talk for
15 Minutes.</a:t>
            </a:r>
          </a:p>
        </p:txBody>
      </p:sp>
      <p:sp>
        <p:nvSpPr>
          <p:cNvPr id="7" name="Rectangle 6"/>
          <p:cNvSpPr/>
          <p:nvPr/>
        </p:nvSpPr>
        <p:spPr>
          <a:xfrm>
            <a:off x="502920" y="2560320"/>
            <a:ext cx="228600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788920"/>
            <a:ext cx="5943600" cy="731520"/>
          </a:xfrm>
          <a:prstGeom prst="rect">
            <a:avLst/>
          </a:prstGeom>
          <a:noFill/>
        </p:spPr>
        <p:txBody>
          <a:bodyPr wrap="square">
            <a:spAutoFit/>
          </a:bodyPr>
          <a:lstStyle/>
          <a:p>
            <a:pPr algn="l"/>
            <a:r>
              <a:rPr sz="1400" b="0" i="0">
                <a:solidFill>
                  <a:srgbClr val="C8D4EE"/>
                </a:solidFill>
              </a:rPr>
              <a:t>No pitch deck required. Reply or book a call directly.
We'll walk through what fits Quality Acceptance and Nexa.</a:t>
            </a:r>
          </a:p>
        </p:txBody>
      </p:sp>
      <p:sp>
        <p:nvSpPr>
          <p:cNvPr id="9" name="TextBox 8"/>
          <p:cNvSpPr txBox="1"/>
          <p:nvPr/>
        </p:nvSpPr>
        <p:spPr>
          <a:xfrm>
            <a:off x="502920" y="3611880"/>
            <a:ext cx="5943600" cy="1828800"/>
          </a:xfrm>
          <a:prstGeom prst="rect">
            <a:avLst/>
          </a:prstGeom>
          <a:noFill/>
        </p:spPr>
        <p:txBody>
          <a:bodyPr wrap="square">
            <a:spAutoFit/>
          </a:bodyPr>
          <a:lstStyle/>
          <a:p>
            <a:pPr algn="l">
              <a:spcAft>
                <a:spcPts val="600"/>
              </a:spcAft>
            </a:pPr>
            <a:r>
              <a:rPr sz="1200"/>
              <a:t>  </a:t>
            </a:r>
            <a:r>
              <a:rPr sz="1200" b="1">
                <a:solidFill>
                  <a:srgbClr val="F5C518"/>
                </a:solidFill>
              </a:rPr>
              <a:t>• </a:t>
            </a:r>
            <a:r>
              <a:rPr sz="1400">
                <a:solidFill>
                  <a:srgbClr val="FFFFFF"/>
                </a:solidFill>
              </a:rPr>
              <a:t>Reply to this email - we'll set up a time</a:t>
            </a:r>
          </a:p>
          <a:p>
            <a:pPr algn="l">
              <a:spcAft>
                <a:spcPts val="600"/>
              </a:spcAft>
            </a:pPr>
            <a:r>
              <a:rPr sz="1200"/>
              <a:t>  </a:t>
            </a:r>
            <a:r>
              <a:rPr sz="1200" b="1">
                <a:solidFill>
                  <a:srgbClr val="F5C518"/>
                </a:solidFill>
              </a:rPr>
              <a:t>• </a:t>
            </a:r>
            <a:r>
              <a:rPr sz="1400">
                <a:solidFill>
                  <a:srgbClr val="FFFFFF"/>
                </a:solidFill>
              </a:rPr>
              <a:t>Book directly: www.genosai.tech/call</a:t>
            </a:r>
          </a:p>
          <a:p>
            <a:pPr algn="l">
              <a:spcAft>
                <a:spcPts val="600"/>
              </a:spcAft>
            </a:pPr>
            <a:r>
              <a:rPr sz="1200"/>
              <a:t>  </a:t>
            </a:r>
            <a:r>
              <a:rPr sz="1200" b="1">
                <a:solidFill>
                  <a:srgbClr val="F5C518"/>
                </a:solidFill>
              </a:rPr>
              <a:t>• </a:t>
            </a:r>
            <a:r>
              <a:rPr sz="1400">
                <a:solidFill>
                  <a:srgbClr val="FFFFFF"/>
                </a:solidFill>
              </a:rPr>
              <a:t>Walk through the audit findings in 15 minutes</a:t>
            </a:r>
          </a:p>
          <a:p>
            <a:pPr algn="l"/>
            <a:r>
              <a:rPr sz="1200"/>
              <a:t>  </a:t>
            </a:r>
            <a:r>
              <a:rPr sz="1200" b="1">
                <a:solidFill>
                  <a:srgbClr val="F5C518"/>
                </a:solidFill>
              </a:rPr>
              <a:t>• </a:t>
            </a:r>
            <a:r>
              <a:rPr sz="1400">
                <a:solidFill>
                  <a:srgbClr val="FFFFFF"/>
                </a:solidFill>
              </a:rPr>
              <a:t>You decide what, if anything, makes sense to move on</a:t>
            </a:r>
          </a:p>
        </p:txBody>
      </p:sp>
      <p:sp>
        <p:nvSpPr>
          <p:cNvPr id="10" name="Rectangle 9"/>
          <p:cNvSpPr/>
          <p:nvPr/>
        </p:nvSpPr>
        <p:spPr>
          <a:xfrm>
            <a:off x="0" y="5943600"/>
            <a:ext cx="685800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035040"/>
            <a:ext cx="6217920" cy="457200"/>
          </a:xfrm>
          <a:prstGeom prst="rect">
            <a:avLst/>
          </a:prstGeom>
          <a:noFill/>
        </p:spPr>
        <p:txBody>
          <a:bodyPr wrap="square">
            <a:spAutoFit/>
          </a:bodyPr>
          <a:lstStyle/>
          <a:p>
            <a:pPr algn="l"/>
            <a:r>
              <a:rPr sz="1200" b="0" i="0">
                <a:solidFill>
                  <a:srgbClr val="8A9BBB"/>
                </a:solidFill>
              </a:rPr>
              <a:t>Rohan Malik  |  CEO, Genos AI  |  hello@genosai.tech  |  +91 638-714-2699  |  www.genosai.tech</a:t>
            </a:r>
          </a:p>
        </p:txBody>
      </p:sp>
      <p:sp>
        <p:nvSpPr>
          <p:cNvPr id="12" name="TextBox 11"/>
          <p:cNvSpPr txBox="1"/>
          <p:nvPr/>
        </p:nvSpPr>
        <p:spPr>
          <a:xfrm>
            <a:off x="7178040" y="548640"/>
            <a:ext cx="4572000" cy="822960"/>
          </a:xfrm>
          <a:prstGeom prst="rect">
            <a:avLst/>
          </a:prstGeom>
          <a:noFill/>
        </p:spPr>
        <p:txBody>
          <a:bodyPr wrap="square">
            <a:spAutoFit/>
          </a:bodyPr>
          <a:lstStyle/>
          <a:p>
            <a:pPr algn="l"/>
            <a:r>
              <a:rPr sz="1800" b="1" i="0">
                <a:solidFill>
                  <a:srgbClr val="F5C518"/>
                </a:solidFill>
              </a:rPr>
              <a:t>WHAT WE BUILD FOR
QUALITY ACCEPTANCE</a:t>
            </a:r>
          </a:p>
        </p:txBody>
      </p:sp>
      <p:sp>
        <p:nvSpPr>
          <p:cNvPr id="13" name="Rectangle 12"/>
          <p:cNvSpPr/>
          <p:nvPr/>
        </p:nvSpPr>
        <p:spPr>
          <a:xfrm>
            <a:off x="502920" y="1325880"/>
            <a:ext cx="109728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78040" y="146304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1508760"/>
            <a:ext cx="1280160" cy="292608"/>
          </a:xfrm>
          <a:prstGeom prst="rect">
            <a:avLst/>
          </a:prstGeom>
          <a:noFill/>
        </p:spPr>
        <p:txBody>
          <a:bodyPr wrap="square">
            <a:spAutoFit/>
          </a:bodyPr>
          <a:lstStyle/>
          <a:p>
            <a:pPr algn="l"/>
            <a:r>
              <a:rPr sz="1000" b="1" i="0">
                <a:solidFill>
                  <a:srgbClr val="F5C518"/>
                </a:solidFill>
              </a:rPr>
              <a:t>Dealer Funnel</a:t>
            </a:r>
          </a:p>
        </p:txBody>
      </p:sp>
      <p:sp>
        <p:nvSpPr>
          <p:cNvPr id="16" name="TextBox 15"/>
          <p:cNvSpPr txBox="1"/>
          <p:nvPr/>
        </p:nvSpPr>
        <p:spPr>
          <a:xfrm>
            <a:off x="8686800" y="1508760"/>
            <a:ext cx="3291840" cy="594360"/>
          </a:xfrm>
          <a:prstGeom prst="rect">
            <a:avLst/>
          </a:prstGeom>
          <a:noFill/>
        </p:spPr>
        <p:txBody>
          <a:bodyPr wrap="square">
            <a:spAutoFit/>
          </a:bodyPr>
          <a:lstStyle/>
          <a:p>
            <a:pPr algn="l"/>
            <a:r>
              <a:rPr sz="1100" b="0" i="0">
                <a:solidFill>
                  <a:srgbClr val="C8D4EE"/>
                </a:solidFill>
              </a:rPr>
              <a:t>Online enrollment + automated onboarding sequences</a:t>
            </a:r>
          </a:p>
        </p:txBody>
      </p:sp>
      <p:sp>
        <p:nvSpPr>
          <p:cNvPr id="17" name="Rectangle 16"/>
          <p:cNvSpPr/>
          <p:nvPr/>
        </p:nvSpPr>
        <p:spPr>
          <a:xfrm>
            <a:off x="7178040" y="2267712"/>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0" y="2313432"/>
            <a:ext cx="1280160" cy="292608"/>
          </a:xfrm>
          <a:prstGeom prst="rect">
            <a:avLst/>
          </a:prstGeom>
          <a:noFill/>
        </p:spPr>
        <p:txBody>
          <a:bodyPr wrap="square">
            <a:spAutoFit/>
          </a:bodyPr>
          <a:lstStyle/>
          <a:p>
            <a:pPr algn="l"/>
            <a:r>
              <a:rPr sz="1000" b="1" i="0">
                <a:solidFill>
                  <a:srgbClr val="F5C518"/>
                </a:solidFill>
              </a:rPr>
              <a:t>AI Chat</a:t>
            </a:r>
          </a:p>
        </p:txBody>
      </p:sp>
      <p:sp>
        <p:nvSpPr>
          <p:cNvPr id="19" name="TextBox 18"/>
          <p:cNvSpPr txBox="1"/>
          <p:nvPr/>
        </p:nvSpPr>
        <p:spPr>
          <a:xfrm>
            <a:off x="8686800" y="2313432"/>
            <a:ext cx="3291840" cy="594360"/>
          </a:xfrm>
          <a:prstGeom prst="rect">
            <a:avLst/>
          </a:prstGeom>
          <a:noFill/>
        </p:spPr>
        <p:txBody>
          <a:bodyPr wrap="square">
            <a:spAutoFit/>
          </a:bodyPr>
          <a:lstStyle/>
          <a:p>
            <a:pPr algn="l"/>
            <a:r>
              <a:rPr sz="1100" b="0" i="0">
                <a:solidFill>
                  <a:srgbClr val="C8D4EE"/>
                </a:solidFill>
              </a:rPr>
              <a:t>24/7 consumer self-service - 60-70% call deflection</a:t>
            </a:r>
          </a:p>
        </p:txBody>
      </p:sp>
      <p:sp>
        <p:nvSpPr>
          <p:cNvPr id="20" name="Rectangle 19"/>
          <p:cNvSpPr/>
          <p:nvPr/>
        </p:nvSpPr>
        <p:spPr>
          <a:xfrm>
            <a:off x="7178040" y="3072384"/>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3118104"/>
            <a:ext cx="1280160" cy="292608"/>
          </a:xfrm>
          <a:prstGeom prst="rect">
            <a:avLst/>
          </a:prstGeom>
          <a:noFill/>
        </p:spPr>
        <p:txBody>
          <a:bodyPr wrap="square">
            <a:spAutoFit/>
          </a:bodyPr>
          <a:lstStyle/>
          <a:p>
            <a:pPr algn="l"/>
            <a:r>
              <a:rPr sz="1000" b="1" i="0">
                <a:solidFill>
                  <a:srgbClr val="F5C518"/>
                </a:solidFill>
              </a:rPr>
              <a:t>Payment</a:t>
            </a:r>
          </a:p>
        </p:txBody>
      </p:sp>
      <p:sp>
        <p:nvSpPr>
          <p:cNvPr id="22" name="TextBox 21"/>
          <p:cNvSpPr txBox="1"/>
          <p:nvPr/>
        </p:nvSpPr>
        <p:spPr>
          <a:xfrm>
            <a:off x="8686800" y="3118104"/>
            <a:ext cx="3291840" cy="594360"/>
          </a:xfrm>
          <a:prstGeom prst="rect">
            <a:avLst/>
          </a:prstGeom>
          <a:noFill/>
        </p:spPr>
        <p:txBody>
          <a:bodyPr wrap="square">
            <a:spAutoFit/>
          </a:bodyPr>
          <a:lstStyle/>
          <a:p>
            <a:pPr algn="l"/>
            <a:r>
              <a:rPr sz="1100" b="0" i="0">
                <a:solidFill>
                  <a:srgbClr val="C8D4EE"/>
                </a:solidFill>
              </a:rPr>
              <a:t>Behavioral-trigger sequences replacing static schedules</a:t>
            </a:r>
          </a:p>
        </p:txBody>
      </p:sp>
      <p:sp>
        <p:nvSpPr>
          <p:cNvPr id="23" name="Rectangle 22"/>
          <p:cNvSpPr/>
          <p:nvPr/>
        </p:nvSpPr>
        <p:spPr>
          <a:xfrm>
            <a:off x="7178040" y="3877056"/>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3922776"/>
            <a:ext cx="1280160" cy="292608"/>
          </a:xfrm>
          <a:prstGeom prst="rect">
            <a:avLst/>
          </a:prstGeom>
          <a:noFill/>
        </p:spPr>
        <p:txBody>
          <a:bodyPr wrap="square">
            <a:spAutoFit/>
          </a:bodyPr>
          <a:lstStyle/>
          <a:p>
            <a:pPr algn="l"/>
            <a:r>
              <a:rPr sz="1000" b="1" i="0">
                <a:solidFill>
                  <a:srgbClr val="F5C518"/>
                </a:solidFill>
              </a:rPr>
              <a:t>Insurance</a:t>
            </a:r>
          </a:p>
        </p:txBody>
      </p:sp>
      <p:sp>
        <p:nvSpPr>
          <p:cNvPr id="25" name="TextBox 24"/>
          <p:cNvSpPr txBox="1"/>
          <p:nvPr/>
        </p:nvSpPr>
        <p:spPr>
          <a:xfrm>
            <a:off x="8686800" y="3922776"/>
            <a:ext cx="3291840" cy="594360"/>
          </a:xfrm>
          <a:prstGeom prst="rect">
            <a:avLst/>
          </a:prstGeom>
          <a:noFill/>
        </p:spPr>
        <p:txBody>
          <a:bodyPr wrap="square">
            <a:spAutoFit/>
          </a:bodyPr>
          <a:lstStyle/>
          <a:p>
            <a:pPr algn="l"/>
            <a:r>
              <a:rPr sz="1100" b="0" i="0">
                <a:solidFill>
                  <a:srgbClr val="C8D4EE"/>
                </a:solidFill>
              </a:rPr>
              <a:t>Lapse alert automation - closes the detection-action gap</a:t>
            </a:r>
          </a:p>
        </p:txBody>
      </p:sp>
      <p:sp>
        <p:nvSpPr>
          <p:cNvPr id="26" name="Rectangle 25"/>
          <p:cNvSpPr/>
          <p:nvPr/>
        </p:nvSpPr>
        <p:spPr>
          <a:xfrm>
            <a:off x="7178040" y="4681728"/>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0" y="4727448"/>
            <a:ext cx="1280160" cy="292608"/>
          </a:xfrm>
          <a:prstGeom prst="rect">
            <a:avLst/>
          </a:prstGeom>
          <a:noFill/>
        </p:spPr>
        <p:txBody>
          <a:bodyPr wrap="square">
            <a:spAutoFit/>
          </a:bodyPr>
          <a:lstStyle/>
          <a:p>
            <a:pPr algn="l"/>
            <a:r>
              <a:rPr sz="1000" b="1" i="0">
                <a:solidFill>
                  <a:srgbClr val="F5C518"/>
                </a:solidFill>
              </a:rPr>
              <a:t>Reactivation</a:t>
            </a:r>
          </a:p>
        </p:txBody>
      </p:sp>
      <p:sp>
        <p:nvSpPr>
          <p:cNvPr id="28" name="TextBox 27"/>
          <p:cNvSpPr txBox="1"/>
          <p:nvPr/>
        </p:nvSpPr>
        <p:spPr>
          <a:xfrm>
            <a:off x="8686800" y="4727448"/>
            <a:ext cx="3291840" cy="594360"/>
          </a:xfrm>
          <a:prstGeom prst="rect">
            <a:avLst/>
          </a:prstGeom>
          <a:noFill/>
        </p:spPr>
        <p:txBody>
          <a:bodyPr wrap="square">
            <a:spAutoFit/>
          </a:bodyPr>
          <a:lstStyle/>
          <a:p>
            <a:pPr algn="l"/>
            <a:r>
              <a:rPr sz="1100" b="0" i="0">
                <a:solidFill>
                  <a:srgbClr val="C8D4EE"/>
                </a:solidFill>
              </a:rPr>
              <a:t>30/60/90 day sequences for dormant dealer relationships</a:t>
            </a:r>
          </a:p>
        </p:txBody>
      </p:sp>
      <p:sp>
        <p:nvSpPr>
          <p:cNvPr id="29" name="Rectangle 28"/>
          <p:cNvSpPr/>
          <p:nvPr/>
        </p:nvSpPr>
        <p:spPr>
          <a:xfrm>
            <a:off x="7178040" y="548640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0" y="5532120"/>
            <a:ext cx="1280160" cy="292608"/>
          </a:xfrm>
          <a:prstGeom prst="rect">
            <a:avLst/>
          </a:prstGeom>
          <a:noFill/>
        </p:spPr>
        <p:txBody>
          <a:bodyPr wrap="square">
            <a:spAutoFit/>
          </a:bodyPr>
          <a:lstStyle/>
          <a:p>
            <a:pPr algn="l"/>
            <a:r>
              <a:rPr sz="1000" b="1" i="0">
                <a:solidFill>
                  <a:srgbClr val="F5C518"/>
                </a:solidFill>
              </a:rPr>
              <a:t>Site Rebuild</a:t>
            </a:r>
          </a:p>
        </p:txBody>
      </p:sp>
      <p:sp>
        <p:nvSpPr>
          <p:cNvPr id="31" name="TextBox 30"/>
          <p:cNvSpPr txBox="1"/>
          <p:nvPr/>
        </p:nvSpPr>
        <p:spPr>
          <a:xfrm>
            <a:off x="8686800" y="5532120"/>
            <a:ext cx="3291840" cy="594360"/>
          </a:xfrm>
          <a:prstGeom prst="rect">
            <a:avLst/>
          </a:prstGeom>
          <a:noFill/>
        </p:spPr>
        <p:txBody>
          <a:bodyPr wrap="square">
            <a:spAutoFit/>
          </a:bodyPr>
          <a:lstStyle/>
          <a:p>
            <a:pPr algn="l"/>
            <a:r>
              <a:rPr sz="1100" b="0" i="0">
                <a:solidFill>
                  <a:srgbClr val="C8D4EE"/>
                </a:solidFill>
              </a:rPr>
              <a:t>Reflects $1B+ funded, 25 years, A+ BBB, IDB backing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