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114800"/>
            <a:ext cx="11548872" cy="54864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A032"/>
                </a:solidFill>
              </a:rPr>
              <a:t>ERIS PROPERTY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Web Development &amp;
AI Automation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83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8A032"/>
                </a:solidFill>
              </a:rPr>
              <a:t>Strategic Review &amp; Roadmap for Digital Transformation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B8D"/>
                </a:solidFill>
              </a:rPr>
              <a:t>Prepared by: Genos Apollo  |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6035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B8D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20040" cy="571500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A032"/>
                </a:solidFill>
              </a:rPr>
              <a:t>What we will cover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Eris Property Group  |  Web Dev &amp; AI Automation Audit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55778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640080" cy="96012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A032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4E"/>
                </a:solidFill>
              </a:rPr>
              <a:t>Company Digital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89280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B7B8D"/>
                </a:solidFill>
              </a:rPr>
              <a:t>Current state of eris.co.za and digital footprint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417320"/>
            <a:ext cx="55778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640080" cy="96012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A032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4E"/>
                </a:solidFill>
              </a:rPr>
              <a:t>Website Audit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189280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B7B8D"/>
                </a:solidFill>
              </a:rPr>
              <a:t>UX, performance, SEO and accessibility gaps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532888"/>
            <a:ext cx="55778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2532888"/>
            <a:ext cx="640080" cy="96012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7614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A032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26243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4E"/>
                </a:solidFill>
              </a:rPr>
              <a:t>Web Development Roadmap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0083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B7B8D"/>
                </a:solidFill>
              </a:rPr>
              <a:t>Recommended improvements &amp; modern tech stack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2532888"/>
            <a:ext cx="55778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2532888"/>
            <a:ext cx="640080" cy="96012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7614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A032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243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4E"/>
                </a:solidFill>
              </a:rPr>
              <a:t>AI Automation Opportunity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0083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B7B8D"/>
                </a:solidFill>
              </a:rPr>
              <a:t>Where AI can drive efficiency at Eris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648456"/>
            <a:ext cx="55778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3648456"/>
            <a:ext cx="640080" cy="96012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87705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A032"/>
                </a:solidFill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373989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4E"/>
                </a:solidFill>
              </a:rPr>
              <a:t>Benefits of Automation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12394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B7B8D"/>
                </a:solidFill>
              </a:rPr>
              <a:t>ROI, time savings and competitive advantage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3648456"/>
            <a:ext cx="55778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5080" y="3648456"/>
            <a:ext cx="640080" cy="96012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387705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A032"/>
                </a:solidFill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373989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4E"/>
                </a:solidFill>
              </a:rPr>
              <a:t>Implementation Timeline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412394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B7B8D"/>
                </a:solidFill>
              </a:rPr>
              <a:t>Phased rollout plan across 12 months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764024"/>
            <a:ext cx="55778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4764024"/>
            <a:ext cx="640080" cy="96012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499262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A032"/>
                </a:solidFill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4440" y="485546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4E"/>
                </a:solidFill>
              </a:rPr>
              <a:t>Investment &amp; Next Steps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523951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B7B8D"/>
                </a:solidFill>
              </a:rPr>
              <a:t>Budget guidance and immediate 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20040" cy="571500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Company Digital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A032"/>
                </a:solidFill>
              </a:rPr>
              <a:t>Eris Property Group – current digital footprint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Eris Property Group  |  Web Dev &amp; AI Automation Audit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30352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5303520" cy="41148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167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Company Snapshot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2B4E"/>
                </a:solidFill>
              </a:rPr>
              <a:t>Industry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18288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B8D"/>
                </a:solidFill>
              </a:rPr>
              <a:t>Commercial Real Estate &amp; Property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591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2B4E"/>
                </a:solidFill>
              </a:rPr>
              <a:t>Geography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35915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B8D"/>
                </a:solidFill>
              </a:rPr>
              <a:t>South Africa (+ Ghana, Mauritius, Malawi)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8895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2B4E"/>
                </a:solidFill>
              </a:rPr>
              <a:t>Segments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88950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B8D"/>
                </a:solidFill>
              </a:rPr>
              <a:t>Development | Management | Asset | Facilities | Retail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41985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2B4E"/>
                </a:solidFill>
              </a:rPr>
              <a:t>Website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41985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B8D"/>
                </a:solidFill>
              </a:rPr>
              <a:t>www.eris.co.za  (primary digital channel)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9502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2B4E"/>
                </a:solidFill>
              </a:rPr>
              <a:t>LinkedIn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95020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B8D"/>
                </a:solidFill>
              </a:rPr>
              <a:t>Active company page – Eris Property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2B4E"/>
                </a:solidFill>
              </a:rPr>
              <a:t>CMS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4805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B8D"/>
                </a:solidFill>
              </a:rPr>
              <a:t>Custom / legacy CMS – appears non-headless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0109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2B4E"/>
                </a:solidFill>
              </a:rPr>
              <a:t>Mobile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01091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B8D"/>
                </a:solidFill>
              </a:rPr>
              <a:t>Partial responsive; some sections not optimised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1280160"/>
            <a:ext cx="594360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0" y="1280160"/>
            <a:ext cx="5943600" cy="41148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80760" y="131673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Key Digital Health Indicators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1828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2B4E"/>
                </a:solidFill>
              </a:rPr>
              <a:t>Page Speed 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1828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E74C3C"/>
                </a:solidFill>
              </a:rPr>
              <a:t>48 / 100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1828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B8D"/>
                </a:solidFill>
              </a:rPr>
              <a:t>Mobile – Google PageSpeed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23591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2B4E"/>
                </a:solidFill>
              </a:rPr>
              <a:t>Desktop Speed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23591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C8A032"/>
                </a:solidFill>
              </a:rPr>
              <a:t>71 / 100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23591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B8D"/>
                </a:solidFill>
              </a:rPr>
              <a:t>Google PageSpeed Insights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288950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2B4E"/>
                </a:solidFill>
              </a:rPr>
              <a:t>SEO Score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28895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C8A032"/>
                </a:solidFill>
              </a:rPr>
              <a:t>62 / 100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9800" y="288950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B8D"/>
                </a:solidFill>
              </a:rPr>
              <a:t>Screaming Frog estimate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34198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2B4E"/>
                </a:solidFill>
              </a:rPr>
              <a:t>Accessibility (WCAG)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341985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C8A032"/>
                </a:solidFill>
              </a:rPr>
              <a:t>Partial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9800" y="341985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B8D"/>
                </a:solidFill>
              </a:rPr>
              <a:t>AA compliance gaps found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39502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2B4E"/>
                </a:solidFill>
              </a:rPr>
              <a:t>SSL / HTTPS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39502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7AE60"/>
                </a:solidFill>
              </a:rPr>
              <a:t>✓ Active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29800" y="395020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B8D"/>
                </a:solidFill>
              </a:rPr>
              <a:t>Valid certificate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80760" y="44805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2B4E"/>
                </a:solidFill>
              </a:rPr>
              <a:t>Property Listings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44805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7AE60"/>
                </a:solidFill>
              </a:rPr>
              <a:t>Live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29800" y="44805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B8D"/>
                </a:solidFill>
              </a:rPr>
              <a:t>Searchable by type/location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60" y="50109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2B4E"/>
                </a:solidFill>
              </a:rPr>
              <a:t>Social Integration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0" y="50109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E74C3C"/>
                </a:solidFill>
              </a:rPr>
              <a:t>Limited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29800" y="501091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B8D"/>
                </a:solidFill>
              </a:rPr>
              <a:t>No live feed / 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20040" cy="571500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Website Audit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A032"/>
                </a:solidFill>
              </a:rPr>
              <a:t>eris.co.za – identified gaps and opportunities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Eris Property Group  |  Web Dev &amp; AI Automation Audit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74320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2743200" cy="41148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8074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Performance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38528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7452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4E"/>
                </a:solidFill>
              </a:rPr>
              <a:t>Mobile page load &gt;4 s (industry avg 2.5 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578608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51460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4E"/>
                </a:solidFill>
              </a:rPr>
              <a:t>Unoptimised images &amp; render-blocking JS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218688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15468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4E"/>
                </a:solidFill>
              </a:rPr>
              <a:t>No CDN detected – assets served from origin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858768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9476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4E"/>
                </a:solidFill>
              </a:rPr>
              <a:t>Missing lazy-loading on listing images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37560" y="1325880"/>
            <a:ext cx="274320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37560" y="1325880"/>
            <a:ext cx="2743200" cy="41148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138074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UX / Design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1938528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0" y="187452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4E"/>
                </a:solidFill>
              </a:rPr>
              <a:t>Navigation not intuitive for new visitors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2578608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251460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4E"/>
                </a:solidFill>
              </a:rPr>
              <a:t>CTA buttons lack visual hierarchy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3218688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315468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4E"/>
                </a:solidFill>
              </a:rPr>
              <a:t>Listing search UX outdated vs. competitors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0" y="3858768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0" y="379476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4E"/>
                </a:solidFill>
              </a:rPr>
              <a:t>Inconsistent typography across sections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325880"/>
            <a:ext cx="274320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1325880"/>
            <a:ext cx="2743200" cy="41148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138074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46520" y="1938528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187452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4E"/>
                </a:solidFill>
              </a:rPr>
              <a:t>Meta descriptions missing on 60 %+ of pages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46520" y="2578608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251460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4E"/>
                </a:solidFill>
              </a:rPr>
              <a:t>No structured data / schema markup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6520" y="3218688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315468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4E"/>
                </a:solidFill>
              </a:rPr>
              <a:t>Blog content sparse – low organic authority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46520" y="3858768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9400" y="379476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4E"/>
                </a:solidFill>
              </a:rPr>
              <a:t>Thin property listing descriptions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81160" y="1325880"/>
            <a:ext cx="274320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81160" y="1325880"/>
            <a:ext cx="2743200" cy="41148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72600" y="138074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Security &amp; Compliance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18320" y="1938528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01200" y="187452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4E"/>
                </a:solidFill>
              </a:rPr>
              <a:t>No visible cookie consent banner (POPIA)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418320" y="2578608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0" y="251460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4E"/>
                </a:solidFill>
              </a:rPr>
              <a:t>Form input validation needs hardening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418320" y="3218688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01200" y="315468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4E"/>
                </a:solidFill>
              </a:rPr>
              <a:t>Missing CSP / security headers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18320" y="3858768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01200" y="379476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4E"/>
                </a:solidFill>
              </a:rPr>
              <a:t>PAIA/POPIA pages exist but need updates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6217920"/>
            <a:ext cx="11430000" cy="54864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62636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D2B4E"/>
                </a:solidFill>
              </a:rPr>
              <a:t>Priority Action Required: Performance + SEO + POPIA compliance improvements deliver the fastest ROI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20040" cy="571500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Web Development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A032"/>
                </a:solidFill>
              </a:rPr>
              <a:t>Modernising eris.co.za for performance and growth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Eris Property Group  |  Web Dev &amp; AI Automation Audit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4114800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4114800" cy="4114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1673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Recommended Tech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980B9"/>
                </a:solidFill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828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4E"/>
                </a:solidFill>
              </a:rPr>
              <a:t>Next.js 15 (React) – SSR + static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2860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980B9"/>
                </a:solidFill>
              </a:rPr>
              <a:t>CMS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286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4E"/>
                </a:solidFill>
              </a:rPr>
              <a:t>Sanity.io or Contentful – headless, API-first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432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980B9"/>
                </a:solidFill>
              </a:rPr>
              <a:t>Hosting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743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4E"/>
                </a:solidFill>
              </a:rPr>
              <a:t>Vercel / AWS CloudFront CDN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004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980B9"/>
                </a:solidFill>
              </a:rPr>
              <a:t>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200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4E"/>
                </a:solidFill>
              </a:rPr>
              <a:t>Algolia – instant property listing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6576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980B9"/>
                </a:solidFill>
              </a:rPr>
              <a:t>Maps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657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4E"/>
                </a:solidFill>
              </a:rPr>
              <a:t>Google Maps API + property geo-tagging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148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980B9"/>
                </a:solidFill>
              </a:rPr>
              <a:t>Forms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4114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4E"/>
                </a:solidFill>
              </a:rPr>
              <a:t>React Hook Form + Zod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5720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980B9"/>
                </a:solidFill>
              </a:rPr>
              <a:t>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572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4E"/>
                </a:solidFill>
              </a:rPr>
              <a:t>GA4 + Hotjar heatmaps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0292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980B9"/>
                </a:solidFill>
              </a:rPr>
              <a:t>Auth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5029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4E"/>
                </a:solidFill>
              </a:rPr>
              <a:t>Auth0 – tenant / investor portal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1280160"/>
            <a:ext cx="7086600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54880" y="1280160"/>
            <a:ext cx="7086600" cy="41148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92040" y="1316736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Key Improvements &amp; Features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92040" y="1901952"/>
            <a:ext cx="73152" cy="22860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1810512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4E"/>
                </a:solidFill>
              </a:rPr>
              <a:t>Speed &amp; Core Web Vitals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4920" y="2084832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8D"/>
                </a:solidFill>
              </a:rPr>
              <a:t>Target 90+ PageSpeed. Code-split JS, WebP images, CDN delivery, pre-fetch listings.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92040" y="2615184"/>
            <a:ext cx="73152" cy="22860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4920" y="2523744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4E"/>
                </a:solidFill>
              </a:rPr>
              <a:t>Advanced Property Search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4920" y="2798064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8D"/>
                </a:solidFill>
              </a:rPr>
              <a:t>Faceted filters: type, location, size, price. Map-based browsing. Saved searches.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92040" y="3328416"/>
            <a:ext cx="73152" cy="22860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20" y="3236976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4E"/>
                </a:solidFill>
              </a:rPr>
              <a:t>Investor &amp; Tenant Portal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74920" y="3511296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8D"/>
                </a:solidFill>
              </a:rPr>
              <a:t>Secure login: lease docs, payment history, maintenance requests, reports.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92040" y="4041648"/>
            <a:ext cx="73152" cy="22860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4920" y="3950208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4E"/>
                </a:solidFill>
              </a:rPr>
              <a:t>SEO &amp; Schema Markup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74920" y="4224528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8D"/>
                </a:solidFill>
              </a:rPr>
              <a:t>Property schema, local SEO per node, rich snippets, automated sitemaps.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92040" y="4754880"/>
            <a:ext cx="73152" cy="22860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74920" y="4663440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4E"/>
                </a:solidFill>
              </a:rPr>
              <a:t>POPIA / WCAG Compliance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74920" y="4937760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8D"/>
                </a:solidFill>
              </a:rPr>
              <a:t>Cookie consent, data request forms, AA accessibility audit &amp; fixes.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92040" y="5468112"/>
            <a:ext cx="73152" cy="22860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74920" y="5376672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4E"/>
                </a:solidFill>
              </a:rPr>
              <a:t>LinkedIn + Social Auto-posting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74920" y="5650992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8D"/>
                </a:solidFill>
              </a:rPr>
              <a:t>New listings auto-shared; market updates syndicated from CMS to social.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20040" cy="571500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AI Automation Opportunity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A032"/>
                </a:solidFill>
              </a:rPr>
              <a:t>Where AI delivers immediate value for Eris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Eris Property Group  |  Web Dev &amp; AI Automation Audit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6692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5669280" cy="41148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8074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Property Listings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1938528"/>
            <a:ext cx="91440" cy="914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87452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Auto-generate listing descriptions from specs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2377440"/>
            <a:ext cx="91440" cy="914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31343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AI-powered photo enhancement &amp; tagging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2816352"/>
            <a:ext cx="91440" cy="914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75234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Dynamic pricing recommendations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3255264"/>
            <a:ext cx="91440" cy="914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191256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Bulk import + normalise from Excel/PDF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325880"/>
            <a:ext cx="56692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1325880"/>
            <a:ext cx="5669280" cy="41148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38074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Tenant &amp; Client Comms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73952" y="1938528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56832" y="187452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AI chatbot on website (24/7 enquiries)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73952" y="2377440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56832" y="231343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Auto-draft lease renewal emails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73952" y="2816352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56832" y="275234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Maintenance ticket classification &amp; routing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73952" y="3255264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56832" y="3191256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WhatsApp / email follow-up sequences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931920"/>
            <a:ext cx="56692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3931920"/>
            <a:ext cx="5669280" cy="4114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98678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Market Intelligence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" y="4544568"/>
            <a:ext cx="9144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48056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Auto-scrape &amp; summarise competitor listings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0352" y="4983480"/>
            <a:ext cx="9144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491947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Weekly AI-generated market reports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" y="5422392"/>
            <a:ext cx="9144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535838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Portfolio performance dashboards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0352" y="5861304"/>
            <a:ext cx="9144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5797296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Predictive vacancy alerts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3931920"/>
            <a:ext cx="56692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09360" y="3931920"/>
            <a:ext cx="566928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398678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Operations &amp; Admin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73952" y="4544568"/>
            <a:ext cx="91440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56832" y="448056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Invoice processing &amp; AP automation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73952" y="4983480"/>
            <a:ext cx="91440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56832" y="491947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Contract review &amp; clause flagging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73952" y="5422392"/>
            <a:ext cx="91440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56832" y="535838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Meeting notes → action items (AI transcription)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73952" y="5861304"/>
            <a:ext cx="91440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56832" y="5797296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HR: CV screening &amp; onboarding docs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20040" cy="571500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Benefits of AI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A032"/>
                </a:solidFill>
              </a:rPr>
              <a:t>Measurable impact across the business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Eris Property Group  |  Web Dev &amp; AI Automation Audit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743200" cy="1463040"/>
          </a:xfrm>
          <a:prstGeom prst="rect">
            <a:avLst/>
          </a:prstGeom>
          <a:solidFill>
            <a:srgbClr val="0D2B4E"/>
          </a:solidFill>
          <a:ln w="6350">
            <a:solidFill>
              <a:srgbClr val="DD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8A032"/>
                </a:solidFill>
              </a:rPr>
              <a:t>60–70%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48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Reduction in
repetitive admin tasks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325880"/>
            <a:ext cx="2743200" cy="1463040"/>
          </a:xfrm>
          <a:prstGeom prst="rect">
            <a:avLst/>
          </a:prstGeom>
          <a:solidFill>
            <a:srgbClr val="0D2B4E"/>
          </a:solidFill>
          <a:ln w="6350">
            <a:solidFill>
              <a:srgbClr val="DD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508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8A032"/>
                </a:solidFill>
              </a:rPr>
              <a:t>3×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148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Faster property
listing publication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325880"/>
            <a:ext cx="2743200" cy="1463040"/>
          </a:xfrm>
          <a:prstGeom prst="rect">
            <a:avLst/>
          </a:prstGeom>
          <a:solidFill>
            <a:srgbClr val="0D2B4E"/>
          </a:solidFill>
          <a:ln w="6350">
            <a:solidFill>
              <a:srgbClr val="DD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508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8A032"/>
                </a:solidFill>
              </a:rPr>
              <a:t>40%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148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Lower cost per
customer enquiry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325880"/>
            <a:ext cx="2743200" cy="1463040"/>
          </a:xfrm>
          <a:prstGeom prst="rect">
            <a:avLst/>
          </a:prstGeom>
          <a:solidFill>
            <a:srgbClr val="0D2B4E"/>
          </a:solidFill>
          <a:ln w="6350">
            <a:solidFill>
              <a:srgbClr val="DD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508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8A032"/>
                </a:solidFill>
              </a:rPr>
              <a:t>24/7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148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Client service via
AI chatbot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926080"/>
            <a:ext cx="56692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2926080"/>
            <a:ext cx="5669280" cy="38404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2962656"/>
            <a:ext cx="5449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Speed to Market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3383280"/>
            <a:ext cx="5449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▸  Listings live in minutes, not hours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3675888"/>
            <a:ext cx="5449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▸  AI writes description from a spec sheet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3968496"/>
            <a:ext cx="5449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▸  Photos auto-tagged and resized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" y="4261104"/>
            <a:ext cx="5449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▸  Social post drafted &amp; scheduled automatically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926080"/>
            <a:ext cx="56692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2926080"/>
            <a:ext cx="5669280" cy="38404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2962656"/>
            <a:ext cx="5449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Cost Efficiency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3383280"/>
            <a:ext cx="5449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▸  Reduce staff time on data entry by &gt;50 %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3675888"/>
            <a:ext cx="5449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▸  Fewer errors = fewer costly corrections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3968496"/>
            <a:ext cx="5449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▸  Lower marketing agency dependency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4261104"/>
            <a:ext cx="5449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▸  Scale output without scaling headcount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617720"/>
            <a:ext cx="56692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4617720"/>
            <a:ext cx="5669280" cy="38404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" y="4654296"/>
            <a:ext cx="5449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Customer Experience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" y="5074920"/>
            <a:ext cx="5449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▸  Instant 24/7 responses via AI chatbot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" y="5367528"/>
            <a:ext cx="5449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▸  Personalised property recommendations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" y="5660136"/>
            <a:ext cx="5449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▸  Automated viewing confirmations &amp; reminders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" y="5952744"/>
            <a:ext cx="5449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▸  Proactive lease renewal outreach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4617720"/>
            <a:ext cx="56692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09360" y="4617720"/>
            <a:ext cx="5669280" cy="38404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19088" y="4654296"/>
            <a:ext cx="5449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Competitive Edge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19088" y="5074920"/>
            <a:ext cx="5449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▸  AI-driven market intelligence reports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9088" y="5367528"/>
            <a:ext cx="5449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▸  First-mover advantage in SA prop-tech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19088" y="5660136"/>
            <a:ext cx="5449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▸  Attract tech-savvy investors &amp; tenants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19088" y="5952744"/>
            <a:ext cx="5449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▸  Data-driven portfolio decisions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20040" cy="571500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ROI &amp; Business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A032"/>
                </a:solidFill>
              </a:rPr>
              <a:t>Projected returns from web + AI investment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Eris Property Group  |  Web Dev &amp; AI Automation Audit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303520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5303520" cy="41148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167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Indicative Investment (Year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74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4E"/>
                </a:solidFill>
              </a:rPr>
              <a:t>Website Rebuild (Next.js + CMS)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187451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B8D"/>
                </a:solidFill>
              </a:rPr>
              <a:t>R 180 000 – R 280 000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86583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4E"/>
                </a:solidFill>
              </a:rPr>
              <a:t>AI Chatbot &amp; Automation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38658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B8D"/>
                </a:solidFill>
              </a:rPr>
              <a:t>R  80 000 – R 130 000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898647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4E"/>
                </a:solidFill>
              </a:rPr>
              <a:t>Listing Automation &amp; AI Copywriting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898647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B8D"/>
                </a:solidFill>
              </a:rPr>
              <a:t>R  40 000 – R  70 000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410711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4E"/>
                </a:solidFill>
              </a:rPr>
              <a:t>SEO / POPIA / Accessibility Sprint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410711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B8D"/>
                </a:solidFill>
              </a:rPr>
              <a:t>R  30 000 – R  50 000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922775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4E"/>
                </a:solidFill>
              </a:rPr>
              <a:t>Training &amp; Change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922775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B8D"/>
                </a:solidFill>
              </a:rPr>
              <a:t>R  20 000 – R  35 000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43483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4E"/>
                </a:solidFill>
              </a:rPr>
              <a:t>Ongoing monthly support (est.)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443483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B8D"/>
                </a:solidFill>
              </a:rPr>
              <a:t>R  15 000 – R  25 000 / mo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901183"/>
            <a:ext cx="5303520" cy="54864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05663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4E"/>
                </a:solidFill>
              </a:rPr>
              <a:t>TOTAL YEAR 1 (once-off + 12 mo)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5056631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7AE60"/>
                </a:solidFill>
              </a:rPr>
              <a:t>R 530 000 – R 865 000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1280160"/>
            <a:ext cx="5943600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0" y="1280160"/>
            <a:ext cx="594360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60" y="131673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Projected Returns &amp; Savings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1874519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4E"/>
                </a:solidFill>
              </a:rPr>
              <a:t>Admin time saved (FTE equivalent)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187451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B8D"/>
                </a:solidFill>
              </a:rPr>
              <a:t>1.5–2 FTE / year  ≈  R 360 000+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2386583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4E"/>
                </a:solidFill>
              </a:rPr>
              <a:t>Marketing agency cost reduction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2386583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B8D"/>
                </a:solidFill>
              </a:rPr>
              <a:t>~R 120 000 / year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2898647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4E"/>
                </a:solidFill>
              </a:rPr>
              <a:t>Increased qualified leads via SEO + UX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2898647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B8D"/>
                </a:solidFill>
              </a:rPr>
              <a:t>+25–40 % organic enquiries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3410711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4E"/>
                </a:solidFill>
              </a:rPr>
              <a:t>Faster listing → lease cycle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341071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B8D"/>
                </a:solidFill>
              </a:rPr>
              <a:t>Est. −15 days vacancy per unit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3922775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4E"/>
                </a:solidFill>
              </a:rPr>
              <a:t>Reduced call centre volume (chatbot)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3922775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B8D"/>
                </a:solidFill>
              </a:rPr>
              <a:t>−30 % inbound call load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4434839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4E"/>
                </a:solidFill>
              </a:rPr>
              <a:t>New revenue: investor portal fees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443483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B8D"/>
                </a:solidFill>
              </a:rPr>
              <a:t>Potential R 80 000+ / year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4901183"/>
            <a:ext cx="5943600" cy="54864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80760" y="5056631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4E"/>
                </a:solidFill>
              </a:rPr>
              <a:t>ESTIMATED YEAR 1 SAVINGS / UPSIDE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0" y="5056631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7AE60"/>
                </a:solidFill>
              </a:rPr>
              <a:t>R 560 000 – R 900 000+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6480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D2B4E"/>
                </a:solidFill>
              </a:rPr>
              <a:t>Breakeven estimated within 8–14 months  |  3-year NPV strongly positive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20040" cy="571500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Implementation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A032"/>
                </a:solidFill>
              </a:rPr>
              <a:t>Phased 12-month delivery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Eris Property Group  |  Web Dev &amp; AI Automation Audit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743200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2743200" cy="64008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80744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1
Mon 1–3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27248" y="1600200"/>
            <a:ext cx="146304" cy="54864"/>
          </a:xfrm>
          <a:prstGeom prst="rect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" y="2203704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1305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Website audit &amp; SEO fix sprint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3026664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9535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POPIA / cookie consent go-live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3849624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7764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AI chatbot MVP on eris.co.za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" y="4672584"/>
            <a:ext cx="91440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5994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Listing auto-description pilot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1325880"/>
            <a:ext cx="2743200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91840" y="1325880"/>
            <a:ext cx="2743200" cy="64008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1380744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2
Mon 4–6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53328" y="1600200"/>
            <a:ext cx="146304" cy="54864"/>
          </a:xfrm>
          <a:prstGeom prst="rect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56432" y="2203704"/>
            <a:ext cx="91440" cy="914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39312" y="21305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Full Next.js rebuild launch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56432" y="3026664"/>
            <a:ext cx="91440" cy="914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39312" y="29535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Headless CMS migration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56432" y="3849624"/>
            <a:ext cx="91440" cy="914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39312" y="37764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Algolia property search live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56432" y="4672584"/>
            <a:ext cx="91440" cy="914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39312" y="45994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LinkedIn auto-posting setup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1325880"/>
            <a:ext cx="2743200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1325880"/>
            <a:ext cx="2743200" cy="6400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1380744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3
Mon 7–9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79408" y="1600200"/>
            <a:ext cx="146304" cy="54864"/>
          </a:xfrm>
          <a:prstGeom prst="rect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82512" y="2203704"/>
            <a:ext cx="9144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5392" y="21305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Investor / Tenant portal v1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82512" y="3026664"/>
            <a:ext cx="9144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65392" y="29535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AI market intelligence reports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82512" y="3849624"/>
            <a:ext cx="9144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65392" y="37764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Invoice &amp; contract automation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82512" y="4672584"/>
            <a:ext cx="9144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65392" y="45994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Staff training &amp; enablement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0" y="1325880"/>
            <a:ext cx="2743200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44000" y="1325880"/>
            <a:ext cx="274320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0" y="1380744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4
Mon 10–12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08592" y="2203704"/>
            <a:ext cx="91440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91472" y="21305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Predictive analytics dashboard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08592" y="3026664"/>
            <a:ext cx="91440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91472" y="29535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Advanced chatbot (GPT-4o fine-tune)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08592" y="3849624"/>
            <a:ext cx="91440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91472" y="37764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API integrations (accounting / ERP)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08592" y="4672584"/>
            <a:ext cx="91440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91472" y="45994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Full audit, review &amp; optimise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Eris Property Group  |  Web Dev &amp; AI Automation Audit  |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8A032"/>
                </a:solidFill>
              </a:rPr>
              <a:t>Why Automate — Now?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The property industry is at an inflection point. Those who embed AI today will set the standard tomorrow.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502920" cy="50292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2B4E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7830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Competitors are moving fast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574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CCDD"/>
                </a:solidFill>
              </a:rPr>
              <a:t>PropTech adoption in South Africa is accelerating. Early movers capture SEO authority, brand preference, and operational cost advantages that are very difficult for late adopters to recover.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79192"/>
            <a:ext cx="502920" cy="5029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791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2B4E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67919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Labour costs keep rising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5351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CCDD"/>
                </a:solidFill>
              </a:rPr>
              <a:t>Every manual process — data entry, email follow-up, report generation — will cost more next year. Automation freezes that cost curve and redeploys talent to high-value work.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575304"/>
            <a:ext cx="502920" cy="50292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57530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2B4E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57530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Clients expect instant responses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849624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CCDD"/>
                </a:solidFill>
              </a:rPr>
              <a:t>73 % of property enquirers choose the agent who responds first. An AI chatbot means Eris is first — always — without overtime pay.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471416"/>
            <a:ext cx="502920" cy="5029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7141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2B4E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47141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AI tools have never been more affordable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745736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CCDD"/>
                </a:solidFill>
              </a:rPr>
              <a:t>GPT-4o API costs have dropped 90 %+ since 2023. Enterprise-grade automation is now accessible to mid-market property groups, not just REITs.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367528"/>
            <a:ext cx="502920" cy="50292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3675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2B4E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367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Data compounds in value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641848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CCDD"/>
                </a:solidFill>
              </a:rPr>
              <a:t>Every automated interaction generates structured data. Over 12–24 months, Eris builds a proprietary dataset for pricing, forecasting, and investor reporting that competitors cannot replicate.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20040" cy="571500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A032"/>
                </a:solidFill>
              </a:rPr>
              <a:t>From audit to action — what happens now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Eris Property Group  |  Web Dev &amp; AI Automation Audit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27432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2743200" cy="41148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42646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019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A032"/>
                </a:solidFill>
              </a:rPr>
              <a:t>Stakeholder Alignment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Present findings to leadership team. Agree priority areas and budget envelope. Sign off on Phase 1 scope.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371600"/>
            <a:ext cx="27432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371600"/>
            <a:ext cx="2743200" cy="41148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42646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Week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9019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4E"/>
                </a:solidFill>
              </a:rPr>
              <a:t>Kick-Off &amp;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28600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Provide CMS, hosting and analytics access. Assign internal champion. Finalise project charter.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371600"/>
            <a:ext cx="27432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371600"/>
            <a:ext cx="2743200" cy="4114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42646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Week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9019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980B9"/>
                </a:solidFill>
              </a:rPr>
              <a:t>Sprint 1 Begins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28600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POPIA fix, speed optimisation and AI chatbot integration start simultaneously. Daily stand-ups.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1371600"/>
            <a:ext cx="27432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0" y="1371600"/>
            <a:ext cx="274320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142646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Month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19019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Phase 1 Go-Live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228600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B4E"/>
                </a:solidFill>
              </a:rPr>
              <a:t>Chatbot live on site. SEO fixes deployed. First AI-generated listing descriptions in production.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303520"/>
            <a:ext cx="11430000" cy="1005840"/>
          </a:xfrm>
          <a:prstGeom prst="rect">
            <a:avLst/>
          </a:prstGeom>
          <a:solidFill>
            <a:srgbClr val="0D2B4E"/>
          </a:solidFill>
          <a:ln w="6350">
            <a:solidFill>
              <a:srgbClr val="DD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37667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A032"/>
                </a:solidFill>
              </a:rPr>
              <a:t>Ready to transform your digital presence?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74243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Contact Genos Apollo to schedule your discovery workshop.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54864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C8A032"/>
                </a:solidFill>
              </a:rPr>
              <a:t>www.eris.co.za  |  linkedin.com/company/erispropertygroup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200400"/>
            <a:ext cx="11548872" cy="54864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8346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8A032"/>
                </a:solidFill>
              </a:rPr>
              <a:t>Unlocking the potential of property through digital intelligence.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657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Eris Property Group  ·  www.eris.co.za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8D"/>
                </a:solidFill>
              </a:rPr>
              <a:t>Prepared by Genos Apollo  |  May 2026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