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ALLURE SALON SUITE CONSULTING &amp; ALLURE SALON GROUP</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Karen A. Kaminski, Founder &amp; CEO</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Karen A. Kaminski - Who She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800" b="1" i="0">
                <a:solidFill>
                  <a:srgbClr val="F5C518"/>
                </a:solidFill>
              </a:rPr>
              <a:t>5</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Owned Locations</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800" b="1" i="0">
                <a:solidFill>
                  <a:srgbClr val="F5C518"/>
                </a:solidFill>
              </a:rPr>
              <a:t>115+</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Salon Studios</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800" b="1" i="0">
                <a:solidFill>
                  <a:srgbClr val="F5C518"/>
                </a:solidFill>
              </a:rPr>
              <a:t>$150K</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Avg Revenue / Location</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800" b="1" i="0">
                <a:solidFill>
                  <a:srgbClr val="F5C518"/>
                </a:solidFill>
              </a:rPr>
              <a:t>30-40%</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Client Startup Savings</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800" b="1" i="0">
                <a:solidFill>
                  <a:srgbClr val="F5C518"/>
                </a:solidFill>
              </a:rPr>
              <a:t>US + CA</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Operating Footprint</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Moosic, PA  -  Founded 2018  -  Modern Salon Top 10 Nominee 2024  -  Authority Magazine  -  IAMCEO Podcast  -  SF Commercial  -  Elite Property News</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BACKGROUND THAT SETS HER APART</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BA Advertising/Graphics/Fine Arts, Marywood University - design eye is real</a:t>
            </a:r>
          </a:p>
          <a:p>
            <a:pPr algn="l">
              <a:spcAft>
                <a:spcPts val="600"/>
              </a:spcAft>
            </a:pPr>
            <a:r>
              <a:rPr sz="1100"/>
              <a:t>  </a:t>
            </a:r>
            <a:r>
              <a:rPr sz="1100" b="1">
                <a:solidFill>
                  <a:srgbClr val="4F8EFF"/>
                </a:solidFill>
              </a:rPr>
              <a:t>* </a:t>
            </a:r>
            <a:r>
              <a:rPr sz="1300">
                <a:solidFill>
                  <a:srgbClr val="C8D4EE"/>
                </a:solidFill>
              </a:rPr>
              <a:t>15+ years beauty industry: CosmoProf, East Coast Salon Services, Moroccan Oil</a:t>
            </a:r>
          </a:p>
          <a:p>
            <a:pPr algn="l"/>
            <a:r>
              <a:rPr sz="1100"/>
              <a:t>  </a:t>
            </a:r>
            <a:r>
              <a:rPr sz="1100" b="1">
                <a:solidFill>
                  <a:srgbClr val="4F8EFF"/>
                </a:solidFill>
              </a:rPr>
              <a:t>* </a:t>
            </a:r>
            <a:r>
              <a:rPr sz="1300">
                <a:solidFill>
                  <a:srgbClr val="C8D4EE"/>
                </a:solidFill>
              </a:rPr>
              <a:t>Opened first independent salon suite in 2016 - hands-on operator, not just a consultant</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WHAT SHE BUILT</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Allure Salon Group: 5 owned locations housing 115+ working studios</a:t>
            </a:r>
          </a:p>
          <a:p>
            <a:pPr algn="l">
              <a:spcAft>
                <a:spcPts val="600"/>
              </a:spcAft>
            </a:pPr>
            <a:r>
              <a:rPr sz="1100"/>
              <a:t>  </a:t>
            </a:r>
            <a:r>
              <a:rPr sz="1100" b="1">
                <a:solidFill>
                  <a:srgbClr val="4F8EFF"/>
                </a:solidFill>
              </a:rPr>
              <a:t>* </a:t>
            </a:r>
            <a:r>
              <a:rPr sz="1300">
                <a:solidFill>
                  <a:srgbClr val="C8D4EE"/>
                </a:solidFill>
              </a:rPr>
              <a:t>Allure Salon Suite Consulting (2018): end-to-end build for investors across US + Canada</a:t>
            </a:r>
          </a:p>
          <a:p>
            <a:pPr algn="l"/>
            <a:r>
              <a:rPr sz="1100"/>
              <a:t>  </a:t>
            </a:r>
            <a:r>
              <a:rPr sz="1100" b="1">
                <a:solidFill>
                  <a:srgbClr val="4F8EFF"/>
                </a:solidFill>
              </a:rPr>
              <a:t>* </a:t>
            </a:r>
            <a:r>
              <a:rPr sz="1300">
                <a:solidFill>
                  <a:srgbClr val="C8D4EE"/>
                </a:solidFill>
              </a:rPr>
              <a:t>Allure University in development - online education for salon suite operators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The Operator-Consultant Combination Is Genuinely Rare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Most salon suite consultants either come from a beauty background but never built a facility, or from real estate but never worked in a salon. Karen owns and operates 5 locations housing 115+ studios. She runs the same playbook she sells. That's the differentiator the homepage should be leading with, and the credibility that separates Allure from anyone else in the space.</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Press Footprint Most Industry Niches Don't Get</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Modern Salon nominated the 2024 piece for Top 10 Article of the year. Authority Magazine, IAMCEO Podcast, Salon Scoop, SF Commercial Property Conversations, Elite Property News. That's the kind of media coverage most consultants would build their entire site around. Right now it sits on a single news page rather than serving as the trust anchor on every primary page.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Concrete Numbers Most Consultants Can't Quote</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$150K in average annual revenue per location. 30-40% savings on initial startup and construction. $100/sqft+ tenant improvement on 10-20 year leases. Investors looking at this category drown in vague pitches. Numbers like these belong in a calculator, not buried in interview transcripts.</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Clear Long-Term Product Roadmap</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Allure University, Employee-to-Owner Program with bi-weekly training, M&amp;A activity with other private salon suite operators, expansion across US and Canada. This is product thinking - not a typical consulting practice. The infrastructure to actually capture and onboard each of these audiences hasn't been built yet.</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Brand Sensibility Backed by Design Training</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Marywood University BA in Advertising, Graphics, and Fine Arts. The visual instincts are real. The current site doesn't fully express them - which means there's a gap between what Allure could look like and what visitors actually see today. That's a closeable gap, not a structural weakness.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Two Audiences. Both End at the Same Phone Tag.</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PARTNER WITH US PAGE = PHONE NUMBER + EMAIL</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An investor researching salon suite consultants on a Sunday night reads the page and sees two phone numbers and an info@ email address. No form, no calendar booking, no automated follow-up. The page asks the visitor to do all the work. Most don't, and the lead never enters the funnel.</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NO INVESTOR ROI CALCULATOR DESPITE A CLEAR BENCHMARK</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Karen quotes $150K average annual revenue per location publicly. That number is the strongest investor magnet Allure has, and it lives in interview transcripts rather than on the site. A calculator that takes square footage and metro area as inputs and returns projected revenue is the kind of tool that turns site visits into qualified investor leads.</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PRESS WINS DON'T SHOW UP ON THE HOMEPAGE</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Modern Salon Top 10 nominee. Authority Magazine. IAMCEO. SF Commercial. Elite Property News. None of it is on the homepage in a way that builds trust before the first call. Most consulting buyers do their research before they call. The trust signals that should be doing that work are sitting on a separate page.</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ALLURE UNIVERSITY HAS NO INFRASTRUCTURE YET</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Karen has talked publicly about launching Allure University as an online education platform for salon suite operators. There's no landing page, no signup funnel, no drip course delivery, no completion tracking. The audience exists - the infrastructure to capture and onboard them doesn't.</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TENANT RETENTION ACROSS 115+ STUDIOS IS MANUAL</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Karen says publicly: 'if your tenants are successful business owners, they stay long term.' That thesis is the whole game. But across 115+ studios in 5 locations, lease renewal sequences, employee-to-owner program nurture, and early-warning churn signals appear to be run manually. Automation here directly protects the recurring revenue 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5 Locations. 115+ Studios. The Site Doesn't Show It.</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900" b="1" i="0">
                <a:solidFill>
                  <a:srgbClr val="FFFFFF"/>
                </a:solidFill>
              </a:rPr>
              <a:t>ALLURESALONSUITECONSULTING.COM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Partner With Us = phone + email, no form</a:t>
            </a:r>
          </a:p>
          <a:p>
            <a:pPr algn="l">
              <a:spcAft>
                <a:spcPts val="600"/>
              </a:spcAft>
            </a:pPr>
            <a:r>
              <a:rPr sz="900"/>
              <a:t>  </a:t>
            </a:r>
            <a:r>
              <a:rPr sz="900" b="1">
                <a:solidFill>
                  <a:srgbClr val="FF4D4D"/>
                </a:solidFill>
              </a:rPr>
              <a:t>* </a:t>
            </a:r>
            <a:r>
              <a:rPr sz="1100">
                <a:solidFill>
                  <a:srgbClr val="C8D4EE"/>
                </a:solidFill>
              </a:rPr>
              <a:t>No AI chat or after-hours self-service</a:t>
            </a:r>
          </a:p>
          <a:p>
            <a:pPr algn="l">
              <a:spcAft>
                <a:spcPts val="600"/>
              </a:spcAft>
            </a:pPr>
            <a:r>
              <a:rPr sz="900"/>
              <a:t>  </a:t>
            </a:r>
            <a:r>
              <a:rPr sz="900" b="1">
                <a:solidFill>
                  <a:srgbClr val="FF4D4D"/>
                </a:solidFill>
              </a:rPr>
              <a:t>* </a:t>
            </a:r>
            <a:r>
              <a:rPr sz="1100">
                <a:solidFill>
                  <a:srgbClr val="C8D4EE"/>
                </a:solidFill>
              </a:rPr>
              <a:t>No investor ROI calculator on site</a:t>
            </a:r>
          </a:p>
          <a:p>
            <a:pPr algn="l">
              <a:spcAft>
                <a:spcPts val="600"/>
              </a:spcAft>
            </a:pPr>
            <a:r>
              <a:rPr sz="900"/>
              <a:t>  </a:t>
            </a:r>
            <a:r>
              <a:rPr sz="900" b="1">
                <a:solidFill>
                  <a:srgbClr val="FF4D4D"/>
                </a:solidFill>
              </a:rPr>
              <a:t>* </a:t>
            </a:r>
            <a:r>
              <a:rPr sz="1100">
                <a:solidFill>
                  <a:srgbClr val="C8D4EE"/>
                </a:solidFill>
              </a:rPr>
              <a:t>Press wins not on homepage</a:t>
            </a:r>
          </a:p>
          <a:p>
            <a:pPr algn="l">
              <a:spcAft>
                <a:spcPts val="600"/>
              </a:spcAft>
            </a:pPr>
            <a:r>
              <a:rPr sz="900"/>
              <a:t>  </a:t>
            </a:r>
            <a:r>
              <a:rPr sz="900" b="1">
                <a:solidFill>
                  <a:srgbClr val="FF4D4D"/>
                </a:solidFill>
              </a:rPr>
              <a:t>* </a:t>
            </a:r>
            <a:r>
              <a:rPr sz="1100">
                <a:solidFill>
                  <a:srgbClr val="C8D4EE"/>
                </a:solidFill>
              </a:rPr>
              <a:t>No investor / tenant audience separation</a:t>
            </a:r>
          </a:p>
          <a:p>
            <a:pPr algn="l">
              <a:spcAft>
                <a:spcPts val="600"/>
              </a:spcAft>
            </a:pPr>
            <a:r>
              <a:rPr sz="900"/>
              <a:t>  </a:t>
            </a:r>
            <a:r>
              <a:rPr sz="900" b="1">
                <a:solidFill>
                  <a:srgbClr val="FF4D4D"/>
                </a:solidFill>
              </a:rPr>
              <a:t>* </a:t>
            </a:r>
            <a:r>
              <a:rPr sz="1100">
                <a:solidFill>
                  <a:srgbClr val="C8D4EE"/>
                </a:solidFill>
              </a:rPr>
              <a:t>No Allure University funnel</a:t>
            </a:r>
          </a:p>
          <a:p>
            <a:pPr algn="l">
              <a:spcAft>
                <a:spcPts val="600"/>
              </a:spcAft>
            </a:pPr>
            <a:r>
              <a:rPr sz="900"/>
              <a:t>  </a:t>
            </a:r>
            <a:r>
              <a:rPr sz="900" b="1">
                <a:solidFill>
                  <a:srgbClr val="FF4D4D"/>
                </a:solidFill>
              </a:rPr>
              <a:t>* </a:t>
            </a:r>
            <a:r>
              <a:rPr sz="1100">
                <a:solidFill>
                  <a:srgbClr val="C8D4EE"/>
                </a:solidFill>
              </a:rPr>
              <a:t>No tenant portal for 115+ studios</a:t>
            </a:r>
          </a:p>
          <a:p>
            <a:pPr algn="l"/>
            <a:r>
              <a:rPr sz="900"/>
              <a:t>  </a:t>
            </a:r>
            <a:r>
              <a:rPr sz="900" b="1">
                <a:solidFill>
                  <a:srgbClr val="FF4D4D"/>
                </a:solidFill>
              </a:rPr>
              <a:t>* </a:t>
            </a:r>
            <a:r>
              <a:rPr sz="1100">
                <a:solidFill>
                  <a:srgbClr val="C8D4EE"/>
                </a:solidFill>
              </a:rPr>
              <a:t>Two phone numbers, no unified routing</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TOP CONSULTING SITES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ROI calculator with instant revenue projection</a:t>
            </a:r>
          </a:p>
          <a:p>
            <a:pPr algn="l">
              <a:spcAft>
                <a:spcPts val="600"/>
              </a:spcAft>
            </a:pPr>
            <a:r>
              <a:rPr sz="900"/>
              <a:t>  </a:t>
            </a:r>
            <a:r>
              <a:rPr sz="900" b="1">
                <a:solidFill>
                  <a:srgbClr val="F5C518"/>
                </a:solidFill>
              </a:rPr>
              <a:t>* </a:t>
            </a:r>
            <a:r>
              <a:rPr sz="1100">
                <a:solidFill>
                  <a:srgbClr val="C8D4EE"/>
                </a:solidFill>
              </a:rPr>
              <a:t>AI chat 24/7 for investor + tenant questions</a:t>
            </a:r>
          </a:p>
          <a:p>
            <a:pPr algn="l">
              <a:spcAft>
                <a:spcPts val="600"/>
              </a:spcAft>
            </a:pPr>
            <a:r>
              <a:rPr sz="900"/>
              <a:t>  </a:t>
            </a:r>
            <a:r>
              <a:rPr sz="900" b="1">
                <a:solidFill>
                  <a:srgbClr val="F5C518"/>
                </a:solidFill>
              </a:rPr>
              <a:t>* </a:t>
            </a:r>
            <a:r>
              <a:rPr sz="1100">
                <a:solidFill>
                  <a:srgbClr val="C8D4EE"/>
                </a:solidFill>
              </a:rPr>
              <a:t>Press wall on homepage building pre-call trust</a:t>
            </a:r>
          </a:p>
          <a:p>
            <a:pPr algn="l">
              <a:spcAft>
                <a:spcPts val="600"/>
              </a:spcAft>
            </a:pPr>
            <a:r>
              <a:rPr sz="900"/>
              <a:t>  </a:t>
            </a:r>
            <a:r>
              <a:rPr sz="900" b="1">
                <a:solidFill>
                  <a:srgbClr val="F5C518"/>
                </a:solidFill>
              </a:rPr>
              <a:t>* </a:t>
            </a:r>
            <a:r>
              <a:rPr sz="1100">
                <a:solidFill>
                  <a:srgbClr val="C8D4EE"/>
                </a:solidFill>
              </a:rPr>
              <a:t>Separate investor / member / press tracks</a:t>
            </a:r>
          </a:p>
          <a:p>
            <a:pPr algn="l">
              <a:spcAft>
                <a:spcPts val="600"/>
              </a:spcAft>
            </a:pPr>
            <a:r>
              <a:rPr sz="900"/>
              <a:t>  </a:t>
            </a:r>
            <a:r>
              <a:rPr sz="900" b="1">
                <a:solidFill>
                  <a:srgbClr val="F5C518"/>
                </a:solidFill>
              </a:rPr>
              <a:t>* </a:t>
            </a:r>
            <a:r>
              <a:rPr sz="1100">
                <a:solidFill>
                  <a:srgbClr val="C8D4EE"/>
                </a:solidFill>
              </a:rPr>
              <a:t>Calendar booking embedded on every CTA</a:t>
            </a:r>
          </a:p>
          <a:p>
            <a:pPr algn="l">
              <a:spcAft>
                <a:spcPts val="600"/>
              </a:spcAft>
            </a:pPr>
            <a:r>
              <a:rPr sz="900"/>
              <a:t>  </a:t>
            </a:r>
            <a:r>
              <a:rPr sz="900" b="1">
                <a:solidFill>
                  <a:srgbClr val="F5C518"/>
                </a:solidFill>
              </a:rPr>
              <a:t>* </a:t>
            </a:r>
            <a:r>
              <a:rPr sz="1100">
                <a:solidFill>
                  <a:srgbClr val="C8D4EE"/>
                </a:solidFill>
              </a:rPr>
              <a:t>Case studies with location-level financials</a:t>
            </a:r>
          </a:p>
          <a:p>
            <a:pPr algn="l">
              <a:spcAft>
                <a:spcPts val="600"/>
              </a:spcAft>
            </a:pPr>
            <a:r>
              <a:rPr sz="900"/>
              <a:t>  </a:t>
            </a:r>
            <a:r>
              <a:rPr sz="900" b="1">
                <a:solidFill>
                  <a:srgbClr val="F5C518"/>
                </a:solidFill>
              </a:rPr>
              <a:t>* </a:t>
            </a:r>
            <a:r>
              <a:rPr sz="1100">
                <a:solidFill>
                  <a:srgbClr val="C8D4EE"/>
                </a:solidFill>
              </a:rPr>
              <a:t>Online member portal with self-service</a:t>
            </a:r>
          </a:p>
          <a:p>
            <a:pPr algn="l"/>
            <a:r>
              <a:rPr sz="900"/>
              <a:t>  </a:t>
            </a:r>
            <a:r>
              <a:rPr sz="900" b="1">
                <a:solidFill>
                  <a:srgbClr val="F5C518"/>
                </a:solidFill>
              </a:rPr>
              <a:t>* </a:t>
            </a:r>
            <a:r>
              <a:rPr sz="1100">
                <a:solidFill>
                  <a:srgbClr val="C8D4EE"/>
                </a:solidFill>
              </a:rPr>
              <a:t>Course platform with drip + completion tracking</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Investor ROI calculator anchored on $150K</a:t>
            </a:r>
          </a:p>
          <a:p>
            <a:pPr algn="l">
              <a:spcAft>
                <a:spcPts val="600"/>
              </a:spcAft>
            </a:pPr>
            <a:r>
              <a:rPr sz="900"/>
              <a:t>  </a:t>
            </a:r>
            <a:r>
              <a:rPr sz="900" b="1">
                <a:solidFill>
                  <a:srgbClr val="2ECC71"/>
                </a:solidFill>
              </a:rPr>
              <a:t>* </a:t>
            </a:r>
            <a:r>
              <a:rPr sz="1100">
                <a:solidFill>
                  <a:srgbClr val="C8D4EE"/>
                </a:solidFill>
              </a:rPr>
              <a:t>AI chat: process, TI negotiation, pricing 24/7</a:t>
            </a:r>
          </a:p>
          <a:p>
            <a:pPr algn="l">
              <a:spcAft>
                <a:spcPts val="600"/>
              </a:spcAft>
            </a:pPr>
            <a:r>
              <a:rPr sz="900"/>
              <a:t>  </a:t>
            </a:r>
            <a:r>
              <a:rPr sz="900" b="1">
                <a:solidFill>
                  <a:srgbClr val="2ECC71"/>
                </a:solidFill>
              </a:rPr>
              <a:t>* </a:t>
            </a:r>
            <a:r>
              <a:rPr sz="1100">
                <a:solidFill>
                  <a:srgbClr val="C8D4EE"/>
                </a:solidFill>
              </a:rPr>
              <a:t>Press wall on homepage + auto-syndication</a:t>
            </a:r>
          </a:p>
          <a:p>
            <a:pPr algn="l">
              <a:spcAft>
                <a:spcPts val="600"/>
              </a:spcAft>
            </a:pPr>
            <a:r>
              <a:rPr sz="900"/>
              <a:t>  </a:t>
            </a:r>
            <a:r>
              <a:rPr sz="900" b="1">
                <a:solidFill>
                  <a:srgbClr val="2ECC71"/>
                </a:solidFill>
              </a:rPr>
              <a:t>* </a:t>
            </a:r>
            <a:r>
              <a:rPr sz="1100">
                <a:solidFill>
                  <a:srgbClr val="C8D4EE"/>
                </a:solidFill>
              </a:rPr>
              <a:t>Separated investor / tenant / press tracks</a:t>
            </a:r>
          </a:p>
          <a:p>
            <a:pPr algn="l">
              <a:spcAft>
                <a:spcPts val="600"/>
              </a:spcAft>
            </a:pPr>
            <a:r>
              <a:rPr sz="900"/>
              <a:t>  </a:t>
            </a:r>
            <a:r>
              <a:rPr sz="900" b="1">
                <a:solidFill>
                  <a:srgbClr val="2ECC71"/>
                </a:solidFill>
              </a:rPr>
              <a:t>* </a:t>
            </a:r>
            <a:r>
              <a:rPr sz="1100">
                <a:solidFill>
                  <a:srgbClr val="C8D4EE"/>
                </a:solidFill>
              </a:rPr>
              <a:t>Lead capture form + calendar booking</a:t>
            </a:r>
          </a:p>
          <a:p>
            <a:pPr algn="l">
              <a:spcAft>
                <a:spcPts val="600"/>
              </a:spcAft>
            </a:pPr>
            <a:r>
              <a:rPr sz="900"/>
              <a:t>  </a:t>
            </a:r>
            <a:r>
              <a:rPr sz="900" b="1">
                <a:solidFill>
                  <a:srgbClr val="2ECC71"/>
                </a:solidFill>
              </a:rPr>
              <a:t>* </a:t>
            </a:r>
            <a:r>
              <a:rPr sz="1100">
                <a:solidFill>
                  <a:srgbClr val="C8D4EE"/>
                </a:solidFill>
              </a:rPr>
              <a:t>Allure University funnel + drip courses</a:t>
            </a:r>
          </a:p>
          <a:p>
            <a:pPr algn="l">
              <a:spcAft>
                <a:spcPts val="600"/>
              </a:spcAft>
            </a:pPr>
            <a:r>
              <a:rPr sz="900"/>
              <a:t>  </a:t>
            </a:r>
            <a:r>
              <a:rPr sz="900" b="1">
                <a:solidFill>
                  <a:srgbClr val="2ECC71"/>
                </a:solidFill>
              </a:rPr>
              <a:t>* </a:t>
            </a:r>
            <a:r>
              <a:rPr sz="1100">
                <a:solidFill>
                  <a:srgbClr val="C8D4EE"/>
                </a:solidFill>
              </a:rPr>
              <a:t>Tenant portal for 115+ studios</a:t>
            </a:r>
          </a:p>
          <a:p>
            <a:pPr algn="l"/>
            <a:r>
              <a:rPr sz="900"/>
              <a:t>  </a:t>
            </a:r>
            <a:r>
              <a:rPr sz="900" b="1">
                <a:solidFill>
                  <a:srgbClr val="2ECC71"/>
                </a:solidFill>
              </a:rPr>
              <a:t>* </a:t>
            </a:r>
            <a:r>
              <a:rPr sz="1100">
                <a:solidFill>
                  <a:srgbClr val="C8D4EE"/>
                </a:solidFill>
              </a:rPr>
              <a:t>Site rebuild with case studies + financials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3-5x</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investor lead capture
with ROI calculator vs. plain page</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60-70%</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of after-hours questions
resolvable by AI chat</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90 days</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lease renewal sequence
start point for retention</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8 features</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Modern Salon, IAMCEO,
Auth Mag - homepage uses 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400" b="1" i="0">
                <a:solidFill>
                  <a:srgbClr val="FFFFFF"/>
                </a:solidFill>
              </a:rPr>
              <a:t>Turning Credibility Into Inbound.</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Investor ROI
Calculator</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Inputs: square footage, metro area, target investor budget. Outputs: projected annual revenue anchored on Allure's $150K-per-location benchmark, projected TI negotiation savings, payback timeline. Captures qualified investor leads in a way no plain contact form can. Replaces vague conversations with anchored numbers.</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AI Chat
24/7 Self-Service</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Trained on Allure's process, TI negotiation playbook, pricing approach, US vs. Canada operations, and Allure Salon Group tenant onboarding. Handles investor and beauty professional inquiries at any hour. Routes complex deals to Karen with full conversation context already captured. Replaces the after-hours dead end.</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Allure University
Funnel + LMS</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Landing page, signup sequence, drip course delivery, completion tracking, certificate generation. The infrastructure Karen has talked about publicly but doesn't exist yet. Built once, runs as a permanent acquisition channel for both DIY operators and consulting prospects.</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Tenant Retention
Automation</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Across 115+ studios at Allure Salon Group: 90-day pre-renewal sequences, employee-to-owner program nurture, early-warning churn signals based on payment patterns and engagement, post-onboarding check-ins. Protects the recurring revenue base directly. Karen's tenant-success thesis applied at scale.</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Press Syndication
+ Trust Wall</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Homepage section featuring Modern Salon, Authority Magazine, IAMCEO, SF Commercial, Elite Property News - ordered for the audience the visitor matches. Automated syndication when the next feature lands: cross-posts to social, newsletter, partner channels in minutes instead of hours.</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"If your tenants are successful business owners, they stay long term." - Karen Kaminski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Brand Is Built. The Digital Layer Isn't Yet.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investor capture path = the Sunday night researcher never enters your funnel</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An investor with capital, looking at salon suites as a passive-income asset, lands on the Partner With Us page after hours. Phone number, email, no form, no calculator, no calendar. They don't call. They go back to Google and click the next consultant. Allure never sees the lead. The credibility doesn't matter if the front door doesn't open after 5pm.</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No ROI calculator = your strongest number lives in interview transcripts</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$150K average annual revenue per location is the kind of anchor that turns interest into action. Right now it appears in podcast transcripts and Authority Magazine, not on the site where investors are evaluating. A calculator with that number as the anchor is the difference between a brochure site and a lead engine.</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Press wins not on the homepage = trust signals doing no work pre-call</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Modern Salon Top 10 nominee. Authority Magazine. IAMCEO. SF Commercial. Elite Property News. Every one of these is the kind of credential that closes the trust gap before the first conversation. Buried on a separate page, they reach almost no one. Surfaced on the homepage, they shorten every sales cycle by removing the credibility question.</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No Allure University infrastructure = an audience built and not captured</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Karen has been talking about Allure University for at least a year. The audience for it is being built every time she does a podcast or feature. Without a landing page, signup funnel, and drip course delivery, that audience is being introduced to the idea and not given anywhere to go next.</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Manual tenant retention across 115+ studios = revenue at risk</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Lease renewal sequences, employee-to-owner program nurture, churn early-warning. At 115+ studios across 5 locations, manual handling has gaps. A tenant who goes quiet at month 14 of an 18-month lease should trigger a sequence, not wait for someone to notice. Karen's own thesis on tenant success points directly at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Allure Salon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Investor ROI Calculator + Qualified Lead Capture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Embedded on Partner With Us and the homepage. Square footage and metro area in, projected annual revenue (anchored on the $150K benchmark), TI negotiation savings, and payback timeline out. Calculator output triggers a lead capture form and an automated follow-up sequence routed to Karen with the prospect's calculator inputs already attached.</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Chat - 24/7 Investor + Tenant Self-Service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Chat widget trained on Allure's process, TI negotiation, pricing approach, US vs. Canada operations, and Allure Salon Group tenant onboarding. Routes complex investor inquiries to Karen with conversation context. Handles tenant questions at Allure Salon Group locations. Closes the after-hours gap on both audiences.</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Allure University - Funnel, LMS, Drip Delivery</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Landing page, signup sequence, drip course delivery, completion tracking, certificate generation. The platform Karen has talked about, built. Connects directly to the consulting funnel: course completers become qualified consulting prospects with already-demonstrated commitment.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Tenant Retention Automation Across 115+ Studios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Pre-renewal sequences starting 90 days before lease end. Employee-to-Owner program drip nurture. Churn early-warning signals based on payment timing, communication response, and engagement patterns. Post-onboarding check-ins at 30, 60, and 90 days. Protects the recurring revenue base where it lives.</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Site Rebuild + Press Syndication + Trust Wall</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alluresalonsuiteconsulting.com rebuilt with separated investor and tenant tracks, press wall on homepage (Modern Salon, Authority Magazine, IAMCEO, SF Commercial, Elite Property News), case studies with location-level financials, calendar booking on every CTA. Press syndication automation when the next feature lands.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AI chat live on alluresalonsuiteconsulting.com - 24/7 investor and tenant questions handled</a:t>
            </a:r>
          </a:p>
          <a:p>
            <a:pPr algn="l">
              <a:spcAft>
                <a:spcPts val="600"/>
              </a:spcAft>
            </a:pPr>
            <a:r>
              <a:rPr sz="1000"/>
              <a:t>  </a:t>
            </a:r>
            <a:r>
              <a:rPr sz="1000" b="1">
                <a:solidFill>
                  <a:srgbClr val="F5C518"/>
                </a:solidFill>
              </a:rPr>
              <a:t>* </a:t>
            </a:r>
            <a:r>
              <a:rPr sz="1200">
                <a:solidFill>
                  <a:srgbClr val="C8D4EE"/>
                </a:solidFill>
              </a:rPr>
              <a:t>Investor ROI calculator deployed on Partner With Us, anchored on $150K benchmark</a:t>
            </a:r>
          </a:p>
          <a:p>
            <a:pPr algn="l">
              <a:spcAft>
                <a:spcPts val="600"/>
              </a:spcAft>
            </a:pPr>
            <a:r>
              <a:rPr sz="1000"/>
              <a:t>  </a:t>
            </a:r>
            <a:r>
              <a:rPr sz="1000" b="1">
                <a:solidFill>
                  <a:srgbClr val="F5C518"/>
                </a:solidFill>
              </a:rPr>
              <a:t>* </a:t>
            </a:r>
            <a:r>
              <a:rPr sz="1200">
                <a:solidFill>
                  <a:srgbClr val="C8D4EE"/>
                </a:solidFill>
              </a:rPr>
              <a:t>Lead capture form replacing phone-and-email-only contact, calendar booking embedded</a:t>
            </a:r>
          </a:p>
          <a:p>
            <a:pPr algn="l"/>
            <a:r>
              <a:rPr sz="1000"/>
              <a:t>  </a:t>
            </a:r>
            <a:r>
              <a:rPr sz="1000" b="1">
                <a:solidFill>
                  <a:srgbClr val="F5C518"/>
                </a:solidFill>
              </a:rPr>
              <a:t>* </a:t>
            </a:r>
            <a:r>
              <a:rPr sz="1200">
                <a:solidFill>
                  <a:srgbClr val="C8D4EE"/>
                </a:solidFill>
              </a:rPr>
              <a:t>Press wall added to homepage - Modern Salon, Authority Magazine, IAMCEO, SF Commercial</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Allure University landing page live with first drip course active</a:t>
            </a:r>
          </a:p>
          <a:p>
            <a:pPr algn="l">
              <a:spcAft>
                <a:spcPts val="600"/>
              </a:spcAft>
            </a:pPr>
            <a:r>
              <a:rPr sz="1000"/>
              <a:t>  </a:t>
            </a:r>
            <a:r>
              <a:rPr sz="1000" b="1">
                <a:solidFill>
                  <a:srgbClr val="4F8EFF"/>
                </a:solidFill>
              </a:rPr>
              <a:t>* </a:t>
            </a:r>
            <a:r>
              <a:rPr sz="1200">
                <a:solidFill>
                  <a:srgbClr val="C8D4EE"/>
                </a:solidFill>
              </a:rPr>
              <a:t>Tenant retention sequences running across Allure Salon Group's 115+ studios</a:t>
            </a:r>
          </a:p>
          <a:p>
            <a:pPr algn="l">
              <a:spcAft>
                <a:spcPts val="600"/>
              </a:spcAft>
            </a:pPr>
            <a:r>
              <a:rPr sz="1000"/>
              <a:t>  </a:t>
            </a:r>
            <a:r>
              <a:rPr sz="1000" b="1">
                <a:solidFill>
                  <a:srgbClr val="4F8EFF"/>
                </a:solidFill>
              </a:rPr>
              <a:t>* </a:t>
            </a:r>
            <a:r>
              <a:rPr sz="1200">
                <a:solidFill>
                  <a:srgbClr val="C8D4EE"/>
                </a:solidFill>
              </a:rPr>
              <a:t>Employee-to-Owner program nurture sequences deployed</a:t>
            </a:r>
          </a:p>
          <a:p>
            <a:pPr algn="l"/>
            <a:r>
              <a:rPr sz="1000"/>
              <a:t>  </a:t>
            </a:r>
            <a:r>
              <a:rPr sz="1000" b="1">
                <a:solidFill>
                  <a:srgbClr val="4F8EFF"/>
                </a:solidFill>
              </a:rPr>
              <a:t>* </a:t>
            </a:r>
            <a:r>
              <a:rPr sz="1200">
                <a:solidFill>
                  <a:srgbClr val="C8D4EE"/>
                </a:solidFill>
              </a:rPr>
              <a:t>First measurable inbound investor leads from ROI calculator submissions</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Site rebuild complete with separated investor / tenant tracks and case studies</a:t>
            </a:r>
          </a:p>
          <a:p>
            <a:pPr algn="l">
              <a:spcAft>
                <a:spcPts val="600"/>
              </a:spcAft>
            </a:pPr>
            <a:r>
              <a:rPr sz="1000"/>
              <a:t>  </a:t>
            </a:r>
            <a:r>
              <a:rPr sz="1000" b="1">
                <a:solidFill>
                  <a:srgbClr val="2ECC71"/>
                </a:solidFill>
              </a:rPr>
              <a:t>* </a:t>
            </a:r>
            <a:r>
              <a:rPr sz="1200">
                <a:solidFill>
                  <a:srgbClr val="C8D4EE"/>
                </a:solidFill>
              </a:rPr>
              <a:t>Press syndication automation in production - next feature spreads in minutes</a:t>
            </a:r>
          </a:p>
          <a:p>
            <a:pPr algn="l">
              <a:spcAft>
                <a:spcPts val="600"/>
              </a:spcAft>
            </a:pPr>
            <a:r>
              <a:rPr sz="1000"/>
              <a:t>  </a:t>
            </a:r>
            <a:r>
              <a:rPr sz="1000" b="1">
                <a:solidFill>
                  <a:srgbClr val="2ECC71"/>
                </a:solidFill>
              </a:rPr>
              <a:t>* </a:t>
            </a:r>
            <a:r>
              <a:rPr sz="1200">
                <a:solidFill>
                  <a:srgbClr val="C8D4EE"/>
                </a:solidFill>
              </a:rPr>
              <a:t>Cross-border (US / Canada) investor capture flows live with geo-segmentation</a:t>
            </a:r>
          </a:p>
          <a:p>
            <a:pPr algn="l"/>
            <a:r>
              <a:rPr sz="1000"/>
              <a:t>  </a:t>
            </a:r>
            <a:r>
              <a:rPr sz="1000" b="1">
                <a:solidFill>
                  <a:srgbClr val="2ECC71"/>
                </a:solidFill>
              </a:rPr>
              <a:t>* </a:t>
            </a:r>
            <a:r>
              <a:rPr sz="1200">
                <a:solidFill>
                  <a:srgbClr val="C8D4EE"/>
                </a:solidFill>
              </a:rPr>
              <a:t>Tenant churn early-warning signals running, first save data measurable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Allure Salon Suite Consulting and Allure Salon Group.</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800" b="1" i="0">
                <a:solidFill>
                  <a:srgbClr val="F5C518"/>
                </a:solidFill>
              </a:rPr>
              <a:t>WHAT WE BUILD FOR
ALLURE SALON</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ROI Calculator</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Anchored on $150K - turns interest into qualified leads</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investor + tenant self-service, full context routing</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Allure U</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Funnel, drip courses, completion tracking - built and live</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Retention</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Lease renewal + churn early-warning across 115+ studios</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Press Wall</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Homepage trust signals + automated syndication</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Site Rebuild</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Investor / tenant tracks, case studies, calendar booking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