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Rectangle 1"/>
          <p:cNvSpPr/>
          <p:nvPr/>
        </p:nvSpPr>
        <p:spPr>
          <a:xfrm>
            <a:off x="0" y="0"/>
            <a:ext cx="12188952" cy="3810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914400"/>
            <a:ext cx="5029200" cy="320040"/>
          </a:xfrm>
          <a:prstGeom prst="rect">
            <a:avLst/>
          </a:prstGeom>
          <a:noFill/>
        </p:spPr>
        <p:txBody>
          <a:bodyPr wrap="square">
            <a:spAutoFit/>
          </a:bodyPr>
          <a:lstStyle/>
          <a:p>
            <a:pPr algn="l"/>
            <a:r>
              <a:rPr sz="1000" b="1" i="0">
                <a:solidFill>
                  <a:srgbClr val="6B6B6E"/>
                </a:solidFill>
                <a:latin typeface="Satoshi"/>
              </a:rPr>
              <a:t>PREPARED FOR</a:t>
            </a:r>
          </a:p>
        </p:txBody>
      </p:sp>
      <p:sp>
        <p:nvSpPr>
          <p:cNvPr id="4" name="Rectangle 3"/>
          <p:cNvSpPr/>
          <p:nvPr/>
        </p:nvSpPr>
        <p:spPr>
          <a:xfrm>
            <a:off x="685800" y="1298448"/>
            <a:ext cx="5029200"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463040"/>
            <a:ext cx="7772400" cy="1280160"/>
          </a:xfrm>
          <a:prstGeom prst="rect">
            <a:avLst/>
          </a:prstGeom>
          <a:noFill/>
        </p:spPr>
        <p:txBody>
          <a:bodyPr wrap="square">
            <a:spAutoFit/>
          </a:bodyPr>
          <a:lstStyle/>
          <a:p>
            <a:pPr algn="l"/>
            <a:r>
              <a:rPr sz="6400" b="0" i="0">
                <a:solidFill>
                  <a:srgbClr val="FFFFFF"/>
                </a:solidFill>
                <a:latin typeface="Instrument Serif"/>
              </a:rPr>
              <a:t>Regnum Properties</a:t>
            </a:r>
          </a:p>
        </p:txBody>
      </p:sp>
      <p:sp>
        <p:nvSpPr>
          <p:cNvPr id="6" name="TextBox 5"/>
          <p:cNvSpPr txBox="1"/>
          <p:nvPr/>
        </p:nvSpPr>
        <p:spPr>
          <a:xfrm>
            <a:off x="685800" y="2834640"/>
            <a:ext cx="6400800" cy="292608"/>
          </a:xfrm>
          <a:prstGeom prst="rect">
            <a:avLst/>
          </a:prstGeom>
          <a:noFill/>
        </p:spPr>
        <p:txBody>
          <a:bodyPr wrap="square">
            <a:spAutoFit/>
          </a:bodyPr>
          <a:lstStyle/>
          <a:p>
            <a:pPr algn="l"/>
            <a:r>
              <a:rPr sz="1300" b="0" i="0">
                <a:solidFill>
                  <a:srgbClr val="9D9D9F"/>
                </a:solidFill>
                <a:latin typeface="Satoshi"/>
              </a:rPr>
              <a:t>Luxury Residential Development  .  East Legon, Accra  .  Diaspora &amp; International Buyers</a:t>
            </a:r>
          </a:p>
        </p:txBody>
      </p:sp>
      <p:sp>
        <p:nvSpPr>
          <p:cNvPr id="7" name="TextBox 6"/>
          <p:cNvSpPr txBox="1"/>
          <p:nvPr/>
        </p:nvSpPr>
        <p:spPr>
          <a:xfrm>
            <a:off x="685800" y="3273552"/>
            <a:ext cx="5486400" cy="256032"/>
          </a:xfrm>
          <a:prstGeom prst="rect">
            <a:avLst/>
          </a:prstGeom>
          <a:noFill/>
        </p:spPr>
        <p:txBody>
          <a:bodyPr wrap="square">
            <a:spAutoFit/>
          </a:bodyPr>
          <a:lstStyle/>
          <a:p>
            <a:pPr algn="l"/>
            <a:r>
              <a:rPr sz="1100" b="0" i="0">
                <a:solidFill>
                  <a:srgbClr val="6B6B6E"/>
                </a:solidFill>
                <a:latin typeface="Satoshi"/>
              </a:rPr>
              <a:t>Accra, Ghana  .  The Alexandria  .  The Arlington</a:t>
            </a:r>
          </a:p>
        </p:txBody>
      </p:sp>
      <p:sp>
        <p:nvSpPr>
          <p:cNvPr id="8" name="Rectangle 7"/>
          <p:cNvSpPr/>
          <p:nvPr/>
        </p:nvSpPr>
        <p:spPr>
          <a:xfrm>
            <a:off x="685800" y="3694176"/>
            <a:ext cx="5486400"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3877056"/>
            <a:ext cx="6858000" cy="256032"/>
          </a:xfrm>
          <a:prstGeom prst="rect">
            <a:avLst/>
          </a:prstGeom>
          <a:noFill/>
        </p:spPr>
        <p:txBody>
          <a:bodyPr wrap="square">
            <a:spAutoFit/>
          </a:bodyPr>
          <a:lstStyle/>
          <a:p>
            <a:pPr algn="l"/>
            <a:r>
              <a:rPr sz="1000" b="1" i="0">
                <a:solidFill>
                  <a:srgbClr val="A78BFA"/>
                </a:solidFill>
                <a:latin typeface="Satoshi"/>
              </a:rPr>
              <a:t>AI AUTOMATION PROPOSAL</a:t>
            </a:r>
          </a:p>
        </p:txBody>
      </p:sp>
      <p:sp>
        <p:nvSpPr>
          <p:cNvPr id="10" name="TextBox 9"/>
          <p:cNvSpPr txBox="1"/>
          <p:nvPr/>
        </p:nvSpPr>
        <p:spPr>
          <a:xfrm>
            <a:off x="685800" y="4242816"/>
            <a:ext cx="5943600" cy="1280160"/>
          </a:xfrm>
          <a:prstGeom prst="rect">
            <a:avLst/>
          </a:prstGeom>
          <a:noFill/>
        </p:spPr>
        <p:txBody>
          <a:bodyPr wrap="square">
            <a:spAutoFit/>
          </a:bodyPr>
          <a:lstStyle/>
          <a:p>
            <a:pPr algn="l"/>
            <a:r>
              <a:rPr sz="1300" b="0">
                <a:solidFill>
                  <a:srgbClr val="86868A"/>
                </a:solidFill>
                <a:latin typeface="Satoshi"/>
              </a:rPr>
              <a:t>An AI automation layer for Regnum Properties --</a:t>
            </a:r>
          </a:p>
          <a:p>
            <a:pPr algn="l"/>
            <a:r>
              <a:rPr sz="1300" b="0">
                <a:solidFill>
                  <a:srgbClr val="86868A"/>
                </a:solidFill>
                <a:latin typeface="Satoshi"/>
              </a:rPr>
              <a:t>built to qualify diaspora buyers, nurture international investors,</a:t>
            </a:r>
          </a:p>
          <a:p>
            <a:pPr algn="l"/>
            <a:r>
              <a:rPr sz="1300" b="0">
                <a:solidFill>
                  <a:srgbClr val="86868A"/>
                </a:solidFill>
                <a:latin typeface="Satoshi"/>
              </a:rPr>
              <a:t>book viewings 24/7, and close the gap between</a:t>
            </a:r>
          </a:p>
          <a:p>
            <a:pPr algn="l"/>
            <a:r>
              <a:rPr sz="1300" b="0">
                <a:solidFill>
                  <a:srgbClr val="86868A"/>
                </a:solidFill>
                <a:latin typeface="Satoshi"/>
              </a:rPr>
              <a:t>overseas interest and signed deals.</a:t>
            </a:r>
          </a:p>
        </p:txBody>
      </p:sp>
      <p:sp>
        <p:nvSpPr>
          <p:cNvPr id="11" name="Rounded Rectangle 10"/>
          <p:cNvSpPr/>
          <p:nvPr/>
        </p:nvSpPr>
        <p:spPr>
          <a:xfrm>
            <a:off x="8229600" y="1097280"/>
            <a:ext cx="3273552" cy="228600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58200" y="1371600"/>
            <a:ext cx="2743200" cy="256032"/>
          </a:xfrm>
          <a:prstGeom prst="rect">
            <a:avLst/>
          </a:prstGeom>
          <a:noFill/>
        </p:spPr>
        <p:txBody>
          <a:bodyPr wrap="square">
            <a:spAutoFit/>
          </a:bodyPr>
          <a:lstStyle/>
          <a:p>
            <a:pPr algn="l"/>
            <a:r>
              <a:rPr sz="900" b="1" i="0">
                <a:solidFill>
                  <a:srgbClr val="6B6B6E"/>
                </a:solidFill>
                <a:latin typeface="Satoshi"/>
              </a:rPr>
              <a:t>PREPARED BY</a:t>
            </a:r>
          </a:p>
        </p:txBody>
      </p:sp>
      <p:sp>
        <p:nvSpPr>
          <p:cNvPr id="13" name="TextBox 12"/>
          <p:cNvSpPr txBox="1"/>
          <p:nvPr/>
        </p:nvSpPr>
        <p:spPr>
          <a:xfrm>
            <a:off x="8458200" y="1719072"/>
            <a:ext cx="2743200" cy="292608"/>
          </a:xfrm>
          <a:prstGeom prst="rect">
            <a:avLst/>
          </a:prstGeom>
          <a:noFill/>
        </p:spPr>
        <p:txBody>
          <a:bodyPr wrap="square">
            <a:spAutoFit/>
          </a:bodyPr>
          <a:lstStyle/>
          <a:p>
            <a:pPr algn="l"/>
            <a:r>
              <a:rPr sz="2000" b="0" i="0">
                <a:solidFill>
                  <a:srgbClr val="FFFFFF"/>
                </a:solidFill>
                <a:latin typeface="Instrument Serif"/>
              </a:rPr>
              <a:t>GenosAI Tech</a:t>
            </a:r>
          </a:p>
        </p:txBody>
      </p:sp>
      <p:sp>
        <p:nvSpPr>
          <p:cNvPr id="14" name="TextBox 13"/>
          <p:cNvSpPr txBox="1"/>
          <p:nvPr/>
        </p:nvSpPr>
        <p:spPr>
          <a:xfrm>
            <a:off x="8458200" y="2103120"/>
            <a:ext cx="2743200" cy="237744"/>
          </a:xfrm>
          <a:prstGeom prst="rect">
            <a:avLst/>
          </a:prstGeom>
          <a:noFill/>
        </p:spPr>
        <p:txBody>
          <a:bodyPr wrap="square">
            <a:spAutoFit/>
          </a:bodyPr>
          <a:lstStyle/>
          <a:p>
            <a:pPr algn="l"/>
            <a:r>
              <a:rPr sz="1100" b="0" i="0">
                <a:solidFill>
                  <a:srgbClr val="9D9D9F"/>
                </a:solidFill>
                <a:latin typeface="Satoshi"/>
              </a:rPr>
              <a:t>Rohan Malik  .  Founder &amp; CEO</a:t>
            </a:r>
          </a:p>
        </p:txBody>
      </p:sp>
      <p:sp>
        <p:nvSpPr>
          <p:cNvPr id="15" name="TextBox 14"/>
          <p:cNvSpPr txBox="1"/>
          <p:nvPr/>
        </p:nvSpPr>
        <p:spPr>
          <a:xfrm>
            <a:off x="8458200" y="2423160"/>
            <a:ext cx="2743200" cy="237744"/>
          </a:xfrm>
          <a:prstGeom prst="rect">
            <a:avLst/>
          </a:prstGeom>
          <a:noFill/>
        </p:spPr>
        <p:txBody>
          <a:bodyPr wrap="square">
            <a:spAutoFit/>
          </a:bodyPr>
          <a:lstStyle/>
          <a:p>
            <a:pPr algn="l"/>
            <a:r>
              <a:rPr sz="1000" b="0" i="0">
                <a:solidFill>
                  <a:srgbClr val="6B6B6E"/>
                </a:solidFill>
                <a:latin typeface="Satoshi"/>
              </a:rPr>
              <a:t>hello@genosai.tech  .  www.genosai.tech</a:t>
            </a:r>
          </a:p>
        </p:txBody>
      </p:sp>
      <p:sp>
        <p:nvSpPr>
          <p:cNvPr id="16" name="TextBox 15"/>
          <p:cNvSpPr txBox="1"/>
          <p:nvPr/>
        </p:nvSpPr>
        <p:spPr>
          <a:xfrm>
            <a:off x="685800" y="6263640"/>
            <a:ext cx="3657600" cy="411480"/>
          </a:xfrm>
          <a:prstGeom prst="rect">
            <a:avLst/>
          </a:prstGeom>
          <a:noFill/>
        </p:spPr>
        <p:txBody>
          <a:bodyPr wrap="square">
            <a:spAutoFit/>
          </a:bodyPr>
          <a:lstStyle/>
          <a:p>
            <a:pPr algn="l"/>
            <a:r>
              <a:rPr sz="2200" b="0" i="0">
                <a:solidFill>
                  <a:srgbClr val="FFFFFF"/>
                </a:solidFill>
                <a:latin typeface="Instrument Serif"/>
              </a:rPr>
              <a:t>GenosAI</a:t>
            </a:r>
          </a:p>
        </p:txBody>
      </p:sp>
      <p:sp>
        <p:nvSpPr>
          <p:cNvPr id="17" name="TextBox 16"/>
          <p:cNvSpPr txBox="1"/>
          <p:nvPr/>
        </p:nvSpPr>
        <p:spPr>
          <a:xfrm>
            <a:off x="2194560" y="6291072"/>
            <a:ext cx="2743200" cy="274320"/>
          </a:xfrm>
          <a:prstGeom prst="rect">
            <a:avLst/>
          </a:prstGeom>
          <a:noFill/>
        </p:spPr>
        <p:txBody>
          <a:bodyPr wrap="square">
            <a:spAutoFit/>
          </a:bodyPr>
          <a:lstStyle/>
          <a:p>
            <a:pPr algn="l"/>
            <a:r>
              <a:rPr sz="900" b="0" i="0">
                <a:solidFill>
                  <a:srgbClr val="444447"/>
                </a:solidFill>
                <a:latin typeface="Satoshi"/>
              </a:rPr>
              <a:t>v1.0  .  2026  .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685800" y="201168"/>
            <a:ext cx="5486400" cy="256032"/>
          </a:xfrm>
          <a:prstGeom prst="rect">
            <a:avLst/>
          </a:prstGeom>
          <a:noFill/>
        </p:spPr>
        <p:txBody>
          <a:bodyPr wrap="square">
            <a:spAutoFit/>
          </a:bodyPr>
          <a:lstStyle/>
          <a:p>
            <a:pPr algn="l"/>
            <a:r>
              <a:rPr sz="900" b="1" i="0">
                <a:solidFill>
                  <a:srgbClr val="6B6B6E"/>
                </a:solidFill>
                <a:latin typeface="Satoshi"/>
              </a:rPr>
              <a:t>GENOSAI  x  REGNUM PROPERTIES</a:t>
            </a:r>
          </a:p>
        </p:txBody>
      </p:sp>
      <p:sp>
        <p:nvSpPr>
          <p:cNvPr id="3" name="TextBox 2"/>
          <p:cNvSpPr txBox="1"/>
          <p:nvPr/>
        </p:nvSpPr>
        <p:spPr>
          <a:xfrm>
            <a:off x="6858000" y="201168"/>
            <a:ext cx="4645152" cy="256032"/>
          </a:xfrm>
          <a:prstGeom prst="rect">
            <a:avLst/>
          </a:prstGeom>
          <a:noFill/>
        </p:spPr>
        <p:txBody>
          <a:bodyPr wrap="square">
            <a:spAutoFit/>
          </a:bodyPr>
          <a:lstStyle/>
          <a:p>
            <a:pPr algn="r"/>
            <a:r>
              <a:rPr sz="900" b="1" i="0">
                <a:solidFill>
                  <a:srgbClr val="6B6B6E"/>
                </a:solidFill>
                <a:latin typeface="Satoshi"/>
              </a:rPr>
              <a:t>01  .  THE DEVELOPER</a:t>
            </a:r>
          </a:p>
        </p:txBody>
      </p:sp>
      <p:sp>
        <p:nvSpPr>
          <p:cNvPr id="4" name="Rectangle 3"/>
          <p:cNvSpPr/>
          <p:nvPr/>
        </p:nvSpPr>
        <p:spPr>
          <a:xfrm>
            <a:off x="685800" y="530352"/>
            <a:ext cx="10817352"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73952"/>
            <a:ext cx="7315200" cy="256032"/>
          </a:xfrm>
          <a:prstGeom prst="rect">
            <a:avLst/>
          </a:prstGeom>
          <a:noFill/>
        </p:spPr>
        <p:txBody>
          <a:bodyPr wrap="square">
            <a:spAutoFit/>
          </a:bodyPr>
          <a:lstStyle/>
          <a:p>
            <a:pPr algn="l"/>
            <a:r>
              <a:rPr sz="800" b="0" i="0">
                <a:solidFill>
                  <a:srgbClr val="444447"/>
                </a:solidFill>
                <a:latin typeface="Satoshi"/>
              </a:rPr>
              <a:t>AI Automation Proposal  .  Regnum Properties  .  2026</a:t>
            </a:r>
          </a:p>
        </p:txBody>
      </p:sp>
      <p:sp>
        <p:nvSpPr>
          <p:cNvPr id="6" name="TextBox 5"/>
          <p:cNvSpPr txBox="1"/>
          <p:nvPr/>
        </p:nvSpPr>
        <p:spPr>
          <a:xfrm>
            <a:off x="8686800" y="6473952"/>
            <a:ext cx="2816352" cy="256032"/>
          </a:xfrm>
          <a:prstGeom prst="rect">
            <a:avLst/>
          </a:prstGeom>
          <a:noFill/>
        </p:spPr>
        <p:txBody>
          <a:bodyPr wrap="square">
            <a:spAutoFit/>
          </a:bodyPr>
          <a:lstStyle/>
          <a:p>
            <a:pPr algn="r"/>
            <a:r>
              <a:rPr sz="800" b="0" i="0">
                <a:solidFill>
                  <a:srgbClr val="444447"/>
                </a:solidFill>
                <a:latin typeface="Satoshi"/>
              </a:rPr>
              <a:t>02 / 12</a:t>
            </a:r>
          </a:p>
        </p:txBody>
      </p:sp>
      <p:sp>
        <p:nvSpPr>
          <p:cNvPr id="7" name="TextBox 6"/>
          <p:cNvSpPr txBox="1"/>
          <p:nvPr/>
        </p:nvSpPr>
        <p:spPr>
          <a:xfrm>
            <a:off x="685800" y="777240"/>
            <a:ext cx="5486400" cy="274320"/>
          </a:xfrm>
          <a:prstGeom prst="rect">
            <a:avLst/>
          </a:prstGeom>
          <a:noFill/>
        </p:spPr>
        <p:txBody>
          <a:bodyPr wrap="square">
            <a:spAutoFit/>
          </a:bodyPr>
          <a:lstStyle/>
          <a:p>
            <a:pPr algn="l"/>
            <a:r>
              <a:rPr sz="1000" b="1" i="0">
                <a:solidFill>
                  <a:srgbClr val="A78BFA"/>
                </a:solidFill>
                <a:latin typeface="Satoshi"/>
              </a:rPr>
              <a:t>REGNUM PROPERTIES AT A GLANCE</a:t>
            </a:r>
          </a:p>
        </p:txBody>
      </p:sp>
      <p:sp>
        <p:nvSpPr>
          <p:cNvPr id="8" name="TextBox 7"/>
          <p:cNvSpPr txBox="1"/>
          <p:nvPr/>
        </p:nvSpPr>
        <p:spPr>
          <a:xfrm>
            <a:off x="685800" y="1078992"/>
            <a:ext cx="9144000" cy="1463040"/>
          </a:xfrm>
          <a:prstGeom prst="rect">
            <a:avLst/>
          </a:prstGeom>
          <a:noFill/>
        </p:spPr>
        <p:txBody>
          <a:bodyPr wrap="square">
            <a:spAutoFit/>
          </a:bodyPr>
          <a:lstStyle/>
          <a:p>
            <a:pPr algn="l"/>
            <a:r>
              <a:rPr sz="3400" b="0" i="0">
                <a:solidFill>
                  <a:srgbClr val="FFFFFF"/>
                </a:solidFill>
                <a:latin typeface="Instrument Serif"/>
              </a:rPr>
              <a:t>Luxury Homes in Accra's
Premium Corridor. Built for a Global Buyer.</a:t>
            </a:r>
          </a:p>
        </p:txBody>
      </p:sp>
      <p:sp>
        <p:nvSpPr>
          <p:cNvPr id="9" name="TextBox 8"/>
          <p:cNvSpPr txBox="1"/>
          <p:nvPr/>
        </p:nvSpPr>
        <p:spPr>
          <a:xfrm>
            <a:off x="685800" y="2121408"/>
            <a:ext cx="8229600" cy="347472"/>
          </a:xfrm>
          <a:prstGeom prst="rect">
            <a:avLst/>
          </a:prstGeom>
          <a:noFill/>
        </p:spPr>
        <p:txBody>
          <a:bodyPr wrap="square">
            <a:spAutoFit/>
          </a:bodyPr>
          <a:lstStyle/>
          <a:p>
            <a:pPr algn="l"/>
            <a:r>
              <a:rPr sz="1300" b="0" i="0">
                <a:solidFill>
                  <a:srgbClr val="86868A"/>
                </a:solidFill>
                <a:latin typeface="Satoshi"/>
              </a:rPr>
              <a:t>Regnum Properties develops gated luxury communities in East Legon -- Accra's most prestigious residential corridor -- and markets them directly to Ghanaian diaspora investors and international buyers. Smart home integrations, 24/7 security, and fully managed communities. The product is positioned globally. The sales infrastructure is not.</a:t>
            </a:r>
          </a:p>
        </p:txBody>
      </p:sp>
      <p:sp>
        <p:nvSpPr>
          <p:cNvPr id="10" name="Rectangle 9"/>
          <p:cNvSpPr/>
          <p:nvPr/>
        </p:nvSpPr>
        <p:spPr>
          <a:xfrm>
            <a:off x="685800" y="2697480"/>
            <a:ext cx="10817352"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85800" y="2880360"/>
            <a:ext cx="2560320" cy="182880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044952"/>
            <a:ext cx="2194560" cy="256032"/>
          </a:xfrm>
          <a:prstGeom prst="rect">
            <a:avLst/>
          </a:prstGeom>
          <a:noFill/>
        </p:spPr>
        <p:txBody>
          <a:bodyPr wrap="square">
            <a:spAutoFit/>
          </a:bodyPr>
          <a:lstStyle/>
          <a:p>
            <a:pPr algn="l"/>
            <a:r>
              <a:rPr sz="900" b="1" i="0">
                <a:solidFill>
                  <a:srgbClr val="6B6B6E"/>
                </a:solidFill>
                <a:latin typeface="Satoshi"/>
              </a:rPr>
              <a:t>LOCATION</a:t>
            </a:r>
          </a:p>
        </p:txBody>
      </p:sp>
      <p:sp>
        <p:nvSpPr>
          <p:cNvPr id="13" name="TextBox 12"/>
          <p:cNvSpPr txBox="1"/>
          <p:nvPr/>
        </p:nvSpPr>
        <p:spPr>
          <a:xfrm>
            <a:off x="914400" y="3383280"/>
            <a:ext cx="2194560" cy="502920"/>
          </a:xfrm>
          <a:prstGeom prst="rect">
            <a:avLst/>
          </a:prstGeom>
          <a:noFill/>
        </p:spPr>
        <p:txBody>
          <a:bodyPr wrap="square">
            <a:spAutoFit/>
          </a:bodyPr>
          <a:lstStyle/>
          <a:p>
            <a:pPr algn="l"/>
            <a:r>
              <a:rPr sz="2200" b="0" i="0">
                <a:solidFill>
                  <a:srgbClr val="FFFFFF"/>
                </a:solidFill>
                <a:latin typeface="Instrument Serif"/>
              </a:rPr>
              <a:t>East Legon</a:t>
            </a:r>
          </a:p>
        </p:txBody>
      </p:sp>
      <p:sp>
        <p:nvSpPr>
          <p:cNvPr id="14" name="TextBox 13"/>
          <p:cNvSpPr txBox="1"/>
          <p:nvPr/>
        </p:nvSpPr>
        <p:spPr>
          <a:xfrm>
            <a:off x="914400" y="4005072"/>
            <a:ext cx="2194560" cy="411480"/>
          </a:xfrm>
          <a:prstGeom prst="rect">
            <a:avLst/>
          </a:prstGeom>
          <a:noFill/>
        </p:spPr>
        <p:txBody>
          <a:bodyPr wrap="square">
            <a:spAutoFit/>
          </a:bodyPr>
          <a:lstStyle/>
          <a:p>
            <a:pPr algn="l"/>
            <a:r>
              <a:rPr sz="1100" b="0" i="0">
                <a:solidFill>
                  <a:srgbClr val="9D9D9F"/>
                </a:solidFill>
                <a:latin typeface="Satoshi"/>
              </a:rPr>
              <a:t>Trasacco Phase 1 corridor, Accra</a:t>
            </a:r>
          </a:p>
        </p:txBody>
      </p:sp>
      <p:sp>
        <p:nvSpPr>
          <p:cNvPr id="15" name="Rounded Rectangle 14"/>
          <p:cNvSpPr/>
          <p:nvPr/>
        </p:nvSpPr>
        <p:spPr>
          <a:xfrm>
            <a:off x="3419856" y="2880360"/>
            <a:ext cx="2560320" cy="182880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48456" y="3044952"/>
            <a:ext cx="2194560" cy="256032"/>
          </a:xfrm>
          <a:prstGeom prst="rect">
            <a:avLst/>
          </a:prstGeom>
          <a:noFill/>
        </p:spPr>
        <p:txBody>
          <a:bodyPr wrap="square">
            <a:spAutoFit/>
          </a:bodyPr>
          <a:lstStyle/>
          <a:p>
            <a:pPr algn="l"/>
            <a:r>
              <a:rPr sz="900" b="1" i="0">
                <a:solidFill>
                  <a:srgbClr val="6B6B6E"/>
                </a:solidFill>
                <a:latin typeface="Satoshi"/>
              </a:rPr>
              <a:t>PROJECTS</a:t>
            </a:r>
          </a:p>
        </p:txBody>
      </p:sp>
      <p:sp>
        <p:nvSpPr>
          <p:cNvPr id="17" name="TextBox 16"/>
          <p:cNvSpPr txBox="1"/>
          <p:nvPr/>
        </p:nvSpPr>
        <p:spPr>
          <a:xfrm>
            <a:off x="3648456" y="3383280"/>
            <a:ext cx="2194560" cy="502920"/>
          </a:xfrm>
          <a:prstGeom prst="rect">
            <a:avLst/>
          </a:prstGeom>
          <a:noFill/>
        </p:spPr>
        <p:txBody>
          <a:bodyPr wrap="square">
            <a:spAutoFit/>
          </a:bodyPr>
          <a:lstStyle/>
          <a:p>
            <a:pPr algn="l"/>
            <a:r>
              <a:rPr sz="2200" b="0" i="0">
                <a:solidFill>
                  <a:srgbClr val="FFFFFF"/>
                </a:solidFill>
                <a:latin typeface="Instrument Serif"/>
              </a:rPr>
              <a:t>2 Active</a:t>
            </a:r>
          </a:p>
        </p:txBody>
      </p:sp>
      <p:sp>
        <p:nvSpPr>
          <p:cNvPr id="18" name="TextBox 17"/>
          <p:cNvSpPr txBox="1"/>
          <p:nvPr/>
        </p:nvSpPr>
        <p:spPr>
          <a:xfrm>
            <a:off x="3648456" y="4005072"/>
            <a:ext cx="2194560" cy="411480"/>
          </a:xfrm>
          <a:prstGeom prst="rect">
            <a:avLst/>
          </a:prstGeom>
          <a:noFill/>
        </p:spPr>
        <p:txBody>
          <a:bodyPr wrap="square">
            <a:spAutoFit/>
          </a:bodyPr>
          <a:lstStyle/>
          <a:p>
            <a:pPr algn="l"/>
            <a:r>
              <a:rPr sz="1100" b="0" i="0">
                <a:solidFill>
                  <a:srgbClr val="9D9D9F"/>
                </a:solidFill>
                <a:latin typeface="Satoshi"/>
              </a:rPr>
              <a:t>The Alexandria &amp; The Arlington</a:t>
            </a:r>
          </a:p>
        </p:txBody>
      </p:sp>
      <p:sp>
        <p:nvSpPr>
          <p:cNvPr id="19" name="Rounded Rectangle 18"/>
          <p:cNvSpPr/>
          <p:nvPr/>
        </p:nvSpPr>
        <p:spPr>
          <a:xfrm>
            <a:off x="6153912" y="2880360"/>
            <a:ext cx="2560320" cy="182880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82512" y="3044952"/>
            <a:ext cx="2194560" cy="256032"/>
          </a:xfrm>
          <a:prstGeom prst="rect">
            <a:avLst/>
          </a:prstGeom>
          <a:noFill/>
        </p:spPr>
        <p:txBody>
          <a:bodyPr wrap="square">
            <a:spAutoFit/>
          </a:bodyPr>
          <a:lstStyle/>
          <a:p>
            <a:pPr algn="l"/>
            <a:r>
              <a:rPr sz="900" b="1" i="0">
                <a:solidFill>
                  <a:srgbClr val="6B6B6E"/>
                </a:solidFill>
                <a:latin typeface="Satoshi"/>
              </a:rPr>
              <a:t>BUYER FOCUS</a:t>
            </a:r>
          </a:p>
        </p:txBody>
      </p:sp>
      <p:sp>
        <p:nvSpPr>
          <p:cNvPr id="21" name="TextBox 20"/>
          <p:cNvSpPr txBox="1"/>
          <p:nvPr/>
        </p:nvSpPr>
        <p:spPr>
          <a:xfrm>
            <a:off x="6382512" y="3383280"/>
            <a:ext cx="2194560" cy="502920"/>
          </a:xfrm>
          <a:prstGeom prst="rect">
            <a:avLst/>
          </a:prstGeom>
          <a:noFill/>
        </p:spPr>
        <p:txBody>
          <a:bodyPr wrap="square">
            <a:spAutoFit/>
          </a:bodyPr>
          <a:lstStyle/>
          <a:p>
            <a:pPr algn="l"/>
            <a:r>
              <a:rPr sz="2200" b="0" i="0">
                <a:solidFill>
                  <a:srgbClr val="FFFFFF"/>
                </a:solidFill>
                <a:latin typeface="Instrument Serif"/>
              </a:rPr>
              <a:t>Diaspora</a:t>
            </a:r>
          </a:p>
        </p:txBody>
      </p:sp>
      <p:sp>
        <p:nvSpPr>
          <p:cNvPr id="22" name="TextBox 21"/>
          <p:cNvSpPr txBox="1"/>
          <p:nvPr/>
        </p:nvSpPr>
        <p:spPr>
          <a:xfrm>
            <a:off x="6382512" y="4005072"/>
            <a:ext cx="2194560" cy="411480"/>
          </a:xfrm>
          <a:prstGeom prst="rect">
            <a:avLst/>
          </a:prstGeom>
          <a:noFill/>
        </p:spPr>
        <p:txBody>
          <a:bodyPr wrap="square">
            <a:spAutoFit/>
          </a:bodyPr>
          <a:lstStyle/>
          <a:p>
            <a:pPr algn="l"/>
            <a:r>
              <a:rPr sz="1100" b="0" i="0">
                <a:solidFill>
                  <a:srgbClr val="9D9D9F"/>
                </a:solidFill>
                <a:latin typeface="Satoshi"/>
              </a:rPr>
              <a:t>International &amp; overseas Ghanaian investors</a:t>
            </a:r>
          </a:p>
        </p:txBody>
      </p:sp>
      <p:sp>
        <p:nvSpPr>
          <p:cNvPr id="23" name="Rounded Rectangle 22"/>
          <p:cNvSpPr/>
          <p:nvPr/>
        </p:nvSpPr>
        <p:spPr>
          <a:xfrm>
            <a:off x="8887968" y="2880360"/>
            <a:ext cx="2560320" cy="182880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16568" y="3044952"/>
            <a:ext cx="2194560" cy="256032"/>
          </a:xfrm>
          <a:prstGeom prst="rect">
            <a:avLst/>
          </a:prstGeom>
          <a:noFill/>
        </p:spPr>
        <p:txBody>
          <a:bodyPr wrap="square">
            <a:spAutoFit/>
          </a:bodyPr>
          <a:lstStyle/>
          <a:p>
            <a:pPr algn="l"/>
            <a:r>
              <a:rPr sz="900" b="1" i="0">
                <a:solidFill>
                  <a:srgbClr val="6B6B6E"/>
                </a:solidFill>
                <a:latin typeface="Satoshi"/>
              </a:rPr>
              <a:t>TECHNOLOGY</a:t>
            </a:r>
          </a:p>
        </p:txBody>
      </p:sp>
      <p:sp>
        <p:nvSpPr>
          <p:cNvPr id="25" name="TextBox 24"/>
          <p:cNvSpPr txBox="1"/>
          <p:nvPr/>
        </p:nvSpPr>
        <p:spPr>
          <a:xfrm>
            <a:off x="9116568" y="3383280"/>
            <a:ext cx="2194560" cy="502920"/>
          </a:xfrm>
          <a:prstGeom prst="rect">
            <a:avLst/>
          </a:prstGeom>
          <a:noFill/>
        </p:spPr>
        <p:txBody>
          <a:bodyPr wrap="square">
            <a:spAutoFit/>
          </a:bodyPr>
          <a:lstStyle/>
          <a:p>
            <a:pPr algn="l"/>
            <a:r>
              <a:rPr sz="2200" b="0" i="0">
                <a:solidFill>
                  <a:srgbClr val="FFFFFF"/>
                </a:solidFill>
                <a:latin typeface="Instrument Serif"/>
              </a:rPr>
              <a:t>Smart Homes</a:t>
            </a:r>
          </a:p>
        </p:txBody>
      </p:sp>
      <p:sp>
        <p:nvSpPr>
          <p:cNvPr id="26" name="TextBox 25"/>
          <p:cNvSpPr txBox="1"/>
          <p:nvPr/>
        </p:nvSpPr>
        <p:spPr>
          <a:xfrm>
            <a:off x="9116568" y="4005072"/>
            <a:ext cx="2194560" cy="411480"/>
          </a:xfrm>
          <a:prstGeom prst="rect">
            <a:avLst/>
          </a:prstGeom>
          <a:noFill/>
        </p:spPr>
        <p:txBody>
          <a:bodyPr wrap="square">
            <a:spAutoFit/>
          </a:bodyPr>
          <a:lstStyle/>
          <a:p>
            <a:pPr algn="l"/>
            <a:r>
              <a:rPr sz="1100" b="0" i="0">
                <a:solidFill>
                  <a:srgbClr val="9D9D9F"/>
                </a:solidFill>
                <a:latin typeface="Satoshi"/>
              </a:rPr>
              <a:t>Integrated controls in all units</a:t>
            </a:r>
          </a:p>
        </p:txBody>
      </p:sp>
      <p:sp>
        <p:nvSpPr>
          <p:cNvPr id="27" name="TextBox 26"/>
          <p:cNvSpPr txBox="1"/>
          <p:nvPr/>
        </p:nvSpPr>
        <p:spPr>
          <a:xfrm>
            <a:off x="685800" y="4956048"/>
            <a:ext cx="10058400" cy="256032"/>
          </a:xfrm>
          <a:prstGeom prst="rect">
            <a:avLst/>
          </a:prstGeom>
          <a:noFill/>
        </p:spPr>
        <p:txBody>
          <a:bodyPr wrap="square">
            <a:spAutoFit/>
          </a:bodyPr>
          <a:lstStyle/>
          <a:p>
            <a:pPr algn="l"/>
            <a:r>
              <a:rPr sz="900" b="1" i="0">
                <a:solidFill>
                  <a:srgbClr val="6B6B6E"/>
                </a:solidFill>
                <a:latin typeface="Satoshi"/>
              </a:rPr>
              <a:t>PROJECT PORTFOLIO</a:t>
            </a:r>
          </a:p>
        </p:txBody>
      </p:sp>
      <p:sp>
        <p:nvSpPr>
          <p:cNvPr id="28" name="Rectangle 27"/>
          <p:cNvSpPr/>
          <p:nvPr/>
        </p:nvSpPr>
        <p:spPr>
          <a:xfrm>
            <a:off x="685800" y="5248656"/>
            <a:ext cx="10817352"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5340096"/>
            <a:ext cx="10817352" cy="502920"/>
          </a:xfrm>
          <a:prstGeom prst="rect">
            <a:avLst/>
          </a:prstGeom>
          <a:noFill/>
        </p:spPr>
        <p:txBody>
          <a:bodyPr wrap="square">
            <a:spAutoFit/>
          </a:bodyPr>
          <a:lstStyle/>
          <a:p>
            <a:pPr algn="l"/>
            <a:r>
              <a:rPr sz="1200" b="0" i="0">
                <a:solidFill>
                  <a:srgbClr val="9D9D9F"/>
                </a:solidFill>
                <a:latin typeface="Satoshi"/>
              </a:rPr>
              <a:t>The Alexandria -- 4.5-bedroom smart townhouses, Trasacco Phase 1 area, gated community, pool, backup power  .  The Arlington -- 3.5-bedroom gated townhouses, 5-unit community, smart home integrations, 24/7 security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685800" y="201168"/>
            <a:ext cx="5486400" cy="256032"/>
          </a:xfrm>
          <a:prstGeom prst="rect">
            <a:avLst/>
          </a:prstGeom>
          <a:noFill/>
        </p:spPr>
        <p:txBody>
          <a:bodyPr wrap="square">
            <a:spAutoFit/>
          </a:bodyPr>
          <a:lstStyle/>
          <a:p>
            <a:pPr algn="l"/>
            <a:r>
              <a:rPr sz="900" b="1" i="0">
                <a:solidFill>
                  <a:srgbClr val="6B6B6E"/>
                </a:solidFill>
                <a:latin typeface="Satoshi"/>
              </a:rPr>
              <a:t>GENOSAI  x  REGNUM PROPERTIES</a:t>
            </a:r>
          </a:p>
        </p:txBody>
      </p:sp>
      <p:sp>
        <p:nvSpPr>
          <p:cNvPr id="3" name="TextBox 2"/>
          <p:cNvSpPr txBox="1"/>
          <p:nvPr/>
        </p:nvSpPr>
        <p:spPr>
          <a:xfrm>
            <a:off x="6858000" y="201168"/>
            <a:ext cx="4645152" cy="256032"/>
          </a:xfrm>
          <a:prstGeom prst="rect">
            <a:avLst/>
          </a:prstGeom>
          <a:noFill/>
        </p:spPr>
        <p:txBody>
          <a:bodyPr wrap="square">
            <a:spAutoFit/>
          </a:bodyPr>
          <a:lstStyle/>
          <a:p>
            <a:pPr algn="r"/>
            <a:r>
              <a:rPr sz="900" b="1" i="0">
                <a:solidFill>
                  <a:srgbClr val="6B6B6E"/>
                </a:solidFill>
                <a:latin typeface="Satoshi"/>
              </a:rPr>
              <a:t>02  .  VISION</a:t>
            </a:r>
          </a:p>
        </p:txBody>
      </p:sp>
      <p:sp>
        <p:nvSpPr>
          <p:cNvPr id="4" name="Rectangle 3"/>
          <p:cNvSpPr/>
          <p:nvPr/>
        </p:nvSpPr>
        <p:spPr>
          <a:xfrm>
            <a:off x="685800" y="530352"/>
            <a:ext cx="10817352"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73952"/>
            <a:ext cx="7315200" cy="256032"/>
          </a:xfrm>
          <a:prstGeom prst="rect">
            <a:avLst/>
          </a:prstGeom>
          <a:noFill/>
        </p:spPr>
        <p:txBody>
          <a:bodyPr wrap="square">
            <a:spAutoFit/>
          </a:bodyPr>
          <a:lstStyle/>
          <a:p>
            <a:pPr algn="l"/>
            <a:r>
              <a:rPr sz="800" b="0" i="0">
                <a:solidFill>
                  <a:srgbClr val="444447"/>
                </a:solidFill>
                <a:latin typeface="Satoshi"/>
              </a:rPr>
              <a:t>AI Automation Proposal  .  Regnum Properties  .  2026</a:t>
            </a:r>
          </a:p>
        </p:txBody>
      </p:sp>
      <p:sp>
        <p:nvSpPr>
          <p:cNvPr id="6" name="TextBox 5"/>
          <p:cNvSpPr txBox="1"/>
          <p:nvPr/>
        </p:nvSpPr>
        <p:spPr>
          <a:xfrm>
            <a:off x="8686800" y="6473952"/>
            <a:ext cx="2816352" cy="256032"/>
          </a:xfrm>
          <a:prstGeom prst="rect">
            <a:avLst/>
          </a:prstGeom>
          <a:noFill/>
        </p:spPr>
        <p:txBody>
          <a:bodyPr wrap="square">
            <a:spAutoFit/>
          </a:bodyPr>
          <a:lstStyle/>
          <a:p>
            <a:pPr algn="r"/>
            <a:r>
              <a:rPr sz="800" b="0" i="0">
                <a:solidFill>
                  <a:srgbClr val="444447"/>
                </a:solidFill>
                <a:latin typeface="Satoshi"/>
              </a:rPr>
              <a:t>03 / 12</a:t>
            </a:r>
          </a:p>
        </p:txBody>
      </p:sp>
      <p:sp>
        <p:nvSpPr>
          <p:cNvPr id="7" name="TextBox 6"/>
          <p:cNvSpPr txBox="1"/>
          <p:nvPr/>
        </p:nvSpPr>
        <p:spPr>
          <a:xfrm>
            <a:off x="685800" y="777240"/>
            <a:ext cx="5486400" cy="274320"/>
          </a:xfrm>
          <a:prstGeom prst="rect">
            <a:avLst/>
          </a:prstGeom>
          <a:noFill/>
        </p:spPr>
        <p:txBody>
          <a:bodyPr wrap="square">
            <a:spAutoFit/>
          </a:bodyPr>
          <a:lstStyle/>
          <a:p>
            <a:pPr algn="l"/>
            <a:r>
              <a:rPr sz="1000" b="1" i="0">
                <a:solidFill>
                  <a:srgbClr val="A78BFA"/>
                </a:solidFill>
                <a:latin typeface="Satoshi"/>
              </a:rPr>
              <a:t>THE SALES GAP</a:t>
            </a:r>
          </a:p>
        </p:txBody>
      </p:sp>
      <p:sp>
        <p:nvSpPr>
          <p:cNvPr id="8" name="TextBox 7"/>
          <p:cNvSpPr txBox="1"/>
          <p:nvPr/>
        </p:nvSpPr>
        <p:spPr>
          <a:xfrm>
            <a:off x="685800" y="1078992"/>
            <a:ext cx="9144000" cy="1463040"/>
          </a:xfrm>
          <a:prstGeom prst="rect">
            <a:avLst/>
          </a:prstGeom>
          <a:noFill/>
        </p:spPr>
        <p:txBody>
          <a:bodyPr wrap="square">
            <a:spAutoFit/>
          </a:bodyPr>
          <a:lstStyle/>
          <a:p>
            <a:pPr algn="l"/>
            <a:r>
              <a:rPr sz="3800" b="0" i="0">
                <a:solidFill>
                  <a:srgbClr val="FFFFFF"/>
                </a:solidFill>
                <a:latin typeface="Instrument Serif"/>
              </a:rPr>
              <a:t>The Product Is Global.
The Sales Process Is Not.</a:t>
            </a:r>
          </a:p>
        </p:txBody>
      </p:sp>
      <p:sp>
        <p:nvSpPr>
          <p:cNvPr id="9" name="Rounded Rectangle 8"/>
          <p:cNvSpPr/>
          <p:nvPr/>
        </p:nvSpPr>
        <p:spPr>
          <a:xfrm>
            <a:off x="685800" y="2606040"/>
            <a:ext cx="6858000" cy="1115568"/>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2724912"/>
            <a:ext cx="6400800" cy="365760"/>
          </a:xfrm>
          <a:prstGeom prst="rect">
            <a:avLst/>
          </a:prstGeom>
          <a:noFill/>
        </p:spPr>
        <p:txBody>
          <a:bodyPr wrap="square">
            <a:spAutoFit/>
          </a:bodyPr>
          <a:lstStyle/>
          <a:p>
            <a:pPr algn="l"/>
            <a:r>
              <a:rPr sz="3200" b="0" i="0">
                <a:solidFill>
                  <a:srgbClr val="A78BFA"/>
                </a:solidFill>
                <a:latin typeface="Instrument Serif"/>
              </a:rPr>
              <a:t>"</a:t>
            </a:r>
          </a:p>
        </p:txBody>
      </p:sp>
      <p:sp>
        <p:nvSpPr>
          <p:cNvPr id="11" name="TextBox 10"/>
          <p:cNvSpPr txBox="1"/>
          <p:nvPr/>
        </p:nvSpPr>
        <p:spPr>
          <a:xfrm>
            <a:off x="1371600" y="2761488"/>
            <a:ext cx="5943600" cy="777240"/>
          </a:xfrm>
          <a:prstGeom prst="rect">
            <a:avLst/>
          </a:prstGeom>
          <a:noFill/>
        </p:spPr>
        <p:txBody>
          <a:bodyPr wrap="square">
            <a:spAutoFit/>
          </a:bodyPr>
          <a:lstStyle/>
          <a:p>
            <a:pPr algn="l"/>
            <a:r>
              <a:rPr sz="1500" b="0" i="1">
                <a:solidFill>
                  <a:srgbClr val="FFFFFF"/>
                </a:solidFill>
                <a:latin typeface="Instrument Serif"/>
              </a:rPr>
              <a:t>A diaspora buyer in London sees The Arlington at 11 PM, fills in a contact form, and wakes up to silence. The interest was real. The follow-up was not. AI automation closes that gap -- at any hour, from any time zone.</a:t>
            </a:r>
          </a:p>
        </p:txBody>
      </p:sp>
      <p:sp>
        <p:nvSpPr>
          <p:cNvPr id="12" name="Rounded Rectangle 11"/>
          <p:cNvSpPr/>
          <p:nvPr/>
        </p:nvSpPr>
        <p:spPr>
          <a:xfrm>
            <a:off x="685800" y="3977639"/>
            <a:ext cx="2560320" cy="242316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160520"/>
            <a:ext cx="548640" cy="384048"/>
          </a:xfrm>
          <a:prstGeom prst="rect">
            <a:avLst/>
          </a:prstGeom>
          <a:noFill/>
        </p:spPr>
        <p:txBody>
          <a:bodyPr wrap="square">
            <a:spAutoFit/>
          </a:bodyPr>
          <a:lstStyle/>
          <a:p>
            <a:pPr algn="l"/>
            <a:r>
              <a:rPr sz="2200" b="0" i="0">
                <a:solidFill>
                  <a:srgbClr val="A78BFA"/>
                </a:solidFill>
                <a:latin typeface="Instrument Serif"/>
              </a:rPr>
              <a:t>01</a:t>
            </a:r>
          </a:p>
        </p:txBody>
      </p:sp>
      <p:sp>
        <p:nvSpPr>
          <p:cNvPr id="14" name="TextBox 13"/>
          <p:cNvSpPr txBox="1"/>
          <p:nvPr/>
        </p:nvSpPr>
        <p:spPr>
          <a:xfrm>
            <a:off x="914400" y="4617720"/>
            <a:ext cx="2194560" cy="594360"/>
          </a:xfrm>
          <a:prstGeom prst="rect">
            <a:avLst/>
          </a:prstGeom>
          <a:noFill/>
        </p:spPr>
        <p:txBody>
          <a:bodyPr wrap="square">
            <a:spAutoFit/>
          </a:bodyPr>
          <a:lstStyle/>
          <a:p>
            <a:pPr algn="l"/>
            <a:r>
              <a:rPr sz="1600" b="0" i="0">
                <a:solidFill>
                  <a:srgbClr val="FFFFFF"/>
                </a:solidFill>
                <a:latin typeface="Instrument Serif"/>
              </a:rPr>
              <a:t>24/7 Lead
Capture</a:t>
            </a:r>
          </a:p>
        </p:txBody>
      </p:sp>
      <p:sp>
        <p:nvSpPr>
          <p:cNvPr id="15" name="TextBox 14"/>
          <p:cNvSpPr txBox="1"/>
          <p:nvPr/>
        </p:nvSpPr>
        <p:spPr>
          <a:xfrm>
            <a:off x="914400" y="5285232"/>
            <a:ext cx="2194560" cy="804672"/>
          </a:xfrm>
          <a:prstGeom prst="rect">
            <a:avLst/>
          </a:prstGeom>
          <a:noFill/>
        </p:spPr>
        <p:txBody>
          <a:bodyPr wrap="square">
            <a:spAutoFit/>
          </a:bodyPr>
          <a:lstStyle/>
          <a:p>
            <a:pPr algn="l"/>
            <a:r>
              <a:rPr sz="1100" b="0" i="0">
                <a:solidFill>
                  <a:srgbClr val="9D9D9F"/>
                </a:solidFill>
                <a:latin typeface="Satoshi"/>
              </a:rPr>
              <a:t>Every enquiry qualified the moment it arrives -- regardless of time zone.</a:t>
            </a:r>
          </a:p>
        </p:txBody>
      </p:sp>
      <p:sp>
        <p:nvSpPr>
          <p:cNvPr id="16" name="Rounded Rectangle 15"/>
          <p:cNvSpPr/>
          <p:nvPr/>
        </p:nvSpPr>
        <p:spPr>
          <a:xfrm>
            <a:off x="3383280" y="3977639"/>
            <a:ext cx="2560320" cy="242316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11880" y="4160520"/>
            <a:ext cx="548640" cy="384048"/>
          </a:xfrm>
          <a:prstGeom prst="rect">
            <a:avLst/>
          </a:prstGeom>
          <a:noFill/>
        </p:spPr>
        <p:txBody>
          <a:bodyPr wrap="square">
            <a:spAutoFit/>
          </a:bodyPr>
          <a:lstStyle/>
          <a:p>
            <a:pPr algn="l"/>
            <a:r>
              <a:rPr sz="2200" b="0" i="0">
                <a:solidFill>
                  <a:srgbClr val="A78BFA"/>
                </a:solidFill>
                <a:latin typeface="Instrument Serif"/>
              </a:rPr>
              <a:t>02</a:t>
            </a:r>
          </a:p>
        </p:txBody>
      </p:sp>
      <p:sp>
        <p:nvSpPr>
          <p:cNvPr id="18" name="TextBox 17"/>
          <p:cNvSpPr txBox="1"/>
          <p:nvPr/>
        </p:nvSpPr>
        <p:spPr>
          <a:xfrm>
            <a:off x="3611880" y="4617720"/>
            <a:ext cx="2194560" cy="594360"/>
          </a:xfrm>
          <a:prstGeom prst="rect">
            <a:avLst/>
          </a:prstGeom>
          <a:noFill/>
        </p:spPr>
        <p:txBody>
          <a:bodyPr wrap="square">
            <a:spAutoFit/>
          </a:bodyPr>
          <a:lstStyle/>
          <a:p>
            <a:pPr algn="l"/>
            <a:r>
              <a:rPr sz="1600" b="0" i="0">
                <a:solidFill>
                  <a:srgbClr val="FFFFFF"/>
                </a:solidFill>
                <a:latin typeface="Instrument Serif"/>
              </a:rPr>
              <a:t>Investor
Nurture</a:t>
            </a:r>
          </a:p>
        </p:txBody>
      </p:sp>
      <p:sp>
        <p:nvSpPr>
          <p:cNvPr id="19" name="TextBox 18"/>
          <p:cNvSpPr txBox="1"/>
          <p:nvPr/>
        </p:nvSpPr>
        <p:spPr>
          <a:xfrm>
            <a:off x="3611880" y="5285232"/>
            <a:ext cx="2194560" cy="804672"/>
          </a:xfrm>
          <a:prstGeom prst="rect">
            <a:avLst/>
          </a:prstGeom>
          <a:noFill/>
        </p:spPr>
        <p:txBody>
          <a:bodyPr wrap="square">
            <a:spAutoFit/>
          </a:bodyPr>
          <a:lstStyle/>
          <a:p>
            <a:pPr algn="l"/>
            <a:r>
              <a:rPr sz="1100" b="0" i="0">
                <a:solidFill>
                  <a:srgbClr val="9D9D9F"/>
                </a:solidFill>
                <a:latin typeface="Satoshi"/>
              </a:rPr>
              <a:t>International buyers followed up automatically for 12 weeks after first contact.</a:t>
            </a:r>
          </a:p>
        </p:txBody>
      </p:sp>
      <p:sp>
        <p:nvSpPr>
          <p:cNvPr id="20" name="Rounded Rectangle 19"/>
          <p:cNvSpPr/>
          <p:nvPr/>
        </p:nvSpPr>
        <p:spPr>
          <a:xfrm>
            <a:off x="6080760" y="3977639"/>
            <a:ext cx="2560320" cy="242316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9360" y="4160520"/>
            <a:ext cx="548640" cy="384048"/>
          </a:xfrm>
          <a:prstGeom prst="rect">
            <a:avLst/>
          </a:prstGeom>
          <a:noFill/>
        </p:spPr>
        <p:txBody>
          <a:bodyPr wrap="square">
            <a:spAutoFit/>
          </a:bodyPr>
          <a:lstStyle/>
          <a:p>
            <a:pPr algn="l"/>
            <a:r>
              <a:rPr sz="2200" b="0" i="0">
                <a:solidFill>
                  <a:srgbClr val="A78BFA"/>
                </a:solidFill>
                <a:latin typeface="Instrument Serif"/>
              </a:rPr>
              <a:t>03</a:t>
            </a:r>
          </a:p>
        </p:txBody>
      </p:sp>
      <p:sp>
        <p:nvSpPr>
          <p:cNvPr id="22" name="TextBox 21"/>
          <p:cNvSpPr txBox="1"/>
          <p:nvPr/>
        </p:nvSpPr>
        <p:spPr>
          <a:xfrm>
            <a:off x="6309360" y="4617720"/>
            <a:ext cx="2194560" cy="594360"/>
          </a:xfrm>
          <a:prstGeom prst="rect">
            <a:avLst/>
          </a:prstGeom>
          <a:noFill/>
        </p:spPr>
        <p:txBody>
          <a:bodyPr wrap="square">
            <a:spAutoFit/>
          </a:bodyPr>
          <a:lstStyle/>
          <a:p>
            <a:pPr algn="l"/>
            <a:r>
              <a:rPr sz="1600" b="0" i="0">
                <a:solidFill>
                  <a:srgbClr val="FFFFFF"/>
                </a:solidFill>
                <a:latin typeface="Instrument Serif"/>
              </a:rPr>
              <a:t>Social
Audience</a:t>
            </a:r>
          </a:p>
        </p:txBody>
      </p:sp>
      <p:sp>
        <p:nvSpPr>
          <p:cNvPr id="23" name="TextBox 22"/>
          <p:cNvSpPr txBox="1"/>
          <p:nvPr/>
        </p:nvSpPr>
        <p:spPr>
          <a:xfrm>
            <a:off x="6309360" y="5285232"/>
            <a:ext cx="2194560" cy="804672"/>
          </a:xfrm>
          <a:prstGeom prst="rect">
            <a:avLst/>
          </a:prstGeom>
          <a:noFill/>
        </p:spPr>
        <p:txBody>
          <a:bodyPr wrap="square">
            <a:spAutoFit/>
          </a:bodyPr>
          <a:lstStyle/>
          <a:p>
            <a:pPr algn="l"/>
            <a:r>
              <a:rPr sz="1100" b="0" i="0">
                <a:solidFill>
                  <a:srgbClr val="9D9D9F"/>
                </a:solidFill>
                <a:latin typeface="Satoshi"/>
              </a:rPr>
              <a:t>Consistent content builds the diaspora buyer audience without founder time.</a:t>
            </a:r>
          </a:p>
        </p:txBody>
      </p:sp>
      <p:sp>
        <p:nvSpPr>
          <p:cNvPr id="24" name="Rounded Rectangle 23"/>
          <p:cNvSpPr/>
          <p:nvPr/>
        </p:nvSpPr>
        <p:spPr>
          <a:xfrm>
            <a:off x="8778240" y="3977639"/>
            <a:ext cx="2560320" cy="242316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06840" y="4160520"/>
            <a:ext cx="548640" cy="384048"/>
          </a:xfrm>
          <a:prstGeom prst="rect">
            <a:avLst/>
          </a:prstGeom>
          <a:noFill/>
        </p:spPr>
        <p:txBody>
          <a:bodyPr wrap="square">
            <a:spAutoFit/>
          </a:bodyPr>
          <a:lstStyle/>
          <a:p>
            <a:pPr algn="l"/>
            <a:r>
              <a:rPr sz="2200" b="0" i="0">
                <a:solidFill>
                  <a:srgbClr val="A78BFA"/>
                </a:solidFill>
                <a:latin typeface="Instrument Serif"/>
              </a:rPr>
              <a:t>04</a:t>
            </a:r>
          </a:p>
        </p:txBody>
      </p:sp>
      <p:sp>
        <p:nvSpPr>
          <p:cNvPr id="26" name="TextBox 25"/>
          <p:cNvSpPr txBox="1"/>
          <p:nvPr/>
        </p:nvSpPr>
        <p:spPr>
          <a:xfrm>
            <a:off x="9006840" y="4617720"/>
            <a:ext cx="2194560" cy="594360"/>
          </a:xfrm>
          <a:prstGeom prst="rect">
            <a:avLst/>
          </a:prstGeom>
          <a:noFill/>
        </p:spPr>
        <p:txBody>
          <a:bodyPr wrap="square">
            <a:spAutoFit/>
          </a:bodyPr>
          <a:lstStyle/>
          <a:p>
            <a:pPr algn="l"/>
            <a:r>
              <a:rPr sz="1600" b="0" i="0">
                <a:solidFill>
                  <a:srgbClr val="FFFFFF"/>
                </a:solidFill>
                <a:latin typeface="Instrument Serif"/>
              </a:rPr>
              <a:t>CRM
Pipeline</a:t>
            </a:r>
          </a:p>
        </p:txBody>
      </p:sp>
      <p:sp>
        <p:nvSpPr>
          <p:cNvPr id="27" name="TextBox 26"/>
          <p:cNvSpPr txBox="1"/>
          <p:nvPr/>
        </p:nvSpPr>
        <p:spPr>
          <a:xfrm>
            <a:off x="9006840" y="5285232"/>
            <a:ext cx="2194560" cy="804672"/>
          </a:xfrm>
          <a:prstGeom prst="rect">
            <a:avLst/>
          </a:prstGeom>
          <a:noFill/>
        </p:spPr>
        <p:txBody>
          <a:bodyPr wrap="square">
            <a:spAutoFit/>
          </a:bodyPr>
          <a:lstStyle/>
          <a:p>
            <a:pPr algn="l"/>
            <a:r>
              <a:rPr sz="1100" b="0" i="0">
                <a:solidFill>
                  <a:srgbClr val="9D9D9F"/>
                </a:solidFill>
                <a:latin typeface="Satoshi"/>
              </a:rPr>
              <a:t>Every buyer conversation tracked in one place as the portfolio scales.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685800" y="201168"/>
            <a:ext cx="5486400" cy="256032"/>
          </a:xfrm>
          <a:prstGeom prst="rect">
            <a:avLst/>
          </a:prstGeom>
          <a:noFill/>
        </p:spPr>
        <p:txBody>
          <a:bodyPr wrap="square">
            <a:spAutoFit/>
          </a:bodyPr>
          <a:lstStyle/>
          <a:p>
            <a:pPr algn="l"/>
            <a:r>
              <a:rPr sz="900" b="1" i="0">
                <a:solidFill>
                  <a:srgbClr val="6B6B6E"/>
                </a:solidFill>
                <a:latin typeface="Satoshi"/>
              </a:rPr>
              <a:t>GENOSAI  x  REGNUM PROPERTIES</a:t>
            </a:r>
          </a:p>
        </p:txBody>
      </p:sp>
      <p:sp>
        <p:nvSpPr>
          <p:cNvPr id="3" name="TextBox 2"/>
          <p:cNvSpPr txBox="1"/>
          <p:nvPr/>
        </p:nvSpPr>
        <p:spPr>
          <a:xfrm>
            <a:off x="6858000" y="201168"/>
            <a:ext cx="4645152" cy="256032"/>
          </a:xfrm>
          <a:prstGeom prst="rect">
            <a:avLst/>
          </a:prstGeom>
          <a:noFill/>
        </p:spPr>
        <p:txBody>
          <a:bodyPr wrap="square">
            <a:spAutoFit/>
          </a:bodyPr>
          <a:lstStyle/>
          <a:p>
            <a:pPr algn="r"/>
            <a:r>
              <a:rPr sz="900" b="1" i="0">
                <a:solidFill>
                  <a:srgbClr val="6B6B6E"/>
                </a:solidFill>
                <a:latin typeface="Satoshi"/>
              </a:rPr>
              <a:t>03  .  AUTOMATION SYSTEMS</a:t>
            </a:r>
          </a:p>
        </p:txBody>
      </p:sp>
      <p:sp>
        <p:nvSpPr>
          <p:cNvPr id="4" name="Rectangle 3"/>
          <p:cNvSpPr/>
          <p:nvPr/>
        </p:nvSpPr>
        <p:spPr>
          <a:xfrm>
            <a:off x="685800" y="530352"/>
            <a:ext cx="10817352"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73952"/>
            <a:ext cx="7315200" cy="256032"/>
          </a:xfrm>
          <a:prstGeom prst="rect">
            <a:avLst/>
          </a:prstGeom>
          <a:noFill/>
        </p:spPr>
        <p:txBody>
          <a:bodyPr wrap="square">
            <a:spAutoFit/>
          </a:bodyPr>
          <a:lstStyle/>
          <a:p>
            <a:pPr algn="l"/>
            <a:r>
              <a:rPr sz="800" b="0" i="0">
                <a:solidFill>
                  <a:srgbClr val="444447"/>
                </a:solidFill>
                <a:latin typeface="Satoshi"/>
              </a:rPr>
              <a:t>AI Automation Proposal  .  Regnum Properties  .  2026</a:t>
            </a:r>
          </a:p>
        </p:txBody>
      </p:sp>
      <p:sp>
        <p:nvSpPr>
          <p:cNvPr id="6" name="TextBox 5"/>
          <p:cNvSpPr txBox="1"/>
          <p:nvPr/>
        </p:nvSpPr>
        <p:spPr>
          <a:xfrm>
            <a:off x="8686800" y="6473952"/>
            <a:ext cx="2816352" cy="256032"/>
          </a:xfrm>
          <a:prstGeom prst="rect">
            <a:avLst/>
          </a:prstGeom>
          <a:noFill/>
        </p:spPr>
        <p:txBody>
          <a:bodyPr wrap="square">
            <a:spAutoFit/>
          </a:bodyPr>
          <a:lstStyle/>
          <a:p>
            <a:pPr algn="r"/>
            <a:r>
              <a:rPr sz="800" b="0" i="0">
                <a:solidFill>
                  <a:srgbClr val="444447"/>
                </a:solidFill>
                <a:latin typeface="Satoshi"/>
              </a:rPr>
              <a:t>04 / 12</a:t>
            </a:r>
          </a:p>
        </p:txBody>
      </p:sp>
      <p:sp>
        <p:nvSpPr>
          <p:cNvPr id="7" name="TextBox 6"/>
          <p:cNvSpPr txBox="1"/>
          <p:nvPr/>
        </p:nvSpPr>
        <p:spPr>
          <a:xfrm>
            <a:off x="685800" y="777240"/>
            <a:ext cx="5486400" cy="274320"/>
          </a:xfrm>
          <a:prstGeom prst="rect">
            <a:avLst/>
          </a:prstGeom>
          <a:noFill/>
        </p:spPr>
        <p:txBody>
          <a:bodyPr wrap="square">
            <a:spAutoFit/>
          </a:bodyPr>
          <a:lstStyle/>
          <a:p>
            <a:pPr algn="l"/>
            <a:r>
              <a:rPr sz="1000" b="1" i="0">
                <a:solidFill>
                  <a:srgbClr val="A78BFA"/>
                </a:solidFill>
                <a:latin typeface="Satoshi"/>
              </a:rPr>
              <a:t>FIVE AI SYSTEMS FOR REGNUM PROPERTIES</a:t>
            </a:r>
          </a:p>
        </p:txBody>
      </p:sp>
      <p:sp>
        <p:nvSpPr>
          <p:cNvPr id="8" name="TextBox 7"/>
          <p:cNvSpPr txBox="1"/>
          <p:nvPr/>
        </p:nvSpPr>
        <p:spPr>
          <a:xfrm>
            <a:off x="685800" y="1078992"/>
            <a:ext cx="9144000" cy="1463040"/>
          </a:xfrm>
          <a:prstGeom prst="rect">
            <a:avLst/>
          </a:prstGeom>
          <a:noFill/>
        </p:spPr>
        <p:txBody>
          <a:bodyPr wrap="square">
            <a:spAutoFit/>
          </a:bodyPr>
          <a:lstStyle/>
          <a:p>
            <a:pPr algn="l"/>
            <a:r>
              <a:rPr sz="3600" b="0" i="0">
                <a:solidFill>
                  <a:srgbClr val="FFFFFF"/>
                </a:solidFill>
                <a:latin typeface="Instrument Serif"/>
              </a:rPr>
              <a:t>The Automation Blueprint</a:t>
            </a:r>
          </a:p>
        </p:txBody>
      </p:sp>
      <p:sp>
        <p:nvSpPr>
          <p:cNvPr id="9" name="Rounded Rectangle 8"/>
          <p:cNvSpPr/>
          <p:nvPr/>
        </p:nvSpPr>
        <p:spPr>
          <a:xfrm>
            <a:off x="685800" y="2377440"/>
            <a:ext cx="2057400" cy="3749039"/>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400" y="2606040"/>
            <a:ext cx="502920" cy="50292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624328"/>
            <a:ext cx="502920" cy="438912"/>
          </a:xfrm>
          <a:prstGeom prst="rect">
            <a:avLst/>
          </a:prstGeom>
          <a:noFill/>
        </p:spPr>
        <p:txBody>
          <a:bodyPr wrap="square">
            <a:spAutoFit/>
          </a:bodyPr>
          <a:lstStyle/>
          <a:p>
            <a:pPr algn="ctr"/>
            <a:r>
              <a:rPr sz="1600" b="1" i="0">
                <a:solidFill>
                  <a:srgbClr val="0A0A0F"/>
                </a:solidFill>
                <a:latin typeface="Satoshi"/>
              </a:rPr>
              <a:t>A</a:t>
            </a:r>
          </a:p>
        </p:txBody>
      </p:sp>
      <p:sp>
        <p:nvSpPr>
          <p:cNvPr id="12" name="TextBox 11"/>
          <p:cNvSpPr txBox="1"/>
          <p:nvPr/>
        </p:nvSpPr>
        <p:spPr>
          <a:xfrm>
            <a:off x="868680" y="3246120"/>
            <a:ext cx="1691640" cy="685800"/>
          </a:xfrm>
          <a:prstGeom prst="rect">
            <a:avLst/>
          </a:prstGeom>
          <a:noFill/>
        </p:spPr>
        <p:txBody>
          <a:bodyPr wrap="square">
            <a:spAutoFit/>
          </a:bodyPr>
          <a:lstStyle/>
          <a:p>
            <a:pPr algn="l"/>
            <a:r>
              <a:rPr sz="1500" b="0" i="0">
                <a:solidFill>
                  <a:srgbClr val="FFFFFF"/>
                </a:solidFill>
                <a:latin typeface="Instrument Serif"/>
              </a:rPr>
              <a:t>WhatsApp
Lead AI</a:t>
            </a:r>
          </a:p>
        </p:txBody>
      </p:sp>
      <p:sp>
        <p:nvSpPr>
          <p:cNvPr id="13" name="TextBox 12"/>
          <p:cNvSpPr txBox="1"/>
          <p:nvPr/>
        </p:nvSpPr>
        <p:spPr>
          <a:xfrm>
            <a:off x="868680" y="4005072"/>
            <a:ext cx="1691640" cy="502920"/>
          </a:xfrm>
          <a:prstGeom prst="rect">
            <a:avLst/>
          </a:prstGeom>
          <a:noFill/>
        </p:spPr>
        <p:txBody>
          <a:bodyPr wrap="square">
            <a:spAutoFit/>
          </a:bodyPr>
          <a:lstStyle/>
          <a:p>
            <a:pPr algn="l"/>
            <a:r>
              <a:rPr sz="1200" b="0" i="0">
                <a:solidFill>
                  <a:srgbClr val="9D9D9F"/>
                </a:solidFill>
                <a:latin typeface="Satoshi"/>
              </a:rPr>
              <a:t>24/7 buyer qualification via WhatsApp.</a:t>
            </a:r>
          </a:p>
        </p:txBody>
      </p:sp>
      <p:sp>
        <p:nvSpPr>
          <p:cNvPr id="14" name="Rounded Rectangle 13"/>
          <p:cNvSpPr/>
          <p:nvPr/>
        </p:nvSpPr>
        <p:spPr>
          <a:xfrm>
            <a:off x="2898648" y="2377440"/>
            <a:ext cx="2057400" cy="3749039"/>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27248" y="2606040"/>
            <a:ext cx="502920" cy="50292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27248" y="2624328"/>
            <a:ext cx="502920" cy="438912"/>
          </a:xfrm>
          <a:prstGeom prst="rect">
            <a:avLst/>
          </a:prstGeom>
          <a:noFill/>
        </p:spPr>
        <p:txBody>
          <a:bodyPr wrap="square">
            <a:spAutoFit/>
          </a:bodyPr>
          <a:lstStyle/>
          <a:p>
            <a:pPr algn="ctr"/>
            <a:r>
              <a:rPr sz="1600" b="1" i="0">
                <a:solidFill>
                  <a:srgbClr val="0A0A0F"/>
                </a:solidFill>
                <a:latin typeface="Satoshi"/>
              </a:rPr>
              <a:t>B</a:t>
            </a:r>
          </a:p>
        </p:txBody>
      </p:sp>
      <p:sp>
        <p:nvSpPr>
          <p:cNvPr id="17" name="TextBox 16"/>
          <p:cNvSpPr txBox="1"/>
          <p:nvPr/>
        </p:nvSpPr>
        <p:spPr>
          <a:xfrm>
            <a:off x="3081528" y="3246120"/>
            <a:ext cx="1691640" cy="685800"/>
          </a:xfrm>
          <a:prstGeom prst="rect">
            <a:avLst/>
          </a:prstGeom>
          <a:noFill/>
        </p:spPr>
        <p:txBody>
          <a:bodyPr wrap="square">
            <a:spAutoFit/>
          </a:bodyPr>
          <a:lstStyle/>
          <a:p>
            <a:pPr algn="l"/>
            <a:r>
              <a:rPr sz="1500" b="0" i="0">
                <a:solidFill>
                  <a:srgbClr val="FFFFFF"/>
                </a:solidFill>
                <a:latin typeface="Instrument Serif"/>
              </a:rPr>
              <a:t>Investor
Nurture AI</a:t>
            </a:r>
          </a:p>
        </p:txBody>
      </p:sp>
      <p:sp>
        <p:nvSpPr>
          <p:cNvPr id="18" name="TextBox 17"/>
          <p:cNvSpPr txBox="1"/>
          <p:nvPr/>
        </p:nvSpPr>
        <p:spPr>
          <a:xfrm>
            <a:off x="3081528" y="4005072"/>
            <a:ext cx="1691640" cy="502920"/>
          </a:xfrm>
          <a:prstGeom prst="rect">
            <a:avLst/>
          </a:prstGeom>
          <a:noFill/>
        </p:spPr>
        <p:txBody>
          <a:bodyPr wrap="square">
            <a:spAutoFit/>
          </a:bodyPr>
          <a:lstStyle/>
          <a:p>
            <a:pPr algn="l"/>
            <a:r>
              <a:rPr sz="1200" b="0" i="0">
                <a:solidFill>
                  <a:srgbClr val="9D9D9F"/>
                </a:solidFill>
                <a:latin typeface="Satoshi"/>
              </a:rPr>
              <a:t>12-week automated follow-up sequences.</a:t>
            </a:r>
          </a:p>
        </p:txBody>
      </p:sp>
      <p:sp>
        <p:nvSpPr>
          <p:cNvPr id="19" name="Rounded Rectangle 18"/>
          <p:cNvSpPr/>
          <p:nvPr/>
        </p:nvSpPr>
        <p:spPr>
          <a:xfrm>
            <a:off x="5111496" y="2377440"/>
            <a:ext cx="2057400" cy="3749039"/>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340096" y="2606040"/>
            <a:ext cx="502920" cy="50292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40096" y="2624328"/>
            <a:ext cx="502920" cy="438912"/>
          </a:xfrm>
          <a:prstGeom prst="rect">
            <a:avLst/>
          </a:prstGeom>
          <a:noFill/>
        </p:spPr>
        <p:txBody>
          <a:bodyPr wrap="square">
            <a:spAutoFit/>
          </a:bodyPr>
          <a:lstStyle/>
          <a:p>
            <a:pPr algn="ctr"/>
            <a:r>
              <a:rPr sz="1600" b="1" i="0">
                <a:solidFill>
                  <a:srgbClr val="0A0A0F"/>
                </a:solidFill>
                <a:latin typeface="Satoshi"/>
              </a:rPr>
              <a:t>C</a:t>
            </a:r>
          </a:p>
        </p:txBody>
      </p:sp>
      <p:sp>
        <p:nvSpPr>
          <p:cNvPr id="22" name="TextBox 21"/>
          <p:cNvSpPr txBox="1"/>
          <p:nvPr/>
        </p:nvSpPr>
        <p:spPr>
          <a:xfrm>
            <a:off x="5294376" y="3246120"/>
            <a:ext cx="1691640" cy="685800"/>
          </a:xfrm>
          <a:prstGeom prst="rect">
            <a:avLst/>
          </a:prstGeom>
          <a:noFill/>
        </p:spPr>
        <p:txBody>
          <a:bodyPr wrap="square">
            <a:spAutoFit/>
          </a:bodyPr>
          <a:lstStyle/>
          <a:p>
            <a:pPr algn="l"/>
            <a:r>
              <a:rPr sz="1500" b="0" i="0">
                <a:solidFill>
                  <a:srgbClr val="FFFFFF"/>
                </a:solidFill>
                <a:latin typeface="Instrument Serif"/>
              </a:rPr>
              <a:t>Social Media
Content AI</a:t>
            </a:r>
          </a:p>
        </p:txBody>
      </p:sp>
      <p:sp>
        <p:nvSpPr>
          <p:cNvPr id="23" name="TextBox 22"/>
          <p:cNvSpPr txBox="1"/>
          <p:nvPr/>
        </p:nvSpPr>
        <p:spPr>
          <a:xfrm>
            <a:off x="5294376" y="4005072"/>
            <a:ext cx="1691640" cy="502920"/>
          </a:xfrm>
          <a:prstGeom prst="rect">
            <a:avLst/>
          </a:prstGeom>
          <a:noFill/>
        </p:spPr>
        <p:txBody>
          <a:bodyPr wrap="square">
            <a:spAutoFit/>
          </a:bodyPr>
          <a:lstStyle/>
          <a:p>
            <a:pPr algn="l"/>
            <a:r>
              <a:rPr sz="1200" b="0" i="0">
                <a:solidFill>
                  <a:srgbClr val="9D9D9F"/>
                </a:solidFill>
                <a:latin typeface="Satoshi"/>
              </a:rPr>
              <a:t>LinkedIn &amp; Instagram on autopilot.</a:t>
            </a:r>
          </a:p>
        </p:txBody>
      </p:sp>
      <p:sp>
        <p:nvSpPr>
          <p:cNvPr id="24" name="Rounded Rectangle 23"/>
          <p:cNvSpPr/>
          <p:nvPr/>
        </p:nvSpPr>
        <p:spPr>
          <a:xfrm>
            <a:off x="7324344" y="2377440"/>
            <a:ext cx="2057400" cy="3749039"/>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552944" y="2606040"/>
            <a:ext cx="502920" cy="50292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52944" y="2624328"/>
            <a:ext cx="502920" cy="438912"/>
          </a:xfrm>
          <a:prstGeom prst="rect">
            <a:avLst/>
          </a:prstGeom>
          <a:noFill/>
        </p:spPr>
        <p:txBody>
          <a:bodyPr wrap="square">
            <a:spAutoFit/>
          </a:bodyPr>
          <a:lstStyle/>
          <a:p>
            <a:pPr algn="ctr"/>
            <a:r>
              <a:rPr sz="1600" b="1" i="0">
                <a:solidFill>
                  <a:srgbClr val="0A0A0F"/>
                </a:solidFill>
                <a:latin typeface="Satoshi"/>
              </a:rPr>
              <a:t>D</a:t>
            </a:r>
          </a:p>
        </p:txBody>
      </p:sp>
      <p:sp>
        <p:nvSpPr>
          <p:cNvPr id="27" name="TextBox 26"/>
          <p:cNvSpPr txBox="1"/>
          <p:nvPr/>
        </p:nvSpPr>
        <p:spPr>
          <a:xfrm>
            <a:off x="7507224" y="3246120"/>
            <a:ext cx="1691640" cy="685800"/>
          </a:xfrm>
          <a:prstGeom prst="rect">
            <a:avLst/>
          </a:prstGeom>
          <a:noFill/>
        </p:spPr>
        <p:txBody>
          <a:bodyPr wrap="square">
            <a:spAutoFit/>
          </a:bodyPr>
          <a:lstStyle/>
          <a:p>
            <a:pPr algn="l"/>
            <a:r>
              <a:rPr sz="1500" b="0" i="0">
                <a:solidFill>
                  <a:srgbClr val="FFFFFF"/>
                </a:solidFill>
                <a:latin typeface="Instrument Serif"/>
              </a:rPr>
              <a:t>Property
Chatbot</a:t>
            </a:r>
          </a:p>
        </p:txBody>
      </p:sp>
      <p:sp>
        <p:nvSpPr>
          <p:cNvPr id="28" name="TextBox 27"/>
          <p:cNvSpPr txBox="1"/>
          <p:nvPr/>
        </p:nvSpPr>
        <p:spPr>
          <a:xfrm>
            <a:off x="7507224" y="4005072"/>
            <a:ext cx="1691640" cy="502920"/>
          </a:xfrm>
          <a:prstGeom prst="rect">
            <a:avLst/>
          </a:prstGeom>
          <a:noFill/>
        </p:spPr>
        <p:txBody>
          <a:bodyPr wrap="square">
            <a:spAutoFit/>
          </a:bodyPr>
          <a:lstStyle/>
          <a:p>
            <a:pPr algn="l"/>
            <a:r>
              <a:rPr sz="1200" b="0" i="0">
                <a:solidFill>
                  <a:srgbClr val="9D9D9F"/>
                </a:solidFill>
                <a:latin typeface="Satoshi"/>
              </a:rPr>
              <a:t>24/7 inquiry and booking on the website.</a:t>
            </a:r>
          </a:p>
        </p:txBody>
      </p:sp>
      <p:sp>
        <p:nvSpPr>
          <p:cNvPr id="29" name="Rounded Rectangle 28"/>
          <p:cNvSpPr/>
          <p:nvPr/>
        </p:nvSpPr>
        <p:spPr>
          <a:xfrm>
            <a:off x="9537192" y="2377440"/>
            <a:ext cx="2057400" cy="3749039"/>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765792" y="2606040"/>
            <a:ext cx="502920" cy="50292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765792" y="2624328"/>
            <a:ext cx="502920" cy="438912"/>
          </a:xfrm>
          <a:prstGeom prst="rect">
            <a:avLst/>
          </a:prstGeom>
          <a:noFill/>
        </p:spPr>
        <p:txBody>
          <a:bodyPr wrap="square">
            <a:spAutoFit/>
          </a:bodyPr>
          <a:lstStyle/>
          <a:p>
            <a:pPr algn="ctr"/>
            <a:r>
              <a:rPr sz="1600" b="1" i="0">
                <a:solidFill>
                  <a:srgbClr val="0A0A0F"/>
                </a:solidFill>
                <a:latin typeface="Satoshi"/>
              </a:rPr>
              <a:t>E</a:t>
            </a:r>
          </a:p>
        </p:txBody>
      </p:sp>
      <p:sp>
        <p:nvSpPr>
          <p:cNvPr id="32" name="TextBox 31"/>
          <p:cNvSpPr txBox="1"/>
          <p:nvPr/>
        </p:nvSpPr>
        <p:spPr>
          <a:xfrm>
            <a:off x="9720072" y="3246120"/>
            <a:ext cx="1691640" cy="685800"/>
          </a:xfrm>
          <a:prstGeom prst="rect">
            <a:avLst/>
          </a:prstGeom>
          <a:noFill/>
        </p:spPr>
        <p:txBody>
          <a:bodyPr wrap="square">
            <a:spAutoFit/>
          </a:bodyPr>
          <a:lstStyle/>
          <a:p>
            <a:pPr algn="l"/>
            <a:r>
              <a:rPr sz="1500" b="0" i="0">
                <a:solidFill>
                  <a:srgbClr val="FFFFFF"/>
                </a:solidFill>
                <a:latin typeface="Instrument Serif"/>
              </a:rPr>
              <a:t>CRM
Pipeline AI</a:t>
            </a:r>
          </a:p>
        </p:txBody>
      </p:sp>
      <p:sp>
        <p:nvSpPr>
          <p:cNvPr id="33" name="TextBox 32"/>
          <p:cNvSpPr txBox="1"/>
          <p:nvPr/>
        </p:nvSpPr>
        <p:spPr>
          <a:xfrm>
            <a:off x="9720072" y="4005072"/>
            <a:ext cx="1691640" cy="502920"/>
          </a:xfrm>
          <a:prstGeom prst="rect">
            <a:avLst/>
          </a:prstGeom>
          <a:noFill/>
        </p:spPr>
        <p:txBody>
          <a:bodyPr wrap="square">
            <a:spAutoFit/>
          </a:bodyPr>
          <a:lstStyle/>
          <a:p>
            <a:pPr algn="l"/>
            <a:r>
              <a:rPr sz="1200" b="0" i="0">
                <a:solidFill>
                  <a:srgbClr val="9D9D9F"/>
                </a:solidFill>
                <a:latin typeface="Satoshi"/>
              </a:rPr>
              <a:t>Automated deal tracking and follow-ups.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685800" y="201168"/>
            <a:ext cx="5486400" cy="256032"/>
          </a:xfrm>
          <a:prstGeom prst="rect">
            <a:avLst/>
          </a:prstGeom>
          <a:noFill/>
        </p:spPr>
        <p:txBody>
          <a:bodyPr wrap="square">
            <a:spAutoFit/>
          </a:bodyPr>
          <a:lstStyle/>
          <a:p>
            <a:pPr algn="l"/>
            <a:r>
              <a:rPr sz="900" b="1" i="0">
                <a:solidFill>
                  <a:srgbClr val="6B6B6E"/>
                </a:solidFill>
                <a:latin typeface="Satoshi"/>
              </a:rPr>
              <a:t>GENOSAI  x  REGNUM PROPERTIES</a:t>
            </a:r>
          </a:p>
        </p:txBody>
      </p:sp>
      <p:sp>
        <p:nvSpPr>
          <p:cNvPr id="3" name="TextBox 2"/>
          <p:cNvSpPr txBox="1"/>
          <p:nvPr/>
        </p:nvSpPr>
        <p:spPr>
          <a:xfrm>
            <a:off x="6858000" y="201168"/>
            <a:ext cx="4645152" cy="256032"/>
          </a:xfrm>
          <a:prstGeom prst="rect">
            <a:avLst/>
          </a:prstGeom>
          <a:noFill/>
        </p:spPr>
        <p:txBody>
          <a:bodyPr wrap="square">
            <a:spAutoFit/>
          </a:bodyPr>
          <a:lstStyle/>
          <a:p>
            <a:pPr algn="r"/>
            <a:r>
              <a:rPr sz="900" b="1" i="0">
                <a:solidFill>
                  <a:srgbClr val="6B6B6E"/>
                </a:solidFill>
                <a:latin typeface="Satoshi"/>
              </a:rPr>
              <a:t>03A  .  WHATSAPP LEAD AI</a:t>
            </a:r>
          </a:p>
        </p:txBody>
      </p:sp>
      <p:sp>
        <p:nvSpPr>
          <p:cNvPr id="4" name="Rectangle 3"/>
          <p:cNvSpPr/>
          <p:nvPr/>
        </p:nvSpPr>
        <p:spPr>
          <a:xfrm>
            <a:off x="685800" y="530352"/>
            <a:ext cx="10817352"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73952"/>
            <a:ext cx="7315200" cy="256032"/>
          </a:xfrm>
          <a:prstGeom prst="rect">
            <a:avLst/>
          </a:prstGeom>
          <a:noFill/>
        </p:spPr>
        <p:txBody>
          <a:bodyPr wrap="square">
            <a:spAutoFit/>
          </a:bodyPr>
          <a:lstStyle/>
          <a:p>
            <a:pPr algn="l"/>
            <a:r>
              <a:rPr sz="800" b="0" i="0">
                <a:solidFill>
                  <a:srgbClr val="444447"/>
                </a:solidFill>
                <a:latin typeface="Satoshi"/>
              </a:rPr>
              <a:t>AI Automation Proposal  .  Regnum Properties  .  2026</a:t>
            </a:r>
          </a:p>
        </p:txBody>
      </p:sp>
      <p:sp>
        <p:nvSpPr>
          <p:cNvPr id="6" name="TextBox 5"/>
          <p:cNvSpPr txBox="1"/>
          <p:nvPr/>
        </p:nvSpPr>
        <p:spPr>
          <a:xfrm>
            <a:off x="8686800" y="6473952"/>
            <a:ext cx="2816352" cy="256032"/>
          </a:xfrm>
          <a:prstGeom prst="rect">
            <a:avLst/>
          </a:prstGeom>
          <a:noFill/>
        </p:spPr>
        <p:txBody>
          <a:bodyPr wrap="square">
            <a:spAutoFit/>
          </a:bodyPr>
          <a:lstStyle/>
          <a:p>
            <a:pPr algn="r"/>
            <a:r>
              <a:rPr sz="800" b="0" i="0">
                <a:solidFill>
                  <a:srgbClr val="444447"/>
                </a:solidFill>
                <a:latin typeface="Satoshi"/>
              </a:rPr>
              <a:t>05 / 12</a:t>
            </a:r>
          </a:p>
        </p:txBody>
      </p:sp>
      <p:sp>
        <p:nvSpPr>
          <p:cNvPr id="7" name="TextBox 6"/>
          <p:cNvSpPr txBox="1"/>
          <p:nvPr/>
        </p:nvSpPr>
        <p:spPr>
          <a:xfrm>
            <a:off x="685800" y="777240"/>
            <a:ext cx="5486400" cy="274320"/>
          </a:xfrm>
          <a:prstGeom prst="rect">
            <a:avLst/>
          </a:prstGeom>
          <a:noFill/>
        </p:spPr>
        <p:txBody>
          <a:bodyPr wrap="square">
            <a:spAutoFit/>
          </a:bodyPr>
          <a:lstStyle/>
          <a:p>
            <a:pPr algn="l"/>
            <a:r>
              <a:rPr sz="1000" b="1" i="0">
                <a:solidFill>
                  <a:srgbClr val="A78BFA"/>
                </a:solidFill>
                <a:latin typeface="Satoshi"/>
              </a:rPr>
              <a:t>MODULE A</a:t>
            </a:r>
          </a:p>
        </p:txBody>
      </p:sp>
      <p:sp>
        <p:nvSpPr>
          <p:cNvPr id="8" name="TextBox 7"/>
          <p:cNvSpPr txBox="1"/>
          <p:nvPr/>
        </p:nvSpPr>
        <p:spPr>
          <a:xfrm>
            <a:off x="685800" y="1078992"/>
            <a:ext cx="9144000" cy="1463040"/>
          </a:xfrm>
          <a:prstGeom prst="rect">
            <a:avLst/>
          </a:prstGeom>
          <a:noFill/>
        </p:spPr>
        <p:txBody>
          <a:bodyPr wrap="square">
            <a:spAutoFit/>
          </a:bodyPr>
          <a:lstStyle/>
          <a:p>
            <a:pPr algn="l"/>
            <a:r>
              <a:rPr sz="3400" b="0" i="0">
                <a:solidFill>
                  <a:srgbClr val="FFFFFF"/>
                </a:solidFill>
                <a:latin typeface="Instrument Serif"/>
              </a:rPr>
              <a:t>WhatsApp Lead Qualification AI</a:t>
            </a:r>
          </a:p>
        </p:txBody>
      </p:sp>
      <p:sp>
        <p:nvSpPr>
          <p:cNvPr id="9" name="TextBox 8"/>
          <p:cNvSpPr txBox="1"/>
          <p:nvPr/>
        </p:nvSpPr>
        <p:spPr>
          <a:xfrm>
            <a:off x="685800" y="2011680"/>
            <a:ext cx="5943600" cy="384048"/>
          </a:xfrm>
          <a:prstGeom prst="rect">
            <a:avLst/>
          </a:prstGeom>
          <a:noFill/>
        </p:spPr>
        <p:txBody>
          <a:bodyPr wrap="square">
            <a:spAutoFit/>
          </a:bodyPr>
          <a:lstStyle/>
          <a:p>
            <a:pPr algn="l"/>
            <a:r>
              <a:rPr sz="1400" b="0" i="0">
                <a:solidFill>
                  <a:srgbClr val="86868A"/>
                </a:solidFill>
                <a:latin typeface="Satoshi"/>
              </a:rPr>
              <a:t>A WhatsApp AI number displayed on the Regnum website and social profiles qualifies every buyer the moment they reach out -- budget, property, timeline -- at any hour, from any city in the world.</a:t>
            </a:r>
          </a:p>
        </p:txBody>
      </p:sp>
      <p:sp>
        <p:nvSpPr>
          <p:cNvPr id="10" name="Rectangle 9"/>
          <p:cNvSpPr/>
          <p:nvPr/>
        </p:nvSpPr>
        <p:spPr>
          <a:xfrm>
            <a:off x="685800" y="2514600"/>
            <a:ext cx="10817352"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743200"/>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12" name="TextBox 11"/>
          <p:cNvSpPr txBox="1"/>
          <p:nvPr/>
        </p:nvSpPr>
        <p:spPr>
          <a:xfrm>
            <a:off x="960120" y="2743200"/>
            <a:ext cx="4754880" cy="237744"/>
          </a:xfrm>
          <a:prstGeom prst="rect">
            <a:avLst/>
          </a:prstGeom>
          <a:noFill/>
        </p:spPr>
        <p:txBody>
          <a:bodyPr wrap="square">
            <a:spAutoFit/>
          </a:bodyPr>
          <a:lstStyle/>
          <a:p>
            <a:pPr algn="l"/>
            <a:r>
              <a:rPr sz="1300" b="1" i="0">
                <a:solidFill>
                  <a:srgbClr val="FFFFFF"/>
                </a:solidFill>
                <a:latin typeface="Satoshi"/>
              </a:rPr>
              <a:t>Instant 24/7 response</a:t>
            </a:r>
          </a:p>
        </p:txBody>
      </p:sp>
      <p:sp>
        <p:nvSpPr>
          <p:cNvPr id="13" name="TextBox 12"/>
          <p:cNvSpPr txBox="1"/>
          <p:nvPr/>
        </p:nvSpPr>
        <p:spPr>
          <a:xfrm>
            <a:off x="960120" y="2990088"/>
            <a:ext cx="4754880" cy="347472"/>
          </a:xfrm>
          <a:prstGeom prst="rect">
            <a:avLst/>
          </a:prstGeom>
          <a:noFill/>
        </p:spPr>
        <p:txBody>
          <a:bodyPr wrap="square">
            <a:spAutoFit/>
          </a:bodyPr>
          <a:lstStyle/>
          <a:p>
            <a:pPr algn="l"/>
            <a:r>
              <a:rPr sz="1200" b="0" i="0">
                <a:solidFill>
                  <a:srgbClr val="9D9D9F"/>
                </a:solidFill>
                <a:latin typeface="Satoshi"/>
              </a:rPr>
              <a:t>When a buyer in the UK or Canada sends a WhatsApp message at midnight Accra time, the AI responds immediately -- capturing the moment instead of losing it to silence.</a:t>
            </a:r>
          </a:p>
        </p:txBody>
      </p:sp>
      <p:sp>
        <p:nvSpPr>
          <p:cNvPr id="14" name="TextBox 13"/>
          <p:cNvSpPr txBox="1"/>
          <p:nvPr/>
        </p:nvSpPr>
        <p:spPr>
          <a:xfrm>
            <a:off x="685800" y="3401568"/>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15" name="TextBox 14"/>
          <p:cNvSpPr txBox="1"/>
          <p:nvPr/>
        </p:nvSpPr>
        <p:spPr>
          <a:xfrm>
            <a:off x="960120" y="3401568"/>
            <a:ext cx="4754880" cy="237744"/>
          </a:xfrm>
          <a:prstGeom prst="rect">
            <a:avLst/>
          </a:prstGeom>
          <a:noFill/>
        </p:spPr>
        <p:txBody>
          <a:bodyPr wrap="square">
            <a:spAutoFit/>
          </a:bodyPr>
          <a:lstStyle/>
          <a:p>
            <a:pPr algn="l"/>
            <a:r>
              <a:rPr sz="1300" b="1" i="0">
                <a:solidFill>
                  <a:srgbClr val="FFFFFF"/>
                </a:solidFill>
                <a:latin typeface="Satoshi"/>
              </a:rPr>
              <a:t>Structured qualification intake</a:t>
            </a:r>
          </a:p>
        </p:txBody>
      </p:sp>
      <p:sp>
        <p:nvSpPr>
          <p:cNvPr id="16" name="TextBox 15"/>
          <p:cNvSpPr txBox="1"/>
          <p:nvPr/>
        </p:nvSpPr>
        <p:spPr>
          <a:xfrm>
            <a:off x="960120" y="3648456"/>
            <a:ext cx="4754880" cy="347472"/>
          </a:xfrm>
          <a:prstGeom prst="rect">
            <a:avLst/>
          </a:prstGeom>
          <a:noFill/>
        </p:spPr>
        <p:txBody>
          <a:bodyPr wrap="square">
            <a:spAutoFit/>
          </a:bodyPr>
          <a:lstStyle/>
          <a:p>
            <a:pPr algn="l"/>
            <a:r>
              <a:rPr sz="1200" b="0" i="0">
                <a:solidFill>
                  <a:srgbClr val="9D9D9F"/>
                </a:solidFill>
                <a:latin typeface="Satoshi"/>
              </a:rPr>
              <a:t>AI captures budget range, preferred project (Alexandria or Arlington), number of bedrooms, purchase timeline, and whether the buyer is cash or finance. Full context before any agent is involved.</a:t>
            </a:r>
          </a:p>
        </p:txBody>
      </p:sp>
      <p:sp>
        <p:nvSpPr>
          <p:cNvPr id="17" name="TextBox 16"/>
          <p:cNvSpPr txBox="1"/>
          <p:nvPr/>
        </p:nvSpPr>
        <p:spPr>
          <a:xfrm>
            <a:off x="685800" y="4059936"/>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18" name="TextBox 17"/>
          <p:cNvSpPr txBox="1"/>
          <p:nvPr/>
        </p:nvSpPr>
        <p:spPr>
          <a:xfrm>
            <a:off x="960120" y="4059936"/>
            <a:ext cx="4754880" cy="237744"/>
          </a:xfrm>
          <a:prstGeom prst="rect">
            <a:avLst/>
          </a:prstGeom>
          <a:noFill/>
        </p:spPr>
        <p:txBody>
          <a:bodyPr wrap="square">
            <a:spAutoFit/>
          </a:bodyPr>
          <a:lstStyle/>
          <a:p>
            <a:pPr algn="l"/>
            <a:r>
              <a:rPr sz="1300" b="1" i="0">
                <a:solidFill>
                  <a:srgbClr val="FFFFFF"/>
                </a:solidFill>
                <a:latin typeface="Satoshi"/>
              </a:rPr>
              <a:t>Viewing booking automation</a:t>
            </a:r>
          </a:p>
        </p:txBody>
      </p:sp>
      <p:sp>
        <p:nvSpPr>
          <p:cNvPr id="19" name="TextBox 18"/>
          <p:cNvSpPr txBox="1"/>
          <p:nvPr/>
        </p:nvSpPr>
        <p:spPr>
          <a:xfrm>
            <a:off x="960120" y="4306824"/>
            <a:ext cx="4754880" cy="347472"/>
          </a:xfrm>
          <a:prstGeom prst="rect">
            <a:avLst/>
          </a:prstGeom>
          <a:noFill/>
        </p:spPr>
        <p:txBody>
          <a:bodyPr wrap="square">
            <a:spAutoFit/>
          </a:bodyPr>
          <a:lstStyle/>
          <a:p>
            <a:pPr algn="l"/>
            <a:r>
              <a:rPr sz="1200" b="0" i="0">
                <a:solidFill>
                  <a:srgbClr val="9D9D9F"/>
                </a:solidFill>
                <a:latin typeface="Satoshi"/>
              </a:rPr>
              <a:t>Qualified buyers with a 0-3 month timeline receive an automated viewing invite and booking link. The agent arrives prepared -- not to an unqualified cold enquiry.</a:t>
            </a:r>
          </a:p>
        </p:txBody>
      </p:sp>
      <p:sp>
        <p:nvSpPr>
          <p:cNvPr id="20" name="TextBox 19"/>
          <p:cNvSpPr txBox="1"/>
          <p:nvPr/>
        </p:nvSpPr>
        <p:spPr>
          <a:xfrm>
            <a:off x="685800" y="4718304"/>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21" name="TextBox 20"/>
          <p:cNvSpPr txBox="1"/>
          <p:nvPr/>
        </p:nvSpPr>
        <p:spPr>
          <a:xfrm>
            <a:off x="960120" y="4718304"/>
            <a:ext cx="4754880" cy="237744"/>
          </a:xfrm>
          <a:prstGeom prst="rect">
            <a:avLst/>
          </a:prstGeom>
          <a:noFill/>
        </p:spPr>
        <p:txBody>
          <a:bodyPr wrap="square">
            <a:spAutoFit/>
          </a:bodyPr>
          <a:lstStyle/>
          <a:p>
            <a:pPr algn="l"/>
            <a:r>
              <a:rPr sz="1300" b="1" i="0">
                <a:solidFill>
                  <a:srgbClr val="FFFFFF"/>
                </a:solidFill>
                <a:latin typeface="Satoshi"/>
              </a:rPr>
              <a:t>International buyer routing</a:t>
            </a:r>
          </a:p>
        </p:txBody>
      </p:sp>
      <p:sp>
        <p:nvSpPr>
          <p:cNvPr id="22" name="TextBox 21"/>
          <p:cNvSpPr txBox="1"/>
          <p:nvPr/>
        </p:nvSpPr>
        <p:spPr>
          <a:xfrm>
            <a:off x="960120" y="4965192"/>
            <a:ext cx="4754880" cy="347472"/>
          </a:xfrm>
          <a:prstGeom prst="rect">
            <a:avLst/>
          </a:prstGeom>
          <a:noFill/>
        </p:spPr>
        <p:txBody>
          <a:bodyPr wrap="square">
            <a:spAutoFit/>
          </a:bodyPr>
          <a:lstStyle/>
          <a:p>
            <a:pPr algn="l"/>
            <a:r>
              <a:rPr sz="1200" b="0" i="0">
                <a:solidFill>
                  <a:srgbClr val="9D9D9F"/>
                </a:solidFill>
                <a:latin typeface="Satoshi"/>
              </a:rPr>
              <a:t>Diaspora buyers in London, Houston, or Toronto routed to a virtual viewing sequence: floor plan delivery, video walkthrough link, and a scheduled video call with Laud or the sales team.</a:t>
            </a:r>
          </a:p>
        </p:txBody>
      </p:sp>
      <p:sp>
        <p:nvSpPr>
          <p:cNvPr id="23" name="TextBox 22"/>
          <p:cNvSpPr txBox="1"/>
          <p:nvPr/>
        </p:nvSpPr>
        <p:spPr>
          <a:xfrm>
            <a:off x="685800" y="5376672"/>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24" name="TextBox 23"/>
          <p:cNvSpPr txBox="1"/>
          <p:nvPr/>
        </p:nvSpPr>
        <p:spPr>
          <a:xfrm>
            <a:off x="960120" y="5376672"/>
            <a:ext cx="4754880" cy="237744"/>
          </a:xfrm>
          <a:prstGeom prst="rect">
            <a:avLst/>
          </a:prstGeom>
          <a:noFill/>
        </p:spPr>
        <p:txBody>
          <a:bodyPr wrap="square">
            <a:spAutoFit/>
          </a:bodyPr>
          <a:lstStyle/>
          <a:p>
            <a:pPr algn="l"/>
            <a:r>
              <a:rPr sz="1300" b="1" i="0">
                <a:solidFill>
                  <a:srgbClr val="FFFFFF"/>
                </a:solidFill>
                <a:latin typeface="Satoshi"/>
              </a:rPr>
              <a:t>Warm lead handover</a:t>
            </a:r>
          </a:p>
        </p:txBody>
      </p:sp>
      <p:sp>
        <p:nvSpPr>
          <p:cNvPr id="25" name="TextBox 24"/>
          <p:cNvSpPr txBox="1"/>
          <p:nvPr/>
        </p:nvSpPr>
        <p:spPr>
          <a:xfrm>
            <a:off x="960120" y="5623560"/>
            <a:ext cx="4754880" cy="347472"/>
          </a:xfrm>
          <a:prstGeom prst="rect">
            <a:avLst/>
          </a:prstGeom>
          <a:noFill/>
        </p:spPr>
        <p:txBody>
          <a:bodyPr wrap="square">
            <a:spAutoFit/>
          </a:bodyPr>
          <a:lstStyle/>
          <a:p>
            <a:pPr algn="l"/>
            <a:r>
              <a:rPr sz="1200" b="0" i="0">
                <a:solidFill>
                  <a:srgbClr val="9D9D9F"/>
                </a:solidFill>
                <a:latin typeface="Satoshi"/>
              </a:rPr>
              <a:t>When a buyer needs human involvement, the AI transfers the full conversation summary to the sales team via WhatsApp or email -- no context lost, no repeated questions.</a:t>
            </a:r>
          </a:p>
        </p:txBody>
      </p:sp>
      <p:sp>
        <p:nvSpPr>
          <p:cNvPr id="26" name="Rounded Rectangle 25"/>
          <p:cNvSpPr/>
          <p:nvPr/>
        </p:nvSpPr>
        <p:spPr>
          <a:xfrm>
            <a:off x="6858000" y="2743200"/>
            <a:ext cx="4572000" cy="338328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132320" y="2926080"/>
            <a:ext cx="4114800" cy="256032"/>
          </a:xfrm>
          <a:prstGeom prst="rect">
            <a:avLst/>
          </a:prstGeom>
          <a:noFill/>
        </p:spPr>
        <p:txBody>
          <a:bodyPr wrap="square">
            <a:spAutoFit/>
          </a:bodyPr>
          <a:lstStyle/>
          <a:p>
            <a:pPr algn="l"/>
            <a:r>
              <a:rPr sz="900" b="1" i="0">
                <a:solidFill>
                  <a:srgbClr val="6B6B6E"/>
                </a:solidFill>
                <a:latin typeface="Satoshi"/>
              </a:rPr>
              <a:t>THE TIME ZONE PROBLEM</a:t>
            </a:r>
          </a:p>
        </p:txBody>
      </p:sp>
      <p:sp>
        <p:nvSpPr>
          <p:cNvPr id="28" name="TextBox 27"/>
          <p:cNvSpPr txBox="1"/>
          <p:nvPr/>
        </p:nvSpPr>
        <p:spPr>
          <a:xfrm>
            <a:off x="7132320" y="3291840"/>
            <a:ext cx="4114800" cy="502920"/>
          </a:xfrm>
          <a:prstGeom prst="rect">
            <a:avLst/>
          </a:prstGeom>
          <a:noFill/>
        </p:spPr>
        <p:txBody>
          <a:bodyPr wrap="square">
            <a:spAutoFit/>
          </a:bodyPr>
          <a:lstStyle/>
          <a:p>
            <a:pPr algn="l"/>
            <a:r>
              <a:rPr sz="1700" b="0" i="0">
                <a:solidFill>
                  <a:srgbClr val="FFFFFF"/>
                </a:solidFill>
                <a:latin typeface="Instrument Serif"/>
              </a:rPr>
              <a:t>Diaspora buyers enquire at 11 PM</a:t>
            </a:r>
          </a:p>
        </p:txBody>
      </p:sp>
      <p:sp>
        <p:nvSpPr>
          <p:cNvPr id="29" name="TextBox 28"/>
          <p:cNvSpPr txBox="1"/>
          <p:nvPr/>
        </p:nvSpPr>
        <p:spPr>
          <a:xfrm>
            <a:off x="7132320" y="3822191"/>
            <a:ext cx="4114800" cy="502920"/>
          </a:xfrm>
          <a:prstGeom prst="rect">
            <a:avLst/>
          </a:prstGeom>
          <a:noFill/>
        </p:spPr>
        <p:txBody>
          <a:bodyPr wrap="square">
            <a:spAutoFit/>
          </a:bodyPr>
          <a:lstStyle/>
          <a:p>
            <a:pPr algn="l"/>
            <a:r>
              <a:rPr sz="1600" b="0" i="0">
                <a:solidFill>
                  <a:srgbClr val="A78BFA"/>
                </a:solidFill>
                <a:latin typeface="Instrument Serif"/>
              </a:rPr>
              <a:t>in their time zone -- not yours.</a:t>
            </a:r>
          </a:p>
        </p:txBody>
      </p:sp>
      <p:sp>
        <p:nvSpPr>
          <p:cNvPr id="30" name="TextBox 29"/>
          <p:cNvSpPr txBox="1"/>
          <p:nvPr/>
        </p:nvSpPr>
        <p:spPr>
          <a:xfrm>
            <a:off x="7132320" y="4462272"/>
            <a:ext cx="4114800" cy="658368"/>
          </a:xfrm>
          <a:prstGeom prst="rect">
            <a:avLst/>
          </a:prstGeom>
          <a:noFill/>
        </p:spPr>
        <p:txBody>
          <a:bodyPr wrap="square">
            <a:spAutoFit/>
          </a:bodyPr>
          <a:lstStyle/>
          <a:p>
            <a:pPr algn="l"/>
            <a:r>
              <a:rPr sz="1100" b="0" i="0">
                <a:solidFill>
                  <a:srgbClr val="9D9D9F"/>
                </a:solidFill>
                <a:latin typeface="Satoshi"/>
              </a:rPr>
              <a:t>Without a 24/7 qualification system, every after-hours enquiry either waits until Monday or is lost to a competitor who responded first.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685800" y="201168"/>
            <a:ext cx="5486400" cy="256032"/>
          </a:xfrm>
          <a:prstGeom prst="rect">
            <a:avLst/>
          </a:prstGeom>
          <a:noFill/>
        </p:spPr>
        <p:txBody>
          <a:bodyPr wrap="square">
            <a:spAutoFit/>
          </a:bodyPr>
          <a:lstStyle/>
          <a:p>
            <a:pPr algn="l"/>
            <a:r>
              <a:rPr sz="900" b="1" i="0">
                <a:solidFill>
                  <a:srgbClr val="6B6B6E"/>
                </a:solidFill>
                <a:latin typeface="Satoshi"/>
              </a:rPr>
              <a:t>GENOSAI  x  REGNUM PROPERTIES</a:t>
            </a:r>
          </a:p>
        </p:txBody>
      </p:sp>
      <p:sp>
        <p:nvSpPr>
          <p:cNvPr id="3" name="TextBox 2"/>
          <p:cNvSpPr txBox="1"/>
          <p:nvPr/>
        </p:nvSpPr>
        <p:spPr>
          <a:xfrm>
            <a:off x="6858000" y="201168"/>
            <a:ext cx="4645152" cy="256032"/>
          </a:xfrm>
          <a:prstGeom prst="rect">
            <a:avLst/>
          </a:prstGeom>
          <a:noFill/>
        </p:spPr>
        <p:txBody>
          <a:bodyPr wrap="square">
            <a:spAutoFit/>
          </a:bodyPr>
          <a:lstStyle/>
          <a:p>
            <a:pPr algn="r"/>
            <a:r>
              <a:rPr sz="900" b="1" i="0">
                <a:solidFill>
                  <a:srgbClr val="6B6B6E"/>
                </a:solidFill>
                <a:latin typeface="Satoshi"/>
              </a:rPr>
              <a:t>03B  .  INVESTOR NURTURE AI</a:t>
            </a:r>
          </a:p>
        </p:txBody>
      </p:sp>
      <p:sp>
        <p:nvSpPr>
          <p:cNvPr id="4" name="Rectangle 3"/>
          <p:cNvSpPr/>
          <p:nvPr/>
        </p:nvSpPr>
        <p:spPr>
          <a:xfrm>
            <a:off x="685800" y="530352"/>
            <a:ext cx="10817352"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73952"/>
            <a:ext cx="7315200" cy="256032"/>
          </a:xfrm>
          <a:prstGeom prst="rect">
            <a:avLst/>
          </a:prstGeom>
          <a:noFill/>
        </p:spPr>
        <p:txBody>
          <a:bodyPr wrap="square">
            <a:spAutoFit/>
          </a:bodyPr>
          <a:lstStyle/>
          <a:p>
            <a:pPr algn="l"/>
            <a:r>
              <a:rPr sz="800" b="0" i="0">
                <a:solidFill>
                  <a:srgbClr val="444447"/>
                </a:solidFill>
                <a:latin typeface="Satoshi"/>
              </a:rPr>
              <a:t>AI Automation Proposal  .  Regnum Properties  .  2026</a:t>
            </a:r>
          </a:p>
        </p:txBody>
      </p:sp>
      <p:sp>
        <p:nvSpPr>
          <p:cNvPr id="6" name="TextBox 5"/>
          <p:cNvSpPr txBox="1"/>
          <p:nvPr/>
        </p:nvSpPr>
        <p:spPr>
          <a:xfrm>
            <a:off x="8686800" y="6473952"/>
            <a:ext cx="2816352" cy="256032"/>
          </a:xfrm>
          <a:prstGeom prst="rect">
            <a:avLst/>
          </a:prstGeom>
          <a:noFill/>
        </p:spPr>
        <p:txBody>
          <a:bodyPr wrap="square">
            <a:spAutoFit/>
          </a:bodyPr>
          <a:lstStyle/>
          <a:p>
            <a:pPr algn="r"/>
            <a:r>
              <a:rPr sz="800" b="0" i="0">
                <a:solidFill>
                  <a:srgbClr val="444447"/>
                </a:solidFill>
                <a:latin typeface="Satoshi"/>
              </a:rPr>
              <a:t>06 / 12</a:t>
            </a:r>
          </a:p>
        </p:txBody>
      </p:sp>
      <p:sp>
        <p:nvSpPr>
          <p:cNvPr id="7" name="TextBox 6"/>
          <p:cNvSpPr txBox="1"/>
          <p:nvPr/>
        </p:nvSpPr>
        <p:spPr>
          <a:xfrm>
            <a:off x="685800" y="777240"/>
            <a:ext cx="5486400" cy="274320"/>
          </a:xfrm>
          <a:prstGeom prst="rect">
            <a:avLst/>
          </a:prstGeom>
          <a:noFill/>
        </p:spPr>
        <p:txBody>
          <a:bodyPr wrap="square">
            <a:spAutoFit/>
          </a:bodyPr>
          <a:lstStyle/>
          <a:p>
            <a:pPr algn="l"/>
            <a:r>
              <a:rPr sz="1000" b="1" i="0">
                <a:solidFill>
                  <a:srgbClr val="A78BFA"/>
                </a:solidFill>
                <a:latin typeface="Satoshi"/>
              </a:rPr>
              <a:t>MODULE B</a:t>
            </a:r>
          </a:p>
        </p:txBody>
      </p:sp>
      <p:sp>
        <p:nvSpPr>
          <p:cNvPr id="8" name="TextBox 7"/>
          <p:cNvSpPr txBox="1"/>
          <p:nvPr/>
        </p:nvSpPr>
        <p:spPr>
          <a:xfrm>
            <a:off x="685800" y="1078992"/>
            <a:ext cx="9144000" cy="1463040"/>
          </a:xfrm>
          <a:prstGeom prst="rect">
            <a:avLst/>
          </a:prstGeom>
          <a:noFill/>
        </p:spPr>
        <p:txBody>
          <a:bodyPr wrap="square">
            <a:spAutoFit/>
          </a:bodyPr>
          <a:lstStyle/>
          <a:p>
            <a:pPr algn="l"/>
            <a:r>
              <a:rPr sz="3600" b="0" i="0">
                <a:solidFill>
                  <a:srgbClr val="FFFFFF"/>
                </a:solidFill>
                <a:latin typeface="Instrument Serif"/>
              </a:rPr>
              <a:t>Investor Nurture Sequences</a:t>
            </a:r>
          </a:p>
        </p:txBody>
      </p:sp>
      <p:sp>
        <p:nvSpPr>
          <p:cNvPr id="9" name="TextBox 8"/>
          <p:cNvSpPr txBox="1"/>
          <p:nvPr/>
        </p:nvSpPr>
        <p:spPr>
          <a:xfrm>
            <a:off x="685800" y="2011680"/>
            <a:ext cx="5943600" cy="384048"/>
          </a:xfrm>
          <a:prstGeom prst="rect">
            <a:avLst/>
          </a:prstGeom>
          <a:noFill/>
        </p:spPr>
        <p:txBody>
          <a:bodyPr wrap="square">
            <a:spAutoFit/>
          </a:bodyPr>
          <a:lstStyle/>
          <a:p>
            <a:pPr algn="l"/>
            <a:r>
              <a:rPr sz="1400" b="0" i="0">
                <a:solidFill>
                  <a:srgbClr val="86868A"/>
                </a:solidFill>
                <a:latin typeface="Satoshi"/>
              </a:rPr>
              <a:t>Most luxury property deals in Ghana close on the third or fourth contact. Most developers follow up once, then stop. Automated nurture sequences run for 12 weeks without any manual effort.</a:t>
            </a:r>
          </a:p>
        </p:txBody>
      </p:sp>
      <p:sp>
        <p:nvSpPr>
          <p:cNvPr id="10" name="Rectangle 9"/>
          <p:cNvSpPr/>
          <p:nvPr/>
        </p:nvSpPr>
        <p:spPr>
          <a:xfrm>
            <a:off x="685800" y="2514600"/>
            <a:ext cx="10817352"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743200"/>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12" name="TextBox 11"/>
          <p:cNvSpPr txBox="1"/>
          <p:nvPr/>
        </p:nvSpPr>
        <p:spPr>
          <a:xfrm>
            <a:off x="960120" y="2743200"/>
            <a:ext cx="4754880" cy="237744"/>
          </a:xfrm>
          <a:prstGeom prst="rect">
            <a:avLst/>
          </a:prstGeom>
          <a:noFill/>
        </p:spPr>
        <p:txBody>
          <a:bodyPr wrap="square">
            <a:spAutoFit/>
          </a:bodyPr>
          <a:lstStyle/>
          <a:p>
            <a:pPr algn="l"/>
            <a:r>
              <a:rPr sz="1300" b="1" i="0">
                <a:solidFill>
                  <a:srgbClr val="FFFFFF"/>
                </a:solidFill>
                <a:latin typeface="Satoshi"/>
              </a:rPr>
              <a:t>Construction progress updates</a:t>
            </a:r>
          </a:p>
        </p:txBody>
      </p:sp>
      <p:sp>
        <p:nvSpPr>
          <p:cNvPr id="13" name="TextBox 12"/>
          <p:cNvSpPr txBox="1"/>
          <p:nvPr/>
        </p:nvSpPr>
        <p:spPr>
          <a:xfrm>
            <a:off x="960120" y="2990088"/>
            <a:ext cx="4754880" cy="347472"/>
          </a:xfrm>
          <a:prstGeom prst="rect">
            <a:avLst/>
          </a:prstGeom>
          <a:noFill/>
        </p:spPr>
        <p:txBody>
          <a:bodyPr wrap="square">
            <a:spAutoFit/>
          </a:bodyPr>
          <a:lstStyle/>
          <a:p>
            <a:pPr algn="l"/>
            <a:r>
              <a:rPr sz="1200" b="0" i="0">
                <a:solidFill>
                  <a:srgbClr val="9D9D9F"/>
                </a:solidFill>
                <a:latin typeface="Satoshi"/>
              </a:rPr>
              <a:t>Buyers who have enquired but not committed receive automated updates as each project milestone is reached -- foundations, framing, finishes. The project feels real and moving to an investor 5,000 km away.</a:t>
            </a:r>
          </a:p>
        </p:txBody>
      </p:sp>
      <p:sp>
        <p:nvSpPr>
          <p:cNvPr id="14" name="TextBox 13"/>
          <p:cNvSpPr txBox="1"/>
          <p:nvPr/>
        </p:nvSpPr>
        <p:spPr>
          <a:xfrm>
            <a:off x="685800" y="3401568"/>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15" name="TextBox 14"/>
          <p:cNvSpPr txBox="1"/>
          <p:nvPr/>
        </p:nvSpPr>
        <p:spPr>
          <a:xfrm>
            <a:off x="960120" y="3401568"/>
            <a:ext cx="4754880" cy="237744"/>
          </a:xfrm>
          <a:prstGeom prst="rect">
            <a:avLst/>
          </a:prstGeom>
          <a:noFill/>
        </p:spPr>
        <p:txBody>
          <a:bodyPr wrap="square">
            <a:spAutoFit/>
          </a:bodyPr>
          <a:lstStyle/>
          <a:p>
            <a:pPr algn="l"/>
            <a:r>
              <a:rPr sz="1300" b="1" i="0">
                <a:solidFill>
                  <a:srgbClr val="FFFFFF"/>
                </a:solidFill>
                <a:latin typeface="Satoshi"/>
              </a:rPr>
              <a:t>Payment plan education sequence</a:t>
            </a:r>
          </a:p>
        </p:txBody>
      </p:sp>
      <p:sp>
        <p:nvSpPr>
          <p:cNvPr id="16" name="TextBox 15"/>
          <p:cNvSpPr txBox="1"/>
          <p:nvPr/>
        </p:nvSpPr>
        <p:spPr>
          <a:xfrm>
            <a:off x="960120" y="3648456"/>
            <a:ext cx="4754880" cy="347472"/>
          </a:xfrm>
          <a:prstGeom prst="rect">
            <a:avLst/>
          </a:prstGeom>
          <a:noFill/>
        </p:spPr>
        <p:txBody>
          <a:bodyPr wrap="square">
            <a:spAutoFit/>
          </a:bodyPr>
          <a:lstStyle/>
          <a:p>
            <a:pPr algn="l"/>
            <a:r>
              <a:rPr sz="1200" b="0" i="0">
                <a:solidFill>
                  <a:srgbClr val="9D9D9F"/>
                </a:solidFill>
                <a:latin typeface="Satoshi"/>
              </a:rPr>
              <a:t>A 4-step automated sequence explaining payment structure, deposit requirements, completion timeline, and title deed process -- removing every friction point in the international buyer's decision without a single sales call.</a:t>
            </a:r>
          </a:p>
        </p:txBody>
      </p:sp>
      <p:sp>
        <p:nvSpPr>
          <p:cNvPr id="17" name="TextBox 16"/>
          <p:cNvSpPr txBox="1"/>
          <p:nvPr/>
        </p:nvSpPr>
        <p:spPr>
          <a:xfrm>
            <a:off x="685800" y="4059936"/>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18" name="TextBox 17"/>
          <p:cNvSpPr txBox="1"/>
          <p:nvPr/>
        </p:nvSpPr>
        <p:spPr>
          <a:xfrm>
            <a:off x="960120" y="4059936"/>
            <a:ext cx="4754880" cy="237744"/>
          </a:xfrm>
          <a:prstGeom prst="rect">
            <a:avLst/>
          </a:prstGeom>
          <a:noFill/>
        </p:spPr>
        <p:txBody>
          <a:bodyPr wrap="square">
            <a:spAutoFit/>
          </a:bodyPr>
          <a:lstStyle/>
          <a:p>
            <a:pPr algn="l"/>
            <a:r>
              <a:rPr sz="1300" b="1" i="0">
                <a:solidFill>
                  <a:srgbClr val="FFFFFF"/>
                </a:solidFill>
                <a:latin typeface="Satoshi"/>
              </a:rPr>
              <a:t>Accra market context delivery</a:t>
            </a:r>
          </a:p>
        </p:txBody>
      </p:sp>
      <p:sp>
        <p:nvSpPr>
          <p:cNvPr id="19" name="TextBox 18"/>
          <p:cNvSpPr txBox="1"/>
          <p:nvPr/>
        </p:nvSpPr>
        <p:spPr>
          <a:xfrm>
            <a:off x="960120" y="4306824"/>
            <a:ext cx="4754880" cy="347472"/>
          </a:xfrm>
          <a:prstGeom prst="rect">
            <a:avLst/>
          </a:prstGeom>
          <a:noFill/>
        </p:spPr>
        <p:txBody>
          <a:bodyPr wrap="square">
            <a:spAutoFit/>
          </a:bodyPr>
          <a:lstStyle/>
          <a:p>
            <a:pPr algn="l"/>
            <a:r>
              <a:rPr sz="1200" b="0" i="0">
                <a:solidFill>
                  <a:srgbClr val="9D9D9F"/>
                </a:solidFill>
                <a:latin typeface="Satoshi"/>
              </a:rPr>
              <a:t>Monthly AI-generated market update sent to all active leads: East Legon price trends, rental yield data, diaspora investment statistics. Positions Regnum as the expert, not just the seller.</a:t>
            </a:r>
          </a:p>
        </p:txBody>
      </p:sp>
      <p:sp>
        <p:nvSpPr>
          <p:cNvPr id="20" name="TextBox 19"/>
          <p:cNvSpPr txBox="1"/>
          <p:nvPr/>
        </p:nvSpPr>
        <p:spPr>
          <a:xfrm>
            <a:off x="685800" y="4718304"/>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21" name="TextBox 20"/>
          <p:cNvSpPr txBox="1"/>
          <p:nvPr/>
        </p:nvSpPr>
        <p:spPr>
          <a:xfrm>
            <a:off x="960120" y="4718304"/>
            <a:ext cx="4754880" cy="237744"/>
          </a:xfrm>
          <a:prstGeom prst="rect">
            <a:avLst/>
          </a:prstGeom>
          <a:noFill/>
        </p:spPr>
        <p:txBody>
          <a:bodyPr wrap="square">
            <a:spAutoFit/>
          </a:bodyPr>
          <a:lstStyle/>
          <a:p>
            <a:pPr algn="l"/>
            <a:r>
              <a:rPr sz="1300" b="1" i="0">
                <a:solidFill>
                  <a:srgbClr val="FFFFFF"/>
                </a:solidFill>
                <a:latin typeface="Satoshi"/>
              </a:rPr>
              <a:t>Reactivation sequences</a:t>
            </a:r>
          </a:p>
        </p:txBody>
      </p:sp>
      <p:sp>
        <p:nvSpPr>
          <p:cNvPr id="22" name="TextBox 21"/>
          <p:cNvSpPr txBox="1"/>
          <p:nvPr/>
        </p:nvSpPr>
        <p:spPr>
          <a:xfrm>
            <a:off x="960120" y="4965192"/>
            <a:ext cx="4754880" cy="347472"/>
          </a:xfrm>
          <a:prstGeom prst="rect">
            <a:avLst/>
          </a:prstGeom>
          <a:noFill/>
        </p:spPr>
        <p:txBody>
          <a:bodyPr wrap="square">
            <a:spAutoFit/>
          </a:bodyPr>
          <a:lstStyle/>
          <a:p>
            <a:pPr algn="l"/>
            <a:r>
              <a:rPr sz="1200" b="0" i="0">
                <a:solidFill>
                  <a:srgbClr val="9D9D9F"/>
                </a:solidFill>
                <a:latin typeface="Satoshi"/>
              </a:rPr>
              <a:t>Leads who went cold at 60 or 90 days are automatically reactivated with a new angle: a price update, a unit availability reminder, or a construction milestone that changes the proposition.</a:t>
            </a:r>
          </a:p>
        </p:txBody>
      </p:sp>
      <p:sp>
        <p:nvSpPr>
          <p:cNvPr id="23" name="TextBox 22"/>
          <p:cNvSpPr txBox="1"/>
          <p:nvPr/>
        </p:nvSpPr>
        <p:spPr>
          <a:xfrm>
            <a:off x="685800" y="5376672"/>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24" name="TextBox 23"/>
          <p:cNvSpPr txBox="1"/>
          <p:nvPr/>
        </p:nvSpPr>
        <p:spPr>
          <a:xfrm>
            <a:off x="960120" y="5376672"/>
            <a:ext cx="4754880" cy="237744"/>
          </a:xfrm>
          <a:prstGeom prst="rect">
            <a:avLst/>
          </a:prstGeom>
          <a:noFill/>
        </p:spPr>
        <p:txBody>
          <a:bodyPr wrap="square">
            <a:spAutoFit/>
          </a:bodyPr>
          <a:lstStyle/>
          <a:p>
            <a:pPr algn="l"/>
            <a:r>
              <a:rPr sz="1300" b="1" i="0">
                <a:solidFill>
                  <a:srgbClr val="FFFFFF"/>
                </a:solidFill>
                <a:latin typeface="Satoshi"/>
              </a:rPr>
              <a:t>Referral trigger</a:t>
            </a:r>
          </a:p>
        </p:txBody>
      </p:sp>
      <p:sp>
        <p:nvSpPr>
          <p:cNvPr id="25" name="TextBox 24"/>
          <p:cNvSpPr txBox="1"/>
          <p:nvPr/>
        </p:nvSpPr>
        <p:spPr>
          <a:xfrm>
            <a:off x="960120" y="5623560"/>
            <a:ext cx="4754880" cy="347472"/>
          </a:xfrm>
          <a:prstGeom prst="rect">
            <a:avLst/>
          </a:prstGeom>
          <a:noFill/>
        </p:spPr>
        <p:txBody>
          <a:bodyPr wrap="square">
            <a:spAutoFit/>
          </a:bodyPr>
          <a:lstStyle/>
          <a:p>
            <a:pPr algn="l"/>
            <a:r>
              <a:rPr sz="1200" b="0" i="0">
                <a:solidFill>
                  <a:srgbClr val="9D9D9F"/>
                </a:solidFill>
                <a:latin typeface="Satoshi"/>
              </a:rPr>
              <a:t>Buyers who complete a purchase receive an automated referral prompt at 60 days post-handover -- the highest satisfaction moment in the relationship.</a:t>
            </a:r>
          </a:p>
        </p:txBody>
      </p:sp>
      <p:sp>
        <p:nvSpPr>
          <p:cNvPr id="26" name="Rounded Rectangle 25"/>
          <p:cNvSpPr/>
          <p:nvPr/>
        </p:nvSpPr>
        <p:spPr>
          <a:xfrm>
            <a:off x="6858000" y="2743200"/>
            <a:ext cx="4572000" cy="338328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132320" y="2926080"/>
            <a:ext cx="4114800" cy="256032"/>
          </a:xfrm>
          <a:prstGeom prst="rect">
            <a:avLst/>
          </a:prstGeom>
          <a:noFill/>
        </p:spPr>
        <p:txBody>
          <a:bodyPr wrap="square">
            <a:spAutoFit/>
          </a:bodyPr>
          <a:lstStyle/>
          <a:p>
            <a:pPr algn="l"/>
            <a:r>
              <a:rPr sz="900" b="1" i="0">
                <a:solidFill>
                  <a:srgbClr val="6B6B6E"/>
                </a:solidFill>
                <a:latin typeface="Satoshi"/>
              </a:rPr>
              <a:t>THE FOLLOW-UP REALITY</a:t>
            </a:r>
          </a:p>
        </p:txBody>
      </p:sp>
      <p:sp>
        <p:nvSpPr>
          <p:cNvPr id="28" name="TextBox 27"/>
          <p:cNvSpPr txBox="1"/>
          <p:nvPr/>
        </p:nvSpPr>
        <p:spPr>
          <a:xfrm>
            <a:off x="7132320" y="3310128"/>
            <a:ext cx="4114800" cy="548640"/>
          </a:xfrm>
          <a:prstGeom prst="rect">
            <a:avLst/>
          </a:prstGeom>
          <a:noFill/>
        </p:spPr>
        <p:txBody>
          <a:bodyPr wrap="square">
            <a:spAutoFit/>
          </a:bodyPr>
          <a:lstStyle/>
          <a:p>
            <a:pPr algn="l"/>
            <a:r>
              <a:rPr sz="1700" b="0" i="0">
                <a:solidFill>
                  <a:srgbClr val="FFFFFF"/>
                </a:solidFill>
                <a:latin typeface="Instrument Serif"/>
              </a:rPr>
              <a:t>Deals close on the 3rd or 4th contact.</a:t>
            </a:r>
          </a:p>
        </p:txBody>
      </p:sp>
      <p:sp>
        <p:nvSpPr>
          <p:cNvPr id="29" name="TextBox 28"/>
          <p:cNvSpPr txBox="1"/>
          <p:nvPr/>
        </p:nvSpPr>
        <p:spPr>
          <a:xfrm>
            <a:off x="7132320" y="3913632"/>
            <a:ext cx="4114800" cy="502920"/>
          </a:xfrm>
          <a:prstGeom prst="rect">
            <a:avLst/>
          </a:prstGeom>
          <a:noFill/>
        </p:spPr>
        <p:txBody>
          <a:bodyPr wrap="square">
            <a:spAutoFit/>
          </a:bodyPr>
          <a:lstStyle/>
          <a:p>
            <a:pPr algn="l"/>
            <a:r>
              <a:rPr sz="1600" b="0" i="0">
                <a:solidFill>
                  <a:srgbClr val="A78BFA"/>
                </a:solidFill>
                <a:latin typeface="Instrument Serif"/>
              </a:rPr>
              <a:t>Most developers stop at the first.</a:t>
            </a:r>
          </a:p>
        </p:txBody>
      </p:sp>
      <p:sp>
        <p:nvSpPr>
          <p:cNvPr id="30" name="TextBox 29"/>
          <p:cNvSpPr txBox="1"/>
          <p:nvPr/>
        </p:nvSpPr>
        <p:spPr>
          <a:xfrm>
            <a:off x="7132320" y="4526280"/>
            <a:ext cx="4114800" cy="621792"/>
          </a:xfrm>
          <a:prstGeom prst="rect">
            <a:avLst/>
          </a:prstGeom>
          <a:noFill/>
        </p:spPr>
        <p:txBody>
          <a:bodyPr wrap="square">
            <a:spAutoFit/>
          </a:bodyPr>
          <a:lstStyle/>
          <a:p>
            <a:pPr algn="l"/>
            <a:r>
              <a:rPr sz="1100" b="0" i="0">
                <a:solidFill>
                  <a:srgbClr val="9D9D9F"/>
                </a:solidFill>
                <a:latin typeface="Satoshi"/>
              </a:rPr>
              <a:t>A 12-week automated nurture sequence ensures Regnum stays top of mind for every active lead -- without Laud or Maxwell sending a single manual message.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685800" y="201168"/>
            <a:ext cx="5486400" cy="256032"/>
          </a:xfrm>
          <a:prstGeom prst="rect">
            <a:avLst/>
          </a:prstGeom>
          <a:noFill/>
        </p:spPr>
        <p:txBody>
          <a:bodyPr wrap="square">
            <a:spAutoFit/>
          </a:bodyPr>
          <a:lstStyle/>
          <a:p>
            <a:pPr algn="l"/>
            <a:r>
              <a:rPr sz="900" b="1" i="0">
                <a:solidFill>
                  <a:srgbClr val="6B6B6E"/>
                </a:solidFill>
                <a:latin typeface="Satoshi"/>
              </a:rPr>
              <a:t>GENOSAI  x  REGNUM PROPERTIES</a:t>
            </a:r>
          </a:p>
        </p:txBody>
      </p:sp>
      <p:sp>
        <p:nvSpPr>
          <p:cNvPr id="3" name="TextBox 2"/>
          <p:cNvSpPr txBox="1"/>
          <p:nvPr/>
        </p:nvSpPr>
        <p:spPr>
          <a:xfrm>
            <a:off x="6858000" y="201168"/>
            <a:ext cx="4645152" cy="256032"/>
          </a:xfrm>
          <a:prstGeom prst="rect">
            <a:avLst/>
          </a:prstGeom>
          <a:noFill/>
        </p:spPr>
        <p:txBody>
          <a:bodyPr wrap="square">
            <a:spAutoFit/>
          </a:bodyPr>
          <a:lstStyle/>
          <a:p>
            <a:pPr algn="r"/>
            <a:r>
              <a:rPr sz="900" b="1" i="0">
                <a:solidFill>
                  <a:srgbClr val="6B6B6E"/>
                </a:solidFill>
                <a:latin typeface="Satoshi"/>
              </a:rPr>
              <a:t>03C  .  SOCIAL MEDIA AI</a:t>
            </a:r>
          </a:p>
        </p:txBody>
      </p:sp>
      <p:sp>
        <p:nvSpPr>
          <p:cNvPr id="4" name="Rectangle 3"/>
          <p:cNvSpPr/>
          <p:nvPr/>
        </p:nvSpPr>
        <p:spPr>
          <a:xfrm>
            <a:off x="685800" y="530352"/>
            <a:ext cx="10817352"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73952"/>
            <a:ext cx="7315200" cy="256032"/>
          </a:xfrm>
          <a:prstGeom prst="rect">
            <a:avLst/>
          </a:prstGeom>
          <a:noFill/>
        </p:spPr>
        <p:txBody>
          <a:bodyPr wrap="square">
            <a:spAutoFit/>
          </a:bodyPr>
          <a:lstStyle/>
          <a:p>
            <a:pPr algn="l"/>
            <a:r>
              <a:rPr sz="800" b="0" i="0">
                <a:solidFill>
                  <a:srgbClr val="444447"/>
                </a:solidFill>
                <a:latin typeface="Satoshi"/>
              </a:rPr>
              <a:t>AI Automation Proposal  .  Regnum Properties  .  2026</a:t>
            </a:r>
          </a:p>
        </p:txBody>
      </p:sp>
      <p:sp>
        <p:nvSpPr>
          <p:cNvPr id="6" name="TextBox 5"/>
          <p:cNvSpPr txBox="1"/>
          <p:nvPr/>
        </p:nvSpPr>
        <p:spPr>
          <a:xfrm>
            <a:off x="8686800" y="6473952"/>
            <a:ext cx="2816352" cy="256032"/>
          </a:xfrm>
          <a:prstGeom prst="rect">
            <a:avLst/>
          </a:prstGeom>
          <a:noFill/>
        </p:spPr>
        <p:txBody>
          <a:bodyPr wrap="square">
            <a:spAutoFit/>
          </a:bodyPr>
          <a:lstStyle/>
          <a:p>
            <a:pPr algn="r"/>
            <a:r>
              <a:rPr sz="800" b="0" i="0">
                <a:solidFill>
                  <a:srgbClr val="444447"/>
                </a:solidFill>
                <a:latin typeface="Satoshi"/>
              </a:rPr>
              <a:t>07 / 12</a:t>
            </a:r>
          </a:p>
        </p:txBody>
      </p:sp>
      <p:sp>
        <p:nvSpPr>
          <p:cNvPr id="7" name="TextBox 6"/>
          <p:cNvSpPr txBox="1"/>
          <p:nvPr/>
        </p:nvSpPr>
        <p:spPr>
          <a:xfrm>
            <a:off x="685800" y="777240"/>
            <a:ext cx="5486400" cy="274320"/>
          </a:xfrm>
          <a:prstGeom prst="rect">
            <a:avLst/>
          </a:prstGeom>
          <a:noFill/>
        </p:spPr>
        <p:txBody>
          <a:bodyPr wrap="square">
            <a:spAutoFit/>
          </a:bodyPr>
          <a:lstStyle/>
          <a:p>
            <a:pPr algn="l"/>
            <a:r>
              <a:rPr sz="1000" b="1" i="0">
                <a:solidFill>
                  <a:srgbClr val="A78BFA"/>
                </a:solidFill>
                <a:latin typeface="Satoshi"/>
              </a:rPr>
              <a:t>MODULE C</a:t>
            </a:r>
          </a:p>
        </p:txBody>
      </p:sp>
      <p:sp>
        <p:nvSpPr>
          <p:cNvPr id="8" name="TextBox 7"/>
          <p:cNvSpPr txBox="1"/>
          <p:nvPr/>
        </p:nvSpPr>
        <p:spPr>
          <a:xfrm>
            <a:off x="685800" y="1078992"/>
            <a:ext cx="9144000" cy="1463040"/>
          </a:xfrm>
          <a:prstGeom prst="rect">
            <a:avLst/>
          </a:prstGeom>
          <a:noFill/>
        </p:spPr>
        <p:txBody>
          <a:bodyPr wrap="square">
            <a:spAutoFit/>
          </a:bodyPr>
          <a:lstStyle/>
          <a:p>
            <a:pPr algn="l"/>
            <a:r>
              <a:rPr sz="3400" b="0" i="0">
                <a:solidFill>
                  <a:srgbClr val="FFFFFF"/>
                </a:solidFill>
                <a:latin typeface="Instrument Serif"/>
              </a:rPr>
              <a:t>Social Media &amp; Content AI</a:t>
            </a:r>
          </a:p>
        </p:txBody>
      </p:sp>
      <p:sp>
        <p:nvSpPr>
          <p:cNvPr id="9" name="TextBox 8"/>
          <p:cNvSpPr txBox="1"/>
          <p:nvPr/>
        </p:nvSpPr>
        <p:spPr>
          <a:xfrm>
            <a:off x="685800" y="2011680"/>
            <a:ext cx="5943600" cy="384048"/>
          </a:xfrm>
          <a:prstGeom prst="rect">
            <a:avLst/>
          </a:prstGeom>
          <a:noFill/>
        </p:spPr>
        <p:txBody>
          <a:bodyPr wrap="square">
            <a:spAutoFit/>
          </a:bodyPr>
          <a:lstStyle/>
          <a:p>
            <a:pPr algn="l"/>
            <a:r>
              <a:rPr sz="1400" b="0" i="0">
                <a:solidFill>
                  <a:srgbClr val="86868A"/>
                </a:solidFill>
                <a:latin typeface="Satoshi"/>
              </a:rPr>
              <a:t>Regnum is actively posting on LinkedIn and Instagram -- the intent is right. An AI content layer generates consistent, audience-specific posts on a weekly schedule without consuming founder time.</a:t>
            </a:r>
          </a:p>
        </p:txBody>
      </p:sp>
      <p:sp>
        <p:nvSpPr>
          <p:cNvPr id="10" name="Rectangle 9"/>
          <p:cNvSpPr/>
          <p:nvPr/>
        </p:nvSpPr>
        <p:spPr>
          <a:xfrm>
            <a:off x="685800" y="2514600"/>
            <a:ext cx="10817352"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743200"/>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12" name="TextBox 11"/>
          <p:cNvSpPr txBox="1"/>
          <p:nvPr/>
        </p:nvSpPr>
        <p:spPr>
          <a:xfrm>
            <a:off x="960120" y="2743200"/>
            <a:ext cx="4754880" cy="237744"/>
          </a:xfrm>
          <a:prstGeom prst="rect">
            <a:avLst/>
          </a:prstGeom>
          <a:noFill/>
        </p:spPr>
        <p:txBody>
          <a:bodyPr wrap="square">
            <a:spAutoFit/>
          </a:bodyPr>
          <a:lstStyle/>
          <a:p>
            <a:pPr algn="l"/>
            <a:r>
              <a:rPr sz="1300" b="1" i="0">
                <a:solidFill>
                  <a:srgbClr val="FFFFFF"/>
                </a:solidFill>
                <a:latin typeface="Satoshi"/>
              </a:rPr>
              <a:t>Weekly LinkedIn content calendar</a:t>
            </a:r>
          </a:p>
        </p:txBody>
      </p:sp>
      <p:sp>
        <p:nvSpPr>
          <p:cNvPr id="13" name="TextBox 12"/>
          <p:cNvSpPr txBox="1"/>
          <p:nvPr/>
        </p:nvSpPr>
        <p:spPr>
          <a:xfrm>
            <a:off x="960120" y="2990088"/>
            <a:ext cx="4754880" cy="347472"/>
          </a:xfrm>
          <a:prstGeom prst="rect">
            <a:avLst/>
          </a:prstGeom>
          <a:noFill/>
        </p:spPr>
        <p:txBody>
          <a:bodyPr wrap="square">
            <a:spAutoFit/>
          </a:bodyPr>
          <a:lstStyle/>
          <a:p>
            <a:pPr algn="l"/>
            <a:r>
              <a:rPr sz="1200" b="0" i="0">
                <a:solidFill>
                  <a:srgbClr val="9D9D9F"/>
                </a:solidFill>
                <a:latin typeface="Satoshi"/>
              </a:rPr>
              <a:t>AI generates 3 posts per week: an Accra market insight, a project construction update, and a diaspora buyer guide. Scheduled and published automatically -- growing the audience from its current base without manual effort.</a:t>
            </a:r>
          </a:p>
        </p:txBody>
      </p:sp>
      <p:sp>
        <p:nvSpPr>
          <p:cNvPr id="14" name="TextBox 13"/>
          <p:cNvSpPr txBox="1"/>
          <p:nvPr/>
        </p:nvSpPr>
        <p:spPr>
          <a:xfrm>
            <a:off x="685800" y="3401568"/>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15" name="TextBox 14"/>
          <p:cNvSpPr txBox="1"/>
          <p:nvPr/>
        </p:nvSpPr>
        <p:spPr>
          <a:xfrm>
            <a:off x="960120" y="3401568"/>
            <a:ext cx="4754880" cy="237744"/>
          </a:xfrm>
          <a:prstGeom prst="rect">
            <a:avLst/>
          </a:prstGeom>
          <a:noFill/>
        </p:spPr>
        <p:txBody>
          <a:bodyPr wrap="square">
            <a:spAutoFit/>
          </a:bodyPr>
          <a:lstStyle/>
          <a:p>
            <a:pPr algn="l"/>
            <a:r>
              <a:rPr sz="1300" b="1" i="0">
                <a:solidFill>
                  <a:srgbClr val="FFFFFF"/>
                </a:solidFill>
                <a:latin typeface="Satoshi"/>
              </a:rPr>
              <a:t>Instagram property showcase posts</a:t>
            </a:r>
          </a:p>
        </p:txBody>
      </p:sp>
      <p:sp>
        <p:nvSpPr>
          <p:cNvPr id="16" name="TextBox 15"/>
          <p:cNvSpPr txBox="1"/>
          <p:nvPr/>
        </p:nvSpPr>
        <p:spPr>
          <a:xfrm>
            <a:off x="960120" y="3648456"/>
            <a:ext cx="4754880" cy="347472"/>
          </a:xfrm>
          <a:prstGeom prst="rect">
            <a:avLst/>
          </a:prstGeom>
          <a:noFill/>
        </p:spPr>
        <p:txBody>
          <a:bodyPr wrap="square">
            <a:spAutoFit/>
          </a:bodyPr>
          <a:lstStyle/>
          <a:p>
            <a:pPr algn="l"/>
            <a:r>
              <a:rPr sz="1200" b="0" i="0">
                <a:solidFill>
                  <a:srgbClr val="9D9D9F"/>
                </a:solidFill>
                <a:latin typeface="Satoshi"/>
              </a:rPr>
              <a:t>AI-written captions for construction photos and finished unit imagery, optimised for diaspora buyer search terms and hashtags. Consistent visual storytelling builds the brand before a buyer ever enquires.</a:t>
            </a:r>
          </a:p>
        </p:txBody>
      </p:sp>
      <p:sp>
        <p:nvSpPr>
          <p:cNvPr id="17" name="TextBox 16"/>
          <p:cNvSpPr txBox="1"/>
          <p:nvPr/>
        </p:nvSpPr>
        <p:spPr>
          <a:xfrm>
            <a:off x="685800" y="4059936"/>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18" name="TextBox 17"/>
          <p:cNvSpPr txBox="1"/>
          <p:nvPr/>
        </p:nvSpPr>
        <p:spPr>
          <a:xfrm>
            <a:off x="960120" y="4059936"/>
            <a:ext cx="4754880" cy="237744"/>
          </a:xfrm>
          <a:prstGeom prst="rect">
            <a:avLst/>
          </a:prstGeom>
          <a:noFill/>
        </p:spPr>
        <p:txBody>
          <a:bodyPr wrap="square">
            <a:spAutoFit/>
          </a:bodyPr>
          <a:lstStyle/>
          <a:p>
            <a:pPr algn="l"/>
            <a:r>
              <a:rPr sz="1300" b="1" i="0">
                <a:solidFill>
                  <a:srgbClr val="FFFFFF"/>
                </a:solidFill>
                <a:latin typeface="Satoshi"/>
              </a:rPr>
              <a:t>Buyer guide content series</a:t>
            </a:r>
          </a:p>
        </p:txBody>
      </p:sp>
      <p:sp>
        <p:nvSpPr>
          <p:cNvPr id="19" name="TextBox 18"/>
          <p:cNvSpPr txBox="1"/>
          <p:nvPr/>
        </p:nvSpPr>
        <p:spPr>
          <a:xfrm>
            <a:off x="960120" y="4306824"/>
            <a:ext cx="4754880" cy="347472"/>
          </a:xfrm>
          <a:prstGeom prst="rect">
            <a:avLst/>
          </a:prstGeom>
          <a:noFill/>
        </p:spPr>
        <p:txBody>
          <a:bodyPr wrap="square">
            <a:spAutoFit/>
          </a:bodyPr>
          <a:lstStyle/>
          <a:p>
            <a:pPr algn="l"/>
            <a:r>
              <a:rPr sz="1200" b="0" i="0">
                <a:solidFill>
                  <a:srgbClr val="9D9D9F"/>
                </a:solidFill>
                <a:latin typeface="Satoshi"/>
              </a:rPr>
              <a:t>'How to buy property in Ghana from the UK' / 'Ghana property investment for diaspora' -- AI-generated long-form guides published as LinkedIn articles and Instagram carousels, positioning Laud as the expert voice in diaspora real estate investment.</a:t>
            </a:r>
          </a:p>
        </p:txBody>
      </p:sp>
      <p:sp>
        <p:nvSpPr>
          <p:cNvPr id="20" name="TextBox 19"/>
          <p:cNvSpPr txBox="1"/>
          <p:nvPr/>
        </p:nvSpPr>
        <p:spPr>
          <a:xfrm>
            <a:off x="685800" y="4718304"/>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21" name="TextBox 20"/>
          <p:cNvSpPr txBox="1"/>
          <p:nvPr/>
        </p:nvSpPr>
        <p:spPr>
          <a:xfrm>
            <a:off x="960120" y="4718304"/>
            <a:ext cx="4754880" cy="237744"/>
          </a:xfrm>
          <a:prstGeom prst="rect">
            <a:avLst/>
          </a:prstGeom>
          <a:noFill/>
        </p:spPr>
        <p:txBody>
          <a:bodyPr wrap="square">
            <a:spAutoFit/>
          </a:bodyPr>
          <a:lstStyle/>
          <a:p>
            <a:pPr algn="l"/>
            <a:r>
              <a:rPr sz="1300" b="1" i="0">
                <a:solidFill>
                  <a:srgbClr val="FFFFFF"/>
                </a:solidFill>
                <a:latin typeface="Satoshi"/>
              </a:rPr>
              <a:t>Project milestone announcements</a:t>
            </a:r>
          </a:p>
        </p:txBody>
      </p:sp>
      <p:sp>
        <p:nvSpPr>
          <p:cNvPr id="22" name="TextBox 21"/>
          <p:cNvSpPr txBox="1"/>
          <p:nvPr/>
        </p:nvSpPr>
        <p:spPr>
          <a:xfrm>
            <a:off x="960120" y="4965192"/>
            <a:ext cx="4754880" cy="347472"/>
          </a:xfrm>
          <a:prstGeom prst="rect">
            <a:avLst/>
          </a:prstGeom>
          <a:noFill/>
        </p:spPr>
        <p:txBody>
          <a:bodyPr wrap="square">
            <a:spAutoFit/>
          </a:bodyPr>
          <a:lstStyle/>
          <a:p>
            <a:pPr algn="l"/>
            <a:r>
              <a:rPr sz="1200" b="0" i="0">
                <a:solidFill>
                  <a:srgbClr val="9D9D9F"/>
                </a:solidFill>
                <a:latin typeface="Satoshi"/>
              </a:rPr>
              <a:t>Every construction milestone converted into a social post automatically: foundation complete, roofing complete, smart home installation -- keeping the audience engaged through the build cycle.</a:t>
            </a:r>
          </a:p>
        </p:txBody>
      </p:sp>
      <p:sp>
        <p:nvSpPr>
          <p:cNvPr id="23" name="TextBox 22"/>
          <p:cNvSpPr txBox="1"/>
          <p:nvPr/>
        </p:nvSpPr>
        <p:spPr>
          <a:xfrm>
            <a:off x="685800" y="5376672"/>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24" name="TextBox 23"/>
          <p:cNvSpPr txBox="1"/>
          <p:nvPr/>
        </p:nvSpPr>
        <p:spPr>
          <a:xfrm>
            <a:off x="960120" y="5376672"/>
            <a:ext cx="4754880" cy="237744"/>
          </a:xfrm>
          <a:prstGeom prst="rect">
            <a:avLst/>
          </a:prstGeom>
          <a:noFill/>
        </p:spPr>
        <p:txBody>
          <a:bodyPr wrap="square">
            <a:spAutoFit/>
          </a:bodyPr>
          <a:lstStyle/>
          <a:p>
            <a:pPr algn="l"/>
            <a:r>
              <a:rPr sz="1300" b="1" i="0">
                <a:solidFill>
                  <a:srgbClr val="FFFFFF"/>
                </a:solidFill>
                <a:latin typeface="Satoshi"/>
              </a:rPr>
              <a:t>Engagement and comment responses</a:t>
            </a:r>
          </a:p>
        </p:txBody>
      </p:sp>
      <p:sp>
        <p:nvSpPr>
          <p:cNvPr id="25" name="TextBox 24"/>
          <p:cNvSpPr txBox="1"/>
          <p:nvPr/>
        </p:nvSpPr>
        <p:spPr>
          <a:xfrm>
            <a:off x="960120" y="5623560"/>
            <a:ext cx="4754880" cy="347472"/>
          </a:xfrm>
          <a:prstGeom prst="rect">
            <a:avLst/>
          </a:prstGeom>
          <a:noFill/>
        </p:spPr>
        <p:txBody>
          <a:bodyPr wrap="square">
            <a:spAutoFit/>
          </a:bodyPr>
          <a:lstStyle/>
          <a:p>
            <a:pPr algn="l"/>
            <a:r>
              <a:rPr sz="1200" b="0" i="0">
                <a:solidFill>
                  <a:srgbClr val="9D9D9F"/>
                </a:solidFill>
                <a:latin typeface="Satoshi"/>
              </a:rPr>
              <a:t>AI monitors LinkedIn and Instagram comments and drafts responses for review, ensuring no inbound interest from a follower is missed.</a:t>
            </a:r>
          </a:p>
        </p:txBody>
      </p:sp>
      <p:sp>
        <p:nvSpPr>
          <p:cNvPr id="26" name="Rounded Rectangle 25"/>
          <p:cNvSpPr/>
          <p:nvPr/>
        </p:nvSpPr>
        <p:spPr>
          <a:xfrm>
            <a:off x="6858000" y="2743200"/>
            <a:ext cx="4572000" cy="338328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132320" y="2926080"/>
            <a:ext cx="4114800" cy="256032"/>
          </a:xfrm>
          <a:prstGeom prst="rect">
            <a:avLst/>
          </a:prstGeom>
          <a:noFill/>
        </p:spPr>
        <p:txBody>
          <a:bodyPr wrap="square">
            <a:spAutoFit/>
          </a:bodyPr>
          <a:lstStyle/>
          <a:p>
            <a:pPr algn="l"/>
            <a:r>
              <a:rPr sz="900" b="1" i="0">
                <a:solidFill>
                  <a:srgbClr val="6B6B6E"/>
                </a:solidFill>
                <a:latin typeface="Satoshi"/>
              </a:rPr>
              <a:t>THE AUDIENCE OPPORTUNITY</a:t>
            </a:r>
          </a:p>
        </p:txBody>
      </p:sp>
      <p:sp>
        <p:nvSpPr>
          <p:cNvPr id="28" name="TextBox 27"/>
          <p:cNvSpPr txBox="1"/>
          <p:nvPr/>
        </p:nvSpPr>
        <p:spPr>
          <a:xfrm>
            <a:off x="7132320" y="3310128"/>
            <a:ext cx="4114800" cy="548640"/>
          </a:xfrm>
          <a:prstGeom prst="rect">
            <a:avLst/>
          </a:prstGeom>
          <a:noFill/>
        </p:spPr>
        <p:txBody>
          <a:bodyPr wrap="square">
            <a:spAutoFit/>
          </a:bodyPr>
          <a:lstStyle/>
          <a:p>
            <a:pPr algn="l"/>
            <a:r>
              <a:rPr sz="1700" b="0" i="0">
                <a:solidFill>
                  <a:srgbClr val="FFFFFF"/>
                </a:solidFill>
                <a:latin typeface="Instrument Serif"/>
              </a:rPr>
              <a:t>The Ghanaian diaspora is 3M+ strong</a:t>
            </a:r>
          </a:p>
        </p:txBody>
      </p:sp>
      <p:sp>
        <p:nvSpPr>
          <p:cNvPr id="29" name="TextBox 28"/>
          <p:cNvSpPr txBox="1"/>
          <p:nvPr/>
        </p:nvSpPr>
        <p:spPr>
          <a:xfrm>
            <a:off x="7132320" y="3913632"/>
            <a:ext cx="4114800" cy="502920"/>
          </a:xfrm>
          <a:prstGeom prst="rect">
            <a:avLst/>
          </a:prstGeom>
          <a:noFill/>
        </p:spPr>
        <p:txBody>
          <a:bodyPr wrap="square">
            <a:spAutoFit/>
          </a:bodyPr>
          <a:lstStyle/>
          <a:p>
            <a:pPr algn="l"/>
            <a:r>
              <a:rPr sz="1600" b="0" i="0">
                <a:solidFill>
                  <a:srgbClr val="A78BFA"/>
                </a:solidFill>
                <a:latin typeface="Instrument Serif"/>
              </a:rPr>
              <a:t>and actively investing in Accra.</a:t>
            </a:r>
          </a:p>
        </p:txBody>
      </p:sp>
      <p:sp>
        <p:nvSpPr>
          <p:cNvPr id="30" name="TextBox 29"/>
          <p:cNvSpPr txBox="1"/>
          <p:nvPr/>
        </p:nvSpPr>
        <p:spPr>
          <a:xfrm>
            <a:off x="7132320" y="4526280"/>
            <a:ext cx="4114800" cy="621792"/>
          </a:xfrm>
          <a:prstGeom prst="rect">
            <a:avLst/>
          </a:prstGeom>
          <a:noFill/>
        </p:spPr>
        <p:txBody>
          <a:bodyPr wrap="square">
            <a:spAutoFit/>
          </a:bodyPr>
          <a:lstStyle/>
          <a:p>
            <a:pPr algn="l"/>
            <a:r>
              <a:rPr sz="1100" b="0" i="0">
                <a:solidFill>
                  <a:srgbClr val="9D9D9F"/>
                </a:solidFill>
                <a:latin typeface="Satoshi"/>
              </a:rPr>
              <a:t>Consistent social content positions Regnum as the developer diaspora buyers find first -- before they find a competitor.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685800" y="201168"/>
            <a:ext cx="5486400" cy="256032"/>
          </a:xfrm>
          <a:prstGeom prst="rect">
            <a:avLst/>
          </a:prstGeom>
          <a:noFill/>
        </p:spPr>
        <p:txBody>
          <a:bodyPr wrap="square">
            <a:spAutoFit/>
          </a:bodyPr>
          <a:lstStyle/>
          <a:p>
            <a:pPr algn="l"/>
            <a:r>
              <a:rPr sz="900" b="1" i="0">
                <a:solidFill>
                  <a:srgbClr val="6B6B6E"/>
                </a:solidFill>
                <a:latin typeface="Satoshi"/>
              </a:rPr>
              <a:t>GENOSAI  x  REGNUM PROPERTIES</a:t>
            </a:r>
          </a:p>
        </p:txBody>
      </p:sp>
      <p:sp>
        <p:nvSpPr>
          <p:cNvPr id="3" name="TextBox 2"/>
          <p:cNvSpPr txBox="1"/>
          <p:nvPr/>
        </p:nvSpPr>
        <p:spPr>
          <a:xfrm>
            <a:off x="6858000" y="201168"/>
            <a:ext cx="4645152" cy="256032"/>
          </a:xfrm>
          <a:prstGeom prst="rect">
            <a:avLst/>
          </a:prstGeom>
          <a:noFill/>
        </p:spPr>
        <p:txBody>
          <a:bodyPr wrap="square">
            <a:spAutoFit/>
          </a:bodyPr>
          <a:lstStyle/>
          <a:p>
            <a:pPr algn="r"/>
            <a:r>
              <a:rPr sz="900" b="1" i="0">
                <a:solidFill>
                  <a:srgbClr val="6B6B6E"/>
                </a:solidFill>
                <a:latin typeface="Satoshi"/>
              </a:rPr>
              <a:t>03D / 03E  .  CHATBOT &amp; CRM</a:t>
            </a:r>
          </a:p>
        </p:txBody>
      </p:sp>
      <p:sp>
        <p:nvSpPr>
          <p:cNvPr id="4" name="Rectangle 3"/>
          <p:cNvSpPr/>
          <p:nvPr/>
        </p:nvSpPr>
        <p:spPr>
          <a:xfrm>
            <a:off x="685800" y="530352"/>
            <a:ext cx="10817352"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73952"/>
            <a:ext cx="7315200" cy="256032"/>
          </a:xfrm>
          <a:prstGeom prst="rect">
            <a:avLst/>
          </a:prstGeom>
          <a:noFill/>
        </p:spPr>
        <p:txBody>
          <a:bodyPr wrap="square">
            <a:spAutoFit/>
          </a:bodyPr>
          <a:lstStyle/>
          <a:p>
            <a:pPr algn="l"/>
            <a:r>
              <a:rPr sz="800" b="0" i="0">
                <a:solidFill>
                  <a:srgbClr val="444447"/>
                </a:solidFill>
                <a:latin typeface="Satoshi"/>
              </a:rPr>
              <a:t>AI Automation Proposal  .  Regnum Properties  .  2026</a:t>
            </a:r>
          </a:p>
        </p:txBody>
      </p:sp>
      <p:sp>
        <p:nvSpPr>
          <p:cNvPr id="6" name="TextBox 5"/>
          <p:cNvSpPr txBox="1"/>
          <p:nvPr/>
        </p:nvSpPr>
        <p:spPr>
          <a:xfrm>
            <a:off x="8686800" y="6473952"/>
            <a:ext cx="2816352" cy="256032"/>
          </a:xfrm>
          <a:prstGeom prst="rect">
            <a:avLst/>
          </a:prstGeom>
          <a:noFill/>
        </p:spPr>
        <p:txBody>
          <a:bodyPr wrap="square">
            <a:spAutoFit/>
          </a:bodyPr>
          <a:lstStyle/>
          <a:p>
            <a:pPr algn="r"/>
            <a:r>
              <a:rPr sz="800" b="0" i="0">
                <a:solidFill>
                  <a:srgbClr val="444447"/>
                </a:solidFill>
                <a:latin typeface="Satoshi"/>
              </a:rPr>
              <a:t>08 / 12</a:t>
            </a:r>
          </a:p>
        </p:txBody>
      </p:sp>
      <p:sp>
        <p:nvSpPr>
          <p:cNvPr id="7" name="TextBox 6"/>
          <p:cNvSpPr txBox="1"/>
          <p:nvPr/>
        </p:nvSpPr>
        <p:spPr>
          <a:xfrm>
            <a:off x="685800" y="777240"/>
            <a:ext cx="5486400" cy="274320"/>
          </a:xfrm>
          <a:prstGeom prst="rect">
            <a:avLst/>
          </a:prstGeom>
          <a:noFill/>
        </p:spPr>
        <p:txBody>
          <a:bodyPr wrap="square">
            <a:spAutoFit/>
          </a:bodyPr>
          <a:lstStyle/>
          <a:p>
            <a:pPr algn="l"/>
            <a:r>
              <a:rPr sz="1000" b="1" i="0">
                <a:solidFill>
                  <a:srgbClr val="A78BFA"/>
                </a:solidFill>
                <a:latin typeface="Satoshi"/>
              </a:rPr>
              <a:t>MODULE D</a:t>
            </a:r>
          </a:p>
        </p:txBody>
      </p:sp>
      <p:sp>
        <p:nvSpPr>
          <p:cNvPr id="8" name="TextBox 7"/>
          <p:cNvSpPr txBox="1"/>
          <p:nvPr/>
        </p:nvSpPr>
        <p:spPr>
          <a:xfrm>
            <a:off x="685800" y="1078992"/>
            <a:ext cx="9144000" cy="1463040"/>
          </a:xfrm>
          <a:prstGeom prst="rect">
            <a:avLst/>
          </a:prstGeom>
          <a:noFill/>
        </p:spPr>
        <p:txBody>
          <a:bodyPr wrap="square">
            <a:spAutoFit/>
          </a:bodyPr>
          <a:lstStyle/>
          <a:p>
            <a:pPr algn="l"/>
            <a:r>
              <a:rPr sz="2800" b="0" i="0">
                <a:solidFill>
                  <a:srgbClr val="FFFFFF"/>
                </a:solidFill>
                <a:latin typeface="Instrument Serif"/>
              </a:rPr>
              <a:t>Property Inquiry Chatbot</a:t>
            </a:r>
          </a:p>
        </p:txBody>
      </p:sp>
      <p:sp>
        <p:nvSpPr>
          <p:cNvPr id="9" name="TextBox 8"/>
          <p:cNvSpPr txBox="1"/>
          <p:nvPr/>
        </p:nvSpPr>
        <p:spPr>
          <a:xfrm>
            <a:off x="685800" y="1874519"/>
            <a:ext cx="5029200" cy="347472"/>
          </a:xfrm>
          <a:prstGeom prst="rect">
            <a:avLst/>
          </a:prstGeom>
          <a:noFill/>
        </p:spPr>
        <p:txBody>
          <a:bodyPr wrap="square">
            <a:spAutoFit/>
          </a:bodyPr>
          <a:lstStyle/>
          <a:p>
            <a:pPr algn="l"/>
            <a:r>
              <a:rPr sz="1300" b="0" i="0">
                <a:solidFill>
                  <a:srgbClr val="86868A"/>
                </a:solidFill>
                <a:latin typeface="Satoshi"/>
              </a:rPr>
              <a:t>A 24/7 AI chat widget on theregnumproperties.com -- floor plans, pricing, availability, and viewing bookings handled without human involvement.</a:t>
            </a:r>
          </a:p>
        </p:txBody>
      </p:sp>
      <p:sp>
        <p:nvSpPr>
          <p:cNvPr id="10" name="TextBox 9"/>
          <p:cNvSpPr txBox="1"/>
          <p:nvPr/>
        </p:nvSpPr>
        <p:spPr>
          <a:xfrm>
            <a:off x="685800" y="2377440"/>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11" name="TextBox 10"/>
          <p:cNvSpPr txBox="1"/>
          <p:nvPr/>
        </p:nvSpPr>
        <p:spPr>
          <a:xfrm>
            <a:off x="960120" y="2377440"/>
            <a:ext cx="4754880" cy="237744"/>
          </a:xfrm>
          <a:prstGeom prst="rect">
            <a:avLst/>
          </a:prstGeom>
          <a:noFill/>
        </p:spPr>
        <p:txBody>
          <a:bodyPr wrap="square">
            <a:spAutoFit/>
          </a:bodyPr>
          <a:lstStyle/>
          <a:p>
            <a:pPr algn="l"/>
            <a:r>
              <a:rPr sz="1200" b="1" i="0">
                <a:solidFill>
                  <a:srgbClr val="FFFFFF"/>
                </a:solidFill>
                <a:latin typeface="Satoshi"/>
              </a:rPr>
              <a:t>Property finder conversation</a:t>
            </a:r>
          </a:p>
        </p:txBody>
      </p:sp>
      <p:sp>
        <p:nvSpPr>
          <p:cNvPr id="12" name="TextBox 11"/>
          <p:cNvSpPr txBox="1"/>
          <p:nvPr/>
        </p:nvSpPr>
        <p:spPr>
          <a:xfrm>
            <a:off x="960120" y="2624328"/>
            <a:ext cx="4754880" cy="347472"/>
          </a:xfrm>
          <a:prstGeom prst="rect">
            <a:avLst/>
          </a:prstGeom>
          <a:noFill/>
        </p:spPr>
        <p:txBody>
          <a:bodyPr wrap="square">
            <a:spAutoFit/>
          </a:bodyPr>
          <a:lstStyle/>
          <a:p>
            <a:pPr algn="l"/>
            <a:r>
              <a:rPr sz="1100" b="0" i="0">
                <a:solidFill>
                  <a:srgbClr val="9D9D9F"/>
                </a:solidFill>
                <a:latin typeface="Satoshi"/>
              </a:rPr>
              <a:t>A visitor describes what they want -- bedrooms, location, budget -- and the AI recommends the right Regnum project with specific unit details.</a:t>
            </a:r>
          </a:p>
        </p:txBody>
      </p:sp>
      <p:sp>
        <p:nvSpPr>
          <p:cNvPr id="13" name="TextBox 12"/>
          <p:cNvSpPr txBox="1"/>
          <p:nvPr/>
        </p:nvSpPr>
        <p:spPr>
          <a:xfrm>
            <a:off x="685800" y="3035808"/>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14" name="TextBox 13"/>
          <p:cNvSpPr txBox="1"/>
          <p:nvPr/>
        </p:nvSpPr>
        <p:spPr>
          <a:xfrm>
            <a:off x="960120" y="3035808"/>
            <a:ext cx="4754880" cy="237744"/>
          </a:xfrm>
          <a:prstGeom prst="rect">
            <a:avLst/>
          </a:prstGeom>
          <a:noFill/>
        </p:spPr>
        <p:txBody>
          <a:bodyPr wrap="square">
            <a:spAutoFit/>
          </a:bodyPr>
          <a:lstStyle/>
          <a:p>
            <a:pPr algn="l"/>
            <a:r>
              <a:rPr sz="1200" b="1" i="0">
                <a:solidFill>
                  <a:srgbClr val="FFFFFF"/>
                </a:solidFill>
                <a:latin typeface="Satoshi"/>
              </a:rPr>
              <a:t>Pricing and payment plan delivery</a:t>
            </a:r>
          </a:p>
        </p:txBody>
      </p:sp>
      <p:sp>
        <p:nvSpPr>
          <p:cNvPr id="15" name="TextBox 14"/>
          <p:cNvSpPr txBox="1"/>
          <p:nvPr/>
        </p:nvSpPr>
        <p:spPr>
          <a:xfrm>
            <a:off x="960120" y="3282696"/>
            <a:ext cx="4754880" cy="347472"/>
          </a:xfrm>
          <a:prstGeom prst="rect">
            <a:avLst/>
          </a:prstGeom>
          <a:noFill/>
        </p:spPr>
        <p:txBody>
          <a:bodyPr wrap="square">
            <a:spAutoFit/>
          </a:bodyPr>
          <a:lstStyle/>
          <a:p>
            <a:pPr algn="l"/>
            <a:r>
              <a:rPr sz="1100" b="0" i="0">
                <a:solidFill>
                  <a:srgbClr val="9D9D9F"/>
                </a:solidFill>
                <a:latin typeface="Satoshi"/>
              </a:rPr>
              <a:t>Exact pricing, payment schedule, and deposit requirements delivered on request -- removing the need for a buyer to chase a quote.</a:t>
            </a:r>
          </a:p>
        </p:txBody>
      </p:sp>
      <p:sp>
        <p:nvSpPr>
          <p:cNvPr id="16" name="TextBox 15"/>
          <p:cNvSpPr txBox="1"/>
          <p:nvPr/>
        </p:nvSpPr>
        <p:spPr>
          <a:xfrm>
            <a:off x="685800" y="3694176"/>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17" name="TextBox 16"/>
          <p:cNvSpPr txBox="1"/>
          <p:nvPr/>
        </p:nvSpPr>
        <p:spPr>
          <a:xfrm>
            <a:off x="960120" y="3694176"/>
            <a:ext cx="4754880" cy="237744"/>
          </a:xfrm>
          <a:prstGeom prst="rect">
            <a:avLst/>
          </a:prstGeom>
          <a:noFill/>
        </p:spPr>
        <p:txBody>
          <a:bodyPr wrap="square">
            <a:spAutoFit/>
          </a:bodyPr>
          <a:lstStyle/>
          <a:p>
            <a:pPr algn="l"/>
            <a:r>
              <a:rPr sz="1200" b="1" i="0">
                <a:solidFill>
                  <a:srgbClr val="FFFFFF"/>
                </a:solidFill>
                <a:latin typeface="Satoshi"/>
              </a:rPr>
              <a:t>Virtual tour and floor plan delivery</a:t>
            </a:r>
          </a:p>
        </p:txBody>
      </p:sp>
      <p:sp>
        <p:nvSpPr>
          <p:cNvPr id="18" name="TextBox 17"/>
          <p:cNvSpPr txBox="1"/>
          <p:nvPr/>
        </p:nvSpPr>
        <p:spPr>
          <a:xfrm>
            <a:off x="960120" y="3941064"/>
            <a:ext cx="4754880" cy="347472"/>
          </a:xfrm>
          <a:prstGeom prst="rect">
            <a:avLst/>
          </a:prstGeom>
          <a:noFill/>
        </p:spPr>
        <p:txBody>
          <a:bodyPr wrap="square">
            <a:spAutoFit/>
          </a:bodyPr>
          <a:lstStyle/>
          <a:p>
            <a:pPr algn="l"/>
            <a:r>
              <a:rPr sz="1100" b="0" i="0">
                <a:solidFill>
                  <a:srgbClr val="9D9D9F"/>
                </a:solidFill>
                <a:latin typeface="Satoshi"/>
              </a:rPr>
              <a:t>Floor plans and video walkthrough links sent automatically within the chat, enabling diaspora buyers to explore units fully before a viewing.</a:t>
            </a:r>
          </a:p>
        </p:txBody>
      </p:sp>
      <p:sp>
        <p:nvSpPr>
          <p:cNvPr id="19" name="TextBox 18"/>
          <p:cNvSpPr txBox="1"/>
          <p:nvPr/>
        </p:nvSpPr>
        <p:spPr>
          <a:xfrm>
            <a:off x="685800" y="4352544"/>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20" name="TextBox 19"/>
          <p:cNvSpPr txBox="1"/>
          <p:nvPr/>
        </p:nvSpPr>
        <p:spPr>
          <a:xfrm>
            <a:off x="960120" y="4352544"/>
            <a:ext cx="4754880" cy="237744"/>
          </a:xfrm>
          <a:prstGeom prst="rect">
            <a:avLst/>
          </a:prstGeom>
          <a:noFill/>
        </p:spPr>
        <p:txBody>
          <a:bodyPr wrap="square">
            <a:spAutoFit/>
          </a:bodyPr>
          <a:lstStyle/>
          <a:p>
            <a:pPr algn="l"/>
            <a:r>
              <a:rPr sz="1200" b="1" i="0">
                <a:solidFill>
                  <a:srgbClr val="FFFFFF"/>
                </a:solidFill>
                <a:latin typeface="Satoshi"/>
              </a:rPr>
              <a:t>Viewing booking</a:t>
            </a:r>
          </a:p>
        </p:txBody>
      </p:sp>
      <p:sp>
        <p:nvSpPr>
          <p:cNvPr id="21" name="TextBox 20"/>
          <p:cNvSpPr txBox="1"/>
          <p:nvPr/>
        </p:nvSpPr>
        <p:spPr>
          <a:xfrm>
            <a:off x="960120" y="4599432"/>
            <a:ext cx="4754880" cy="347472"/>
          </a:xfrm>
          <a:prstGeom prst="rect">
            <a:avLst/>
          </a:prstGeom>
          <a:noFill/>
        </p:spPr>
        <p:txBody>
          <a:bodyPr wrap="square">
            <a:spAutoFit/>
          </a:bodyPr>
          <a:lstStyle/>
          <a:p>
            <a:pPr algn="l"/>
            <a:r>
              <a:rPr sz="1100" b="0" i="0">
                <a:solidFill>
                  <a:srgbClr val="9D9D9F"/>
                </a:solidFill>
                <a:latin typeface="Satoshi"/>
              </a:rPr>
              <a:t>In-person and virtual viewings booked directly in the chat -- confirmed in the buyer's calendar and Laud's, no back-and-forth.</a:t>
            </a:r>
          </a:p>
        </p:txBody>
      </p:sp>
      <p:sp>
        <p:nvSpPr>
          <p:cNvPr id="22" name="Rectangle 21"/>
          <p:cNvSpPr/>
          <p:nvPr/>
        </p:nvSpPr>
        <p:spPr>
          <a:xfrm>
            <a:off x="6092698" y="777240"/>
            <a:ext cx="12700"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63640" y="777240"/>
            <a:ext cx="5486400" cy="274320"/>
          </a:xfrm>
          <a:prstGeom prst="rect">
            <a:avLst/>
          </a:prstGeom>
          <a:noFill/>
        </p:spPr>
        <p:txBody>
          <a:bodyPr wrap="square">
            <a:spAutoFit/>
          </a:bodyPr>
          <a:lstStyle/>
          <a:p>
            <a:pPr algn="l"/>
            <a:r>
              <a:rPr sz="1000" b="1" i="0">
                <a:solidFill>
                  <a:srgbClr val="A78BFA"/>
                </a:solidFill>
                <a:latin typeface="Satoshi"/>
              </a:rPr>
              <a:t>MODULE E</a:t>
            </a:r>
          </a:p>
        </p:txBody>
      </p:sp>
      <p:sp>
        <p:nvSpPr>
          <p:cNvPr id="24" name="TextBox 23"/>
          <p:cNvSpPr txBox="1"/>
          <p:nvPr/>
        </p:nvSpPr>
        <p:spPr>
          <a:xfrm>
            <a:off x="6263640" y="1078992"/>
            <a:ext cx="9144000" cy="1463040"/>
          </a:xfrm>
          <a:prstGeom prst="rect">
            <a:avLst/>
          </a:prstGeom>
          <a:noFill/>
        </p:spPr>
        <p:txBody>
          <a:bodyPr wrap="square">
            <a:spAutoFit/>
          </a:bodyPr>
          <a:lstStyle/>
          <a:p>
            <a:pPr algn="l"/>
            <a:r>
              <a:rPr sz="2800" b="0" i="0">
                <a:solidFill>
                  <a:srgbClr val="FFFFFF"/>
                </a:solidFill>
                <a:latin typeface="Instrument Serif"/>
              </a:rPr>
              <a:t>CRM Pipeline Automation</a:t>
            </a:r>
          </a:p>
        </p:txBody>
      </p:sp>
      <p:sp>
        <p:nvSpPr>
          <p:cNvPr id="25" name="TextBox 24"/>
          <p:cNvSpPr txBox="1"/>
          <p:nvPr/>
        </p:nvSpPr>
        <p:spPr>
          <a:xfrm>
            <a:off x="6263640" y="1874519"/>
            <a:ext cx="5212080" cy="347472"/>
          </a:xfrm>
          <a:prstGeom prst="rect">
            <a:avLst/>
          </a:prstGeom>
          <a:noFill/>
        </p:spPr>
        <p:txBody>
          <a:bodyPr wrap="square">
            <a:spAutoFit/>
          </a:bodyPr>
          <a:lstStyle/>
          <a:p>
            <a:pPr algn="l"/>
            <a:r>
              <a:rPr sz="1300" b="0" i="0">
                <a:solidFill>
                  <a:srgbClr val="86868A"/>
                </a:solidFill>
                <a:latin typeface="Satoshi"/>
              </a:rPr>
              <a:t>Every buyer conversation in one pipeline -- from first WhatsApp to signed contract. Automated reminders ensure no deal stalls due to a missed follow-up.</a:t>
            </a:r>
          </a:p>
        </p:txBody>
      </p:sp>
      <p:sp>
        <p:nvSpPr>
          <p:cNvPr id="26" name="TextBox 25"/>
          <p:cNvSpPr txBox="1"/>
          <p:nvPr/>
        </p:nvSpPr>
        <p:spPr>
          <a:xfrm>
            <a:off x="6263640" y="2377440"/>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27" name="TextBox 26"/>
          <p:cNvSpPr txBox="1"/>
          <p:nvPr/>
        </p:nvSpPr>
        <p:spPr>
          <a:xfrm>
            <a:off x="6537960" y="2377440"/>
            <a:ext cx="4937760" cy="237744"/>
          </a:xfrm>
          <a:prstGeom prst="rect">
            <a:avLst/>
          </a:prstGeom>
          <a:noFill/>
        </p:spPr>
        <p:txBody>
          <a:bodyPr wrap="square">
            <a:spAutoFit/>
          </a:bodyPr>
          <a:lstStyle/>
          <a:p>
            <a:pPr algn="l"/>
            <a:r>
              <a:rPr sz="1200" b="1" i="0">
                <a:solidFill>
                  <a:srgbClr val="FFFFFF"/>
                </a:solidFill>
                <a:latin typeface="Satoshi"/>
              </a:rPr>
              <a:t>Automated deal stage tracking</a:t>
            </a:r>
          </a:p>
        </p:txBody>
      </p:sp>
      <p:sp>
        <p:nvSpPr>
          <p:cNvPr id="28" name="TextBox 27"/>
          <p:cNvSpPr txBox="1"/>
          <p:nvPr/>
        </p:nvSpPr>
        <p:spPr>
          <a:xfrm>
            <a:off x="6537960" y="2624328"/>
            <a:ext cx="4937760" cy="347472"/>
          </a:xfrm>
          <a:prstGeom prst="rect">
            <a:avLst/>
          </a:prstGeom>
          <a:noFill/>
        </p:spPr>
        <p:txBody>
          <a:bodyPr wrap="square">
            <a:spAutoFit/>
          </a:bodyPr>
          <a:lstStyle/>
          <a:p>
            <a:pPr algn="l"/>
            <a:r>
              <a:rPr sz="1100" b="0" i="0">
                <a:solidFill>
                  <a:srgbClr val="9D9D9F"/>
                </a:solidFill>
                <a:latin typeface="Satoshi"/>
              </a:rPr>
              <a:t>Each buyer moves through stages automatically: Enquired, Qualified, Viewing Booked, Offer Received, Under Contract. No manual updates required.</a:t>
            </a:r>
          </a:p>
        </p:txBody>
      </p:sp>
      <p:sp>
        <p:nvSpPr>
          <p:cNvPr id="29" name="TextBox 28"/>
          <p:cNvSpPr txBox="1"/>
          <p:nvPr/>
        </p:nvSpPr>
        <p:spPr>
          <a:xfrm>
            <a:off x="6263640" y="3035808"/>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30" name="TextBox 29"/>
          <p:cNvSpPr txBox="1"/>
          <p:nvPr/>
        </p:nvSpPr>
        <p:spPr>
          <a:xfrm>
            <a:off x="6537960" y="3035808"/>
            <a:ext cx="4937760" cy="237744"/>
          </a:xfrm>
          <a:prstGeom prst="rect">
            <a:avLst/>
          </a:prstGeom>
          <a:noFill/>
        </p:spPr>
        <p:txBody>
          <a:bodyPr wrap="square">
            <a:spAutoFit/>
          </a:bodyPr>
          <a:lstStyle/>
          <a:p>
            <a:pPr algn="l"/>
            <a:r>
              <a:rPr sz="1200" b="1" i="0">
                <a:solidFill>
                  <a:srgbClr val="FFFFFF"/>
                </a:solidFill>
                <a:latin typeface="Satoshi"/>
              </a:rPr>
              <a:t>Follow-up reminder sequences</a:t>
            </a:r>
          </a:p>
        </p:txBody>
      </p:sp>
      <p:sp>
        <p:nvSpPr>
          <p:cNvPr id="31" name="TextBox 30"/>
          <p:cNvSpPr txBox="1"/>
          <p:nvPr/>
        </p:nvSpPr>
        <p:spPr>
          <a:xfrm>
            <a:off x="6537960" y="3282696"/>
            <a:ext cx="4937760" cy="347472"/>
          </a:xfrm>
          <a:prstGeom prst="rect">
            <a:avLst/>
          </a:prstGeom>
          <a:noFill/>
        </p:spPr>
        <p:txBody>
          <a:bodyPr wrap="square">
            <a:spAutoFit/>
          </a:bodyPr>
          <a:lstStyle/>
          <a:p>
            <a:pPr algn="l"/>
            <a:r>
              <a:rPr sz="1100" b="0" i="0">
                <a:solidFill>
                  <a:srgbClr val="9D9D9F"/>
                </a:solidFill>
                <a:latin typeface="Satoshi"/>
              </a:rPr>
              <a:t>When a buyer has not responded in 5 days, the CRM triggers an automated follow-up message -- preventing deals from stalling silently.</a:t>
            </a:r>
          </a:p>
        </p:txBody>
      </p:sp>
      <p:sp>
        <p:nvSpPr>
          <p:cNvPr id="32" name="TextBox 31"/>
          <p:cNvSpPr txBox="1"/>
          <p:nvPr/>
        </p:nvSpPr>
        <p:spPr>
          <a:xfrm>
            <a:off x="6263640" y="3694176"/>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33" name="TextBox 32"/>
          <p:cNvSpPr txBox="1"/>
          <p:nvPr/>
        </p:nvSpPr>
        <p:spPr>
          <a:xfrm>
            <a:off x="6537960" y="3694176"/>
            <a:ext cx="4937760" cy="237744"/>
          </a:xfrm>
          <a:prstGeom prst="rect">
            <a:avLst/>
          </a:prstGeom>
          <a:noFill/>
        </p:spPr>
        <p:txBody>
          <a:bodyPr wrap="square">
            <a:spAutoFit/>
          </a:bodyPr>
          <a:lstStyle/>
          <a:p>
            <a:pPr algn="l"/>
            <a:r>
              <a:rPr sz="1200" b="1" i="0">
                <a:solidFill>
                  <a:srgbClr val="FFFFFF"/>
                </a:solidFill>
                <a:latin typeface="Satoshi"/>
              </a:rPr>
              <a:t>Communication history</a:t>
            </a:r>
          </a:p>
        </p:txBody>
      </p:sp>
      <p:sp>
        <p:nvSpPr>
          <p:cNvPr id="34" name="TextBox 33"/>
          <p:cNvSpPr txBox="1"/>
          <p:nvPr/>
        </p:nvSpPr>
        <p:spPr>
          <a:xfrm>
            <a:off x="6537960" y="3941064"/>
            <a:ext cx="4937760" cy="347472"/>
          </a:xfrm>
          <a:prstGeom prst="rect">
            <a:avLst/>
          </a:prstGeom>
          <a:noFill/>
        </p:spPr>
        <p:txBody>
          <a:bodyPr wrap="square">
            <a:spAutoFit/>
          </a:bodyPr>
          <a:lstStyle/>
          <a:p>
            <a:pPr algn="l"/>
            <a:r>
              <a:rPr sz="1100" b="0" i="0">
                <a:solidFill>
                  <a:srgbClr val="9D9D9F"/>
                </a:solidFill>
                <a:latin typeface="Satoshi"/>
              </a:rPr>
              <a:t>Every WhatsApp message, email, and call note logged in one buyer record. Laud and Maxwell always have full context when engaging a buyer.</a:t>
            </a:r>
          </a:p>
        </p:txBody>
      </p:sp>
      <p:sp>
        <p:nvSpPr>
          <p:cNvPr id="35" name="TextBox 34"/>
          <p:cNvSpPr txBox="1"/>
          <p:nvPr/>
        </p:nvSpPr>
        <p:spPr>
          <a:xfrm>
            <a:off x="6263640" y="4352544"/>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36" name="TextBox 35"/>
          <p:cNvSpPr txBox="1"/>
          <p:nvPr/>
        </p:nvSpPr>
        <p:spPr>
          <a:xfrm>
            <a:off x="6537960" y="4352544"/>
            <a:ext cx="4937760" cy="237744"/>
          </a:xfrm>
          <a:prstGeom prst="rect">
            <a:avLst/>
          </a:prstGeom>
          <a:noFill/>
        </p:spPr>
        <p:txBody>
          <a:bodyPr wrap="square">
            <a:spAutoFit/>
          </a:bodyPr>
          <a:lstStyle/>
          <a:p>
            <a:pPr algn="l"/>
            <a:r>
              <a:rPr sz="1200" b="1" i="0">
                <a:solidFill>
                  <a:srgbClr val="FFFFFF"/>
                </a:solidFill>
                <a:latin typeface="Satoshi"/>
              </a:rPr>
              <a:t>Pipeline reporting</a:t>
            </a:r>
          </a:p>
        </p:txBody>
      </p:sp>
      <p:sp>
        <p:nvSpPr>
          <p:cNvPr id="37" name="TextBox 36"/>
          <p:cNvSpPr txBox="1"/>
          <p:nvPr/>
        </p:nvSpPr>
        <p:spPr>
          <a:xfrm>
            <a:off x="6537960" y="4599432"/>
            <a:ext cx="4937760" cy="347472"/>
          </a:xfrm>
          <a:prstGeom prst="rect">
            <a:avLst/>
          </a:prstGeom>
          <a:noFill/>
        </p:spPr>
        <p:txBody>
          <a:bodyPr wrap="square">
            <a:spAutoFit/>
          </a:bodyPr>
          <a:lstStyle/>
          <a:p>
            <a:pPr algn="l"/>
            <a:r>
              <a:rPr sz="1100" b="0" i="0">
                <a:solidFill>
                  <a:srgbClr val="9D9D9F"/>
                </a:solidFill>
                <a:latin typeface="Satoshi"/>
              </a:rPr>
              <a:t>Weekly automated summary: new leads this week, viewings scheduled, offers pending, projected completions. One view, always current.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685800" y="201168"/>
            <a:ext cx="5486400" cy="256032"/>
          </a:xfrm>
          <a:prstGeom prst="rect">
            <a:avLst/>
          </a:prstGeom>
          <a:noFill/>
        </p:spPr>
        <p:txBody>
          <a:bodyPr wrap="square">
            <a:spAutoFit/>
          </a:bodyPr>
          <a:lstStyle/>
          <a:p>
            <a:pPr algn="l"/>
            <a:r>
              <a:rPr sz="900" b="1" i="0">
                <a:solidFill>
                  <a:srgbClr val="6B6B6E"/>
                </a:solidFill>
                <a:latin typeface="Satoshi"/>
              </a:rPr>
              <a:t>GENOSAI  x  REGNUM PROPERTIES</a:t>
            </a:r>
          </a:p>
        </p:txBody>
      </p:sp>
      <p:sp>
        <p:nvSpPr>
          <p:cNvPr id="3" name="TextBox 2"/>
          <p:cNvSpPr txBox="1"/>
          <p:nvPr/>
        </p:nvSpPr>
        <p:spPr>
          <a:xfrm>
            <a:off x="6858000" y="201168"/>
            <a:ext cx="4645152" cy="256032"/>
          </a:xfrm>
          <a:prstGeom prst="rect">
            <a:avLst/>
          </a:prstGeom>
          <a:noFill/>
        </p:spPr>
        <p:txBody>
          <a:bodyPr wrap="square">
            <a:spAutoFit/>
          </a:bodyPr>
          <a:lstStyle/>
          <a:p>
            <a:pPr algn="r"/>
            <a:r>
              <a:rPr sz="900" b="1" i="0">
                <a:solidFill>
                  <a:srgbClr val="6B6B6E"/>
                </a:solidFill>
                <a:latin typeface="Satoshi"/>
              </a:rPr>
              <a:t>04  .  BUYER JOURNEY</a:t>
            </a:r>
          </a:p>
        </p:txBody>
      </p:sp>
      <p:sp>
        <p:nvSpPr>
          <p:cNvPr id="4" name="Rectangle 3"/>
          <p:cNvSpPr/>
          <p:nvPr/>
        </p:nvSpPr>
        <p:spPr>
          <a:xfrm>
            <a:off x="685800" y="530352"/>
            <a:ext cx="10817352"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73952"/>
            <a:ext cx="7315200" cy="256032"/>
          </a:xfrm>
          <a:prstGeom prst="rect">
            <a:avLst/>
          </a:prstGeom>
          <a:noFill/>
        </p:spPr>
        <p:txBody>
          <a:bodyPr wrap="square">
            <a:spAutoFit/>
          </a:bodyPr>
          <a:lstStyle/>
          <a:p>
            <a:pPr algn="l"/>
            <a:r>
              <a:rPr sz="800" b="0" i="0">
                <a:solidFill>
                  <a:srgbClr val="444447"/>
                </a:solidFill>
                <a:latin typeface="Satoshi"/>
              </a:rPr>
              <a:t>AI Automation Proposal  .  Regnum Properties  .  2026</a:t>
            </a:r>
          </a:p>
        </p:txBody>
      </p:sp>
      <p:sp>
        <p:nvSpPr>
          <p:cNvPr id="6" name="TextBox 5"/>
          <p:cNvSpPr txBox="1"/>
          <p:nvPr/>
        </p:nvSpPr>
        <p:spPr>
          <a:xfrm>
            <a:off x="8686800" y="6473952"/>
            <a:ext cx="2816352" cy="256032"/>
          </a:xfrm>
          <a:prstGeom prst="rect">
            <a:avLst/>
          </a:prstGeom>
          <a:noFill/>
        </p:spPr>
        <p:txBody>
          <a:bodyPr wrap="square">
            <a:spAutoFit/>
          </a:bodyPr>
          <a:lstStyle/>
          <a:p>
            <a:pPr algn="r"/>
            <a:r>
              <a:rPr sz="800" b="0" i="0">
                <a:solidFill>
                  <a:srgbClr val="444447"/>
                </a:solidFill>
                <a:latin typeface="Satoshi"/>
              </a:rPr>
              <a:t>09 / 12</a:t>
            </a:r>
          </a:p>
        </p:txBody>
      </p:sp>
      <p:sp>
        <p:nvSpPr>
          <p:cNvPr id="7" name="TextBox 6"/>
          <p:cNvSpPr txBox="1"/>
          <p:nvPr/>
        </p:nvSpPr>
        <p:spPr>
          <a:xfrm>
            <a:off x="685800" y="777240"/>
            <a:ext cx="5486400" cy="274320"/>
          </a:xfrm>
          <a:prstGeom prst="rect">
            <a:avLst/>
          </a:prstGeom>
          <a:noFill/>
        </p:spPr>
        <p:txBody>
          <a:bodyPr wrap="square">
            <a:spAutoFit/>
          </a:bodyPr>
          <a:lstStyle/>
          <a:p>
            <a:pPr algn="l"/>
            <a:r>
              <a:rPr sz="1000" b="1" i="0">
                <a:solidFill>
                  <a:srgbClr val="A78BFA"/>
                </a:solidFill>
                <a:latin typeface="Satoshi"/>
              </a:rPr>
              <a:t>ENQUIRY  -&gt;  QUALIFIED  -&gt;  NURTURED  -&gt;  VIEWED  -&gt;  SIGNED</a:t>
            </a:r>
          </a:p>
        </p:txBody>
      </p:sp>
      <p:sp>
        <p:nvSpPr>
          <p:cNvPr id="8" name="TextBox 7"/>
          <p:cNvSpPr txBox="1"/>
          <p:nvPr/>
        </p:nvSpPr>
        <p:spPr>
          <a:xfrm>
            <a:off x="685800" y="1078992"/>
            <a:ext cx="9144000" cy="1463040"/>
          </a:xfrm>
          <a:prstGeom prst="rect">
            <a:avLst/>
          </a:prstGeom>
          <a:noFill/>
        </p:spPr>
        <p:txBody>
          <a:bodyPr wrap="square">
            <a:spAutoFit/>
          </a:bodyPr>
          <a:lstStyle/>
          <a:p>
            <a:pPr algn="l"/>
            <a:r>
              <a:rPr sz="3200" b="0" i="0">
                <a:solidFill>
                  <a:srgbClr val="FFFFFF"/>
                </a:solidFill>
                <a:latin typeface="Instrument Serif"/>
              </a:rPr>
              <a:t>Automated Diaspora Buyer Journey</a:t>
            </a:r>
          </a:p>
        </p:txBody>
      </p:sp>
      <p:sp>
        <p:nvSpPr>
          <p:cNvPr id="9" name="TextBox 8"/>
          <p:cNvSpPr txBox="1"/>
          <p:nvPr/>
        </p:nvSpPr>
        <p:spPr>
          <a:xfrm>
            <a:off x="685800" y="2011680"/>
            <a:ext cx="9144000" cy="347472"/>
          </a:xfrm>
          <a:prstGeom prst="rect">
            <a:avLst/>
          </a:prstGeom>
          <a:noFill/>
        </p:spPr>
        <p:txBody>
          <a:bodyPr wrap="square">
            <a:spAutoFit/>
          </a:bodyPr>
          <a:lstStyle/>
          <a:p>
            <a:pPr algn="l"/>
            <a:r>
              <a:rPr sz="1300" b="0" i="0">
                <a:solidFill>
                  <a:srgbClr val="86868A"/>
                </a:solidFill>
                <a:latin typeface="Satoshi"/>
              </a:rPr>
              <a:t>From the first WhatsApp message to a signed contract -- every stage automated, every buyer followed up, no deal lost to a missed response.</a:t>
            </a:r>
          </a:p>
        </p:txBody>
      </p:sp>
      <p:sp>
        <p:nvSpPr>
          <p:cNvPr id="10" name="Rectangle 9"/>
          <p:cNvSpPr/>
          <p:nvPr/>
        </p:nvSpPr>
        <p:spPr>
          <a:xfrm>
            <a:off x="685800" y="2487168"/>
            <a:ext cx="10817352"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85800" y="2834640"/>
            <a:ext cx="1280160" cy="320040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 y="2999232"/>
            <a:ext cx="1097280" cy="347472"/>
          </a:xfrm>
          <a:prstGeom prst="rect">
            <a:avLst/>
          </a:prstGeom>
          <a:noFill/>
        </p:spPr>
        <p:txBody>
          <a:bodyPr wrap="square">
            <a:spAutoFit/>
          </a:bodyPr>
          <a:lstStyle/>
          <a:p>
            <a:pPr algn="l"/>
            <a:r>
              <a:rPr sz="2000" b="0" i="0">
                <a:solidFill>
                  <a:srgbClr val="A78BFA"/>
                </a:solidFill>
                <a:latin typeface="Instrument Serif"/>
              </a:rPr>
              <a:t>01</a:t>
            </a:r>
          </a:p>
        </p:txBody>
      </p:sp>
      <p:sp>
        <p:nvSpPr>
          <p:cNvPr id="13" name="TextBox 12"/>
          <p:cNvSpPr txBox="1"/>
          <p:nvPr/>
        </p:nvSpPr>
        <p:spPr>
          <a:xfrm>
            <a:off x="795528" y="3429000"/>
            <a:ext cx="1097280" cy="594360"/>
          </a:xfrm>
          <a:prstGeom prst="rect">
            <a:avLst/>
          </a:prstGeom>
          <a:noFill/>
        </p:spPr>
        <p:txBody>
          <a:bodyPr wrap="square">
            <a:spAutoFit/>
          </a:bodyPr>
          <a:lstStyle/>
          <a:p>
            <a:pPr algn="l"/>
            <a:r>
              <a:rPr sz="1300" b="0" i="0">
                <a:solidFill>
                  <a:srgbClr val="FFFFFF"/>
                </a:solidFill>
                <a:latin typeface="Instrument Serif"/>
              </a:rPr>
              <a:t>Buyer
Enquires</a:t>
            </a:r>
          </a:p>
        </p:txBody>
      </p:sp>
      <p:sp>
        <p:nvSpPr>
          <p:cNvPr id="14" name="TextBox 13"/>
          <p:cNvSpPr txBox="1"/>
          <p:nvPr/>
        </p:nvSpPr>
        <p:spPr>
          <a:xfrm>
            <a:off x="795528" y="4114800"/>
            <a:ext cx="1097280" cy="685800"/>
          </a:xfrm>
          <a:prstGeom prst="rect">
            <a:avLst/>
          </a:prstGeom>
          <a:noFill/>
        </p:spPr>
        <p:txBody>
          <a:bodyPr wrap="square">
            <a:spAutoFit/>
          </a:bodyPr>
          <a:lstStyle/>
          <a:p>
            <a:pPr algn="l"/>
            <a:r>
              <a:rPr sz="1000" b="0" i="0">
                <a:solidFill>
                  <a:srgbClr val="9D9D9F"/>
                </a:solidFill>
                <a:latin typeface="Satoshi"/>
              </a:rPr>
              <a:t>WhatsApp or
website chatbot</a:t>
            </a:r>
          </a:p>
        </p:txBody>
      </p:sp>
      <p:sp>
        <p:nvSpPr>
          <p:cNvPr id="15" name="TextBox 14"/>
          <p:cNvSpPr txBox="1"/>
          <p:nvPr/>
        </p:nvSpPr>
        <p:spPr>
          <a:xfrm>
            <a:off x="1984248" y="3840480"/>
            <a:ext cx="155448" cy="256032"/>
          </a:xfrm>
          <a:prstGeom prst="rect">
            <a:avLst/>
          </a:prstGeom>
          <a:noFill/>
        </p:spPr>
        <p:txBody>
          <a:bodyPr wrap="square">
            <a:spAutoFit/>
          </a:bodyPr>
          <a:lstStyle/>
          <a:p>
            <a:pPr algn="ctr"/>
            <a:r>
              <a:rPr sz="1400" b="0" i="0">
                <a:solidFill>
                  <a:srgbClr val="6B6B6E"/>
                </a:solidFill>
                <a:latin typeface="Satoshi"/>
              </a:rPr>
              <a:t>&gt;</a:t>
            </a:r>
          </a:p>
        </p:txBody>
      </p:sp>
      <p:sp>
        <p:nvSpPr>
          <p:cNvPr id="16" name="Rounded Rectangle 15"/>
          <p:cNvSpPr/>
          <p:nvPr/>
        </p:nvSpPr>
        <p:spPr>
          <a:xfrm>
            <a:off x="2075688" y="2834640"/>
            <a:ext cx="1280160" cy="320040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185416" y="2999232"/>
            <a:ext cx="1097280" cy="347472"/>
          </a:xfrm>
          <a:prstGeom prst="rect">
            <a:avLst/>
          </a:prstGeom>
          <a:noFill/>
        </p:spPr>
        <p:txBody>
          <a:bodyPr wrap="square">
            <a:spAutoFit/>
          </a:bodyPr>
          <a:lstStyle/>
          <a:p>
            <a:pPr algn="l"/>
            <a:r>
              <a:rPr sz="2000" b="0" i="0">
                <a:solidFill>
                  <a:srgbClr val="A78BFA"/>
                </a:solidFill>
                <a:latin typeface="Instrument Serif"/>
              </a:rPr>
              <a:t>02</a:t>
            </a:r>
          </a:p>
        </p:txBody>
      </p:sp>
      <p:sp>
        <p:nvSpPr>
          <p:cNvPr id="18" name="TextBox 17"/>
          <p:cNvSpPr txBox="1"/>
          <p:nvPr/>
        </p:nvSpPr>
        <p:spPr>
          <a:xfrm>
            <a:off x="2185416" y="3429000"/>
            <a:ext cx="1097280" cy="594360"/>
          </a:xfrm>
          <a:prstGeom prst="rect">
            <a:avLst/>
          </a:prstGeom>
          <a:noFill/>
        </p:spPr>
        <p:txBody>
          <a:bodyPr wrap="square">
            <a:spAutoFit/>
          </a:bodyPr>
          <a:lstStyle/>
          <a:p>
            <a:pPr algn="l"/>
            <a:r>
              <a:rPr sz="1300" b="0" i="0">
                <a:solidFill>
                  <a:srgbClr val="FFFFFF"/>
                </a:solidFill>
                <a:latin typeface="Instrument Serif"/>
              </a:rPr>
              <a:t>AI
Qualifies</a:t>
            </a:r>
          </a:p>
        </p:txBody>
      </p:sp>
      <p:sp>
        <p:nvSpPr>
          <p:cNvPr id="19" name="TextBox 18"/>
          <p:cNvSpPr txBox="1"/>
          <p:nvPr/>
        </p:nvSpPr>
        <p:spPr>
          <a:xfrm>
            <a:off x="2185416" y="4114800"/>
            <a:ext cx="1097280" cy="685800"/>
          </a:xfrm>
          <a:prstGeom prst="rect">
            <a:avLst/>
          </a:prstGeom>
          <a:noFill/>
        </p:spPr>
        <p:txBody>
          <a:bodyPr wrap="square">
            <a:spAutoFit/>
          </a:bodyPr>
          <a:lstStyle/>
          <a:p>
            <a:pPr algn="l"/>
            <a:r>
              <a:rPr sz="1000" b="0" i="0">
                <a:solidFill>
                  <a:srgbClr val="9D9D9F"/>
                </a:solidFill>
                <a:latin typeface="Satoshi"/>
              </a:rPr>
              <a:t>Budget, timeline,
property captured</a:t>
            </a:r>
          </a:p>
        </p:txBody>
      </p:sp>
      <p:sp>
        <p:nvSpPr>
          <p:cNvPr id="20" name="TextBox 19"/>
          <p:cNvSpPr txBox="1"/>
          <p:nvPr/>
        </p:nvSpPr>
        <p:spPr>
          <a:xfrm>
            <a:off x="3374136" y="3840480"/>
            <a:ext cx="155448" cy="256032"/>
          </a:xfrm>
          <a:prstGeom prst="rect">
            <a:avLst/>
          </a:prstGeom>
          <a:noFill/>
        </p:spPr>
        <p:txBody>
          <a:bodyPr wrap="square">
            <a:spAutoFit/>
          </a:bodyPr>
          <a:lstStyle/>
          <a:p>
            <a:pPr algn="ctr"/>
            <a:r>
              <a:rPr sz="1400" b="0" i="0">
                <a:solidFill>
                  <a:srgbClr val="6B6B6E"/>
                </a:solidFill>
                <a:latin typeface="Satoshi"/>
              </a:rPr>
              <a:t>&gt;</a:t>
            </a:r>
          </a:p>
        </p:txBody>
      </p:sp>
      <p:sp>
        <p:nvSpPr>
          <p:cNvPr id="21" name="Rounded Rectangle 20"/>
          <p:cNvSpPr/>
          <p:nvPr/>
        </p:nvSpPr>
        <p:spPr>
          <a:xfrm>
            <a:off x="3465576" y="2834640"/>
            <a:ext cx="1280160" cy="320040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75304" y="2999232"/>
            <a:ext cx="1097280" cy="347472"/>
          </a:xfrm>
          <a:prstGeom prst="rect">
            <a:avLst/>
          </a:prstGeom>
          <a:noFill/>
        </p:spPr>
        <p:txBody>
          <a:bodyPr wrap="square">
            <a:spAutoFit/>
          </a:bodyPr>
          <a:lstStyle/>
          <a:p>
            <a:pPr algn="l"/>
            <a:r>
              <a:rPr sz="2000" b="0" i="0">
                <a:solidFill>
                  <a:srgbClr val="A78BFA"/>
                </a:solidFill>
                <a:latin typeface="Instrument Serif"/>
              </a:rPr>
              <a:t>03</a:t>
            </a:r>
          </a:p>
        </p:txBody>
      </p:sp>
      <p:sp>
        <p:nvSpPr>
          <p:cNvPr id="23" name="TextBox 22"/>
          <p:cNvSpPr txBox="1"/>
          <p:nvPr/>
        </p:nvSpPr>
        <p:spPr>
          <a:xfrm>
            <a:off x="3575304" y="3429000"/>
            <a:ext cx="1097280" cy="594360"/>
          </a:xfrm>
          <a:prstGeom prst="rect">
            <a:avLst/>
          </a:prstGeom>
          <a:noFill/>
        </p:spPr>
        <p:txBody>
          <a:bodyPr wrap="square">
            <a:spAutoFit/>
          </a:bodyPr>
          <a:lstStyle/>
          <a:p>
            <a:pPr algn="l"/>
            <a:r>
              <a:rPr sz="1300" b="0" i="0">
                <a:solidFill>
                  <a:srgbClr val="FFFFFF"/>
                </a:solidFill>
                <a:latin typeface="Instrument Serif"/>
              </a:rPr>
              <a:t>Floor Plan
Delivered</a:t>
            </a:r>
          </a:p>
        </p:txBody>
      </p:sp>
      <p:sp>
        <p:nvSpPr>
          <p:cNvPr id="24" name="TextBox 23"/>
          <p:cNvSpPr txBox="1"/>
          <p:nvPr/>
        </p:nvSpPr>
        <p:spPr>
          <a:xfrm>
            <a:off x="3575304" y="4114800"/>
            <a:ext cx="1097280" cy="685800"/>
          </a:xfrm>
          <a:prstGeom prst="rect">
            <a:avLst/>
          </a:prstGeom>
          <a:noFill/>
        </p:spPr>
        <p:txBody>
          <a:bodyPr wrap="square">
            <a:spAutoFit/>
          </a:bodyPr>
          <a:lstStyle/>
          <a:p>
            <a:pPr algn="l"/>
            <a:r>
              <a:rPr sz="1000" b="0" i="0">
                <a:solidFill>
                  <a:srgbClr val="9D9D9F"/>
                </a:solidFill>
                <a:latin typeface="Satoshi"/>
              </a:rPr>
              <a:t>Auto-sent with
virtual tour link</a:t>
            </a:r>
          </a:p>
        </p:txBody>
      </p:sp>
      <p:sp>
        <p:nvSpPr>
          <p:cNvPr id="25" name="TextBox 24"/>
          <p:cNvSpPr txBox="1"/>
          <p:nvPr/>
        </p:nvSpPr>
        <p:spPr>
          <a:xfrm>
            <a:off x="4764024" y="3840480"/>
            <a:ext cx="155448" cy="256032"/>
          </a:xfrm>
          <a:prstGeom prst="rect">
            <a:avLst/>
          </a:prstGeom>
          <a:noFill/>
        </p:spPr>
        <p:txBody>
          <a:bodyPr wrap="square">
            <a:spAutoFit/>
          </a:bodyPr>
          <a:lstStyle/>
          <a:p>
            <a:pPr algn="ctr"/>
            <a:r>
              <a:rPr sz="1400" b="0" i="0">
                <a:solidFill>
                  <a:srgbClr val="6B6B6E"/>
                </a:solidFill>
                <a:latin typeface="Satoshi"/>
              </a:rPr>
              <a:t>&gt;</a:t>
            </a:r>
          </a:p>
        </p:txBody>
      </p:sp>
      <p:sp>
        <p:nvSpPr>
          <p:cNvPr id="26" name="Rounded Rectangle 25"/>
          <p:cNvSpPr/>
          <p:nvPr/>
        </p:nvSpPr>
        <p:spPr>
          <a:xfrm>
            <a:off x="4855464" y="2834640"/>
            <a:ext cx="1280160" cy="320040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965192" y="2999232"/>
            <a:ext cx="1097280" cy="347472"/>
          </a:xfrm>
          <a:prstGeom prst="rect">
            <a:avLst/>
          </a:prstGeom>
          <a:noFill/>
        </p:spPr>
        <p:txBody>
          <a:bodyPr wrap="square">
            <a:spAutoFit/>
          </a:bodyPr>
          <a:lstStyle/>
          <a:p>
            <a:pPr algn="l"/>
            <a:r>
              <a:rPr sz="2000" b="0" i="0">
                <a:solidFill>
                  <a:srgbClr val="A78BFA"/>
                </a:solidFill>
                <a:latin typeface="Instrument Serif"/>
              </a:rPr>
              <a:t>04</a:t>
            </a:r>
          </a:p>
        </p:txBody>
      </p:sp>
      <p:sp>
        <p:nvSpPr>
          <p:cNvPr id="28" name="TextBox 27"/>
          <p:cNvSpPr txBox="1"/>
          <p:nvPr/>
        </p:nvSpPr>
        <p:spPr>
          <a:xfrm>
            <a:off x="4965192" y="3429000"/>
            <a:ext cx="1097280" cy="594360"/>
          </a:xfrm>
          <a:prstGeom prst="rect">
            <a:avLst/>
          </a:prstGeom>
          <a:noFill/>
        </p:spPr>
        <p:txBody>
          <a:bodyPr wrap="square">
            <a:spAutoFit/>
          </a:bodyPr>
          <a:lstStyle/>
          <a:p>
            <a:pPr algn="l"/>
            <a:r>
              <a:rPr sz="1300" b="0" i="0">
                <a:solidFill>
                  <a:srgbClr val="FFFFFF"/>
                </a:solidFill>
                <a:latin typeface="Instrument Serif"/>
              </a:rPr>
              <a:t>Viewing
Booked</a:t>
            </a:r>
          </a:p>
        </p:txBody>
      </p:sp>
      <p:sp>
        <p:nvSpPr>
          <p:cNvPr id="29" name="TextBox 28"/>
          <p:cNvSpPr txBox="1"/>
          <p:nvPr/>
        </p:nvSpPr>
        <p:spPr>
          <a:xfrm>
            <a:off x="4965192" y="4114800"/>
            <a:ext cx="1097280" cy="685800"/>
          </a:xfrm>
          <a:prstGeom prst="rect">
            <a:avLst/>
          </a:prstGeom>
          <a:noFill/>
        </p:spPr>
        <p:txBody>
          <a:bodyPr wrap="square">
            <a:spAutoFit/>
          </a:bodyPr>
          <a:lstStyle/>
          <a:p>
            <a:pPr algn="l"/>
            <a:r>
              <a:rPr sz="1000" b="0" i="0">
                <a:solidFill>
                  <a:srgbClr val="9D9D9F"/>
                </a:solidFill>
                <a:latin typeface="Satoshi"/>
              </a:rPr>
              <a:t>In-person or
video call</a:t>
            </a:r>
          </a:p>
        </p:txBody>
      </p:sp>
      <p:sp>
        <p:nvSpPr>
          <p:cNvPr id="30" name="TextBox 29"/>
          <p:cNvSpPr txBox="1"/>
          <p:nvPr/>
        </p:nvSpPr>
        <p:spPr>
          <a:xfrm>
            <a:off x="6153912" y="3840480"/>
            <a:ext cx="155448" cy="256032"/>
          </a:xfrm>
          <a:prstGeom prst="rect">
            <a:avLst/>
          </a:prstGeom>
          <a:noFill/>
        </p:spPr>
        <p:txBody>
          <a:bodyPr wrap="square">
            <a:spAutoFit/>
          </a:bodyPr>
          <a:lstStyle/>
          <a:p>
            <a:pPr algn="ctr"/>
            <a:r>
              <a:rPr sz="1400" b="0" i="0">
                <a:solidFill>
                  <a:srgbClr val="6B6B6E"/>
                </a:solidFill>
                <a:latin typeface="Satoshi"/>
              </a:rPr>
              <a:t>&gt;</a:t>
            </a:r>
          </a:p>
        </p:txBody>
      </p:sp>
      <p:sp>
        <p:nvSpPr>
          <p:cNvPr id="31" name="Rounded Rectangle 30"/>
          <p:cNvSpPr/>
          <p:nvPr/>
        </p:nvSpPr>
        <p:spPr>
          <a:xfrm>
            <a:off x="6245352" y="2834640"/>
            <a:ext cx="1280160" cy="320040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55080" y="2999232"/>
            <a:ext cx="1097280" cy="347472"/>
          </a:xfrm>
          <a:prstGeom prst="rect">
            <a:avLst/>
          </a:prstGeom>
          <a:noFill/>
        </p:spPr>
        <p:txBody>
          <a:bodyPr wrap="square">
            <a:spAutoFit/>
          </a:bodyPr>
          <a:lstStyle/>
          <a:p>
            <a:pPr algn="l"/>
            <a:r>
              <a:rPr sz="2000" b="0" i="0">
                <a:solidFill>
                  <a:srgbClr val="A78BFA"/>
                </a:solidFill>
                <a:latin typeface="Instrument Serif"/>
              </a:rPr>
              <a:t>05</a:t>
            </a:r>
          </a:p>
        </p:txBody>
      </p:sp>
      <p:sp>
        <p:nvSpPr>
          <p:cNvPr id="33" name="TextBox 32"/>
          <p:cNvSpPr txBox="1"/>
          <p:nvPr/>
        </p:nvSpPr>
        <p:spPr>
          <a:xfrm>
            <a:off x="6355080" y="3429000"/>
            <a:ext cx="1097280" cy="594360"/>
          </a:xfrm>
          <a:prstGeom prst="rect">
            <a:avLst/>
          </a:prstGeom>
          <a:noFill/>
        </p:spPr>
        <p:txBody>
          <a:bodyPr wrap="square">
            <a:spAutoFit/>
          </a:bodyPr>
          <a:lstStyle/>
          <a:p>
            <a:pPr algn="l"/>
            <a:r>
              <a:rPr sz="1300" b="0" i="0">
                <a:solidFill>
                  <a:srgbClr val="FFFFFF"/>
                </a:solidFill>
                <a:latin typeface="Instrument Serif"/>
              </a:rPr>
              <a:t>Nurture
Sequence</a:t>
            </a:r>
          </a:p>
        </p:txBody>
      </p:sp>
      <p:sp>
        <p:nvSpPr>
          <p:cNvPr id="34" name="TextBox 33"/>
          <p:cNvSpPr txBox="1"/>
          <p:nvPr/>
        </p:nvSpPr>
        <p:spPr>
          <a:xfrm>
            <a:off x="6355080" y="4114800"/>
            <a:ext cx="1097280" cy="685800"/>
          </a:xfrm>
          <a:prstGeom prst="rect">
            <a:avLst/>
          </a:prstGeom>
          <a:noFill/>
        </p:spPr>
        <p:txBody>
          <a:bodyPr wrap="square">
            <a:spAutoFit/>
          </a:bodyPr>
          <a:lstStyle/>
          <a:p>
            <a:pPr algn="l"/>
            <a:r>
              <a:rPr sz="1000" b="0" i="0">
                <a:solidFill>
                  <a:srgbClr val="9D9D9F"/>
                </a:solidFill>
                <a:latin typeface="Satoshi"/>
              </a:rPr>
              <a:t>12-week updates
if not yet signed</a:t>
            </a:r>
          </a:p>
        </p:txBody>
      </p:sp>
      <p:sp>
        <p:nvSpPr>
          <p:cNvPr id="35" name="TextBox 34"/>
          <p:cNvSpPr txBox="1"/>
          <p:nvPr/>
        </p:nvSpPr>
        <p:spPr>
          <a:xfrm>
            <a:off x="7543800" y="3840480"/>
            <a:ext cx="155448" cy="256032"/>
          </a:xfrm>
          <a:prstGeom prst="rect">
            <a:avLst/>
          </a:prstGeom>
          <a:noFill/>
        </p:spPr>
        <p:txBody>
          <a:bodyPr wrap="square">
            <a:spAutoFit/>
          </a:bodyPr>
          <a:lstStyle/>
          <a:p>
            <a:pPr algn="ctr"/>
            <a:r>
              <a:rPr sz="1400" b="0" i="0">
                <a:solidFill>
                  <a:srgbClr val="6B6B6E"/>
                </a:solidFill>
                <a:latin typeface="Satoshi"/>
              </a:rPr>
              <a:t>&gt;</a:t>
            </a:r>
          </a:p>
        </p:txBody>
      </p:sp>
      <p:sp>
        <p:nvSpPr>
          <p:cNvPr id="36" name="Rounded Rectangle 35"/>
          <p:cNvSpPr/>
          <p:nvPr/>
        </p:nvSpPr>
        <p:spPr>
          <a:xfrm>
            <a:off x="7635240" y="2834640"/>
            <a:ext cx="1280160" cy="320040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744968" y="2999232"/>
            <a:ext cx="1097280" cy="347472"/>
          </a:xfrm>
          <a:prstGeom prst="rect">
            <a:avLst/>
          </a:prstGeom>
          <a:noFill/>
        </p:spPr>
        <p:txBody>
          <a:bodyPr wrap="square">
            <a:spAutoFit/>
          </a:bodyPr>
          <a:lstStyle/>
          <a:p>
            <a:pPr algn="l"/>
            <a:r>
              <a:rPr sz="2000" b="0" i="0">
                <a:solidFill>
                  <a:srgbClr val="A78BFA"/>
                </a:solidFill>
                <a:latin typeface="Instrument Serif"/>
              </a:rPr>
              <a:t>06</a:t>
            </a:r>
          </a:p>
        </p:txBody>
      </p:sp>
      <p:sp>
        <p:nvSpPr>
          <p:cNvPr id="38" name="TextBox 37"/>
          <p:cNvSpPr txBox="1"/>
          <p:nvPr/>
        </p:nvSpPr>
        <p:spPr>
          <a:xfrm>
            <a:off x="7744968" y="3429000"/>
            <a:ext cx="1097280" cy="594360"/>
          </a:xfrm>
          <a:prstGeom prst="rect">
            <a:avLst/>
          </a:prstGeom>
          <a:noFill/>
        </p:spPr>
        <p:txBody>
          <a:bodyPr wrap="square">
            <a:spAutoFit/>
          </a:bodyPr>
          <a:lstStyle/>
          <a:p>
            <a:pPr algn="l"/>
            <a:r>
              <a:rPr sz="1300" b="0" i="0">
                <a:solidFill>
                  <a:srgbClr val="FFFFFF"/>
                </a:solidFill>
                <a:latin typeface="Instrument Serif"/>
              </a:rPr>
              <a:t>Market
Update</a:t>
            </a:r>
          </a:p>
        </p:txBody>
      </p:sp>
      <p:sp>
        <p:nvSpPr>
          <p:cNvPr id="39" name="TextBox 38"/>
          <p:cNvSpPr txBox="1"/>
          <p:nvPr/>
        </p:nvSpPr>
        <p:spPr>
          <a:xfrm>
            <a:off x="7744968" y="4114800"/>
            <a:ext cx="1097280" cy="685800"/>
          </a:xfrm>
          <a:prstGeom prst="rect">
            <a:avLst/>
          </a:prstGeom>
          <a:noFill/>
        </p:spPr>
        <p:txBody>
          <a:bodyPr wrap="square">
            <a:spAutoFit/>
          </a:bodyPr>
          <a:lstStyle/>
          <a:p>
            <a:pPr algn="l"/>
            <a:r>
              <a:rPr sz="1000" b="0" i="0">
                <a:solidFill>
                  <a:srgbClr val="9D9D9F"/>
                </a:solidFill>
                <a:latin typeface="Satoshi"/>
              </a:rPr>
              <a:t>Monthly Accra
data delivered</a:t>
            </a:r>
          </a:p>
        </p:txBody>
      </p:sp>
      <p:sp>
        <p:nvSpPr>
          <p:cNvPr id="40" name="TextBox 39"/>
          <p:cNvSpPr txBox="1"/>
          <p:nvPr/>
        </p:nvSpPr>
        <p:spPr>
          <a:xfrm>
            <a:off x="8933688" y="3840480"/>
            <a:ext cx="155448" cy="256032"/>
          </a:xfrm>
          <a:prstGeom prst="rect">
            <a:avLst/>
          </a:prstGeom>
          <a:noFill/>
        </p:spPr>
        <p:txBody>
          <a:bodyPr wrap="square">
            <a:spAutoFit/>
          </a:bodyPr>
          <a:lstStyle/>
          <a:p>
            <a:pPr algn="ctr"/>
            <a:r>
              <a:rPr sz="1400" b="0" i="0">
                <a:solidFill>
                  <a:srgbClr val="6B6B6E"/>
                </a:solidFill>
                <a:latin typeface="Satoshi"/>
              </a:rPr>
              <a:t>&gt;</a:t>
            </a:r>
          </a:p>
        </p:txBody>
      </p:sp>
      <p:sp>
        <p:nvSpPr>
          <p:cNvPr id="41" name="Rounded Rectangle 40"/>
          <p:cNvSpPr/>
          <p:nvPr/>
        </p:nvSpPr>
        <p:spPr>
          <a:xfrm>
            <a:off x="9025128" y="2834640"/>
            <a:ext cx="1280160" cy="320040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134856" y="2999232"/>
            <a:ext cx="1097280" cy="347472"/>
          </a:xfrm>
          <a:prstGeom prst="rect">
            <a:avLst/>
          </a:prstGeom>
          <a:noFill/>
        </p:spPr>
        <p:txBody>
          <a:bodyPr wrap="square">
            <a:spAutoFit/>
          </a:bodyPr>
          <a:lstStyle/>
          <a:p>
            <a:pPr algn="l"/>
            <a:r>
              <a:rPr sz="2000" b="0" i="0">
                <a:solidFill>
                  <a:srgbClr val="A78BFA"/>
                </a:solidFill>
                <a:latin typeface="Instrument Serif"/>
              </a:rPr>
              <a:t>07</a:t>
            </a:r>
          </a:p>
        </p:txBody>
      </p:sp>
      <p:sp>
        <p:nvSpPr>
          <p:cNvPr id="43" name="TextBox 42"/>
          <p:cNvSpPr txBox="1"/>
          <p:nvPr/>
        </p:nvSpPr>
        <p:spPr>
          <a:xfrm>
            <a:off x="9134856" y="3429000"/>
            <a:ext cx="1097280" cy="594360"/>
          </a:xfrm>
          <a:prstGeom prst="rect">
            <a:avLst/>
          </a:prstGeom>
          <a:noFill/>
        </p:spPr>
        <p:txBody>
          <a:bodyPr wrap="square">
            <a:spAutoFit/>
          </a:bodyPr>
          <a:lstStyle/>
          <a:p>
            <a:pPr algn="l"/>
            <a:r>
              <a:rPr sz="1300" b="0" i="0">
                <a:solidFill>
                  <a:srgbClr val="FFFFFF"/>
                </a:solidFill>
                <a:latin typeface="Instrument Serif"/>
              </a:rPr>
              <a:t>Offer
Received</a:t>
            </a:r>
          </a:p>
        </p:txBody>
      </p:sp>
      <p:sp>
        <p:nvSpPr>
          <p:cNvPr id="44" name="TextBox 43"/>
          <p:cNvSpPr txBox="1"/>
          <p:nvPr/>
        </p:nvSpPr>
        <p:spPr>
          <a:xfrm>
            <a:off x="9134856" y="4114800"/>
            <a:ext cx="1097280" cy="685800"/>
          </a:xfrm>
          <a:prstGeom prst="rect">
            <a:avLst/>
          </a:prstGeom>
          <a:noFill/>
        </p:spPr>
        <p:txBody>
          <a:bodyPr wrap="square">
            <a:spAutoFit/>
          </a:bodyPr>
          <a:lstStyle/>
          <a:p>
            <a:pPr algn="l"/>
            <a:r>
              <a:rPr sz="1000" b="0" i="0">
                <a:solidFill>
                  <a:srgbClr val="9D9D9F"/>
                </a:solidFill>
                <a:latin typeface="Satoshi"/>
              </a:rPr>
              <a:t>CRM stages
updated auto</a:t>
            </a:r>
          </a:p>
        </p:txBody>
      </p:sp>
      <p:sp>
        <p:nvSpPr>
          <p:cNvPr id="45" name="TextBox 44"/>
          <p:cNvSpPr txBox="1"/>
          <p:nvPr/>
        </p:nvSpPr>
        <p:spPr>
          <a:xfrm>
            <a:off x="10323576" y="3840480"/>
            <a:ext cx="155448" cy="256032"/>
          </a:xfrm>
          <a:prstGeom prst="rect">
            <a:avLst/>
          </a:prstGeom>
          <a:noFill/>
        </p:spPr>
        <p:txBody>
          <a:bodyPr wrap="square">
            <a:spAutoFit/>
          </a:bodyPr>
          <a:lstStyle/>
          <a:p>
            <a:pPr algn="ctr"/>
            <a:r>
              <a:rPr sz="1400" b="0" i="0">
                <a:solidFill>
                  <a:srgbClr val="6B6B6E"/>
                </a:solidFill>
                <a:latin typeface="Satoshi"/>
              </a:rPr>
              <a:t>&gt;</a:t>
            </a:r>
          </a:p>
        </p:txBody>
      </p:sp>
      <p:sp>
        <p:nvSpPr>
          <p:cNvPr id="46" name="Rounded Rectangle 45"/>
          <p:cNvSpPr/>
          <p:nvPr/>
        </p:nvSpPr>
        <p:spPr>
          <a:xfrm>
            <a:off x="10415016" y="2834640"/>
            <a:ext cx="1280160" cy="320040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524744" y="2999232"/>
            <a:ext cx="1097280" cy="347472"/>
          </a:xfrm>
          <a:prstGeom prst="rect">
            <a:avLst/>
          </a:prstGeom>
          <a:noFill/>
        </p:spPr>
        <p:txBody>
          <a:bodyPr wrap="square">
            <a:spAutoFit/>
          </a:bodyPr>
          <a:lstStyle/>
          <a:p>
            <a:pPr algn="l"/>
            <a:r>
              <a:rPr sz="2000" b="0" i="0">
                <a:solidFill>
                  <a:srgbClr val="A78BFA"/>
                </a:solidFill>
                <a:latin typeface="Instrument Serif"/>
              </a:rPr>
              <a:t>08</a:t>
            </a:r>
          </a:p>
        </p:txBody>
      </p:sp>
      <p:sp>
        <p:nvSpPr>
          <p:cNvPr id="48" name="TextBox 47"/>
          <p:cNvSpPr txBox="1"/>
          <p:nvPr/>
        </p:nvSpPr>
        <p:spPr>
          <a:xfrm>
            <a:off x="10524744" y="3429000"/>
            <a:ext cx="1097280" cy="594360"/>
          </a:xfrm>
          <a:prstGeom prst="rect">
            <a:avLst/>
          </a:prstGeom>
          <a:noFill/>
        </p:spPr>
        <p:txBody>
          <a:bodyPr wrap="square">
            <a:spAutoFit/>
          </a:bodyPr>
          <a:lstStyle/>
          <a:p>
            <a:pPr algn="l"/>
            <a:r>
              <a:rPr sz="1300" b="0" i="0">
                <a:solidFill>
                  <a:srgbClr val="FFFFFF"/>
                </a:solidFill>
                <a:latin typeface="Instrument Serif"/>
              </a:rPr>
              <a:t>Contract
Signed</a:t>
            </a:r>
          </a:p>
        </p:txBody>
      </p:sp>
      <p:sp>
        <p:nvSpPr>
          <p:cNvPr id="49" name="TextBox 48"/>
          <p:cNvSpPr txBox="1"/>
          <p:nvPr/>
        </p:nvSpPr>
        <p:spPr>
          <a:xfrm>
            <a:off x="10524744" y="4114800"/>
            <a:ext cx="1097280" cy="685800"/>
          </a:xfrm>
          <a:prstGeom prst="rect">
            <a:avLst/>
          </a:prstGeom>
          <a:noFill/>
        </p:spPr>
        <p:txBody>
          <a:bodyPr wrap="square">
            <a:spAutoFit/>
          </a:bodyPr>
          <a:lstStyle/>
          <a:p>
            <a:pPr algn="l"/>
            <a:r>
              <a:rPr sz="1000" b="0" i="0">
                <a:solidFill>
                  <a:srgbClr val="9D9D9F"/>
                </a:solidFill>
                <a:latin typeface="Satoshi"/>
              </a:rPr>
              <a:t>Referral prompt
at day 60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685800" y="201168"/>
            <a:ext cx="5486400" cy="256032"/>
          </a:xfrm>
          <a:prstGeom prst="rect">
            <a:avLst/>
          </a:prstGeom>
          <a:noFill/>
        </p:spPr>
        <p:txBody>
          <a:bodyPr wrap="square">
            <a:spAutoFit/>
          </a:bodyPr>
          <a:lstStyle/>
          <a:p>
            <a:pPr algn="l"/>
            <a:r>
              <a:rPr sz="900" b="1" i="0">
                <a:solidFill>
                  <a:srgbClr val="6B6B6E"/>
                </a:solidFill>
                <a:latin typeface="Satoshi"/>
              </a:rPr>
              <a:t>GENOSAI  x  REGNUM PROPERTIES</a:t>
            </a:r>
          </a:p>
        </p:txBody>
      </p:sp>
      <p:sp>
        <p:nvSpPr>
          <p:cNvPr id="3" name="TextBox 2"/>
          <p:cNvSpPr txBox="1"/>
          <p:nvPr/>
        </p:nvSpPr>
        <p:spPr>
          <a:xfrm>
            <a:off x="6858000" y="201168"/>
            <a:ext cx="4645152" cy="256032"/>
          </a:xfrm>
          <a:prstGeom prst="rect">
            <a:avLst/>
          </a:prstGeom>
          <a:noFill/>
        </p:spPr>
        <p:txBody>
          <a:bodyPr wrap="square">
            <a:spAutoFit/>
          </a:bodyPr>
          <a:lstStyle/>
          <a:p>
            <a:pPr algn="r"/>
            <a:r>
              <a:rPr sz="900" b="1" i="0">
                <a:solidFill>
                  <a:srgbClr val="6B6B6E"/>
                </a:solidFill>
                <a:latin typeface="Satoshi"/>
              </a:rPr>
              <a:t>05  .  BENEFITS</a:t>
            </a:r>
          </a:p>
        </p:txBody>
      </p:sp>
      <p:sp>
        <p:nvSpPr>
          <p:cNvPr id="4" name="Rectangle 3"/>
          <p:cNvSpPr/>
          <p:nvPr/>
        </p:nvSpPr>
        <p:spPr>
          <a:xfrm>
            <a:off x="685800" y="530352"/>
            <a:ext cx="10817352"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73952"/>
            <a:ext cx="7315200" cy="256032"/>
          </a:xfrm>
          <a:prstGeom prst="rect">
            <a:avLst/>
          </a:prstGeom>
          <a:noFill/>
        </p:spPr>
        <p:txBody>
          <a:bodyPr wrap="square">
            <a:spAutoFit/>
          </a:bodyPr>
          <a:lstStyle/>
          <a:p>
            <a:pPr algn="l"/>
            <a:r>
              <a:rPr sz="800" b="0" i="0">
                <a:solidFill>
                  <a:srgbClr val="444447"/>
                </a:solidFill>
                <a:latin typeface="Satoshi"/>
              </a:rPr>
              <a:t>AI Automation Proposal  .  Regnum Properties  .  2026</a:t>
            </a:r>
          </a:p>
        </p:txBody>
      </p:sp>
      <p:sp>
        <p:nvSpPr>
          <p:cNvPr id="6" name="TextBox 5"/>
          <p:cNvSpPr txBox="1"/>
          <p:nvPr/>
        </p:nvSpPr>
        <p:spPr>
          <a:xfrm>
            <a:off x="8686800" y="6473952"/>
            <a:ext cx="2816352" cy="256032"/>
          </a:xfrm>
          <a:prstGeom prst="rect">
            <a:avLst/>
          </a:prstGeom>
          <a:noFill/>
        </p:spPr>
        <p:txBody>
          <a:bodyPr wrap="square">
            <a:spAutoFit/>
          </a:bodyPr>
          <a:lstStyle/>
          <a:p>
            <a:pPr algn="r"/>
            <a:r>
              <a:rPr sz="800" b="0" i="0">
                <a:solidFill>
                  <a:srgbClr val="444447"/>
                </a:solidFill>
                <a:latin typeface="Satoshi"/>
              </a:rPr>
              <a:t>10 / 12</a:t>
            </a:r>
          </a:p>
        </p:txBody>
      </p:sp>
      <p:sp>
        <p:nvSpPr>
          <p:cNvPr id="7" name="TextBox 6"/>
          <p:cNvSpPr txBox="1"/>
          <p:nvPr/>
        </p:nvSpPr>
        <p:spPr>
          <a:xfrm>
            <a:off x="685800" y="777240"/>
            <a:ext cx="5486400" cy="274320"/>
          </a:xfrm>
          <a:prstGeom prst="rect">
            <a:avLst/>
          </a:prstGeom>
          <a:noFill/>
        </p:spPr>
        <p:txBody>
          <a:bodyPr wrap="square">
            <a:spAutoFit/>
          </a:bodyPr>
          <a:lstStyle/>
          <a:p>
            <a:pPr algn="l"/>
            <a:r>
              <a:rPr sz="1000" b="1" i="0">
                <a:solidFill>
                  <a:srgbClr val="A78BFA"/>
                </a:solidFill>
                <a:latin typeface="Satoshi"/>
              </a:rPr>
              <a:t>WHAT CHANGES AFTER LAUNCH</a:t>
            </a:r>
          </a:p>
        </p:txBody>
      </p:sp>
      <p:sp>
        <p:nvSpPr>
          <p:cNvPr id="8" name="TextBox 7"/>
          <p:cNvSpPr txBox="1"/>
          <p:nvPr/>
        </p:nvSpPr>
        <p:spPr>
          <a:xfrm>
            <a:off x="685800" y="1078992"/>
            <a:ext cx="9144000" cy="1463040"/>
          </a:xfrm>
          <a:prstGeom prst="rect">
            <a:avLst/>
          </a:prstGeom>
          <a:noFill/>
        </p:spPr>
        <p:txBody>
          <a:bodyPr wrap="square">
            <a:spAutoFit/>
          </a:bodyPr>
          <a:lstStyle/>
          <a:p>
            <a:pPr algn="l"/>
            <a:r>
              <a:rPr sz="3400" b="0" i="0">
                <a:solidFill>
                  <a:srgbClr val="FFFFFF"/>
                </a:solidFill>
                <a:latin typeface="Instrument Serif"/>
              </a:rPr>
              <a:t>What the Automation Layer Delivers</a:t>
            </a:r>
          </a:p>
        </p:txBody>
      </p:sp>
      <p:sp>
        <p:nvSpPr>
          <p:cNvPr id="9" name="Rectangle 8"/>
          <p:cNvSpPr/>
          <p:nvPr/>
        </p:nvSpPr>
        <p:spPr>
          <a:xfrm>
            <a:off x="685800" y="2487168"/>
            <a:ext cx="10817352"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85800" y="2697480"/>
            <a:ext cx="5257800" cy="749808"/>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788920"/>
            <a:ext cx="320040" cy="274320"/>
          </a:xfrm>
          <a:prstGeom prst="rect">
            <a:avLst/>
          </a:prstGeom>
          <a:noFill/>
        </p:spPr>
        <p:txBody>
          <a:bodyPr wrap="square">
            <a:spAutoFit/>
          </a:bodyPr>
          <a:lstStyle/>
          <a:p>
            <a:pPr algn="l"/>
            <a:r>
              <a:rPr sz="1400" b="1" i="0">
                <a:solidFill>
                  <a:srgbClr val="A78BFA"/>
                </a:solidFill>
                <a:latin typeface="Satoshi"/>
              </a:rPr>
              <a:t>v</a:t>
            </a:r>
          </a:p>
        </p:txBody>
      </p:sp>
      <p:sp>
        <p:nvSpPr>
          <p:cNvPr id="12" name="TextBox 11"/>
          <p:cNvSpPr txBox="1"/>
          <p:nvPr/>
        </p:nvSpPr>
        <p:spPr>
          <a:xfrm>
            <a:off x="1280160" y="2770632"/>
            <a:ext cx="4389120" cy="274320"/>
          </a:xfrm>
          <a:prstGeom prst="rect">
            <a:avLst/>
          </a:prstGeom>
          <a:noFill/>
        </p:spPr>
        <p:txBody>
          <a:bodyPr wrap="square">
            <a:spAutoFit/>
          </a:bodyPr>
          <a:lstStyle/>
          <a:p>
            <a:pPr algn="l"/>
            <a:r>
              <a:rPr sz="1300" b="1" i="0">
                <a:solidFill>
                  <a:srgbClr val="FFFFFF"/>
                </a:solidFill>
                <a:latin typeface="Satoshi"/>
              </a:rPr>
              <a:t>No enquiry goes cold</a:t>
            </a:r>
          </a:p>
        </p:txBody>
      </p:sp>
      <p:sp>
        <p:nvSpPr>
          <p:cNvPr id="13" name="TextBox 12"/>
          <p:cNvSpPr txBox="1"/>
          <p:nvPr/>
        </p:nvSpPr>
        <p:spPr>
          <a:xfrm>
            <a:off x="1280160" y="3063240"/>
            <a:ext cx="4389120" cy="320040"/>
          </a:xfrm>
          <a:prstGeom prst="rect">
            <a:avLst/>
          </a:prstGeom>
          <a:noFill/>
        </p:spPr>
        <p:txBody>
          <a:bodyPr wrap="square">
            <a:spAutoFit/>
          </a:bodyPr>
          <a:lstStyle/>
          <a:p>
            <a:pPr algn="l"/>
            <a:r>
              <a:rPr sz="1100" b="0" i="0">
                <a:solidFill>
                  <a:srgbClr val="9D9D9F"/>
                </a:solidFill>
                <a:latin typeface="Satoshi"/>
              </a:rPr>
              <a:t>Every buyer is followed up automatically -- whether they enquired at 9 AM or 11 PM.</a:t>
            </a:r>
          </a:p>
        </p:txBody>
      </p:sp>
      <p:sp>
        <p:nvSpPr>
          <p:cNvPr id="14" name="Rounded Rectangle 13"/>
          <p:cNvSpPr/>
          <p:nvPr/>
        </p:nvSpPr>
        <p:spPr>
          <a:xfrm>
            <a:off x="685800" y="3566160"/>
            <a:ext cx="5257800" cy="749808"/>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657600"/>
            <a:ext cx="320040" cy="274320"/>
          </a:xfrm>
          <a:prstGeom prst="rect">
            <a:avLst/>
          </a:prstGeom>
          <a:noFill/>
        </p:spPr>
        <p:txBody>
          <a:bodyPr wrap="square">
            <a:spAutoFit/>
          </a:bodyPr>
          <a:lstStyle/>
          <a:p>
            <a:pPr algn="l"/>
            <a:r>
              <a:rPr sz="1400" b="1" i="0">
                <a:solidFill>
                  <a:srgbClr val="A78BFA"/>
                </a:solidFill>
                <a:latin typeface="Satoshi"/>
              </a:rPr>
              <a:t>v</a:t>
            </a:r>
          </a:p>
        </p:txBody>
      </p:sp>
      <p:sp>
        <p:nvSpPr>
          <p:cNvPr id="16" name="TextBox 15"/>
          <p:cNvSpPr txBox="1"/>
          <p:nvPr/>
        </p:nvSpPr>
        <p:spPr>
          <a:xfrm>
            <a:off x="1280160" y="3639312"/>
            <a:ext cx="4389120" cy="274320"/>
          </a:xfrm>
          <a:prstGeom prst="rect">
            <a:avLst/>
          </a:prstGeom>
          <a:noFill/>
        </p:spPr>
        <p:txBody>
          <a:bodyPr wrap="square">
            <a:spAutoFit/>
          </a:bodyPr>
          <a:lstStyle/>
          <a:p>
            <a:pPr algn="l"/>
            <a:r>
              <a:rPr sz="1300" b="1" i="0">
                <a:solidFill>
                  <a:srgbClr val="FFFFFF"/>
                </a:solidFill>
                <a:latin typeface="Satoshi"/>
              </a:rPr>
              <a:t>Diaspora buyers convert</a:t>
            </a:r>
          </a:p>
        </p:txBody>
      </p:sp>
      <p:sp>
        <p:nvSpPr>
          <p:cNvPr id="17" name="TextBox 16"/>
          <p:cNvSpPr txBox="1"/>
          <p:nvPr/>
        </p:nvSpPr>
        <p:spPr>
          <a:xfrm>
            <a:off x="1280160" y="3931920"/>
            <a:ext cx="4389120" cy="320040"/>
          </a:xfrm>
          <a:prstGeom prst="rect">
            <a:avLst/>
          </a:prstGeom>
          <a:noFill/>
        </p:spPr>
        <p:txBody>
          <a:bodyPr wrap="square">
            <a:spAutoFit/>
          </a:bodyPr>
          <a:lstStyle/>
          <a:p>
            <a:pPr algn="l"/>
            <a:r>
              <a:rPr sz="1100" b="0" i="0">
                <a:solidFill>
                  <a:srgbClr val="9D9D9F"/>
                </a:solidFill>
                <a:latin typeface="Satoshi"/>
              </a:rPr>
              <a:t>International leads receive floor plans, payment plans, and video tours before a single call.</a:t>
            </a:r>
          </a:p>
        </p:txBody>
      </p:sp>
      <p:sp>
        <p:nvSpPr>
          <p:cNvPr id="18" name="Rounded Rectangle 17"/>
          <p:cNvSpPr/>
          <p:nvPr/>
        </p:nvSpPr>
        <p:spPr>
          <a:xfrm>
            <a:off x="685800" y="4434840"/>
            <a:ext cx="5257800" cy="749808"/>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526280"/>
            <a:ext cx="320040" cy="274320"/>
          </a:xfrm>
          <a:prstGeom prst="rect">
            <a:avLst/>
          </a:prstGeom>
          <a:noFill/>
        </p:spPr>
        <p:txBody>
          <a:bodyPr wrap="square">
            <a:spAutoFit/>
          </a:bodyPr>
          <a:lstStyle/>
          <a:p>
            <a:pPr algn="l"/>
            <a:r>
              <a:rPr sz="1400" b="1" i="0">
                <a:solidFill>
                  <a:srgbClr val="A78BFA"/>
                </a:solidFill>
                <a:latin typeface="Satoshi"/>
              </a:rPr>
              <a:t>v</a:t>
            </a:r>
          </a:p>
        </p:txBody>
      </p:sp>
      <p:sp>
        <p:nvSpPr>
          <p:cNvPr id="20" name="TextBox 19"/>
          <p:cNvSpPr txBox="1"/>
          <p:nvPr/>
        </p:nvSpPr>
        <p:spPr>
          <a:xfrm>
            <a:off x="1280160" y="4507992"/>
            <a:ext cx="4389120" cy="274320"/>
          </a:xfrm>
          <a:prstGeom prst="rect">
            <a:avLst/>
          </a:prstGeom>
          <a:noFill/>
        </p:spPr>
        <p:txBody>
          <a:bodyPr wrap="square">
            <a:spAutoFit/>
          </a:bodyPr>
          <a:lstStyle/>
          <a:p>
            <a:pPr algn="l"/>
            <a:r>
              <a:rPr sz="1300" b="1" i="0">
                <a:solidFill>
                  <a:srgbClr val="FFFFFF"/>
                </a:solidFill>
                <a:latin typeface="Satoshi"/>
              </a:rPr>
              <a:t>12 weeks of nurture per lead</a:t>
            </a:r>
          </a:p>
        </p:txBody>
      </p:sp>
      <p:sp>
        <p:nvSpPr>
          <p:cNvPr id="21" name="TextBox 20"/>
          <p:cNvSpPr txBox="1"/>
          <p:nvPr/>
        </p:nvSpPr>
        <p:spPr>
          <a:xfrm>
            <a:off x="1280160" y="4800600"/>
            <a:ext cx="4389120" cy="320040"/>
          </a:xfrm>
          <a:prstGeom prst="rect">
            <a:avLst/>
          </a:prstGeom>
          <a:noFill/>
        </p:spPr>
        <p:txBody>
          <a:bodyPr wrap="square">
            <a:spAutoFit/>
          </a:bodyPr>
          <a:lstStyle/>
          <a:p>
            <a:pPr algn="l"/>
            <a:r>
              <a:rPr sz="1100" b="0" i="0">
                <a:solidFill>
                  <a:srgbClr val="9D9D9F"/>
                </a:solidFill>
                <a:latin typeface="Satoshi"/>
              </a:rPr>
              <a:t>Every enquiry followed up for 3 months without Laud sending a single manual message.</a:t>
            </a:r>
          </a:p>
        </p:txBody>
      </p:sp>
      <p:sp>
        <p:nvSpPr>
          <p:cNvPr id="22" name="Rounded Rectangle 21"/>
          <p:cNvSpPr/>
          <p:nvPr/>
        </p:nvSpPr>
        <p:spPr>
          <a:xfrm>
            <a:off x="685800" y="5303520"/>
            <a:ext cx="5257800" cy="749808"/>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5394960"/>
            <a:ext cx="320040" cy="274320"/>
          </a:xfrm>
          <a:prstGeom prst="rect">
            <a:avLst/>
          </a:prstGeom>
          <a:noFill/>
        </p:spPr>
        <p:txBody>
          <a:bodyPr wrap="square">
            <a:spAutoFit/>
          </a:bodyPr>
          <a:lstStyle/>
          <a:p>
            <a:pPr algn="l"/>
            <a:r>
              <a:rPr sz="1400" b="1" i="0">
                <a:solidFill>
                  <a:srgbClr val="A78BFA"/>
                </a:solidFill>
                <a:latin typeface="Satoshi"/>
              </a:rPr>
              <a:t>v</a:t>
            </a:r>
          </a:p>
        </p:txBody>
      </p:sp>
      <p:sp>
        <p:nvSpPr>
          <p:cNvPr id="24" name="TextBox 23"/>
          <p:cNvSpPr txBox="1"/>
          <p:nvPr/>
        </p:nvSpPr>
        <p:spPr>
          <a:xfrm>
            <a:off x="1280160" y="5376672"/>
            <a:ext cx="4389120" cy="274320"/>
          </a:xfrm>
          <a:prstGeom prst="rect">
            <a:avLst/>
          </a:prstGeom>
          <a:noFill/>
        </p:spPr>
        <p:txBody>
          <a:bodyPr wrap="square">
            <a:spAutoFit/>
          </a:bodyPr>
          <a:lstStyle/>
          <a:p>
            <a:pPr algn="l"/>
            <a:r>
              <a:rPr sz="1300" b="1" i="0">
                <a:solidFill>
                  <a:srgbClr val="FFFFFF"/>
                </a:solidFill>
                <a:latin typeface="Satoshi"/>
              </a:rPr>
              <a:t>24/7 website qualification</a:t>
            </a:r>
          </a:p>
        </p:txBody>
      </p:sp>
      <p:sp>
        <p:nvSpPr>
          <p:cNvPr id="25" name="TextBox 24"/>
          <p:cNvSpPr txBox="1"/>
          <p:nvPr/>
        </p:nvSpPr>
        <p:spPr>
          <a:xfrm>
            <a:off x="1280160" y="5669280"/>
            <a:ext cx="4389120" cy="320040"/>
          </a:xfrm>
          <a:prstGeom prst="rect">
            <a:avLst/>
          </a:prstGeom>
          <a:noFill/>
        </p:spPr>
        <p:txBody>
          <a:bodyPr wrap="square">
            <a:spAutoFit/>
          </a:bodyPr>
          <a:lstStyle/>
          <a:p>
            <a:pPr algn="l"/>
            <a:r>
              <a:rPr sz="1100" b="0" i="0">
                <a:solidFill>
                  <a:srgbClr val="9D9D9F"/>
                </a:solidFill>
                <a:latin typeface="Satoshi"/>
              </a:rPr>
              <a:t>The website works as a sales tool at night and on weekends -- not just a brochure.</a:t>
            </a:r>
          </a:p>
        </p:txBody>
      </p:sp>
      <p:sp>
        <p:nvSpPr>
          <p:cNvPr id="26" name="Rounded Rectangle 25"/>
          <p:cNvSpPr/>
          <p:nvPr/>
        </p:nvSpPr>
        <p:spPr>
          <a:xfrm>
            <a:off x="6492240" y="2697480"/>
            <a:ext cx="5257800" cy="749808"/>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20840" y="2788920"/>
            <a:ext cx="320040" cy="274320"/>
          </a:xfrm>
          <a:prstGeom prst="rect">
            <a:avLst/>
          </a:prstGeom>
          <a:noFill/>
        </p:spPr>
        <p:txBody>
          <a:bodyPr wrap="square">
            <a:spAutoFit/>
          </a:bodyPr>
          <a:lstStyle/>
          <a:p>
            <a:pPr algn="l"/>
            <a:r>
              <a:rPr sz="1400" b="1" i="0">
                <a:solidFill>
                  <a:srgbClr val="A78BFA"/>
                </a:solidFill>
                <a:latin typeface="Satoshi"/>
              </a:rPr>
              <a:t>v</a:t>
            </a:r>
          </a:p>
        </p:txBody>
      </p:sp>
      <p:sp>
        <p:nvSpPr>
          <p:cNvPr id="28" name="TextBox 27"/>
          <p:cNvSpPr txBox="1"/>
          <p:nvPr/>
        </p:nvSpPr>
        <p:spPr>
          <a:xfrm>
            <a:off x="7086600" y="2770632"/>
            <a:ext cx="4389120" cy="274320"/>
          </a:xfrm>
          <a:prstGeom prst="rect">
            <a:avLst/>
          </a:prstGeom>
          <a:noFill/>
        </p:spPr>
        <p:txBody>
          <a:bodyPr wrap="square">
            <a:spAutoFit/>
          </a:bodyPr>
          <a:lstStyle/>
          <a:p>
            <a:pPr algn="l"/>
            <a:r>
              <a:rPr sz="1300" b="1" i="0">
                <a:solidFill>
                  <a:srgbClr val="FFFFFF"/>
                </a:solidFill>
                <a:latin typeface="Satoshi"/>
              </a:rPr>
              <a:t>Social presence built passively</a:t>
            </a:r>
          </a:p>
        </p:txBody>
      </p:sp>
      <p:sp>
        <p:nvSpPr>
          <p:cNvPr id="29" name="TextBox 28"/>
          <p:cNvSpPr txBox="1"/>
          <p:nvPr/>
        </p:nvSpPr>
        <p:spPr>
          <a:xfrm>
            <a:off x="7086600" y="3063240"/>
            <a:ext cx="4389120" cy="320040"/>
          </a:xfrm>
          <a:prstGeom prst="rect">
            <a:avLst/>
          </a:prstGeom>
          <a:noFill/>
        </p:spPr>
        <p:txBody>
          <a:bodyPr wrap="square">
            <a:spAutoFit/>
          </a:bodyPr>
          <a:lstStyle/>
          <a:p>
            <a:pPr algn="l"/>
            <a:r>
              <a:rPr sz="1100" b="0" i="0">
                <a:solidFill>
                  <a:srgbClr val="9D9D9F"/>
                </a:solidFill>
                <a:latin typeface="Satoshi"/>
              </a:rPr>
              <a:t>LinkedIn and Instagram grow consistently without consuming founder time.</a:t>
            </a:r>
          </a:p>
        </p:txBody>
      </p:sp>
      <p:sp>
        <p:nvSpPr>
          <p:cNvPr id="30" name="Rounded Rectangle 29"/>
          <p:cNvSpPr/>
          <p:nvPr/>
        </p:nvSpPr>
        <p:spPr>
          <a:xfrm>
            <a:off x="6492240" y="3566160"/>
            <a:ext cx="5257800" cy="749808"/>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20840" y="3657600"/>
            <a:ext cx="320040" cy="274320"/>
          </a:xfrm>
          <a:prstGeom prst="rect">
            <a:avLst/>
          </a:prstGeom>
          <a:noFill/>
        </p:spPr>
        <p:txBody>
          <a:bodyPr wrap="square">
            <a:spAutoFit/>
          </a:bodyPr>
          <a:lstStyle/>
          <a:p>
            <a:pPr algn="l"/>
            <a:r>
              <a:rPr sz="1400" b="1" i="0">
                <a:solidFill>
                  <a:srgbClr val="A78BFA"/>
                </a:solidFill>
                <a:latin typeface="Satoshi"/>
              </a:rPr>
              <a:t>v</a:t>
            </a:r>
          </a:p>
        </p:txBody>
      </p:sp>
      <p:sp>
        <p:nvSpPr>
          <p:cNvPr id="32" name="TextBox 31"/>
          <p:cNvSpPr txBox="1"/>
          <p:nvPr/>
        </p:nvSpPr>
        <p:spPr>
          <a:xfrm>
            <a:off x="7086600" y="3639312"/>
            <a:ext cx="4389120" cy="274320"/>
          </a:xfrm>
          <a:prstGeom prst="rect">
            <a:avLst/>
          </a:prstGeom>
          <a:noFill/>
        </p:spPr>
        <p:txBody>
          <a:bodyPr wrap="square">
            <a:spAutoFit/>
          </a:bodyPr>
          <a:lstStyle/>
          <a:p>
            <a:pPr algn="l"/>
            <a:r>
              <a:rPr sz="1300" b="1" i="0">
                <a:solidFill>
                  <a:srgbClr val="FFFFFF"/>
                </a:solidFill>
                <a:latin typeface="Satoshi"/>
              </a:rPr>
              <a:t>Pipeline fully visible</a:t>
            </a:r>
          </a:p>
        </p:txBody>
      </p:sp>
      <p:sp>
        <p:nvSpPr>
          <p:cNvPr id="33" name="TextBox 32"/>
          <p:cNvSpPr txBox="1"/>
          <p:nvPr/>
        </p:nvSpPr>
        <p:spPr>
          <a:xfrm>
            <a:off x="7086600" y="3931920"/>
            <a:ext cx="4389120" cy="320040"/>
          </a:xfrm>
          <a:prstGeom prst="rect">
            <a:avLst/>
          </a:prstGeom>
          <a:noFill/>
        </p:spPr>
        <p:txBody>
          <a:bodyPr wrap="square">
            <a:spAutoFit/>
          </a:bodyPr>
          <a:lstStyle/>
          <a:p>
            <a:pPr algn="l"/>
            <a:r>
              <a:rPr sz="1100" b="0" i="0">
                <a:solidFill>
                  <a:srgbClr val="9D9D9F"/>
                </a:solidFill>
                <a:latin typeface="Satoshi"/>
              </a:rPr>
              <a:t>Maxwell and Laud see every buyer, every stage, every follow-up due -- in one view.</a:t>
            </a:r>
          </a:p>
        </p:txBody>
      </p:sp>
      <p:sp>
        <p:nvSpPr>
          <p:cNvPr id="34" name="Rounded Rectangle 33"/>
          <p:cNvSpPr/>
          <p:nvPr/>
        </p:nvSpPr>
        <p:spPr>
          <a:xfrm>
            <a:off x="6492240" y="4434840"/>
            <a:ext cx="5257800" cy="749808"/>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20840" y="4526280"/>
            <a:ext cx="320040" cy="274320"/>
          </a:xfrm>
          <a:prstGeom prst="rect">
            <a:avLst/>
          </a:prstGeom>
          <a:noFill/>
        </p:spPr>
        <p:txBody>
          <a:bodyPr wrap="square">
            <a:spAutoFit/>
          </a:bodyPr>
          <a:lstStyle/>
          <a:p>
            <a:pPr algn="l"/>
            <a:r>
              <a:rPr sz="1400" b="1" i="0">
                <a:solidFill>
                  <a:srgbClr val="A78BFA"/>
                </a:solidFill>
                <a:latin typeface="Satoshi"/>
              </a:rPr>
              <a:t>v</a:t>
            </a:r>
          </a:p>
        </p:txBody>
      </p:sp>
      <p:sp>
        <p:nvSpPr>
          <p:cNvPr id="36" name="TextBox 35"/>
          <p:cNvSpPr txBox="1"/>
          <p:nvPr/>
        </p:nvSpPr>
        <p:spPr>
          <a:xfrm>
            <a:off x="7086600" y="4507992"/>
            <a:ext cx="4389120" cy="274320"/>
          </a:xfrm>
          <a:prstGeom prst="rect">
            <a:avLst/>
          </a:prstGeom>
          <a:noFill/>
        </p:spPr>
        <p:txBody>
          <a:bodyPr wrap="square">
            <a:spAutoFit/>
          </a:bodyPr>
          <a:lstStyle/>
          <a:p>
            <a:pPr algn="l"/>
            <a:r>
              <a:rPr sz="1300" b="1" i="0">
                <a:solidFill>
                  <a:srgbClr val="FFFFFF"/>
                </a:solidFill>
                <a:latin typeface="Satoshi"/>
              </a:rPr>
              <a:t>Viewing bookings automated</a:t>
            </a:r>
          </a:p>
        </p:txBody>
      </p:sp>
      <p:sp>
        <p:nvSpPr>
          <p:cNvPr id="37" name="TextBox 36"/>
          <p:cNvSpPr txBox="1"/>
          <p:nvPr/>
        </p:nvSpPr>
        <p:spPr>
          <a:xfrm>
            <a:off x="7086600" y="4800600"/>
            <a:ext cx="4389120" cy="320040"/>
          </a:xfrm>
          <a:prstGeom prst="rect">
            <a:avLst/>
          </a:prstGeom>
          <a:noFill/>
        </p:spPr>
        <p:txBody>
          <a:bodyPr wrap="square">
            <a:spAutoFit/>
          </a:bodyPr>
          <a:lstStyle/>
          <a:p>
            <a:pPr algn="l"/>
            <a:r>
              <a:rPr sz="1100" b="0" i="0">
                <a:solidFill>
                  <a:srgbClr val="9D9D9F"/>
                </a:solidFill>
                <a:latin typeface="Satoshi"/>
              </a:rPr>
              <a:t>No scheduling back-and-forth -- buyers book directly, calendar updated automatically.</a:t>
            </a:r>
          </a:p>
        </p:txBody>
      </p:sp>
      <p:sp>
        <p:nvSpPr>
          <p:cNvPr id="38" name="Rounded Rectangle 37"/>
          <p:cNvSpPr/>
          <p:nvPr/>
        </p:nvSpPr>
        <p:spPr>
          <a:xfrm>
            <a:off x="6492240" y="5303520"/>
            <a:ext cx="5257800" cy="749808"/>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720840" y="5394960"/>
            <a:ext cx="320040" cy="274320"/>
          </a:xfrm>
          <a:prstGeom prst="rect">
            <a:avLst/>
          </a:prstGeom>
          <a:noFill/>
        </p:spPr>
        <p:txBody>
          <a:bodyPr wrap="square">
            <a:spAutoFit/>
          </a:bodyPr>
          <a:lstStyle/>
          <a:p>
            <a:pPr algn="l"/>
            <a:r>
              <a:rPr sz="1400" b="1" i="0">
                <a:solidFill>
                  <a:srgbClr val="A78BFA"/>
                </a:solidFill>
                <a:latin typeface="Satoshi"/>
              </a:rPr>
              <a:t>v</a:t>
            </a:r>
          </a:p>
        </p:txBody>
      </p:sp>
      <p:sp>
        <p:nvSpPr>
          <p:cNvPr id="40" name="TextBox 39"/>
          <p:cNvSpPr txBox="1"/>
          <p:nvPr/>
        </p:nvSpPr>
        <p:spPr>
          <a:xfrm>
            <a:off x="7086600" y="5376672"/>
            <a:ext cx="4389120" cy="274320"/>
          </a:xfrm>
          <a:prstGeom prst="rect">
            <a:avLst/>
          </a:prstGeom>
          <a:noFill/>
        </p:spPr>
        <p:txBody>
          <a:bodyPr wrap="square">
            <a:spAutoFit/>
          </a:bodyPr>
          <a:lstStyle/>
          <a:p>
            <a:pPr algn="l"/>
            <a:r>
              <a:rPr sz="1300" b="1" i="0">
                <a:solidFill>
                  <a:srgbClr val="FFFFFF"/>
                </a:solidFill>
                <a:latin typeface="Satoshi"/>
              </a:rPr>
              <a:t>Ready to scale</a:t>
            </a:r>
          </a:p>
        </p:txBody>
      </p:sp>
      <p:sp>
        <p:nvSpPr>
          <p:cNvPr id="41" name="TextBox 40"/>
          <p:cNvSpPr txBox="1"/>
          <p:nvPr/>
        </p:nvSpPr>
        <p:spPr>
          <a:xfrm>
            <a:off x="7086600" y="5669280"/>
            <a:ext cx="4389120" cy="320040"/>
          </a:xfrm>
          <a:prstGeom prst="rect">
            <a:avLst/>
          </a:prstGeom>
          <a:noFill/>
        </p:spPr>
        <p:txBody>
          <a:bodyPr wrap="square">
            <a:spAutoFit/>
          </a:bodyPr>
          <a:lstStyle/>
          <a:p>
            <a:pPr algn="l"/>
            <a:r>
              <a:rPr sz="1100" b="0" i="0">
                <a:solidFill>
                  <a:srgbClr val="9D9D9F"/>
                </a:solidFill>
                <a:latin typeface="Satoshi"/>
              </a:rPr>
              <a:t>The same automation infrastructure supports The Alexandria, The Arlington, and every project after.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685800" y="201168"/>
            <a:ext cx="5486400" cy="256032"/>
          </a:xfrm>
          <a:prstGeom prst="rect">
            <a:avLst/>
          </a:prstGeom>
          <a:noFill/>
        </p:spPr>
        <p:txBody>
          <a:bodyPr wrap="square">
            <a:spAutoFit/>
          </a:bodyPr>
          <a:lstStyle/>
          <a:p>
            <a:pPr algn="l"/>
            <a:r>
              <a:rPr sz="900" b="1" i="0">
                <a:solidFill>
                  <a:srgbClr val="6B6B6E"/>
                </a:solidFill>
                <a:latin typeface="Satoshi"/>
              </a:rPr>
              <a:t>GENOSAI  x  REGNUM PROPERTIES</a:t>
            </a:r>
          </a:p>
        </p:txBody>
      </p:sp>
      <p:sp>
        <p:nvSpPr>
          <p:cNvPr id="3" name="TextBox 2"/>
          <p:cNvSpPr txBox="1"/>
          <p:nvPr/>
        </p:nvSpPr>
        <p:spPr>
          <a:xfrm>
            <a:off x="6858000" y="201168"/>
            <a:ext cx="4645152" cy="256032"/>
          </a:xfrm>
          <a:prstGeom prst="rect">
            <a:avLst/>
          </a:prstGeom>
          <a:noFill/>
        </p:spPr>
        <p:txBody>
          <a:bodyPr wrap="square">
            <a:spAutoFit/>
          </a:bodyPr>
          <a:lstStyle/>
          <a:p>
            <a:pPr algn="r"/>
            <a:r>
              <a:rPr sz="900" b="1" i="0">
                <a:solidFill>
                  <a:srgbClr val="6B6B6E"/>
                </a:solidFill>
                <a:latin typeface="Satoshi"/>
              </a:rPr>
              <a:t>06  .  IMPLEMENTATION</a:t>
            </a:r>
          </a:p>
        </p:txBody>
      </p:sp>
      <p:sp>
        <p:nvSpPr>
          <p:cNvPr id="4" name="Rectangle 3"/>
          <p:cNvSpPr/>
          <p:nvPr/>
        </p:nvSpPr>
        <p:spPr>
          <a:xfrm>
            <a:off x="685800" y="530352"/>
            <a:ext cx="10817352"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73952"/>
            <a:ext cx="7315200" cy="256032"/>
          </a:xfrm>
          <a:prstGeom prst="rect">
            <a:avLst/>
          </a:prstGeom>
          <a:noFill/>
        </p:spPr>
        <p:txBody>
          <a:bodyPr wrap="square">
            <a:spAutoFit/>
          </a:bodyPr>
          <a:lstStyle/>
          <a:p>
            <a:pPr algn="l"/>
            <a:r>
              <a:rPr sz="800" b="0" i="0">
                <a:solidFill>
                  <a:srgbClr val="444447"/>
                </a:solidFill>
                <a:latin typeface="Satoshi"/>
              </a:rPr>
              <a:t>AI Automation Proposal  .  Regnum Properties  .  2026</a:t>
            </a:r>
          </a:p>
        </p:txBody>
      </p:sp>
      <p:sp>
        <p:nvSpPr>
          <p:cNvPr id="6" name="TextBox 5"/>
          <p:cNvSpPr txBox="1"/>
          <p:nvPr/>
        </p:nvSpPr>
        <p:spPr>
          <a:xfrm>
            <a:off x="8686800" y="6473952"/>
            <a:ext cx="2816352" cy="256032"/>
          </a:xfrm>
          <a:prstGeom prst="rect">
            <a:avLst/>
          </a:prstGeom>
          <a:noFill/>
        </p:spPr>
        <p:txBody>
          <a:bodyPr wrap="square">
            <a:spAutoFit/>
          </a:bodyPr>
          <a:lstStyle/>
          <a:p>
            <a:pPr algn="r"/>
            <a:r>
              <a:rPr sz="800" b="0" i="0">
                <a:solidFill>
                  <a:srgbClr val="444447"/>
                </a:solidFill>
                <a:latin typeface="Satoshi"/>
              </a:rPr>
              <a:t>11 / 12</a:t>
            </a:r>
          </a:p>
        </p:txBody>
      </p:sp>
      <p:sp>
        <p:nvSpPr>
          <p:cNvPr id="7" name="TextBox 6"/>
          <p:cNvSpPr txBox="1"/>
          <p:nvPr/>
        </p:nvSpPr>
        <p:spPr>
          <a:xfrm>
            <a:off x="685800" y="777240"/>
            <a:ext cx="5486400" cy="274320"/>
          </a:xfrm>
          <a:prstGeom prst="rect">
            <a:avLst/>
          </a:prstGeom>
          <a:noFill/>
        </p:spPr>
        <p:txBody>
          <a:bodyPr wrap="square">
            <a:spAutoFit/>
          </a:bodyPr>
          <a:lstStyle/>
          <a:p>
            <a:pPr algn="l"/>
            <a:r>
              <a:rPr sz="1000" b="1" i="0">
                <a:solidFill>
                  <a:srgbClr val="A78BFA"/>
                </a:solidFill>
                <a:latin typeface="Satoshi"/>
              </a:rPr>
              <a:t>BUILT IN THREE CLEAN PHASES</a:t>
            </a:r>
          </a:p>
        </p:txBody>
      </p:sp>
      <p:sp>
        <p:nvSpPr>
          <p:cNvPr id="8" name="TextBox 7"/>
          <p:cNvSpPr txBox="1"/>
          <p:nvPr/>
        </p:nvSpPr>
        <p:spPr>
          <a:xfrm>
            <a:off x="685800" y="1078992"/>
            <a:ext cx="9144000" cy="1463040"/>
          </a:xfrm>
          <a:prstGeom prst="rect">
            <a:avLst/>
          </a:prstGeom>
          <a:noFill/>
        </p:spPr>
        <p:txBody>
          <a:bodyPr wrap="square">
            <a:spAutoFit/>
          </a:bodyPr>
          <a:lstStyle/>
          <a:p>
            <a:pPr algn="l"/>
            <a:r>
              <a:rPr sz="3600" b="0" i="0">
                <a:solidFill>
                  <a:srgbClr val="FFFFFF"/>
                </a:solidFill>
                <a:latin typeface="Instrument Serif"/>
              </a:rPr>
              <a:t>Implementation Phases</a:t>
            </a:r>
          </a:p>
        </p:txBody>
      </p:sp>
      <p:sp>
        <p:nvSpPr>
          <p:cNvPr id="9" name="TextBox 8"/>
          <p:cNvSpPr txBox="1"/>
          <p:nvPr/>
        </p:nvSpPr>
        <p:spPr>
          <a:xfrm>
            <a:off x="685800" y="2011680"/>
            <a:ext cx="9144000" cy="347472"/>
          </a:xfrm>
          <a:prstGeom prst="rect">
            <a:avLst/>
          </a:prstGeom>
          <a:noFill/>
        </p:spPr>
        <p:txBody>
          <a:bodyPr wrap="square">
            <a:spAutoFit/>
          </a:bodyPr>
          <a:lstStyle/>
          <a:p>
            <a:pPr algn="l"/>
            <a:r>
              <a:rPr sz="1300" b="0" i="0">
                <a:solidFill>
                  <a:srgbClr val="86868A"/>
                </a:solidFill>
                <a:latin typeface="Satoshi"/>
              </a:rPr>
              <a:t>WhatsApp lead AI first -- the highest daily revenue impact. Nurture and social follow. CRM last, with everything feeding into it.</a:t>
            </a:r>
          </a:p>
        </p:txBody>
      </p:sp>
      <p:sp>
        <p:nvSpPr>
          <p:cNvPr id="10" name="Rectangle 9"/>
          <p:cNvSpPr/>
          <p:nvPr/>
        </p:nvSpPr>
        <p:spPr>
          <a:xfrm>
            <a:off x="685800" y="2487168"/>
            <a:ext cx="10817352"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85800" y="2743200"/>
            <a:ext cx="3474720" cy="342900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880360"/>
            <a:ext cx="3108960" cy="256032"/>
          </a:xfrm>
          <a:prstGeom prst="rect">
            <a:avLst/>
          </a:prstGeom>
          <a:noFill/>
        </p:spPr>
        <p:txBody>
          <a:bodyPr wrap="square">
            <a:spAutoFit/>
          </a:bodyPr>
          <a:lstStyle/>
          <a:p>
            <a:pPr algn="l"/>
            <a:r>
              <a:rPr sz="900" b="1" i="0">
                <a:solidFill>
                  <a:srgbClr val="A78BFA"/>
                </a:solidFill>
                <a:latin typeface="Satoshi"/>
              </a:rPr>
              <a:t>PHASE 01  .  Week 1</a:t>
            </a:r>
          </a:p>
        </p:txBody>
      </p:sp>
      <p:sp>
        <p:nvSpPr>
          <p:cNvPr id="13" name="TextBox 12"/>
          <p:cNvSpPr txBox="1"/>
          <p:nvPr/>
        </p:nvSpPr>
        <p:spPr>
          <a:xfrm>
            <a:off x="914400" y="3200400"/>
            <a:ext cx="3108960" cy="384048"/>
          </a:xfrm>
          <a:prstGeom prst="rect">
            <a:avLst/>
          </a:prstGeom>
          <a:noFill/>
        </p:spPr>
        <p:txBody>
          <a:bodyPr wrap="square">
            <a:spAutoFit/>
          </a:bodyPr>
          <a:lstStyle/>
          <a:p>
            <a:pPr algn="l"/>
            <a:r>
              <a:rPr sz="1500" b="0" i="0">
                <a:solidFill>
                  <a:srgbClr val="FFFFFF"/>
                </a:solidFill>
                <a:latin typeface="Instrument Serif"/>
              </a:rPr>
              <a:t>WhatsApp Lead AI + Property Chatbot</a:t>
            </a:r>
          </a:p>
        </p:txBody>
      </p:sp>
      <p:sp>
        <p:nvSpPr>
          <p:cNvPr id="14" name="TextBox 13"/>
          <p:cNvSpPr txBox="1"/>
          <p:nvPr/>
        </p:nvSpPr>
        <p:spPr>
          <a:xfrm>
            <a:off x="914400" y="3657600"/>
            <a:ext cx="3108960" cy="475488"/>
          </a:xfrm>
          <a:prstGeom prst="rect">
            <a:avLst/>
          </a:prstGeom>
          <a:noFill/>
        </p:spPr>
        <p:txBody>
          <a:bodyPr wrap="square">
            <a:spAutoFit/>
          </a:bodyPr>
          <a:lstStyle/>
          <a:p>
            <a:pPr algn="l"/>
            <a:r>
              <a:rPr sz="1100" b="0" i="0">
                <a:solidFill>
                  <a:srgbClr val="9D9D9F"/>
                </a:solidFill>
                <a:latin typeface="Satoshi"/>
              </a:rPr>
              <a:t>WhatsApp qualification AI live, property chatbot deployed on the website, viewing booking integrated, international buyer routing configured.</a:t>
            </a:r>
          </a:p>
        </p:txBody>
      </p:sp>
      <p:sp>
        <p:nvSpPr>
          <p:cNvPr id="15" name="TextBox 14"/>
          <p:cNvSpPr txBox="1"/>
          <p:nvPr/>
        </p:nvSpPr>
        <p:spPr>
          <a:xfrm>
            <a:off x="914400" y="4224528"/>
            <a:ext cx="3108960" cy="237744"/>
          </a:xfrm>
          <a:prstGeom prst="rect">
            <a:avLst/>
          </a:prstGeom>
          <a:noFill/>
        </p:spPr>
        <p:txBody>
          <a:bodyPr wrap="square">
            <a:spAutoFit/>
          </a:bodyPr>
          <a:lstStyle/>
          <a:p>
            <a:pPr algn="l"/>
            <a:r>
              <a:rPr sz="1000" b="0" i="0">
                <a:solidFill>
                  <a:srgbClr val="6B6B6E"/>
                </a:solidFill>
                <a:latin typeface="Satoshi"/>
              </a:rPr>
              <a:t>&gt;  WhatsApp AI number setup</a:t>
            </a:r>
          </a:p>
        </p:txBody>
      </p:sp>
      <p:sp>
        <p:nvSpPr>
          <p:cNvPr id="16" name="TextBox 15"/>
          <p:cNvSpPr txBox="1"/>
          <p:nvPr/>
        </p:nvSpPr>
        <p:spPr>
          <a:xfrm>
            <a:off x="914400" y="4498848"/>
            <a:ext cx="3108960" cy="237744"/>
          </a:xfrm>
          <a:prstGeom prst="rect">
            <a:avLst/>
          </a:prstGeom>
          <a:noFill/>
        </p:spPr>
        <p:txBody>
          <a:bodyPr wrap="square">
            <a:spAutoFit/>
          </a:bodyPr>
          <a:lstStyle/>
          <a:p>
            <a:pPr algn="l"/>
            <a:r>
              <a:rPr sz="1000" b="0" i="0">
                <a:solidFill>
                  <a:srgbClr val="6B6B6E"/>
                </a:solidFill>
                <a:latin typeface="Satoshi"/>
              </a:rPr>
              <a:t>&gt;  Buyer qualification flow</a:t>
            </a:r>
          </a:p>
        </p:txBody>
      </p:sp>
      <p:sp>
        <p:nvSpPr>
          <p:cNvPr id="17" name="TextBox 16"/>
          <p:cNvSpPr txBox="1"/>
          <p:nvPr/>
        </p:nvSpPr>
        <p:spPr>
          <a:xfrm>
            <a:off x="914400" y="4773168"/>
            <a:ext cx="3108960" cy="237744"/>
          </a:xfrm>
          <a:prstGeom prst="rect">
            <a:avLst/>
          </a:prstGeom>
          <a:noFill/>
        </p:spPr>
        <p:txBody>
          <a:bodyPr wrap="square">
            <a:spAutoFit/>
          </a:bodyPr>
          <a:lstStyle/>
          <a:p>
            <a:pPr algn="l"/>
            <a:r>
              <a:rPr sz="1000" b="0" i="0">
                <a:solidFill>
                  <a:srgbClr val="6B6B6E"/>
                </a:solidFill>
                <a:latin typeface="Satoshi"/>
              </a:rPr>
              <a:t>&gt;  Website chatbot deployment</a:t>
            </a:r>
          </a:p>
        </p:txBody>
      </p:sp>
      <p:sp>
        <p:nvSpPr>
          <p:cNvPr id="18" name="TextBox 17"/>
          <p:cNvSpPr txBox="1"/>
          <p:nvPr/>
        </p:nvSpPr>
        <p:spPr>
          <a:xfrm>
            <a:off x="914400" y="5047488"/>
            <a:ext cx="3108960" cy="237744"/>
          </a:xfrm>
          <a:prstGeom prst="rect">
            <a:avLst/>
          </a:prstGeom>
          <a:noFill/>
        </p:spPr>
        <p:txBody>
          <a:bodyPr wrap="square">
            <a:spAutoFit/>
          </a:bodyPr>
          <a:lstStyle/>
          <a:p>
            <a:pPr algn="l"/>
            <a:r>
              <a:rPr sz="1000" b="0" i="0">
                <a:solidFill>
                  <a:srgbClr val="6B6B6E"/>
                </a:solidFill>
                <a:latin typeface="Satoshi"/>
              </a:rPr>
              <a:t>&gt;  Virtual tour and floor plan delivery</a:t>
            </a:r>
          </a:p>
        </p:txBody>
      </p:sp>
      <p:sp>
        <p:nvSpPr>
          <p:cNvPr id="19" name="Rounded Rectangle 18"/>
          <p:cNvSpPr/>
          <p:nvPr/>
        </p:nvSpPr>
        <p:spPr>
          <a:xfrm>
            <a:off x="4315968" y="2743200"/>
            <a:ext cx="3474720" cy="342900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44568" y="2880360"/>
            <a:ext cx="3108960" cy="256032"/>
          </a:xfrm>
          <a:prstGeom prst="rect">
            <a:avLst/>
          </a:prstGeom>
          <a:noFill/>
        </p:spPr>
        <p:txBody>
          <a:bodyPr wrap="square">
            <a:spAutoFit/>
          </a:bodyPr>
          <a:lstStyle/>
          <a:p>
            <a:pPr algn="l"/>
            <a:r>
              <a:rPr sz="900" b="1" i="0">
                <a:solidFill>
                  <a:srgbClr val="A78BFA"/>
                </a:solidFill>
                <a:latin typeface="Satoshi"/>
              </a:rPr>
              <a:t>PHASE 02  .  Weeks 2-3</a:t>
            </a:r>
          </a:p>
        </p:txBody>
      </p:sp>
      <p:sp>
        <p:nvSpPr>
          <p:cNvPr id="21" name="TextBox 20"/>
          <p:cNvSpPr txBox="1"/>
          <p:nvPr/>
        </p:nvSpPr>
        <p:spPr>
          <a:xfrm>
            <a:off x="4544568" y="3200400"/>
            <a:ext cx="3108960" cy="384048"/>
          </a:xfrm>
          <a:prstGeom prst="rect">
            <a:avLst/>
          </a:prstGeom>
          <a:noFill/>
        </p:spPr>
        <p:txBody>
          <a:bodyPr wrap="square">
            <a:spAutoFit/>
          </a:bodyPr>
          <a:lstStyle/>
          <a:p>
            <a:pPr algn="l"/>
            <a:r>
              <a:rPr sz="1500" b="0" i="0">
                <a:solidFill>
                  <a:srgbClr val="FFFFFF"/>
                </a:solidFill>
                <a:latin typeface="Instrument Serif"/>
              </a:rPr>
              <a:t>Investor Nurture + Social Content AI</a:t>
            </a:r>
          </a:p>
        </p:txBody>
      </p:sp>
      <p:sp>
        <p:nvSpPr>
          <p:cNvPr id="22" name="TextBox 21"/>
          <p:cNvSpPr txBox="1"/>
          <p:nvPr/>
        </p:nvSpPr>
        <p:spPr>
          <a:xfrm>
            <a:off x="4544568" y="3657600"/>
            <a:ext cx="3108960" cy="475488"/>
          </a:xfrm>
          <a:prstGeom prst="rect">
            <a:avLst/>
          </a:prstGeom>
          <a:noFill/>
        </p:spPr>
        <p:txBody>
          <a:bodyPr wrap="square">
            <a:spAutoFit/>
          </a:bodyPr>
          <a:lstStyle/>
          <a:p>
            <a:pPr algn="l"/>
            <a:r>
              <a:rPr sz="1100" b="0" i="0">
                <a:solidFill>
                  <a:srgbClr val="9D9D9F"/>
                </a:solidFill>
                <a:latin typeface="Satoshi"/>
              </a:rPr>
              <a:t>12-week nurture sequences for all active leads, construction update automation, Accra market data delivery, LinkedIn and Instagram content calendar.</a:t>
            </a:r>
          </a:p>
        </p:txBody>
      </p:sp>
      <p:sp>
        <p:nvSpPr>
          <p:cNvPr id="23" name="TextBox 22"/>
          <p:cNvSpPr txBox="1"/>
          <p:nvPr/>
        </p:nvSpPr>
        <p:spPr>
          <a:xfrm>
            <a:off x="4544568" y="4224528"/>
            <a:ext cx="3108960" cy="237744"/>
          </a:xfrm>
          <a:prstGeom prst="rect">
            <a:avLst/>
          </a:prstGeom>
          <a:noFill/>
        </p:spPr>
        <p:txBody>
          <a:bodyPr wrap="square">
            <a:spAutoFit/>
          </a:bodyPr>
          <a:lstStyle/>
          <a:p>
            <a:pPr algn="l"/>
            <a:r>
              <a:rPr sz="1000" b="0" i="0">
                <a:solidFill>
                  <a:srgbClr val="6B6B6E"/>
                </a:solidFill>
                <a:latin typeface="Satoshi"/>
              </a:rPr>
              <a:t>&gt;  12-week nurture sequence build</a:t>
            </a:r>
          </a:p>
        </p:txBody>
      </p:sp>
      <p:sp>
        <p:nvSpPr>
          <p:cNvPr id="24" name="TextBox 23"/>
          <p:cNvSpPr txBox="1"/>
          <p:nvPr/>
        </p:nvSpPr>
        <p:spPr>
          <a:xfrm>
            <a:off x="4544568" y="4498848"/>
            <a:ext cx="3108960" cy="237744"/>
          </a:xfrm>
          <a:prstGeom prst="rect">
            <a:avLst/>
          </a:prstGeom>
          <a:noFill/>
        </p:spPr>
        <p:txBody>
          <a:bodyPr wrap="square">
            <a:spAutoFit/>
          </a:bodyPr>
          <a:lstStyle/>
          <a:p>
            <a:pPr algn="l"/>
            <a:r>
              <a:rPr sz="1000" b="0" i="0">
                <a:solidFill>
                  <a:srgbClr val="6B6B6E"/>
                </a:solidFill>
                <a:latin typeface="Satoshi"/>
              </a:rPr>
              <a:t>&gt;  Construction milestone triggers</a:t>
            </a:r>
          </a:p>
        </p:txBody>
      </p:sp>
      <p:sp>
        <p:nvSpPr>
          <p:cNvPr id="25" name="TextBox 24"/>
          <p:cNvSpPr txBox="1"/>
          <p:nvPr/>
        </p:nvSpPr>
        <p:spPr>
          <a:xfrm>
            <a:off x="4544568" y="4773168"/>
            <a:ext cx="3108960" cy="237744"/>
          </a:xfrm>
          <a:prstGeom prst="rect">
            <a:avLst/>
          </a:prstGeom>
          <a:noFill/>
        </p:spPr>
        <p:txBody>
          <a:bodyPr wrap="square">
            <a:spAutoFit/>
          </a:bodyPr>
          <a:lstStyle/>
          <a:p>
            <a:pPr algn="l"/>
            <a:r>
              <a:rPr sz="1000" b="0" i="0">
                <a:solidFill>
                  <a:srgbClr val="6B6B6E"/>
                </a:solidFill>
                <a:latin typeface="Satoshi"/>
              </a:rPr>
              <a:t>&gt;  Market update automation</a:t>
            </a:r>
          </a:p>
        </p:txBody>
      </p:sp>
      <p:sp>
        <p:nvSpPr>
          <p:cNvPr id="26" name="TextBox 25"/>
          <p:cNvSpPr txBox="1"/>
          <p:nvPr/>
        </p:nvSpPr>
        <p:spPr>
          <a:xfrm>
            <a:off x="4544568" y="5047488"/>
            <a:ext cx="3108960" cy="237744"/>
          </a:xfrm>
          <a:prstGeom prst="rect">
            <a:avLst/>
          </a:prstGeom>
          <a:noFill/>
        </p:spPr>
        <p:txBody>
          <a:bodyPr wrap="square">
            <a:spAutoFit/>
          </a:bodyPr>
          <a:lstStyle/>
          <a:p>
            <a:pPr algn="l"/>
            <a:r>
              <a:rPr sz="1000" b="0" i="0">
                <a:solidFill>
                  <a:srgbClr val="6B6B6E"/>
                </a:solidFill>
                <a:latin typeface="Satoshi"/>
              </a:rPr>
              <a:t>&gt;  LinkedIn content calendar</a:t>
            </a:r>
          </a:p>
        </p:txBody>
      </p:sp>
      <p:sp>
        <p:nvSpPr>
          <p:cNvPr id="27" name="Rounded Rectangle 26"/>
          <p:cNvSpPr/>
          <p:nvPr/>
        </p:nvSpPr>
        <p:spPr>
          <a:xfrm>
            <a:off x="7946136" y="2743200"/>
            <a:ext cx="3474720" cy="342900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174736" y="2880360"/>
            <a:ext cx="3108960" cy="256032"/>
          </a:xfrm>
          <a:prstGeom prst="rect">
            <a:avLst/>
          </a:prstGeom>
          <a:noFill/>
        </p:spPr>
        <p:txBody>
          <a:bodyPr wrap="square">
            <a:spAutoFit/>
          </a:bodyPr>
          <a:lstStyle/>
          <a:p>
            <a:pPr algn="l"/>
            <a:r>
              <a:rPr sz="900" b="1" i="0">
                <a:solidFill>
                  <a:srgbClr val="A78BFA"/>
                </a:solidFill>
                <a:latin typeface="Satoshi"/>
              </a:rPr>
              <a:t>PHASE 03  .  Weeks 4-5</a:t>
            </a:r>
          </a:p>
        </p:txBody>
      </p:sp>
      <p:sp>
        <p:nvSpPr>
          <p:cNvPr id="29" name="TextBox 28"/>
          <p:cNvSpPr txBox="1"/>
          <p:nvPr/>
        </p:nvSpPr>
        <p:spPr>
          <a:xfrm>
            <a:off x="8174736" y="3200400"/>
            <a:ext cx="3108960" cy="384048"/>
          </a:xfrm>
          <a:prstGeom prst="rect">
            <a:avLst/>
          </a:prstGeom>
          <a:noFill/>
        </p:spPr>
        <p:txBody>
          <a:bodyPr wrap="square">
            <a:spAutoFit/>
          </a:bodyPr>
          <a:lstStyle/>
          <a:p>
            <a:pPr algn="l"/>
            <a:r>
              <a:rPr sz="1500" b="0" i="0">
                <a:solidFill>
                  <a:srgbClr val="FFFFFF"/>
                </a:solidFill>
                <a:latin typeface="Instrument Serif"/>
              </a:rPr>
              <a:t>CRM Pipeline + Reporting</a:t>
            </a:r>
          </a:p>
        </p:txBody>
      </p:sp>
      <p:sp>
        <p:nvSpPr>
          <p:cNvPr id="30" name="TextBox 29"/>
          <p:cNvSpPr txBox="1"/>
          <p:nvPr/>
        </p:nvSpPr>
        <p:spPr>
          <a:xfrm>
            <a:off x="8174736" y="3657600"/>
            <a:ext cx="3108960" cy="475488"/>
          </a:xfrm>
          <a:prstGeom prst="rect">
            <a:avLst/>
          </a:prstGeom>
          <a:noFill/>
        </p:spPr>
        <p:txBody>
          <a:bodyPr wrap="square">
            <a:spAutoFit/>
          </a:bodyPr>
          <a:lstStyle/>
          <a:p>
            <a:pPr algn="l"/>
            <a:r>
              <a:rPr sz="1100" b="0" i="0">
                <a:solidFill>
                  <a:srgbClr val="9D9D9F"/>
                </a:solidFill>
                <a:latin typeface="Satoshi"/>
              </a:rPr>
              <a:t>Full CRM setup with automated deal stage tracking, follow-up reminders, communication history, and weekly pipeline reporting for Laud and Maxwell.</a:t>
            </a:r>
          </a:p>
        </p:txBody>
      </p:sp>
      <p:sp>
        <p:nvSpPr>
          <p:cNvPr id="31" name="TextBox 30"/>
          <p:cNvSpPr txBox="1"/>
          <p:nvPr/>
        </p:nvSpPr>
        <p:spPr>
          <a:xfrm>
            <a:off x="8174736" y="4224528"/>
            <a:ext cx="3108960" cy="237744"/>
          </a:xfrm>
          <a:prstGeom prst="rect">
            <a:avLst/>
          </a:prstGeom>
          <a:noFill/>
        </p:spPr>
        <p:txBody>
          <a:bodyPr wrap="square">
            <a:spAutoFit/>
          </a:bodyPr>
          <a:lstStyle/>
          <a:p>
            <a:pPr algn="l"/>
            <a:r>
              <a:rPr sz="1000" b="0" i="0">
                <a:solidFill>
                  <a:srgbClr val="6B6B6E"/>
                </a:solidFill>
                <a:latin typeface="Satoshi"/>
              </a:rPr>
              <a:t>&gt;  CRM pipeline configuration</a:t>
            </a:r>
          </a:p>
        </p:txBody>
      </p:sp>
      <p:sp>
        <p:nvSpPr>
          <p:cNvPr id="32" name="TextBox 31"/>
          <p:cNvSpPr txBox="1"/>
          <p:nvPr/>
        </p:nvSpPr>
        <p:spPr>
          <a:xfrm>
            <a:off x="8174736" y="4498848"/>
            <a:ext cx="3108960" cy="237744"/>
          </a:xfrm>
          <a:prstGeom prst="rect">
            <a:avLst/>
          </a:prstGeom>
          <a:noFill/>
        </p:spPr>
        <p:txBody>
          <a:bodyPr wrap="square">
            <a:spAutoFit/>
          </a:bodyPr>
          <a:lstStyle/>
          <a:p>
            <a:pPr algn="l"/>
            <a:r>
              <a:rPr sz="1000" b="0" i="0">
                <a:solidFill>
                  <a:srgbClr val="6B6B6E"/>
                </a:solidFill>
                <a:latin typeface="Satoshi"/>
              </a:rPr>
              <a:t>&gt;  Automated stage tracking</a:t>
            </a:r>
          </a:p>
        </p:txBody>
      </p:sp>
      <p:sp>
        <p:nvSpPr>
          <p:cNvPr id="33" name="TextBox 32"/>
          <p:cNvSpPr txBox="1"/>
          <p:nvPr/>
        </p:nvSpPr>
        <p:spPr>
          <a:xfrm>
            <a:off x="8174736" y="4773168"/>
            <a:ext cx="3108960" cy="237744"/>
          </a:xfrm>
          <a:prstGeom prst="rect">
            <a:avLst/>
          </a:prstGeom>
          <a:noFill/>
        </p:spPr>
        <p:txBody>
          <a:bodyPr wrap="square">
            <a:spAutoFit/>
          </a:bodyPr>
          <a:lstStyle/>
          <a:p>
            <a:pPr algn="l"/>
            <a:r>
              <a:rPr sz="1000" b="0" i="0">
                <a:solidFill>
                  <a:srgbClr val="6B6B6E"/>
                </a:solidFill>
                <a:latin typeface="Satoshi"/>
              </a:rPr>
              <a:t>&gt;  Follow-up reminder sequences</a:t>
            </a:r>
          </a:p>
        </p:txBody>
      </p:sp>
      <p:sp>
        <p:nvSpPr>
          <p:cNvPr id="34" name="TextBox 33"/>
          <p:cNvSpPr txBox="1"/>
          <p:nvPr/>
        </p:nvSpPr>
        <p:spPr>
          <a:xfrm>
            <a:off x="8174736" y="5047488"/>
            <a:ext cx="3108960" cy="237744"/>
          </a:xfrm>
          <a:prstGeom prst="rect">
            <a:avLst/>
          </a:prstGeom>
          <a:noFill/>
        </p:spPr>
        <p:txBody>
          <a:bodyPr wrap="square">
            <a:spAutoFit/>
          </a:bodyPr>
          <a:lstStyle/>
          <a:p>
            <a:pPr algn="l"/>
            <a:r>
              <a:rPr sz="1000" b="0" i="0">
                <a:solidFill>
                  <a:srgbClr val="6B6B6E"/>
                </a:solidFill>
                <a:latin typeface="Satoshi"/>
              </a:rPr>
              <a:t>&gt;  Communication history logging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Rectangle 1"/>
          <p:cNvSpPr/>
          <p:nvPr/>
        </p:nvSpPr>
        <p:spPr>
          <a:xfrm>
            <a:off x="0" y="0"/>
            <a:ext cx="12188952" cy="3810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777240"/>
            <a:ext cx="5486400" cy="274320"/>
          </a:xfrm>
          <a:prstGeom prst="rect">
            <a:avLst/>
          </a:prstGeom>
          <a:noFill/>
        </p:spPr>
        <p:txBody>
          <a:bodyPr wrap="square">
            <a:spAutoFit/>
          </a:bodyPr>
          <a:lstStyle/>
          <a:p>
            <a:pPr algn="l"/>
            <a:r>
              <a:rPr sz="1000" b="1" i="0">
                <a:solidFill>
                  <a:srgbClr val="A78BFA"/>
                </a:solidFill>
                <a:latin typeface="Satoshi"/>
              </a:rPr>
              <a:t>WHO IS BEHIND THIS</a:t>
            </a:r>
          </a:p>
        </p:txBody>
      </p:sp>
      <p:sp>
        <p:nvSpPr>
          <p:cNvPr id="4" name="TextBox 3"/>
          <p:cNvSpPr txBox="1"/>
          <p:nvPr/>
        </p:nvSpPr>
        <p:spPr>
          <a:xfrm>
            <a:off x="685800" y="1078992"/>
            <a:ext cx="9144000" cy="1463040"/>
          </a:xfrm>
          <a:prstGeom prst="rect">
            <a:avLst/>
          </a:prstGeom>
          <a:noFill/>
        </p:spPr>
        <p:txBody>
          <a:bodyPr wrap="square">
            <a:spAutoFit/>
          </a:bodyPr>
          <a:lstStyle/>
          <a:p>
            <a:pPr algn="l"/>
            <a:r>
              <a:rPr sz="4000" b="0" i="0">
                <a:solidFill>
                  <a:srgbClr val="FFFFFF"/>
                </a:solidFill>
                <a:latin typeface="Instrument Serif"/>
              </a:rPr>
              <a:t>GenosAI Tech</a:t>
            </a:r>
          </a:p>
        </p:txBody>
      </p:sp>
      <p:sp>
        <p:nvSpPr>
          <p:cNvPr id="5" name="TextBox 4"/>
          <p:cNvSpPr txBox="1"/>
          <p:nvPr/>
        </p:nvSpPr>
        <p:spPr>
          <a:xfrm>
            <a:off x="685800" y="2029968"/>
            <a:ext cx="5943600" cy="603504"/>
          </a:xfrm>
          <a:prstGeom prst="rect">
            <a:avLst/>
          </a:prstGeom>
          <a:noFill/>
        </p:spPr>
        <p:txBody>
          <a:bodyPr wrap="square">
            <a:spAutoFit/>
          </a:bodyPr>
          <a:lstStyle/>
          <a:p>
            <a:pPr algn="l"/>
            <a:r>
              <a:rPr sz="1300" b="0" i="0">
                <a:solidFill>
                  <a:srgbClr val="86868A"/>
                </a:solidFill>
                <a:latin typeface="Satoshi"/>
              </a:rPr>
              <a:t>GenosAI builds AI automation for real estate developers targeting diaspora and international buyers. We build WhatsApp qualification AI, investor nurture systems, social content automation, property chatbots, and CRM pipelines -- production-grade from week one, built to close the gap between overseas interest and signed deals.</a:t>
            </a:r>
          </a:p>
        </p:txBody>
      </p:sp>
      <p:sp>
        <p:nvSpPr>
          <p:cNvPr id="6" name="Rectangle 5"/>
          <p:cNvSpPr/>
          <p:nvPr/>
        </p:nvSpPr>
        <p:spPr>
          <a:xfrm>
            <a:off x="685800" y="2761488"/>
            <a:ext cx="5486400"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926080"/>
            <a:ext cx="3657600" cy="256032"/>
          </a:xfrm>
          <a:prstGeom prst="rect">
            <a:avLst/>
          </a:prstGeom>
          <a:noFill/>
        </p:spPr>
        <p:txBody>
          <a:bodyPr wrap="square">
            <a:spAutoFit/>
          </a:bodyPr>
          <a:lstStyle/>
          <a:p>
            <a:pPr algn="l"/>
            <a:r>
              <a:rPr sz="900" b="1" i="0">
                <a:solidFill>
                  <a:srgbClr val="6B6B6E"/>
                </a:solidFill>
                <a:latin typeface="Satoshi"/>
              </a:rPr>
              <a:t>WHAT WE BUILD</a:t>
            </a:r>
          </a:p>
        </p:txBody>
      </p:sp>
      <p:sp>
        <p:nvSpPr>
          <p:cNvPr id="8" name="TextBox 7"/>
          <p:cNvSpPr txBox="1"/>
          <p:nvPr/>
        </p:nvSpPr>
        <p:spPr>
          <a:xfrm>
            <a:off x="685800" y="3273552"/>
            <a:ext cx="228600" cy="237744"/>
          </a:xfrm>
          <a:prstGeom prst="rect">
            <a:avLst/>
          </a:prstGeom>
          <a:noFill/>
        </p:spPr>
        <p:txBody>
          <a:bodyPr wrap="square">
            <a:spAutoFit/>
          </a:bodyPr>
          <a:lstStyle/>
          <a:p>
            <a:pPr algn="l"/>
            <a:r>
              <a:rPr sz="1300" b="1" i="0">
                <a:solidFill>
                  <a:srgbClr val="A78BFA"/>
                </a:solidFill>
                <a:latin typeface="Satoshi"/>
              </a:rPr>
              <a:t>o</a:t>
            </a:r>
          </a:p>
        </p:txBody>
      </p:sp>
      <p:sp>
        <p:nvSpPr>
          <p:cNvPr id="9" name="TextBox 8"/>
          <p:cNvSpPr txBox="1"/>
          <p:nvPr/>
        </p:nvSpPr>
        <p:spPr>
          <a:xfrm>
            <a:off x="960120" y="3273552"/>
            <a:ext cx="4754880" cy="237744"/>
          </a:xfrm>
          <a:prstGeom prst="rect">
            <a:avLst/>
          </a:prstGeom>
          <a:noFill/>
        </p:spPr>
        <p:txBody>
          <a:bodyPr wrap="square">
            <a:spAutoFit/>
          </a:bodyPr>
          <a:lstStyle/>
          <a:p>
            <a:pPr algn="l"/>
            <a:r>
              <a:rPr sz="1200" b="1" i="0">
                <a:solidFill>
                  <a:srgbClr val="FFFFFF"/>
                </a:solidFill>
                <a:latin typeface="Satoshi"/>
              </a:rPr>
              <a:t>WhatsApp Lead AI</a:t>
            </a:r>
          </a:p>
        </p:txBody>
      </p:sp>
      <p:sp>
        <p:nvSpPr>
          <p:cNvPr id="10" name="TextBox 9"/>
          <p:cNvSpPr txBox="1"/>
          <p:nvPr/>
        </p:nvSpPr>
        <p:spPr>
          <a:xfrm>
            <a:off x="960120" y="3520440"/>
            <a:ext cx="4754880" cy="347472"/>
          </a:xfrm>
          <a:prstGeom prst="rect">
            <a:avLst/>
          </a:prstGeom>
          <a:noFill/>
        </p:spPr>
        <p:txBody>
          <a:bodyPr wrap="square">
            <a:spAutoFit/>
          </a:bodyPr>
          <a:lstStyle/>
          <a:p>
            <a:pPr algn="l"/>
            <a:r>
              <a:rPr sz="1100" b="0" i="0">
                <a:solidFill>
                  <a:srgbClr val="9D9D9F"/>
                </a:solidFill>
                <a:latin typeface="Satoshi"/>
              </a:rPr>
              <a:t>24/7 buyer qualification -- any time zone, any hour.</a:t>
            </a:r>
          </a:p>
        </p:txBody>
      </p:sp>
      <p:sp>
        <p:nvSpPr>
          <p:cNvPr id="11" name="TextBox 10"/>
          <p:cNvSpPr txBox="1"/>
          <p:nvPr/>
        </p:nvSpPr>
        <p:spPr>
          <a:xfrm>
            <a:off x="685800" y="3931920"/>
            <a:ext cx="228600" cy="237744"/>
          </a:xfrm>
          <a:prstGeom prst="rect">
            <a:avLst/>
          </a:prstGeom>
          <a:noFill/>
        </p:spPr>
        <p:txBody>
          <a:bodyPr wrap="square">
            <a:spAutoFit/>
          </a:bodyPr>
          <a:lstStyle/>
          <a:p>
            <a:pPr algn="l"/>
            <a:r>
              <a:rPr sz="1300" b="1" i="0">
                <a:solidFill>
                  <a:srgbClr val="A78BFA"/>
                </a:solidFill>
                <a:latin typeface="Satoshi"/>
              </a:rPr>
              <a:t>o</a:t>
            </a:r>
          </a:p>
        </p:txBody>
      </p:sp>
      <p:sp>
        <p:nvSpPr>
          <p:cNvPr id="12" name="TextBox 11"/>
          <p:cNvSpPr txBox="1"/>
          <p:nvPr/>
        </p:nvSpPr>
        <p:spPr>
          <a:xfrm>
            <a:off x="960120" y="3931920"/>
            <a:ext cx="4754880" cy="237744"/>
          </a:xfrm>
          <a:prstGeom prst="rect">
            <a:avLst/>
          </a:prstGeom>
          <a:noFill/>
        </p:spPr>
        <p:txBody>
          <a:bodyPr wrap="square">
            <a:spAutoFit/>
          </a:bodyPr>
          <a:lstStyle/>
          <a:p>
            <a:pPr algn="l"/>
            <a:r>
              <a:rPr sz="1200" b="1" i="0">
                <a:solidFill>
                  <a:srgbClr val="FFFFFF"/>
                </a:solidFill>
                <a:latin typeface="Satoshi"/>
              </a:rPr>
              <a:t>Investor Nurture Systems</a:t>
            </a:r>
          </a:p>
        </p:txBody>
      </p:sp>
      <p:sp>
        <p:nvSpPr>
          <p:cNvPr id="13" name="TextBox 12"/>
          <p:cNvSpPr txBox="1"/>
          <p:nvPr/>
        </p:nvSpPr>
        <p:spPr>
          <a:xfrm>
            <a:off x="960120" y="4178808"/>
            <a:ext cx="4754880" cy="347472"/>
          </a:xfrm>
          <a:prstGeom prst="rect">
            <a:avLst/>
          </a:prstGeom>
          <a:noFill/>
        </p:spPr>
        <p:txBody>
          <a:bodyPr wrap="square">
            <a:spAutoFit/>
          </a:bodyPr>
          <a:lstStyle/>
          <a:p>
            <a:pPr algn="l"/>
            <a:r>
              <a:rPr sz="1100" b="0" i="0">
                <a:solidFill>
                  <a:srgbClr val="9D9D9F"/>
                </a:solidFill>
                <a:latin typeface="Satoshi"/>
              </a:rPr>
              <a:t>12-week automated sequences that close on the 4th contact.</a:t>
            </a:r>
          </a:p>
        </p:txBody>
      </p:sp>
      <p:sp>
        <p:nvSpPr>
          <p:cNvPr id="14" name="TextBox 13"/>
          <p:cNvSpPr txBox="1"/>
          <p:nvPr/>
        </p:nvSpPr>
        <p:spPr>
          <a:xfrm>
            <a:off x="685800" y="4590288"/>
            <a:ext cx="228600" cy="237744"/>
          </a:xfrm>
          <a:prstGeom prst="rect">
            <a:avLst/>
          </a:prstGeom>
          <a:noFill/>
        </p:spPr>
        <p:txBody>
          <a:bodyPr wrap="square">
            <a:spAutoFit/>
          </a:bodyPr>
          <a:lstStyle/>
          <a:p>
            <a:pPr algn="l"/>
            <a:r>
              <a:rPr sz="1300" b="1" i="0">
                <a:solidFill>
                  <a:srgbClr val="A78BFA"/>
                </a:solidFill>
                <a:latin typeface="Satoshi"/>
              </a:rPr>
              <a:t>o</a:t>
            </a:r>
          </a:p>
        </p:txBody>
      </p:sp>
      <p:sp>
        <p:nvSpPr>
          <p:cNvPr id="15" name="TextBox 14"/>
          <p:cNvSpPr txBox="1"/>
          <p:nvPr/>
        </p:nvSpPr>
        <p:spPr>
          <a:xfrm>
            <a:off x="960120" y="4590288"/>
            <a:ext cx="4754880" cy="237744"/>
          </a:xfrm>
          <a:prstGeom prst="rect">
            <a:avLst/>
          </a:prstGeom>
          <a:noFill/>
        </p:spPr>
        <p:txBody>
          <a:bodyPr wrap="square">
            <a:spAutoFit/>
          </a:bodyPr>
          <a:lstStyle/>
          <a:p>
            <a:pPr algn="l"/>
            <a:r>
              <a:rPr sz="1200" b="1" i="0">
                <a:solidFill>
                  <a:srgbClr val="FFFFFF"/>
                </a:solidFill>
                <a:latin typeface="Satoshi"/>
              </a:rPr>
              <a:t>Social Content AI</a:t>
            </a:r>
          </a:p>
        </p:txBody>
      </p:sp>
      <p:sp>
        <p:nvSpPr>
          <p:cNvPr id="16" name="TextBox 15"/>
          <p:cNvSpPr txBox="1"/>
          <p:nvPr/>
        </p:nvSpPr>
        <p:spPr>
          <a:xfrm>
            <a:off x="960120" y="4837176"/>
            <a:ext cx="4754880" cy="347472"/>
          </a:xfrm>
          <a:prstGeom prst="rect">
            <a:avLst/>
          </a:prstGeom>
          <a:noFill/>
        </p:spPr>
        <p:txBody>
          <a:bodyPr wrap="square">
            <a:spAutoFit/>
          </a:bodyPr>
          <a:lstStyle/>
          <a:p>
            <a:pPr algn="l"/>
            <a:r>
              <a:rPr sz="1100" b="0" i="0">
                <a:solidFill>
                  <a:srgbClr val="9D9D9F"/>
                </a:solidFill>
                <a:latin typeface="Satoshi"/>
              </a:rPr>
              <a:t>LinkedIn and Instagram on autopilot -- audience built passively.</a:t>
            </a:r>
          </a:p>
        </p:txBody>
      </p:sp>
      <p:sp>
        <p:nvSpPr>
          <p:cNvPr id="17" name="TextBox 16"/>
          <p:cNvSpPr txBox="1"/>
          <p:nvPr/>
        </p:nvSpPr>
        <p:spPr>
          <a:xfrm>
            <a:off x="685800" y="5248656"/>
            <a:ext cx="228600" cy="237744"/>
          </a:xfrm>
          <a:prstGeom prst="rect">
            <a:avLst/>
          </a:prstGeom>
          <a:noFill/>
        </p:spPr>
        <p:txBody>
          <a:bodyPr wrap="square">
            <a:spAutoFit/>
          </a:bodyPr>
          <a:lstStyle/>
          <a:p>
            <a:pPr algn="l"/>
            <a:r>
              <a:rPr sz="1300" b="1" i="0">
                <a:solidFill>
                  <a:srgbClr val="A78BFA"/>
                </a:solidFill>
                <a:latin typeface="Satoshi"/>
              </a:rPr>
              <a:t>o</a:t>
            </a:r>
          </a:p>
        </p:txBody>
      </p:sp>
      <p:sp>
        <p:nvSpPr>
          <p:cNvPr id="18" name="TextBox 17"/>
          <p:cNvSpPr txBox="1"/>
          <p:nvPr/>
        </p:nvSpPr>
        <p:spPr>
          <a:xfrm>
            <a:off x="960120" y="5248656"/>
            <a:ext cx="4754880" cy="237744"/>
          </a:xfrm>
          <a:prstGeom prst="rect">
            <a:avLst/>
          </a:prstGeom>
          <a:noFill/>
        </p:spPr>
        <p:txBody>
          <a:bodyPr wrap="square">
            <a:spAutoFit/>
          </a:bodyPr>
          <a:lstStyle/>
          <a:p>
            <a:pPr algn="l"/>
            <a:r>
              <a:rPr sz="1200" b="1" i="0">
                <a:solidFill>
                  <a:srgbClr val="FFFFFF"/>
                </a:solidFill>
                <a:latin typeface="Satoshi"/>
              </a:rPr>
              <a:t>Property Chatbot</a:t>
            </a:r>
          </a:p>
        </p:txBody>
      </p:sp>
      <p:sp>
        <p:nvSpPr>
          <p:cNvPr id="19" name="TextBox 18"/>
          <p:cNvSpPr txBox="1"/>
          <p:nvPr/>
        </p:nvSpPr>
        <p:spPr>
          <a:xfrm>
            <a:off x="960120" y="5495544"/>
            <a:ext cx="4754880" cy="347472"/>
          </a:xfrm>
          <a:prstGeom prst="rect">
            <a:avLst/>
          </a:prstGeom>
          <a:noFill/>
        </p:spPr>
        <p:txBody>
          <a:bodyPr wrap="square">
            <a:spAutoFit/>
          </a:bodyPr>
          <a:lstStyle/>
          <a:p>
            <a:pPr algn="l"/>
            <a:r>
              <a:rPr sz="1100" b="0" i="0">
                <a:solidFill>
                  <a:srgbClr val="9D9D9F"/>
                </a:solidFill>
                <a:latin typeface="Satoshi"/>
              </a:rPr>
              <a:t>24/7 inquiry, floor plans, and viewing bookings on the website.</a:t>
            </a:r>
          </a:p>
        </p:txBody>
      </p:sp>
      <p:sp>
        <p:nvSpPr>
          <p:cNvPr id="20" name="TextBox 19"/>
          <p:cNvSpPr txBox="1"/>
          <p:nvPr/>
        </p:nvSpPr>
        <p:spPr>
          <a:xfrm>
            <a:off x="685800" y="5907024"/>
            <a:ext cx="228600" cy="237744"/>
          </a:xfrm>
          <a:prstGeom prst="rect">
            <a:avLst/>
          </a:prstGeom>
          <a:noFill/>
        </p:spPr>
        <p:txBody>
          <a:bodyPr wrap="square">
            <a:spAutoFit/>
          </a:bodyPr>
          <a:lstStyle/>
          <a:p>
            <a:pPr algn="l"/>
            <a:r>
              <a:rPr sz="1300" b="1" i="0">
                <a:solidFill>
                  <a:srgbClr val="A78BFA"/>
                </a:solidFill>
                <a:latin typeface="Satoshi"/>
              </a:rPr>
              <a:t>o</a:t>
            </a:r>
          </a:p>
        </p:txBody>
      </p:sp>
      <p:sp>
        <p:nvSpPr>
          <p:cNvPr id="21" name="TextBox 20"/>
          <p:cNvSpPr txBox="1"/>
          <p:nvPr/>
        </p:nvSpPr>
        <p:spPr>
          <a:xfrm>
            <a:off x="960120" y="5907024"/>
            <a:ext cx="4754880" cy="237744"/>
          </a:xfrm>
          <a:prstGeom prst="rect">
            <a:avLst/>
          </a:prstGeom>
          <a:noFill/>
        </p:spPr>
        <p:txBody>
          <a:bodyPr wrap="square">
            <a:spAutoFit/>
          </a:bodyPr>
          <a:lstStyle/>
          <a:p>
            <a:pPr algn="l"/>
            <a:r>
              <a:rPr sz="1200" b="1" i="0">
                <a:solidFill>
                  <a:srgbClr val="FFFFFF"/>
                </a:solidFill>
                <a:latin typeface="Satoshi"/>
              </a:rPr>
              <a:t>CRM Pipeline Automation</a:t>
            </a:r>
          </a:p>
        </p:txBody>
      </p:sp>
      <p:sp>
        <p:nvSpPr>
          <p:cNvPr id="22" name="TextBox 21"/>
          <p:cNvSpPr txBox="1"/>
          <p:nvPr/>
        </p:nvSpPr>
        <p:spPr>
          <a:xfrm>
            <a:off x="960120" y="6153912"/>
            <a:ext cx="4754880" cy="347472"/>
          </a:xfrm>
          <a:prstGeom prst="rect">
            <a:avLst/>
          </a:prstGeom>
          <a:noFill/>
        </p:spPr>
        <p:txBody>
          <a:bodyPr wrap="square">
            <a:spAutoFit/>
          </a:bodyPr>
          <a:lstStyle/>
          <a:p>
            <a:pPr algn="l"/>
            <a:r>
              <a:rPr sz="1100" b="0" i="0">
                <a:solidFill>
                  <a:srgbClr val="9D9D9F"/>
                </a:solidFill>
                <a:latin typeface="Satoshi"/>
              </a:rPr>
              <a:t>Every buyer tracked from first message to signed contract.</a:t>
            </a:r>
          </a:p>
        </p:txBody>
      </p:sp>
      <p:sp>
        <p:nvSpPr>
          <p:cNvPr id="23" name="Rounded Rectangle 22"/>
          <p:cNvSpPr/>
          <p:nvPr/>
        </p:nvSpPr>
        <p:spPr>
          <a:xfrm>
            <a:off x="6858000" y="1005840"/>
            <a:ext cx="4617720" cy="525780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86600" y="1234440"/>
            <a:ext cx="4206240" cy="320040"/>
          </a:xfrm>
          <a:prstGeom prst="rect">
            <a:avLst/>
          </a:prstGeom>
          <a:noFill/>
        </p:spPr>
        <p:txBody>
          <a:bodyPr wrap="square">
            <a:spAutoFit/>
          </a:bodyPr>
          <a:lstStyle/>
          <a:p>
            <a:pPr algn="l"/>
            <a:r>
              <a:rPr sz="900" b="1" i="0">
                <a:solidFill>
                  <a:srgbClr val="6B6B6E"/>
                </a:solidFill>
                <a:latin typeface="Satoshi"/>
              </a:rPr>
              <a:t>CLOSING NOTE</a:t>
            </a:r>
          </a:p>
        </p:txBody>
      </p:sp>
      <p:sp>
        <p:nvSpPr>
          <p:cNvPr id="25" name="TextBox 24"/>
          <p:cNvSpPr txBox="1"/>
          <p:nvPr/>
        </p:nvSpPr>
        <p:spPr>
          <a:xfrm>
            <a:off x="6949440" y="1572768"/>
            <a:ext cx="365760" cy="502920"/>
          </a:xfrm>
          <a:prstGeom prst="rect">
            <a:avLst/>
          </a:prstGeom>
          <a:noFill/>
        </p:spPr>
        <p:txBody>
          <a:bodyPr wrap="square">
            <a:spAutoFit/>
          </a:bodyPr>
          <a:lstStyle/>
          <a:p>
            <a:pPr algn="l"/>
            <a:r>
              <a:rPr sz="2800" b="0" i="0">
                <a:solidFill>
                  <a:srgbClr val="A78BFA"/>
                </a:solidFill>
                <a:latin typeface="Instrument Serif"/>
              </a:rPr>
              <a:t>"</a:t>
            </a:r>
          </a:p>
        </p:txBody>
      </p:sp>
      <p:sp>
        <p:nvSpPr>
          <p:cNvPr id="26" name="TextBox 25"/>
          <p:cNvSpPr txBox="1"/>
          <p:nvPr/>
        </p:nvSpPr>
        <p:spPr>
          <a:xfrm>
            <a:off x="7269480" y="1627632"/>
            <a:ext cx="3931920" cy="960120"/>
          </a:xfrm>
          <a:prstGeom prst="rect">
            <a:avLst/>
          </a:prstGeom>
          <a:noFill/>
        </p:spPr>
        <p:txBody>
          <a:bodyPr wrap="square">
            <a:spAutoFit/>
          </a:bodyPr>
          <a:lstStyle/>
          <a:p>
            <a:pPr algn="l"/>
            <a:r>
              <a:rPr sz="1400" b="0" i="1">
                <a:solidFill>
                  <a:srgbClr val="FFFFFF"/>
                </a:solidFill>
                <a:latin typeface="Instrument Serif"/>
              </a:rPr>
              <a:t>Regnum Properties is built on a globally ambitious thesis -- luxury Accra real estate for the diaspora. The automation layer ensures that thesis converts into signed deals, not just inbound interest.</a:t>
            </a:r>
          </a:p>
        </p:txBody>
      </p:sp>
      <p:sp>
        <p:nvSpPr>
          <p:cNvPr id="27" name="Rectangle 26"/>
          <p:cNvSpPr/>
          <p:nvPr/>
        </p:nvSpPr>
        <p:spPr>
          <a:xfrm>
            <a:off x="7086600" y="2670048"/>
            <a:ext cx="4069080"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086600" y="2852928"/>
            <a:ext cx="4114800" cy="256032"/>
          </a:xfrm>
          <a:prstGeom prst="rect">
            <a:avLst/>
          </a:prstGeom>
          <a:noFill/>
        </p:spPr>
        <p:txBody>
          <a:bodyPr wrap="square">
            <a:spAutoFit/>
          </a:bodyPr>
          <a:lstStyle/>
          <a:p>
            <a:pPr algn="l"/>
            <a:r>
              <a:rPr sz="900" b="1" i="0">
                <a:solidFill>
                  <a:srgbClr val="A78BFA"/>
                </a:solidFill>
                <a:latin typeface="Satoshi"/>
              </a:rPr>
              <a:t>NEXT STEPS</a:t>
            </a:r>
          </a:p>
        </p:txBody>
      </p:sp>
      <p:sp>
        <p:nvSpPr>
          <p:cNvPr id="29" name="TextBox 28"/>
          <p:cNvSpPr txBox="1"/>
          <p:nvPr/>
        </p:nvSpPr>
        <p:spPr>
          <a:xfrm>
            <a:off x="7086600" y="3200400"/>
            <a:ext cx="365760" cy="274320"/>
          </a:xfrm>
          <a:prstGeom prst="rect">
            <a:avLst/>
          </a:prstGeom>
          <a:noFill/>
        </p:spPr>
        <p:txBody>
          <a:bodyPr wrap="square">
            <a:spAutoFit/>
          </a:bodyPr>
          <a:lstStyle/>
          <a:p>
            <a:pPr algn="l"/>
            <a:r>
              <a:rPr sz="1400" b="0" i="0">
                <a:solidFill>
                  <a:srgbClr val="A78BFA"/>
                </a:solidFill>
                <a:latin typeface="Instrument Serif"/>
              </a:rPr>
              <a:t>01</a:t>
            </a:r>
          </a:p>
        </p:txBody>
      </p:sp>
      <p:sp>
        <p:nvSpPr>
          <p:cNvPr id="30" name="TextBox 29"/>
          <p:cNvSpPr txBox="1"/>
          <p:nvPr/>
        </p:nvSpPr>
        <p:spPr>
          <a:xfrm>
            <a:off x="7498079" y="3218688"/>
            <a:ext cx="3794760" cy="457200"/>
          </a:xfrm>
          <a:prstGeom prst="rect">
            <a:avLst/>
          </a:prstGeom>
          <a:noFill/>
        </p:spPr>
        <p:txBody>
          <a:bodyPr wrap="square">
            <a:spAutoFit/>
          </a:bodyPr>
          <a:lstStyle/>
          <a:p>
            <a:pPr algn="l"/>
            <a:r>
              <a:rPr sz="1200" b="0" i="0">
                <a:solidFill>
                  <a:srgbClr val="9D9D9F"/>
                </a:solidFill>
                <a:latin typeface="Satoshi"/>
              </a:rPr>
              <a:t>20-minute call to confirm scope and integration points.</a:t>
            </a:r>
          </a:p>
        </p:txBody>
      </p:sp>
      <p:sp>
        <p:nvSpPr>
          <p:cNvPr id="31" name="TextBox 30"/>
          <p:cNvSpPr txBox="1"/>
          <p:nvPr/>
        </p:nvSpPr>
        <p:spPr>
          <a:xfrm>
            <a:off x="7086600" y="3767328"/>
            <a:ext cx="365760" cy="274320"/>
          </a:xfrm>
          <a:prstGeom prst="rect">
            <a:avLst/>
          </a:prstGeom>
          <a:noFill/>
        </p:spPr>
        <p:txBody>
          <a:bodyPr wrap="square">
            <a:spAutoFit/>
          </a:bodyPr>
          <a:lstStyle/>
          <a:p>
            <a:pPr algn="l"/>
            <a:r>
              <a:rPr sz="1400" b="0" i="0">
                <a:solidFill>
                  <a:srgbClr val="A78BFA"/>
                </a:solidFill>
                <a:latin typeface="Instrument Serif"/>
              </a:rPr>
              <a:t>02</a:t>
            </a:r>
          </a:p>
        </p:txBody>
      </p:sp>
      <p:sp>
        <p:nvSpPr>
          <p:cNvPr id="32" name="TextBox 31"/>
          <p:cNvSpPr txBox="1"/>
          <p:nvPr/>
        </p:nvSpPr>
        <p:spPr>
          <a:xfrm>
            <a:off x="7498079" y="3785616"/>
            <a:ext cx="3794760" cy="457200"/>
          </a:xfrm>
          <a:prstGeom prst="rect">
            <a:avLst/>
          </a:prstGeom>
          <a:noFill/>
        </p:spPr>
        <p:txBody>
          <a:bodyPr wrap="square">
            <a:spAutoFit/>
          </a:bodyPr>
          <a:lstStyle/>
          <a:p>
            <a:pPr algn="l"/>
            <a:r>
              <a:rPr sz="1200" b="0" i="0">
                <a:solidFill>
                  <a:srgbClr val="9D9D9F"/>
                </a:solidFill>
                <a:latin typeface="Satoshi"/>
              </a:rPr>
              <a:t>Phase 1 kick-off -- WhatsApp AI live within 7 days.</a:t>
            </a:r>
          </a:p>
        </p:txBody>
      </p:sp>
      <p:sp>
        <p:nvSpPr>
          <p:cNvPr id="33" name="TextBox 32"/>
          <p:cNvSpPr txBox="1"/>
          <p:nvPr/>
        </p:nvSpPr>
        <p:spPr>
          <a:xfrm>
            <a:off x="7086600" y="4334256"/>
            <a:ext cx="365760" cy="274320"/>
          </a:xfrm>
          <a:prstGeom prst="rect">
            <a:avLst/>
          </a:prstGeom>
          <a:noFill/>
        </p:spPr>
        <p:txBody>
          <a:bodyPr wrap="square">
            <a:spAutoFit/>
          </a:bodyPr>
          <a:lstStyle/>
          <a:p>
            <a:pPr algn="l"/>
            <a:r>
              <a:rPr sz="1400" b="0" i="0">
                <a:solidFill>
                  <a:srgbClr val="A78BFA"/>
                </a:solidFill>
                <a:latin typeface="Instrument Serif"/>
              </a:rPr>
              <a:t>03</a:t>
            </a:r>
          </a:p>
        </p:txBody>
      </p:sp>
      <p:sp>
        <p:nvSpPr>
          <p:cNvPr id="34" name="TextBox 33"/>
          <p:cNvSpPr txBox="1"/>
          <p:nvPr/>
        </p:nvSpPr>
        <p:spPr>
          <a:xfrm>
            <a:off x="7498079" y="4352544"/>
            <a:ext cx="3794760" cy="457200"/>
          </a:xfrm>
          <a:prstGeom prst="rect">
            <a:avLst/>
          </a:prstGeom>
          <a:noFill/>
        </p:spPr>
        <p:txBody>
          <a:bodyPr wrap="square">
            <a:spAutoFit/>
          </a:bodyPr>
          <a:lstStyle/>
          <a:p>
            <a:pPr algn="l"/>
            <a:r>
              <a:rPr sz="1200" b="0" i="0">
                <a:solidFill>
                  <a:srgbClr val="9D9D9F"/>
                </a:solidFill>
                <a:latin typeface="Satoshi"/>
              </a:rPr>
              <a:t>First overseas buyer qualified automatically -- visible from day one.</a:t>
            </a:r>
          </a:p>
        </p:txBody>
      </p:sp>
      <p:sp>
        <p:nvSpPr>
          <p:cNvPr id="35" name="Rectangle 34"/>
          <p:cNvSpPr/>
          <p:nvPr/>
        </p:nvSpPr>
        <p:spPr>
          <a:xfrm>
            <a:off x="7086600" y="4983480"/>
            <a:ext cx="4069080"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086600" y="5166360"/>
            <a:ext cx="4114800" cy="256032"/>
          </a:xfrm>
          <a:prstGeom prst="rect">
            <a:avLst/>
          </a:prstGeom>
          <a:noFill/>
        </p:spPr>
        <p:txBody>
          <a:bodyPr wrap="square">
            <a:spAutoFit/>
          </a:bodyPr>
          <a:lstStyle/>
          <a:p>
            <a:pPr algn="l"/>
            <a:r>
              <a:rPr sz="1200" b="1" i="0">
                <a:solidFill>
                  <a:srgbClr val="FFFFFF"/>
                </a:solidFill>
                <a:latin typeface="Satoshi"/>
              </a:rPr>
              <a:t>Rohan Malik  .  CEO, Genos AI</a:t>
            </a:r>
          </a:p>
        </p:txBody>
      </p:sp>
      <p:sp>
        <p:nvSpPr>
          <p:cNvPr id="37" name="TextBox 36"/>
          <p:cNvSpPr txBox="1"/>
          <p:nvPr/>
        </p:nvSpPr>
        <p:spPr>
          <a:xfrm>
            <a:off x="7086600" y="5486400"/>
            <a:ext cx="4114800" cy="256032"/>
          </a:xfrm>
          <a:prstGeom prst="rect">
            <a:avLst/>
          </a:prstGeom>
          <a:noFill/>
        </p:spPr>
        <p:txBody>
          <a:bodyPr wrap="square">
            <a:spAutoFit/>
          </a:bodyPr>
          <a:lstStyle/>
          <a:p>
            <a:pPr algn="l"/>
            <a:r>
              <a:rPr sz="1100" b="0" i="0">
                <a:solidFill>
                  <a:srgbClr val="9D9D9F"/>
                </a:solidFill>
                <a:latin typeface="Satoshi"/>
              </a:rPr>
              <a:t>hello@genosai.tech  .  +91 638-714-2699</a:t>
            </a:r>
          </a:p>
        </p:txBody>
      </p:sp>
      <p:sp>
        <p:nvSpPr>
          <p:cNvPr id="38" name="TextBox 37"/>
          <p:cNvSpPr txBox="1"/>
          <p:nvPr/>
        </p:nvSpPr>
        <p:spPr>
          <a:xfrm>
            <a:off x="7086600" y="5779008"/>
            <a:ext cx="4114800" cy="256032"/>
          </a:xfrm>
          <a:prstGeom prst="rect">
            <a:avLst/>
          </a:prstGeom>
          <a:noFill/>
        </p:spPr>
        <p:txBody>
          <a:bodyPr wrap="square">
            <a:spAutoFit/>
          </a:bodyPr>
          <a:lstStyle/>
          <a:p>
            <a:pPr algn="l"/>
            <a:r>
              <a:rPr sz="1100" b="0" i="0">
                <a:solidFill>
                  <a:srgbClr val="6B6B6E"/>
                </a:solidFill>
                <a:latin typeface="Satoshi"/>
              </a:rPr>
              <a:t>www.genosai.tech</a:t>
            </a:r>
          </a:p>
        </p:txBody>
      </p:sp>
      <p:sp>
        <p:nvSpPr>
          <p:cNvPr id="39" name="TextBox 38"/>
          <p:cNvSpPr txBox="1"/>
          <p:nvPr/>
        </p:nvSpPr>
        <p:spPr>
          <a:xfrm>
            <a:off x="685800" y="6473952"/>
            <a:ext cx="7315200" cy="256032"/>
          </a:xfrm>
          <a:prstGeom prst="rect">
            <a:avLst/>
          </a:prstGeom>
          <a:noFill/>
        </p:spPr>
        <p:txBody>
          <a:bodyPr wrap="square">
            <a:spAutoFit/>
          </a:bodyPr>
          <a:lstStyle/>
          <a:p>
            <a:pPr algn="l"/>
            <a:r>
              <a:rPr sz="800" b="0" i="0">
                <a:solidFill>
                  <a:srgbClr val="444447"/>
                </a:solidFill>
                <a:latin typeface="Satoshi"/>
              </a:rPr>
              <a:t>Confidential  .  Regnum Properties  .  2026</a:t>
            </a:r>
          </a:p>
        </p:txBody>
      </p:sp>
      <p:sp>
        <p:nvSpPr>
          <p:cNvPr id="40" name="TextBox 39"/>
          <p:cNvSpPr txBox="1"/>
          <p:nvPr/>
        </p:nvSpPr>
        <p:spPr>
          <a:xfrm>
            <a:off x="8686800" y="6473952"/>
            <a:ext cx="2816352" cy="256032"/>
          </a:xfrm>
          <a:prstGeom prst="rect">
            <a:avLst/>
          </a:prstGeom>
          <a:noFill/>
        </p:spPr>
        <p:txBody>
          <a:bodyPr wrap="square">
            <a:spAutoFit/>
          </a:bodyPr>
          <a:lstStyle/>
          <a:p>
            <a:pPr algn="r"/>
            <a:r>
              <a:rPr sz="800" b="0" i="0">
                <a:solidFill>
                  <a:srgbClr val="444447"/>
                </a:solidFill>
                <a:latin typeface="Satoshi"/>
              </a:rPr>
              <a:t>12 / 12</a:t>
            </a:r>
          </a:p>
        </p:txBody>
      </p:sp>
      <p:sp>
        <p:nvSpPr>
          <p:cNvPr id="41" name="TextBox 40"/>
          <p:cNvSpPr txBox="1"/>
          <p:nvPr/>
        </p:nvSpPr>
        <p:spPr>
          <a:xfrm>
            <a:off x="685800" y="6263640"/>
            <a:ext cx="2743200" cy="365760"/>
          </a:xfrm>
          <a:prstGeom prst="rect">
            <a:avLst/>
          </a:prstGeom>
          <a:noFill/>
        </p:spPr>
        <p:txBody>
          <a:bodyPr wrap="square">
            <a:spAutoFit/>
          </a:bodyPr>
          <a:lstStyle/>
          <a:p>
            <a:pPr algn="l"/>
            <a:r>
              <a:rPr sz="2000" b="0" i="0">
                <a:solidFill>
                  <a:srgbClr val="FFFFFF"/>
                </a:solidFill>
                <a:latin typeface="Instrument Serif"/>
              </a:rPr>
              <a:t>GenosAI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