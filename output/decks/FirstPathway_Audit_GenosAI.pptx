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0" y="0"/>
            <a:ext cx="4416552"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0" y="365760"/>
            <a:ext cx="3200400" cy="731520"/>
          </a:xfrm>
          <a:prstGeom prst="rect">
            <a:avLst/>
          </a:prstGeom>
          <a:noFill/>
        </p:spPr>
        <p:txBody>
          <a:bodyPr wrap="square">
            <a:spAutoFit/>
          </a:bodyPr>
          <a:lstStyle/>
          <a:p>
            <a:pPr algn="r"/>
            <a:r>
              <a:rPr sz="2800" b="1" i="0">
                <a:solidFill>
                  <a:srgbClr val="F5C518"/>
                </a:solidFill>
              </a:rPr>
              <a:t>GENOS AI</a:t>
            </a:r>
          </a:p>
        </p:txBody>
      </p:sp>
      <p:sp>
        <p:nvSpPr>
          <p:cNvPr id="6" name="TextBox 5"/>
          <p:cNvSpPr txBox="1"/>
          <p:nvPr/>
        </p:nvSpPr>
        <p:spPr>
          <a:xfrm>
            <a:off x="8412480" y="960120"/>
            <a:ext cx="3200400" cy="457200"/>
          </a:xfrm>
          <a:prstGeom prst="rect">
            <a:avLst/>
          </a:prstGeom>
          <a:noFill/>
        </p:spPr>
        <p:txBody>
          <a:bodyPr wrap="square">
            <a:spAutoFit/>
          </a:bodyPr>
          <a:lstStyle/>
          <a:p>
            <a:pPr algn="r"/>
            <a:r>
              <a:rPr sz="1200" b="0" i="0">
                <a:solidFill>
                  <a:srgbClr val="8A9BBB"/>
                </a:solidFill>
              </a:rPr>
              <a:t>www.genosai.tech</a:t>
            </a:r>
          </a:p>
        </p:txBody>
      </p:sp>
      <p:sp>
        <p:nvSpPr>
          <p:cNvPr id="7" name="TextBox 6"/>
          <p:cNvSpPr txBox="1"/>
          <p:nvPr/>
        </p:nvSpPr>
        <p:spPr>
          <a:xfrm>
            <a:off x="502920" y="1463040"/>
            <a:ext cx="8229600" cy="548640"/>
          </a:xfrm>
          <a:prstGeom prst="rect">
            <a:avLst/>
          </a:prstGeom>
          <a:noFill/>
        </p:spPr>
        <p:txBody>
          <a:bodyPr wrap="square">
            <a:spAutoFit/>
          </a:bodyPr>
          <a:lstStyle/>
          <a:p>
            <a:pPr algn="l"/>
            <a:r>
              <a:rPr sz="1300" b="0" i="0">
                <a:solidFill>
                  <a:srgbClr val="F5C518"/>
                </a:solidFill>
              </a:rPr>
              <a:t>FIRSTPATHWAY PARTNERS — MILWAUKEE, WI</a:t>
            </a:r>
          </a:p>
        </p:txBody>
      </p:sp>
      <p:sp>
        <p:nvSpPr>
          <p:cNvPr id="8" name="TextBox 7"/>
          <p:cNvSpPr txBox="1"/>
          <p:nvPr/>
        </p:nvSpPr>
        <p:spPr>
          <a:xfrm>
            <a:off x="502920" y="1874519"/>
            <a:ext cx="8229600" cy="1645920"/>
          </a:xfrm>
          <a:prstGeom prst="rect">
            <a:avLst/>
          </a:prstGeom>
          <a:noFill/>
        </p:spPr>
        <p:txBody>
          <a:bodyPr wrap="square">
            <a:spAutoFit/>
          </a:bodyPr>
          <a:lstStyle/>
          <a:p>
            <a:pPr algn="l"/>
            <a:r>
              <a:rPr sz="4400" b="1" i="0">
                <a:solidFill>
                  <a:srgbClr val="FFFFFF"/>
                </a:solidFill>
              </a:rPr>
              <a:t>AI Automation &amp; Digital
Presence Audit</a:t>
            </a:r>
          </a:p>
        </p:txBody>
      </p:sp>
      <p:sp>
        <p:nvSpPr>
          <p:cNvPr id="9" name="Rectangle 8"/>
          <p:cNvSpPr/>
          <p:nvPr/>
        </p:nvSpPr>
        <p:spPr>
          <a:xfrm>
            <a:off x="502920" y="3520440"/>
            <a:ext cx="2743200" cy="36576"/>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794760"/>
            <a:ext cx="8229600" cy="457200"/>
          </a:xfrm>
          <a:prstGeom prst="rect">
            <a:avLst/>
          </a:prstGeom>
          <a:noFill/>
        </p:spPr>
        <p:txBody>
          <a:bodyPr wrap="square">
            <a:spAutoFit/>
          </a:bodyPr>
          <a:lstStyle/>
          <a:p>
            <a:pPr algn="l"/>
            <a:r>
              <a:rPr sz="1300" b="0" i="0">
                <a:solidFill>
                  <a:srgbClr val="C8D4EE"/>
                </a:solidFill>
              </a:rPr>
              <a:t>Prepared exclusively for Asif Chhipa — America's Trusted EB-5 Immigration Investment Specialists</a:t>
            </a:r>
          </a:p>
        </p:txBody>
      </p:sp>
      <p:sp>
        <p:nvSpPr>
          <p:cNvPr id="11" name="Rectangle 10"/>
          <p:cNvSpPr/>
          <p:nvPr/>
        </p:nvSpPr>
        <p:spPr>
          <a:xfrm>
            <a:off x="0" y="5943600"/>
            <a:ext cx="12188952" cy="9144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035040"/>
            <a:ext cx="8229600" cy="457200"/>
          </a:xfrm>
          <a:prstGeom prst="rect">
            <a:avLst/>
          </a:prstGeom>
          <a:noFill/>
        </p:spPr>
        <p:txBody>
          <a:bodyPr wrap="square">
            <a:spAutoFit/>
          </a:bodyPr>
          <a:lstStyle/>
          <a:p>
            <a:pPr algn="l"/>
            <a:r>
              <a:rPr sz="1200" b="0" i="0">
                <a:solidFill>
                  <a:srgbClr val="8A9BBB"/>
                </a:solidFill>
              </a:rPr>
              <a:t>Rohan Malik  |  CEO, Genos AI  |  hello@genosai.tech  |  +91 638-714-2699</a:t>
            </a:r>
          </a:p>
        </p:txBody>
      </p:sp>
      <p:sp>
        <p:nvSpPr>
          <p:cNvPr id="13" name="TextBox 12"/>
          <p:cNvSpPr txBox="1"/>
          <p:nvPr/>
        </p:nvSpPr>
        <p:spPr>
          <a:xfrm>
            <a:off x="8686800" y="6035040"/>
            <a:ext cx="3017520" cy="457200"/>
          </a:xfrm>
          <a:prstGeom prst="rect">
            <a:avLst/>
          </a:prstGeom>
          <a:noFill/>
        </p:spPr>
        <p:txBody>
          <a:bodyPr wrap="square">
            <a:spAutoFit/>
          </a:bodyPr>
          <a:lstStyle/>
          <a:p>
            <a:pPr algn="r"/>
            <a:r>
              <a:rPr sz="1200" b="0" i="0">
                <a:solidFill>
                  <a:srgbClr val="8A9BBB"/>
                </a:solidFill>
              </a:rPr>
              <a:t>May 2026  |  CONFIDENTIAL</a:t>
            </a:r>
          </a:p>
        </p:txBody>
      </p:sp>
      <p:sp>
        <p:nvSpPr>
          <p:cNvPr id="14" name="Rectangle 13"/>
          <p:cNvSpPr/>
          <p:nvPr/>
        </p:nvSpPr>
        <p:spPr>
          <a:xfrm>
            <a:off x="9601200" y="3017520"/>
            <a:ext cx="2103120" cy="22860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46920" y="3108960"/>
            <a:ext cx="2011680" cy="457200"/>
          </a:xfrm>
          <a:prstGeom prst="rect">
            <a:avLst/>
          </a:prstGeom>
          <a:noFill/>
        </p:spPr>
        <p:txBody>
          <a:bodyPr wrap="square">
            <a:spAutoFit/>
          </a:bodyPr>
          <a:lstStyle/>
          <a:p>
            <a:pPr algn="ctr"/>
            <a:r>
              <a:rPr sz="1100" b="1" i="0">
                <a:solidFill>
                  <a:srgbClr val="8A9BBB"/>
                </a:solidFill>
              </a:rPr>
              <a:t>AUDIT SCORE</a:t>
            </a:r>
          </a:p>
        </p:txBody>
      </p:sp>
      <p:sp>
        <p:nvSpPr>
          <p:cNvPr id="16" name="TextBox 15"/>
          <p:cNvSpPr txBox="1"/>
          <p:nvPr/>
        </p:nvSpPr>
        <p:spPr>
          <a:xfrm>
            <a:off x="9646920" y="3429000"/>
            <a:ext cx="2011680" cy="1005840"/>
          </a:xfrm>
          <a:prstGeom prst="rect">
            <a:avLst/>
          </a:prstGeom>
          <a:noFill/>
        </p:spPr>
        <p:txBody>
          <a:bodyPr wrap="square">
            <a:spAutoFit/>
          </a:bodyPr>
          <a:lstStyle/>
          <a:p>
            <a:pPr algn="ctr"/>
            <a:r>
              <a:rPr sz="7200" b="1" i="0">
                <a:solidFill>
                  <a:srgbClr val="F5C518"/>
                </a:solidFill>
              </a:rPr>
              <a:t>4</a:t>
            </a:r>
          </a:p>
        </p:txBody>
      </p:sp>
      <p:sp>
        <p:nvSpPr>
          <p:cNvPr id="17" name="TextBox 16"/>
          <p:cNvSpPr txBox="1"/>
          <p:nvPr/>
        </p:nvSpPr>
        <p:spPr>
          <a:xfrm>
            <a:off x="9646920" y="4297680"/>
            <a:ext cx="2011680" cy="365760"/>
          </a:xfrm>
          <a:prstGeom prst="rect">
            <a:avLst/>
          </a:prstGeom>
          <a:noFill/>
        </p:spPr>
        <p:txBody>
          <a:bodyPr wrap="square">
            <a:spAutoFit/>
          </a:bodyPr>
          <a:lstStyle/>
          <a:p>
            <a:pPr algn="ctr"/>
            <a:r>
              <a:rPr sz="1800" b="0" i="0">
                <a:solidFill>
                  <a:srgbClr val="C8D4EE"/>
                </a:solidFill>
              </a:rPr>
              <a:t>/ 10</a:t>
            </a:r>
          </a:p>
        </p:txBody>
      </p:sp>
      <p:sp>
        <p:nvSpPr>
          <p:cNvPr id="18" name="Oval 17"/>
          <p:cNvSpPr/>
          <p:nvPr/>
        </p:nvSpPr>
        <p:spPr>
          <a:xfrm>
            <a:off x="9829800" y="4663440"/>
            <a:ext cx="1613916"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HIGH PRIORITY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F5C518"/>
                </a:solidFill>
              </a:rPr>
              <a:t>AT A GLANCE</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000" b="1" i="0">
                <a:solidFill>
                  <a:srgbClr val="FFFFFF"/>
                </a:solidFill>
              </a:rPr>
              <a:t>FirstPathway Partners — EB-5 Immigration Specialists</a:t>
            </a:r>
          </a:p>
        </p:txBody>
      </p:sp>
      <p:sp>
        <p:nvSpPr>
          <p:cNvPr id="6" name="Rectangle 5"/>
          <p:cNvSpPr/>
          <p:nvPr/>
        </p:nvSpPr>
        <p:spPr>
          <a:xfrm>
            <a:off x="502920" y="1234440"/>
            <a:ext cx="1097280" cy="36576"/>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783080"/>
            <a:ext cx="1920240" cy="1005840"/>
          </a:xfrm>
          <a:prstGeom prst="rect">
            <a:avLst/>
          </a:prstGeom>
          <a:noFill/>
        </p:spPr>
        <p:txBody>
          <a:bodyPr wrap="square">
            <a:spAutoFit/>
          </a:bodyPr>
          <a:lstStyle/>
          <a:p>
            <a:pPr algn="ctr"/>
            <a:r>
              <a:rPr sz="2000" b="1" i="0">
                <a:solidFill>
                  <a:srgbClr val="F5C518"/>
                </a:solidFill>
              </a:rPr>
              <a:t>$800K+</a:t>
            </a:r>
          </a:p>
        </p:txBody>
      </p:sp>
      <p:sp>
        <p:nvSpPr>
          <p:cNvPr id="9" name="TextBox 8"/>
          <p:cNvSpPr txBox="1"/>
          <p:nvPr/>
        </p:nvSpPr>
        <p:spPr>
          <a:xfrm>
            <a:off x="594360" y="2788920"/>
            <a:ext cx="1920240" cy="640080"/>
          </a:xfrm>
          <a:prstGeom prst="rect">
            <a:avLst/>
          </a:prstGeom>
          <a:noFill/>
        </p:spPr>
        <p:txBody>
          <a:bodyPr wrap="square">
            <a:spAutoFit/>
          </a:bodyPr>
          <a:lstStyle/>
          <a:p>
            <a:pPr algn="ctr"/>
            <a:r>
              <a:rPr sz="1100" b="0" i="0">
                <a:solidFill>
                  <a:srgbClr val="C8D4EE"/>
                </a:solidFill>
              </a:rPr>
              <a:t>Minimum investor
capital required</a:t>
            </a:r>
          </a:p>
        </p:txBody>
      </p:sp>
      <p:sp>
        <p:nvSpPr>
          <p:cNvPr id="10" name="Rectangle 9"/>
          <p:cNvSpPr/>
          <p:nvPr/>
        </p:nvSpPr>
        <p:spPr>
          <a:xfrm>
            <a:off x="2770632"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62072" y="1783080"/>
            <a:ext cx="1920240" cy="1005840"/>
          </a:xfrm>
          <a:prstGeom prst="rect">
            <a:avLst/>
          </a:prstGeom>
          <a:noFill/>
        </p:spPr>
        <p:txBody>
          <a:bodyPr wrap="square">
            <a:spAutoFit/>
          </a:bodyPr>
          <a:lstStyle/>
          <a:p>
            <a:pPr algn="ctr"/>
            <a:r>
              <a:rPr sz="2000" b="1" i="0">
                <a:solidFill>
                  <a:srgbClr val="F5C518"/>
                </a:solidFill>
              </a:rPr>
              <a:t>6 Countries</a:t>
            </a:r>
          </a:p>
        </p:txBody>
      </p:sp>
      <p:sp>
        <p:nvSpPr>
          <p:cNvPr id="12" name="TextBox 11"/>
          <p:cNvSpPr txBox="1"/>
          <p:nvPr/>
        </p:nvSpPr>
        <p:spPr>
          <a:xfrm>
            <a:off x="2862072" y="2788920"/>
            <a:ext cx="1920240" cy="640080"/>
          </a:xfrm>
          <a:prstGeom prst="rect">
            <a:avLst/>
          </a:prstGeom>
          <a:noFill/>
        </p:spPr>
        <p:txBody>
          <a:bodyPr wrap="square">
            <a:spAutoFit/>
          </a:bodyPr>
          <a:lstStyle/>
          <a:p>
            <a:pPr algn="ctr"/>
            <a:r>
              <a:rPr sz="1100" b="0" i="0">
                <a:solidFill>
                  <a:srgbClr val="C8D4EE"/>
                </a:solidFill>
              </a:rPr>
              <a:t>India, UAE, China,
Denmark, Venezuela, Hungary</a:t>
            </a:r>
          </a:p>
        </p:txBody>
      </p:sp>
      <p:sp>
        <p:nvSpPr>
          <p:cNvPr id="13" name="Rectangle 12"/>
          <p:cNvSpPr/>
          <p:nvPr/>
        </p:nvSpPr>
        <p:spPr>
          <a:xfrm>
            <a:off x="5038344"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29784" y="1783080"/>
            <a:ext cx="1920240" cy="1005840"/>
          </a:xfrm>
          <a:prstGeom prst="rect">
            <a:avLst/>
          </a:prstGeom>
          <a:noFill/>
        </p:spPr>
        <p:txBody>
          <a:bodyPr wrap="square">
            <a:spAutoFit/>
          </a:bodyPr>
          <a:lstStyle/>
          <a:p>
            <a:pPr algn="ctr"/>
            <a:r>
              <a:rPr sz="2000" b="1" i="0">
                <a:solidFill>
                  <a:srgbClr val="F5C518"/>
                </a:solidFill>
              </a:rPr>
              <a:t>34+ yrs</a:t>
            </a:r>
          </a:p>
        </p:txBody>
      </p:sp>
      <p:sp>
        <p:nvSpPr>
          <p:cNvPr id="15" name="TextBox 14"/>
          <p:cNvSpPr txBox="1"/>
          <p:nvPr/>
        </p:nvSpPr>
        <p:spPr>
          <a:xfrm>
            <a:off x="5129784" y="2788920"/>
            <a:ext cx="1920240" cy="640080"/>
          </a:xfrm>
          <a:prstGeom prst="rect">
            <a:avLst/>
          </a:prstGeom>
          <a:noFill/>
        </p:spPr>
        <p:txBody>
          <a:bodyPr wrap="square">
            <a:spAutoFit/>
          </a:bodyPr>
          <a:lstStyle/>
          <a:p>
            <a:pPr algn="ctr"/>
            <a:r>
              <a:rPr sz="1100" b="0" i="0">
                <a:solidFill>
                  <a:srgbClr val="C8D4EE"/>
                </a:solidFill>
              </a:rPr>
              <a:t>Immigration law
experience (Wilka Toppins)</a:t>
            </a:r>
          </a:p>
        </p:txBody>
      </p:sp>
      <p:sp>
        <p:nvSpPr>
          <p:cNvPr id="16" name="Rectangle 15"/>
          <p:cNvSpPr/>
          <p:nvPr/>
        </p:nvSpPr>
        <p:spPr>
          <a:xfrm>
            <a:off x="7306056"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97496" y="1783080"/>
            <a:ext cx="1920240" cy="1005840"/>
          </a:xfrm>
          <a:prstGeom prst="rect">
            <a:avLst/>
          </a:prstGeom>
          <a:noFill/>
        </p:spPr>
        <p:txBody>
          <a:bodyPr wrap="square">
            <a:spAutoFit/>
          </a:bodyPr>
          <a:lstStyle/>
          <a:p>
            <a:pPr algn="ctr"/>
            <a:r>
              <a:rPr sz="2000" b="1" i="0">
                <a:solidFill>
                  <a:srgbClr val="F5C518"/>
                </a:solidFill>
              </a:rPr>
              <a:t>2 Active</a:t>
            </a:r>
          </a:p>
        </p:txBody>
      </p:sp>
      <p:sp>
        <p:nvSpPr>
          <p:cNvPr id="18" name="TextBox 17"/>
          <p:cNvSpPr txBox="1"/>
          <p:nvPr/>
        </p:nvSpPr>
        <p:spPr>
          <a:xfrm>
            <a:off x="7397496" y="2788920"/>
            <a:ext cx="1920240" cy="640080"/>
          </a:xfrm>
          <a:prstGeom prst="rect">
            <a:avLst/>
          </a:prstGeom>
          <a:noFill/>
        </p:spPr>
        <p:txBody>
          <a:bodyPr wrap="square">
            <a:spAutoFit/>
          </a:bodyPr>
          <a:lstStyle/>
          <a:p>
            <a:pPr algn="ctr"/>
            <a:r>
              <a:rPr sz="1100" b="0" i="0">
                <a:solidFill>
                  <a:srgbClr val="C8D4EE"/>
                </a:solidFill>
              </a:rPr>
              <a:t>Projects: Ameyalli
&amp; Kaia, Utah</a:t>
            </a:r>
          </a:p>
        </p:txBody>
      </p:sp>
      <p:sp>
        <p:nvSpPr>
          <p:cNvPr id="19" name="Rectangle 18"/>
          <p:cNvSpPr/>
          <p:nvPr/>
        </p:nvSpPr>
        <p:spPr>
          <a:xfrm>
            <a:off x="9573768"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65208" y="1783080"/>
            <a:ext cx="1920240" cy="1005840"/>
          </a:xfrm>
          <a:prstGeom prst="rect">
            <a:avLst/>
          </a:prstGeom>
          <a:noFill/>
        </p:spPr>
        <p:txBody>
          <a:bodyPr wrap="square">
            <a:spAutoFit/>
          </a:bodyPr>
          <a:lstStyle/>
          <a:p>
            <a:pPr algn="ctr"/>
            <a:r>
              <a:rPr sz="2000" b="1" i="0">
                <a:solidFill>
                  <a:srgbClr val="F5C518"/>
                </a:solidFill>
              </a:rPr>
              <a:t>I-829</a:t>
            </a:r>
          </a:p>
        </p:txBody>
      </p:sp>
      <p:sp>
        <p:nvSpPr>
          <p:cNvPr id="21" name="TextBox 20"/>
          <p:cNvSpPr txBox="1"/>
          <p:nvPr/>
        </p:nvSpPr>
        <p:spPr>
          <a:xfrm>
            <a:off x="9665208" y="2788920"/>
            <a:ext cx="1920240" cy="640080"/>
          </a:xfrm>
          <a:prstGeom prst="rect">
            <a:avLst/>
          </a:prstGeom>
          <a:noFill/>
        </p:spPr>
        <p:txBody>
          <a:bodyPr wrap="square">
            <a:spAutoFit/>
          </a:bodyPr>
          <a:lstStyle/>
          <a:p>
            <a:pPr algn="ctr"/>
            <a:r>
              <a:rPr sz="1100" b="0" i="0">
                <a:solidFill>
                  <a:srgbClr val="C8D4EE"/>
                </a:solidFill>
              </a:rPr>
              <a:t>Approval track
record — full lifecycle</a:t>
            </a:r>
          </a:p>
        </p:txBody>
      </p:sp>
      <p:sp>
        <p:nvSpPr>
          <p:cNvPr id="22" name="Rectangle 21"/>
          <p:cNvSpPr/>
          <p:nvPr/>
        </p:nvSpPr>
        <p:spPr>
          <a:xfrm>
            <a:off x="502920" y="3840480"/>
            <a:ext cx="11183112" cy="5486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3913632"/>
            <a:ext cx="10972800" cy="411480"/>
          </a:xfrm>
          <a:prstGeom prst="rect">
            <a:avLst/>
          </a:prstGeom>
          <a:noFill/>
        </p:spPr>
        <p:txBody>
          <a:bodyPr wrap="square">
            <a:spAutoFit/>
          </a:bodyPr>
          <a:lstStyle/>
          <a:p>
            <a:pPr algn="ctr"/>
            <a:r>
              <a:rPr sz="1100" b="0" i="0">
                <a:solidFill>
                  <a:srgbClr val="C8D4EE"/>
                </a:solidFill>
              </a:rPr>
              <a:t>Milwaukee, WI  |  info@firstpathway.com  |  +1 (414) 431-0742  |  firstpathway.com  |  WeChat · Weibo · LinkedIn · Facebook</a:t>
            </a:r>
          </a:p>
        </p:txBody>
      </p:sp>
      <p:sp>
        <p:nvSpPr>
          <p:cNvPr id="24" name="TextBox 23"/>
          <p:cNvSpPr txBox="1"/>
          <p:nvPr/>
        </p:nvSpPr>
        <p:spPr>
          <a:xfrm>
            <a:off x="502920" y="4572000"/>
            <a:ext cx="5303520" cy="320040"/>
          </a:xfrm>
          <a:prstGeom prst="rect">
            <a:avLst/>
          </a:prstGeom>
          <a:noFill/>
        </p:spPr>
        <p:txBody>
          <a:bodyPr wrap="square">
            <a:spAutoFit/>
          </a:bodyPr>
          <a:lstStyle/>
          <a:p>
            <a:pPr algn="l"/>
            <a:r>
              <a:rPr sz="1100" b="1" i="0">
                <a:solidFill>
                  <a:srgbClr val="F5C518"/>
                </a:solidFill>
              </a:rPr>
              <a:t>SERVICES OFFERED</a:t>
            </a:r>
          </a:p>
        </p:txBody>
      </p:sp>
      <p:sp>
        <p:nvSpPr>
          <p:cNvPr id="25" name="TextBox 24"/>
          <p:cNvSpPr txBox="1"/>
          <p:nvPr/>
        </p:nvSpPr>
        <p:spPr>
          <a:xfrm>
            <a:off x="502920" y="4892040"/>
            <a:ext cx="5303520" cy="1463040"/>
          </a:xfrm>
          <a:prstGeom prst="rect">
            <a:avLst/>
          </a:prstGeom>
          <a:noFill/>
        </p:spPr>
        <p:txBody>
          <a:bodyPr wrap="square">
            <a:spAutoFit/>
          </a:bodyPr>
          <a:lstStyle/>
          <a:p>
            <a:pPr algn="l">
              <a:spcAft>
                <a:spcPts val="600"/>
              </a:spcAft>
            </a:pPr>
            <a:r>
              <a:rPr sz="1000"/>
              <a:t>  </a:t>
            </a:r>
            <a:r>
              <a:rPr sz="1000" b="1">
                <a:solidFill>
                  <a:srgbClr val="F5C518"/>
                </a:solidFill>
              </a:rPr>
              <a:t>* </a:t>
            </a:r>
            <a:r>
              <a:rPr sz="1200">
                <a:solidFill>
                  <a:srgbClr val="C8D4EE"/>
                </a:solidFill>
              </a:rPr>
              <a:t>EB-5 visa application processing and USCIS filing guidance</a:t>
            </a:r>
          </a:p>
          <a:p>
            <a:pPr algn="l">
              <a:spcAft>
                <a:spcPts val="600"/>
              </a:spcAft>
            </a:pPr>
            <a:r>
              <a:rPr sz="1000"/>
              <a:t>  </a:t>
            </a:r>
            <a:r>
              <a:rPr sz="1000" b="1">
                <a:solidFill>
                  <a:srgbClr val="F5C518"/>
                </a:solidFill>
              </a:rPr>
              <a:t>* </a:t>
            </a:r>
            <a:r>
              <a:rPr sz="1200">
                <a:solidFill>
                  <a:srgbClr val="C8D4EE"/>
                </a:solidFill>
              </a:rPr>
              <a:t>Investment project placement (Ameyalli, Kaia — Utah)</a:t>
            </a:r>
          </a:p>
          <a:p>
            <a:pPr algn="l">
              <a:spcAft>
                <a:spcPts val="600"/>
              </a:spcAft>
            </a:pPr>
            <a:r>
              <a:rPr sz="1000"/>
              <a:t>  </a:t>
            </a:r>
            <a:r>
              <a:rPr sz="1000" b="1">
                <a:solidFill>
                  <a:srgbClr val="F5C518"/>
                </a:solidFill>
              </a:rPr>
              <a:t>* </a:t>
            </a:r>
            <a:r>
              <a:rPr sz="1200">
                <a:solidFill>
                  <a:srgbClr val="C8D4EE"/>
                </a:solidFill>
              </a:rPr>
              <a:t>I-526E and I-829 documentation preparation and submission</a:t>
            </a:r>
          </a:p>
          <a:p>
            <a:pPr algn="l">
              <a:spcAft>
                <a:spcPts val="600"/>
              </a:spcAft>
            </a:pPr>
            <a:r>
              <a:rPr sz="1000"/>
              <a:t>  </a:t>
            </a:r>
            <a:r>
              <a:rPr sz="1000" b="1">
                <a:solidFill>
                  <a:srgbClr val="F5C518"/>
                </a:solidFill>
              </a:rPr>
              <a:t>* </a:t>
            </a:r>
            <a:r>
              <a:rPr sz="1200">
                <a:solidFill>
                  <a:srgbClr val="C8D4EE"/>
                </a:solidFill>
              </a:rPr>
              <a:t>Legal support via 34-year immigration law specialist</a:t>
            </a:r>
          </a:p>
          <a:p>
            <a:pPr algn="l"/>
            <a:r>
              <a:rPr sz="1000"/>
              <a:t>  </a:t>
            </a:r>
            <a:r>
              <a:rPr sz="1000" b="1">
                <a:solidFill>
                  <a:srgbClr val="F5C518"/>
                </a:solidFill>
              </a:rPr>
              <a:t>* </a:t>
            </a:r>
            <a:r>
              <a:rPr sz="1200">
                <a:solidFill>
                  <a:srgbClr val="C8D4EE"/>
                </a:solidFill>
              </a:rPr>
              <a:t>Multilingual consultation: English, Mandarin, regional support</a:t>
            </a:r>
          </a:p>
        </p:txBody>
      </p:sp>
      <p:sp>
        <p:nvSpPr>
          <p:cNvPr id="26" name="TextBox 25"/>
          <p:cNvSpPr txBox="1"/>
          <p:nvPr/>
        </p:nvSpPr>
        <p:spPr>
          <a:xfrm>
            <a:off x="6217920" y="4572000"/>
            <a:ext cx="5303520" cy="320040"/>
          </a:xfrm>
          <a:prstGeom prst="rect">
            <a:avLst/>
          </a:prstGeom>
          <a:noFill/>
        </p:spPr>
        <p:txBody>
          <a:bodyPr wrap="square">
            <a:spAutoFit/>
          </a:bodyPr>
          <a:lstStyle/>
          <a:p>
            <a:pPr algn="l"/>
            <a:r>
              <a:rPr sz="1100" b="1" i="0">
                <a:solidFill>
                  <a:srgbClr val="F5C518"/>
                </a:solidFill>
              </a:rPr>
              <a:t>INVESTOR ORIGINS SERVED</a:t>
            </a:r>
          </a:p>
        </p:txBody>
      </p:sp>
      <p:sp>
        <p:nvSpPr>
          <p:cNvPr id="27" name="TextBox 26"/>
          <p:cNvSpPr txBox="1"/>
          <p:nvPr/>
        </p:nvSpPr>
        <p:spPr>
          <a:xfrm>
            <a:off x="6217920" y="4892040"/>
            <a:ext cx="5303520" cy="1463040"/>
          </a:xfrm>
          <a:prstGeom prst="rect">
            <a:avLst/>
          </a:prstGeom>
          <a:noFill/>
        </p:spPr>
        <p:txBody>
          <a:bodyPr wrap="square">
            <a:spAutoFit/>
          </a:bodyPr>
          <a:lstStyle/>
          <a:p>
            <a:pPr algn="l">
              <a:spcAft>
                <a:spcPts val="600"/>
              </a:spcAft>
            </a:pPr>
            <a:r>
              <a:rPr sz="1000"/>
              <a:t>  </a:t>
            </a:r>
            <a:r>
              <a:rPr sz="1000" b="1">
                <a:solidFill>
                  <a:srgbClr val="F5C518"/>
                </a:solidFill>
              </a:rPr>
              <a:t>* </a:t>
            </a:r>
            <a:r>
              <a:rPr sz="1200">
                <a:solidFill>
                  <a:srgbClr val="C8D4EE"/>
                </a:solidFill>
              </a:rPr>
              <a:t>India — fastest-growing EB-5 applicant country globally</a:t>
            </a:r>
          </a:p>
          <a:p>
            <a:pPr algn="l">
              <a:spcAft>
                <a:spcPts val="600"/>
              </a:spcAft>
            </a:pPr>
            <a:r>
              <a:rPr sz="1000"/>
              <a:t>  </a:t>
            </a:r>
            <a:r>
              <a:rPr sz="1000" b="1">
                <a:solidFill>
                  <a:srgbClr val="F5C518"/>
                </a:solidFill>
              </a:rPr>
              <a:t>* </a:t>
            </a:r>
            <a:r>
              <a:rPr sz="1200">
                <a:solidFill>
                  <a:srgbClr val="C8D4EE"/>
                </a:solidFill>
              </a:rPr>
              <a:t>UAE — high-net-worth Gulf investors seeking US residency</a:t>
            </a:r>
          </a:p>
          <a:p>
            <a:pPr algn="l">
              <a:spcAft>
                <a:spcPts val="600"/>
              </a:spcAft>
            </a:pPr>
            <a:r>
              <a:rPr sz="1000"/>
              <a:t>  </a:t>
            </a:r>
            <a:r>
              <a:rPr sz="1000" b="1">
                <a:solidFill>
                  <a:srgbClr val="F5C518"/>
                </a:solidFill>
              </a:rPr>
              <a:t>* </a:t>
            </a:r>
            <a:r>
              <a:rPr sz="1200">
                <a:solidFill>
                  <a:srgbClr val="C8D4EE"/>
                </a:solidFill>
              </a:rPr>
              <a:t>China — historically #1 EB-5 market, WeChat-first audience</a:t>
            </a:r>
          </a:p>
          <a:p>
            <a:pPr algn="l">
              <a:spcAft>
                <a:spcPts val="600"/>
              </a:spcAft>
            </a:pPr>
            <a:r>
              <a:rPr sz="1000"/>
              <a:t>  </a:t>
            </a:r>
            <a:r>
              <a:rPr sz="1000" b="1">
                <a:solidFill>
                  <a:srgbClr val="F5C518"/>
                </a:solidFill>
              </a:rPr>
              <a:t>* </a:t>
            </a:r>
            <a:r>
              <a:rPr sz="1200">
                <a:solidFill>
                  <a:srgbClr val="C8D4EE"/>
                </a:solidFill>
              </a:rPr>
              <a:t>Europe: Denmark, Hungary and other European nationals</a:t>
            </a:r>
          </a:p>
          <a:p>
            <a:pPr algn="l"/>
            <a:r>
              <a:rPr sz="1000"/>
              <a:t>  </a:t>
            </a:r>
            <a:r>
              <a:rPr sz="1000" b="1">
                <a:solidFill>
                  <a:srgbClr val="F5C518"/>
                </a:solidFill>
              </a:rPr>
              <a:t>* </a:t>
            </a:r>
            <a:r>
              <a:rPr sz="1200">
                <a:solidFill>
                  <a:srgbClr val="C8D4EE"/>
                </a:solidFill>
              </a:rPr>
              <a:t>Latin America: Venezuela and South American investors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4F8EFF"/>
                </a:solidFill>
              </a:rPr>
              <a:t>ABOUT GENOS AI</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2800" b="1" i="0">
                <a:solidFill>
                  <a:srgbClr val="FFFFFF"/>
                </a:solidFill>
              </a:rPr>
              <a:t>AI Automation for Immigration, Investment &amp; Professional Services.</a:t>
            </a:r>
          </a:p>
        </p:txBody>
      </p:sp>
      <p:sp>
        <p:nvSpPr>
          <p:cNvPr id="6" name="Rectangle 5"/>
          <p:cNvSpPr/>
          <p:nvPr/>
        </p:nvSpPr>
        <p:spPr>
          <a:xfrm>
            <a:off x="502920" y="1234440"/>
            <a:ext cx="1097280" cy="36576"/>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63040"/>
            <a:ext cx="11430000" cy="365760"/>
          </a:xfrm>
          <a:prstGeom prst="rect">
            <a:avLst/>
          </a:prstGeom>
          <a:noFill/>
        </p:spPr>
        <p:txBody>
          <a:bodyPr wrap="square">
            <a:spAutoFit/>
          </a:bodyPr>
          <a:lstStyle/>
          <a:p>
            <a:pPr algn="l"/>
            <a:r>
              <a:rPr sz="1400" b="1" i="0">
                <a:solidFill>
                  <a:srgbClr val="4F8EFF"/>
                </a:solidFill>
              </a:rPr>
              <a:t>What We Build</a:t>
            </a:r>
          </a:p>
        </p:txBody>
      </p:sp>
      <p:sp>
        <p:nvSpPr>
          <p:cNvPr id="8" name="Rectangle 7"/>
          <p:cNvSpPr/>
          <p:nvPr/>
        </p:nvSpPr>
        <p:spPr>
          <a:xfrm>
            <a:off x="502920" y="1920240"/>
            <a:ext cx="2697480"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975104"/>
            <a:ext cx="2697480" cy="32004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2084831"/>
            <a:ext cx="2478024" cy="548640"/>
          </a:xfrm>
          <a:prstGeom prst="rect">
            <a:avLst/>
          </a:prstGeom>
          <a:noFill/>
        </p:spPr>
        <p:txBody>
          <a:bodyPr wrap="square">
            <a:spAutoFit/>
          </a:bodyPr>
          <a:lstStyle/>
          <a:p>
            <a:pPr algn="l"/>
            <a:r>
              <a:rPr sz="1300" b="1" i="0">
                <a:solidFill>
                  <a:srgbClr val="00B4D8"/>
                </a:solidFill>
              </a:rPr>
              <a:t>Multilingual AI
Chatbot Agents</a:t>
            </a:r>
          </a:p>
        </p:txBody>
      </p:sp>
      <p:sp>
        <p:nvSpPr>
          <p:cNvPr id="11" name="TextBox 10"/>
          <p:cNvSpPr txBox="1"/>
          <p:nvPr/>
        </p:nvSpPr>
        <p:spPr>
          <a:xfrm>
            <a:off x="612648" y="2651760"/>
            <a:ext cx="2478024" cy="2377440"/>
          </a:xfrm>
          <a:prstGeom prst="rect">
            <a:avLst/>
          </a:prstGeom>
          <a:noFill/>
        </p:spPr>
        <p:txBody>
          <a:bodyPr wrap="square">
            <a:spAutoFit/>
          </a:bodyPr>
          <a:lstStyle/>
          <a:p>
            <a:pPr algn="l"/>
            <a:r>
              <a:rPr sz="1100" b="0" i="0">
                <a:solidFill>
                  <a:srgbClr val="C8D4EE"/>
                </a:solidFill>
              </a:rPr>
              <a:t>AI agents that speak English, Hindi, Mandarin, and Arabic — live on your website, WhatsApp, and WeChat. Qualify investors by net worth, investment timeline, and country. The most effective entry channel for Indian and Chinese HNI families exploring EB-5.</a:t>
            </a:r>
          </a:p>
        </p:txBody>
      </p:sp>
      <p:sp>
        <p:nvSpPr>
          <p:cNvPr id="12" name="Rectangle 11"/>
          <p:cNvSpPr/>
          <p:nvPr/>
        </p:nvSpPr>
        <p:spPr>
          <a:xfrm>
            <a:off x="3346704" y="1920240"/>
            <a:ext cx="2697480" cy="54864"/>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46704" y="1975104"/>
            <a:ext cx="2697480" cy="32004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56432" y="2084831"/>
            <a:ext cx="2478024" cy="548640"/>
          </a:xfrm>
          <a:prstGeom prst="rect">
            <a:avLst/>
          </a:prstGeom>
          <a:noFill/>
        </p:spPr>
        <p:txBody>
          <a:bodyPr wrap="square">
            <a:spAutoFit/>
          </a:bodyPr>
          <a:lstStyle/>
          <a:p>
            <a:pPr algn="l"/>
            <a:r>
              <a:rPr sz="1300" b="1" i="0">
                <a:solidFill>
                  <a:srgbClr val="F5C518"/>
                </a:solidFill>
              </a:rPr>
              <a:t>Client Journey
Automation</a:t>
            </a:r>
          </a:p>
        </p:txBody>
      </p:sp>
      <p:sp>
        <p:nvSpPr>
          <p:cNvPr id="15" name="TextBox 14"/>
          <p:cNvSpPr txBox="1"/>
          <p:nvPr/>
        </p:nvSpPr>
        <p:spPr>
          <a:xfrm>
            <a:off x="3456432" y="2651760"/>
            <a:ext cx="2478024" cy="2377440"/>
          </a:xfrm>
          <a:prstGeom prst="rect">
            <a:avLst/>
          </a:prstGeom>
          <a:noFill/>
        </p:spPr>
        <p:txBody>
          <a:bodyPr wrap="square">
            <a:spAutoFit/>
          </a:bodyPr>
          <a:lstStyle/>
          <a:p>
            <a:pPr algn="l"/>
            <a:r>
              <a:rPr sz="1100" b="0" i="0">
                <a:solidFill>
                  <a:srgbClr val="C8D4EE"/>
                </a:solidFill>
              </a:rPr>
              <a:t>Automated milestone communications across the 3-5 year EB-5 process: I-526E filed, I-526E approved, DS-260 reminder, visa interview prep, I-829 filing reminder, congratulations on approval. No investor goes silent for months. Every stage is acknowledged.</a:t>
            </a:r>
          </a:p>
        </p:txBody>
      </p:sp>
      <p:sp>
        <p:nvSpPr>
          <p:cNvPr id="16" name="Rectangle 15"/>
          <p:cNvSpPr/>
          <p:nvPr/>
        </p:nvSpPr>
        <p:spPr>
          <a:xfrm>
            <a:off x="6190488" y="1920240"/>
            <a:ext cx="2697480" cy="54864"/>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0488" y="1975104"/>
            <a:ext cx="2697480" cy="32004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0216" y="2084831"/>
            <a:ext cx="2478024" cy="548640"/>
          </a:xfrm>
          <a:prstGeom prst="rect">
            <a:avLst/>
          </a:prstGeom>
          <a:noFill/>
        </p:spPr>
        <p:txBody>
          <a:bodyPr wrap="square">
            <a:spAutoFit/>
          </a:bodyPr>
          <a:lstStyle/>
          <a:p>
            <a:pPr algn="l"/>
            <a:r>
              <a:rPr sz="1300" b="1" i="0">
                <a:solidFill>
                  <a:srgbClr val="A055FF"/>
                </a:solidFill>
              </a:rPr>
              <a:t>HNI Lead
Qualification Engine</a:t>
            </a:r>
          </a:p>
        </p:txBody>
      </p:sp>
      <p:sp>
        <p:nvSpPr>
          <p:cNvPr id="19" name="TextBox 18"/>
          <p:cNvSpPr txBox="1"/>
          <p:nvPr/>
        </p:nvSpPr>
        <p:spPr>
          <a:xfrm>
            <a:off x="6300216" y="2651760"/>
            <a:ext cx="2478024" cy="2377440"/>
          </a:xfrm>
          <a:prstGeom prst="rect">
            <a:avLst/>
          </a:prstGeom>
          <a:noFill/>
        </p:spPr>
        <p:txBody>
          <a:bodyPr wrap="square">
            <a:spAutoFit/>
          </a:bodyPr>
          <a:lstStyle/>
          <a:p>
            <a:pPr algn="l"/>
            <a:r>
              <a:rPr sz="1100" b="0" i="0">
                <a:solidFill>
                  <a:srgbClr val="C8D4EE"/>
                </a:solidFill>
              </a:rPr>
              <a:t>Score, qualify, and route inbound investor inquiries in real time. Collect key signals: net worth threshold, investment timeline, country, visa history. Route serious investors to Asif immediately. Filter early-stage inquiries into a nurture sequence.</a:t>
            </a:r>
          </a:p>
        </p:txBody>
      </p:sp>
      <p:sp>
        <p:nvSpPr>
          <p:cNvPr id="20" name="Rectangle 19"/>
          <p:cNvSpPr/>
          <p:nvPr/>
        </p:nvSpPr>
        <p:spPr>
          <a:xfrm>
            <a:off x="9034272" y="1920240"/>
            <a:ext cx="2697480" cy="54864"/>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34272" y="1975104"/>
            <a:ext cx="2697480" cy="32004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0" y="2084831"/>
            <a:ext cx="2478024" cy="548640"/>
          </a:xfrm>
          <a:prstGeom prst="rect">
            <a:avLst/>
          </a:prstGeom>
          <a:noFill/>
        </p:spPr>
        <p:txBody>
          <a:bodyPr wrap="square">
            <a:spAutoFit/>
          </a:bodyPr>
          <a:lstStyle/>
          <a:p>
            <a:pPr algn="l"/>
            <a:r>
              <a:rPr sz="1300" b="1" i="0">
                <a:solidFill>
                  <a:srgbClr val="FF8C00"/>
                </a:solidFill>
              </a:rPr>
              <a:t>Content &amp; SEO
Outreach Engine</a:t>
            </a:r>
          </a:p>
        </p:txBody>
      </p:sp>
      <p:sp>
        <p:nvSpPr>
          <p:cNvPr id="23" name="TextBox 22"/>
          <p:cNvSpPr txBox="1"/>
          <p:nvPr/>
        </p:nvSpPr>
        <p:spPr>
          <a:xfrm>
            <a:off x="9144000" y="2651760"/>
            <a:ext cx="2478024" cy="2377440"/>
          </a:xfrm>
          <a:prstGeom prst="rect">
            <a:avLst/>
          </a:prstGeom>
          <a:noFill/>
        </p:spPr>
        <p:txBody>
          <a:bodyPr wrap="square">
            <a:spAutoFit/>
          </a:bodyPr>
          <a:lstStyle/>
          <a:p>
            <a:pPr algn="l"/>
            <a:r>
              <a:rPr sz="1100" b="0" i="0">
                <a:solidFill>
                  <a:srgbClr val="C8D4EE"/>
                </a:solidFill>
              </a:rPr>
              <a:t>LinkedIn thought leadership, blog content targeting 'EB-5 visa India', 'US residency investment program', 'EB-5 investor 2025' — automated and published weekly. Email sequences in Hindi, Mandarin, and Arabic for investor databases. Webinar registration and follow-up automation.</a:t>
            </a:r>
          </a:p>
        </p:txBody>
      </p:sp>
      <p:sp>
        <p:nvSpPr>
          <p:cNvPr id="24" name="Rectangle 23"/>
          <p:cNvSpPr/>
          <p:nvPr/>
        </p:nvSpPr>
        <p:spPr>
          <a:xfrm>
            <a:off x="502920" y="5349240"/>
            <a:ext cx="11183112" cy="118872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5413248"/>
            <a:ext cx="5029200" cy="320040"/>
          </a:xfrm>
          <a:prstGeom prst="rect">
            <a:avLst/>
          </a:prstGeom>
          <a:noFill/>
        </p:spPr>
        <p:txBody>
          <a:bodyPr wrap="square">
            <a:spAutoFit/>
          </a:bodyPr>
          <a:lstStyle/>
          <a:p>
            <a:pPr algn="l"/>
            <a:r>
              <a:rPr sz="1100" b="1" i="0">
                <a:solidFill>
                  <a:srgbClr val="4F8EFF"/>
                </a:solidFill>
              </a:rPr>
              <a:t>WHY GENOS AI FOR FIRSTPATHWAY</a:t>
            </a:r>
          </a:p>
        </p:txBody>
      </p:sp>
      <p:sp>
        <p:nvSpPr>
          <p:cNvPr id="26" name="TextBox 25"/>
          <p:cNvSpPr txBox="1"/>
          <p:nvPr/>
        </p:nvSpPr>
        <p:spPr>
          <a:xfrm>
            <a:off x="640080" y="5742432"/>
            <a:ext cx="5303520" cy="731520"/>
          </a:xfrm>
          <a:prstGeom prst="rect">
            <a:avLst/>
          </a:prstGeom>
          <a:noFill/>
        </p:spPr>
        <p:txBody>
          <a:bodyPr wrap="square">
            <a:spAutoFit/>
          </a:bodyPr>
          <a:lstStyle/>
          <a:p>
            <a:pPr algn="l">
              <a:spcAft>
                <a:spcPts val="600"/>
              </a:spcAft>
            </a:pPr>
            <a:r>
              <a:rPr sz="900"/>
              <a:t>  </a:t>
            </a:r>
            <a:r>
              <a:rPr sz="900" b="1">
                <a:solidFill>
                  <a:srgbClr val="4F8EFF"/>
                </a:solidFill>
              </a:rPr>
              <a:t>* </a:t>
            </a:r>
            <a:r>
              <a:rPr sz="1100">
                <a:solidFill>
                  <a:srgbClr val="C8D4EE"/>
                </a:solidFill>
              </a:rPr>
              <a:t>Immigration expertise: built for document-heavy, multi-year client journeys</a:t>
            </a:r>
          </a:p>
          <a:p>
            <a:pPr algn="l">
              <a:spcAft>
                <a:spcPts val="600"/>
              </a:spcAft>
            </a:pPr>
            <a:r>
              <a:rPr sz="900"/>
              <a:t>  </a:t>
            </a:r>
            <a:r>
              <a:rPr sz="900" b="1">
                <a:solidFill>
                  <a:srgbClr val="4F8EFF"/>
                </a:solidFill>
              </a:rPr>
              <a:t>* </a:t>
            </a:r>
            <a:r>
              <a:rPr sz="1100">
                <a:solidFill>
                  <a:srgbClr val="C8D4EE"/>
                </a:solidFill>
              </a:rPr>
              <a:t>Multilingual by default: Hindi, Mandarin, Arabic — not an add-on</a:t>
            </a:r>
          </a:p>
          <a:p>
            <a:pPr algn="l">
              <a:spcAft>
                <a:spcPts val="600"/>
              </a:spcAft>
            </a:pPr>
            <a:r>
              <a:rPr sz="900"/>
              <a:t>  </a:t>
            </a:r>
            <a:r>
              <a:rPr sz="900" b="1">
                <a:solidFill>
                  <a:srgbClr val="4F8EFF"/>
                </a:solidFill>
              </a:rPr>
              <a:t>* </a:t>
            </a:r>
            <a:r>
              <a:rPr sz="1100">
                <a:solidFill>
                  <a:srgbClr val="C8D4EE"/>
                </a:solidFill>
              </a:rPr>
              <a:t>High-value client focus: every system tuned for $800K+ decision makers</a:t>
            </a:r>
          </a:p>
          <a:p>
            <a:pPr algn="l"/>
            <a:r>
              <a:rPr sz="900"/>
              <a:t>  </a:t>
            </a:r>
            <a:r>
              <a:rPr sz="900" b="1">
                <a:solidFill>
                  <a:srgbClr val="4F8EFF"/>
                </a:solidFill>
              </a:rPr>
              <a:t>* </a:t>
            </a:r>
            <a:r>
              <a:rPr sz="1100">
                <a:solidFill>
                  <a:srgbClr val="C8D4EE"/>
                </a:solidFill>
              </a:rPr>
              <a:t>ROI-clear: one additional qualified investor per quarter justifies the entire program</a:t>
            </a:r>
          </a:p>
        </p:txBody>
      </p:sp>
      <p:sp>
        <p:nvSpPr>
          <p:cNvPr id="27" name="TextBox 26"/>
          <p:cNvSpPr txBox="1"/>
          <p:nvPr/>
        </p:nvSpPr>
        <p:spPr>
          <a:xfrm>
            <a:off x="6400800" y="5413248"/>
            <a:ext cx="5029200" cy="320040"/>
          </a:xfrm>
          <a:prstGeom prst="rect">
            <a:avLst/>
          </a:prstGeom>
          <a:noFill/>
        </p:spPr>
        <p:txBody>
          <a:bodyPr wrap="square">
            <a:spAutoFit/>
          </a:bodyPr>
          <a:lstStyle/>
          <a:p>
            <a:pPr algn="l"/>
            <a:r>
              <a:rPr sz="1100" b="1" i="0">
                <a:solidFill>
                  <a:srgbClr val="4F8EFF"/>
                </a:solidFill>
              </a:rPr>
              <a:t>PROVEN DELIVERY</a:t>
            </a:r>
          </a:p>
        </p:txBody>
      </p:sp>
      <p:sp>
        <p:nvSpPr>
          <p:cNvPr id="28" name="TextBox 27"/>
          <p:cNvSpPr txBox="1"/>
          <p:nvPr/>
        </p:nvSpPr>
        <p:spPr>
          <a:xfrm>
            <a:off x="6400800" y="5742432"/>
            <a:ext cx="5303520" cy="731520"/>
          </a:xfrm>
          <a:prstGeom prst="rect">
            <a:avLst/>
          </a:prstGeom>
          <a:noFill/>
        </p:spPr>
        <p:txBody>
          <a:bodyPr wrap="square">
            <a:spAutoFit/>
          </a:bodyPr>
          <a:lstStyle/>
          <a:p>
            <a:pPr algn="l">
              <a:spcAft>
                <a:spcPts val="600"/>
              </a:spcAft>
            </a:pPr>
            <a:r>
              <a:rPr sz="900"/>
              <a:t>  </a:t>
            </a:r>
            <a:r>
              <a:rPr sz="900" b="1">
                <a:solidFill>
                  <a:srgbClr val="4F8EFF"/>
                </a:solidFill>
              </a:rPr>
              <a:t>* </a:t>
            </a:r>
            <a:r>
              <a:rPr sz="1100">
                <a:solidFill>
                  <a:srgbClr val="C8D4EE"/>
                </a:solidFill>
              </a:rPr>
              <a:t>23+ clients across USA, UK, UAE, India, Australia — 98% retention</a:t>
            </a:r>
          </a:p>
          <a:p>
            <a:pPr algn="l">
              <a:spcAft>
                <a:spcPts val="600"/>
              </a:spcAft>
            </a:pPr>
            <a:r>
              <a:rPr sz="900"/>
              <a:t>  </a:t>
            </a:r>
            <a:r>
              <a:rPr sz="900" b="1">
                <a:solidFill>
                  <a:srgbClr val="4F8EFF"/>
                </a:solidFill>
              </a:rPr>
              <a:t>* </a:t>
            </a:r>
            <a:r>
              <a:rPr sz="1100">
                <a:solidFill>
                  <a:srgbClr val="C8D4EE"/>
                </a:solidFill>
              </a:rPr>
              <a:t>50+ production AI systems shipped — not demos, not pilots</a:t>
            </a:r>
          </a:p>
          <a:p>
            <a:pPr algn="l">
              <a:spcAft>
                <a:spcPts val="600"/>
              </a:spcAft>
            </a:pPr>
            <a:r>
              <a:rPr sz="900"/>
              <a:t>  </a:t>
            </a:r>
            <a:r>
              <a:rPr sz="900" b="1">
                <a:solidFill>
                  <a:srgbClr val="4F8EFF"/>
                </a:solidFill>
              </a:rPr>
              <a:t>* </a:t>
            </a:r>
            <a:r>
              <a:rPr sz="1100">
                <a:solidFill>
                  <a:srgbClr val="C8D4EE"/>
                </a:solidFill>
              </a:rPr>
              <a:t>4-12 week delivery: production-grade from day one</a:t>
            </a:r>
          </a:p>
          <a:p>
            <a:pPr algn="l"/>
            <a:r>
              <a:rPr sz="900"/>
              <a:t>  </a:t>
            </a:r>
            <a:r>
              <a:rPr sz="900" b="1">
                <a:solidFill>
                  <a:srgbClr val="4F8EFF"/>
                </a:solidFill>
              </a:rPr>
              <a:t>* </a:t>
            </a:r>
            <a:r>
              <a:rPr sz="1100">
                <a:solidFill>
                  <a:srgbClr val="C8D4EE"/>
                </a:solidFill>
              </a:rPr>
              <a:t>Integrates with your existing CRM, email, and communication stack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FF4D4D"/>
                </a:solidFill>
              </a:rPr>
              <a:t>THE THREE GAPS</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2600" b="1" i="0">
                <a:solidFill>
                  <a:srgbClr val="FFFFFF"/>
                </a:solidFill>
              </a:rPr>
              <a:t>34 Years of Immigration Experience. Investors Still Falling Through the Cracks.</a:t>
            </a:r>
          </a:p>
        </p:txBody>
      </p:sp>
      <p:sp>
        <p:nvSpPr>
          <p:cNvPr id="6" name="Rectangle 5"/>
          <p:cNvSpPr/>
          <p:nvPr/>
        </p:nvSpPr>
        <p:spPr>
          <a:xfrm>
            <a:off x="502920" y="1234440"/>
            <a:ext cx="1097280" cy="36576"/>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3611880" cy="45720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648" y="1691640"/>
            <a:ext cx="3392424" cy="384048"/>
          </a:xfrm>
          <a:prstGeom prst="rect">
            <a:avLst/>
          </a:prstGeom>
          <a:noFill/>
        </p:spPr>
        <p:txBody>
          <a:bodyPr wrap="square">
            <a:spAutoFit/>
          </a:bodyPr>
          <a:lstStyle/>
          <a:p>
            <a:pPr algn="ctr"/>
            <a:r>
              <a:rPr sz="1100" b="1" i="0">
                <a:solidFill>
                  <a:srgbClr val="0A0F2E"/>
                </a:solidFill>
              </a:rPr>
              <a:t>GAP 1
NO MULTILINGUAL
DIGITAL CHANNEL</a:t>
            </a:r>
          </a:p>
        </p:txBody>
      </p:sp>
      <p:sp>
        <p:nvSpPr>
          <p:cNvPr id="9" name="Rectangle 8"/>
          <p:cNvSpPr/>
          <p:nvPr/>
        </p:nvSpPr>
        <p:spPr>
          <a:xfrm>
            <a:off x="502920" y="2103120"/>
            <a:ext cx="361188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2176272"/>
            <a:ext cx="3392424" cy="320040"/>
          </a:xfrm>
          <a:prstGeom prst="rect">
            <a:avLst/>
          </a:prstGeom>
          <a:noFill/>
        </p:spPr>
        <p:txBody>
          <a:bodyPr wrap="square">
            <a:spAutoFit/>
          </a:bodyPr>
          <a:lstStyle/>
          <a:p>
            <a:pPr algn="l"/>
            <a:r>
              <a:rPr sz="1000" b="0" i="1">
                <a:solidFill>
                  <a:srgbClr val="FF4D4D"/>
                </a:solidFill>
              </a:rPr>
              <a:t>Serving 6 countries — in English only</a:t>
            </a:r>
          </a:p>
        </p:txBody>
      </p:sp>
      <p:sp>
        <p:nvSpPr>
          <p:cNvPr id="11" name="TextBox 10"/>
          <p:cNvSpPr txBox="1"/>
          <p:nvPr/>
        </p:nvSpPr>
        <p:spPr>
          <a:xfrm>
            <a:off x="612648" y="2542032"/>
            <a:ext cx="3392424" cy="3566160"/>
          </a:xfrm>
          <a:prstGeom prst="rect">
            <a:avLst/>
          </a:prstGeom>
          <a:noFill/>
        </p:spPr>
        <p:txBody>
          <a:bodyPr wrap="square">
            <a:spAutoFit/>
          </a:bodyPr>
          <a:lstStyle/>
          <a:p>
            <a:pPr algn="l">
              <a:spcAft>
                <a:spcPts val="600"/>
              </a:spcAft>
            </a:pPr>
            <a:r>
              <a:rPr sz="900"/>
              <a:t>  </a:t>
            </a:r>
            <a:r>
              <a:rPr sz="900" b="1">
                <a:solidFill>
                  <a:srgbClr val="FF4D4D"/>
                </a:solidFill>
              </a:rPr>
              <a:t>* </a:t>
            </a:r>
            <a:r>
              <a:rPr sz="1100">
                <a:solidFill>
                  <a:srgbClr val="C8D4EE"/>
                </a:solidFill>
              </a:rPr>
              <a:t>India is now the #1 EB-5 applicant country — their HNI investors prefer Hindi WhatsApp conversations, not English contact forms</a:t>
            </a:r>
          </a:p>
          <a:p>
            <a:pPr algn="l">
              <a:spcAft>
                <a:spcPts val="600"/>
              </a:spcAft>
            </a:pPr>
            <a:r>
              <a:rPr sz="900"/>
              <a:t>  </a:t>
            </a:r>
            <a:r>
              <a:rPr sz="900" b="1">
                <a:solidFill>
                  <a:srgbClr val="FF4D4D"/>
                </a:solidFill>
              </a:rPr>
              <a:t>* </a:t>
            </a:r>
            <a:r>
              <a:rPr sz="1100">
                <a:solidFill>
                  <a:srgbClr val="C8D4EE"/>
                </a:solidFill>
              </a:rPr>
              <a:t>Chinese investors — your historical top market — use WeChat exclusively; the website has no WeChat bot or Mandarin chat support</a:t>
            </a:r>
          </a:p>
          <a:p>
            <a:pPr algn="l">
              <a:spcAft>
                <a:spcPts val="600"/>
              </a:spcAft>
            </a:pPr>
            <a:r>
              <a:rPr sz="900"/>
              <a:t>  </a:t>
            </a:r>
            <a:r>
              <a:rPr sz="900" b="1">
                <a:solidFill>
                  <a:srgbClr val="FF4D4D"/>
                </a:solidFill>
              </a:rPr>
              <a:t>* </a:t>
            </a:r>
            <a:r>
              <a:rPr sz="1100">
                <a:solidFill>
                  <a:srgbClr val="C8D4EE"/>
                </a:solidFill>
              </a:rPr>
              <a:t>UAE investors browse in Arabic; a generic 'fill the form' experience loses them to competitors with Arabic-first digital presence</a:t>
            </a:r>
          </a:p>
          <a:p>
            <a:pPr algn="l"/>
            <a:r>
              <a:rPr sz="900"/>
              <a:t>  </a:t>
            </a:r>
            <a:r>
              <a:rPr sz="900" b="1">
                <a:solidFill>
                  <a:srgbClr val="FF4D4D"/>
                </a:solidFill>
              </a:rPr>
              <a:t>* </a:t>
            </a:r>
            <a:r>
              <a:rPr sz="1100">
                <a:solidFill>
                  <a:srgbClr val="C8D4EE"/>
                </a:solidFill>
              </a:rPr>
              <a:t>FirstPathway has WeChat and Weibo accounts but no automated AI agent behind those channels to qualify investors 24/7</a:t>
            </a:r>
          </a:p>
        </p:txBody>
      </p:sp>
      <p:sp>
        <p:nvSpPr>
          <p:cNvPr id="12" name="Rectangle 11"/>
          <p:cNvSpPr/>
          <p:nvPr/>
        </p:nvSpPr>
        <p:spPr>
          <a:xfrm>
            <a:off x="4279392" y="1645920"/>
            <a:ext cx="3611880" cy="4572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0" y="1691640"/>
            <a:ext cx="3392424" cy="384048"/>
          </a:xfrm>
          <a:prstGeom prst="rect">
            <a:avLst/>
          </a:prstGeom>
          <a:noFill/>
        </p:spPr>
        <p:txBody>
          <a:bodyPr wrap="square">
            <a:spAutoFit/>
          </a:bodyPr>
          <a:lstStyle/>
          <a:p>
            <a:pPr algn="ctr"/>
            <a:r>
              <a:rPr sz="1100" b="1" i="0">
                <a:solidFill>
                  <a:srgbClr val="0A0F2E"/>
                </a:solidFill>
              </a:rPr>
              <a:t>GAP 2
MANUAL CLIENT
JOURNEY (3-5 YRS)</a:t>
            </a:r>
          </a:p>
        </p:txBody>
      </p:sp>
      <p:sp>
        <p:nvSpPr>
          <p:cNvPr id="14" name="Rectangle 13"/>
          <p:cNvSpPr/>
          <p:nvPr/>
        </p:nvSpPr>
        <p:spPr>
          <a:xfrm>
            <a:off x="4279392" y="2103120"/>
            <a:ext cx="361188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89120" y="2176272"/>
            <a:ext cx="3392424" cy="320040"/>
          </a:xfrm>
          <a:prstGeom prst="rect">
            <a:avLst/>
          </a:prstGeom>
          <a:noFill/>
        </p:spPr>
        <p:txBody>
          <a:bodyPr wrap="square">
            <a:spAutoFit/>
          </a:bodyPr>
          <a:lstStyle/>
          <a:p>
            <a:pPr algn="l"/>
            <a:r>
              <a:rPr sz="1000" b="0" i="1">
                <a:solidFill>
                  <a:srgbClr val="FF8C00"/>
                </a:solidFill>
              </a:rPr>
              <a:t>No automated touchpoints across a multi-year lifecycle</a:t>
            </a:r>
          </a:p>
        </p:txBody>
      </p:sp>
      <p:sp>
        <p:nvSpPr>
          <p:cNvPr id="16" name="TextBox 15"/>
          <p:cNvSpPr txBox="1"/>
          <p:nvPr/>
        </p:nvSpPr>
        <p:spPr>
          <a:xfrm>
            <a:off x="4389120" y="2542032"/>
            <a:ext cx="3392424" cy="3566160"/>
          </a:xfrm>
          <a:prstGeom prst="rect">
            <a:avLst/>
          </a:prstGeom>
          <a:noFill/>
        </p:spPr>
        <p:txBody>
          <a:bodyPr wrap="square">
            <a:spAutoFit/>
          </a:bodyPr>
          <a:lstStyle/>
          <a:p>
            <a:pPr algn="l">
              <a:spcAft>
                <a:spcPts val="600"/>
              </a:spcAft>
            </a:pPr>
            <a:r>
              <a:rPr sz="900"/>
              <a:t>  </a:t>
            </a:r>
            <a:r>
              <a:rPr sz="900" b="1">
                <a:solidFill>
                  <a:srgbClr val="FF8C00"/>
                </a:solidFill>
              </a:rPr>
              <a:t>* </a:t>
            </a:r>
            <a:r>
              <a:rPr sz="1100">
                <a:solidFill>
                  <a:srgbClr val="C8D4EE"/>
                </a:solidFill>
              </a:rPr>
              <a:t>The EB-5 process spans 3-5 years: I-526E → DS-260 → visa → conditional green card → I-829 → permanent residency</a:t>
            </a:r>
          </a:p>
          <a:p>
            <a:pPr algn="l">
              <a:spcAft>
                <a:spcPts val="600"/>
              </a:spcAft>
            </a:pPr>
            <a:r>
              <a:rPr sz="900"/>
              <a:t>  </a:t>
            </a:r>
            <a:r>
              <a:rPr sz="900" b="1">
                <a:solidFill>
                  <a:srgbClr val="FF8C00"/>
                </a:solidFill>
              </a:rPr>
              <a:t>* </a:t>
            </a:r>
            <a:r>
              <a:rPr sz="1100">
                <a:solidFill>
                  <a:srgbClr val="C8D4EE"/>
                </a:solidFill>
              </a:rPr>
              <a:t>Investors waiting for USCIS updates go silent for months with no proactive communication from the firm</a:t>
            </a:r>
          </a:p>
          <a:p>
            <a:pPr algn="l">
              <a:spcAft>
                <a:spcPts val="600"/>
              </a:spcAft>
            </a:pPr>
            <a:r>
              <a:rPr sz="900"/>
              <a:t>  </a:t>
            </a:r>
            <a:r>
              <a:rPr sz="900" b="1">
                <a:solidFill>
                  <a:srgbClr val="FF8C00"/>
                </a:solidFill>
              </a:rPr>
              <a:t>* </a:t>
            </a:r>
            <a:r>
              <a:rPr sz="1100">
                <a:solidFill>
                  <a:srgbClr val="C8D4EE"/>
                </a:solidFill>
              </a:rPr>
              <a:t>No automated milestone emails/WhatsApp when key stages are reached or documents are due</a:t>
            </a:r>
          </a:p>
          <a:p>
            <a:pPr algn="l"/>
            <a:r>
              <a:rPr sz="900"/>
              <a:t>  </a:t>
            </a:r>
            <a:r>
              <a:rPr sz="900" b="1">
                <a:solidFill>
                  <a:srgbClr val="FF8C00"/>
                </a:solidFill>
              </a:rPr>
              <a:t>* </a:t>
            </a:r>
            <a:r>
              <a:rPr sz="1100">
                <a:solidFill>
                  <a:srgbClr val="C8D4EE"/>
                </a:solidFill>
              </a:rPr>
              <a:t>Manual follow-up for every renewal reminder, document collection, and status update — not scalable at volume</a:t>
            </a:r>
          </a:p>
        </p:txBody>
      </p:sp>
      <p:sp>
        <p:nvSpPr>
          <p:cNvPr id="17" name="Rectangle 16"/>
          <p:cNvSpPr/>
          <p:nvPr/>
        </p:nvSpPr>
        <p:spPr>
          <a:xfrm>
            <a:off x="8055864" y="1645920"/>
            <a:ext cx="3611880" cy="45720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65592" y="1691640"/>
            <a:ext cx="3392424" cy="384048"/>
          </a:xfrm>
          <a:prstGeom prst="rect">
            <a:avLst/>
          </a:prstGeom>
          <a:noFill/>
        </p:spPr>
        <p:txBody>
          <a:bodyPr wrap="square">
            <a:spAutoFit/>
          </a:bodyPr>
          <a:lstStyle/>
          <a:p>
            <a:pPr algn="ctr"/>
            <a:r>
              <a:rPr sz="1100" b="1" i="0">
                <a:solidFill>
                  <a:srgbClr val="0A0F2E"/>
                </a:solidFill>
              </a:rPr>
              <a:t>GAP 3
WEAK HNI LEAD
GENERATION</a:t>
            </a:r>
          </a:p>
        </p:txBody>
      </p:sp>
      <p:sp>
        <p:nvSpPr>
          <p:cNvPr id="19" name="Rectangle 18"/>
          <p:cNvSpPr/>
          <p:nvPr/>
        </p:nvSpPr>
        <p:spPr>
          <a:xfrm>
            <a:off x="8055864" y="2103120"/>
            <a:ext cx="361188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65592" y="2176272"/>
            <a:ext cx="3392424" cy="320040"/>
          </a:xfrm>
          <a:prstGeom prst="rect">
            <a:avLst/>
          </a:prstGeom>
          <a:noFill/>
        </p:spPr>
        <p:txBody>
          <a:bodyPr wrap="square">
            <a:spAutoFit/>
          </a:bodyPr>
          <a:lstStyle/>
          <a:p>
            <a:pPr algn="l"/>
            <a:r>
              <a:rPr sz="1000" b="0" i="1">
                <a:solidFill>
                  <a:srgbClr val="F5C518"/>
                </a:solidFill>
              </a:rPr>
              <a:t>No digital funnel for the world's fastest-growing EB-5 market</a:t>
            </a:r>
          </a:p>
        </p:txBody>
      </p:sp>
      <p:sp>
        <p:nvSpPr>
          <p:cNvPr id="21" name="TextBox 20"/>
          <p:cNvSpPr txBox="1"/>
          <p:nvPr/>
        </p:nvSpPr>
        <p:spPr>
          <a:xfrm>
            <a:off x="8165592" y="2542032"/>
            <a:ext cx="3392424" cy="3566160"/>
          </a:xfrm>
          <a:prstGeom prst="rect">
            <a:avLst/>
          </a:prstGeom>
          <a:noFill/>
        </p:spPr>
        <p:txBody>
          <a:bodyPr wrap="square">
            <a:spAutoFit/>
          </a:bodyPr>
          <a:lstStyle/>
          <a:p>
            <a:pPr algn="l">
              <a:spcAft>
                <a:spcPts val="600"/>
              </a:spcAft>
            </a:pPr>
            <a:r>
              <a:rPr sz="900"/>
              <a:t>  </a:t>
            </a:r>
            <a:r>
              <a:rPr sz="900" b="1">
                <a:solidFill>
                  <a:srgbClr val="F5C518"/>
                </a:solidFill>
              </a:rPr>
              <a:t>* </a:t>
            </a:r>
            <a:r>
              <a:rPr sz="1100">
                <a:solidFill>
                  <a:srgbClr val="C8D4EE"/>
                </a:solidFill>
              </a:rPr>
              <a:t>Google searches for 'EB-5 visa India 2025', 'US residency investment program', 'green card for investors' return no FirstPathway content</a:t>
            </a:r>
          </a:p>
          <a:p>
            <a:pPr algn="l">
              <a:spcAft>
                <a:spcPts val="600"/>
              </a:spcAft>
            </a:pPr>
            <a:r>
              <a:rPr sz="900"/>
              <a:t>  </a:t>
            </a:r>
            <a:r>
              <a:rPr sz="900" b="1">
                <a:solidFill>
                  <a:srgbClr val="F5C518"/>
                </a:solidFill>
              </a:rPr>
              <a:t>* </a:t>
            </a:r>
            <a:r>
              <a:rPr sz="1100">
                <a:solidFill>
                  <a:srgbClr val="C8D4EE"/>
                </a:solidFill>
              </a:rPr>
              <a:t>No lead capture tool on the website — Indian and UAE visitors read the page and leave with no follow-up mechanism</a:t>
            </a:r>
          </a:p>
          <a:p>
            <a:pPr algn="l">
              <a:spcAft>
                <a:spcPts val="600"/>
              </a:spcAft>
            </a:pPr>
            <a:r>
              <a:rPr sz="900"/>
              <a:t>  </a:t>
            </a:r>
            <a:r>
              <a:rPr sz="900" b="1">
                <a:solidFill>
                  <a:srgbClr val="F5C518"/>
                </a:solidFill>
              </a:rPr>
              <a:t>* </a:t>
            </a:r>
            <a:r>
              <a:rPr sz="1100">
                <a:solidFill>
                  <a:srgbClr val="C8D4EE"/>
                </a:solidFill>
              </a:rPr>
              <a:t>No LinkedIn content engine reaching Indian HNI families, wealth managers, or immigration attorneys who refer clients</a:t>
            </a:r>
          </a:p>
          <a:p>
            <a:pPr algn="l"/>
            <a:r>
              <a:rPr sz="900"/>
              <a:t>  </a:t>
            </a:r>
            <a:r>
              <a:rPr sz="900" b="1">
                <a:solidFill>
                  <a:srgbClr val="F5C518"/>
                </a:solidFill>
              </a:rPr>
              <a:t>* </a:t>
            </a:r>
            <a:r>
              <a:rPr sz="1100">
                <a:solidFill>
                  <a:srgbClr val="C8D4EE"/>
                </a:solidFill>
              </a:rPr>
              <a:t>One qualified EB-5 investor represents $800K+ in investment and years of recurring advisory relationship</a:t>
            </a:r>
          </a:p>
        </p:txBody>
      </p:sp>
      <p:sp>
        <p:nvSpPr>
          <p:cNvPr id="22" name="Rectangle 21"/>
          <p:cNvSpPr/>
          <p:nvPr/>
        </p:nvSpPr>
        <p:spPr>
          <a:xfrm>
            <a:off x="502920" y="6446520"/>
            <a:ext cx="11183112" cy="27432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6473952"/>
            <a:ext cx="10972800" cy="228600"/>
          </a:xfrm>
          <a:prstGeom prst="rect">
            <a:avLst/>
          </a:prstGeom>
          <a:noFill/>
        </p:spPr>
        <p:txBody>
          <a:bodyPr wrap="square">
            <a:spAutoFit/>
          </a:bodyPr>
          <a:lstStyle/>
          <a:p>
            <a:pPr algn="l"/>
            <a:r>
              <a:rPr sz="1100" b="0" i="1">
                <a:solidFill>
                  <a:srgbClr val="F5C518"/>
                </a:solidFill>
              </a:rPr>
              <a:t>FirstPathway has the legal expertise, the track record, and the projects. What it lacks is a digital system that finds, qualifies, and retains investors at the speed the market now demands.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A055FF"/>
                </a:solidFill>
              </a:rPr>
              <a:t>WEBSITE &amp; DIGITAL AUDIT</a:t>
            </a:r>
          </a:p>
        </p:txBody>
      </p:sp>
      <p:sp>
        <p:nvSpPr>
          <p:cNvPr id="5" name="TextBox 4"/>
          <p:cNvSpPr txBox="1"/>
          <p:nvPr/>
        </p:nvSpPr>
        <p:spPr>
          <a:xfrm>
            <a:off x="502920" y="640080"/>
            <a:ext cx="10972800" cy="731520"/>
          </a:xfrm>
          <a:prstGeom prst="rect">
            <a:avLst/>
          </a:prstGeom>
          <a:noFill/>
        </p:spPr>
        <p:txBody>
          <a:bodyPr wrap="square">
            <a:spAutoFit/>
          </a:bodyPr>
          <a:lstStyle/>
          <a:p>
            <a:pPr algn="l"/>
            <a:r>
              <a:rPr sz="2800" b="1" i="0">
                <a:solidFill>
                  <a:srgbClr val="FFFFFF"/>
                </a:solidFill>
              </a:rPr>
              <a:t>Strong Legal Credentials. Underperforming Digital Presence.</a:t>
            </a:r>
          </a:p>
        </p:txBody>
      </p:sp>
      <p:sp>
        <p:nvSpPr>
          <p:cNvPr id="6" name="Rectangle 5"/>
          <p:cNvSpPr/>
          <p:nvPr/>
        </p:nvSpPr>
        <p:spPr>
          <a:xfrm>
            <a:off x="502920" y="1325880"/>
            <a:ext cx="1371600" cy="36576"/>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737360"/>
            <a:ext cx="3474720" cy="32918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737360"/>
            <a:ext cx="3474720" cy="384048"/>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755648"/>
            <a:ext cx="3291840" cy="347472"/>
          </a:xfrm>
          <a:prstGeom prst="rect">
            <a:avLst/>
          </a:prstGeom>
          <a:noFill/>
        </p:spPr>
        <p:txBody>
          <a:bodyPr wrap="square">
            <a:spAutoFit/>
          </a:bodyPr>
          <a:lstStyle/>
          <a:p>
            <a:pPr algn="ctr"/>
            <a:r>
              <a:rPr sz="900" b="1" i="0">
                <a:solidFill>
                  <a:srgbClr val="FFFFFF"/>
                </a:solidFill>
              </a:rPr>
              <a:t>FIRSTPATHWAY.COM TODAY</a:t>
            </a:r>
          </a:p>
        </p:txBody>
      </p:sp>
      <p:sp>
        <p:nvSpPr>
          <p:cNvPr id="10" name="TextBox 9"/>
          <p:cNvSpPr txBox="1"/>
          <p:nvPr/>
        </p:nvSpPr>
        <p:spPr>
          <a:xfrm>
            <a:off x="640080" y="2212848"/>
            <a:ext cx="3291840" cy="2651760"/>
          </a:xfrm>
          <a:prstGeom prst="rect">
            <a:avLst/>
          </a:prstGeom>
          <a:noFill/>
        </p:spPr>
        <p:txBody>
          <a:bodyPr wrap="square">
            <a:spAutoFit/>
          </a:bodyPr>
          <a:lstStyle/>
          <a:p>
            <a:pPr algn="l">
              <a:spcAft>
                <a:spcPts val="600"/>
              </a:spcAft>
            </a:pPr>
            <a:r>
              <a:rPr sz="900"/>
              <a:t>  </a:t>
            </a:r>
            <a:r>
              <a:rPr sz="900" b="1">
                <a:solidFill>
                  <a:srgbClr val="FF4D4D"/>
                </a:solidFill>
              </a:rPr>
              <a:t>* </a:t>
            </a:r>
            <a:r>
              <a:rPr sz="1100">
                <a:solidFill>
                  <a:srgbClr val="C8D4EE"/>
                </a:solidFill>
              </a:rPr>
              <a:t>English-only website — no multilingual content or chatbot</a:t>
            </a:r>
          </a:p>
          <a:p>
            <a:pPr algn="l">
              <a:spcAft>
                <a:spcPts val="600"/>
              </a:spcAft>
            </a:pPr>
            <a:r>
              <a:rPr sz="900"/>
              <a:t>  </a:t>
            </a:r>
            <a:r>
              <a:rPr sz="900" b="1">
                <a:solidFill>
                  <a:srgbClr val="FF4D4D"/>
                </a:solidFill>
              </a:rPr>
              <a:t>* </a:t>
            </a:r>
            <a:r>
              <a:rPr sz="1100">
                <a:solidFill>
                  <a:srgbClr val="C8D4EE"/>
                </a:solidFill>
              </a:rPr>
              <a:t>Static contact form — no automated investor intake workflow</a:t>
            </a:r>
          </a:p>
          <a:p>
            <a:pPr algn="l">
              <a:spcAft>
                <a:spcPts val="600"/>
              </a:spcAft>
            </a:pPr>
            <a:r>
              <a:rPr sz="900"/>
              <a:t>  </a:t>
            </a:r>
            <a:r>
              <a:rPr sz="900" b="1">
                <a:solidFill>
                  <a:srgbClr val="FF4D4D"/>
                </a:solidFill>
              </a:rPr>
              <a:t>* </a:t>
            </a:r>
            <a:r>
              <a:rPr sz="1100">
                <a:solidFill>
                  <a:srgbClr val="C8D4EE"/>
                </a:solidFill>
              </a:rPr>
              <a:t>No WhatsApp or WeChat AI bot behind social accounts</a:t>
            </a:r>
          </a:p>
          <a:p>
            <a:pPr algn="l">
              <a:spcAft>
                <a:spcPts val="600"/>
              </a:spcAft>
            </a:pPr>
            <a:r>
              <a:rPr sz="900"/>
              <a:t>  </a:t>
            </a:r>
            <a:r>
              <a:rPr sz="900" b="1">
                <a:solidFill>
                  <a:srgbClr val="FF4D4D"/>
                </a:solidFill>
              </a:rPr>
              <a:t>* </a:t>
            </a:r>
            <a:r>
              <a:rPr sz="1100">
                <a:solidFill>
                  <a:srgbClr val="C8D4EE"/>
                </a:solidFill>
              </a:rPr>
              <a:t>No investor qualification tool or ROI calculator</a:t>
            </a:r>
          </a:p>
          <a:p>
            <a:pPr algn="l">
              <a:spcAft>
                <a:spcPts val="600"/>
              </a:spcAft>
            </a:pPr>
            <a:r>
              <a:rPr sz="900"/>
              <a:t>  </a:t>
            </a:r>
            <a:r>
              <a:rPr sz="900" b="1">
                <a:solidFill>
                  <a:srgbClr val="FF4D4D"/>
                </a:solidFill>
              </a:rPr>
              <a:t>* </a:t>
            </a:r>
            <a:r>
              <a:rPr sz="1100">
                <a:solidFill>
                  <a:srgbClr val="C8D4EE"/>
                </a:solidFill>
              </a:rPr>
              <a:t>No automated status update system for active clients</a:t>
            </a:r>
          </a:p>
          <a:p>
            <a:pPr algn="l">
              <a:spcAft>
                <a:spcPts val="600"/>
              </a:spcAft>
            </a:pPr>
            <a:r>
              <a:rPr sz="900"/>
              <a:t>  </a:t>
            </a:r>
            <a:r>
              <a:rPr sz="900" b="1">
                <a:solidFill>
                  <a:srgbClr val="FF4D4D"/>
                </a:solidFill>
              </a:rPr>
              <a:t>* </a:t>
            </a:r>
            <a:r>
              <a:rPr sz="1100">
                <a:solidFill>
                  <a:srgbClr val="C8D4EE"/>
                </a:solidFill>
              </a:rPr>
              <a:t>No SEO content targeting EB-5 investor search terms</a:t>
            </a:r>
          </a:p>
          <a:p>
            <a:pPr algn="l">
              <a:spcAft>
                <a:spcPts val="600"/>
              </a:spcAft>
            </a:pPr>
            <a:r>
              <a:rPr sz="900"/>
              <a:t>  </a:t>
            </a:r>
            <a:r>
              <a:rPr sz="900" b="1">
                <a:solidFill>
                  <a:srgbClr val="FF4D4D"/>
                </a:solidFill>
              </a:rPr>
              <a:t>* </a:t>
            </a:r>
            <a:r>
              <a:rPr sz="1100">
                <a:solidFill>
                  <a:srgbClr val="C8D4EE"/>
                </a:solidFill>
              </a:rPr>
              <a:t>No LinkedIn content engine for HNI investor outreach</a:t>
            </a:r>
          </a:p>
          <a:p>
            <a:pPr algn="l"/>
            <a:r>
              <a:rPr sz="900"/>
              <a:t>  </a:t>
            </a:r>
            <a:r>
              <a:rPr sz="900" b="1">
                <a:solidFill>
                  <a:srgbClr val="FF4D4D"/>
                </a:solidFill>
              </a:rPr>
              <a:t>* </a:t>
            </a:r>
            <a:r>
              <a:rPr sz="1100">
                <a:solidFill>
                  <a:srgbClr val="C8D4EE"/>
                </a:solidFill>
              </a:rPr>
              <a:t>No webinar scheduling or automated consultation booking</a:t>
            </a:r>
          </a:p>
        </p:txBody>
      </p:sp>
      <p:sp>
        <p:nvSpPr>
          <p:cNvPr id="11" name="TextBox 10"/>
          <p:cNvSpPr txBox="1"/>
          <p:nvPr/>
        </p:nvSpPr>
        <p:spPr>
          <a:xfrm>
            <a:off x="4069080" y="3291840"/>
            <a:ext cx="457200" cy="457200"/>
          </a:xfrm>
          <a:prstGeom prst="rect">
            <a:avLst/>
          </a:prstGeom>
          <a:noFill/>
        </p:spPr>
        <p:txBody>
          <a:bodyPr wrap="square">
            <a:spAutoFit/>
          </a:bodyPr>
          <a:lstStyle/>
          <a:p>
            <a:pPr algn="ctr"/>
            <a:r>
              <a:rPr sz="3000" b="1" i="0">
                <a:solidFill>
                  <a:srgbClr val="A055FF"/>
                </a:solidFill>
              </a:rPr>
              <a:t>-&gt;</a:t>
            </a:r>
          </a:p>
        </p:txBody>
      </p:sp>
      <p:sp>
        <p:nvSpPr>
          <p:cNvPr id="12" name="Rectangle 11"/>
          <p:cNvSpPr/>
          <p:nvPr/>
        </p:nvSpPr>
        <p:spPr>
          <a:xfrm>
            <a:off x="4572000" y="1737360"/>
            <a:ext cx="3291840" cy="32918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0" y="1737360"/>
            <a:ext cx="3291840" cy="38404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3440" y="1755648"/>
            <a:ext cx="3108960" cy="347472"/>
          </a:xfrm>
          <a:prstGeom prst="rect">
            <a:avLst/>
          </a:prstGeom>
          <a:noFill/>
        </p:spPr>
        <p:txBody>
          <a:bodyPr wrap="square">
            <a:spAutoFit/>
          </a:bodyPr>
          <a:lstStyle/>
          <a:p>
            <a:pPr algn="ctr"/>
            <a:r>
              <a:rPr sz="900" b="1" i="0">
                <a:solidFill>
                  <a:srgbClr val="FFFFFF"/>
                </a:solidFill>
              </a:rPr>
              <a:t>WHAT TOP EB-5 FIRMS DO</a:t>
            </a:r>
          </a:p>
        </p:txBody>
      </p:sp>
      <p:sp>
        <p:nvSpPr>
          <p:cNvPr id="15" name="TextBox 14"/>
          <p:cNvSpPr txBox="1"/>
          <p:nvPr/>
        </p:nvSpPr>
        <p:spPr>
          <a:xfrm>
            <a:off x="4663440" y="2212848"/>
            <a:ext cx="3108960" cy="2651760"/>
          </a:xfrm>
          <a:prstGeom prst="rect">
            <a:avLst/>
          </a:prstGeom>
          <a:noFill/>
        </p:spPr>
        <p:txBody>
          <a:bodyPr wrap="square">
            <a:spAutoFit/>
          </a:bodyPr>
          <a:lstStyle/>
          <a:p>
            <a:pPr algn="l">
              <a:spcAft>
                <a:spcPts val="600"/>
              </a:spcAft>
            </a:pPr>
            <a:r>
              <a:rPr sz="900"/>
              <a:t>  </a:t>
            </a:r>
            <a:r>
              <a:rPr sz="900" b="1">
                <a:solidFill>
                  <a:srgbClr val="F5C518"/>
                </a:solidFill>
              </a:rPr>
              <a:t>* </a:t>
            </a:r>
            <a:r>
              <a:rPr sz="1100">
                <a:solidFill>
                  <a:srgbClr val="C8D4EE"/>
                </a:solidFill>
              </a:rPr>
              <a:t>Hindi / Mandarin / Arabic chatbot on homepage</a:t>
            </a:r>
          </a:p>
          <a:p>
            <a:pPr algn="l">
              <a:spcAft>
                <a:spcPts val="600"/>
              </a:spcAft>
            </a:pPr>
            <a:r>
              <a:rPr sz="900"/>
              <a:t>  </a:t>
            </a:r>
            <a:r>
              <a:rPr sz="900" b="1">
                <a:solidFill>
                  <a:srgbClr val="F5C518"/>
                </a:solidFill>
              </a:rPr>
              <a:t>* </a:t>
            </a:r>
            <a:r>
              <a:rPr sz="1100">
                <a:solidFill>
                  <a:srgbClr val="C8D4EE"/>
                </a:solidFill>
              </a:rPr>
              <a:t>WeChat AI bot qualifying Chinese investors 24/7</a:t>
            </a:r>
          </a:p>
          <a:p>
            <a:pPr algn="l">
              <a:spcAft>
                <a:spcPts val="600"/>
              </a:spcAft>
            </a:pPr>
            <a:r>
              <a:rPr sz="900"/>
              <a:t>  </a:t>
            </a:r>
            <a:r>
              <a:rPr sz="900" b="1">
                <a:solidFill>
                  <a:srgbClr val="F5C518"/>
                </a:solidFill>
              </a:rPr>
              <a:t>* </a:t>
            </a:r>
            <a:r>
              <a:rPr sz="1100">
                <a:solidFill>
                  <a:srgbClr val="C8D4EE"/>
                </a:solidFill>
              </a:rPr>
              <a:t>Automated investor intake with net worth qualification</a:t>
            </a:r>
          </a:p>
          <a:p>
            <a:pPr algn="l">
              <a:spcAft>
                <a:spcPts val="600"/>
              </a:spcAft>
            </a:pPr>
            <a:r>
              <a:rPr sz="900"/>
              <a:t>  </a:t>
            </a:r>
            <a:r>
              <a:rPr sz="900" b="1">
                <a:solidFill>
                  <a:srgbClr val="F5C518"/>
                </a:solidFill>
              </a:rPr>
              <a:t>* </a:t>
            </a:r>
            <a:r>
              <a:rPr sz="1100">
                <a:solidFill>
                  <a:srgbClr val="C8D4EE"/>
                </a:solidFill>
              </a:rPr>
              <a:t>Milestone email sequences throughout the 3-5 year journey</a:t>
            </a:r>
          </a:p>
          <a:p>
            <a:pPr algn="l">
              <a:spcAft>
                <a:spcPts val="600"/>
              </a:spcAft>
            </a:pPr>
            <a:r>
              <a:rPr sz="900"/>
              <a:t>  </a:t>
            </a:r>
            <a:r>
              <a:rPr sz="900" b="1">
                <a:solidFill>
                  <a:srgbClr val="F5C518"/>
                </a:solidFill>
              </a:rPr>
              <a:t>* </a:t>
            </a:r>
            <a:r>
              <a:rPr sz="1100">
                <a:solidFill>
                  <a:srgbClr val="C8D4EE"/>
                </a:solidFill>
              </a:rPr>
              <a:t>EB-5 ROI calculator capturing serious investor contact</a:t>
            </a:r>
          </a:p>
          <a:p>
            <a:pPr algn="l">
              <a:spcAft>
                <a:spcPts val="600"/>
              </a:spcAft>
            </a:pPr>
            <a:r>
              <a:rPr sz="900"/>
              <a:t>  </a:t>
            </a:r>
            <a:r>
              <a:rPr sz="900" b="1">
                <a:solidFill>
                  <a:srgbClr val="F5C518"/>
                </a:solidFill>
              </a:rPr>
              <a:t>* </a:t>
            </a:r>
            <a:r>
              <a:rPr sz="1100">
                <a:solidFill>
                  <a:srgbClr val="C8D4EE"/>
                </a:solidFill>
              </a:rPr>
              <a:t>SEO content ranking for 'EB-5 visa India' terms</a:t>
            </a:r>
          </a:p>
          <a:p>
            <a:pPr algn="l">
              <a:spcAft>
                <a:spcPts val="600"/>
              </a:spcAft>
            </a:pPr>
            <a:r>
              <a:rPr sz="900"/>
              <a:t>  </a:t>
            </a:r>
            <a:r>
              <a:rPr sz="900" b="1">
                <a:solidFill>
                  <a:srgbClr val="F5C518"/>
                </a:solidFill>
              </a:rPr>
              <a:t>* </a:t>
            </a:r>
            <a:r>
              <a:rPr sz="1100">
                <a:solidFill>
                  <a:srgbClr val="C8D4EE"/>
                </a:solidFill>
              </a:rPr>
              <a:t>LinkedIn articles reaching wealth managers and attorneys</a:t>
            </a:r>
          </a:p>
          <a:p>
            <a:pPr algn="l"/>
            <a:r>
              <a:rPr sz="900"/>
              <a:t>  </a:t>
            </a:r>
            <a:r>
              <a:rPr sz="900" b="1">
                <a:solidFill>
                  <a:srgbClr val="F5C518"/>
                </a:solidFill>
              </a:rPr>
              <a:t>* </a:t>
            </a:r>
            <a:r>
              <a:rPr sz="1100">
                <a:solidFill>
                  <a:srgbClr val="C8D4EE"/>
                </a:solidFill>
              </a:rPr>
              <a:t>Webinar series with automatic registration and follow-up</a:t>
            </a:r>
          </a:p>
        </p:txBody>
      </p:sp>
      <p:sp>
        <p:nvSpPr>
          <p:cNvPr id="16" name="TextBox 15"/>
          <p:cNvSpPr txBox="1"/>
          <p:nvPr/>
        </p:nvSpPr>
        <p:spPr>
          <a:xfrm>
            <a:off x="7936992" y="3291840"/>
            <a:ext cx="457200" cy="457200"/>
          </a:xfrm>
          <a:prstGeom prst="rect">
            <a:avLst/>
          </a:prstGeom>
          <a:noFill/>
        </p:spPr>
        <p:txBody>
          <a:bodyPr wrap="square">
            <a:spAutoFit/>
          </a:bodyPr>
          <a:lstStyle/>
          <a:p>
            <a:pPr algn="ctr"/>
            <a:r>
              <a:rPr sz="3000" b="1" i="0">
                <a:solidFill>
                  <a:srgbClr val="A055FF"/>
                </a:solidFill>
              </a:rPr>
              <a:t>-&gt;</a:t>
            </a:r>
          </a:p>
        </p:txBody>
      </p:sp>
      <p:sp>
        <p:nvSpPr>
          <p:cNvPr id="17" name="Rectangle 16"/>
          <p:cNvSpPr/>
          <p:nvPr/>
        </p:nvSpPr>
        <p:spPr>
          <a:xfrm>
            <a:off x="8458200" y="1737360"/>
            <a:ext cx="3291840" cy="32918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58200" y="1737360"/>
            <a:ext cx="3291840" cy="38404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49640" y="1755648"/>
            <a:ext cx="3108960" cy="347472"/>
          </a:xfrm>
          <a:prstGeom prst="rect">
            <a:avLst/>
          </a:prstGeom>
          <a:noFill/>
        </p:spPr>
        <p:txBody>
          <a:bodyPr wrap="square">
            <a:spAutoFit/>
          </a:bodyPr>
          <a:lstStyle/>
          <a:p>
            <a:pPr algn="ctr"/>
            <a:r>
              <a:rPr sz="1000" b="1" i="0">
                <a:solidFill>
                  <a:srgbClr val="FFFFFF"/>
                </a:solidFill>
              </a:rPr>
              <a:t>WHAT GENOS AI BUILDS</a:t>
            </a:r>
          </a:p>
        </p:txBody>
      </p:sp>
      <p:sp>
        <p:nvSpPr>
          <p:cNvPr id="20" name="TextBox 19"/>
          <p:cNvSpPr txBox="1"/>
          <p:nvPr/>
        </p:nvSpPr>
        <p:spPr>
          <a:xfrm>
            <a:off x="8549640" y="2212848"/>
            <a:ext cx="3108960" cy="2651760"/>
          </a:xfrm>
          <a:prstGeom prst="rect">
            <a:avLst/>
          </a:prstGeom>
          <a:noFill/>
        </p:spPr>
        <p:txBody>
          <a:bodyPr wrap="square">
            <a:spAutoFit/>
          </a:bodyPr>
          <a:lstStyle/>
          <a:p>
            <a:pPr algn="l">
              <a:spcAft>
                <a:spcPts val="600"/>
              </a:spcAft>
            </a:pPr>
            <a:r>
              <a:rPr sz="900"/>
              <a:t>  </a:t>
            </a:r>
            <a:r>
              <a:rPr sz="900" b="1">
                <a:solidFill>
                  <a:srgbClr val="2ECC71"/>
                </a:solidFill>
              </a:rPr>
              <a:t>* </a:t>
            </a:r>
            <a:r>
              <a:rPr sz="1100">
                <a:solidFill>
                  <a:srgbClr val="C8D4EE"/>
                </a:solidFill>
              </a:rPr>
              <a:t>Multilingual chatbot: Hindi + Mandarin + Arabic + English</a:t>
            </a:r>
          </a:p>
          <a:p>
            <a:pPr algn="l">
              <a:spcAft>
                <a:spcPts val="600"/>
              </a:spcAft>
            </a:pPr>
            <a:r>
              <a:rPr sz="900"/>
              <a:t>  </a:t>
            </a:r>
            <a:r>
              <a:rPr sz="900" b="1">
                <a:solidFill>
                  <a:srgbClr val="2ECC71"/>
                </a:solidFill>
              </a:rPr>
              <a:t>* </a:t>
            </a:r>
            <a:r>
              <a:rPr sz="1100">
                <a:solidFill>
                  <a:srgbClr val="C8D4EE"/>
                </a:solidFill>
              </a:rPr>
              <a:t>WeChat AI agent: qualify Chinese investors on their platform</a:t>
            </a:r>
          </a:p>
          <a:p>
            <a:pPr algn="l">
              <a:spcAft>
                <a:spcPts val="600"/>
              </a:spcAft>
            </a:pPr>
            <a:r>
              <a:rPr sz="900"/>
              <a:t>  </a:t>
            </a:r>
            <a:r>
              <a:rPr sz="900" b="1">
                <a:solidFill>
                  <a:srgbClr val="2ECC71"/>
                </a:solidFill>
              </a:rPr>
              <a:t>* </a:t>
            </a:r>
            <a:r>
              <a:rPr sz="1100">
                <a:solidFill>
                  <a:srgbClr val="C8D4EE"/>
                </a:solidFill>
              </a:rPr>
              <a:t>Automated investor intake: 8-question qualification flow</a:t>
            </a:r>
          </a:p>
          <a:p>
            <a:pPr algn="l">
              <a:spcAft>
                <a:spcPts val="600"/>
              </a:spcAft>
            </a:pPr>
            <a:r>
              <a:rPr sz="900"/>
              <a:t>  </a:t>
            </a:r>
            <a:r>
              <a:rPr sz="900" b="1">
                <a:solidFill>
                  <a:srgbClr val="2ECC71"/>
                </a:solidFill>
              </a:rPr>
              <a:t>* </a:t>
            </a:r>
            <a:r>
              <a:rPr sz="1100">
                <a:solidFill>
                  <a:srgbClr val="C8D4EE"/>
                </a:solidFill>
              </a:rPr>
              <a:t>Client journey emails: I-526E → DS-260 → I-829 milestones</a:t>
            </a:r>
          </a:p>
          <a:p>
            <a:pPr algn="l">
              <a:spcAft>
                <a:spcPts val="600"/>
              </a:spcAft>
            </a:pPr>
            <a:r>
              <a:rPr sz="900"/>
              <a:t>  </a:t>
            </a:r>
            <a:r>
              <a:rPr sz="900" b="1">
                <a:solidFill>
                  <a:srgbClr val="2ECC71"/>
                </a:solidFill>
              </a:rPr>
              <a:t>* </a:t>
            </a:r>
            <a:r>
              <a:rPr sz="1100">
                <a:solidFill>
                  <a:srgbClr val="C8D4EE"/>
                </a:solidFill>
              </a:rPr>
              <a:t>EB-5 ROI / residency benefit calculator with lead capture</a:t>
            </a:r>
          </a:p>
          <a:p>
            <a:pPr algn="l">
              <a:spcAft>
                <a:spcPts val="600"/>
              </a:spcAft>
            </a:pPr>
            <a:r>
              <a:rPr sz="900"/>
              <a:t>  </a:t>
            </a:r>
            <a:r>
              <a:rPr sz="900" b="1">
                <a:solidFill>
                  <a:srgbClr val="2ECC71"/>
                </a:solidFill>
              </a:rPr>
              <a:t>* </a:t>
            </a:r>
            <a:r>
              <a:rPr sz="1100">
                <a:solidFill>
                  <a:srgbClr val="C8D4EE"/>
                </a:solidFill>
              </a:rPr>
              <a:t>SEO content: 12+ articles targeting EB-5 India/UAE/China</a:t>
            </a:r>
          </a:p>
          <a:p>
            <a:pPr algn="l">
              <a:spcAft>
                <a:spcPts val="600"/>
              </a:spcAft>
            </a:pPr>
            <a:r>
              <a:rPr sz="900"/>
              <a:t>  </a:t>
            </a:r>
            <a:r>
              <a:rPr sz="900" b="1">
                <a:solidFill>
                  <a:srgbClr val="2ECC71"/>
                </a:solidFill>
              </a:rPr>
              <a:t>* </a:t>
            </a:r>
            <a:r>
              <a:rPr sz="1100">
                <a:solidFill>
                  <a:srgbClr val="C8D4EE"/>
                </a:solidFill>
              </a:rPr>
              <a:t>LinkedIn content engine: 3 posts/week for HNI audience</a:t>
            </a:r>
          </a:p>
          <a:p>
            <a:pPr algn="l"/>
            <a:r>
              <a:rPr sz="900"/>
              <a:t>  </a:t>
            </a:r>
            <a:r>
              <a:rPr sz="900" b="1">
                <a:solidFill>
                  <a:srgbClr val="2ECC71"/>
                </a:solidFill>
              </a:rPr>
              <a:t>* </a:t>
            </a:r>
            <a:r>
              <a:rPr sz="1100">
                <a:solidFill>
                  <a:srgbClr val="C8D4EE"/>
                </a:solidFill>
              </a:rPr>
              <a:t>Webinar automation: registration, reminders, replay email</a:t>
            </a:r>
          </a:p>
        </p:txBody>
      </p:sp>
      <p:sp>
        <p:nvSpPr>
          <p:cNvPr id="21" name="Rectangle 20"/>
          <p:cNvSpPr/>
          <p:nvPr/>
        </p:nvSpPr>
        <p:spPr>
          <a:xfrm>
            <a:off x="502920" y="5230368"/>
            <a:ext cx="11183112" cy="1170432"/>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5285232"/>
            <a:ext cx="2560320" cy="347472"/>
          </a:xfrm>
          <a:prstGeom prst="rect">
            <a:avLst/>
          </a:prstGeom>
          <a:noFill/>
        </p:spPr>
        <p:txBody>
          <a:bodyPr wrap="square">
            <a:spAutoFit/>
          </a:bodyPr>
          <a:lstStyle/>
          <a:p>
            <a:pPr algn="l"/>
            <a:r>
              <a:rPr sz="1100" b="1" i="0">
                <a:solidFill>
                  <a:srgbClr val="A055FF"/>
                </a:solidFill>
              </a:rPr>
              <a:t>DIGITAL BENCHMARKS:</a:t>
            </a:r>
          </a:p>
        </p:txBody>
      </p:sp>
      <p:sp>
        <p:nvSpPr>
          <p:cNvPr id="23" name="TextBox 22"/>
          <p:cNvSpPr txBox="1"/>
          <p:nvPr/>
        </p:nvSpPr>
        <p:spPr>
          <a:xfrm>
            <a:off x="3337560" y="5257800"/>
            <a:ext cx="2194560" cy="502920"/>
          </a:xfrm>
          <a:prstGeom prst="rect">
            <a:avLst/>
          </a:prstGeom>
          <a:noFill/>
        </p:spPr>
        <p:txBody>
          <a:bodyPr wrap="square">
            <a:spAutoFit/>
          </a:bodyPr>
          <a:lstStyle/>
          <a:p>
            <a:pPr algn="ctr"/>
            <a:r>
              <a:rPr sz="2000" b="1" i="0">
                <a:solidFill>
                  <a:srgbClr val="F5C518"/>
                </a:solidFill>
              </a:rPr>
              <a:t>#1 Market</a:t>
            </a:r>
          </a:p>
        </p:txBody>
      </p:sp>
      <p:sp>
        <p:nvSpPr>
          <p:cNvPr id="24" name="TextBox 23"/>
          <p:cNvSpPr txBox="1"/>
          <p:nvPr/>
        </p:nvSpPr>
        <p:spPr>
          <a:xfrm>
            <a:off x="3337560" y="5687568"/>
            <a:ext cx="2194560" cy="640080"/>
          </a:xfrm>
          <a:prstGeom prst="rect">
            <a:avLst/>
          </a:prstGeom>
          <a:noFill/>
        </p:spPr>
        <p:txBody>
          <a:bodyPr wrap="square">
            <a:spAutoFit/>
          </a:bodyPr>
          <a:lstStyle/>
          <a:p>
            <a:pPr algn="ctr"/>
            <a:r>
              <a:rPr sz="1000" b="0" i="0">
                <a:solidFill>
                  <a:srgbClr val="C8D4EE"/>
                </a:solidFill>
              </a:rPr>
              <a:t>India: fastest-growing
EB-5 applicant country</a:t>
            </a:r>
          </a:p>
        </p:txBody>
      </p:sp>
      <p:sp>
        <p:nvSpPr>
          <p:cNvPr id="25" name="TextBox 24"/>
          <p:cNvSpPr txBox="1"/>
          <p:nvPr/>
        </p:nvSpPr>
        <p:spPr>
          <a:xfrm>
            <a:off x="5669280" y="5257800"/>
            <a:ext cx="2194560" cy="502920"/>
          </a:xfrm>
          <a:prstGeom prst="rect">
            <a:avLst/>
          </a:prstGeom>
          <a:noFill/>
        </p:spPr>
        <p:txBody>
          <a:bodyPr wrap="square">
            <a:spAutoFit/>
          </a:bodyPr>
          <a:lstStyle/>
          <a:p>
            <a:pPr algn="ctr"/>
            <a:r>
              <a:rPr sz="2000" b="1" i="0">
                <a:solidFill>
                  <a:srgbClr val="F5C518"/>
                </a:solidFill>
              </a:rPr>
              <a:t>$800K+</a:t>
            </a:r>
          </a:p>
        </p:txBody>
      </p:sp>
      <p:sp>
        <p:nvSpPr>
          <p:cNvPr id="26" name="TextBox 25"/>
          <p:cNvSpPr txBox="1"/>
          <p:nvPr/>
        </p:nvSpPr>
        <p:spPr>
          <a:xfrm>
            <a:off x="5669280" y="5687568"/>
            <a:ext cx="2194560" cy="640080"/>
          </a:xfrm>
          <a:prstGeom prst="rect">
            <a:avLst/>
          </a:prstGeom>
          <a:noFill/>
        </p:spPr>
        <p:txBody>
          <a:bodyPr wrap="square">
            <a:spAutoFit/>
          </a:bodyPr>
          <a:lstStyle/>
          <a:p>
            <a:pPr algn="ctr"/>
            <a:r>
              <a:rPr sz="1000" b="0" i="0">
                <a:solidFill>
                  <a:srgbClr val="C8D4EE"/>
                </a:solidFill>
              </a:rPr>
              <a:t>Revenue per investor —
justifies AI at any cost</a:t>
            </a:r>
          </a:p>
        </p:txBody>
      </p:sp>
      <p:sp>
        <p:nvSpPr>
          <p:cNvPr id="27" name="TextBox 26"/>
          <p:cNvSpPr txBox="1"/>
          <p:nvPr/>
        </p:nvSpPr>
        <p:spPr>
          <a:xfrm>
            <a:off x="8001000" y="5257800"/>
            <a:ext cx="2194560" cy="502920"/>
          </a:xfrm>
          <a:prstGeom prst="rect">
            <a:avLst/>
          </a:prstGeom>
          <a:noFill/>
        </p:spPr>
        <p:txBody>
          <a:bodyPr wrap="square">
            <a:spAutoFit/>
          </a:bodyPr>
          <a:lstStyle/>
          <a:p>
            <a:pPr algn="ctr"/>
            <a:r>
              <a:rPr sz="2000" b="1" i="0">
                <a:solidFill>
                  <a:srgbClr val="F5C518"/>
                </a:solidFill>
              </a:rPr>
              <a:t>3-5 Years</a:t>
            </a:r>
          </a:p>
        </p:txBody>
      </p:sp>
      <p:sp>
        <p:nvSpPr>
          <p:cNvPr id="28" name="TextBox 27"/>
          <p:cNvSpPr txBox="1"/>
          <p:nvPr/>
        </p:nvSpPr>
        <p:spPr>
          <a:xfrm>
            <a:off x="8001000" y="5687568"/>
            <a:ext cx="2194560" cy="640080"/>
          </a:xfrm>
          <a:prstGeom prst="rect">
            <a:avLst/>
          </a:prstGeom>
          <a:noFill/>
        </p:spPr>
        <p:txBody>
          <a:bodyPr wrap="square">
            <a:spAutoFit/>
          </a:bodyPr>
          <a:lstStyle/>
          <a:p>
            <a:pPr algn="ctr"/>
            <a:r>
              <a:rPr sz="1000" b="0" i="0">
                <a:solidFill>
                  <a:srgbClr val="C8D4EE"/>
                </a:solidFill>
              </a:rPr>
              <a:t>Client lifecycle with
zero automated touchpoints</a:t>
            </a:r>
          </a:p>
        </p:txBody>
      </p:sp>
      <p:sp>
        <p:nvSpPr>
          <p:cNvPr id="29" name="TextBox 28"/>
          <p:cNvSpPr txBox="1"/>
          <p:nvPr/>
        </p:nvSpPr>
        <p:spPr>
          <a:xfrm>
            <a:off x="10332720" y="5257800"/>
            <a:ext cx="2194560" cy="502920"/>
          </a:xfrm>
          <a:prstGeom prst="rect">
            <a:avLst/>
          </a:prstGeom>
          <a:noFill/>
        </p:spPr>
        <p:txBody>
          <a:bodyPr wrap="square">
            <a:spAutoFit/>
          </a:bodyPr>
          <a:lstStyle/>
          <a:p>
            <a:pPr algn="ctr"/>
            <a:r>
              <a:rPr sz="2000" b="1" i="0">
                <a:solidFill>
                  <a:srgbClr val="F5C518"/>
                </a:solidFill>
              </a:rPr>
              <a:t>70%+</a:t>
            </a:r>
          </a:p>
        </p:txBody>
      </p:sp>
      <p:sp>
        <p:nvSpPr>
          <p:cNvPr id="30" name="TextBox 29"/>
          <p:cNvSpPr txBox="1"/>
          <p:nvPr/>
        </p:nvSpPr>
        <p:spPr>
          <a:xfrm>
            <a:off x="10332720" y="5687568"/>
            <a:ext cx="2194560" cy="640080"/>
          </a:xfrm>
          <a:prstGeom prst="rect">
            <a:avLst/>
          </a:prstGeom>
          <a:noFill/>
        </p:spPr>
        <p:txBody>
          <a:bodyPr wrap="square">
            <a:spAutoFit/>
          </a:bodyPr>
          <a:lstStyle/>
          <a:p>
            <a:pPr algn="ctr"/>
            <a:r>
              <a:rPr sz="1000" b="0" i="0">
                <a:solidFill>
                  <a:srgbClr val="C8D4EE"/>
                </a:solidFill>
              </a:rPr>
              <a:t>HNI investors research
online before contacting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4F8EFF"/>
                </a:solidFill>
              </a:rPr>
              <a:t>AI AUTOMATION STACK</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2800" b="1" i="0">
                <a:solidFill>
                  <a:srgbClr val="FFFFFF"/>
                </a:solidFill>
              </a:rPr>
              <a:t>Four Systems Built for an EB-5 Immigration Firm.</a:t>
            </a:r>
          </a:p>
        </p:txBody>
      </p:sp>
      <p:sp>
        <p:nvSpPr>
          <p:cNvPr id="6" name="Rectangle 5"/>
          <p:cNvSpPr/>
          <p:nvPr/>
        </p:nvSpPr>
        <p:spPr>
          <a:xfrm>
            <a:off x="502920" y="1234440"/>
            <a:ext cx="1097280" cy="36576"/>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2697480"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700784"/>
            <a:ext cx="269748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1810512"/>
            <a:ext cx="2478024" cy="594360"/>
          </a:xfrm>
          <a:prstGeom prst="rect">
            <a:avLst/>
          </a:prstGeom>
          <a:noFill/>
        </p:spPr>
        <p:txBody>
          <a:bodyPr wrap="square">
            <a:spAutoFit/>
          </a:bodyPr>
          <a:lstStyle/>
          <a:p>
            <a:pPr algn="l"/>
            <a:r>
              <a:rPr sz="1300" b="1" i="0">
                <a:solidFill>
                  <a:srgbClr val="00B4D8"/>
                </a:solidFill>
              </a:rPr>
              <a:t>Multilingual
Investor AI Agent</a:t>
            </a:r>
          </a:p>
        </p:txBody>
      </p:sp>
      <p:sp>
        <p:nvSpPr>
          <p:cNvPr id="10" name="TextBox 9"/>
          <p:cNvSpPr txBox="1"/>
          <p:nvPr/>
        </p:nvSpPr>
        <p:spPr>
          <a:xfrm>
            <a:off x="612648" y="2423160"/>
            <a:ext cx="2478024" cy="3337560"/>
          </a:xfrm>
          <a:prstGeom prst="rect">
            <a:avLst/>
          </a:prstGeom>
          <a:noFill/>
        </p:spPr>
        <p:txBody>
          <a:bodyPr wrap="square">
            <a:spAutoFit/>
          </a:bodyPr>
          <a:lstStyle/>
          <a:p>
            <a:pPr algn="l"/>
            <a:r>
              <a:rPr sz="1100" b="0" i="0">
                <a:solidFill>
                  <a:srgbClr val="C8D4EE"/>
                </a:solidFill>
              </a:rPr>
              <a:t>An AI agent deployed on your website, WhatsApp, and WeChat that communicates fluently in English, Hindi, Mandarin, and Arabic. It asks 8 qualifying questions: investment budget, timeline, current country, visa history, family composition, preferred project type, urgency, and contact preference. Serious investors ($800K+ capacity, clear timeline) are routed to Asif with a full brief. Early-stage inquiries enter a nurture sequence. Runs 24/7 — no staff required.</a:t>
            </a:r>
          </a:p>
        </p:txBody>
      </p:sp>
      <p:sp>
        <p:nvSpPr>
          <p:cNvPr id="11" name="Rectangle 10"/>
          <p:cNvSpPr/>
          <p:nvPr/>
        </p:nvSpPr>
        <p:spPr>
          <a:xfrm>
            <a:off x="3346704" y="1645920"/>
            <a:ext cx="2697480" cy="54864"/>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46704" y="1700784"/>
            <a:ext cx="269748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6432" y="1810512"/>
            <a:ext cx="2478024" cy="594360"/>
          </a:xfrm>
          <a:prstGeom prst="rect">
            <a:avLst/>
          </a:prstGeom>
          <a:noFill/>
        </p:spPr>
        <p:txBody>
          <a:bodyPr wrap="square">
            <a:spAutoFit/>
          </a:bodyPr>
          <a:lstStyle/>
          <a:p>
            <a:pPr algn="l"/>
            <a:r>
              <a:rPr sz="1300" b="1" i="0">
                <a:solidFill>
                  <a:srgbClr val="F5C518"/>
                </a:solidFill>
              </a:rPr>
              <a:t>Client Journey
Automation</a:t>
            </a:r>
          </a:p>
        </p:txBody>
      </p:sp>
      <p:sp>
        <p:nvSpPr>
          <p:cNvPr id="14" name="TextBox 13"/>
          <p:cNvSpPr txBox="1"/>
          <p:nvPr/>
        </p:nvSpPr>
        <p:spPr>
          <a:xfrm>
            <a:off x="3456432" y="2423160"/>
            <a:ext cx="2478024" cy="3337560"/>
          </a:xfrm>
          <a:prstGeom prst="rect">
            <a:avLst/>
          </a:prstGeom>
          <a:noFill/>
        </p:spPr>
        <p:txBody>
          <a:bodyPr wrap="square">
            <a:spAutoFit/>
          </a:bodyPr>
          <a:lstStyle/>
          <a:p>
            <a:pPr algn="l"/>
            <a:r>
              <a:rPr sz="1100" b="0" i="0">
                <a:solidFill>
                  <a:srgbClr val="C8D4EE"/>
                </a:solidFill>
              </a:rPr>
              <a:t>A milestone-based communication system that tracks every active client through the EB-5 lifecycle and sends proactive updates at each stage. I-526E filed → confirmation and expected timeline. I-526E approved → celebration + DS-260 action steps. DS-260 submitted → NVC processing update. Visa interview scheduled → prep guide. I-829 window approaching → automated reminder and document checklist. Congratulations on permanent residency. Every investor stays informed without a single manual email.</a:t>
            </a:r>
          </a:p>
        </p:txBody>
      </p:sp>
      <p:sp>
        <p:nvSpPr>
          <p:cNvPr id="15" name="Rectangle 14"/>
          <p:cNvSpPr/>
          <p:nvPr/>
        </p:nvSpPr>
        <p:spPr>
          <a:xfrm>
            <a:off x="6190488" y="1645920"/>
            <a:ext cx="2697480" cy="54864"/>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0488" y="1700784"/>
            <a:ext cx="269748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0216" y="1810512"/>
            <a:ext cx="2478024" cy="594360"/>
          </a:xfrm>
          <a:prstGeom prst="rect">
            <a:avLst/>
          </a:prstGeom>
          <a:noFill/>
        </p:spPr>
        <p:txBody>
          <a:bodyPr wrap="square">
            <a:spAutoFit/>
          </a:bodyPr>
          <a:lstStyle/>
          <a:p>
            <a:pPr algn="l"/>
            <a:r>
              <a:rPr sz="1300" b="1" i="0">
                <a:solidFill>
                  <a:srgbClr val="A055FF"/>
                </a:solidFill>
              </a:rPr>
              <a:t>HNI Lead
Qualification Engine</a:t>
            </a:r>
          </a:p>
        </p:txBody>
      </p:sp>
      <p:sp>
        <p:nvSpPr>
          <p:cNvPr id="18" name="TextBox 17"/>
          <p:cNvSpPr txBox="1"/>
          <p:nvPr/>
        </p:nvSpPr>
        <p:spPr>
          <a:xfrm>
            <a:off x="6300216" y="2423160"/>
            <a:ext cx="2478024" cy="3337560"/>
          </a:xfrm>
          <a:prstGeom prst="rect">
            <a:avLst/>
          </a:prstGeom>
          <a:noFill/>
        </p:spPr>
        <p:txBody>
          <a:bodyPr wrap="square">
            <a:spAutoFit/>
          </a:bodyPr>
          <a:lstStyle/>
          <a:p>
            <a:pPr algn="l"/>
            <a:r>
              <a:rPr sz="1100" b="0" i="0">
                <a:solidFill>
                  <a:srgbClr val="C8D4EE"/>
                </a:solidFill>
              </a:rPr>
              <a:t>A real-time lead scoring and routing system that evaluates every inbound inquiry against 6 criteria: net worth signal, investment timeline, country eligibility, visa history, seriousness indicators, and source quality. High-scoring leads are pushed to Asif's calendar as priority. Mid-tier leads enter a 30-day education sequence. Low-tier leads get automated resources. FirstPathway's pipeline is always sorted by value — the team focuses on the $800K conversations, not the 'just curious' traffic.</a:t>
            </a:r>
          </a:p>
        </p:txBody>
      </p:sp>
      <p:sp>
        <p:nvSpPr>
          <p:cNvPr id="19" name="Rectangle 18"/>
          <p:cNvSpPr/>
          <p:nvPr/>
        </p:nvSpPr>
        <p:spPr>
          <a:xfrm>
            <a:off x="9034272" y="1645920"/>
            <a:ext cx="2697480" cy="54864"/>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34272" y="1700784"/>
            <a:ext cx="269748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0" y="1810512"/>
            <a:ext cx="2478024" cy="594360"/>
          </a:xfrm>
          <a:prstGeom prst="rect">
            <a:avLst/>
          </a:prstGeom>
          <a:noFill/>
        </p:spPr>
        <p:txBody>
          <a:bodyPr wrap="square">
            <a:spAutoFit/>
          </a:bodyPr>
          <a:lstStyle/>
          <a:p>
            <a:pPr algn="l"/>
            <a:r>
              <a:rPr sz="1300" b="1" i="0">
                <a:solidFill>
                  <a:srgbClr val="FF8C00"/>
                </a:solidFill>
              </a:rPr>
              <a:t>Content &amp; SEO
Outreach Engine</a:t>
            </a:r>
          </a:p>
        </p:txBody>
      </p:sp>
      <p:sp>
        <p:nvSpPr>
          <p:cNvPr id="22" name="TextBox 21"/>
          <p:cNvSpPr txBox="1"/>
          <p:nvPr/>
        </p:nvSpPr>
        <p:spPr>
          <a:xfrm>
            <a:off x="9144000" y="2423160"/>
            <a:ext cx="2478024" cy="3337560"/>
          </a:xfrm>
          <a:prstGeom prst="rect">
            <a:avLst/>
          </a:prstGeom>
          <a:noFill/>
        </p:spPr>
        <p:txBody>
          <a:bodyPr wrap="square">
            <a:spAutoFit/>
          </a:bodyPr>
          <a:lstStyle/>
          <a:p>
            <a:pPr algn="l"/>
            <a:r>
              <a:rPr sz="1100" b="0" i="0">
                <a:solidFill>
                  <a:srgbClr val="C8D4EE"/>
                </a:solidFill>
              </a:rPr>
              <a:t>A content production and distribution system that publishes 3 LinkedIn posts per week, 2 blog articles per month targeting Indian and UAE EB-5 search terms, and a monthly webinar in Hindi or Mandarin. Topics include: EB-5 visa India 2025 timeline, how Indian HNIs qualify for US permanent residency, Ameyalli and Kaia project deep dives, EB-5 vs. other US residency routes. Email sequences in native languages warm the audience before Asif ever gets on a call.</a:t>
            </a:r>
          </a:p>
        </p:txBody>
      </p:sp>
      <p:sp>
        <p:nvSpPr>
          <p:cNvPr id="23" name="Rectangle 22"/>
          <p:cNvSpPr/>
          <p:nvPr/>
        </p:nvSpPr>
        <p:spPr>
          <a:xfrm>
            <a:off x="502920" y="6126480"/>
            <a:ext cx="11183112" cy="4114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172200"/>
            <a:ext cx="10972800" cy="320040"/>
          </a:xfrm>
          <a:prstGeom prst="rect">
            <a:avLst/>
          </a:prstGeom>
          <a:noFill/>
        </p:spPr>
        <p:txBody>
          <a:bodyPr wrap="square">
            <a:spAutoFit/>
          </a:bodyPr>
          <a:lstStyle/>
          <a:p>
            <a:pPr algn="l"/>
            <a:r>
              <a:rPr sz="1100" b="0" i="1">
                <a:solidFill>
                  <a:srgbClr val="F5C518"/>
                </a:solidFill>
              </a:rPr>
              <a:t>Asif and Wilka handle the legal expertise and investor relationships. Genos AI handles every digital touchpoint before the first call and throughout the 5-year journey.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00B4D8"/>
                </a:solidFill>
              </a:rPr>
              <a:t>THE MULTILINGUAL IMPERATIVE</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2600" b="1" i="0">
                <a:solidFill>
                  <a:srgbClr val="FFFFFF"/>
                </a:solidFill>
              </a:rPr>
              <a:t>India, UAE, and China Are the EB-5 Market. None of Them Speak English First.</a:t>
            </a:r>
          </a:p>
        </p:txBody>
      </p:sp>
      <p:sp>
        <p:nvSpPr>
          <p:cNvPr id="6" name="Rectangle 5"/>
          <p:cNvSpPr/>
          <p:nvPr/>
        </p:nvSpPr>
        <p:spPr>
          <a:xfrm>
            <a:off x="502920" y="1234440"/>
            <a:ext cx="228600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08760"/>
            <a:ext cx="11183112" cy="141732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581912"/>
            <a:ext cx="2011680" cy="594360"/>
          </a:xfrm>
          <a:prstGeom prst="rect">
            <a:avLst/>
          </a:prstGeom>
          <a:noFill/>
        </p:spPr>
        <p:txBody>
          <a:bodyPr wrap="square">
            <a:spAutoFit/>
          </a:bodyPr>
          <a:lstStyle/>
          <a:p>
            <a:pPr algn="ctr"/>
            <a:r>
              <a:rPr sz="1800" b="1" i="0">
                <a:solidFill>
                  <a:srgbClr val="00B4D8"/>
                </a:solidFill>
              </a:rPr>
              <a:t>#1 Market</a:t>
            </a:r>
          </a:p>
        </p:txBody>
      </p:sp>
      <p:sp>
        <p:nvSpPr>
          <p:cNvPr id="9" name="TextBox 8"/>
          <p:cNvSpPr txBox="1"/>
          <p:nvPr/>
        </p:nvSpPr>
        <p:spPr>
          <a:xfrm>
            <a:off x="640080" y="2130552"/>
            <a:ext cx="2011680" cy="457200"/>
          </a:xfrm>
          <a:prstGeom prst="rect">
            <a:avLst/>
          </a:prstGeom>
          <a:noFill/>
        </p:spPr>
        <p:txBody>
          <a:bodyPr wrap="square">
            <a:spAutoFit/>
          </a:bodyPr>
          <a:lstStyle/>
          <a:p>
            <a:pPr algn="ctr"/>
            <a:r>
              <a:rPr sz="1000" b="0" i="0">
                <a:solidFill>
                  <a:srgbClr val="C8D4EE"/>
                </a:solidFill>
              </a:rPr>
              <a:t>India: largest new EB-5
applicant nation (2024-25)</a:t>
            </a:r>
          </a:p>
        </p:txBody>
      </p:sp>
      <p:sp>
        <p:nvSpPr>
          <p:cNvPr id="10" name="TextBox 9"/>
          <p:cNvSpPr txBox="1"/>
          <p:nvPr/>
        </p:nvSpPr>
        <p:spPr>
          <a:xfrm>
            <a:off x="2788920" y="1581912"/>
            <a:ext cx="2011680" cy="594360"/>
          </a:xfrm>
          <a:prstGeom prst="rect">
            <a:avLst/>
          </a:prstGeom>
          <a:noFill/>
        </p:spPr>
        <p:txBody>
          <a:bodyPr wrap="square">
            <a:spAutoFit/>
          </a:bodyPr>
          <a:lstStyle/>
          <a:p>
            <a:pPr algn="ctr"/>
            <a:r>
              <a:rPr sz="1800" b="1" i="0">
                <a:solidFill>
                  <a:srgbClr val="00B4D8"/>
                </a:solidFill>
              </a:rPr>
              <a:t>500M+</a:t>
            </a:r>
          </a:p>
        </p:txBody>
      </p:sp>
      <p:sp>
        <p:nvSpPr>
          <p:cNvPr id="11" name="TextBox 10"/>
          <p:cNvSpPr txBox="1"/>
          <p:nvPr/>
        </p:nvSpPr>
        <p:spPr>
          <a:xfrm>
            <a:off x="2788920" y="2130552"/>
            <a:ext cx="2011680" cy="457200"/>
          </a:xfrm>
          <a:prstGeom prst="rect">
            <a:avLst/>
          </a:prstGeom>
          <a:noFill/>
        </p:spPr>
        <p:txBody>
          <a:bodyPr wrap="square">
            <a:spAutoFit/>
          </a:bodyPr>
          <a:lstStyle/>
          <a:p>
            <a:pPr algn="ctr"/>
            <a:r>
              <a:rPr sz="1000" b="0" i="0">
                <a:solidFill>
                  <a:srgbClr val="C8D4EE"/>
                </a:solidFill>
              </a:rPr>
              <a:t>WhatsApp users in India —
their preferred channel</a:t>
            </a:r>
          </a:p>
        </p:txBody>
      </p:sp>
      <p:sp>
        <p:nvSpPr>
          <p:cNvPr id="12" name="TextBox 11"/>
          <p:cNvSpPr txBox="1"/>
          <p:nvPr/>
        </p:nvSpPr>
        <p:spPr>
          <a:xfrm>
            <a:off x="4937760" y="1581912"/>
            <a:ext cx="2011680" cy="594360"/>
          </a:xfrm>
          <a:prstGeom prst="rect">
            <a:avLst/>
          </a:prstGeom>
          <a:noFill/>
        </p:spPr>
        <p:txBody>
          <a:bodyPr wrap="square">
            <a:spAutoFit/>
          </a:bodyPr>
          <a:lstStyle/>
          <a:p>
            <a:pPr algn="ctr"/>
            <a:r>
              <a:rPr sz="1800" b="1" i="0">
                <a:solidFill>
                  <a:srgbClr val="00B4D8"/>
                </a:solidFill>
              </a:rPr>
              <a:t>1.4B</a:t>
            </a:r>
          </a:p>
        </p:txBody>
      </p:sp>
      <p:sp>
        <p:nvSpPr>
          <p:cNvPr id="13" name="TextBox 12"/>
          <p:cNvSpPr txBox="1"/>
          <p:nvPr/>
        </p:nvSpPr>
        <p:spPr>
          <a:xfrm>
            <a:off x="4937760" y="2130552"/>
            <a:ext cx="2011680" cy="457200"/>
          </a:xfrm>
          <a:prstGeom prst="rect">
            <a:avLst/>
          </a:prstGeom>
          <a:noFill/>
        </p:spPr>
        <p:txBody>
          <a:bodyPr wrap="square">
            <a:spAutoFit/>
          </a:bodyPr>
          <a:lstStyle/>
          <a:p>
            <a:pPr algn="ctr"/>
            <a:r>
              <a:rPr sz="1000" b="0" i="0">
                <a:solidFill>
                  <a:srgbClr val="C8D4EE"/>
                </a:solidFill>
              </a:rPr>
              <a:t>WeChat monthly active users —
how Chinese investors communicate</a:t>
            </a:r>
          </a:p>
        </p:txBody>
      </p:sp>
      <p:sp>
        <p:nvSpPr>
          <p:cNvPr id="14" name="TextBox 13"/>
          <p:cNvSpPr txBox="1"/>
          <p:nvPr/>
        </p:nvSpPr>
        <p:spPr>
          <a:xfrm>
            <a:off x="7086600" y="1581912"/>
            <a:ext cx="2011680" cy="594360"/>
          </a:xfrm>
          <a:prstGeom prst="rect">
            <a:avLst/>
          </a:prstGeom>
          <a:noFill/>
        </p:spPr>
        <p:txBody>
          <a:bodyPr wrap="square">
            <a:spAutoFit/>
          </a:bodyPr>
          <a:lstStyle/>
          <a:p>
            <a:pPr algn="ctr"/>
            <a:r>
              <a:rPr sz="1800" b="1" i="0">
                <a:solidFill>
                  <a:srgbClr val="00B4D8"/>
                </a:solidFill>
              </a:rPr>
              <a:t>Arabic</a:t>
            </a:r>
          </a:p>
        </p:txBody>
      </p:sp>
      <p:sp>
        <p:nvSpPr>
          <p:cNvPr id="15" name="TextBox 14"/>
          <p:cNvSpPr txBox="1"/>
          <p:nvPr/>
        </p:nvSpPr>
        <p:spPr>
          <a:xfrm>
            <a:off x="7086600" y="2130552"/>
            <a:ext cx="2011680" cy="457200"/>
          </a:xfrm>
          <a:prstGeom prst="rect">
            <a:avLst/>
          </a:prstGeom>
          <a:noFill/>
        </p:spPr>
        <p:txBody>
          <a:bodyPr wrap="square">
            <a:spAutoFit/>
          </a:bodyPr>
          <a:lstStyle/>
          <a:p>
            <a:pPr algn="ctr"/>
            <a:r>
              <a:rPr sz="1000" b="0" i="0">
                <a:solidFill>
                  <a:srgbClr val="C8D4EE"/>
                </a:solidFill>
              </a:rPr>
              <a:t>Official language of UAE,
#2 Gulf EB-5 source country</a:t>
            </a:r>
          </a:p>
        </p:txBody>
      </p:sp>
      <p:sp>
        <p:nvSpPr>
          <p:cNvPr id="16" name="TextBox 15"/>
          <p:cNvSpPr txBox="1"/>
          <p:nvPr/>
        </p:nvSpPr>
        <p:spPr>
          <a:xfrm>
            <a:off x="9235440" y="1581912"/>
            <a:ext cx="2011680" cy="594360"/>
          </a:xfrm>
          <a:prstGeom prst="rect">
            <a:avLst/>
          </a:prstGeom>
          <a:noFill/>
        </p:spPr>
        <p:txBody>
          <a:bodyPr wrap="square">
            <a:spAutoFit/>
          </a:bodyPr>
          <a:lstStyle/>
          <a:p>
            <a:pPr algn="ctr"/>
            <a:r>
              <a:rPr sz="1800" b="1" i="0">
                <a:solidFill>
                  <a:srgbClr val="00B4D8"/>
                </a:solidFill>
              </a:rPr>
              <a:t>$800K</a:t>
            </a:r>
          </a:p>
        </p:txBody>
      </p:sp>
      <p:sp>
        <p:nvSpPr>
          <p:cNvPr id="17" name="TextBox 16"/>
          <p:cNvSpPr txBox="1"/>
          <p:nvPr/>
        </p:nvSpPr>
        <p:spPr>
          <a:xfrm>
            <a:off x="9235440" y="2130552"/>
            <a:ext cx="2011680" cy="457200"/>
          </a:xfrm>
          <a:prstGeom prst="rect">
            <a:avLst/>
          </a:prstGeom>
          <a:noFill/>
        </p:spPr>
        <p:txBody>
          <a:bodyPr wrap="square">
            <a:spAutoFit/>
          </a:bodyPr>
          <a:lstStyle/>
          <a:p>
            <a:pPr algn="ctr"/>
            <a:r>
              <a:rPr sz="1000" b="0" i="0">
                <a:solidFill>
                  <a:srgbClr val="C8D4EE"/>
                </a:solidFill>
              </a:rPr>
              <a:t>Investment per client — worth
building in their language</a:t>
            </a:r>
          </a:p>
        </p:txBody>
      </p:sp>
      <p:sp>
        <p:nvSpPr>
          <p:cNvPr id="18" name="Rectangle 17"/>
          <p:cNvSpPr/>
          <p:nvPr/>
        </p:nvSpPr>
        <p:spPr>
          <a:xfrm>
            <a:off x="502920" y="3108960"/>
            <a:ext cx="5394960" cy="29718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172968"/>
            <a:ext cx="5120640" cy="320040"/>
          </a:xfrm>
          <a:prstGeom prst="rect">
            <a:avLst/>
          </a:prstGeom>
          <a:noFill/>
        </p:spPr>
        <p:txBody>
          <a:bodyPr wrap="square">
            <a:spAutoFit/>
          </a:bodyPr>
          <a:lstStyle/>
          <a:p>
            <a:pPr algn="l"/>
            <a:r>
              <a:rPr sz="1100" b="1" i="0">
                <a:solidFill>
                  <a:srgbClr val="FF4D4D"/>
                </a:solidFill>
              </a:rPr>
              <a:t>HOW AN INDIAN HNI INVESTOR INQUIRES TODAY</a:t>
            </a:r>
          </a:p>
        </p:txBody>
      </p:sp>
      <p:sp>
        <p:nvSpPr>
          <p:cNvPr id="20" name="TextBox 19"/>
          <p:cNvSpPr txBox="1"/>
          <p:nvPr/>
        </p:nvSpPr>
        <p:spPr>
          <a:xfrm>
            <a:off x="640080" y="3520440"/>
            <a:ext cx="5120640" cy="2331720"/>
          </a:xfrm>
          <a:prstGeom prst="rect">
            <a:avLst/>
          </a:prstGeom>
          <a:noFill/>
        </p:spPr>
        <p:txBody>
          <a:bodyPr wrap="square">
            <a:spAutoFit/>
          </a:bodyPr>
          <a:lstStyle/>
          <a:p>
            <a:pPr algn="l">
              <a:spcAft>
                <a:spcPts val="600"/>
              </a:spcAft>
            </a:pPr>
            <a:r>
              <a:rPr sz="900"/>
              <a:t>  </a:t>
            </a:r>
            <a:r>
              <a:rPr sz="900" b="1">
                <a:solidFill>
                  <a:srgbClr val="FF4D4D"/>
                </a:solidFill>
              </a:rPr>
              <a:t>* </a:t>
            </a:r>
            <a:r>
              <a:rPr sz="1100">
                <a:solidFill>
                  <a:srgbClr val="C8D4EE"/>
                </a:solidFill>
              </a:rPr>
              <a:t>Indian family researching EB-5 for children's US education pathway</a:t>
            </a:r>
          </a:p>
          <a:p>
            <a:pPr algn="l">
              <a:spcAft>
                <a:spcPts val="600"/>
              </a:spcAft>
            </a:pPr>
            <a:r>
              <a:rPr sz="900"/>
              <a:t>  </a:t>
            </a:r>
            <a:r>
              <a:rPr sz="900" b="1">
                <a:solidFill>
                  <a:srgbClr val="FF4D4D"/>
                </a:solidFill>
              </a:rPr>
              <a:t>* </a:t>
            </a:r>
            <a:r>
              <a:rPr sz="1100">
                <a:solidFill>
                  <a:srgbClr val="C8D4EE"/>
                </a:solidFill>
              </a:rPr>
              <a:t>Finds firstpathway.com — reads the English page, no Hindi option</a:t>
            </a:r>
          </a:p>
          <a:p>
            <a:pPr algn="l">
              <a:spcAft>
                <a:spcPts val="600"/>
              </a:spcAft>
            </a:pPr>
            <a:r>
              <a:rPr sz="900"/>
              <a:t>  </a:t>
            </a:r>
            <a:r>
              <a:rPr sz="900" b="1">
                <a:solidFill>
                  <a:srgbClr val="FF4D4D"/>
                </a:solidFill>
              </a:rPr>
              <a:t>* </a:t>
            </a:r>
            <a:r>
              <a:rPr sz="1100">
                <a:solidFill>
                  <a:srgbClr val="C8D4EE"/>
                </a:solidFill>
              </a:rPr>
              <a:t>Wants to ask a quick question — sees only a contact form</a:t>
            </a:r>
          </a:p>
          <a:p>
            <a:pPr algn="l">
              <a:spcAft>
                <a:spcPts val="600"/>
              </a:spcAft>
            </a:pPr>
            <a:r>
              <a:rPr sz="900"/>
              <a:t>  </a:t>
            </a:r>
            <a:r>
              <a:rPr sz="900" b="1">
                <a:solidFill>
                  <a:srgbClr val="FF4D4D"/>
                </a:solidFill>
              </a:rPr>
              <a:t>* </a:t>
            </a:r>
            <a:r>
              <a:rPr sz="1100">
                <a:solidFill>
                  <a:srgbClr val="C8D4EE"/>
                </a:solidFill>
              </a:rPr>
              <a:t>Fills the form at 10pm IST (midnight Milwaukee time)</a:t>
            </a:r>
          </a:p>
          <a:p>
            <a:pPr algn="l">
              <a:spcAft>
                <a:spcPts val="600"/>
              </a:spcAft>
            </a:pPr>
            <a:r>
              <a:rPr sz="900"/>
              <a:t>  </a:t>
            </a:r>
            <a:r>
              <a:rPr sz="900" b="1">
                <a:solidFill>
                  <a:srgbClr val="FF4D4D"/>
                </a:solidFill>
              </a:rPr>
              <a:t>* </a:t>
            </a:r>
            <a:r>
              <a:rPr sz="1100">
                <a:solidFill>
                  <a:srgbClr val="C8D4EE"/>
                </a:solidFill>
              </a:rPr>
              <a:t>Simultaneously WhatsApps 3 other EB-5 consultancies</a:t>
            </a:r>
          </a:p>
          <a:p>
            <a:pPr algn="l">
              <a:spcAft>
                <a:spcPts val="600"/>
              </a:spcAft>
            </a:pPr>
            <a:r>
              <a:rPr sz="900"/>
              <a:t>  </a:t>
            </a:r>
            <a:r>
              <a:rPr sz="900" b="1">
                <a:solidFill>
                  <a:srgbClr val="FF4D4D"/>
                </a:solidFill>
              </a:rPr>
              <a:t>* </a:t>
            </a:r>
            <a:r>
              <a:rPr sz="1100">
                <a:solidFill>
                  <a:srgbClr val="C8D4EE"/>
                </a:solidFill>
              </a:rPr>
              <a:t>Competitor with Hindi WhatsApp bot responds in 4 minutes</a:t>
            </a:r>
          </a:p>
          <a:p>
            <a:pPr algn="l"/>
            <a:r>
              <a:rPr sz="900"/>
              <a:t>  </a:t>
            </a:r>
            <a:r>
              <a:rPr sz="900" b="1">
                <a:solidFill>
                  <a:srgbClr val="FF4D4D"/>
                </a:solidFill>
              </a:rPr>
              <a:t>* </a:t>
            </a:r>
            <a:r>
              <a:rPr sz="1100">
                <a:solidFill>
                  <a:srgbClr val="C8D4EE"/>
                </a:solidFill>
              </a:rPr>
              <a:t>FirstPathway's reply arrives 2 business days later — investor already on a call with rival</a:t>
            </a:r>
          </a:p>
        </p:txBody>
      </p:sp>
      <p:sp>
        <p:nvSpPr>
          <p:cNvPr id="21" name="Rectangle 20"/>
          <p:cNvSpPr/>
          <p:nvPr/>
        </p:nvSpPr>
        <p:spPr>
          <a:xfrm>
            <a:off x="6080760" y="3108960"/>
            <a:ext cx="5605272" cy="29718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0" y="3172968"/>
            <a:ext cx="5303520" cy="320040"/>
          </a:xfrm>
          <a:prstGeom prst="rect">
            <a:avLst/>
          </a:prstGeom>
          <a:noFill/>
        </p:spPr>
        <p:txBody>
          <a:bodyPr wrap="square">
            <a:spAutoFit/>
          </a:bodyPr>
          <a:lstStyle/>
          <a:p>
            <a:pPr algn="l"/>
            <a:r>
              <a:rPr sz="1100" b="1" i="0">
                <a:solidFill>
                  <a:srgbClr val="2ECC71"/>
                </a:solidFill>
              </a:rPr>
              <a:t>WITH GENOS AI MULTILINGUAL AGENT</a:t>
            </a:r>
          </a:p>
        </p:txBody>
      </p:sp>
      <p:sp>
        <p:nvSpPr>
          <p:cNvPr id="23" name="TextBox 22"/>
          <p:cNvSpPr txBox="1"/>
          <p:nvPr/>
        </p:nvSpPr>
        <p:spPr>
          <a:xfrm>
            <a:off x="6217920" y="3520440"/>
            <a:ext cx="5303520" cy="2331720"/>
          </a:xfrm>
          <a:prstGeom prst="rect">
            <a:avLst/>
          </a:prstGeom>
          <a:noFill/>
        </p:spPr>
        <p:txBody>
          <a:bodyPr wrap="square">
            <a:spAutoFit/>
          </a:bodyPr>
          <a:lstStyle/>
          <a:p>
            <a:pPr algn="l">
              <a:spcAft>
                <a:spcPts val="600"/>
              </a:spcAft>
            </a:pPr>
            <a:r>
              <a:rPr sz="900"/>
              <a:t>  </a:t>
            </a:r>
            <a:r>
              <a:rPr sz="900" b="1">
                <a:solidFill>
                  <a:srgbClr val="2ECC71"/>
                </a:solidFill>
              </a:rPr>
              <a:t>* </a:t>
            </a:r>
            <a:r>
              <a:rPr sz="1100">
                <a:solidFill>
                  <a:srgbClr val="C8D4EE"/>
                </a:solidFill>
              </a:rPr>
              <a:t>Same Indian family lands on firstpathway.com at 10pm IST</a:t>
            </a:r>
          </a:p>
          <a:p>
            <a:pPr algn="l">
              <a:spcAft>
                <a:spcPts val="600"/>
              </a:spcAft>
            </a:pPr>
            <a:r>
              <a:rPr sz="900"/>
              <a:t>  </a:t>
            </a:r>
            <a:r>
              <a:rPr sz="900" b="1">
                <a:solidFill>
                  <a:srgbClr val="2ECC71"/>
                </a:solidFill>
              </a:rPr>
              <a:t>* </a:t>
            </a:r>
            <a:r>
              <a:rPr sz="1100">
                <a:solidFill>
                  <a:srgbClr val="C8D4EE"/>
                </a:solidFill>
              </a:rPr>
              <a:t>Hindi chatbot greets them: 'Namaste! EB-5 ke baare mein jaankari chahiye?'</a:t>
            </a:r>
          </a:p>
          <a:p>
            <a:pPr algn="l">
              <a:spcAft>
                <a:spcPts val="600"/>
              </a:spcAft>
            </a:pPr>
            <a:r>
              <a:rPr sz="900"/>
              <a:t>  </a:t>
            </a:r>
            <a:r>
              <a:rPr sz="900" b="1">
                <a:solidFill>
                  <a:srgbClr val="2ECC71"/>
                </a:solidFill>
              </a:rPr>
              <a:t>* </a:t>
            </a:r>
            <a:r>
              <a:rPr sz="1100">
                <a:solidFill>
                  <a:srgbClr val="C8D4EE"/>
                </a:solidFill>
              </a:rPr>
              <a:t>Agent runs 8-question qualification in Hindi — 5 minutes</a:t>
            </a:r>
          </a:p>
          <a:p>
            <a:pPr algn="l">
              <a:spcAft>
                <a:spcPts val="600"/>
              </a:spcAft>
            </a:pPr>
            <a:r>
              <a:rPr sz="900"/>
              <a:t>  </a:t>
            </a:r>
            <a:r>
              <a:rPr sz="900" b="1">
                <a:solidFill>
                  <a:srgbClr val="2ECC71"/>
                </a:solidFill>
              </a:rPr>
              <a:t>* </a:t>
            </a:r>
            <a:r>
              <a:rPr sz="1100">
                <a:solidFill>
                  <a:srgbClr val="C8D4EE"/>
                </a:solidFill>
              </a:rPr>
              <a:t>Family qualifies: $2M net worth, 2-year timeline, children US-education goal</a:t>
            </a:r>
          </a:p>
          <a:p>
            <a:pPr algn="l">
              <a:spcAft>
                <a:spcPts val="600"/>
              </a:spcAft>
            </a:pPr>
            <a:r>
              <a:rPr sz="900"/>
              <a:t>  </a:t>
            </a:r>
            <a:r>
              <a:rPr sz="900" b="1">
                <a:solidFill>
                  <a:srgbClr val="2ECC71"/>
                </a:solidFill>
              </a:rPr>
              <a:t>* </a:t>
            </a:r>
            <a:r>
              <a:rPr sz="1100">
                <a:solidFill>
                  <a:srgbClr val="C8D4EE"/>
                </a:solidFill>
              </a:rPr>
              <a:t>Agent sends: project overview in Hindi + Asif's calendar link</a:t>
            </a:r>
          </a:p>
          <a:p>
            <a:pPr algn="l">
              <a:spcAft>
                <a:spcPts val="600"/>
              </a:spcAft>
            </a:pPr>
            <a:r>
              <a:rPr sz="900"/>
              <a:t>  </a:t>
            </a:r>
            <a:r>
              <a:rPr sz="900" b="1">
                <a:solidFill>
                  <a:srgbClr val="2ECC71"/>
                </a:solidFill>
              </a:rPr>
              <a:t>* </a:t>
            </a:r>
            <a:r>
              <a:rPr sz="1100">
                <a:solidFill>
                  <a:srgbClr val="C8D4EE"/>
                </a:solidFill>
              </a:rPr>
              <a:t>Asif wakes up to: qualified brief, contact details, preferred call slot</a:t>
            </a:r>
          </a:p>
          <a:p>
            <a:pPr algn="l"/>
            <a:r>
              <a:rPr sz="900"/>
              <a:t>  </a:t>
            </a:r>
            <a:r>
              <a:rPr sz="900" b="1">
                <a:solidFill>
                  <a:srgbClr val="2ECC71"/>
                </a:solidFill>
              </a:rPr>
              <a:t>* </a:t>
            </a:r>
            <a:r>
              <a:rPr sz="1100">
                <a:solidFill>
                  <a:srgbClr val="C8D4EE"/>
                </a:solidFill>
              </a:rPr>
              <a:t>FirstPathway books the consultation before the competitor has been Googled</a:t>
            </a:r>
          </a:p>
        </p:txBody>
      </p:sp>
      <p:sp>
        <p:nvSpPr>
          <p:cNvPr id="24" name="Rectangle 23"/>
          <p:cNvSpPr/>
          <p:nvPr/>
        </p:nvSpPr>
        <p:spPr>
          <a:xfrm>
            <a:off x="502920" y="6217920"/>
            <a:ext cx="11183112" cy="347472"/>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6263640"/>
            <a:ext cx="10972800" cy="256032"/>
          </a:xfrm>
          <a:prstGeom prst="rect">
            <a:avLst/>
          </a:prstGeom>
          <a:noFill/>
        </p:spPr>
        <p:txBody>
          <a:bodyPr wrap="square">
            <a:spAutoFit/>
          </a:bodyPr>
          <a:lstStyle/>
          <a:p>
            <a:pPr algn="l"/>
            <a:r>
              <a:rPr sz="1100" b="0" i="1">
                <a:solidFill>
                  <a:srgbClr val="00B4D8"/>
                </a:solidFill>
              </a:rPr>
              <a:t>The first credible response in the investor's language wins the consultation. The consultation wins the $800K+ client.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2ECC71"/>
                </a:solidFill>
              </a:rPr>
              <a:t>IMPLEMENTATION PLAN</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2800" b="1" i="0">
                <a:solidFill>
                  <a:srgbClr val="FFFFFF"/>
                </a:solidFill>
              </a:rPr>
              <a:t>Multilingual First. Client Journey Second. HNI Outreach Third.</a:t>
            </a:r>
          </a:p>
        </p:txBody>
      </p:sp>
      <p:sp>
        <p:nvSpPr>
          <p:cNvPr id="6" name="Rectangle 5"/>
          <p:cNvSpPr/>
          <p:nvPr/>
        </p:nvSpPr>
        <p:spPr>
          <a:xfrm>
            <a:off x="502920" y="1234440"/>
            <a:ext cx="1097280" cy="3657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3566160" cy="4754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648" y="1682496"/>
            <a:ext cx="1673352" cy="384048"/>
          </a:xfrm>
          <a:prstGeom prst="rect">
            <a:avLst/>
          </a:prstGeom>
          <a:noFill/>
        </p:spPr>
        <p:txBody>
          <a:bodyPr wrap="square">
            <a:spAutoFit/>
          </a:bodyPr>
          <a:lstStyle/>
          <a:p>
            <a:pPr algn="l"/>
            <a:r>
              <a:rPr sz="1300" b="1" i="0">
                <a:solidFill>
                  <a:srgbClr val="0A0F2E"/>
                </a:solidFill>
              </a:rPr>
              <a:t>PHASE 1</a:t>
            </a:r>
          </a:p>
        </p:txBody>
      </p:sp>
      <p:sp>
        <p:nvSpPr>
          <p:cNvPr id="9" name="TextBox 8"/>
          <p:cNvSpPr txBox="1"/>
          <p:nvPr/>
        </p:nvSpPr>
        <p:spPr>
          <a:xfrm>
            <a:off x="2107692" y="1719072"/>
            <a:ext cx="1824228" cy="347472"/>
          </a:xfrm>
          <a:prstGeom prst="rect">
            <a:avLst/>
          </a:prstGeom>
          <a:noFill/>
        </p:spPr>
        <p:txBody>
          <a:bodyPr wrap="square">
            <a:spAutoFit/>
          </a:bodyPr>
          <a:lstStyle/>
          <a:p>
            <a:pPr algn="r"/>
            <a:r>
              <a:rPr sz="1100" b="0" i="0">
                <a:solidFill>
                  <a:srgbClr val="0A0F2E"/>
                </a:solidFill>
              </a:rPr>
              <a:t>Weeks 1-2</a:t>
            </a:r>
          </a:p>
        </p:txBody>
      </p:sp>
      <p:sp>
        <p:nvSpPr>
          <p:cNvPr id="10" name="Rectangle 9"/>
          <p:cNvSpPr/>
          <p:nvPr/>
        </p:nvSpPr>
        <p:spPr>
          <a:xfrm>
            <a:off x="502920" y="2121408"/>
            <a:ext cx="356616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2648" y="2267712"/>
            <a:ext cx="45720" cy="4754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212848"/>
            <a:ext cx="3218688" cy="292608"/>
          </a:xfrm>
          <a:prstGeom prst="rect">
            <a:avLst/>
          </a:prstGeom>
          <a:noFill/>
        </p:spPr>
        <p:txBody>
          <a:bodyPr wrap="square">
            <a:spAutoFit/>
          </a:bodyPr>
          <a:lstStyle/>
          <a:p>
            <a:pPr algn="l"/>
            <a:r>
              <a:rPr sz="1200" b="1" i="0">
                <a:solidFill>
                  <a:srgbClr val="00B4D8"/>
                </a:solidFill>
              </a:rPr>
              <a:t>Multilingual Website Chatbot</a:t>
            </a:r>
          </a:p>
        </p:txBody>
      </p:sp>
      <p:sp>
        <p:nvSpPr>
          <p:cNvPr id="13" name="TextBox 12"/>
          <p:cNvSpPr txBox="1"/>
          <p:nvPr/>
        </p:nvSpPr>
        <p:spPr>
          <a:xfrm>
            <a:off x="731520" y="2487168"/>
            <a:ext cx="3218688" cy="411480"/>
          </a:xfrm>
          <a:prstGeom prst="rect">
            <a:avLst/>
          </a:prstGeom>
          <a:noFill/>
        </p:spPr>
        <p:txBody>
          <a:bodyPr wrap="square">
            <a:spAutoFit/>
          </a:bodyPr>
          <a:lstStyle/>
          <a:p>
            <a:pPr algn="l"/>
            <a:r>
              <a:rPr sz="1100" b="0" i="0">
                <a:solidFill>
                  <a:srgbClr val="C8D4EE"/>
                </a:solidFill>
              </a:rPr>
              <a:t>AI agent deployed on firstpathway.com responding in English, Hindi, Mandarin, and Arabic. 8-question investor qualification flow. Serious leads routed to Asif's calendar automatically.</a:t>
            </a:r>
          </a:p>
        </p:txBody>
      </p:sp>
      <p:sp>
        <p:nvSpPr>
          <p:cNvPr id="14" name="Rectangle 13"/>
          <p:cNvSpPr/>
          <p:nvPr/>
        </p:nvSpPr>
        <p:spPr>
          <a:xfrm>
            <a:off x="612648" y="3136392"/>
            <a:ext cx="45720" cy="4754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081528"/>
            <a:ext cx="3218688" cy="292608"/>
          </a:xfrm>
          <a:prstGeom prst="rect">
            <a:avLst/>
          </a:prstGeom>
          <a:noFill/>
        </p:spPr>
        <p:txBody>
          <a:bodyPr wrap="square">
            <a:spAutoFit/>
          </a:bodyPr>
          <a:lstStyle/>
          <a:p>
            <a:pPr algn="l"/>
            <a:r>
              <a:rPr sz="1200" b="1" i="0">
                <a:solidFill>
                  <a:srgbClr val="00B4D8"/>
                </a:solidFill>
              </a:rPr>
              <a:t>WhatsApp Business AI Agent</a:t>
            </a:r>
          </a:p>
        </p:txBody>
      </p:sp>
      <p:sp>
        <p:nvSpPr>
          <p:cNvPr id="16" name="TextBox 15"/>
          <p:cNvSpPr txBox="1"/>
          <p:nvPr/>
        </p:nvSpPr>
        <p:spPr>
          <a:xfrm>
            <a:off x="731520" y="3355848"/>
            <a:ext cx="3218688" cy="411480"/>
          </a:xfrm>
          <a:prstGeom prst="rect">
            <a:avLst/>
          </a:prstGeom>
          <a:noFill/>
        </p:spPr>
        <p:txBody>
          <a:bodyPr wrap="square">
            <a:spAutoFit/>
          </a:bodyPr>
          <a:lstStyle/>
          <a:p>
            <a:pPr algn="l"/>
            <a:r>
              <a:rPr sz="1100" b="0" i="0">
                <a:solidFill>
                  <a:srgbClr val="C8D4EE"/>
                </a:solidFill>
              </a:rPr>
              <a:t>WhatsApp AI bot for Indian and Arabic-speaking investors. Qualifies leads, answers FAQs about EB-5 process and Ameyalli/Kaia projects, books consultations in under 60 seconds.</a:t>
            </a:r>
          </a:p>
        </p:txBody>
      </p:sp>
      <p:sp>
        <p:nvSpPr>
          <p:cNvPr id="17" name="Rectangle 16"/>
          <p:cNvSpPr/>
          <p:nvPr/>
        </p:nvSpPr>
        <p:spPr>
          <a:xfrm>
            <a:off x="612648" y="4005072"/>
            <a:ext cx="45720" cy="4754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3950208"/>
            <a:ext cx="3218688" cy="292608"/>
          </a:xfrm>
          <a:prstGeom prst="rect">
            <a:avLst/>
          </a:prstGeom>
          <a:noFill/>
        </p:spPr>
        <p:txBody>
          <a:bodyPr wrap="square">
            <a:spAutoFit/>
          </a:bodyPr>
          <a:lstStyle/>
          <a:p>
            <a:pPr algn="l"/>
            <a:r>
              <a:rPr sz="1200" b="1" i="0">
                <a:solidFill>
                  <a:srgbClr val="00B4D8"/>
                </a:solidFill>
              </a:rPr>
              <a:t>WeChat AI Agent Setup</a:t>
            </a:r>
          </a:p>
        </p:txBody>
      </p:sp>
      <p:sp>
        <p:nvSpPr>
          <p:cNvPr id="19" name="TextBox 18"/>
          <p:cNvSpPr txBox="1"/>
          <p:nvPr/>
        </p:nvSpPr>
        <p:spPr>
          <a:xfrm>
            <a:off x="731520" y="4224528"/>
            <a:ext cx="3218688" cy="411480"/>
          </a:xfrm>
          <a:prstGeom prst="rect">
            <a:avLst/>
          </a:prstGeom>
          <a:noFill/>
        </p:spPr>
        <p:txBody>
          <a:bodyPr wrap="square">
            <a:spAutoFit/>
          </a:bodyPr>
          <a:lstStyle/>
          <a:p>
            <a:pPr algn="l"/>
            <a:r>
              <a:rPr sz="1100" b="0" i="0">
                <a:solidFill>
                  <a:srgbClr val="C8D4EE"/>
                </a:solidFill>
              </a:rPr>
              <a:t>WeChat Official Account AI bot for Chinese investor audience. Matches the qualification flow in Mandarin. Existing Weibo account connected for content amplification.</a:t>
            </a:r>
          </a:p>
        </p:txBody>
      </p:sp>
      <p:sp>
        <p:nvSpPr>
          <p:cNvPr id="20" name="Rectangle 19"/>
          <p:cNvSpPr/>
          <p:nvPr/>
        </p:nvSpPr>
        <p:spPr>
          <a:xfrm>
            <a:off x="4233672" y="1645920"/>
            <a:ext cx="3566160" cy="47548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43400" y="1682496"/>
            <a:ext cx="1673352" cy="384048"/>
          </a:xfrm>
          <a:prstGeom prst="rect">
            <a:avLst/>
          </a:prstGeom>
          <a:noFill/>
        </p:spPr>
        <p:txBody>
          <a:bodyPr wrap="square">
            <a:spAutoFit/>
          </a:bodyPr>
          <a:lstStyle/>
          <a:p>
            <a:pPr algn="l"/>
            <a:r>
              <a:rPr sz="1300" b="1" i="0">
                <a:solidFill>
                  <a:srgbClr val="0A0F2E"/>
                </a:solidFill>
              </a:rPr>
              <a:t>PHASE 2</a:t>
            </a:r>
          </a:p>
        </p:txBody>
      </p:sp>
      <p:sp>
        <p:nvSpPr>
          <p:cNvPr id="22" name="TextBox 21"/>
          <p:cNvSpPr txBox="1"/>
          <p:nvPr/>
        </p:nvSpPr>
        <p:spPr>
          <a:xfrm>
            <a:off x="5838444" y="1719072"/>
            <a:ext cx="1824228" cy="347472"/>
          </a:xfrm>
          <a:prstGeom prst="rect">
            <a:avLst/>
          </a:prstGeom>
          <a:noFill/>
        </p:spPr>
        <p:txBody>
          <a:bodyPr wrap="square">
            <a:spAutoFit/>
          </a:bodyPr>
          <a:lstStyle/>
          <a:p>
            <a:pPr algn="r"/>
            <a:r>
              <a:rPr sz="1100" b="0" i="0">
                <a:solidFill>
                  <a:srgbClr val="0A0F2E"/>
                </a:solidFill>
              </a:rPr>
              <a:t>Weeks 3-6</a:t>
            </a:r>
          </a:p>
        </p:txBody>
      </p:sp>
      <p:sp>
        <p:nvSpPr>
          <p:cNvPr id="23" name="Rectangle 22"/>
          <p:cNvSpPr/>
          <p:nvPr/>
        </p:nvSpPr>
        <p:spPr>
          <a:xfrm>
            <a:off x="4233672" y="2121408"/>
            <a:ext cx="356616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43400" y="2267712"/>
            <a:ext cx="45720" cy="47548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62272" y="2212848"/>
            <a:ext cx="3218688" cy="292608"/>
          </a:xfrm>
          <a:prstGeom prst="rect">
            <a:avLst/>
          </a:prstGeom>
          <a:noFill/>
        </p:spPr>
        <p:txBody>
          <a:bodyPr wrap="square">
            <a:spAutoFit/>
          </a:bodyPr>
          <a:lstStyle/>
          <a:p>
            <a:pPr algn="l"/>
            <a:r>
              <a:rPr sz="1200" b="1" i="0">
                <a:solidFill>
                  <a:srgbClr val="F5C518"/>
                </a:solidFill>
              </a:rPr>
              <a:t>Client Journey Automation</a:t>
            </a:r>
          </a:p>
        </p:txBody>
      </p:sp>
      <p:sp>
        <p:nvSpPr>
          <p:cNvPr id="26" name="TextBox 25"/>
          <p:cNvSpPr txBox="1"/>
          <p:nvPr/>
        </p:nvSpPr>
        <p:spPr>
          <a:xfrm>
            <a:off x="4462272" y="2487168"/>
            <a:ext cx="3218688" cy="411480"/>
          </a:xfrm>
          <a:prstGeom prst="rect">
            <a:avLst/>
          </a:prstGeom>
          <a:noFill/>
        </p:spPr>
        <p:txBody>
          <a:bodyPr wrap="square">
            <a:spAutoFit/>
          </a:bodyPr>
          <a:lstStyle/>
          <a:p>
            <a:pPr algn="l"/>
            <a:r>
              <a:rPr sz="1100" b="0" i="0">
                <a:solidFill>
                  <a:srgbClr val="C8D4EE"/>
                </a:solidFill>
              </a:rPr>
              <a:t>Milestone email and WhatsApp sequences for all active clients: I-526E filing, approval, DS-260, visa processing, I-829 approach. No investor waits in silence for months.</a:t>
            </a:r>
          </a:p>
        </p:txBody>
      </p:sp>
      <p:sp>
        <p:nvSpPr>
          <p:cNvPr id="27" name="Rectangle 26"/>
          <p:cNvSpPr/>
          <p:nvPr/>
        </p:nvSpPr>
        <p:spPr>
          <a:xfrm>
            <a:off x="4343400" y="3136392"/>
            <a:ext cx="45720" cy="47548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62272" y="3081528"/>
            <a:ext cx="3218688" cy="292608"/>
          </a:xfrm>
          <a:prstGeom prst="rect">
            <a:avLst/>
          </a:prstGeom>
          <a:noFill/>
        </p:spPr>
        <p:txBody>
          <a:bodyPr wrap="square">
            <a:spAutoFit/>
          </a:bodyPr>
          <a:lstStyle/>
          <a:p>
            <a:pPr algn="l"/>
            <a:r>
              <a:rPr sz="1200" b="1" i="0">
                <a:solidFill>
                  <a:srgbClr val="F5C518"/>
                </a:solidFill>
              </a:rPr>
              <a:t>HNI Lead Scoring Engine</a:t>
            </a:r>
          </a:p>
        </p:txBody>
      </p:sp>
      <p:sp>
        <p:nvSpPr>
          <p:cNvPr id="29" name="TextBox 28"/>
          <p:cNvSpPr txBox="1"/>
          <p:nvPr/>
        </p:nvSpPr>
        <p:spPr>
          <a:xfrm>
            <a:off x="4462272" y="3355848"/>
            <a:ext cx="3218688" cy="411480"/>
          </a:xfrm>
          <a:prstGeom prst="rect">
            <a:avLst/>
          </a:prstGeom>
          <a:noFill/>
        </p:spPr>
        <p:txBody>
          <a:bodyPr wrap="square">
            <a:spAutoFit/>
          </a:bodyPr>
          <a:lstStyle/>
          <a:p>
            <a:pPr algn="l"/>
            <a:r>
              <a:rPr sz="1100" b="0" i="0">
                <a:solidFill>
                  <a:srgbClr val="C8D4EE"/>
                </a:solidFill>
              </a:rPr>
              <a:t>Real-time scoring of every inbound inquiry. High-value leads ($800K+ signals, clear timeline) pushed to Asif as priority. Mid-tier enters 30-day nurture. CRM integration.</a:t>
            </a:r>
          </a:p>
        </p:txBody>
      </p:sp>
      <p:sp>
        <p:nvSpPr>
          <p:cNvPr id="30" name="Rectangle 29"/>
          <p:cNvSpPr/>
          <p:nvPr/>
        </p:nvSpPr>
        <p:spPr>
          <a:xfrm>
            <a:off x="4343400" y="4005072"/>
            <a:ext cx="45720" cy="47548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62272" y="3950208"/>
            <a:ext cx="3218688" cy="292608"/>
          </a:xfrm>
          <a:prstGeom prst="rect">
            <a:avLst/>
          </a:prstGeom>
          <a:noFill/>
        </p:spPr>
        <p:txBody>
          <a:bodyPr wrap="square">
            <a:spAutoFit/>
          </a:bodyPr>
          <a:lstStyle/>
          <a:p>
            <a:pPr algn="l"/>
            <a:r>
              <a:rPr sz="1200" b="1" i="0">
                <a:solidFill>
                  <a:srgbClr val="F5C518"/>
                </a:solidFill>
              </a:rPr>
              <a:t>EB-5 ROI / Benefit Calculator</a:t>
            </a:r>
          </a:p>
        </p:txBody>
      </p:sp>
      <p:sp>
        <p:nvSpPr>
          <p:cNvPr id="32" name="TextBox 31"/>
          <p:cNvSpPr txBox="1"/>
          <p:nvPr/>
        </p:nvSpPr>
        <p:spPr>
          <a:xfrm>
            <a:off x="4462272" y="4224528"/>
            <a:ext cx="3218688" cy="411480"/>
          </a:xfrm>
          <a:prstGeom prst="rect">
            <a:avLst/>
          </a:prstGeom>
          <a:noFill/>
        </p:spPr>
        <p:txBody>
          <a:bodyPr wrap="square">
            <a:spAutoFit/>
          </a:bodyPr>
          <a:lstStyle/>
          <a:p>
            <a:pPr algn="l"/>
            <a:r>
              <a:rPr sz="1100" b="0" i="0">
                <a:solidFill>
                  <a:srgbClr val="C8D4EE"/>
                </a:solidFill>
              </a:rPr>
              <a:t>Interactive tool on website: investor enters country, family size, investment goal — gets a personalised US residency benefit summary. Lead captured before results shown.</a:t>
            </a:r>
          </a:p>
        </p:txBody>
      </p:sp>
      <p:sp>
        <p:nvSpPr>
          <p:cNvPr id="33" name="Rectangle 32"/>
          <p:cNvSpPr/>
          <p:nvPr/>
        </p:nvSpPr>
        <p:spPr>
          <a:xfrm>
            <a:off x="7964424" y="1645920"/>
            <a:ext cx="3566160" cy="47548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074152" y="1682496"/>
            <a:ext cx="1673352" cy="384048"/>
          </a:xfrm>
          <a:prstGeom prst="rect">
            <a:avLst/>
          </a:prstGeom>
          <a:noFill/>
        </p:spPr>
        <p:txBody>
          <a:bodyPr wrap="square">
            <a:spAutoFit/>
          </a:bodyPr>
          <a:lstStyle/>
          <a:p>
            <a:pPr algn="l"/>
            <a:r>
              <a:rPr sz="1300" b="1" i="0">
                <a:solidFill>
                  <a:srgbClr val="0A0F2E"/>
                </a:solidFill>
              </a:rPr>
              <a:t>PHASE 3</a:t>
            </a:r>
          </a:p>
        </p:txBody>
      </p:sp>
      <p:sp>
        <p:nvSpPr>
          <p:cNvPr id="35" name="TextBox 34"/>
          <p:cNvSpPr txBox="1"/>
          <p:nvPr/>
        </p:nvSpPr>
        <p:spPr>
          <a:xfrm>
            <a:off x="9569196" y="1719072"/>
            <a:ext cx="1824228" cy="347472"/>
          </a:xfrm>
          <a:prstGeom prst="rect">
            <a:avLst/>
          </a:prstGeom>
          <a:noFill/>
        </p:spPr>
        <p:txBody>
          <a:bodyPr wrap="square">
            <a:spAutoFit/>
          </a:bodyPr>
          <a:lstStyle/>
          <a:p>
            <a:pPr algn="r"/>
            <a:r>
              <a:rPr sz="1100" b="0" i="0">
                <a:solidFill>
                  <a:srgbClr val="0A0F2E"/>
                </a:solidFill>
              </a:rPr>
              <a:t>Months 2-3</a:t>
            </a:r>
          </a:p>
        </p:txBody>
      </p:sp>
      <p:sp>
        <p:nvSpPr>
          <p:cNvPr id="36" name="Rectangle 35"/>
          <p:cNvSpPr/>
          <p:nvPr/>
        </p:nvSpPr>
        <p:spPr>
          <a:xfrm>
            <a:off x="7964424" y="2121408"/>
            <a:ext cx="356616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074152" y="2267712"/>
            <a:ext cx="45720" cy="47548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93024" y="2212848"/>
            <a:ext cx="3218688" cy="292608"/>
          </a:xfrm>
          <a:prstGeom prst="rect">
            <a:avLst/>
          </a:prstGeom>
          <a:noFill/>
        </p:spPr>
        <p:txBody>
          <a:bodyPr wrap="square">
            <a:spAutoFit/>
          </a:bodyPr>
          <a:lstStyle/>
          <a:p>
            <a:pPr algn="l"/>
            <a:r>
              <a:rPr sz="1200" b="1" i="0">
                <a:solidFill>
                  <a:srgbClr val="2ECC71"/>
                </a:solidFill>
              </a:rPr>
              <a:t>SEO Content Engine</a:t>
            </a:r>
          </a:p>
        </p:txBody>
      </p:sp>
      <p:sp>
        <p:nvSpPr>
          <p:cNvPr id="39" name="TextBox 38"/>
          <p:cNvSpPr txBox="1"/>
          <p:nvPr/>
        </p:nvSpPr>
        <p:spPr>
          <a:xfrm>
            <a:off x="8193024" y="2487168"/>
            <a:ext cx="3218688" cy="411480"/>
          </a:xfrm>
          <a:prstGeom prst="rect">
            <a:avLst/>
          </a:prstGeom>
          <a:noFill/>
        </p:spPr>
        <p:txBody>
          <a:bodyPr wrap="square">
            <a:spAutoFit/>
          </a:bodyPr>
          <a:lstStyle/>
          <a:p>
            <a:pPr algn="l"/>
            <a:r>
              <a:rPr sz="1100" b="0" i="0">
                <a:solidFill>
                  <a:srgbClr val="C8D4EE"/>
                </a:solidFill>
              </a:rPr>
              <a:t>12 blog articles targeting: 'EB-5 visa India 2025', 'US green card for investors', 'EB-5 Ameyalli Utah', 'how to get US permanent residency from UAE'. Published monthly.</a:t>
            </a:r>
          </a:p>
        </p:txBody>
      </p:sp>
      <p:sp>
        <p:nvSpPr>
          <p:cNvPr id="40" name="Rectangle 39"/>
          <p:cNvSpPr/>
          <p:nvPr/>
        </p:nvSpPr>
        <p:spPr>
          <a:xfrm>
            <a:off x="8074152" y="3136392"/>
            <a:ext cx="45720" cy="47548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193024" y="3081528"/>
            <a:ext cx="3218688" cy="292608"/>
          </a:xfrm>
          <a:prstGeom prst="rect">
            <a:avLst/>
          </a:prstGeom>
          <a:noFill/>
        </p:spPr>
        <p:txBody>
          <a:bodyPr wrap="square">
            <a:spAutoFit/>
          </a:bodyPr>
          <a:lstStyle/>
          <a:p>
            <a:pPr algn="l"/>
            <a:r>
              <a:rPr sz="1200" b="1" i="0">
                <a:solidFill>
                  <a:srgbClr val="2ECC71"/>
                </a:solidFill>
              </a:rPr>
              <a:t>LinkedIn Thought Leadership</a:t>
            </a:r>
          </a:p>
        </p:txBody>
      </p:sp>
      <p:sp>
        <p:nvSpPr>
          <p:cNvPr id="42" name="TextBox 41"/>
          <p:cNvSpPr txBox="1"/>
          <p:nvPr/>
        </p:nvSpPr>
        <p:spPr>
          <a:xfrm>
            <a:off x="8193024" y="3355848"/>
            <a:ext cx="3218688" cy="411480"/>
          </a:xfrm>
          <a:prstGeom prst="rect">
            <a:avLst/>
          </a:prstGeom>
          <a:noFill/>
        </p:spPr>
        <p:txBody>
          <a:bodyPr wrap="square">
            <a:spAutoFit/>
          </a:bodyPr>
          <a:lstStyle/>
          <a:p>
            <a:pPr algn="l"/>
            <a:r>
              <a:rPr sz="1100" b="0" i="0">
                <a:solidFill>
                  <a:srgbClr val="C8D4EE"/>
                </a:solidFill>
              </a:rPr>
              <a:t>3 posts per week on EB-5 updates, project news, investor success stories, and US residency tips. Targeting Indian and UAE HNI audience and referring attorneys/wealth managers.</a:t>
            </a:r>
          </a:p>
        </p:txBody>
      </p:sp>
      <p:sp>
        <p:nvSpPr>
          <p:cNvPr id="43" name="Rectangle 42"/>
          <p:cNvSpPr/>
          <p:nvPr/>
        </p:nvSpPr>
        <p:spPr>
          <a:xfrm>
            <a:off x="8074152" y="4005072"/>
            <a:ext cx="45720" cy="47548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93024" y="3950208"/>
            <a:ext cx="3218688" cy="292608"/>
          </a:xfrm>
          <a:prstGeom prst="rect">
            <a:avLst/>
          </a:prstGeom>
          <a:noFill/>
        </p:spPr>
        <p:txBody>
          <a:bodyPr wrap="square">
            <a:spAutoFit/>
          </a:bodyPr>
          <a:lstStyle/>
          <a:p>
            <a:pPr algn="l"/>
            <a:r>
              <a:rPr sz="1200" b="1" i="0">
                <a:solidFill>
                  <a:srgbClr val="2ECC71"/>
                </a:solidFill>
              </a:rPr>
              <a:t>Hindi/Mandarin Webinar Series</a:t>
            </a:r>
          </a:p>
        </p:txBody>
      </p:sp>
      <p:sp>
        <p:nvSpPr>
          <p:cNvPr id="45" name="TextBox 44"/>
          <p:cNvSpPr txBox="1"/>
          <p:nvPr/>
        </p:nvSpPr>
        <p:spPr>
          <a:xfrm>
            <a:off x="8193024" y="4224528"/>
            <a:ext cx="3218688" cy="411480"/>
          </a:xfrm>
          <a:prstGeom prst="rect">
            <a:avLst/>
          </a:prstGeom>
          <a:noFill/>
        </p:spPr>
        <p:txBody>
          <a:bodyPr wrap="square">
            <a:spAutoFit/>
          </a:bodyPr>
          <a:lstStyle/>
          <a:p>
            <a:pPr algn="l"/>
            <a:r>
              <a:rPr sz="1100" b="0" i="0">
                <a:solidFill>
                  <a:srgbClr val="C8D4EE"/>
                </a:solidFill>
              </a:rPr>
              <a:t>Monthly investor webinar in Hindi or Mandarin with Asif. Automated registration, reminder, replay email. Positions FirstPathway as the go-to firm for non-English EB-5 investors.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4F8EFF"/>
                </a:solidFill>
              </a:rPr>
              <a:t>BEFORE vs AFTER</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2800" b="1" i="0">
                <a:solidFill>
                  <a:srgbClr val="FFFFFF"/>
                </a:solidFill>
              </a:rPr>
              <a:t>What Actually Changes for FirstPathway in 90 Days</a:t>
            </a:r>
          </a:p>
        </p:txBody>
      </p:sp>
      <p:sp>
        <p:nvSpPr>
          <p:cNvPr id="6" name="Rectangle 5"/>
          <p:cNvSpPr/>
          <p:nvPr/>
        </p:nvSpPr>
        <p:spPr>
          <a:xfrm>
            <a:off x="502920" y="1234440"/>
            <a:ext cx="1097280" cy="36576"/>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08760"/>
            <a:ext cx="4937760" cy="32004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4754880" cy="256032"/>
          </a:xfrm>
          <a:prstGeom prst="rect">
            <a:avLst/>
          </a:prstGeom>
          <a:noFill/>
        </p:spPr>
        <p:txBody>
          <a:bodyPr wrap="square">
            <a:spAutoFit/>
          </a:bodyPr>
          <a:lstStyle/>
          <a:p>
            <a:pPr algn="l"/>
            <a:r>
              <a:rPr sz="1100" b="1" i="0">
                <a:solidFill>
                  <a:srgbClr val="FFFFFF"/>
                </a:solidFill>
              </a:rPr>
              <a:t>TODAY</a:t>
            </a:r>
          </a:p>
        </p:txBody>
      </p:sp>
      <p:sp>
        <p:nvSpPr>
          <p:cNvPr id="9" name="Rectangle 8"/>
          <p:cNvSpPr/>
          <p:nvPr/>
        </p:nvSpPr>
        <p:spPr>
          <a:xfrm>
            <a:off x="5897880" y="1508760"/>
            <a:ext cx="5330952" cy="32004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89320" y="1536192"/>
            <a:ext cx="4937760" cy="256032"/>
          </a:xfrm>
          <a:prstGeom prst="rect">
            <a:avLst/>
          </a:prstGeom>
          <a:noFill/>
        </p:spPr>
        <p:txBody>
          <a:bodyPr wrap="square">
            <a:spAutoFit/>
          </a:bodyPr>
          <a:lstStyle/>
          <a:p>
            <a:pPr algn="l"/>
            <a:r>
              <a:rPr sz="1100" b="1" i="0">
                <a:solidFill>
                  <a:srgbClr val="FFFFFF"/>
                </a:solidFill>
              </a:rPr>
              <a:t>AFTER 90 DAYS</a:t>
            </a:r>
          </a:p>
        </p:txBody>
      </p:sp>
      <p:sp>
        <p:nvSpPr>
          <p:cNvPr id="11" name="Rectangle 10"/>
          <p:cNvSpPr/>
          <p:nvPr/>
        </p:nvSpPr>
        <p:spPr>
          <a:xfrm>
            <a:off x="502920" y="1920240"/>
            <a:ext cx="11183112" cy="20116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1938528"/>
            <a:ext cx="10972800" cy="182880"/>
          </a:xfrm>
          <a:prstGeom prst="rect">
            <a:avLst/>
          </a:prstGeom>
          <a:noFill/>
        </p:spPr>
        <p:txBody>
          <a:bodyPr wrap="square">
            <a:spAutoFit/>
          </a:bodyPr>
          <a:lstStyle/>
          <a:p>
            <a:pPr algn="l"/>
            <a:r>
              <a:rPr sz="900" b="1" i="0">
                <a:solidFill>
                  <a:srgbClr val="8A9BBB"/>
                </a:solidFill>
              </a:rPr>
              <a:t>INDIAN HNI INVESTOR INQUIRY</a:t>
            </a:r>
          </a:p>
        </p:txBody>
      </p:sp>
      <p:sp>
        <p:nvSpPr>
          <p:cNvPr id="13" name="TextBox 12"/>
          <p:cNvSpPr txBox="1"/>
          <p:nvPr/>
        </p:nvSpPr>
        <p:spPr>
          <a:xfrm>
            <a:off x="594360" y="2139696"/>
            <a:ext cx="4754880" cy="603504"/>
          </a:xfrm>
          <a:prstGeom prst="rect">
            <a:avLst/>
          </a:prstGeom>
          <a:noFill/>
        </p:spPr>
        <p:txBody>
          <a:bodyPr wrap="square">
            <a:spAutoFit/>
          </a:bodyPr>
          <a:lstStyle/>
          <a:p>
            <a:pPr algn="l"/>
            <a:r>
              <a:rPr sz="1100" b="0" i="0">
                <a:solidFill>
                  <a:srgbClr val="C8D4EE"/>
                </a:solidFill>
              </a:rPr>
              <a:t>Investor finds firstpathway.com at 10pm IST. Sees a contact form. Fills it. Simultaneously WhatsApps 3 other EB-5 firms. Competitor with Hindi bot responds in 4 minutes. FirstPathway's reply arrives 2 days later — investor is already on a competitor's call.</a:t>
            </a:r>
          </a:p>
        </p:txBody>
      </p:sp>
      <p:sp>
        <p:nvSpPr>
          <p:cNvPr id="14" name="TextBox 13"/>
          <p:cNvSpPr txBox="1"/>
          <p:nvPr/>
        </p:nvSpPr>
        <p:spPr>
          <a:xfrm>
            <a:off x="5989320" y="2139696"/>
            <a:ext cx="4937760" cy="603504"/>
          </a:xfrm>
          <a:prstGeom prst="rect">
            <a:avLst/>
          </a:prstGeom>
          <a:noFill/>
        </p:spPr>
        <p:txBody>
          <a:bodyPr wrap="square">
            <a:spAutoFit/>
          </a:bodyPr>
          <a:lstStyle/>
          <a:p>
            <a:pPr algn="l"/>
            <a:r>
              <a:rPr sz="1100" b="0" i="0">
                <a:solidFill>
                  <a:srgbClr val="FFFFFF"/>
                </a:solidFill>
              </a:rPr>
              <a:t>Hindi WhatsApp AI agent responds within 60 seconds at any hour. 8-question qualification in Hindi. Asif receives a full investor brief by morning. Consultation booked before the investor has heard back from anyone else.</a:t>
            </a:r>
          </a:p>
        </p:txBody>
      </p:sp>
      <p:sp>
        <p:nvSpPr>
          <p:cNvPr id="15" name="Rectangle 14"/>
          <p:cNvSpPr/>
          <p:nvPr/>
        </p:nvSpPr>
        <p:spPr>
          <a:xfrm>
            <a:off x="502920" y="2852928"/>
            <a:ext cx="11183112" cy="20116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2871216"/>
            <a:ext cx="10972800" cy="182880"/>
          </a:xfrm>
          <a:prstGeom prst="rect">
            <a:avLst/>
          </a:prstGeom>
          <a:noFill/>
        </p:spPr>
        <p:txBody>
          <a:bodyPr wrap="square">
            <a:spAutoFit/>
          </a:bodyPr>
          <a:lstStyle/>
          <a:p>
            <a:pPr algn="l"/>
            <a:r>
              <a:rPr sz="900" b="1" i="0">
                <a:solidFill>
                  <a:srgbClr val="8A9BBB"/>
                </a:solidFill>
              </a:rPr>
              <a:t>CHINESE INVESTOR VIA WECHAT</a:t>
            </a:r>
          </a:p>
        </p:txBody>
      </p:sp>
      <p:sp>
        <p:nvSpPr>
          <p:cNvPr id="17" name="TextBox 16"/>
          <p:cNvSpPr txBox="1"/>
          <p:nvPr/>
        </p:nvSpPr>
        <p:spPr>
          <a:xfrm>
            <a:off x="594360" y="3072384"/>
            <a:ext cx="4754880" cy="603504"/>
          </a:xfrm>
          <a:prstGeom prst="rect">
            <a:avLst/>
          </a:prstGeom>
          <a:noFill/>
        </p:spPr>
        <p:txBody>
          <a:bodyPr wrap="square">
            <a:spAutoFit/>
          </a:bodyPr>
          <a:lstStyle/>
          <a:p>
            <a:pPr algn="l"/>
            <a:r>
              <a:rPr sz="1100" b="0" i="0">
                <a:solidFill>
                  <a:srgbClr val="C8D4EE"/>
                </a:solidFill>
              </a:rPr>
              <a:t>Chinese investor finds FirstPathway on Weibo. Clicks to website — English only. No WeChat bot. Sends a message on WeChat, waits days for a reply. Historical #1 EB-5 market, now effectively unreachable.</a:t>
            </a:r>
          </a:p>
        </p:txBody>
      </p:sp>
      <p:sp>
        <p:nvSpPr>
          <p:cNvPr id="18" name="TextBox 17"/>
          <p:cNvSpPr txBox="1"/>
          <p:nvPr/>
        </p:nvSpPr>
        <p:spPr>
          <a:xfrm>
            <a:off x="5989320" y="3072384"/>
            <a:ext cx="4937760" cy="603504"/>
          </a:xfrm>
          <a:prstGeom prst="rect">
            <a:avLst/>
          </a:prstGeom>
          <a:noFill/>
        </p:spPr>
        <p:txBody>
          <a:bodyPr wrap="square">
            <a:spAutoFit/>
          </a:bodyPr>
          <a:lstStyle/>
          <a:p>
            <a:pPr algn="l"/>
            <a:r>
              <a:rPr sz="1100" b="0" i="0">
                <a:solidFill>
                  <a:srgbClr val="FFFFFF"/>
                </a:solidFill>
              </a:rPr>
              <a:t>WeChat AI agent in Mandarin. Qualifies investor: budget, timeline, family size. Answers Ameyalli and Kaia questions. Routes serious investor to Asif with full Mandarin brief. WeChat becomes an active lead channel, not a dormant account.</a:t>
            </a:r>
          </a:p>
        </p:txBody>
      </p:sp>
      <p:sp>
        <p:nvSpPr>
          <p:cNvPr id="19" name="Rectangle 18"/>
          <p:cNvSpPr/>
          <p:nvPr/>
        </p:nvSpPr>
        <p:spPr>
          <a:xfrm>
            <a:off x="502920" y="3785616"/>
            <a:ext cx="11183112" cy="20116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3803904"/>
            <a:ext cx="10972800" cy="182880"/>
          </a:xfrm>
          <a:prstGeom prst="rect">
            <a:avLst/>
          </a:prstGeom>
          <a:noFill/>
        </p:spPr>
        <p:txBody>
          <a:bodyPr wrap="square">
            <a:spAutoFit/>
          </a:bodyPr>
          <a:lstStyle/>
          <a:p>
            <a:pPr algn="l"/>
            <a:r>
              <a:rPr sz="900" b="1" i="0">
                <a:solidFill>
                  <a:srgbClr val="8A9BBB"/>
                </a:solidFill>
              </a:rPr>
              <a:t>ACTIVE CLIENT COMMUNICATION (3-5 YEAR JOURNEY)</a:t>
            </a:r>
          </a:p>
        </p:txBody>
      </p:sp>
      <p:sp>
        <p:nvSpPr>
          <p:cNvPr id="21" name="TextBox 20"/>
          <p:cNvSpPr txBox="1"/>
          <p:nvPr/>
        </p:nvSpPr>
        <p:spPr>
          <a:xfrm>
            <a:off x="594360" y="4005072"/>
            <a:ext cx="4754880" cy="603504"/>
          </a:xfrm>
          <a:prstGeom prst="rect">
            <a:avLst/>
          </a:prstGeom>
          <a:noFill/>
        </p:spPr>
        <p:txBody>
          <a:bodyPr wrap="square">
            <a:spAutoFit/>
          </a:bodyPr>
          <a:lstStyle/>
          <a:p>
            <a:pPr algn="l"/>
            <a:r>
              <a:rPr sz="1100" b="0" i="0">
                <a:solidFill>
                  <a:srgbClr val="C8D4EE"/>
                </a:solidFill>
              </a:rPr>
              <a:t>Client files I-526E. Waits. Months pass with no proactive update. Calls the office asking for status. Team provides manual update. Client remains anxious throughout a 3-5 year process with no structured communication.</a:t>
            </a:r>
          </a:p>
        </p:txBody>
      </p:sp>
      <p:sp>
        <p:nvSpPr>
          <p:cNvPr id="22" name="TextBox 21"/>
          <p:cNvSpPr txBox="1"/>
          <p:nvPr/>
        </p:nvSpPr>
        <p:spPr>
          <a:xfrm>
            <a:off x="5989320" y="4005072"/>
            <a:ext cx="4937760" cy="603504"/>
          </a:xfrm>
          <a:prstGeom prst="rect">
            <a:avLst/>
          </a:prstGeom>
          <a:noFill/>
        </p:spPr>
        <p:txBody>
          <a:bodyPr wrap="square">
            <a:spAutoFit/>
          </a:bodyPr>
          <a:lstStyle/>
          <a:p>
            <a:pPr algn="l"/>
            <a:r>
              <a:rPr sz="1100" b="0" i="0">
                <a:solidFill>
                  <a:srgbClr val="FFFFFF"/>
                </a:solidFill>
              </a:rPr>
              <a:t>Automated milestone messages: I-526E confirmed, expected timeline, DS-260 due date reminder, visa interview prep, I-829 filing approach. Every client knows where they stand at every stage — without a single manual email from the team.</a:t>
            </a:r>
          </a:p>
        </p:txBody>
      </p:sp>
      <p:sp>
        <p:nvSpPr>
          <p:cNvPr id="23" name="Rectangle 22"/>
          <p:cNvSpPr/>
          <p:nvPr/>
        </p:nvSpPr>
        <p:spPr>
          <a:xfrm>
            <a:off x="502920" y="4718304"/>
            <a:ext cx="11183112" cy="20116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4736592"/>
            <a:ext cx="10972800" cy="182880"/>
          </a:xfrm>
          <a:prstGeom prst="rect">
            <a:avLst/>
          </a:prstGeom>
          <a:noFill/>
        </p:spPr>
        <p:txBody>
          <a:bodyPr wrap="square">
            <a:spAutoFit/>
          </a:bodyPr>
          <a:lstStyle/>
          <a:p>
            <a:pPr algn="l"/>
            <a:r>
              <a:rPr sz="900" b="1" i="0">
                <a:solidFill>
                  <a:srgbClr val="8A9BBB"/>
                </a:solidFill>
              </a:rPr>
              <a:t>HNI LEAD QUALIFICATION</a:t>
            </a:r>
          </a:p>
        </p:txBody>
      </p:sp>
      <p:sp>
        <p:nvSpPr>
          <p:cNvPr id="25" name="TextBox 24"/>
          <p:cNvSpPr txBox="1"/>
          <p:nvPr/>
        </p:nvSpPr>
        <p:spPr>
          <a:xfrm>
            <a:off x="594360" y="4937760"/>
            <a:ext cx="4754880" cy="603504"/>
          </a:xfrm>
          <a:prstGeom prst="rect">
            <a:avLst/>
          </a:prstGeom>
          <a:noFill/>
        </p:spPr>
        <p:txBody>
          <a:bodyPr wrap="square">
            <a:spAutoFit/>
          </a:bodyPr>
          <a:lstStyle/>
          <a:p>
            <a:pPr algn="l"/>
            <a:r>
              <a:rPr sz="1100" b="0" i="0">
                <a:solidFill>
                  <a:srgbClr val="C8D4EE"/>
                </a:solidFill>
              </a:rPr>
              <a:t>Every inbound inquiry is treated the same — Asif manually reviews each email and responds personally. Early-stage 'just curious' inquiries consume the same time as $2M-capacity investors ready to commit.</a:t>
            </a:r>
          </a:p>
        </p:txBody>
      </p:sp>
      <p:sp>
        <p:nvSpPr>
          <p:cNvPr id="26" name="TextBox 25"/>
          <p:cNvSpPr txBox="1"/>
          <p:nvPr/>
        </p:nvSpPr>
        <p:spPr>
          <a:xfrm>
            <a:off x="5989320" y="4937760"/>
            <a:ext cx="4937760" cy="603504"/>
          </a:xfrm>
          <a:prstGeom prst="rect">
            <a:avLst/>
          </a:prstGeom>
          <a:noFill/>
        </p:spPr>
        <p:txBody>
          <a:bodyPr wrap="square">
            <a:spAutoFit/>
          </a:bodyPr>
          <a:lstStyle/>
          <a:p>
            <a:pPr algn="l"/>
            <a:r>
              <a:rPr sz="1100" b="0" i="0">
                <a:solidFill>
                  <a:srgbClr val="FFFFFF"/>
                </a:solidFill>
              </a:rPr>
              <a:t>AI scores every inquiry in real time. $800K+ investors with clear timelines go straight to Asif's calendar as priority. Mid-tier leads enter a 30-day education sequence. Team time focused entirely on conversations that convert.</a:t>
            </a:r>
          </a:p>
        </p:txBody>
      </p:sp>
      <p:sp>
        <p:nvSpPr>
          <p:cNvPr id="27" name="Rectangle 26"/>
          <p:cNvSpPr/>
          <p:nvPr/>
        </p:nvSpPr>
        <p:spPr>
          <a:xfrm>
            <a:off x="502920" y="5650992"/>
            <a:ext cx="11183112" cy="20116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5669280"/>
            <a:ext cx="10972800" cy="182880"/>
          </a:xfrm>
          <a:prstGeom prst="rect">
            <a:avLst/>
          </a:prstGeom>
          <a:noFill/>
        </p:spPr>
        <p:txBody>
          <a:bodyPr wrap="square">
            <a:spAutoFit/>
          </a:bodyPr>
          <a:lstStyle/>
          <a:p>
            <a:pPr algn="l"/>
            <a:r>
              <a:rPr sz="900" b="1" i="0">
                <a:solidFill>
                  <a:srgbClr val="8A9BBB"/>
                </a:solidFill>
              </a:rPr>
              <a:t>DIGITAL VISIBILITY</a:t>
            </a:r>
          </a:p>
        </p:txBody>
      </p:sp>
      <p:sp>
        <p:nvSpPr>
          <p:cNvPr id="29" name="TextBox 28"/>
          <p:cNvSpPr txBox="1"/>
          <p:nvPr/>
        </p:nvSpPr>
        <p:spPr>
          <a:xfrm>
            <a:off x="594360" y="5870448"/>
            <a:ext cx="4754880" cy="603504"/>
          </a:xfrm>
          <a:prstGeom prst="rect">
            <a:avLst/>
          </a:prstGeom>
          <a:noFill/>
        </p:spPr>
        <p:txBody>
          <a:bodyPr wrap="square">
            <a:spAutoFit/>
          </a:bodyPr>
          <a:lstStyle/>
          <a:p>
            <a:pPr algn="l"/>
            <a:r>
              <a:rPr sz="1100" b="0" i="0">
                <a:solidFill>
                  <a:srgbClr val="C8D4EE"/>
                </a:solidFill>
              </a:rPr>
              <a:t>Typing 'EB-5 visa India 2025' or 'US green card investor program' on Google returns no FirstPathway content. Indian and UAE investors searching online never encounter the firm. Traffic is entirely dependent on referrals.</a:t>
            </a:r>
          </a:p>
        </p:txBody>
      </p:sp>
      <p:sp>
        <p:nvSpPr>
          <p:cNvPr id="30" name="TextBox 29"/>
          <p:cNvSpPr txBox="1"/>
          <p:nvPr/>
        </p:nvSpPr>
        <p:spPr>
          <a:xfrm>
            <a:off x="5989320" y="5870448"/>
            <a:ext cx="4937760" cy="603504"/>
          </a:xfrm>
          <a:prstGeom prst="rect">
            <a:avLst/>
          </a:prstGeom>
          <a:noFill/>
        </p:spPr>
        <p:txBody>
          <a:bodyPr wrap="square">
            <a:spAutoFit/>
          </a:bodyPr>
          <a:lstStyle/>
          <a:p>
            <a:pPr algn="l"/>
            <a:r>
              <a:rPr sz="1100" b="0" i="0">
                <a:solidFill>
                  <a:srgbClr val="FFFFFF"/>
                </a:solidFill>
              </a:rPr>
              <a:t>12 SEO articles published over 90 days targeting exact India, UAE, China EB-5 search terms. LinkedIn posts 3x/week reaching HNI audience. Monthly Hindi/Mandarin webinar. FirstPathway becomes the visible expert for non-English EB-5 investors.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0" y="0"/>
            <a:ext cx="5330952" cy="68580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5943600" cy="457200"/>
          </a:xfrm>
          <a:prstGeom prst="rect">
            <a:avLst/>
          </a:prstGeom>
          <a:noFill/>
        </p:spPr>
        <p:txBody>
          <a:bodyPr wrap="square">
            <a:spAutoFit/>
          </a:bodyPr>
          <a:lstStyle/>
          <a:p>
            <a:pPr algn="l"/>
            <a:r>
              <a:rPr sz="1100" b="1" i="0">
                <a:solidFill>
                  <a:srgbClr val="00B4D8"/>
                </a:solidFill>
              </a:rPr>
              <a:t>NEXT STEPS</a:t>
            </a:r>
          </a:p>
        </p:txBody>
      </p:sp>
      <p:sp>
        <p:nvSpPr>
          <p:cNvPr id="6" name="TextBox 5"/>
          <p:cNvSpPr txBox="1"/>
          <p:nvPr/>
        </p:nvSpPr>
        <p:spPr>
          <a:xfrm>
            <a:off x="502920" y="731520"/>
            <a:ext cx="6217920" cy="1828800"/>
          </a:xfrm>
          <a:prstGeom prst="rect">
            <a:avLst/>
          </a:prstGeom>
          <a:noFill/>
        </p:spPr>
        <p:txBody>
          <a:bodyPr wrap="square">
            <a:spAutoFit/>
          </a:bodyPr>
          <a:lstStyle/>
          <a:p>
            <a:pPr algn="l"/>
            <a:r>
              <a:rPr sz="4800" b="1" i="0">
                <a:solidFill>
                  <a:srgbClr val="FFFFFF"/>
                </a:solidFill>
              </a:rPr>
              <a:t>Let's Talk for
15 Minutes.</a:t>
            </a:r>
          </a:p>
        </p:txBody>
      </p:sp>
      <p:sp>
        <p:nvSpPr>
          <p:cNvPr id="7" name="Rectangle 6"/>
          <p:cNvSpPr/>
          <p:nvPr/>
        </p:nvSpPr>
        <p:spPr>
          <a:xfrm>
            <a:off x="502920" y="2560320"/>
            <a:ext cx="228600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2788920"/>
            <a:ext cx="5943600" cy="731520"/>
          </a:xfrm>
          <a:prstGeom prst="rect">
            <a:avLst/>
          </a:prstGeom>
          <a:noFill/>
        </p:spPr>
        <p:txBody>
          <a:bodyPr wrap="square">
            <a:spAutoFit/>
          </a:bodyPr>
          <a:lstStyle/>
          <a:p>
            <a:pPr algn="l"/>
            <a:r>
              <a:rPr sz="1400" b="0" i="0">
                <a:solidFill>
                  <a:srgbClr val="C8D4EE"/>
                </a:solidFill>
              </a:rPr>
              <a:t>No pitch needed. Call or WhatsApp.
We'll start with the multilingual investor agent — live in 2 weeks.</a:t>
            </a:r>
          </a:p>
        </p:txBody>
      </p:sp>
      <p:sp>
        <p:nvSpPr>
          <p:cNvPr id="9" name="TextBox 8"/>
          <p:cNvSpPr txBox="1"/>
          <p:nvPr/>
        </p:nvSpPr>
        <p:spPr>
          <a:xfrm>
            <a:off x="502920" y="3611880"/>
            <a:ext cx="5943600" cy="1828800"/>
          </a:xfrm>
          <a:prstGeom prst="rect">
            <a:avLst/>
          </a:prstGeom>
          <a:noFill/>
        </p:spPr>
        <p:txBody>
          <a:bodyPr wrap="square">
            <a:spAutoFit/>
          </a:bodyPr>
          <a:lstStyle/>
          <a:p>
            <a:pPr algn="l">
              <a:spcAft>
                <a:spcPts val="600"/>
              </a:spcAft>
            </a:pPr>
            <a:r>
              <a:rPr sz="1200"/>
              <a:t>  </a:t>
            </a:r>
            <a:r>
              <a:rPr sz="1200" b="1">
                <a:solidFill>
                  <a:srgbClr val="00B4D8"/>
                </a:solidFill>
              </a:rPr>
              <a:t>* </a:t>
            </a:r>
            <a:r>
              <a:rPr sz="1400">
                <a:solidFill>
                  <a:srgbClr val="FFFFFF"/>
                </a:solidFill>
              </a:rPr>
              <a:t>Call or WhatsApp Rohan: +91 638-714-2699</a:t>
            </a:r>
          </a:p>
          <a:p>
            <a:pPr algn="l">
              <a:spcAft>
                <a:spcPts val="600"/>
              </a:spcAft>
            </a:pPr>
            <a:r>
              <a:rPr sz="1200"/>
              <a:t>  </a:t>
            </a:r>
            <a:r>
              <a:rPr sz="1200" b="1">
                <a:solidFill>
                  <a:srgbClr val="00B4D8"/>
                </a:solidFill>
              </a:rPr>
              <a:t>* </a:t>
            </a:r>
            <a:r>
              <a:rPr sz="1400">
                <a:solidFill>
                  <a:srgbClr val="FFFFFF"/>
                </a:solidFill>
              </a:rPr>
              <a:t>Week 1-2: Hindi + Mandarin + Arabic investor agent live on website + WhatsApp + WeChat</a:t>
            </a:r>
          </a:p>
          <a:p>
            <a:pPr algn="l">
              <a:spcAft>
                <a:spcPts val="600"/>
              </a:spcAft>
            </a:pPr>
            <a:r>
              <a:rPr sz="1200"/>
              <a:t>  </a:t>
            </a:r>
            <a:r>
              <a:rPr sz="1200" b="1">
                <a:solidFill>
                  <a:srgbClr val="00B4D8"/>
                </a:solidFill>
              </a:rPr>
              <a:t>* </a:t>
            </a:r>
            <a:r>
              <a:rPr sz="1400">
                <a:solidFill>
                  <a:srgbClr val="FFFFFF"/>
                </a:solidFill>
              </a:rPr>
              <a:t>Week 3-6: Client journey automation + HNI lead scoring + ROI calculator</a:t>
            </a:r>
          </a:p>
          <a:p>
            <a:pPr algn="l"/>
            <a:r>
              <a:rPr sz="1200"/>
              <a:t>  </a:t>
            </a:r>
            <a:r>
              <a:rPr sz="1200" b="1">
                <a:solidFill>
                  <a:srgbClr val="00B4D8"/>
                </a:solidFill>
              </a:rPr>
              <a:t>* </a:t>
            </a:r>
            <a:r>
              <a:rPr sz="1400">
                <a:solidFill>
                  <a:srgbClr val="FFFFFF"/>
                </a:solidFill>
              </a:rPr>
              <a:t>Month 2-3: SEO content engine + LinkedIn posts + Hindi/Mandarin webinar series</a:t>
            </a:r>
          </a:p>
        </p:txBody>
      </p:sp>
      <p:sp>
        <p:nvSpPr>
          <p:cNvPr id="10" name="Rectangle 9"/>
          <p:cNvSpPr/>
          <p:nvPr/>
        </p:nvSpPr>
        <p:spPr>
          <a:xfrm>
            <a:off x="0" y="5943600"/>
            <a:ext cx="6858000" cy="9144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035040"/>
            <a:ext cx="6217920" cy="457200"/>
          </a:xfrm>
          <a:prstGeom prst="rect">
            <a:avLst/>
          </a:prstGeom>
          <a:noFill/>
        </p:spPr>
        <p:txBody>
          <a:bodyPr wrap="square">
            <a:spAutoFit/>
          </a:bodyPr>
          <a:lstStyle/>
          <a:p>
            <a:pPr algn="l"/>
            <a:r>
              <a:rPr sz="1100" b="0" i="0">
                <a:solidFill>
                  <a:srgbClr val="8A9BBB"/>
                </a:solidFill>
              </a:rPr>
              <a:t>Rohan Malik  |  CEO, Genos AI  |  hello@genosai.tech  |  +91 638-714-2699  |  www.genosai.tech</a:t>
            </a:r>
          </a:p>
        </p:txBody>
      </p:sp>
      <p:sp>
        <p:nvSpPr>
          <p:cNvPr id="12" name="TextBox 11"/>
          <p:cNvSpPr txBox="1"/>
          <p:nvPr/>
        </p:nvSpPr>
        <p:spPr>
          <a:xfrm>
            <a:off x="7178040" y="548640"/>
            <a:ext cx="4572000" cy="1005840"/>
          </a:xfrm>
          <a:prstGeom prst="rect">
            <a:avLst/>
          </a:prstGeom>
          <a:noFill/>
        </p:spPr>
        <p:txBody>
          <a:bodyPr wrap="square">
            <a:spAutoFit/>
          </a:bodyPr>
          <a:lstStyle/>
          <a:p>
            <a:pPr algn="l"/>
            <a:r>
              <a:rPr sz="2200" b="1" i="0">
                <a:solidFill>
                  <a:srgbClr val="00B4D8"/>
                </a:solidFill>
              </a:rPr>
              <a:t>THREE GAPS.
THREE FIXES.</a:t>
            </a:r>
          </a:p>
        </p:txBody>
      </p:sp>
      <p:sp>
        <p:nvSpPr>
          <p:cNvPr id="13" name="Rectangle 12"/>
          <p:cNvSpPr/>
          <p:nvPr/>
        </p:nvSpPr>
        <p:spPr>
          <a:xfrm>
            <a:off x="502920" y="1508760"/>
            <a:ext cx="109728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178040" y="1691640"/>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23760" y="1737360"/>
            <a:ext cx="1280160" cy="292608"/>
          </a:xfrm>
          <a:prstGeom prst="rect">
            <a:avLst/>
          </a:prstGeom>
          <a:noFill/>
        </p:spPr>
        <p:txBody>
          <a:bodyPr wrap="square">
            <a:spAutoFit/>
          </a:bodyPr>
          <a:lstStyle/>
          <a:p>
            <a:pPr algn="l"/>
            <a:r>
              <a:rPr sz="1000" b="1" i="0">
                <a:solidFill>
                  <a:srgbClr val="00B4D8"/>
                </a:solidFill>
              </a:rPr>
              <a:t>No Hindi Bot</a:t>
            </a:r>
          </a:p>
        </p:txBody>
      </p:sp>
      <p:sp>
        <p:nvSpPr>
          <p:cNvPr id="16" name="TextBox 15"/>
          <p:cNvSpPr txBox="1"/>
          <p:nvPr/>
        </p:nvSpPr>
        <p:spPr>
          <a:xfrm>
            <a:off x="8686800" y="1737360"/>
            <a:ext cx="3291840" cy="594360"/>
          </a:xfrm>
          <a:prstGeom prst="rect">
            <a:avLst/>
          </a:prstGeom>
          <a:noFill/>
        </p:spPr>
        <p:txBody>
          <a:bodyPr wrap="square">
            <a:spAutoFit/>
          </a:bodyPr>
          <a:lstStyle/>
          <a:p>
            <a:pPr algn="l"/>
            <a:r>
              <a:rPr sz="1100" b="0" i="0">
                <a:solidFill>
                  <a:srgbClr val="C8D4EE"/>
                </a:solidFill>
              </a:rPr>
              <a:t>Multilingual AI agent: Hindi + Mandarin + Arabic, 24/7</a:t>
            </a:r>
          </a:p>
        </p:txBody>
      </p:sp>
      <p:sp>
        <p:nvSpPr>
          <p:cNvPr id="17" name="Rectangle 16"/>
          <p:cNvSpPr/>
          <p:nvPr/>
        </p:nvSpPr>
        <p:spPr>
          <a:xfrm>
            <a:off x="7178040" y="2496312"/>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60" y="2542032"/>
            <a:ext cx="1280160" cy="292608"/>
          </a:xfrm>
          <a:prstGeom prst="rect">
            <a:avLst/>
          </a:prstGeom>
          <a:noFill/>
        </p:spPr>
        <p:txBody>
          <a:bodyPr wrap="square">
            <a:spAutoFit/>
          </a:bodyPr>
          <a:lstStyle/>
          <a:p>
            <a:pPr algn="l"/>
            <a:r>
              <a:rPr sz="1000" b="1" i="0">
                <a:solidFill>
                  <a:srgbClr val="00B4D8"/>
                </a:solidFill>
              </a:rPr>
              <a:t>No WeChat AI</a:t>
            </a:r>
          </a:p>
        </p:txBody>
      </p:sp>
      <p:sp>
        <p:nvSpPr>
          <p:cNvPr id="19" name="TextBox 18"/>
          <p:cNvSpPr txBox="1"/>
          <p:nvPr/>
        </p:nvSpPr>
        <p:spPr>
          <a:xfrm>
            <a:off x="8686800" y="2542032"/>
            <a:ext cx="3291840" cy="594360"/>
          </a:xfrm>
          <a:prstGeom prst="rect">
            <a:avLst/>
          </a:prstGeom>
          <a:noFill/>
        </p:spPr>
        <p:txBody>
          <a:bodyPr wrap="square">
            <a:spAutoFit/>
          </a:bodyPr>
          <a:lstStyle/>
          <a:p>
            <a:pPr algn="l"/>
            <a:r>
              <a:rPr sz="1100" b="0" i="0">
                <a:solidFill>
                  <a:srgbClr val="C8D4EE"/>
                </a:solidFill>
              </a:rPr>
              <a:t>WeChat bot qualifying Chinese investors in Mandarin</a:t>
            </a:r>
          </a:p>
        </p:txBody>
      </p:sp>
      <p:sp>
        <p:nvSpPr>
          <p:cNvPr id="20" name="Rectangle 19"/>
          <p:cNvSpPr/>
          <p:nvPr/>
        </p:nvSpPr>
        <p:spPr>
          <a:xfrm>
            <a:off x="7178040" y="3300984"/>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23760" y="3346704"/>
            <a:ext cx="1280160" cy="292608"/>
          </a:xfrm>
          <a:prstGeom prst="rect">
            <a:avLst/>
          </a:prstGeom>
          <a:noFill/>
        </p:spPr>
        <p:txBody>
          <a:bodyPr wrap="square">
            <a:spAutoFit/>
          </a:bodyPr>
          <a:lstStyle/>
          <a:p>
            <a:pPr algn="l"/>
            <a:r>
              <a:rPr sz="1000" b="1" i="0">
                <a:solidFill>
                  <a:srgbClr val="00B4D8"/>
                </a:solidFill>
              </a:rPr>
              <a:t>Manual Journey</a:t>
            </a:r>
          </a:p>
        </p:txBody>
      </p:sp>
      <p:sp>
        <p:nvSpPr>
          <p:cNvPr id="22" name="TextBox 21"/>
          <p:cNvSpPr txBox="1"/>
          <p:nvPr/>
        </p:nvSpPr>
        <p:spPr>
          <a:xfrm>
            <a:off x="8686800" y="3346704"/>
            <a:ext cx="3291840" cy="594360"/>
          </a:xfrm>
          <a:prstGeom prst="rect">
            <a:avLst/>
          </a:prstGeom>
          <a:noFill/>
        </p:spPr>
        <p:txBody>
          <a:bodyPr wrap="square">
            <a:spAutoFit/>
          </a:bodyPr>
          <a:lstStyle/>
          <a:p>
            <a:pPr algn="l"/>
            <a:r>
              <a:rPr sz="1100" b="0" i="0">
                <a:solidFill>
                  <a:srgbClr val="C8D4EE"/>
                </a:solidFill>
              </a:rPr>
              <a:t>Automated 3-5 yr milestone comms: I-526E to I-829</a:t>
            </a:r>
          </a:p>
        </p:txBody>
      </p:sp>
      <p:sp>
        <p:nvSpPr>
          <p:cNvPr id="23" name="Rectangle 22"/>
          <p:cNvSpPr/>
          <p:nvPr/>
        </p:nvSpPr>
        <p:spPr>
          <a:xfrm>
            <a:off x="7178040" y="4105656"/>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23760" y="4151376"/>
            <a:ext cx="1280160" cy="292608"/>
          </a:xfrm>
          <a:prstGeom prst="rect">
            <a:avLst/>
          </a:prstGeom>
          <a:noFill/>
        </p:spPr>
        <p:txBody>
          <a:bodyPr wrap="square">
            <a:spAutoFit/>
          </a:bodyPr>
          <a:lstStyle/>
          <a:p>
            <a:pPr algn="l"/>
            <a:r>
              <a:rPr sz="1000" b="1" i="0">
                <a:solidFill>
                  <a:srgbClr val="00B4D8"/>
                </a:solidFill>
              </a:rPr>
              <a:t>No Lead Score</a:t>
            </a:r>
          </a:p>
        </p:txBody>
      </p:sp>
      <p:sp>
        <p:nvSpPr>
          <p:cNvPr id="25" name="TextBox 24"/>
          <p:cNvSpPr txBox="1"/>
          <p:nvPr/>
        </p:nvSpPr>
        <p:spPr>
          <a:xfrm>
            <a:off x="8686800" y="4151376"/>
            <a:ext cx="3291840" cy="594360"/>
          </a:xfrm>
          <a:prstGeom prst="rect">
            <a:avLst/>
          </a:prstGeom>
          <a:noFill/>
        </p:spPr>
        <p:txBody>
          <a:bodyPr wrap="square">
            <a:spAutoFit/>
          </a:bodyPr>
          <a:lstStyle/>
          <a:p>
            <a:pPr algn="l"/>
            <a:r>
              <a:rPr sz="1100" b="0" i="0">
                <a:solidFill>
                  <a:srgbClr val="C8D4EE"/>
                </a:solidFill>
              </a:rPr>
              <a:t>HNI scoring: $800K+ investors routed to Asif instantly</a:t>
            </a:r>
          </a:p>
        </p:txBody>
      </p:sp>
      <p:sp>
        <p:nvSpPr>
          <p:cNvPr id="26" name="Rectangle 25"/>
          <p:cNvSpPr/>
          <p:nvPr/>
        </p:nvSpPr>
        <p:spPr>
          <a:xfrm>
            <a:off x="7178040" y="4910328"/>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23760" y="4956048"/>
            <a:ext cx="1280160" cy="292608"/>
          </a:xfrm>
          <a:prstGeom prst="rect">
            <a:avLst/>
          </a:prstGeom>
          <a:noFill/>
        </p:spPr>
        <p:txBody>
          <a:bodyPr wrap="square">
            <a:spAutoFit/>
          </a:bodyPr>
          <a:lstStyle/>
          <a:p>
            <a:pPr algn="l"/>
            <a:r>
              <a:rPr sz="1000" b="1" i="0">
                <a:solidFill>
                  <a:srgbClr val="00B4D8"/>
                </a:solidFill>
              </a:rPr>
              <a:t>No SEO</a:t>
            </a:r>
          </a:p>
        </p:txBody>
      </p:sp>
      <p:sp>
        <p:nvSpPr>
          <p:cNvPr id="28" name="TextBox 27"/>
          <p:cNvSpPr txBox="1"/>
          <p:nvPr/>
        </p:nvSpPr>
        <p:spPr>
          <a:xfrm>
            <a:off x="8686800" y="4956048"/>
            <a:ext cx="3291840" cy="594360"/>
          </a:xfrm>
          <a:prstGeom prst="rect">
            <a:avLst/>
          </a:prstGeom>
          <a:noFill/>
        </p:spPr>
        <p:txBody>
          <a:bodyPr wrap="square">
            <a:spAutoFit/>
          </a:bodyPr>
          <a:lstStyle/>
          <a:p>
            <a:pPr algn="l"/>
            <a:r>
              <a:rPr sz="1100" b="0" i="0">
                <a:solidFill>
                  <a:srgbClr val="C8D4EE"/>
                </a:solidFill>
              </a:rPr>
              <a:t>12 articles: EB-5 India, UAE, China search terms</a:t>
            </a:r>
          </a:p>
        </p:txBody>
      </p:sp>
      <p:sp>
        <p:nvSpPr>
          <p:cNvPr id="29" name="Rectangle 28"/>
          <p:cNvSpPr/>
          <p:nvPr/>
        </p:nvSpPr>
        <p:spPr>
          <a:xfrm>
            <a:off x="7178040" y="5715000"/>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23760" y="5760720"/>
            <a:ext cx="1280160" cy="292608"/>
          </a:xfrm>
          <a:prstGeom prst="rect">
            <a:avLst/>
          </a:prstGeom>
          <a:noFill/>
        </p:spPr>
        <p:txBody>
          <a:bodyPr wrap="square">
            <a:spAutoFit/>
          </a:bodyPr>
          <a:lstStyle/>
          <a:p>
            <a:pPr algn="l"/>
            <a:r>
              <a:rPr sz="1000" b="1" i="0">
                <a:solidFill>
                  <a:srgbClr val="00B4D8"/>
                </a:solidFill>
              </a:rPr>
              <a:t>No Webinars</a:t>
            </a:r>
          </a:p>
        </p:txBody>
      </p:sp>
      <p:sp>
        <p:nvSpPr>
          <p:cNvPr id="31" name="TextBox 30"/>
          <p:cNvSpPr txBox="1"/>
          <p:nvPr/>
        </p:nvSpPr>
        <p:spPr>
          <a:xfrm>
            <a:off x="8686800" y="5760720"/>
            <a:ext cx="3291840" cy="594360"/>
          </a:xfrm>
          <a:prstGeom prst="rect">
            <a:avLst/>
          </a:prstGeom>
          <a:noFill/>
        </p:spPr>
        <p:txBody>
          <a:bodyPr wrap="square">
            <a:spAutoFit/>
          </a:bodyPr>
          <a:lstStyle/>
          <a:p>
            <a:pPr algn="l"/>
            <a:r>
              <a:rPr sz="1100" b="0" i="0">
                <a:solidFill>
                  <a:srgbClr val="C8D4EE"/>
                </a:solidFill>
              </a:rPr>
              <a:t>Hindi/Mandarin webinar series with auto registration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