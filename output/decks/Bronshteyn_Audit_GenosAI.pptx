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463040"/>
            <a:ext cx="8229600" cy="548640"/>
          </a:xfrm>
          <a:prstGeom prst="rect">
            <a:avLst/>
          </a:prstGeom>
          <a:noFill/>
        </p:spPr>
        <p:txBody>
          <a:bodyPr wrap="square">
            <a:spAutoFit/>
          </a:bodyPr>
          <a:lstStyle/>
          <a:p>
            <a:pPr algn="l"/>
            <a:r>
              <a:rPr sz="1300" b="0" i="0">
                <a:solidFill>
                  <a:srgbClr val="F5C518"/>
                </a:solidFill>
              </a:rPr>
              <a:t>BRONSHTEYN GMBH</a:t>
            </a:r>
          </a:p>
        </p:txBody>
      </p:sp>
      <p:sp>
        <p:nvSpPr>
          <p:cNvPr id="8" name="TextBox 7"/>
          <p:cNvSpPr txBox="1"/>
          <p:nvPr/>
        </p:nvSpPr>
        <p:spPr>
          <a:xfrm>
            <a:off x="502920" y="1874519"/>
            <a:ext cx="8229600" cy="1645920"/>
          </a:xfrm>
          <a:prstGeom prst="rect">
            <a:avLst/>
          </a:prstGeom>
          <a:noFill/>
        </p:spPr>
        <p:txBody>
          <a:bodyPr wrap="square">
            <a:spAutoFit/>
          </a:bodyPr>
          <a:lstStyle/>
          <a:p>
            <a:pPr algn="l"/>
            <a:r>
              <a:rPr sz="4800" b="1" i="0">
                <a:solidFill>
                  <a:srgbClr val="FFFFFF"/>
                </a:solidFill>
              </a:rPr>
              <a:t>Website &amp; AI Growth
Audit Report</a:t>
            </a:r>
          </a:p>
        </p:txBody>
      </p:sp>
      <p:sp>
        <p:nvSpPr>
          <p:cNvPr id="9" name="Rectangle 8"/>
          <p:cNvSpPr/>
          <p:nvPr/>
        </p:nvSpPr>
        <p:spPr>
          <a:xfrm>
            <a:off x="502920" y="3520440"/>
            <a:ext cx="27432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229600" cy="457200"/>
          </a:xfrm>
          <a:prstGeom prst="rect">
            <a:avLst/>
          </a:prstGeom>
          <a:noFill/>
        </p:spPr>
        <p:txBody>
          <a:bodyPr wrap="square">
            <a:spAutoFit/>
          </a:bodyPr>
          <a:lstStyle/>
          <a:p>
            <a:pPr algn="l"/>
            <a:r>
              <a:rPr sz="1400" b="0" i="0">
                <a:solidFill>
                  <a:srgbClr val="C8D4EE"/>
                </a:solidFill>
              </a:rPr>
              <a:t>Prepared exclusively for Boris Bronshteyn, CEO - Bronshteyn GmbH</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F4D4D"/>
                </a:solidFill>
              </a:rPr>
              <a:t>3</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5C518"/>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Boris Bronshteyn - Who He Is</a:t>
            </a:r>
          </a:p>
        </p:txBody>
      </p:sp>
      <p:sp>
        <p:nvSpPr>
          <p:cNvPr id="6" name="Rectangle 5"/>
          <p:cNvSpPr/>
          <p:nvPr/>
        </p:nvSpPr>
        <p:spPr>
          <a:xfrm>
            <a:off x="502920" y="123444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2200" b="1" i="0">
                <a:solidFill>
                  <a:srgbClr val="F5C518"/>
                </a:solidFill>
              </a:rPr>
              <a:t>Munich</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200" b="0" i="0">
                <a:solidFill>
                  <a:srgbClr val="C8D4EE"/>
                </a:solidFill>
              </a:rPr>
              <a:t>Bavaria, Germany HQ</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2200" b="1" i="0">
                <a:solidFill>
                  <a:srgbClr val="F5C518"/>
                </a:solidFill>
              </a:rPr>
              <a:t>Bronshteyn
GmbH</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200" b="0" i="0">
                <a:solidFill>
                  <a:srgbClr val="C8D4EE"/>
                </a:solidFill>
              </a:rPr>
              <a:t>Munich Family Office</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2200" b="1" i="0">
                <a:solidFill>
                  <a:srgbClr val="F5C518"/>
                </a:solidFill>
              </a:rPr>
              <a:t>11</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200" b="0" i="0">
                <a:solidFill>
                  <a:srgbClr val="C8D4EE"/>
                </a:solidFill>
              </a:rPr>
              <a:t>Team Members</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2200" b="1" i="0">
                <a:solidFill>
                  <a:srgbClr val="F5C518"/>
                </a:solidFill>
              </a:rPr>
              <a:t>3</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200" b="0" i="0">
                <a:solidFill>
                  <a:srgbClr val="C8D4EE"/>
                </a:solidFill>
              </a:rPr>
              <a:t>Service Lines: RE / M&amp;A / Advisory</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2200" b="1" i="0">
                <a:solidFill>
                  <a:srgbClr val="F5C518"/>
                </a:solidFill>
              </a:rPr>
              <a:t>Capital
Factory</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200" b="0" i="0">
                <a:solidFill>
                  <a:srgbClr val="C8D4EE"/>
                </a:solidFill>
              </a:rPr>
              <a:t>Tech Mentor, Austin TX</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200" b="0" i="0">
                <a:solidFill>
                  <a:srgbClr val="C8D4EE"/>
                </a:solidFill>
              </a:rPr>
              <a:t>Family Office | Investment Real Estate | M&amp;A Advisory | Business Acquisitions  -  Leibnizstrasse 35, 80686 Munich  -  Amtsgericht Munich</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F5C518"/>
                </a:solidFill>
              </a:rPr>
              <a:t>WHAT BORIS MANAGES</a:t>
            </a:r>
          </a:p>
        </p:txBody>
      </p:sp>
      <p:sp>
        <p:nvSpPr>
          <p:cNvPr id="25" name="TextBox 24"/>
          <p:cNvSpPr txBox="1"/>
          <p:nvPr/>
        </p:nvSpPr>
        <p:spPr>
          <a:xfrm>
            <a:off x="502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Real estate mediation and investment advisory across Germany</a:t>
            </a:r>
          </a:p>
          <a:p>
            <a:pPr algn="l">
              <a:spcAft>
                <a:spcPts val="600"/>
              </a:spcAft>
            </a:pPr>
            <a:r>
              <a:rPr sz="1100"/>
              <a:t>  </a:t>
            </a:r>
            <a:r>
              <a:rPr sz="1100" b="1">
                <a:solidFill>
                  <a:srgbClr val="4F8EFF"/>
                </a:solidFill>
              </a:rPr>
              <a:t>● </a:t>
            </a:r>
            <a:r>
              <a:rPr sz="1300">
                <a:solidFill>
                  <a:srgbClr val="C8D4EE"/>
                </a:solidFill>
              </a:rPr>
              <a:t>M&amp;A consulting and company acquisition mandates</a:t>
            </a:r>
          </a:p>
          <a:p>
            <a:pPr algn="l"/>
            <a:r>
              <a:rPr sz="1100"/>
              <a:t>  </a:t>
            </a:r>
            <a:r>
              <a:rPr sz="1100" b="1">
                <a:solidFill>
                  <a:srgbClr val="4F8EFF"/>
                </a:solidFill>
              </a:rPr>
              <a:t>● </a:t>
            </a:r>
            <a:r>
              <a:rPr sz="1300">
                <a:solidFill>
                  <a:srgbClr val="C8D4EE"/>
                </a:solidFill>
              </a:rPr>
              <a:t>Family office operations for HNW investor clients</a:t>
            </a:r>
          </a:p>
        </p:txBody>
      </p:sp>
      <p:sp>
        <p:nvSpPr>
          <p:cNvPr id="26" name="TextBox 25"/>
          <p:cNvSpPr txBox="1"/>
          <p:nvPr/>
        </p:nvSpPr>
        <p:spPr>
          <a:xfrm>
            <a:off x="6217920" y="4572000"/>
            <a:ext cx="5303520" cy="320040"/>
          </a:xfrm>
          <a:prstGeom prst="rect">
            <a:avLst/>
          </a:prstGeom>
          <a:noFill/>
        </p:spPr>
        <p:txBody>
          <a:bodyPr wrap="square">
            <a:spAutoFit/>
          </a:bodyPr>
          <a:lstStyle/>
          <a:p>
            <a:pPr algn="l"/>
            <a:r>
              <a:rPr sz="1100" b="1" i="0">
                <a:solidFill>
                  <a:srgbClr val="F5C518"/>
                </a:solidFill>
              </a:rPr>
              <a:t>WHO'S ON THE TEAM</a:t>
            </a:r>
          </a:p>
        </p:txBody>
      </p:sp>
      <p:sp>
        <p:nvSpPr>
          <p:cNvPr id="27" name="TextBox 26"/>
          <p:cNvSpPr txBox="1"/>
          <p:nvPr/>
        </p:nvSpPr>
        <p:spPr>
          <a:xfrm>
            <a:off x="6217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Boris Bronshteyn - CEO, deal lead and investor relationships</a:t>
            </a:r>
          </a:p>
          <a:p>
            <a:pPr algn="l">
              <a:spcAft>
                <a:spcPts val="600"/>
              </a:spcAft>
            </a:pPr>
            <a:r>
              <a:rPr sz="1100"/>
              <a:t>  </a:t>
            </a:r>
            <a:r>
              <a:rPr sz="1100" b="1">
                <a:solidFill>
                  <a:srgbClr val="4F8EFF"/>
                </a:solidFill>
              </a:rPr>
              <a:t>● </a:t>
            </a:r>
            <a:r>
              <a:rPr sz="1300">
                <a:solidFill>
                  <a:srgbClr val="C8D4EE"/>
                </a:solidFill>
              </a:rPr>
              <a:t>Anastasia Gerasimova - Head of Real Estate</a:t>
            </a:r>
          </a:p>
          <a:p>
            <a:pPr algn="l"/>
            <a:r>
              <a:rPr sz="1100"/>
              <a:t>  </a:t>
            </a:r>
            <a:r>
              <a:rPr sz="1100" b="1">
                <a:solidFill>
                  <a:srgbClr val="4F8EFF"/>
                </a:solidFill>
              </a:rPr>
              <a:t>● </a:t>
            </a:r>
            <a:r>
              <a:rPr sz="1300">
                <a:solidFill>
                  <a:srgbClr val="C8D4EE"/>
                </a:solidFill>
              </a:rPr>
              <a:t>Ksenia Kuligina - Key Account Manager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WHAT'S WORKING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Why This Works - and Why Now</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Bronshteyn GmbH Covers Three Mandate Types That Most Munich Advisories Don't</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Real estate mediation, M&amp;A consulting, and business acquisition advisory under one operation means a client relationship that starts as a property deal can evolve into an M&amp;A mandate without switching advisors. That breadth is a genuine differentiator in a Munich market where most operators are either pure-play RE or pure-play M&amp;A - but only if prospects understand what Bronshteyn GmbH actually covers before the first call.</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Capital Factory Mentorship Means Boris Already Evaluates Tech on Its Merits</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A Munich family office principal who mentors Austin startup founders thinks differently about technology than most European RE advisors. The Capital Factory connection signals that Boris has already filtered for what works in tech-enabled operations - which makes the AI automation and site rebuild conversation practical rather than philosophical.</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Anastasia and Ksenia Provide Operational Depth Beyond a One-Principal Shop</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A Head of Real Estate and a Key Account Manager means the business has the capacity to handle increased deal flow if inbound is improved. The team already exists to close the mandates that better digital infrastructure would generate. This is not a situation where automation would outpace the team's ability to execute - the headcount is there.</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WhiteWill Advisory Relationship Provides a Direct Line Into a AED 2.23B Operation</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Boris's advisory role at WhiteWill Dubai - AED 2.23B in 2025 transactions, 500+ employees, 6,000 partner agents - is a bridge relationship that most advisory firms never have. The same AI automation stack that benefits Bronshteyn GmbH scales directly to WhiteWill's 500 weekly inbound inquiries. That conversation becomes available once the Bronshteyn stack has proof of performance.</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German Real Estate and M&amp;A Advisory Is Still Largely Relationship and Network-Driven</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Most family offices and investment advisories in the Munich and Bavarian market operate with minimal digital infrastructure. They win on network and do not invest in online presence. A family office that publishes market commentary, ranks for relevant search terms, and presents professionally online has a structural first-mover advantage over operators who do not - and that advantage compounds as content builds.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THE THREE GAPS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One Placeholder Site. Three Categories of Lost Opportunity.</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61188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691640"/>
            <a:ext cx="3392424" cy="329184"/>
          </a:xfrm>
          <a:prstGeom prst="rect">
            <a:avLst/>
          </a:prstGeom>
          <a:noFill/>
        </p:spPr>
        <p:txBody>
          <a:bodyPr wrap="square">
            <a:spAutoFit/>
          </a:bodyPr>
          <a:lstStyle/>
          <a:p>
            <a:pPr algn="ctr"/>
            <a:r>
              <a:rPr sz="1100" b="1" i="0">
                <a:solidFill>
                  <a:srgbClr val="0A0F2E"/>
                </a:solidFill>
              </a:rPr>
              <a:t>GAP 1
CREDIBILITY
INFRASTRUCTURE</a:t>
            </a:r>
          </a:p>
        </p:txBody>
      </p:sp>
      <p:sp>
        <p:nvSpPr>
          <p:cNvPr id="9" name="Rectangle 8"/>
          <p:cNvSpPr/>
          <p:nvPr/>
        </p:nvSpPr>
        <p:spPr>
          <a:xfrm>
            <a:off x="502920" y="2029968"/>
            <a:ext cx="36118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103120"/>
            <a:ext cx="3392424" cy="320040"/>
          </a:xfrm>
          <a:prstGeom prst="rect">
            <a:avLst/>
          </a:prstGeom>
          <a:noFill/>
        </p:spPr>
        <p:txBody>
          <a:bodyPr wrap="square">
            <a:spAutoFit/>
          </a:bodyPr>
          <a:lstStyle/>
          <a:p>
            <a:pPr algn="l"/>
            <a:r>
              <a:rPr sz="1000" b="0" i="1">
                <a:solidFill>
                  <a:srgbClr val="FF4D4D"/>
                </a:solidFill>
              </a:rPr>
              <a:t>What's missing from bronshteyn.com</a:t>
            </a:r>
          </a:p>
        </p:txBody>
      </p:sp>
      <p:sp>
        <p:nvSpPr>
          <p:cNvPr id="11" name="TextBox 10"/>
          <p:cNvSpPr txBox="1"/>
          <p:nvPr/>
        </p:nvSpPr>
        <p:spPr>
          <a:xfrm>
            <a:off x="612648" y="2487168"/>
            <a:ext cx="3392424" cy="3566160"/>
          </a:xfrm>
          <a:prstGeom prst="rect">
            <a:avLst/>
          </a:prstGeom>
          <a:noFill/>
        </p:spPr>
        <p:txBody>
          <a:bodyPr wrap="square">
            <a:spAutoFit/>
          </a:bodyPr>
          <a:lstStyle/>
          <a:p>
            <a:pPr algn="l">
              <a:spcAft>
                <a:spcPts val="600"/>
              </a:spcAft>
            </a:pPr>
            <a:r>
              <a:rPr sz="1000"/>
              <a:t>  </a:t>
            </a:r>
            <a:r>
              <a:rPr sz="1000" b="1">
                <a:solidFill>
                  <a:srgbClr val="FF4D4D"/>
                </a:solidFill>
              </a:rPr>
              <a:t>● </a:t>
            </a:r>
            <a:r>
              <a:rPr sz="1200">
                <a:solidFill>
                  <a:srgbClr val="C8D4EE"/>
                </a:solidFill>
              </a:rPr>
              <a:t>No service scope - visitors cannot assess mandate fit without calling</a:t>
            </a:r>
          </a:p>
          <a:p>
            <a:pPr algn="l">
              <a:spcAft>
                <a:spcPts val="600"/>
              </a:spcAft>
            </a:pPr>
            <a:r>
              <a:rPr sz="1000"/>
              <a:t>  </a:t>
            </a:r>
            <a:r>
              <a:rPr sz="1000" b="1">
                <a:solidFill>
                  <a:srgbClr val="FF4D4D"/>
                </a:solidFill>
              </a:rPr>
              <a:t>● </a:t>
            </a:r>
            <a:r>
              <a:rPr sz="1200">
                <a:solidFill>
                  <a:srgbClr val="C8D4EE"/>
                </a:solidFill>
              </a:rPr>
              <a:t>No deal track record - zero evidence of outcomes achieved</a:t>
            </a:r>
          </a:p>
          <a:p>
            <a:pPr algn="l">
              <a:spcAft>
                <a:spcPts val="600"/>
              </a:spcAft>
            </a:pPr>
            <a:r>
              <a:rPr sz="1000"/>
              <a:t>  </a:t>
            </a:r>
            <a:r>
              <a:rPr sz="1000" b="1">
                <a:solidFill>
                  <a:srgbClr val="FF4D4D"/>
                </a:solidFill>
              </a:rPr>
              <a:t>● </a:t>
            </a:r>
            <a:r>
              <a:rPr sz="1200">
                <a:solidFill>
                  <a:srgbClr val="C8D4EE"/>
                </a:solidFill>
              </a:rPr>
              <a:t>No team credentials - Anastasia and Ksenia are invisible to prospects</a:t>
            </a:r>
          </a:p>
          <a:p>
            <a:pPr algn="l"/>
            <a:r>
              <a:rPr sz="1000"/>
              <a:t>  </a:t>
            </a:r>
            <a:r>
              <a:rPr sz="1000" b="1">
                <a:solidFill>
                  <a:srgbClr val="FF4D4D"/>
                </a:solidFill>
              </a:rPr>
              <a:t>● </a:t>
            </a:r>
            <a:r>
              <a:rPr sz="1200">
                <a:solidFill>
                  <a:srgbClr val="C8D4EE"/>
                </a:solidFill>
              </a:rPr>
              <a:t>Single-page site fails the pre-call research filter HNW clients apply</a:t>
            </a:r>
          </a:p>
        </p:txBody>
      </p:sp>
      <p:sp>
        <p:nvSpPr>
          <p:cNvPr id="12" name="Rectangle 11"/>
          <p:cNvSpPr/>
          <p:nvPr/>
        </p:nvSpPr>
        <p:spPr>
          <a:xfrm>
            <a:off x="4279392" y="1645920"/>
            <a:ext cx="361188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1691640"/>
            <a:ext cx="3392424" cy="329184"/>
          </a:xfrm>
          <a:prstGeom prst="rect">
            <a:avLst/>
          </a:prstGeom>
          <a:noFill/>
        </p:spPr>
        <p:txBody>
          <a:bodyPr wrap="square">
            <a:spAutoFit/>
          </a:bodyPr>
          <a:lstStyle/>
          <a:p>
            <a:pPr algn="ctr"/>
            <a:r>
              <a:rPr sz="1100" b="1" i="0">
                <a:solidFill>
                  <a:srgbClr val="0A0F2E"/>
                </a:solidFill>
              </a:rPr>
              <a:t>GAP 2
DEAL FLOW
QUALIFICATION</a:t>
            </a:r>
          </a:p>
        </p:txBody>
      </p:sp>
      <p:sp>
        <p:nvSpPr>
          <p:cNvPr id="14" name="Rectangle 13"/>
          <p:cNvSpPr/>
          <p:nvPr/>
        </p:nvSpPr>
        <p:spPr>
          <a:xfrm>
            <a:off x="4279392" y="2029968"/>
            <a:ext cx="36118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103120"/>
            <a:ext cx="3392424" cy="320040"/>
          </a:xfrm>
          <a:prstGeom prst="rect">
            <a:avLst/>
          </a:prstGeom>
          <a:noFill/>
        </p:spPr>
        <p:txBody>
          <a:bodyPr wrap="square">
            <a:spAutoFit/>
          </a:bodyPr>
          <a:lstStyle/>
          <a:p>
            <a:pPr algn="l"/>
            <a:r>
              <a:rPr sz="1000" b="0" i="1">
                <a:solidFill>
                  <a:srgbClr val="F5C518"/>
                </a:solidFill>
              </a:rPr>
              <a:t>How inbound currently reaches Boris</a:t>
            </a:r>
          </a:p>
        </p:txBody>
      </p:sp>
      <p:sp>
        <p:nvSpPr>
          <p:cNvPr id="16" name="TextBox 15"/>
          <p:cNvSpPr txBox="1"/>
          <p:nvPr/>
        </p:nvSpPr>
        <p:spPr>
          <a:xfrm>
            <a:off x="4389120" y="2487168"/>
            <a:ext cx="3392424" cy="3566160"/>
          </a:xfrm>
          <a:prstGeom prst="rect">
            <a:avLst/>
          </a:prstGeom>
          <a:noFill/>
        </p:spPr>
        <p:txBody>
          <a:bodyPr wrap="square">
            <a:spAutoFit/>
          </a:bodyPr>
          <a:lstStyle/>
          <a:p>
            <a:pPr algn="l">
              <a:spcAft>
                <a:spcPts val="600"/>
              </a:spcAft>
            </a:pPr>
            <a:r>
              <a:rPr sz="1000"/>
              <a:t>  </a:t>
            </a:r>
            <a:r>
              <a:rPr sz="1000" b="1">
                <a:solidFill>
                  <a:srgbClr val="F5C518"/>
                </a:solidFill>
              </a:rPr>
              <a:t>● </a:t>
            </a:r>
            <a:r>
              <a:rPr sz="1200">
                <a:solidFill>
                  <a:srgbClr val="C8D4EE"/>
                </a:solidFill>
              </a:rPr>
              <a:t>Email, WhatsApp, and Telegram all deliver unscreened to Boris directly</a:t>
            </a:r>
          </a:p>
          <a:p>
            <a:pPr algn="l">
              <a:spcAft>
                <a:spcPts val="600"/>
              </a:spcAft>
            </a:pPr>
            <a:r>
              <a:rPr sz="1000"/>
              <a:t>  </a:t>
            </a:r>
            <a:r>
              <a:rPr sz="1000" b="1">
                <a:solidFill>
                  <a:srgbClr val="F5C518"/>
                </a:solidFill>
              </a:rPr>
              <a:t>● </a:t>
            </a:r>
            <a:r>
              <a:rPr sz="1200">
                <a:solidFill>
                  <a:srgbClr val="C8D4EE"/>
                </a:solidFill>
              </a:rPr>
              <a:t>No deal type, ticket size, or geography screening before his involvement</a:t>
            </a:r>
          </a:p>
          <a:p>
            <a:pPr algn="l">
              <a:spcAft>
                <a:spcPts val="600"/>
              </a:spcAft>
            </a:pPr>
            <a:r>
              <a:rPr sz="1000"/>
              <a:t>  </a:t>
            </a:r>
            <a:r>
              <a:rPr sz="1000" b="1">
                <a:solidFill>
                  <a:srgbClr val="F5C518"/>
                </a:solidFill>
              </a:rPr>
              <a:t>● </a:t>
            </a:r>
            <a:r>
              <a:rPr sz="1200">
                <a:solidFill>
                  <a:srgbClr val="C8D4EE"/>
                </a:solidFill>
              </a:rPr>
              <a:t>Boris personally filters every inquiry - a direct cost on mandate execution time</a:t>
            </a:r>
          </a:p>
          <a:p>
            <a:pPr algn="l"/>
            <a:r>
              <a:rPr sz="1000"/>
              <a:t>  </a:t>
            </a:r>
            <a:r>
              <a:rPr sz="1000" b="1">
                <a:solidFill>
                  <a:srgbClr val="F5C518"/>
                </a:solidFill>
              </a:rPr>
              <a:t>● </a:t>
            </a:r>
            <a:r>
              <a:rPr sz="1200">
                <a:solidFill>
                  <a:srgbClr val="C8D4EE"/>
                </a:solidFill>
              </a:rPr>
              <a:t>No structured entry point to route acquisition vs. advisory vs. co-investment</a:t>
            </a:r>
          </a:p>
        </p:txBody>
      </p:sp>
      <p:sp>
        <p:nvSpPr>
          <p:cNvPr id="17" name="Rectangle 16"/>
          <p:cNvSpPr/>
          <p:nvPr/>
        </p:nvSpPr>
        <p:spPr>
          <a:xfrm>
            <a:off x="8055864" y="1645920"/>
            <a:ext cx="361188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65592" y="1691640"/>
            <a:ext cx="3392424" cy="329184"/>
          </a:xfrm>
          <a:prstGeom prst="rect">
            <a:avLst/>
          </a:prstGeom>
          <a:noFill/>
        </p:spPr>
        <p:txBody>
          <a:bodyPr wrap="square">
            <a:spAutoFit/>
          </a:bodyPr>
          <a:lstStyle/>
          <a:p>
            <a:pPr algn="ctr"/>
            <a:r>
              <a:rPr sz="1100" b="1" i="0">
                <a:solidFill>
                  <a:srgbClr val="0A0F2E"/>
                </a:solidFill>
              </a:rPr>
              <a:t>GAP 3
MARKET
PRESENCE</a:t>
            </a:r>
          </a:p>
        </p:txBody>
      </p:sp>
      <p:sp>
        <p:nvSpPr>
          <p:cNvPr id="19" name="Rectangle 18"/>
          <p:cNvSpPr/>
          <p:nvPr/>
        </p:nvSpPr>
        <p:spPr>
          <a:xfrm>
            <a:off x="8055864" y="2029968"/>
            <a:ext cx="36118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65592" y="2103120"/>
            <a:ext cx="3392424" cy="320040"/>
          </a:xfrm>
          <a:prstGeom prst="rect">
            <a:avLst/>
          </a:prstGeom>
          <a:noFill/>
        </p:spPr>
        <p:txBody>
          <a:bodyPr wrap="square">
            <a:spAutoFit/>
          </a:bodyPr>
          <a:lstStyle/>
          <a:p>
            <a:pPr algn="l"/>
            <a:r>
              <a:rPr sz="1000" b="0" i="1">
                <a:solidFill>
                  <a:srgbClr val="4F8EFF"/>
                </a:solidFill>
              </a:rPr>
              <a:t>How Bronshteyn GmbH appears to searching prospects</a:t>
            </a:r>
          </a:p>
        </p:txBody>
      </p:sp>
      <p:sp>
        <p:nvSpPr>
          <p:cNvPr id="21" name="TextBox 20"/>
          <p:cNvSpPr txBox="1"/>
          <p:nvPr/>
        </p:nvSpPr>
        <p:spPr>
          <a:xfrm>
            <a:off x="8165592" y="2487168"/>
            <a:ext cx="3392424" cy="356616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Single-page site indexes zero content - cannot rank for any keyword</a:t>
            </a:r>
          </a:p>
          <a:p>
            <a:pPr algn="l">
              <a:spcAft>
                <a:spcPts val="600"/>
              </a:spcAft>
            </a:pPr>
            <a:r>
              <a:rPr sz="1000"/>
              <a:t>  </a:t>
            </a:r>
            <a:r>
              <a:rPr sz="1000" b="1">
                <a:solidFill>
                  <a:srgbClr val="4F8EFF"/>
                </a:solidFill>
              </a:rPr>
              <a:t>● </a:t>
            </a:r>
            <a:r>
              <a:rPr sz="1200">
                <a:solidFill>
                  <a:srgbClr val="C8D4EE"/>
                </a:solidFill>
              </a:rPr>
              <a:t>Sellers researching 'family office Munich' or 'M&amp;A Beratung Bayern' never find it</a:t>
            </a:r>
          </a:p>
          <a:p>
            <a:pPr algn="l">
              <a:spcAft>
                <a:spcPts val="600"/>
              </a:spcAft>
            </a:pPr>
            <a:r>
              <a:rPr sz="1000"/>
              <a:t>  </a:t>
            </a:r>
            <a:r>
              <a:rPr sz="1000" b="1">
                <a:solidFill>
                  <a:srgbClr val="4F8EFF"/>
                </a:solidFill>
              </a:rPr>
              <a:t>● </a:t>
            </a:r>
            <a:r>
              <a:rPr sz="1200">
                <a:solidFill>
                  <a:srgbClr val="C8D4EE"/>
                </a:solidFill>
              </a:rPr>
              <a:t>No content or commentary - no reason for Google to surface the domain</a:t>
            </a:r>
          </a:p>
          <a:p>
            <a:pPr algn="l"/>
            <a:r>
              <a:rPr sz="1000"/>
              <a:t>  </a:t>
            </a:r>
            <a:r>
              <a:rPr sz="1000" b="1">
                <a:solidFill>
                  <a:srgbClr val="4F8EFF"/>
                </a:solidFill>
              </a:rPr>
              <a:t>● </a:t>
            </a:r>
            <a:r>
              <a:rPr sz="1200">
                <a:solidFill>
                  <a:srgbClr val="C8D4EE"/>
                </a:solidFill>
              </a:rPr>
              <a:t>First contact for most prospects is still cold - no warm organic channel exists</a:t>
            </a:r>
          </a:p>
        </p:txBody>
      </p:sp>
      <p:sp>
        <p:nvSpPr>
          <p:cNvPr id="22" name="Rectangle 21"/>
          <p:cNvSpPr/>
          <p:nvPr/>
        </p:nvSpPr>
        <p:spPr>
          <a:xfrm>
            <a:off x="502920" y="6446520"/>
            <a:ext cx="11183112" cy="2743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10972800" cy="228600"/>
          </a:xfrm>
          <a:prstGeom prst="rect">
            <a:avLst/>
          </a:prstGeom>
          <a:noFill/>
        </p:spPr>
        <p:txBody>
          <a:bodyPr wrap="square">
            <a:spAutoFit/>
          </a:bodyPr>
          <a:lstStyle/>
          <a:p>
            <a:pPr algn="l"/>
            <a:r>
              <a:rPr sz="1100" b="0" i="1">
                <a:solidFill>
                  <a:srgbClr val="F5C518"/>
                </a:solidFill>
              </a:rPr>
              <a:t>Each gap is a separate problem with a separate fix. All three are solvable.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WEBSITE DESIGN AUDIT</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3200" b="1" i="0">
                <a:solidFill>
                  <a:srgbClr val="FFFFFF"/>
                </a:solidFill>
              </a:rPr>
              <a:t>From Contact Card to Family Office Authority Site.</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347472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34747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3291840" cy="347472"/>
          </a:xfrm>
          <a:prstGeom prst="rect">
            <a:avLst/>
          </a:prstGeom>
          <a:noFill/>
        </p:spPr>
        <p:txBody>
          <a:bodyPr wrap="square">
            <a:spAutoFit/>
          </a:bodyPr>
          <a:lstStyle/>
          <a:p>
            <a:pPr algn="ctr"/>
            <a:r>
              <a:rPr sz="1000" b="1" i="0">
                <a:solidFill>
                  <a:srgbClr val="FFFFFF"/>
                </a:solidFill>
              </a:rPr>
              <a:t>BRONSHTEYN.COM TODAY</a:t>
            </a:r>
          </a:p>
        </p:txBody>
      </p:sp>
      <p:sp>
        <p:nvSpPr>
          <p:cNvPr id="10" name="TextBox 9"/>
          <p:cNvSpPr txBox="1"/>
          <p:nvPr/>
        </p:nvSpPr>
        <p:spPr>
          <a:xfrm>
            <a:off x="640080" y="2212848"/>
            <a:ext cx="3291840" cy="26517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Name + subtitle only: Family Office | Real estate</a:t>
            </a:r>
          </a:p>
          <a:p>
            <a:pPr algn="l">
              <a:spcAft>
                <a:spcPts val="600"/>
              </a:spcAft>
            </a:pPr>
            <a:r>
              <a:rPr sz="900"/>
              <a:t>  </a:t>
            </a:r>
            <a:r>
              <a:rPr sz="900" b="1">
                <a:solidFill>
                  <a:srgbClr val="FF4D4D"/>
                </a:solidFill>
              </a:rPr>
              <a:t>● </a:t>
            </a:r>
            <a:r>
              <a:rPr sz="1100">
                <a:solidFill>
                  <a:srgbClr val="C8D4EE"/>
                </a:solidFill>
              </a:rPr>
              <a:t>Email, WhatsApp, Telegram - no other content</a:t>
            </a:r>
          </a:p>
          <a:p>
            <a:pPr algn="l">
              <a:spcAft>
                <a:spcPts val="600"/>
              </a:spcAft>
            </a:pPr>
            <a:r>
              <a:rPr sz="900"/>
              <a:t>  </a:t>
            </a:r>
            <a:r>
              <a:rPr sz="900" b="1">
                <a:solidFill>
                  <a:srgbClr val="FF4D4D"/>
                </a:solidFill>
              </a:rPr>
              <a:t>● </a:t>
            </a:r>
            <a:r>
              <a:rPr sz="1100">
                <a:solidFill>
                  <a:srgbClr val="C8D4EE"/>
                </a:solidFill>
              </a:rPr>
              <a:t>Single page, no navigation, no depth</a:t>
            </a:r>
          </a:p>
          <a:p>
            <a:pPr algn="l">
              <a:spcAft>
                <a:spcPts val="600"/>
              </a:spcAft>
            </a:pPr>
            <a:r>
              <a:rPr sz="900"/>
              <a:t>  </a:t>
            </a:r>
            <a:r>
              <a:rPr sz="900" b="1">
                <a:solidFill>
                  <a:srgbClr val="FF4D4D"/>
                </a:solidFill>
              </a:rPr>
              <a:t>● </a:t>
            </a:r>
            <a:r>
              <a:rPr sz="1100">
                <a:solidFill>
                  <a:srgbClr val="C8D4EE"/>
                </a:solidFill>
              </a:rPr>
              <a:t>No service descriptions or mandate scope</a:t>
            </a:r>
          </a:p>
          <a:p>
            <a:pPr algn="l">
              <a:spcAft>
                <a:spcPts val="600"/>
              </a:spcAft>
            </a:pPr>
            <a:r>
              <a:rPr sz="900"/>
              <a:t>  </a:t>
            </a:r>
            <a:r>
              <a:rPr sz="900" b="1">
                <a:solidFill>
                  <a:srgbClr val="FF4D4D"/>
                </a:solidFill>
              </a:rPr>
              <a:t>● </a:t>
            </a:r>
            <a:r>
              <a:rPr sz="1100">
                <a:solidFill>
                  <a:srgbClr val="C8D4EE"/>
                </a:solidFill>
              </a:rPr>
              <a:t>No deal track record or transaction history</a:t>
            </a:r>
          </a:p>
          <a:p>
            <a:pPr algn="l">
              <a:spcAft>
                <a:spcPts val="600"/>
              </a:spcAft>
            </a:pPr>
            <a:r>
              <a:rPr sz="900"/>
              <a:t>  </a:t>
            </a:r>
            <a:r>
              <a:rPr sz="900" b="1">
                <a:solidFill>
                  <a:srgbClr val="FF4D4D"/>
                </a:solidFill>
              </a:rPr>
              <a:t>● </a:t>
            </a:r>
            <a:r>
              <a:rPr sz="1100">
                <a:solidFill>
                  <a:srgbClr val="C8D4EE"/>
                </a:solidFill>
              </a:rPr>
              <a:t>No team page - Anastasia and Ksenia invisible</a:t>
            </a:r>
          </a:p>
          <a:p>
            <a:pPr algn="l">
              <a:spcAft>
                <a:spcPts val="600"/>
              </a:spcAft>
            </a:pPr>
            <a:r>
              <a:rPr sz="900"/>
              <a:t>  </a:t>
            </a:r>
            <a:r>
              <a:rPr sz="900" b="1">
                <a:solidFill>
                  <a:srgbClr val="FF4D4D"/>
                </a:solidFill>
              </a:rPr>
              <a:t>● </a:t>
            </a:r>
            <a:r>
              <a:rPr sz="1100">
                <a:solidFill>
                  <a:srgbClr val="C8D4EE"/>
                </a:solidFill>
              </a:rPr>
              <a:t>No blog or content hub</a:t>
            </a:r>
          </a:p>
          <a:p>
            <a:pPr algn="l"/>
            <a:r>
              <a:rPr sz="900"/>
              <a:t>  </a:t>
            </a:r>
            <a:r>
              <a:rPr sz="900" b="1">
                <a:solidFill>
                  <a:srgbClr val="FF4D4D"/>
                </a:solidFill>
              </a:rPr>
              <a:t>● </a:t>
            </a:r>
            <a:r>
              <a:rPr sz="1100">
                <a:solidFill>
                  <a:srgbClr val="C8D4EE"/>
                </a:solidFill>
              </a:rPr>
              <a:t>No SEO - single page cannot rank for any term</a:t>
            </a:r>
          </a:p>
        </p:txBody>
      </p:sp>
      <p:sp>
        <p:nvSpPr>
          <p:cNvPr id="11" name="TextBox 10"/>
          <p:cNvSpPr txBox="1"/>
          <p:nvPr/>
        </p:nvSpPr>
        <p:spPr>
          <a:xfrm>
            <a:off x="4069080" y="3291840"/>
            <a:ext cx="457200" cy="457200"/>
          </a:xfrm>
          <a:prstGeom prst="rect">
            <a:avLst/>
          </a:prstGeom>
          <a:noFill/>
        </p:spPr>
        <p:txBody>
          <a:bodyPr wrap="square">
            <a:spAutoFit/>
          </a:bodyPr>
          <a:lstStyle/>
          <a:p>
            <a:pPr algn="ctr"/>
            <a:r>
              <a:rPr sz="3000" b="1" i="0">
                <a:solidFill>
                  <a:srgbClr val="A055FF"/>
                </a:solidFill>
              </a:rPr>
              <a:t>-&gt;</a:t>
            </a:r>
          </a:p>
        </p:txBody>
      </p:sp>
      <p:sp>
        <p:nvSpPr>
          <p:cNvPr id="12" name="Rectangle 11"/>
          <p:cNvSpPr/>
          <p:nvPr/>
        </p:nvSpPr>
        <p:spPr>
          <a:xfrm>
            <a:off x="45720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737360"/>
            <a:ext cx="329184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55648"/>
            <a:ext cx="3108960" cy="347472"/>
          </a:xfrm>
          <a:prstGeom prst="rect">
            <a:avLst/>
          </a:prstGeom>
          <a:noFill/>
        </p:spPr>
        <p:txBody>
          <a:bodyPr wrap="square">
            <a:spAutoFit/>
          </a:bodyPr>
          <a:lstStyle/>
          <a:p>
            <a:pPr algn="ctr"/>
            <a:r>
              <a:rPr sz="900" b="1" i="0">
                <a:solidFill>
                  <a:srgbClr val="FFFFFF"/>
                </a:solidFill>
              </a:rPr>
              <a:t>WHAT A FAMILY OFFICE SITE DOES</a:t>
            </a:r>
          </a:p>
        </p:txBody>
      </p:sp>
      <p:sp>
        <p:nvSpPr>
          <p:cNvPr id="15" name="TextBox 14"/>
          <p:cNvSpPr txBox="1"/>
          <p:nvPr/>
        </p:nvSpPr>
        <p:spPr>
          <a:xfrm>
            <a:off x="4663440" y="2212848"/>
            <a:ext cx="3108960" cy="26517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Services scoped with mandate types and deal criteria</a:t>
            </a:r>
          </a:p>
          <a:p>
            <a:pPr algn="l">
              <a:spcAft>
                <a:spcPts val="600"/>
              </a:spcAft>
            </a:pPr>
            <a:r>
              <a:rPr sz="900"/>
              <a:t>  </a:t>
            </a:r>
            <a:r>
              <a:rPr sz="900" b="1">
                <a:solidFill>
                  <a:srgbClr val="F5C518"/>
                </a:solidFill>
              </a:rPr>
              <a:t>● </a:t>
            </a:r>
            <a:r>
              <a:rPr sz="1100">
                <a:solidFill>
                  <a:srgbClr val="C8D4EE"/>
                </a:solidFill>
              </a:rPr>
              <a:t>Track record: deal count, asset class, geography covered</a:t>
            </a:r>
          </a:p>
          <a:p>
            <a:pPr algn="l">
              <a:spcAft>
                <a:spcPts val="600"/>
              </a:spcAft>
            </a:pPr>
            <a:r>
              <a:rPr sz="900"/>
              <a:t>  </a:t>
            </a:r>
            <a:r>
              <a:rPr sz="900" b="1">
                <a:solidFill>
                  <a:srgbClr val="F5C518"/>
                </a:solidFill>
              </a:rPr>
              <a:t>● </a:t>
            </a:r>
            <a:r>
              <a:rPr sz="1100">
                <a:solidFill>
                  <a:srgbClr val="C8D4EE"/>
                </a:solidFill>
              </a:rPr>
              <a:t>Team page: Boris, Anastasia, Ksenia with credentials and roles</a:t>
            </a:r>
          </a:p>
          <a:p>
            <a:pPr algn="l">
              <a:spcAft>
                <a:spcPts val="600"/>
              </a:spcAft>
            </a:pPr>
            <a:r>
              <a:rPr sz="900"/>
              <a:t>  </a:t>
            </a:r>
            <a:r>
              <a:rPr sz="900" b="1">
                <a:solidFill>
                  <a:srgbClr val="F5C518"/>
                </a:solidFill>
              </a:rPr>
              <a:t>● </a:t>
            </a:r>
            <a:r>
              <a:rPr sz="1100">
                <a:solidFill>
                  <a:srgbClr val="C8D4EE"/>
                </a:solidFill>
              </a:rPr>
              <a:t>Case studies or transaction summaries where disclosable</a:t>
            </a:r>
          </a:p>
          <a:p>
            <a:pPr algn="l">
              <a:spcAft>
                <a:spcPts val="600"/>
              </a:spcAft>
            </a:pPr>
            <a:r>
              <a:rPr sz="900"/>
              <a:t>  </a:t>
            </a:r>
            <a:r>
              <a:rPr sz="900" b="1">
                <a:solidFill>
                  <a:srgbClr val="F5C518"/>
                </a:solidFill>
              </a:rPr>
              <a:t>● </a:t>
            </a:r>
            <a:r>
              <a:rPr sz="1100">
                <a:solidFill>
                  <a:srgbClr val="C8D4EE"/>
                </a:solidFill>
              </a:rPr>
              <a:t>Content hub: market commentary and deal flow insights</a:t>
            </a:r>
          </a:p>
          <a:p>
            <a:pPr algn="l">
              <a:spcAft>
                <a:spcPts val="600"/>
              </a:spcAft>
            </a:pPr>
            <a:r>
              <a:rPr sz="900"/>
              <a:t>  </a:t>
            </a:r>
            <a:r>
              <a:rPr sz="900" b="1">
                <a:solidFill>
                  <a:srgbClr val="F5C518"/>
                </a:solidFill>
              </a:rPr>
              <a:t>● </a:t>
            </a:r>
            <a:r>
              <a:rPr sz="1100">
                <a:solidFill>
                  <a:srgbClr val="C8D4EE"/>
                </a:solidFill>
              </a:rPr>
              <a:t>SEO infrastructure for target keywords in German</a:t>
            </a:r>
          </a:p>
          <a:p>
            <a:pPr algn="l">
              <a:spcAft>
                <a:spcPts val="600"/>
              </a:spcAft>
            </a:pPr>
            <a:r>
              <a:rPr sz="900"/>
              <a:t>  </a:t>
            </a:r>
            <a:r>
              <a:rPr sz="900" b="1">
                <a:solidFill>
                  <a:srgbClr val="F5C518"/>
                </a:solidFill>
              </a:rPr>
              <a:t>● </a:t>
            </a:r>
            <a:r>
              <a:rPr sz="1100">
                <a:solidFill>
                  <a:srgbClr val="C8D4EE"/>
                </a:solidFill>
              </a:rPr>
              <a:t>Structured inquiry form routing by deal type</a:t>
            </a:r>
          </a:p>
          <a:p>
            <a:pPr algn="l"/>
            <a:r>
              <a:rPr sz="900"/>
              <a:t>  </a:t>
            </a:r>
            <a:r>
              <a:rPr sz="900" b="1">
                <a:solidFill>
                  <a:srgbClr val="F5C518"/>
                </a:solidFill>
              </a:rPr>
              <a:t>● </a:t>
            </a:r>
            <a:r>
              <a:rPr sz="1100">
                <a:solidFill>
                  <a:srgbClr val="C8D4EE"/>
                </a:solidFill>
              </a:rPr>
              <a:t>Design tone matching HNW investor expectations</a:t>
            </a:r>
          </a:p>
        </p:txBody>
      </p:sp>
      <p:sp>
        <p:nvSpPr>
          <p:cNvPr id="16" name="TextBox 15"/>
          <p:cNvSpPr txBox="1"/>
          <p:nvPr/>
        </p:nvSpPr>
        <p:spPr>
          <a:xfrm>
            <a:off x="7936992" y="3291840"/>
            <a:ext cx="457200" cy="457200"/>
          </a:xfrm>
          <a:prstGeom prst="rect">
            <a:avLst/>
          </a:prstGeom>
          <a:noFill/>
        </p:spPr>
        <p:txBody>
          <a:bodyPr wrap="square">
            <a:spAutoFit/>
          </a:bodyPr>
          <a:lstStyle/>
          <a:p>
            <a:pPr algn="ctr"/>
            <a:r>
              <a:rPr sz="3000" b="1" i="0">
                <a:solidFill>
                  <a:srgbClr val="A055FF"/>
                </a:solidFill>
              </a:rPr>
              <a:t>-&gt;</a:t>
            </a:r>
          </a:p>
        </p:txBody>
      </p:sp>
      <p:sp>
        <p:nvSpPr>
          <p:cNvPr id="17" name="Rectangle 16"/>
          <p:cNvSpPr/>
          <p:nvPr/>
        </p:nvSpPr>
        <p:spPr>
          <a:xfrm>
            <a:off x="84582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1737360"/>
            <a:ext cx="329184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755648"/>
            <a:ext cx="3108960" cy="347472"/>
          </a:xfrm>
          <a:prstGeom prst="rect">
            <a:avLst/>
          </a:prstGeom>
          <a:noFill/>
        </p:spPr>
        <p:txBody>
          <a:bodyPr wrap="square">
            <a:spAutoFit/>
          </a:bodyPr>
          <a:lstStyle/>
          <a:p>
            <a:pPr algn="ctr"/>
            <a:r>
              <a:rPr sz="1000" b="1" i="0">
                <a:solidFill>
                  <a:srgbClr val="FFFFFF"/>
                </a:solidFill>
              </a:rPr>
              <a:t>WHAT GENOS AI BUILDS</a:t>
            </a:r>
          </a:p>
        </p:txBody>
      </p:sp>
      <p:sp>
        <p:nvSpPr>
          <p:cNvPr id="20" name="TextBox 19"/>
          <p:cNvSpPr txBox="1"/>
          <p:nvPr/>
        </p:nvSpPr>
        <p:spPr>
          <a:xfrm>
            <a:off x="8549640" y="2212848"/>
            <a:ext cx="3108960" cy="265176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Full rebuild: services, deal criteria, mandate types scoped</a:t>
            </a:r>
          </a:p>
          <a:p>
            <a:pPr algn="l">
              <a:spcAft>
                <a:spcPts val="600"/>
              </a:spcAft>
            </a:pPr>
            <a:r>
              <a:rPr sz="900"/>
              <a:t>  </a:t>
            </a:r>
            <a:r>
              <a:rPr sz="900" b="1">
                <a:solidFill>
                  <a:srgbClr val="2ECC71"/>
                </a:solidFill>
              </a:rPr>
              <a:t>● </a:t>
            </a:r>
            <a:r>
              <a:rPr sz="1100">
                <a:solidFill>
                  <a:srgbClr val="C8D4EE"/>
                </a:solidFill>
              </a:rPr>
              <a:t>Track record section where disclosable</a:t>
            </a:r>
          </a:p>
          <a:p>
            <a:pPr algn="l">
              <a:spcAft>
                <a:spcPts val="600"/>
              </a:spcAft>
            </a:pPr>
            <a:r>
              <a:rPr sz="900"/>
              <a:t>  </a:t>
            </a:r>
            <a:r>
              <a:rPr sz="900" b="1">
                <a:solidFill>
                  <a:srgbClr val="2ECC71"/>
                </a:solidFill>
              </a:rPr>
              <a:t>● </a:t>
            </a:r>
            <a:r>
              <a:rPr sz="1100">
                <a:solidFill>
                  <a:srgbClr val="C8D4EE"/>
                </a:solidFill>
              </a:rPr>
              <a:t>Team page with roles and credentials for all three</a:t>
            </a:r>
          </a:p>
          <a:p>
            <a:pPr algn="l">
              <a:spcAft>
                <a:spcPts val="600"/>
              </a:spcAft>
            </a:pPr>
            <a:r>
              <a:rPr sz="900"/>
              <a:t>  </a:t>
            </a:r>
            <a:r>
              <a:rPr sz="900" b="1">
                <a:solidFill>
                  <a:srgbClr val="2ECC71"/>
                </a:solidFill>
              </a:rPr>
              <a:t>● </a:t>
            </a:r>
            <a:r>
              <a:rPr sz="1100">
                <a:solidFill>
                  <a:srgbClr val="C8D4EE"/>
                </a:solidFill>
              </a:rPr>
              <a:t>AI chat: deal qualifier before Boris's direct involvement</a:t>
            </a:r>
          </a:p>
          <a:p>
            <a:pPr algn="l">
              <a:spcAft>
                <a:spcPts val="600"/>
              </a:spcAft>
            </a:pPr>
            <a:r>
              <a:rPr sz="900"/>
              <a:t>  </a:t>
            </a:r>
            <a:r>
              <a:rPr sz="900" b="1">
                <a:solidFill>
                  <a:srgbClr val="2ECC71"/>
                </a:solidFill>
              </a:rPr>
              <a:t>● </a:t>
            </a:r>
            <a:r>
              <a:rPr sz="1100">
                <a:solidFill>
                  <a:srgbClr val="C8D4EE"/>
                </a:solidFill>
              </a:rPr>
              <a:t>Content layer with Munich RE and M&amp;A commentary</a:t>
            </a:r>
          </a:p>
          <a:p>
            <a:pPr algn="l">
              <a:spcAft>
                <a:spcPts val="600"/>
              </a:spcAft>
            </a:pPr>
            <a:r>
              <a:rPr sz="900"/>
              <a:t>  </a:t>
            </a:r>
            <a:r>
              <a:rPr sz="900" b="1">
                <a:solidFill>
                  <a:srgbClr val="2ECC71"/>
                </a:solidFill>
              </a:rPr>
              <a:t>● </a:t>
            </a:r>
            <a:r>
              <a:rPr sz="1100">
                <a:solidFill>
                  <a:srgbClr val="C8D4EE"/>
                </a:solidFill>
              </a:rPr>
              <a:t>SEO infrastructure: family office + M&amp;A advisory Germany</a:t>
            </a:r>
          </a:p>
          <a:p>
            <a:pPr algn="l">
              <a:spcAft>
                <a:spcPts val="600"/>
              </a:spcAft>
            </a:pPr>
            <a:r>
              <a:rPr sz="900"/>
              <a:t>  </a:t>
            </a:r>
            <a:r>
              <a:rPr sz="900" b="1">
                <a:solidFill>
                  <a:srgbClr val="2ECC71"/>
                </a:solidFill>
              </a:rPr>
              <a:t>● </a:t>
            </a:r>
            <a:r>
              <a:rPr sz="1100">
                <a:solidFill>
                  <a:srgbClr val="C8D4EE"/>
                </a:solidFill>
              </a:rPr>
              <a:t>Structured inquiry routing by deal type</a:t>
            </a:r>
          </a:p>
          <a:p>
            <a:pPr algn="l"/>
            <a:r>
              <a:rPr sz="900"/>
              <a:t>  </a:t>
            </a:r>
            <a:r>
              <a:rPr sz="900" b="1">
                <a:solidFill>
                  <a:srgbClr val="2ECC71"/>
                </a:solidFill>
              </a:rPr>
              <a:t>● </a:t>
            </a:r>
            <a:r>
              <a:rPr sz="1100">
                <a:solidFill>
                  <a:srgbClr val="C8D4EE"/>
                </a:solidFill>
              </a:rPr>
              <a:t>Investor-grade design built for HNW audience</a:t>
            </a:r>
          </a:p>
        </p:txBody>
      </p:sp>
      <p:sp>
        <p:nvSpPr>
          <p:cNvPr id="21" name="Rectangle 20"/>
          <p:cNvSpPr/>
          <p:nvPr/>
        </p:nvSpPr>
        <p:spPr>
          <a:xfrm>
            <a:off x="502920" y="5230368"/>
            <a:ext cx="11183112"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85232"/>
            <a:ext cx="2286000" cy="347472"/>
          </a:xfrm>
          <a:prstGeom prst="rect">
            <a:avLst/>
          </a:prstGeom>
          <a:noFill/>
        </p:spPr>
        <p:txBody>
          <a:bodyPr wrap="square">
            <a:spAutoFit/>
          </a:bodyPr>
          <a:lstStyle/>
          <a:p>
            <a:pPr algn="l"/>
            <a:r>
              <a:rPr sz="1100" b="1" i="0">
                <a:solidFill>
                  <a:srgbClr val="A055FF"/>
                </a:solidFill>
              </a:rPr>
              <a:t>DESIGN BENCHMARK:</a:t>
            </a:r>
          </a:p>
        </p:txBody>
      </p:sp>
      <p:sp>
        <p:nvSpPr>
          <p:cNvPr id="23" name="TextBox 22"/>
          <p:cNvSpPr txBox="1"/>
          <p:nvPr/>
        </p:nvSpPr>
        <p:spPr>
          <a:xfrm>
            <a:off x="2926080" y="5257800"/>
            <a:ext cx="2286000" cy="502920"/>
          </a:xfrm>
          <a:prstGeom prst="rect">
            <a:avLst/>
          </a:prstGeom>
          <a:noFill/>
        </p:spPr>
        <p:txBody>
          <a:bodyPr wrap="square">
            <a:spAutoFit/>
          </a:bodyPr>
          <a:lstStyle/>
          <a:p>
            <a:pPr algn="ctr"/>
            <a:r>
              <a:rPr sz="2200" b="1" i="0">
                <a:solidFill>
                  <a:srgbClr val="F5C518"/>
                </a:solidFill>
              </a:rPr>
              <a:t>0 pages</a:t>
            </a:r>
          </a:p>
        </p:txBody>
      </p:sp>
      <p:sp>
        <p:nvSpPr>
          <p:cNvPr id="24" name="TextBox 23"/>
          <p:cNvSpPr txBox="1"/>
          <p:nvPr/>
        </p:nvSpPr>
        <p:spPr>
          <a:xfrm>
            <a:off x="2926080" y="5687568"/>
            <a:ext cx="2286000" cy="640080"/>
          </a:xfrm>
          <a:prstGeom prst="rect">
            <a:avLst/>
          </a:prstGeom>
          <a:noFill/>
        </p:spPr>
        <p:txBody>
          <a:bodyPr wrap="square">
            <a:spAutoFit/>
          </a:bodyPr>
          <a:lstStyle/>
          <a:p>
            <a:pPr algn="ctr"/>
            <a:r>
              <a:rPr sz="1000" b="0" i="0">
                <a:solidFill>
                  <a:srgbClr val="C8D4EE"/>
                </a:solidFill>
              </a:rPr>
              <a:t>currently indexable
for any keyword</a:t>
            </a:r>
          </a:p>
        </p:txBody>
      </p:sp>
      <p:sp>
        <p:nvSpPr>
          <p:cNvPr id="25" name="TextBox 24"/>
          <p:cNvSpPr txBox="1"/>
          <p:nvPr/>
        </p:nvSpPr>
        <p:spPr>
          <a:xfrm>
            <a:off x="5394960" y="5257800"/>
            <a:ext cx="2286000" cy="502920"/>
          </a:xfrm>
          <a:prstGeom prst="rect">
            <a:avLst/>
          </a:prstGeom>
          <a:noFill/>
        </p:spPr>
        <p:txBody>
          <a:bodyPr wrap="square">
            <a:spAutoFit/>
          </a:bodyPr>
          <a:lstStyle/>
          <a:p>
            <a:pPr algn="ctr"/>
            <a:r>
              <a:rPr sz="2200" b="1" i="0">
                <a:solidFill>
                  <a:srgbClr val="F5C518"/>
                </a:solidFill>
              </a:rPr>
              <a:t>3 channels</a:t>
            </a:r>
          </a:p>
        </p:txBody>
      </p:sp>
      <p:sp>
        <p:nvSpPr>
          <p:cNvPr id="26" name="TextBox 25"/>
          <p:cNvSpPr txBox="1"/>
          <p:nvPr/>
        </p:nvSpPr>
        <p:spPr>
          <a:xfrm>
            <a:off x="5394960" y="5687568"/>
            <a:ext cx="2286000" cy="640080"/>
          </a:xfrm>
          <a:prstGeom prst="rect">
            <a:avLst/>
          </a:prstGeom>
          <a:noFill/>
        </p:spPr>
        <p:txBody>
          <a:bodyPr wrap="square">
            <a:spAutoFit/>
          </a:bodyPr>
          <a:lstStyle/>
          <a:p>
            <a:pPr algn="ctr"/>
            <a:r>
              <a:rPr sz="1000" b="0" i="0">
                <a:solidFill>
                  <a:srgbClr val="C8D4EE"/>
                </a:solidFill>
              </a:rPr>
              <a:t>unstructured inbound
all reaching Boris</a:t>
            </a:r>
          </a:p>
        </p:txBody>
      </p:sp>
      <p:sp>
        <p:nvSpPr>
          <p:cNvPr id="27" name="TextBox 26"/>
          <p:cNvSpPr txBox="1"/>
          <p:nvPr/>
        </p:nvSpPr>
        <p:spPr>
          <a:xfrm>
            <a:off x="7863840" y="5257800"/>
            <a:ext cx="2286000" cy="502920"/>
          </a:xfrm>
          <a:prstGeom prst="rect">
            <a:avLst/>
          </a:prstGeom>
          <a:noFill/>
        </p:spPr>
        <p:txBody>
          <a:bodyPr wrap="square">
            <a:spAutoFit/>
          </a:bodyPr>
          <a:lstStyle/>
          <a:p>
            <a:pPr algn="ctr"/>
            <a:r>
              <a:rPr sz="2200" b="1" i="0">
                <a:solidFill>
                  <a:srgbClr val="F5C518"/>
                </a:solidFill>
              </a:rPr>
              <a:t>0 team</a:t>
            </a:r>
          </a:p>
        </p:txBody>
      </p:sp>
      <p:sp>
        <p:nvSpPr>
          <p:cNvPr id="28" name="TextBox 27"/>
          <p:cNvSpPr txBox="1"/>
          <p:nvPr/>
        </p:nvSpPr>
        <p:spPr>
          <a:xfrm>
            <a:off x="7863840" y="5687568"/>
            <a:ext cx="2286000" cy="640080"/>
          </a:xfrm>
          <a:prstGeom prst="rect">
            <a:avLst/>
          </a:prstGeom>
          <a:noFill/>
        </p:spPr>
        <p:txBody>
          <a:bodyPr wrap="square">
            <a:spAutoFit/>
          </a:bodyPr>
          <a:lstStyle/>
          <a:p>
            <a:pPr algn="ctr"/>
            <a:r>
              <a:rPr sz="1000" b="0" i="0">
                <a:solidFill>
                  <a:srgbClr val="C8D4EE"/>
                </a:solidFill>
              </a:rPr>
              <a:t>credentials visible
to prospects today</a:t>
            </a:r>
          </a:p>
        </p:txBody>
      </p:sp>
      <p:sp>
        <p:nvSpPr>
          <p:cNvPr id="29" name="TextBox 28"/>
          <p:cNvSpPr txBox="1"/>
          <p:nvPr/>
        </p:nvSpPr>
        <p:spPr>
          <a:xfrm>
            <a:off x="10332720" y="5257800"/>
            <a:ext cx="2286000" cy="502920"/>
          </a:xfrm>
          <a:prstGeom prst="rect">
            <a:avLst/>
          </a:prstGeom>
          <a:noFill/>
        </p:spPr>
        <p:txBody>
          <a:bodyPr wrap="square">
            <a:spAutoFit/>
          </a:bodyPr>
          <a:lstStyle/>
          <a:p>
            <a:pPr algn="ctr"/>
            <a:r>
              <a:rPr sz="2200" b="1" i="0">
                <a:solidFill>
                  <a:srgbClr val="F5C518"/>
                </a:solidFill>
              </a:rPr>
              <a:t>1 site rebuild</a:t>
            </a:r>
          </a:p>
        </p:txBody>
      </p:sp>
      <p:sp>
        <p:nvSpPr>
          <p:cNvPr id="30" name="TextBox 29"/>
          <p:cNvSpPr txBox="1"/>
          <p:nvPr/>
        </p:nvSpPr>
        <p:spPr>
          <a:xfrm>
            <a:off x="10332720" y="5687568"/>
            <a:ext cx="2286000" cy="640080"/>
          </a:xfrm>
          <a:prstGeom prst="rect">
            <a:avLst/>
          </a:prstGeom>
          <a:noFill/>
        </p:spPr>
        <p:txBody>
          <a:bodyPr wrap="square">
            <a:spAutoFit/>
          </a:bodyPr>
          <a:lstStyle/>
          <a:p>
            <a:pPr algn="ctr"/>
            <a:r>
              <a:rPr sz="1000" b="0" i="0">
                <a:solidFill>
                  <a:srgbClr val="C8D4EE"/>
                </a:solidFill>
              </a:rPr>
              <a:t>clears all three
credibility gaps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AI AUTOMATION STACK</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600" b="1" i="0">
                <a:solidFill>
                  <a:srgbClr val="FFFFFF"/>
                </a:solidFill>
              </a:rPr>
              <a:t>Four Layers That Run the Business Side Boris Doesn't Have Time to Run Manually.</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69748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10512"/>
            <a:ext cx="2478024" cy="594360"/>
          </a:xfrm>
          <a:prstGeom prst="rect">
            <a:avLst/>
          </a:prstGeom>
          <a:noFill/>
        </p:spPr>
        <p:txBody>
          <a:bodyPr wrap="square">
            <a:spAutoFit/>
          </a:bodyPr>
          <a:lstStyle/>
          <a:p>
            <a:pPr algn="l"/>
            <a:r>
              <a:rPr sz="1300" b="1" i="0">
                <a:solidFill>
                  <a:srgbClr val="F5C518"/>
                </a:solidFill>
              </a:rPr>
              <a:t>AI Deal Flow
Inquiry Qualifier</a:t>
            </a:r>
          </a:p>
        </p:txBody>
      </p:sp>
      <p:sp>
        <p:nvSpPr>
          <p:cNvPr id="10" name="TextBox 9"/>
          <p:cNvSpPr txBox="1"/>
          <p:nvPr/>
        </p:nvSpPr>
        <p:spPr>
          <a:xfrm>
            <a:off x="612648" y="2423160"/>
            <a:ext cx="2478024" cy="3337560"/>
          </a:xfrm>
          <a:prstGeom prst="rect">
            <a:avLst/>
          </a:prstGeom>
          <a:noFill/>
        </p:spPr>
        <p:txBody>
          <a:bodyPr wrap="square">
            <a:spAutoFit/>
          </a:bodyPr>
          <a:lstStyle/>
          <a:p>
            <a:pPr algn="l"/>
            <a:r>
              <a:rPr sz="1100" b="0" i="0">
                <a:solidFill>
                  <a:srgbClr val="C8D4EE"/>
                </a:solidFill>
              </a:rPr>
              <a:t>Trained on Bronshteyn GmbH service scope, deal criteria, ticket size ranges, geographic focus, and mandate types. A seller or investor who messages at 11pm gets an immediate, structured response that screens deal fit before Boris sees the inquiry. Qualified inbound arrives pre-categorised by mandate type and deal size. Unqualified volume is filtered automatically.</a:t>
            </a:r>
          </a:p>
        </p:txBody>
      </p:sp>
      <p:sp>
        <p:nvSpPr>
          <p:cNvPr id="11" name="Rectangle 10"/>
          <p:cNvSpPr/>
          <p:nvPr/>
        </p:nvSpPr>
        <p:spPr>
          <a:xfrm>
            <a:off x="3346704" y="1645920"/>
            <a:ext cx="2697480" cy="54864"/>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46704"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6432" y="1810512"/>
            <a:ext cx="2478024" cy="594360"/>
          </a:xfrm>
          <a:prstGeom prst="rect">
            <a:avLst/>
          </a:prstGeom>
          <a:noFill/>
        </p:spPr>
        <p:txBody>
          <a:bodyPr wrap="square">
            <a:spAutoFit/>
          </a:bodyPr>
          <a:lstStyle/>
          <a:p>
            <a:pPr algn="l"/>
            <a:r>
              <a:rPr sz="1300" b="1" i="0">
                <a:solidFill>
                  <a:srgbClr val="4F8EFF"/>
                </a:solidFill>
              </a:rPr>
              <a:t>Structured Inquiry
Routing by Mandate</a:t>
            </a:r>
          </a:p>
        </p:txBody>
      </p:sp>
      <p:sp>
        <p:nvSpPr>
          <p:cNvPr id="14" name="TextBox 13"/>
          <p:cNvSpPr txBox="1"/>
          <p:nvPr/>
        </p:nvSpPr>
        <p:spPr>
          <a:xfrm>
            <a:off x="3456432" y="2423160"/>
            <a:ext cx="2478024" cy="3337560"/>
          </a:xfrm>
          <a:prstGeom prst="rect">
            <a:avLst/>
          </a:prstGeom>
          <a:noFill/>
        </p:spPr>
        <p:txBody>
          <a:bodyPr wrap="square">
            <a:spAutoFit/>
          </a:bodyPr>
          <a:lstStyle/>
          <a:p>
            <a:pPr algn="l"/>
            <a:r>
              <a:rPr sz="1100" b="0" i="0">
                <a:solidFill>
                  <a:srgbClr val="C8D4EE"/>
                </a:solidFill>
              </a:rPr>
              <a:t>One entry point replacing three undifferentiated channels. Routes by deal type: direct acquisition, co-investment, advisory mandate, M&amp;A facilitation. Each route triggers a different follow-up sequence matched to that mandate. The seller exploring an exit gets different content than the investor evaluating a co-investment. Relevance from the first response.</a:t>
            </a:r>
          </a:p>
        </p:txBody>
      </p:sp>
      <p:sp>
        <p:nvSpPr>
          <p:cNvPr id="15" name="Rectangle 14"/>
          <p:cNvSpPr/>
          <p:nvPr/>
        </p:nvSpPr>
        <p:spPr>
          <a:xfrm>
            <a:off x="6190488" y="1645920"/>
            <a:ext cx="269748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0488"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0216" y="1810512"/>
            <a:ext cx="2478024" cy="594360"/>
          </a:xfrm>
          <a:prstGeom prst="rect">
            <a:avLst/>
          </a:prstGeom>
          <a:noFill/>
        </p:spPr>
        <p:txBody>
          <a:bodyPr wrap="square">
            <a:spAutoFit/>
          </a:bodyPr>
          <a:lstStyle/>
          <a:p>
            <a:pPr algn="l"/>
            <a:r>
              <a:rPr sz="1300" b="1" i="0">
                <a:solidFill>
                  <a:srgbClr val="2ECC71"/>
                </a:solidFill>
              </a:rPr>
              <a:t>Investor and Seller
Follow-Up Sequences</a:t>
            </a:r>
          </a:p>
        </p:txBody>
      </p:sp>
      <p:sp>
        <p:nvSpPr>
          <p:cNvPr id="18" name="TextBox 17"/>
          <p:cNvSpPr txBox="1"/>
          <p:nvPr/>
        </p:nvSpPr>
        <p:spPr>
          <a:xfrm>
            <a:off x="6300216" y="2423160"/>
            <a:ext cx="2478024" cy="3337560"/>
          </a:xfrm>
          <a:prstGeom prst="rect">
            <a:avLst/>
          </a:prstGeom>
          <a:noFill/>
        </p:spPr>
        <p:txBody>
          <a:bodyPr wrap="square">
            <a:spAutoFit/>
          </a:bodyPr>
          <a:lstStyle/>
          <a:p>
            <a:pPr algn="l"/>
            <a:r>
              <a:rPr sz="1100" b="0" i="0">
                <a:solidFill>
                  <a:srgbClr val="C8D4EE"/>
                </a:solidFill>
              </a:rPr>
              <a:t>HNW relationships and M&amp;A mandates close across multiple touchpoints, not one. A first-contact prospect who doesn't immediately proceed enters a 60-90 day automated sequence: relevant market commentary, deal flow insights, soft re-engagement CTAs. Boris's direct involvement is reserved for mandate-ready conversations. Relationships stay warm without manual tracking.</a:t>
            </a:r>
          </a:p>
        </p:txBody>
      </p:sp>
      <p:sp>
        <p:nvSpPr>
          <p:cNvPr id="19" name="Rectangle 18"/>
          <p:cNvSpPr/>
          <p:nvPr/>
        </p:nvSpPr>
        <p:spPr>
          <a:xfrm>
            <a:off x="9034272" y="1645920"/>
            <a:ext cx="2697480" cy="54864"/>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4272"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1810512"/>
            <a:ext cx="2478024" cy="594360"/>
          </a:xfrm>
          <a:prstGeom prst="rect">
            <a:avLst/>
          </a:prstGeom>
          <a:noFill/>
        </p:spPr>
        <p:txBody>
          <a:bodyPr wrap="square">
            <a:spAutoFit/>
          </a:bodyPr>
          <a:lstStyle/>
          <a:p>
            <a:pPr algn="l"/>
            <a:r>
              <a:rPr sz="1300" b="1" i="0">
                <a:solidFill>
                  <a:srgbClr val="A055FF"/>
                </a:solidFill>
              </a:rPr>
              <a:t>Contact Intelligence
and Pipeline Visibility</a:t>
            </a:r>
          </a:p>
        </p:txBody>
      </p:sp>
      <p:sp>
        <p:nvSpPr>
          <p:cNvPr id="22" name="TextBox 21"/>
          <p:cNvSpPr txBox="1"/>
          <p:nvPr/>
        </p:nvSpPr>
        <p:spPr>
          <a:xfrm>
            <a:off x="9144000" y="2423160"/>
            <a:ext cx="2478024" cy="3337560"/>
          </a:xfrm>
          <a:prstGeom prst="rect">
            <a:avLst/>
          </a:prstGeom>
          <a:noFill/>
        </p:spPr>
        <p:txBody>
          <a:bodyPr wrap="square">
            <a:spAutoFit/>
          </a:bodyPr>
          <a:lstStyle/>
          <a:p>
            <a:pPr algn="l"/>
            <a:r>
              <a:rPr sz="1100" b="0" i="0">
                <a:solidFill>
                  <a:srgbClr val="C8D4EE"/>
                </a:solidFill>
              </a:rPr>
              <a:t>A CRM layer that tracks where every prospect is in the relationship: first contact, engaged, follow-up sequence active, deal criteria confirmed, mandate-ready. Boris sees at a glance which relationships are warm, which need a personal touch, and which are in automated nurture. No mandate opportunity falls through the gap between manual notes and inbox management.</a:t>
            </a:r>
          </a:p>
        </p:txBody>
      </p:sp>
      <p:sp>
        <p:nvSpPr>
          <p:cNvPr id="23" name="Rectangle 22"/>
          <p:cNvSpPr/>
          <p:nvPr/>
        </p:nvSpPr>
        <p:spPr>
          <a:xfrm>
            <a:off x="502920" y="6126480"/>
            <a:ext cx="11183112" cy="4114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172200"/>
            <a:ext cx="10972800" cy="320040"/>
          </a:xfrm>
          <a:prstGeom prst="rect">
            <a:avLst/>
          </a:prstGeom>
          <a:noFill/>
        </p:spPr>
        <p:txBody>
          <a:bodyPr wrap="square">
            <a:spAutoFit/>
          </a:bodyPr>
          <a:lstStyle/>
          <a:p>
            <a:pPr algn="l"/>
            <a:r>
              <a:rPr sz="1100" b="0" i="1">
                <a:solidFill>
                  <a:srgbClr val="F5C518"/>
                </a:solidFill>
              </a:rPr>
              <a:t>A Munich family office that closes on credibility. The automation runs the inbound layer so Boris's time goes to deals that are already qualified.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8C00"/>
                </a:solidFill>
              </a:rPr>
              <a:t>THE WHITEWILL ANGLE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One Advisory Relationship. A Second Conversation Worth Having.</a:t>
            </a:r>
          </a:p>
        </p:txBody>
      </p:sp>
      <p:sp>
        <p:nvSpPr>
          <p:cNvPr id="6" name="Rectangle 5"/>
          <p:cNvSpPr/>
          <p:nvPr/>
        </p:nvSpPr>
        <p:spPr>
          <a:xfrm>
            <a:off x="502920" y="1234440"/>
            <a:ext cx="1645920" cy="3657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11183112" cy="14173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27632"/>
            <a:ext cx="2011680" cy="594360"/>
          </a:xfrm>
          <a:prstGeom prst="rect">
            <a:avLst/>
          </a:prstGeom>
          <a:noFill/>
        </p:spPr>
        <p:txBody>
          <a:bodyPr wrap="square">
            <a:spAutoFit/>
          </a:bodyPr>
          <a:lstStyle/>
          <a:p>
            <a:pPr algn="ctr"/>
            <a:r>
              <a:rPr sz="2200" b="1" i="0">
                <a:solidFill>
                  <a:srgbClr val="FF8C00"/>
                </a:solidFill>
              </a:rPr>
              <a:t>AED 2.23B</a:t>
            </a:r>
          </a:p>
        </p:txBody>
      </p:sp>
      <p:sp>
        <p:nvSpPr>
          <p:cNvPr id="9" name="TextBox 8"/>
          <p:cNvSpPr txBox="1"/>
          <p:nvPr/>
        </p:nvSpPr>
        <p:spPr>
          <a:xfrm>
            <a:off x="640080" y="2176272"/>
            <a:ext cx="2011680" cy="457200"/>
          </a:xfrm>
          <a:prstGeom prst="rect">
            <a:avLst/>
          </a:prstGeom>
          <a:noFill/>
        </p:spPr>
        <p:txBody>
          <a:bodyPr wrap="square">
            <a:spAutoFit/>
          </a:bodyPr>
          <a:lstStyle/>
          <a:p>
            <a:pPr algn="ctr"/>
            <a:r>
              <a:rPr sz="1000" b="0" i="0">
                <a:solidFill>
                  <a:srgbClr val="C8D4EE"/>
                </a:solidFill>
              </a:rPr>
              <a:t>2025 transaction volume</a:t>
            </a:r>
          </a:p>
        </p:txBody>
      </p:sp>
      <p:sp>
        <p:nvSpPr>
          <p:cNvPr id="10" name="TextBox 9"/>
          <p:cNvSpPr txBox="1"/>
          <p:nvPr/>
        </p:nvSpPr>
        <p:spPr>
          <a:xfrm>
            <a:off x="2788920" y="1627632"/>
            <a:ext cx="2011680" cy="594360"/>
          </a:xfrm>
          <a:prstGeom prst="rect">
            <a:avLst/>
          </a:prstGeom>
          <a:noFill/>
        </p:spPr>
        <p:txBody>
          <a:bodyPr wrap="square">
            <a:spAutoFit/>
          </a:bodyPr>
          <a:lstStyle/>
          <a:p>
            <a:pPr algn="ctr"/>
            <a:r>
              <a:rPr sz="2200" b="1" i="0">
                <a:solidFill>
                  <a:srgbClr val="FF8C00"/>
                </a:solidFill>
              </a:rPr>
              <a:t>500+</a:t>
            </a:r>
          </a:p>
        </p:txBody>
      </p:sp>
      <p:sp>
        <p:nvSpPr>
          <p:cNvPr id="11" name="TextBox 10"/>
          <p:cNvSpPr txBox="1"/>
          <p:nvPr/>
        </p:nvSpPr>
        <p:spPr>
          <a:xfrm>
            <a:off x="2788920" y="2176272"/>
            <a:ext cx="2011680" cy="457200"/>
          </a:xfrm>
          <a:prstGeom prst="rect">
            <a:avLst/>
          </a:prstGeom>
          <a:noFill/>
        </p:spPr>
        <p:txBody>
          <a:bodyPr wrap="square">
            <a:spAutoFit/>
          </a:bodyPr>
          <a:lstStyle/>
          <a:p>
            <a:pPr algn="ctr"/>
            <a:r>
              <a:rPr sz="1000" b="0" i="0">
                <a:solidFill>
                  <a:srgbClr val="C8D4EE"/>
                </a:solidFill>
              </a:rPr>
              <a:t>employees</a:t>
            </a:r>
          </a:p>
        </p:txBody>
      </p:sp>
      <p:sp>
        <p:nvSpPr>
          <p:cNvPr id="12" name="TextBox 11"/>
          <p:cNvSpPr txBox="1"/>
          <p:nvPr/>
        </p:nvSpPr>
        <p:spPr>
          <a:xfrm>
            <a:off x="4937760" y="1627632"/>
            <a:ext cx="2011680" cy="594360"/>
          </a:xfrm>
          <a:prstGeom prst="rect">
            <a:avLst/>
          </a:prstGeom>
          <a:noFill/>
        </p:spPr>
        <p:txBody>
          <a:bodyPr wrap="square">
            <a:spAutoFit/>
          </a:bodyPr>
          <a:lstStyle/>
          <a:p>
            <a:pPr algn="ctr"/>
            <a:r>
              <a:rPr sz="2200" b="1" i="0">
                <a:solidFill>
                  <a:srgbClr val="FF8C00"/>
                </a:solidFill>
              </a:rPr>
              <a:t>6,000</a:t>
            </a:r>
          </a:p>
        </p:txBody>
      </p:sp>
      <p:sp>
        <p:nvSpPr>
          <p:cNvPr id="13" name="TextBox 12"/>
          <p:cNvSpPr txBox="1"/>
          <p:nvPr/>
        </p:nvSpPr>
        <p:spPr>
          <a:xfrm>
            <a:off x="4937760" y="2176272"/>
            <a:ext cx="2011680" cy="457200"/>
          </a:xfrm>
          <a:prstGeom prst="rect">
            <a:avLst/>
          </a:prstGeom>
          <a:noFill/>
        </p:spPr>
        <p:txBody>
          <a:bodyPr wrap="square">
            <a:spAutoFit/>
          </a:bodyPr>
          <a:lstStyle/>
          <a:p>
            <a:pPr algn="ctr"/>
            <a:r>
              <a:rPr sz="1000" b="0" i="0">
                <a:solidFill>
                  <a:srgbClr val="C8D4EE"/>
                </a:solidFill>
              </a:rPr>
              <a:t>partner agents</a:t>
            </a:r>
          </a:p>
        </p:txBody>
      </p:sp>
      <p:sp>
        <p:nvSpPr>
          <p:cNvPr id="14" name="TextBox 13"/>
          <p:cNvSpPr txBox="1"/>
          <p:nvPr/>
        </p:nvSpPr>
        <p:spPr>
          <a:xfrm>
            <a:off x="7086600" y="1627632"/>
            <a:ext cx="2011680" cy="594360"/>
          </a:xfrm>
          <a:prstGeom prst="rect">
            <a:avLst/>
          </a:prstGeom>
          <a:noFill/>
        </p:spPr>
        <p:txBody>
          <a:bodyPr wrap="square">
            <a:spAutoFit/>
          </a:bodyPr>
          <a:lstStyle/>
          <a:p>
            <a:pPr algn="ctr"/>
            <a:r>
              <a:rPr sz="2200" b="1" i="0">
                <a:solidFill>
                  <a:srgbClr val="FF8C00"/>
                </a:solidFill>
              </a:rPr>
              <a:t>500/week</a:t>
            </a:r>
          </a:p>
        </p:txBody>
      </p:sp>
      <p:sp>
        <p:nvSpPr>
          <p:cNvPr id="15" name="TextBox 14"/>
          <p:cNvSpPr txBox="1"/>
          <p:nvPr/>
        </p:nvSpPr>
        <p:spPr>
          <a:xfrm>
            <a:off x="7086600" y="2176272"/>
            <a:ext cx="2011680" cy="457200"/>
          </a:xfrm>
          <a:prstGeom prst="rect">
            <a:avLst/>
          </a:prstGeom>
          <a:noFill/>
        </p:spPr>
        <p:txBody>
          <a:bodyPr wrap="square">
            <a:spAutoFit/>
          </a:bodyPr>
          <a:lstStyle/>
          <a:p>
            <a:pPr algn="ctr"/>
            <a:r>
              <a:rPr sz="1000" b="0" i="0">
                <a:solidFill>
                  <a:srgbClr val="C8D4EE"/>
                </a:solidFill>
              </a:rPr>
              <a:t>inbound inquiries</a:t>
            </a:r>
          </a:p>
        </p:txBody>
      </p:sp>
      <p:sp>
        <p:nvSpPr>
          <p:cNvPr id="16" name="TextBox 15"/>
          <p:cNvSpPr txBox="1"/>
          <p:nvPr/>
        </p:nvSpPr>
        <p:spPr>
          <a:xfrm>
            <a:off x="9235440" y="1627632"/>
            <a:ext cx="2011680" cy="594360"/>
          </a:xfrm>
          <a:prstGeom prst="rect">
            <a:avLst/>
          </a:prstGeom>
          <a:noFill/>
        </p:spPr>
        <p:txBody>
          <a:bodyPr wrap="square">
            <a:spAutoFit/>
          </a:bodyPr>
          <a:lstStyle/>
          <a:p>
            <a:pPr algn="ctr"/>
            <a:r>
              <a:rPr sz="2200" b="1" i="0">
                <a:solidFill>
                  <a:srgbClr val="FF8C00"/>
                </a:solidFill>
              </a:rPr>
              <a:t>4 offices</a:t>
            </a:r>
          </a:p>
        </p:txBody>
      </p:sp>
      <p:sp>
        <p:nvSpPr>
          <p:cNvPr id="17" name="TextBox 16"/>
          <p:cNvSpPr txBox="1"/>
          <p:nvPr/>
        </p:nvSpPr>
        <p:spPr>
          <a:xfrm>
            <a:off x="9235440" y="2176272"/>
            <a:ext cx="2011680" cy="457200"/>
          </a:xfrm>
          <a:prstGeom prst="rect">
            <a:avLst/>
          </a:prstGeom>
          <a:noFill/>
        </p:spPr>
        <p:txBody>
          <a:bodyPr wrap="square">
            <a:spAutoFit/>
          </a:bodyPr>
          <a:lstStyle/>
          <a:p>
            <a:pPr algn="ctr"/>
            <a:r>
              <a:rPr sz="1000" b="0" i="0">
                <a:solidFill>
                  <a:srgbClr val="C8D4EE"/>
                </a:solidFill>
              </a:rPr>
              <a:t>Dubai / London / Abu Dhabi / Miami</a:t>
            </a:r>
          </a:p>
        </p:txBody>
      </p:sp>
      <p:sp>
        <p:nvSpPr>
          <p:cNvPr id="18" name="Rectangle 17"/>
          <p:cNvSpPr/>
          <p:nvPr/>
        </p:nvSpPr>
        <p:spPr>
          <a:xfrm>
            <a:off x="502920" y="3154680"/>
            <a:ext cx="5394960" cy="29260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218688"/>
            <a:ext cx="5120640" cy="320040"/>
          </a:xfrm>
          <a:prstGeom prst="rect">
            <a:avLst/>
          </a:prstGeom>
          <a:noFill/>
        </p:spPr>
        <p:txBody>
          <a:bodyPr wrap="square">
            <a:spAutoFit/>
          </a:bodyPr>
          <a:lstStyle/>
          <a:p>
            <a:pPr algn="l"/>
            <a:r>
              <a:rPr sz="1100" b="1" i="0">
                <a:solidFill>
                  <a:srgbClr val="FF8C00"/>
                </a:solidFill>
              </a:rPr>
              <a:t>WHY THE SAME STACK APPLIES</a:t>
            </a:r>
          </a:p>
        </p:txBody>
      </p:sp>
      <p:sp>
        <p:nvSpPr>
          <p:cNvPr id="20" name="TextBox 19"/>
          <p:cNvSpPr txBox="1"/>
          <p:nvPr/>
        </p:nvSpPr>
        <p:spPr>
          <a:xfrm>
            <a:off x="640080" y="3566160"/>
            <a:ext cx="5120640" cy="2286000"/>
          </a:xfrm>
          <a:prstGeom prst="rect">
            <a:avLst/>
          </a:prstGeom>
          <a:noFill/>
        </p:spPr>
        <p:txBody>
          <a:bodyPr wrap="square">
            <a:spAutoFit/>
          </a:bodyPr>
          <a:lstStyle/>
          <a:p>
            <a:pPr algn="l">
              <a:spcAft>
                <a:spcPts val="600"/>
              </a:spcAft>
            </a:pPr>
            <a:r>
              <a:rPr sz="1000"/>
              <a:t>  </a:t>
            </a:r>
            <a:r>
              <a:rPr sz="1000" b="1">
                <a:solidFill>
                  <a:srgbClr val="FF8C00"/>
                </a:solidFill>
              </a:rPr>
              <a:t>● </a:t>
            </a:r>
            <a:r>
              <a:rPr sz="1200">
                <a:solidFill>
                  <a:srgbClr val="C8D4EE"/>
                </a:solidFill>
              </a:rPr>
              <a:t>500 weekly inbound inquiries from agents and investors cannot be handled manually - AI qualification is not optional at that volume</a:t>
            </a:r>
          </a:p>
          <a:p>
            <a:pPr algn="l">
              <a:spcAft>
                <a:spcPts val="600"/>
              </a:spcAft>
            </a:pPr>
            <a:r>
              <a:rPr sz="1000"/>
              <a:t>  </a:t>
            </a:r>
            <a:r>
              <a:rPr sz="1000" b="1">
                <a:solidFill>
                  <a:srgbClr val="FF8C00"/>
                </a:solidFill>
              </a:rPr>
              <a:t>● </a:t>
            </a:r>
            <a:r>
              <a:rPr sz="1200">
                <a:solidFill>
                  <a:srgbClr val="C8D4EE"/>
                </a:solidFill>
              </a:rPr>
              <a:t>6,000 partner agents need automated communication infrastructure to stay aligned on listing inventory, deal status, and priority leads</a:t>
            </a:r>
          </a:p>
          <a:p>
            <a:pPr algn="l">
              <a:spcAft>
                <a:spcPts val="600"/>
              </a:spcAft>
            </a:pPr>
            <a:r>
              <a:rPr sz="1000"/>
              <a:t>  </a:t>
            </a:r>
            <a:r>
              <a:rPr sz="1000" b="1">
                <a:solidFill>
                  <a:srgbClr val="FF8C00"/>
                </a:solidFill>
              </a:rPr>
              <a:t>● </a:t>
            </a:r>
            <a:r>
              <a:rPr sz="1200">
                <a:solidFill>
                  <a:srgbClr val="C8D4EE"/>
                </a:solidFill>
              </a:rPr>
              <a:t>Multi-city operations (Dubai, London, Abu Dhabi, Miami) require centralized inquiry routing with geography-aware follow-up sequences</a:t>
            </a:r>
          </a:p>
          <a:p>
            <a:pPr algn="l"/>
            <a:r>
              <a:rPr sz="1000"/>
              <a:t>  </a:t>
            </a:r>
            <a:r>
              <a:rPr sz="1000" b="1">
                <a:solidFill>
                  <a:srgbClr val="FF8C00"/>
                </a:solidFill>
              </a:rPr>
              <a:t>● </a:t>
            </a:r>
            <a:r>
              <a:rPr sz="1200">
                <a:solidFill>
                  <a:srgbClr val="C8D4EE"/>
                </a:solidFill>
              </a:rPr>
              <a:t>Investor and HNW buyer relationships at AED 2.23B deal volume close on the same multiple-touchpoint follow-up automation that applies to Bronshteyn GmbH</a:t>
            </a:r>
          </a:p>
        </p:txBody>
      </p:sp>
      <p:sp>
        <p:nvSpPr>
          <p:cNvPr id="21" name="Rectangle 20"/>
          <p:cNvSpPr/>
          <p:nvPr/>
        </p:nvSpPr>
        <p:spPr>
          <a:xfrm>
            <a:off x="6080760" y="3154680"/>
            <a:ext cx="5605272" cy="29260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3218688"/>
            <a:ext cx="5303520" cy="320040"/>
          </a:xfrm>
          <a:prstGeom prst="rect">
            <a:avLst/>
          </a:prstGeom>
          <a:noFill/>
        </p:spPr>
        <p:txBody>
          <a:bodyPr wrap="square">
            <a:spAutoFit/>
          </a:bodyPr>
          <a:lstStyle/>
          <a:p>
            <a:pPr algn="l"/>
            <a:r>
              <a:rPr sz="1100" b="1" i="0">
                <a:solidFill>
                  <a:srgbClr val="F5C518"/>
                </a:solidFill>
              </a:rPr>
              <a:t>HOW THE CONVERSATION FLOWS</a:t>
            </a:r>
          </a:p>
        </p:txBody>
      </p:sp>
      <p:sp>
        <p:nvSpPr>
          <p:cNvPr id="23" name="TextBox 22"/>
          <p:cNvSpPr txBox="1"/>
          <p:nvPr/>
        </p:nvSpPr>
        <p:spPr>
          <a:xfrm>
            <a:off x="6217920" y="3566160"/>
            <a:ext cx="5303520" cy="2286000"/>
          </a:xfrm>
          <a:prstGeom prst="rect">
            <a:avLst/>
          </a:prstGeom>
          <a:noFill/>
        </p:spPr>
        <p:txBody>
          <a:bodyPr wrap="square">
            <a:spAutoFit/>
          </a:bodyPr>
          <a:lstStyle/>
          <a:p>
            <a:pPr algn="l">
              <a:spcAft>
                <a:spcPts val="600"/>
              </a:spcAft>
            </a:pPr>
            <a:r>
              <a:rPr sz="1000"/>
              <a:t>  </a:t>
            </a:r>
            <a:r>
              <a:rPr sz="1000" b="1">
                <a:solidFill>
                  <a:srgbClr val="F5C518"/>
                </a:solidFill>
              </a:rPr>
              <a:t>● </a:t>
            </a:r>
            <a:r>
              <a:rPr sz="1200">
                <a:solidFill>
                  <a:srgbClr val="C8D4EE"/>
                </a:solidFill>
              </a:rPr>
              <a:t>Genos AI builds and deploys the automation stack for Bronshteyn GmbH first - Boris sees the performance directly</a:t>
            </a:r>
          </a:p>
          <a:p>
            <a:pPr algn="l">
              <a:spcAft>
                <a:spcPts val="600"/>
              </a:spcAft>
            </a:pPr>
            <a:r>
              <a:rPr sz="1000"/>
              <a:t>  </a:t>
            </a:r>
            <a:r>
              <a:rPr sz="1000" b="1">
                <a:solidFill>
                  <a:srgbClr val="F5C518"/>
                </a:solidFill>
              </a:rPr>
              <a:t>● </a:t>
            </a:r>
            <a:r>
              <a:rPr sz="1200">
                <a:solidFill>
                  <a:srgbClr val="C8D4EE"/>
                </a:solidFill>
              </a:rPr>
              <a:t>Once the Bronshteyn stack has 60-90 days of live results, Boris has a concrete proof point to take to Oleg Torbosov at WhiteWill</a:t>
            </a:r>
          </a:p>
          <a:p>
            <a:pPr algn="l">
              <a:spcAft>
                <a:spcPts val="600"/>
              </a:spcAft>
            </a:pPr>
            <a:r>
              <a:rPr sz="1000"/>
              <a:t>  </a:t>
            </a:r>
            <a:r>
              <a:rPr sz="1000" b="1">
                <a:solidFill>
                  <a:srgbClr val="F5C518"/>
                </a:solidFill>
              </a:rPr>
              <a:t>● </a:t>
            </a:r>
            <a:r>
              <a:rPr sz="1200">
                <a:solidFill>
                  <a:srgbClr val="C8D4EE"/>
                </a:solidFill>
              </a:rPr>
              <a:t>Boris's advisory relationship is the introduction - the performance data is the pitch</a:t>
            </a:r>
          </a:p>
          <a:p>
            <a:pPr algn="l"/>
            <a:r>
              <a:rPr sz="1000"/>
              <a:t>  </a:t>
            </a:r>
            <a:r>
              <a:rPr sz="1000" b="1">
                <a:solidFill>
                  <a:srgbClr val="F5C518"/>
                </a:solidFill>
              </a:rPr>
              <a:t>● </a:t>
            </a:r>
            <a:r>
              <a:rPr sz="1200">
                <a:solidFill>
                  <a:srgbClr val="C8D4EE"/>
                </a:solidFill>
              </a:rPr>
              <a:t>If WhiteWill engages, Boris is the bridge that brought a working AI infrastructure to a AED 2B+ operation - that has its own value in the advisory relationship</a:t>
            </a:r>
          </a:p>
        </p:txBody>
      </p:sp>
      <p:sp>
        <p:nvSpPr>
          <p:cNvPr id="24" name="Rectangle 23"/>
          <p:cNvSpPr/>
          <p:nvPr/>
        </p:nvSpPr>
        <p:spPr>
          <a:xfrm>
            <a:off x="502920" y="6217920"/>
            <a:ext cx="11183112" cy="34747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263640"/>
            <a:ext cx="10972800" cy="256032"/>
          </a:xfrm>
          <a:prstGeom prst="rect">
            <a:avLst/>
          </a:prstGeom>
          <a:noFill/>
        </p:spPr>
        <p:txBody>
          <a:bodyPr wrap="square">
            <a:spAutoFit/>
          </a:bodyPr>
          <a:lstStyle/>
          <a:p>
            <a:pPr algn="l"/>
            <a:r>
              <a:rPr sz="1100" b="0" i="1">
                <a:solidFill>
                  <a:srgbClr val="FF8C00"/>
                </a:solidFill>
              </a:rPr>
              <a:t>Bronshteyn GmbH is the proof of concept. WhiteWill is the scale opportunity.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IMPLEMENTATION PLAN</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What Gets Built - and When.</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56616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682496"/>
            <a:ext cx="1673352" cy="384048"/>
          </a:xfrm>
          <a:prstGeom prst="rect">
            <a:avLst/>
          </a:prstGeom>
          <a:noFill/>
        </p:spPr>
        <p:txBody>
          <a:bodyPr wrap="square">
            <a:spAutoFit/>
          </a:bodyPr>
          <a:lstStyle/>
          <a:p>
            <a:pPr algn="l"/>
            <a:r>
              <a:rPr sz="1300" b="1" i="0">
                <a:solidFill>
                  <a:srgbClr val="0A0F2E"/>
                </a:solidFill>
              </a:rPr>
              <a:t>PHASE 1</a:t>
            </a:r>
          </a:p>
        </p:txBody>
      </p:sp>
      <p:sp>
        <p:nvSpPr>
          <p:cNvPr id="9" name="TextBox 8"/>
          <p:cNvSpPr txBox="1"/>
          <p:nvPr/>
        </p:nvSpPr>
        <p:spPr>
          <a:xfrm>
            <a:off x="2286000" y="1719072"/>
            <a:ext cx="1645920" cy="347472"/>
          </a:xfrm>
          <a:prstGeom prst="rect">
            <a:avLst/>
          </a:prstGeom>
          <a:noFill/>
        </p:spPr>
        <p:txBody>
          <a:bodyPr wrap="square">
            <a:spAutoFit/>
          </a:bodyPr>
          <a:lstStyle/>
          <a:p>
            <a:pPr algn="r"/>
            <a:r>
              <a:rPr sz="1100" b="0" i="0">
                <a:solidFill>
                  <a:srgbClr val="0A0F2E"/>
                </a:solidFill>
              </a:rPr>
              <a:t>Weeks 1-3</a:t>
            </a:r>
          </a:p>
        </p:txBody>
      </p:sp>
      <p:sp>
        <p:nvSpPr>
          <p:cNvPr id="10" name="Rectangle 9"/>
          <p:cNvSpPr/>
          <p:nvPr/>
        </p:nvSpPr>
        <p:spPr>
          <a:xfrm>
            <a:off x="502920"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 y="226771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212848"/>
            <a:ext cx="3218688" cy="292608"/>
          </a:xfrm>
          <a:prstGeom prst="rect">
            <a:avLst/>
          </a:prstGeom>
          <a:noFill/>
        </p:spPr>
        <p:txBody>
          <a:bodyPr wrap="square">
            <a:spAutoFit/>
          </a:bodyPr>
          <a:lstStyle/>
          <a:p>
            <a:pPr algn="l"/>
            <a:r>
              <a:rPr sz="1200" b="1" i="0">
                <a:solidFill>
                  <a:srgbClr val="F5C518"/>
                </a:solidFill>
              </a:rPr>
              <a:t>Site Architecture and Design</a:t>
            </a:r>
          </a:p>
        </p:txBody>
      </p:sp>
      <p:sp>
        <p:nvSpPr>
          <p:cNvPr id="13" name="TextBox 12"/>
          <p:cNvSpPr txBox="1"/>
          <p:nvPr/>
        </p:nvSpPr>
        <p:spPr>
          <a:xfrm>
            <a:off x="731520" y="2487168"/>
            <a:ext cx="3218688" cy="411480"/>
          </a:xfrm>
          <a:prstGeom prst="rect">
            <a:avLst/>
          </a:prstGeom>
          <a:noFill/>
        </p:spPr>
        <p:txBody>
          <a:bodyPr wrap="square">
            <a:spAutoFit/>
          </a:bodyPr>
          <a:lstStyle/>
          <a:p>
            <a:pPr algn="l"/>
            <a:r>
              <a:rPr sz="1100" b="0" i="0">
                <a:solidFill>
                  <a:srgbClr val="C8D4EE"/>
                </a:solidFill>
              </a:rPr>
              <a:t>Structure, service scope, team page, deal criteria, investor-grade design - all approved before dev begins. No surprises on delivery.</a:t>
            </a:r>
          </a:p>
        </p:txBody>
      </p:sp>
      <p:sp>
        <p:nvSpPr>
          <p:cNvPr id="14" name="Rectangle 13"/>
          <p:cNvSpPr/>
          <p:nvPr/>
        </p:nvSpPr>
        <p:spPr>
          <a:xfrm>
            <a:off x="612648" y="313639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081528"/>
            <a:ext cx="3218688" cy="292608"/>
          </a:xfrm>
          <a:prstGeom prst="rect">
            <a:avLst/>
          </a:prstGeom>
          <a:noFill/>
        </p:spPr>
        <p:txBody>
          <a:bodyPr wrap="square">
            <a:spAutoFit/>
          </a:bodyPr>
          <a:lstStyle/>
          <a:p>
            <a:pPr algn="l"/>
            <a:r>
              <a:rPr sz="1200" b="1" i="0">
                <a:solidFill>
                  <a:srgbClr val="F5C518"/>
                </a:solidFill>
              </a:rPr>
              <a:t>AI Chat Trained and Deployed</a:t>
            </a:r>
          </a:p>
        </p:txBody>
      </p:sp>
      <p:sp>
        <p:nvSpPr>
          <p:cNvPr id="16" name="TextBox 15"/>
          <p:cNvSpPr txBox="1"/>
          <p:nvPr/>
        </p:nvSpPr>
        <p:spPr>
          <a:xfrm>
            <a:off x="731520" y="3355848"/>
            <a:ext cx="3218688" cy="411480"/>
          </a:xfrm>
          <a:prstGeom prst="rect">
            <a:avLst/>
          </a:prstGeom>
          <a:noFill/>
        </p:spPr>
        <p:txBody>
          <a:bodyPr wrap="square">
            <a:spAutoFit/>
          </a:bodyPr>
          <a:lstStyle/>
          <a:p>
            <a:pPr algn="l"/>
            <a:r>
              <a:rPr sz="1100" b="0" i="0">
                <a:solidFill>
                  <a:srgbClr val="C8D4EE"/>
                </a:solidFill>
              </a:rPr>
              <a:t>Chat trained on Bronshteyn GmbH service scope, deal criteria, ticket size, and mandate types. Live on the rebuilt site from day one.</a:t>
            </a:r>
          </a:p>
        </p:txBody>
      </p:sp>
      <p:sp>
        <p:nvSpPr>
          <p:cNvPr id="17" name="Rectangle 16"/>
          <p:cNvSpPr/>
          <p:nvPr/>
        </p:nvSpPr>
        <p:spPr>
          <a:xfrm>
            <a:off x="612648" y="400507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950208"/>
            <a:ext cx="3218688" cy="292608"/>
          </a:xfrm>
          <a:prstGeom prst="rect">
            <a:avLst/>
          </a:prstGeom>
          <a:noFill/>
        </p:spPr>
        <p:txBody>
          <a:bodyPr wrap="square">
            <a:spAutoFit/>
          </a:bodyPr>
          <a:lstStyle/>
          <a:p>
            <a:pPr algn="l"/>
            <a:r>
              <a:rPr sz="1200" b="1" i="0">
                <a:solidFill>
                  <a:srgbClr val="F5C518"/>
                </a:solidFill>
              </a:rPr>
              <a:t>Structured Inquiry Form Live</a:t>
            </a:r>
          </a:p>
        </p:txBody>
      </p:sp>
      <p:sp>
        <p:nvSpPr>
          <p:cNvPr id="19" name="TextBox 18"/>
          <p:cNvSpPr txBox="1"/>
          <p:nvPr/>
        </p:nvSpPr>
        <p:spPr>
          <a:xfrm>
            <a:off x="731520" y="4224528"/>
            <a:ext cx="3218688" cy="411480"/>
          </a:xfrm>
          <a:prstGeom prst="rect">
            <a:avLst/>
          </a:prstGeom>
          <a:noFill/>
        </p:spPr>
        <p:txBody>
          <a:bodyPr wrap="square">
            <a:spAutoFit/>
          </a:bodyPr>
          <a:lstStyle/>
          <a:p>
            <a:pPr algn="l"/>
            <a:r>
              <a:rPr sz="1100" b="0" i="0">
                <a:solidFill>
                  <a:srgbClr val="C8D4EE"/>
                </a:solidFill>
              </a:rPr>
              <a:t>One entry point replacing email/WhatsApp/Telegram. Routes by deal type. Each route triggers the correct follow-up path.</a:t>
            </a:r>
          </a:p>
        </p:txBody>
      </p:sp>
      <p:sp>
        <p:nvSpPr>
          <p:cNvPr id="20" name="Rectangle 19"/>
          <p:cNvSpPr/>
          <p:nvPr/>
        </p:nvSpPr>
        <p:spPr>
          <a:xfrm>
            <a:off x="4233672" y="1645920"/>
            <a:ext cx="356616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1682496"/>
            <a:ext cx="1673352" cy="384048"/>
          </a:xfrm>
          <a:prstGeom prst="rect">
            <a:avLst/>
          </a:prstGeom>
          <a:noFill/>
        </p:spPr>
        <p:txBody>
          <a:bodyPr wrap="square">
            <a:spAutoFit/>
          </a:bodyPr>
          <a:lstStyle/>
          <a:p>
            <a:pPr algn="l"/>
            <a:r>
              <a:rPr sz="1300" b="1" i="0">
                <a:solidFill>
                  <a:srgbClr val="0A0F2E"/>
                </a:solidFill>
              </a:rPr>
              <a:t>PHASE 2</a:t>
            </a:r>
          </a:p>
        </p:txBody>
      </p:sp>
      <p:sp>
        <p:nvSpPr>
          <p:cNvPr id="22" name="TextBox 21"/>
          <p:cNvSpPr txBox="1"/>
          <p:nvPr/>
        </p:nvSpPr>
        <p:spPr>
          <a:xfrm>
            <a:off x="6016752" y="1719072"/>
            <a:ext cx="1645920" cy="347472"/>
          </a:xfrm>
          <a:prstGeom prst="rect">
            <a:avLst/>
          </a:prstGeom>
          <a:noFill/>
        </p:spPr>
        <p:txBody>
          <a:bodyPr wrap="square">
            <a:spAutoFit/>
          </a:bodyPr>
          <a:lstStyle/>
          <a:p>
            <a:pPr algn="r"/>
            <a:r>
              <a:rPr sz="1100" b="0" i="0">
                <a:solidFill>
                  <a:srgbClr val="0A0F2E"/>
                </a:solidFill>
              </a:rPr>
              <a:t>Weeks 4-6</a:t>
            </a:r>
          </a:p>
        </p:txBody>
      </p:sp>
      <p:sp>
        <p:nvSpPr>
          <p:cNvPr id="23" name="Rectangle 22"/>
          <p:cNvSpPr/>
          <p:nvPr/>
        </p:nvSpPr>
        <p:spPr>
          <a:xfrm>
            <a:off x="4233672"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43400" y="2267712"/>
            <a:ext cx="4572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62272" y="2212848"/>
            <a:ext cx="3218688" cy="292608"/>
          </a:xfrm>
          <a:prstGeom prst="rect">
            <a:avLst/>
          </a:prstGeom>
          <a:noFill/>
        </p:spPr>
        <p:txBody>
          <a:bodyPr wrap="square">
            <a:spAutoFit/>
          </a:bodyPr>
          <a:lstStyle/>
          <a:p>
            <a:pPr algn="l"/>
            <a:r>
              <a:rPr sz="1200" b="1" i="0">
                <a:solidFill>
                  <a:srgbClr val="4F8EFF"/>
                </a:solidFill>
              </a:rPr>
              <a:t>Site Live on bronshteyn.com</a:t>
            </a:r>
          </a:p>
        </p:txBody>
      </p:sp>
      <p:sp>
        <p:nvSpPr>
          <p:cNvPr id="26" name="TextBox 25"/>
          <p:cNvSpPr txBox="1"/>
          <p:nvPr/>
        </p:nvSpPr>
        <p:spPr>
          <a:xfrm>
            <a:off x="4462272" y="2487168"/>
            <a:ext cx="3218688" cy="411480"/>
          </a:xfrm>
          <a:prstGeom prst="rect">
            <a:avLst/>
          </a:prstGeom>
          <a:noFill/>
        </p:spPr>
        <p:txBody>
          <a:bodyPr wrap="square">
            <a:spAutoFit/>
          </a:bodyPr>
          <a:lstStyle/>
          <a:p>
            <a:pPr algn="l"/>
            <a:r>
              <a:rPr sz="1100" b="0" i="0">
                <a:solidFill>
                  <a:srgbClr val="C8D4EE"/>
                </a:solidFill>
              </a:rPr>
              <a:t>Full rebuild deployed. Services, team, track record, AI chat, inquiry routing. SEO infrastructure in place from day one of launch.</a:t>
            </a:r>
          </a:p>
        </p:txBody>
      </p:sp>
      <p:sp>
        <p:nvSpPr>
          <p:cNvPr id="27" name="Rectangle 26"/>
          <p:cNvSpPr/>
          <p:nvPr/>
        </p:nvSpPr>
        <p:spPr>
          <a:xfrm>
            <a:off x="4343400" y="3136392"/>
            <a:ext cx="4572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62272" y="3081528"/>
            <a:ext cx="3218688" cy="292608"/>
          </a:xfrm>
          <a:prstGeom prst="rect">
            <a:avLst/>
          </a:prstGeom>
          <a:noFill/>
        </p:spPr>
        <p:txBody>
          <a:bodyPr wrap="square">
            <a:spAutoFit/>
          </a:bodyPr>
          <a:lstStyle/>
          <a:p>
            <a:pPr algn="l"/>
            <a:r>
              <a:rPr sz="1200" b="1" i="0">
                <a:solidFill>
                  <a:srgbClr val="4F8EFF"/>
                </a:solidFill>
              </a:rPr>
              <a:t>Follow-Up Sequences Active</a:t>
            </a:r>
          </a:p>
        </p:txBody>
      </p:sp>
      <p:sp>
        <p:nvSpPr>
          <p:cNvPr id="29" name="TextBox 28"/>
          <p:cNvSpPr txBox="1"/>
          <p:nvPr/>
        </p:nvSpPr>
        <p:spPr>
          <a:xfrm>
            <a:off x="4462272" y="3355848"/>
            <a:ext cx="3218688" cy="411480"/>
          </a:xfrm>
          <a:prstGeom prst="rect">
            <a:avLst/>
          </a:prstGeom>
          <a:noFill/>
        </p:spPr>
        <p:txBody>
          <a:bodyPr wrap="square">
            <a:spAutoFit/>
          </a:bodyPr>
          <a:lstStyle/>
          <a:p>
            <a:pPr algn="l"/>
            <a:r>
              <a:rPr sz="1100" b="0" i="0">
                <a:solidFill>
                  <a:srgbClr val="C8D4EE"/>
                </a:solidFill>
              </a:rPr>
              <a:t>Investor and seller sequences running for all first-contact prospects in the pipeline, including anyone Boris already has in progress.</a:t>
            </a:r>
          </a:p>
        </p:txBody>
      </p:sp>
      <p:sp>
        <p:nvSpPr>
          <p:cNvPr id="30" name="Rectangle 29"/>
          <p:cNvSpPr/>
          <p:nvPr/>
        </p:nvSpPr>
        <p:spPr>
          <a:xfrm>
            <a:off x="4343400" y="4005072"/>
            <a:ext cx="4572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62272" y="3950208"/>
            <a:ext cx="3218688" cy="292608"/>
          </a:xfrm>
          <a:prstGeom prst="rect">
            <a:avLst/>
          </a:prstGeom>
          <a:noFill/>
        </p:spPr>
        <p:txBody>
          <a:bodyPr wrap="square">
            <a:spAutoFit/>
          </a:bodyPr>
          <a:lstStyle/>
          <a:p>
            <a:pPr algn="l"/>
            <a:r>
              <a:rPr sz="1200" b="1" i="0">
                <a:solidFill>
                  <a:srgbClr val="4F8EFF"/>
                </a:solidFill>
              </a:rPr>
              <a:t>CRM Pipeline View Live</a:t>
            </a:r>
          </a:p>
        </p:txBody>
      </p:sp>
      <p:sp>
        <p:nvSpPr>
          <p:cNvPr id="32" name="TextBox 31"/>
          <p:cNvSpPr txBox="1"/>
          <p:nvPr/>
        </p:nvSpPr>
        <p:spPr>
          <a:xfrm>
            <a:off x="4462272" y="4224528"/>
            <a:ext cx="3218688" cy="411480"/>
          </a:xfrm>
          <a:prstGeom prst="rect">
            <a:avLst/>
          </a:prstGeom>
          <a:noFill/>
        </p:spPr>
        <p:txBody>
          <a:bodyPr wrap="square">
            <a:spAutoFit/>
          </a:bodyPr>
          <a:lstStyle/>
          <a:p>
            <a:pPr algn="l"/>
            <a:r>
              <a:rPr sz="1100" b="0" i="0">
                <a:solidFill>
                  <a:srgbClr val="C8D4EE"/>
                </a:solidFill>
              </a:rPr>
              <a:t>Contact intelligence layer active. Boris sees every prospect's relationship stage at a glance without manual tracking.</a:t>
            </a:r>
          </a:p>
        </p:txBody>
      </p:sp>
      <p:sp>
        <p:nvSpPr>
          <p:cNvPr id="33" name="Rectangle 32"/>
          <p:cNvSpPr/>
          <p:nvPr/>
        </p:nvSpPr>
        <p:spPr>
          <a:xfrm>
            <a:off x="7964424" y="1645920"/>
            <a:ext cx="356616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74152" y="1682496"/>
            <a:ext cx="1673352" cy="384048"/>
          </a:xfrm>
          <a:prstGeom prst="rect">
            <a:avLst/>
          </a:prstGeom>
          <a:noFill/>
        </p:spPr>
        <p:txBody>
          <a:bodyPr wrap="square">
            <a:spAutoFit/>
          </a:bodyPr>
          <a:lstStyle/>
          <a:p>
            <a:pPr algn="l"/>
            <a:r>
              <a:rPr sz="1300" b="1" i="0">
                <a:solidFill>
                  <a:srgbClr val="0A0F2E"/>
                </a:solidFill>
              </a:rPr>
              <a:t>PHASE 3</a:t>
            </a:r>
          </a:p>
        </p:txBody>
      </p:sp>
      <p:sp>
        <p:nvSpPr>
          <p:cNvPr id="35" name="TextBox 34"/>
          <p:cNvSpPr txBox="1"/>
          <p:nvPr/>
        </p:nvSpPr>
        <p:spPr>
          <a:xfrm>
            <a:off x="9747504" y="1719072"/>
            <a:ext cx="1645920" cy="347472"/>
          </a:xfrm>
          <a:prstGeom prst="rect">
            <a:avLst/>
          </a:prstGeom>
          <a:noFill/>
        </p:spPr>
        <p:txBody>
          <a:bodyPr wrap="square">
            <a:spAutoFit/>
          </a:bodyPr>
          <a:lstStyle/>
          <a:p>
            <a:pPr algn="r"/>
            <a:r>
              <a:rPr sz="1100" b="0" i="0">
                <a:solidFill>
                  <a:srgbClr val="0A0F2E"/>
                </a:solidFill>
              </a:rPr>
              <a:t>Weeks 7-12</a:t>
            </a:r>
          </a:p>
        </p:txBody>
      </p:sp>
      <p:sp>
        <p:nvSpPr>
          <p:cNvPr id="36" name="Rectangle 35"/>
          <p:cNvSpPr/>
          <p:nvPr/>
        </p:nvSpPr>
        <p:spPr>
          <a:xfrm>
            <a:off x="7964424"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74152" y="226771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93024" y="2212848"/>
            <a:ext cx="3218688" cy="292608"/>
          </a:xfrm>
          <a:prstGeom prst="rect">
            <a:avLst/>
          </a:prstGeom>
          <a:noFill/>
        </p:spPr>
        <p:txBody>
          <a:bodyPr wrap="square">
            <a:spAutoFit/>
          </a:bodyPr>
          <a:lstStyle/>
          <a:p>
            <a:pPr algn="l"/>
            <a:r>
              <a:rPr sz="1200" b="1" i="0">
                <a:solidFill>
                  <a:srgbClr val="2ECC71"/>
                </a:solidFill>
              </a:rPr>
              <a:t>First Content Pieces Published</a:t>
            </a:r>
          </a:p>
        </p:txBody>
      </p:sp>
      <p:sp>
        <p:nvSpPr>
          <p:cNvPr id="39" name="TextBox 38"/>
          <p:cNvSpPr txBox="1"/>
          <p:nvPr/>
        </p:nvSpPr>
        <p:spPr>
          <a:xfrm>
            <a:off x="8193024" y="2487168"/>
            <a:ext cx="3218688" cy="411480"/>
          </a:xfrm>
          <a:prstGeom prst="rect">
            <a:avLst/>
          </a:prstGeom>
          <a:noFill/>
        </p:spPr>
        <p:txBody>
          <a:bodyPr wrap="square">
            <a:spAutoFit/>
          </a:bodyPr>
          <a:lstStyle/>
          <a:p>
            <a:pPr algn="l"/>
            <a:r>
              <a:rPr sz="1100" b="0" i="0">
                <a:solidFill>
                  <a:srgbClr val="C8D4EE"/>
                </a:solidFill>
              </a:rPr>
              <a:t>Munich real estate market commentary and M&amp;A advisory perspective pieces live. Content calendar set for quarterly publishing cadence.</a:t>
            </a:r>
          </a:p>
        </p:txBody>
      </p:sp>
      <p:sp>
        <p:nvSpPr>
          <p:cNvPr id="40" name="Rectangle 39"/>
          <p:cNvSpPr/>
          <p:nvPr/>
        </p:nvSpPr>
        <p:spPr>
          <a:xfrm>
            <a:off x="8074152" y="313639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93024" y="3081528"/>
            <a:ext cx="3218688" cy="292608"/>
          </a:xfrm>
          <a:prstGeom prst="rect">
            <a:avLst/>
          </a:prstGeom>
          <a:noFill/>
        </p:spPr>
        <p:txBody>
          <a:bodyPr wrap="square">
            <a:spAutoFit/>
          </a:bodyPr>
          <a:lstStyle/>
          <a:p>
            <a:pPr algn="l"/>
            <a:r>
              <a:rPr sz="1200" b="1" i="0">
                <a:solidFill>
                  <a:srgbClr val="2ECC71"/>
                </a:solidFill>
              </a:rPr>
              <a:t>SEO Indexing in Progress</a:t>
            </a:r>
          </a:p>
        </p:txBody>
      </p:sp>
      <p:sp>
        <p:nvSpPr>
          <p:cNvPr id="42" name="TextBox 41"/>
          <p:cNvSpPr txBox="1"/>
          <p:nvPr/>
        </p:nvSpPr>
        <p:spPr>
          <a:xfrm>
            <a:off x="8193024" y="3355848"/>
            <a:ext cx="3218688" cy="411480"/>
          </a:xfrm>
          <a:prstGeom prst="rect">
            <a:avLst/>
          </a:prstGeom>
          <a:noFill/>
        </p:spPr>
        <p:txBody>
          <a:bodyPr wrap="square">
            <a:spAutoFit/>
          </a:bodyPr>
          <a:lstStyle/>
          <a:p>
            <a:pPr algn="l"/>
            <a:r>
              <a:rPr sz="1100" b="0" i="0">
                <a:solidFill>
                  <a:srgbClr val="C8D4EE"/>
                </a:solidFill>
              </a:rPr>
              <a:t>Target keywords for family office Munich, investment real estate Germany, M&amp;A advisory Bavaria indexed and tracked for ranking progress.</a:t>
            </a:r>
          </a:p>
        </p:txBody>
      </p:sp>
      <p:sp>
        <p:nvSpPr>
          <p:cNvPr id="43" name="Rectangle 42"/>
          <p:cNvSpPr/>
          <p:nvPr/>
        </p:nvSpPr>
        <p:spPr>
          <a:xfrm>
            <a:off x="8074152" y="400507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93024" y="3950208"/>
            <a:ext cx="3218688" cy="292608"/>
          </a:xfrm>
          <a:prstGeom prst="rect">
            <a:avLst/>
          </a:prstGeom>
          <a:noFill/>
        </p:spPr>
        <p:txBody>
          <a:bodyPr wrap="square">
            <a:spAutoFit/>
          </a:bodyPr>
          <a:lstStyle/>
          <a:p>
            <a:pPr algn="l"/>
            <a:r>
              <a:rPr sz="1200" b="1" i="0">
                <a:solidFill>
                  <a:srgbClr val="2ECC71"/>
                </a:solidFill>
              </a:rPr>
              <a:t>WhiteWill Proof Point Ready</a:t>
            </a:r>
          </a:p>
        </p:txBody>
      </p:sp>
      <p:sp>
        <p:nvSpPr>
          <p:cNvPr id="45" name="TextBox 44"/>
          <p:cNvSpPr txBox="1"/>
          <p:nvPr/>
        </p:nvSpPr>
        <p:spPr>
          <a:xfrm>
            <a:off x="8193024" y="4224528"/>
            <a:ext cx="3218688" cy="411480"/>
          </a:xfrm>
          <a:prstGeom prst="rect">
            <a:avLst/>
          </a:prstGeom>
          <a:noFill/>
        </p:spPr>
        <p:txBody>
          <a:bodyPr wrap="square">
            <a:spAutoFit/>
          </a:bodyPr>
          <a:lstStyle/>
          <a:p>
            <a:pPr algn="l"/>
            <a:r>
              <a:rPr sz="1100" b="0" i="0">
                <a:solidFill>
                  <a:srgbClr val="C8D4EE"/>
                </a:solidFill>
              </a:rPr>
              <a:t>60-90 days of live performance data from the Bronshteyn stack. Inquiry volume, pre-qualification rate, follow-up conversion - ready to present.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BEFORE vs AFTER</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What Actually Changes at Bronshteyn GmbH in 90 Days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4937760" cy="32004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4754880" cy="256032"/>
          </a:xfrm>
          <a:prstGeom prst="rect">
            <a:avLst/>
          </a:prstGeom>
          <a:noFill/>
        </p:spPr>
        <p:txBody>
          <a:bodyPr wrap="square">
            <a:spAutoFit/>
          </a:bodyPr>
          <a:lstStyle/>
          <a:p>
            <a:pPr algn="l"/>
            <a:r>
              <a:rPr sz="1100" b="1" i="0">
                <a:solidFill>
                  <a:srgbClr val="FFFFFF"/>
                </a:solidFill>
              </a:rPr>
              <a:t>TODAY</a:t>
            </a:r>
          </a:p>
        </p:txBody>
      </p:sp>
      <p:sp>
        <p:nvSpPr>
          <p:cNvPr id="9" name="Rectangle 8"/>
          <p:cNvSpPr/>
          <p:nvPr/>
        </p:nvSpPr>
        <p:spPr>
          <a:xfrm>
            <a:off x="5897880" y="1508760"/>
            <a:ext cx="5330952" cy="3200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89320" y="1536192"/>
            <a:ext cx="4937760" cy="256032"/>
          </a:xfrm>
          <a:prstGeom prst="rect">
            <a:avLst/>
          </a:prstGeom>
          <a:noFill/>
        </p:spPr>
        <p:txBody>
          <a:bodyPr wrap="square">
            <a:spAutoFit/>
          </a:bodyPr>
          <a:lstStyle/>
          <a:p>
            <a:pPr algn="l"/>
            <a:r>
              <a:rPr sz="1100" b="1" i="0">
                <a:solidFill>
                  <a:srgbClr val="FFFFFF"/>
                </a:solidFill>
              </a:rPr>
              <a:t>AFTER 90 DAYS</a:t>
            </a:r>
          </a:p>
        </p:txBody>
      </p:sp>
      <p:sp>
        <p:nvSpPr>
          <p:cNvPr id="11" name="Rectangle 10"/>
          <p:cNvSpPr/>
          <p:nvPr/>
        </p:nvSpPr>
        <p:spPr>
          <a:xfrm>
            <a:off x="502920" y="1920240"/>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938528"/>
            <a:ext cx="10972800" cy="182880"/>
          </a:xfrm>
          <a:prstGeom prst="rect">
            <a:avLst/>
          </a:prstGeom>
          <a:noFill/>
        </p:spPr>
        <p:txBody>
          <a:bodyPr wrap="square">
            <a:spAutoFit/>
          </a:bodyPr>
          <a:lstStyle/>
          <a:p>
            <a:pPr algn="l"/>
            <a:r>
              <a:rPr sz="900" b="1" i="0">
                <a:solidFill>
                  <a:srgbClr val="8A9BBB"/>
                </a:solidFill>
              </a:rPr>
              <a:t>INBOUND QUALIFICATION</a:t>
            </a:r>
          </a:p>
        </p:txBody>
      </p:sp>
      <p:sp>
        <p:nvSpPr>
          <p:cNvPr id="13" name="TextBox 12"/>
          <p:cNvSpPr txBox="1"/>
          <p:nvPr/>
        </p:nvSpPr>
        <p:spPr>
          <a:xfrm>
            <a:off x="594360" y="2139696"/>
            <a:ext cx="4754880" cy="603504"/>
          </a:xfrm>
          <a:prstGeom prst="rect">
            <a:avLst/>
          </a:prstGeom>
          <a:noFill/>
        </p:spPr>
        <p:txBody>
          <a:bodyPr wrap="square">
            <a:spAutoFit/>
          </a:bodyPr>
          <a:lstStyle/>
          <a:p>
            <a:pPr algn="l"/>
            <a:r>
              <a:rPr sz="1100" b="0" i="0">
                <a:solidFill>
                  <a:srgbClr val="C8D4EE"/>
                </a:solidFill>
              </a:rPr>
              <a:t>Boris screens every inquiry personally across 3 channels. Time lost to unqualified volume.</a:t>
            </a:r>
          </a:p>
        </p:txBody>
      </p:sp>
      <p:sp>
        <p:nvSpPr>
          <p:cNvPr id="14" name="TextBox 13"/>
          <p:cNvSpPr txBox="1"/>
          <p:nvPr/>
        </p:nvSpPr>
        <p:spPr>
          <a:xfrm>
            <a:off x="5989320" y="2139696"/>
            <a:ext cx="4937760" cy="603504"/>
          </a:xfrm>
          <a:prstGeom prst="rect">
            <a:avLst/>
          </a:prstGeom>
          <a:noFill/>
        </p:spPr>
        <p:txBody>
          <a:bodyPr wrap="square">
            <a:spAutoFit/>
          </a:bodyPr>
          <a:lstStyle/>
          <a:p>
            <a:pPr algn="l"/>
            <a:r>
              <a:rPr sz="1100" b="0" i="0">
                <a:solidFill>
                  <a:srgbClr val="FFFFFF"/>
                </a:solidFill>
              </a:rPr>
              <a:t>AI qualifier screens all first-contact inbound. Boris's inbox contains only pre-categorised, mandate-relevant inquiries.</a:t>
            </a:r>
          </a:p>
        </p:txBody>
      </p:sp>
      <p:sp>
        <p:nvSpPr>
          <p:cNvPr id="15" name="Rectangle 14"/>
          <p:cNvSpPr/>
          <p:nvPr/>
        </p:nvSpPr>
        <p:spPr>
          <a:xfrm>
            <a:off x="502920" y="2852928"/>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871216"/>
            <a:ext cx="10972800" cy="182880"/>
          </a:xfrm>
          <a:prstGeom prst="rect">
            <a:avLst/>
          </a:prstGeom>
          <a:noFill/>
        </p:spPr>
        <p:txBody>
          <a:bodyPr wrap="square">
            <a:spAutoFit/>
          </a:bodyPr>
          <a:lstStyle/>
          <a:p>
            <a:pPr algn="l"/>
            <a:r>
              <a:rPr sz="900" b="1" i="0">
                <a:solidFill>
                  <a:srgbClr val="8A9BBB"/>
                </a:solidFill>
              </a:rPr>
              <a:t>PROSPECT RESEARCH</a:t>
            </a:r>
          </a:p>
        </p:txBody>
      </p:sp>
      <p:sp>
        <p:nvSpPr>
          <p:cNvPr id="17" name="TextBox 16"/>
          <p:cNvSpPr txBox="1"/>
          <p:nvPr/>
        </p:nvSpPr>
        <p:spPr>
          <a:xfrm>
            <a:off x="594360" y="3072384"/>
            <a:ext cx="4754880" cy="603504"/>
          </a:xfrm>
          <a:prstGeom prst="rect">
            <a:avLst/>
          </a:prstGeom>
          <a:noFill/>
        </p:spPr>
        <p:txBody>
          <a:bodyPr wrap="square">
            <a:spAutoFit/>
          </a:bodyPr>
          <a:lstStyle/>
          <a:p>
            <a:pPr algn="l"/>
            <a:r>
              <a:rPr sz="1100" b="0" i="0">
                <a:solidFill>
                  <a:srgbClr val="C8D4EE"/>
                </a:solidFill>
              </a:rPr>
              <a:t>HNW investors and M&amp;A targets search for Boris Bronshteyn and find a name, email, and Telegram handle.</a:t>
            </a:r>
          </a:p>
        </p:txBody>
      </p:sp>
      <p:sp>
        <p:nvSpPr>
          <p:cNvPr id="18" name="TextBox 17"/>
          <p:cNvSpPr txBox="1"/>
          <p:nvPr/>
        </p:nvSpPr>
        <p:spPr>
          <a:xfrm>
            <a:off x="5989320" y="3072384"/>
            <a:ext cx="4937760" cy="603504"/>
          </a:xfrm>
          <a:prstGeom prst="rect">
            <a:avLst/>
          </a:prstGeom>
          <a:noFill/>
        </p:spPr>
        <p:txBody>
          <a:bodyPr wrap="square">
            <a:spAutoFit/>
          </a:bodyPr>
          <a:lstStyle/>
          <a:p>
            <a:pPr algn="l"/>
            <a:r>
              <a:rPr sz="1100" b="0" i="0">
                <a:solidFill>
                  <a:srgbClr val="FFFFFF"/>
                </a:solidFill>
              </a:rPr>
              <a:t>They land on a family office authority site with service scope, team credentials, and a case for why Bronshteyn GmbH is the right call.</a:t>
            </a:r>
          </a:p>
        </p:txBody>
      </p:sp>
      <p:sp>
        <p:nvSpPr>
          <p:cNvPr id="19" name="Rectangle 18"/>
          <p:cNvSpPr/>
          <p:nvPr/>
        </p:nvSpPr>
        <p:spPr>
          <a:xfrm>
            <a:off x="502920" y="3785616"/>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803904"/>
            <a:ext cx="10972800" cy="182880"/>
          </a:xfrm>
          <a:prstGeom prst="rect">
            <a:avLst/>
          </a:prstGeom>
          <a:noFill/>
        </p:spPr>
        <p:txBody>
          <a:bodyPr wrap="square">
            <a:spAutoFit/>
          </a:bodyPr>
          <a:lstStyle/>
          <a:p>
            <a:pPr algn="l"/>
            <a:r>
              <a:rPr sz="900" b="1" i="0">
                <a:solidFill>
                  <a:srgbClr val="8A9BBB"/>
                </a:solidFill>
              </a:rPr>
              <a:t>FOLLOW-UP AND PIPELINE</a:t>
            </a:r>
          </a:p>
        </p:txBody>
      </p:sp>
      <p:sp>
        <p:nvSpPr>
          <p:cNvPr id="21" name="TextBox 20"/>
          <p:cNvSpPr txBox="1"/>
          <p:nvPr/>
        </p:nvSpPr>
        <p:spPr>
          <a:xfrm>
            <a:off x="594360" y="4005072"/>
            <a:ext cx="4754880" cy="603504"/>
          </a:xfrm>
          <a:prstGeom prst="rect">
            <a:avLst/>
          </a:prstGeom>
          <a:noFill/>
        </p:spPr>
        <p:txBody>
          <a:bodyPr wrap="square">
            <a:spAutoFit/>
          </a:bodyPr>
          <a:lstStyle/>
          <a:p>
            <a:pPr algn="l"/>
            <a:r>
              <a:rPr sz="1100" b="0" i="0">
                <a:solidFill>
                  <a:srgbClr val="C8D4EE"/>
                </a:solidFill>
              </a:rPr>
              <a:t>First contacts that don't immediately proceed are manually tracked - or quietly lost to inactivity.</a:t>
            </a:r>
          </a:p>
        </p:txBody>
      </p:sp>
      <p:sp>
        <p:nvSpPr>
          <p:cNvPr id="22" name="TextBox 21"/>
          <p:cNvSpPr txBox="1"/>
          <p:nvPr/>
        </p:nvSpPr>
        <p:spPr>
          <a:xfrm>
            <a:off x="5989320" y="4005072"/>
            <a:ext cx="4937760" cy="603504"/>
          </a:xfrm>
          <a:prstGeom prst="rect">
            <a:avLst/>
          </a:prstGeom>
          <a:noFill/>
        </p:spPr>
        <p:txBody>
          <a:bodyPr wrap="square">
            <a:spAutoFit/>
          </a:bodyPr>
          <a:lstStyle/>
          <a:p>
            <a:pPr algn="l"/>
            <a:r>
              <a:rPr sz="1100" b="0" i="0">
                <a:solidFill>
                  <a:srgbClr val="FFFFFF"/>
                </a:solidFill>
              </a:rPr>
              <a:t>60-90 day automated sequences keep every prospect warm. Boris re-engages when they're mandate-ready, not when he remembers to follow up.</a:t>
            </a:r>
          </a:p>
        </p:txBody>
      </p:sp>
      <p:sp>
        <p:nvSpPr>
          <p:cNvPr id="23" name="Rectangle 22"/>
          <p:cNvSpPr/>
          <p:nvPr/>
        </p:nvSpPr>
        <p:spPr>
          <a:xfrm>
            <a:off x="502920" y="4718304"/>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736592"/>
            <a:ext cx="10972800" cy="182880"/>
          </a:xfrm>
          <a:prstGeom prst="rect">
            <a:avLst/>
          </a:prstGeom>
          <a:noFill/>
        </p:spPr>
        <p:txBody>
          <a:bodyPr wrap="square">
            <a:spAutoFit/>
          </a:bodyPr>
          <a:lstStyle/>
          <a:p>
            <a:pPr algn="l"/>
            <a:r>
              <a:rPr sz="900" b="1" i="0">
                <a:solidFill>
                  <a:srgbClr val="8A9BBB"/>
                </a:solidFill>
              </a:rPr>
              <a:t>ORGANIC DISCOVERY</a:t>
            </a:r>
          </a:p>
        </p:txBody>
      </p:sp>
      <p:sp>
        <p:nvSpPr>
          <p:cNvPr id="25" name="TextBox 24"/>
          <p:cNvSpPr txBox="1"/>
          <p:nvPr/>
        </p:nvSpPr>
        <p:spPr>
          <a:xfrm>
            <a:off x="594360" y="4937760"/>
            <a:ext cx="4754880" cy="603504"/>
          </a:xfrm>
          <a:prstGeom prst="rect">
            <a:avLst/>
          </a:prstGeom>
          <a:noFill/>
        </p:spPr>
        <p:txBody>
          <a:bodyPr wrap="square">
            <a:spAutoFit/>
          </a:bodyPr>
          <a:lstStyle/>
          <a:p>
            <a:pPr algn="l"/>
            <a:r>
              <a:rPr sz="1100" b="0" i="0">
                <a:solidFill>
                  <a:srgbClr val="C8D4EE"/>
                </a:solidFill>
              </a:rPr>
              <a:t>bronshteyn.com cannot appear in any organic search. Sellers and investors searching the market before reaching out never find it.</a:t>
            </a:r>
          </a:p>
        </p:txBody>
      </p:sp>
      <p:sp>
        <p:nvSpPr>
          <p:cNvPr id="26" name="TextBox 25"/>
          <p:cNvSpPr txBox="1"/>
          <p:nvPr/>
        </p:nvSpPr>
        <p:spPr>
          <a:xfrm>
            <a:off x="5989320" y="4937760"/>
            <a:ext cx="4937760" cy="603504"/>
          </a:xfrm>
          <a:prstGeom prst="rect">
            <a:avLst/>
          </a:prstGeom>
          <a:noFill/>
        </p:spPr>
        <p:txBody>
          <a:bodyPr wrap="square">
            <a:spAutoFit/>
          </a:bodyPr>
          <a:lstStyle/>
          <a:p>
            <a:pPr algn="l"/>
            <a:r>
              <a:rPr sz="1100" b="0" i="0">
                <a:solidFill>
                  <a:srgbClr val="FFFFFF"/>
                </a:solidFill>
              </a:rPr>
              <a:t>Content layer and SEO infrastructure build search presence for target keywords over 90 days. Warm inbound begins to compound.</a:t>
            </a:r>
          </a:p>
        </p:txBody>
      </p:sp>
      <p:sp>
        <p:nvSpPr>
          <p:cNvPr id="27" name="Rectangle 26"/>
          <p:cNvSpPr/>
          <p:nvPr/>
        </p:nvSpPr>
        <p:spPr>
          <a:xfrm>
            <a:off x="502920" y="5650992"/>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669280"/>
            <a:ext cx="10972800" cy="182880"/>
          </a:xfrm>
          <a:prstGeom prst="rect">
            <a:avLst/>
          </a:prstGeom>
          <a:noFill/>
        </p:spPr>
        <p:txBody>
          <a:bodyPr wrap="square">
            <a:spAutoFit/>
          </a:bodyPr>
          <a:lstStyle/>
          <a:p>
            <a:pPr algn="l"/>
            <a:r>
              <a:rPr sz="900" b="1" i="0">
                <a:solidFill>
                  <a:srgbClr val="8A9BBB"/>
                </a:solidFill>
              </a:rPr>
              <a:t>WHITEWILL CONVERSATION</a:t>
            </a:r>
          </a:p>
        </p:txBody>
      </p:sp>
      <p:sp>
        <p:nvSpPr>
          <p:cNvPr id="29" name="TextBox 28"/>
          <p:cNvSpPr txBox="1"/>
          <p:nvPr/>
        </p:nvSpPr>
        <p:spPr>
          <a:xfrm>
            <a:off x="594360" y="5870448"/>
            <a:ext cx="4754880" cy="603504"/>
          </a:xfrm>
          <a:prstGeom prst="rect">
            <a:avLst/>
          </a:prstGeom>
          <a:noFill/>
        </p:spPr>
        <p:txBody>
          <a:bodyPr wrap="square">
            <a:spAutoFit/>
          </a:bodyPr>
          <a:lstStyle/>
          <a:p>
            <a:pPr algn="l"/>
            <a:r>
              <a:rPr sz="1100" b="0" i="0">
                <a:solidFill>
                  <a:srgbClr val="C8D4EE"/>
                </a:solidFill>
              </a:rPr>
              <a:t>No tech proof point exists to bring to Oleg Torbosov at WhiteWill. Advisory relationship is separate from business development.</a:t>
            </a:r>
          </a:p>
        </p:txBody>
      </p:sp>
      <p:sp>
        <p:nvSpPr>
          <p:cNvPr id="30" name="TextBox 29"/>
          <p:cNvSpPr txBox="1"/>
          <p:nvPr/>
        </p:nvSpPr>
        <p:spPr>
          <a:xfrm>
            <a:off x="5989320" y="5870448"/>
            <a:ext cx="4937760" cy="603504"/>
          </a:xfrm>
          <a:prstGeom prst="rect">
            <a:avLst/>
          </a:prstGeom>
          <a:noFill/>
        </p:spPr>
        <p:txBody>
          <a:bodyPr wrap="square">
            <a:spAutoFit/>
          </a:bodyPr>
          <a:lstStyle/>
          <a:p>
            <a:pPr algn="l"/>
            <a:r>
              <a:rPr sz="1100" b="0" i="0">
                <a:solidFill>
                  <a:srgbClr val="FFFFFF"/>
                </a:solidFill>
              </a:rPr>
              <a:t>90 days of live performance data from the Bronshteyn stack. A working AI infrastructure to introduce to a AED 2B+ operation.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5330952" cy="6858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5943600" cy="457200"/>
          </a:xfrm>
          <a:prstGeom prst="rect">
            <a:avLst/>
          </a:prstGeom>
          <a:noFill/>
        </p:spPr>
        <p:txBody>
          <a:bodyPr wrap="square">
            <a:spAutoFit/>
          </a:bodyPr>
          <a:lstStyle/>
          <a:p>
            <a:pPr algn="l"/>
            <a:r>
              <a:rPr sz="1100" b="1" i="0">
                <a:solidFill>
                  <a:srgbClr val="F5C518"/>
                </a:solidFill>
              </a:rPr>
              <a:t>NEXT STEPS</a:t>
            </a:r>
          </a:p>
        </p:txBody>
      </p:sp>
      <p:sp>
        <p:nvSpPr>
          <p:cNvPr id="6" name="TextBox 5"/>
          <p:cNvSpPr txBox="1"/>
          <p:nvPr/>
        </p:nvSpPr>
        <p:spPr>
          <a:xfrm>
            <a:off x="502920" y="731520"/>
            <a:ext cx="6217920" cy="1828800"/>
          </a:xfrm>
          <a:prstGeom prst="rect">
            <a:avLst/>
          </a:prstGeom>
          <a:noFill/>
        </p:spPr>
        <p:txBody>
          <a:bodyPr wrap="square">
            <a:spAutoFit/>
          </a:bodyPr>
          <a:lstStyle/>
          <a:p>
            <a:pPr algn="l"/>
            <a:r>
              <a:rPr sz="4800" b="1" i="0">
                <a:solidFill>
                  <a:srgbClr val="FFFFFF"/>
                </a:solidFill>
              </a:rPr>
              <a:t>Let's Talk for
15 Minutes.</a:t>
            </a:r>
          </a:p>
        </p:txBody>
      </p:sp>
      <p:sp>
        <p:nvSpPr>
          <p:cNvPr id="7" name="Rectangle 6"/>
          <p:cNvSpPr/>
          <p:nvPr/>
        </p:nvSpPr>
        <p:spPr>
          <a:xfrm>
            <a:off x="502920" y="2560320"/>
            <a:ext cx="22860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788920"/>
            <a:ext cx="5943600" cy="731520"/>
          </a:xfrm>
          <a:prstGeom prst="rect">
            <a:avLst/>
          </a:prstGeom>
          <a:noFill/>
        </p:spPr>
        <p:txBody>
          <a:bodyPr wrap="square">
            <a:spAutoFit/>
          </a:bodyPr>
          <a:lstStyle/>
          <a:p>
            <a:pPr algn="l"/>
            <a:r>
              <a:rPr sz="1400" b="0" i="0">
                <a:solidFill>
                  <a:srgbClr val="C8D4EE"/>
                </a:solidFill>
              </a:rPr>
              <a:t>No pitch deck required. Reply or book a call directly.
We'll walk through what fits Bronshteyn GmbH first.</a:t>
            </a:r>
          </a:p>
        </p:txBody>
      </p:sp>
      <p:sp>
        <p:nvSpPr>
          <p:cNvPr id="9" name="TextBox 8"/>
          <p:cNvSpPr txBox="1"/>
          <p:nvPr/>
        </p:nvSpPr>
        <p:spPr>
          <a:xfrm>
            <a:off x="502920" y="3611880"/>
            <a:ext cx="5943600" cy="1828800"/>
          </a:xfrm>
          <a:prstGeom prst="rect">
            <a:avLst/>
          </a:prstGeom>
          <a:noFill/>
        </p:spPr>
        <p:txBody>
          <a:bodyPr wrap="square">
            <a:spAutoFit/>
          </a:bodyPr>
          <a:lstStyle/>
          <a:p>
            <a:pPr algn="l">
              <a:spcAft>
                <a:spcPts val="600"/>
              </a:spcAft>
            </a:pPr>
            <a:r>
              <a:rPr sz="1200"/>
              <a:t>  </a:t>
            </a:r>
            <a:r>
              <a:rPr sz="1200" b="1">
                <a:solidFill>
                  <a:srgbClr val="F5C518"/>
                </a:solidFill>
              </a:rPr>
              <a:t>● </a:t>
            </a:r>
            <a:r>
              <a:rPr sz="1400">
                <a:solidFill>
                  <a:srgbClr val="FFFFFF"/>
                </a:solidFill>
              </a:rPr>
              <a:t>Reply to this message - we'll set up a time</a:t>
            </a:r>
          </a:p>
          <a:p>
            <a:pPr algn="l">
              <a:spcAft>
                <a:spcPts val="600"/>
              </a:spcAft>
            </a:pPr>
            <a:r>
              <a:rPr sz="1200"/>
              <a:t>  </a:t>
            </a:r>
            <a:r>
              <a:rPr sz="1200" b="1">
                <a:solidFill>
                  <a:srgbClr val="F5C518"/>
                </a:solidFill>
              </a:rPr>
              <a:t>● </a:t>
            </a:r>
            <a:r>
              <a:rPr sz="1400">
                <a:solidFill>
                  <a:srgbClr val="FFFFFF"/>
                </a:solidFill>
              </a:rPr>
              <a:t>Walk through the audit findings in 15 minutes</a:t>
            </a:r>
          </a:p>
          <a:p>
            <a:pPr algn="l">
              <a:spcAft>
                <a:spcPts val="600"/>
              </a:spcAft>
            </a:pPr>
            <a:r>
              <a:rPr sz="1200"/>
              <a:t>  </a:t>
            </a:r>
            <a:r>
              <a:rPr sz="1200" b="1">
                <a:solidFill>
                  <a:srgbClr val="F5C518"/>
                </a:solidFill>
              </a:rPr>
              <a:t>● </a:t>
            </a:r>
            <a:r>
              <a:rPr sz="1400">
                <a:solidFill>
                  <a:srgbClr val="FFFFFF"/>
                </a:solidFill>
              </a:rPr>
              <a:t>Agree on which gap to close first and in what order</a:t>
            </a:r>
          </a:p>
          <a:p>
            <a:pPr algn="l"/>
            <a:r>
              <a:rPr sz="1200"/>
              <a:t>  </a:t>
            </a:r>
            <a:r>
              <a:rPr sz="1200" b="1">
                <a:solidFill>
                  <a:srgbClr val="F5C518"/>
                </a:solidFill>
              </a:rPr>
              <a:t>● </a:t>
            </a:r>
            <a:r>
              <a:rPr sz="1400">
                <a:solidFill>
                  <a:srgbClr val="FFFFFF"/>
                </a:solidFill>
              </a:rPr>
              <a:t>You decide what, if anything, makes sense to move on</a:t>
            </a:r>
          </a:p>
        </p:txBody>
      </p:sp>
      <p:sp>
        <p:nvSpPr>
          <p:cNvPr id="10" name="Rectangle 9"/>
          <p:cNvSpPr/>
          <p:nvPr/>
        </p:nvSpPr>
        <p:spPr>
          <a:xfrm>
            <a:off x="0" y="5943600"/>
            <a:ext cx="685800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6217920" cy="457200"/>
          </a:xfrm>
          <a:prstGeom prst="rect">
            <a:avLst/>
          </a:prstGeom>
          <a:noFill/>
        </p:spPr>
        <p:txBody>
          <a:bodyPr wrap="square">
            <a:spAutoFit/>
          </a:bodyPr>
          <a:lstStyle/>
          <a:p>
            <a:pPr algn="l"/>
            <a:r>
              <a:rPr sz="1200" b="0" i="0">
                <a:solidFill>
                  <a:srgbClr val="8A9BBB"/>
                </a:solidFill>
              </a:rPr>
              <a:t>Rohan Malik  |  CEO, Genos AI  |  hello@genosai.tech  |  +91 638-714-2699  |  www.genosai.tech</a:t>
            </a:r>
          </a:p>
        </p:txBody>
      </p:sp>
      <p:sp>
        <p:nvSpPr>
          <p:cNvPr id="12" name="TextBox 11"/>
          <p:cNvSpPr txBox="1"/>
          <p:nvPr/>
        </p:nvSpPr>
        <p:spPr>
          <a:xfrm>
            <a:off x="7178040" y="548640"/>
            <a:ext cx="4572000" cy="1005840"/>
          </a:xfrm>
          <a:prstGeom prst="rect">
            <a:avLst/>
          </a:prstGeom>
          <a:noFill/>
        </p:spPr>
        <p:txBody>
          <a:bodyPr wrap="square">
            <a:spAutoFit/>
          </a:bodyPr>
          <a:lstStyle/>
          <a:p>
            <a:pPr algn="l"/>
            <a:r>
              <a:rPr sz="2200" b="1" i="0">
                <a:solidFill>
                  <a:srgbClr val="F5C518"/>
                </a:solidFill>
              </a:rPr>
              <a:t>THREE GAPS.
THREE FIXES.</a:t>
            </a:r>
          </a:p>
        </p:txBody>
      </p:sp>
      <p:sp>
        <p:nvSpPr>
          <p:cNvPr id="13" name="Rectangle 12"/>
          <p:cNvSpPr/>
          <p:nvPr/>
        </p:nvSpPr>
        <p:spPr>
          <a:xfrm>
            <a:off x="502920" y="150876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169164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737360"/>
            <a:ext cx="1280160" cy="292608"/>
          </a:xfrm>
          <a:prstGeom prst="rect">
            <a:avLst/>
          </a:prstGeom>
          <a:noFill/>
        </p:spPr>
        <p:txBody>
          <a:bodyPr wrap="square">
            <a:spAutoFit/>
          </a:bodyPr>
          <a:lstStyle/>
          <a:p>
            <a:pPr algn="l"/>
            <a:r>
              <a:rPr sz="1000" b="1" i="0">
                <a:solidFill>
                  <a:srgbClr val="F5C518"/>
                </a:solidFill>
              </a:rPr>
              <a:t>Credibility Gap</a:t>
            </a:r>
          </a:p>
        </p:txBody>
      </p:sp>
      <p:sp>
        <p:nvSpPr>
          <p:cNvPr id="16" name="TextBox 15"/>
          <p:cNvSpPr txBox="1"/>
          <p:nvPr/>
        </p:nvSpPr>
        <p:spPr>
          <a:xfrm>
            <a:off x="8686800" y="1737360"/>
            <a:ext cx="3291840" cy="594360"/>
          </a:xfrm>
          <a:prstGeom prst="rect">
            <a:avLst/>
          </a:prstGeom>
          <a:noFill/>
        </p:spPr>
        <p:txBody>
          <a:bodyPr wrap="square">
            <a:spAutoFit/>
          </a:bodyPr>
          <a:lstStyle/>
          <a:p>
            <a:pPr algn="l"/>
            <a:r>
              <a:rPr sz="1100" b="0" i="0">
                <a:solidFill>
                  <a:srgbClr val="C8D4EE"/>
                </a:solidFill>
              </a:rPr>
              <a:t>Full site rebuild: services, team, track record, investor-grade design</a:t>
            </a:r>
          </a:p>
        </p:txBody>
      </p:sp>
      <p:sp>
        <p:nvSpPr>
          <p:cNvPr id="17" name="Rectangle 16"/>
          <p:cNvSpPr/>
          <p:nvPr/>
        </p:nvSpPr>
        <p:spPr>
          <a:xfrm>
            <a:off x="7178040" y="2496312"/>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542032"/>
            <a:ext cx="1280160" cy="292608"/>
          </a:xfrm>
          <a:prstGeom prst="rect">
            <a:avLst/>
          </a:prstGeom>
          <a:noFill/>
        </p:spPr>
        <p:txBody>
          <a:bodyPr wrap="square">
            <a:spAutoFit/>
          </a:bodyPr>
          <a:lstStyle/>
          <a:p>
            <a:pPr algn="l"/>
            <a:r>
              <a:rPr sz="1000" b="1" i="0">
                <a:solidFill>
                  <a:srgbClr val="F5C518"/>
                </a:solidFill>
              </a:rPr>
              <a:t>Qualification Gap</a:t>
            </a:r>
          </a:p>
        </p:txBody>
      </p:sp>
      <p:sp>
        <p:nvSpPr>
          <p:cNvPr id="19" name="TextBox 18"/>
          <p:cNvSpPr txBox="1"/>
          <p:nvPr/>
        </p:nvSpPr>
        <p:spPr>
          <a:xfrm>
            <a:off x="8686800" y="2542032"/>
            <a:ext cx="3291840" cy="594360"/>
          </a:xfrm>
          <a:prstGeom prst="rect">
            <a:avLst/>
          </a:prstGeom>
          <a:noFill/>
        </p:spPr>
        <p:txBody>
          <a:bodyPr wrap="square">
            <a:spAutoFit/>
          </a:bodyPr>
          <a:lstStyle/>
          <a:p>
            <a:pPr algn="l"/>
            <a:r>
              <a:rPr sz="1100" b="0" i="0">
                <a:solidFill>
                  <a:srgbClr val="C8D4EE"/>
                </a:solidFill>
              </a:rPr>
              <a:t>AI chat + structured inquiry routing by mandate type</a:t>
            </a:r>
          </a:p>
        </p:txBody>
      </p:sp>
      <p:sp>
        <p:nvSpPr>
          <p:cNvPr id="20" name="Rectangle 19"/>
          <p:cNvSpPr/>
          <p:nvPr/>
        </p:nvSpPr>
        <p:spPr>
          <a:xfrm>
            <a:off x="7178040" y="3300984"/>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346704"/>
            <a:ext cx="1280160" cy="292608"/>
          </a:xfrm>
          <a:prstGeom prst="rect">
            <a:avLst/>
          </a:prstGeom>
          <a:noFill/>
        </p:spPr>
        <p:txBody>
          <a:bodyPr wrap="square">
            <a:spAutoFit/>
          </a:bodyPr>
          <a:lstStyle/>
          <a:p>
            <a:pPr algn="l"/>
            <a:r>
              <a:rPr sz="1000" b="1" i="0">
                <a:solidFill>
                  <a:srgbClr val="F5C518"/>
                </a:solidFill>
              </a:rPr>
              <a:t>Pipeline Gap</a:t>
            </a:r>
          </a:p>
        </p:txBody>
      </p:sp>
      <p:sp>
        <p:nvSpPr>
          <p:cNvPr id="22" name="TextBox 21"/>
          <p:cNvSpPr txBox="1"/>
          <p:nvPr/>
        </p:nvSpPr>
        <p:spPr>
          <a:xfrm>
            <a:off x="8686800" y="3346704"/>
            <a:ext cx="3291840" cy="594360"/>
          </a:xfrm>
          <a:prstGeom prst="rect">
            <a:avLst/>
          </a:prstGeom>
          <a:noFill/>
        </p:spPr>
        <p:txBody>
          <a:bodyPr wrap="square">
            <a:spAutoFit/>
          </a:bodyPr>
          <a:lstStyle/>
          <a:p>
            <a:pPr algn="l"/>
            <a:r>
              <a:rPr sz="1100" b="0" i="0">
                <a:solidFill>
                  <a:srgbClr val="C8D4EE"/>
                </a:solidFill>
              </a:rPr>
              <a:t>Investor and seller follow-up sequences across 60-90 day window</a:t>
            </a:r>
          </a:p>
        </p:txBody>
      </p:sp>
      <p:sp>
        <p:nvSpPr>
          <p:cNvPr id="23" name="Rectangle 22"/>
          <p:cNvSpPr/>
          <p:nvPr/>
        </p:nvSpPr>
        <p:spPr>
          <a:xfrm>
            <a:off x="7178040" y="4105656"/>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4151376"/>
            <a:ext cx="1280160" cy="292608"/>
          </a:xfrm>
          <a:prstGeom prst="rect">
            <a:avLst/>
          </a:prstGeom>
          <a:noFill/>
        </p:spPr>
        <p:txBody>
          <a:bodyPr wrap="square">
            <a:spAutoFit/>
          </a:bodyPr>
          <a:lstStyle/>
          <a:p>
            <a:pPr algn="l"/>
            <a:r>
              <a:rPr sz="1000" b="1" i="0">
                <a:solidFill>
                  <a:srgbClr val="F5C518"/>
                </a:solidFill>
              </a:rPr>
              <a:t>Presence Gap</a:t>
            </a:r>
          </a:p>
        </p:txBody>
      </p:sp>
      <p:sp>
        <p:nvSpPr>
          <p:cNvPr id="25" name="TextBox 24"/>
          <p:cNvSpPr txBox="1"/>
          <p:nvPr/>
        </p:nvSpPr>
        <p:spPr>
          <a:xfrm>
            <a:off x="8686800" y="4151376"/>
            <a:ext cx="3291840" cy="594360"/>
          </a:xfrm>
          <a:prstGeom prst="rect">
            <a:avLst/>
          </a:prstGeom>
          <a:noFill/>
        </p:spPr>
        <p:txBody>
          <a:bodyPr wrap="square">
            <a:spAutoFit/>
          </a:bodyPr>
          <a:lstStyle/>
          <a:p>
            <a:pPr algn="l"/>
            <a:r>
              <a:rPr sz="1100" b="0" i="0">
                <a:solidFill>
                  <a:srgbClr val="C8D4EE"/>
                </a:solidFill>
              </a:rPr>
              <a:t>Content layer + SEO for family office Munich and M&amp;A advisory keywords</a:t>
            </a:r>
          </a:p>
        </p:txBody>
      </p:sp>
      <p:sp>
        <p:nvSpPr>
          <p:cNvPr id="26" name="Rectangle 25"/>
          <p:cNvSpPr/>
          <p:nvPr/>
        </p:nvSpPr>
        <p:spPr>
          <a:xfrm>
            <a:off x="7178040" y="4910328"/>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956048"/>
            <a:ext cx="1280160" cy="292608"/>
          </a:xfrm>
          <a:prstGeom prst="rect">
            <a:avLst/>
          </a:prstGeom>
          <a:noFill/>
        </p:spPr>
        <p:txBody>
          <a:bodyPr wrap="square">
            <a:spAutoFit/>
          </a:bodyPr>
          <a:lstStyle/>
          <a:p>
            <a:pPr algn="l"/>
            <a:r>
              <a:rPr sz="1000" b="1" i="0">
                <a:solidFill>
                  <a:srgbClr val="F5C518"/>
                </a:solidFill>
              </a:rPr>
              <a:t>Contact Intelligence</a:t>
            </a:r>
          </a:p>
        </p:txBody>
      </p:sp>
      <p:sp>
        <p:nvSpPr>
          <p:cNvPr id="28" name="TextBox 27"/>
          <p:cNvSpPr txBox="1"/>
          <p:nvPr/>
        </p:nvSpPr>
        <p:spPr>
          <a:xfrm>
            <a:off x="8686800" y="4956048"/>
            <a:ext cx="3291840" cy="594360"/>
          </a:xfrm>
          <a:prstGeom prst="rect">
            <a:avLst/>
          </a:prstGeom>
          <a:noFill/>
        </p:spPr>
        <p:txBody>
          <a:bodyPr wrap="square">
            <a:spAutoFit/>
          </a:bodyPr>
          <a:lstStyle/>
          <a:p>
            <a:pPr algn="l"/>
            <a:r>
              <a:rPr sz="1100" b="0" i="0">
                <a:solidFill>
                  <a:srgbClr val="C8D4EE"/>
                </a:solidFill>
              </a:rPr>
              <a:t>CRM pipeline view - relationship stage visible at a glance</a:t>
            </a:r>
          </a:p>
        </p:txBody>
      </p:sp>
      <p:sp>
        <p:nvSpPr>
          <p:cNvPr id="29" name="Rectangle 28"/>
          <p:cNvSpPr/>
          <p:nvPr/>
        </p:nvSpPr>
        <p:spPr>
          <a:xfrm>
            <a:off x="7178040" y="571500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5760720"/>
            <a:ext cx="1280160" cy="292608"/>
          </a:xfrm>
          <a:prstGeom prst="rect">
            <a:avLst/>
          </a:prstGeom>
          <a:noFill/>
        </p:spPr>
        <p:txBody>
          <a:bodyPr wrap="square">
            <a:spAutoFit/>
          </a:bodyPr>
          <a:lstStyle/>
          <a:p>
            <a:pPr algn="l"/>
            <a:r>
              <a:rPr sz="1000" b="1" i="0">
                <a:solidFill>
                  <a:srgbClr val="F5C518"/>
                </a:solidFill>
              </a:rPr>
              <a:t>WhiteWill Bridge</a:t>
            </a:r>
          </a:p>
        </p:txBody>
      </p:sp>
      <p:sp>
        <p:nvSpPr>
          <p:cNvPr id="31" name="TextBox 30"/>
          <p:cNvSpPr txBox="1"/>
          <p:nvPr/>
        </p:nvSpPr>
        <p:spPr>
          <a:xfrm>
            <a:off x="8686800" y="5760720"/>
            <a:ext cx="3291840" cy="594360"/>
          </a:xfrm>
          <a:prstGeom prst="rect">
            <a:avLst/>
          </a:prstGeom>
          <a:noFill/>
        </p:spPr>
        <p:txBody>
          <a:bodyPr wrap="square">
            <a:spAutoFit/>
          </a:bodyPr>
          <a:lstStyle/>
          <a:p>
            <a:pPr algn="l"/>
            <a:r>
              <a:rPr sz="1100" b="0" i="0">
                <a:solidFill>
                  <a:srgbClr val="C8D4EE"/>
                </a:solidFill>
              </a:rPr>
              <a:t>90-day proof point ready to take to Oleg Torbosov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