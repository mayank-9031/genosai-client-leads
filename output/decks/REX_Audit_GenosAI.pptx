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6552"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0" y="365760"/>
            <a:ext cx="3200400" cy="731520"/>
          </a:xfrm>
          <a:prstGeom prst="rect">
            <a:avLst/>
          </a:prstGeom>
          <a:noFill/>
        </p:spPr>
        <p:txBody>
          <a:bodyPr wrap="square">
            <a:spAutoFit/>
          </a:bodyPr>
          <a:lstStyle/>
          <a:p>
            <a:pPr algn="r"/>
            <a:r>
              <a:rPr sz="2800" b="1" i="0">
                <a:solidFill>
                  <a:srgbClr val="4F8EFF"/>
                </a:solidFill>
              </a:rPr>
              <a:t>GENOS AI</a:t>
            </a:r>
          </a:p>
        </p:txBody>
      </p:sp>
      <p:sp>
        <p:nvSpPr>
          <p:cNvPr id="6" name="TextBox 5"/>
          <p:cNvSpPr txBox="1"/>
          <p:nvPr/>
        </p:nvSpPr>
        <p:spPr>
          <a:xfrm>
            <a:off x="8412480" y="960120"/>
            <a:ext cx="3200400" cy="457200"/>
          </a:xfrm>
          <a:prstGeom prst="rect">
            <a:avLst/>
          </a:prstGeom>
          <a:noFill/>
        </p:spPr>
        <p:txBody>
          <a:bodyPr wrap="square">
            <a:spAutoFit/>
          </a:bodyPr>
          <a:lstStyle/>
          <a:p>
            <a:pPr algn="r"/>
            <a:r>
              <a:rPr sz="1200" b="0" i="0">
                <a:solidFill>
                  <a:srgbClr val="8A9BBB"/>
                </a:solidFill>
              </a:rPr>
              <a:t>www.genosai.tech</a:t>
            </a:r>
          </a:p>
        </p:txBody>
      </p:sp>
      <p:sp>
        <p:nvSpPr>
          <p:cNvPr id="7" name="TextBox 6"/>
          <p:cNvSpPr txBox="1"/>
          <p:nvPr/>
        </p:nvSpPr>
        <p:spPr>
          <a:xfrm>
            <a:off x="502920" y="1463040"/>
            <a:ext cx="8229600" cy="548640"/>
          </a:xfrm>
          <a:prstGeom prst="rect">
            <a:avLst/>
          </a:prstGeom>
          <a:noFill/>
        </p:spPr>
        <p:txBody>
          <a:bodyPr wrap="square">
            <a:spAutoFit/>
          </a:bodyPr>
          <a:lstStyle/>
          <a:p>
            <a:pPr algn="l"/>
            <a:r>
              <a:rPr sz="1300" b="0" i="0">
                <a:solidFill>
                  <a:srgbClr val="4F8EFF"/>
                </a:solidFill>
              </a:rPr>
              <a:t>REX COMPANIES / REX.COM</a:t>
            </a:r>
          </a:p>
        </p:txBody>
      </p:sp>
      <p:sp>
        <p:nvSpPr>
          <p:cNvPr id="8" name="TextBox 7"/>
          <p:cNvSpPr txBox="1"/>
          <p:nvPr/>
        </p:nvSpPr>
        <p:spPr>
          <a:xfrm>
            <a:off x="502920" y="1920240"/>
            <a:ext cx="8229600" cy="1645920"/>
          </a:xfrm>
          <a:prstGeom prst="rect">
            <a:avLst/>
          </a:prstGeom>
          <a:noFill/>
        </p:spPr>
        <p:txBody>
          <a:bodyPr wrap="square">
            <a:spAutoFit/>
          </a:bodyPr>
          <a:lstStyle/>
          <a:p>
            <a:pPr algn="l"/>
            <a:r>
              <a:rPr sz="4800" b="1" i="0">
                <a:solidFill>
                  <a:srgbClr val="FFFFFF"/>
                </a:solidFill>
              </a:rPr>
              <a:t>Website &amp; AI Growth
Audit Report</a:t>
            </a:r>
          </a:p>
        </p:txBody>
      </p:sp>
      <p:sp>
        <p:nvSpPr>
          <p:cNvPr id="9" name="Rectangle 8"/>
          <p:cNvSpPr/>
          <p:nvPr/>
        </p:nvSpPr>
        <p:spPr>
          <a:xfrm>
            <a:off x="502920" y="3520440"/>
            <a:ext cx="27432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94760"/>
            <a:ext cx="8229600" cy="457200"/>
          </a:xfrm>
          <a:prstGeom prst="rect">
            <a:avLst/>
          </a:prstGeom>
          <a:noFill/>
        </p:spPr>
        <p:txBody>
          <a:bodyPr wrap="square">
            <a:spAutoFit/>
          </a:bodyPr>
          <a:lstStyle/>
          <a:p>
            <a:pPr algn="l"/>
            <a:r>
              <a:rPr sz="1400" b="0" i="0">
                <a:solidFill>
                  <a:srgbClr val="C8D4EE"/>
                </a:solidFill>
              </a:rPr>
              <a:t>Prepared exclusively for Peter Rex, Founder &amp; CEO</a:t>
            </a:r>
          </a:p>
        </p:txBody>
      </p:sp>
      <p:sp>
        <p:nvSpPr>
          <p:cNvPr id="11" name="Rectangle 10"/>
          <p:cNvSpPr/>
          <p:nvPr/>
        </p:nvSpPr>
        <p:spPr>
          <a:xfrm>
            <a:off x="0" y="5943600"/>
            <a:ext cx="12188952"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035040"/>
            <a:ext cx="8229600" cy="457200"/>
          </a:xfrm>
          <a:prstGeom prst="rect">
            <a:avLst/>
          </a:prstGeom>
          <a:noFill/>
        </p:spPr>
        <p:txBody>
          <a:bodyPr wrap="square">
            <a:spAutoFit/>
          </a:bodyPr>
          <a:lstStyle/>
          <a:p>
            <a:pPr algn="l"/>
            <a:r>
              <a:rPr sz="1200" b="0" i="0">
                <a:solidFill>
                  <a:srgbClr val="8A9BBB"/>
                </a:solidFill>
              </a:rPr>
              <a:t>Rohan Malik  |  CEO, Genos AI  |  hello@genosai.tech  |  +91 638-714-2699</a:t>
            </a:r>
          </a:p>
        </p:txBody>
      </p:sp>
      <p:sp>
        <p:nvSpPr>
          <p:cNvPr id="13" name="TextBox 12"/>
          <p:cNvSpPr txBox="1"/>
          <p:nvPr/>
        </p:nvSpPr>
        <p:spPr>
          <a:xfrm>
            <a:off x="8686800" y="6035040"/>
            <a:ext cx="3017520" cy="457200"/>
          </a:xfrm>
          <a:prstGeom prst="rect">
            <a:avLst/>
          </a:prstGeom>
          <a:noFill/>
        </p:spPr>
        <p:txBody>
          <a:bodyPr wrap="square">
            <a:spAutoFit/>
          </a:bodyPr>
          <a:lstStyle/>
          <a:p>
            <a:pPr algn="r"/>
            <a:r>
              <a:rPr sz="1200" b="0" i="0">
                <a:solidFill>
                  <a:srgbClr val="8A9BBB"/>
                </a:solidFill>
              </a:rPr>
              <a:t>May 2026  |  CONFIDENTIAL</a:t>
            </a:r>
          </a:p>
        </p:txBody>
      </p:sp>
      <p:sp>
        <p:nvSpPr>
          <p:cNvPr id="14" name="Rectangle 13"/>
          <p:cNvSpPr/>
          <p:nvPr/>
        </p:nvSpPr>
        <p:spPr>
          <a:xfrm>
            <a:off x="9601200" y="3017520"/>
            <a:ext cx="2103120" cy="2286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3108960"/>
            <a:ext cx="2011680" cy="457200"/>
          </a:xfrm>
          <a:prstGeom prst="rect">
            <a:avLst/>
          </a:prstGeom>
          <a:noFill/>
        </p:spPr>
        <p:txBody>
          <a:bodyPr wrap="square">
            <a:spAutoFit/>
          </a:bodyPr>
          <a:lstStyle/>
          <a:p>
            <a:pPr algn="ctr"/>
            <a:r>
              <a:rPr sz="1100" b="1" i="0">
                <a:solidFill>
                  <a:srgbClr val="8A9BBB"/>
                </a:solidFill>
              </a:rPr>
              <a:t>AUDIT SCORE</a:t>
            </a:r>
          </a:p>
        </p:txBody>
      </p:sp>
      <p:sp>
        <p:nvSpPr>
          <p:cNvPr id="16" name="TextBox 15"/>
          <p:cNvSpPr txBox="1"/>
          <p:nvPr/>
        </p:nvSpPr>
        <p:spPr>
          <a:xfrm>
            <a:off x="9646920" y="3429000"/>
            <a:ext cx="2011680" cy="1005840"/>
          </a:xfrm>
          <a:prstGeom prst="rect">
            <a:avLst/>
          </a:prstGeom>
          <a:noFill/>
        </p:spPr>
        <p:txBody>
          <a:bodyPr wrap="square">
            <a:spAutoFit/>
          </a:bodyPr>
          <a:lstStyle/>
          <a:p>
            <a:pPr algn="ctr"/>
            <a:r>
              <a:rPr sz="7200" b="1" i="0">
                <a:solidFill>
                  <a:srgbClr val="F5C518"/>
                </a:solidFill>
              </a:rPr>
              <a:t>5</a:t>
            </a:r>
          </a:p>
        </p:txBody>
      </p:sp>
      <p:sp>
        <p:nvSpPr>
          <p:cNvPr id="17" name="TextBox 16"/>
          <p:cNvSpPr txBox="1"/>
          <p:nvPr/>
        </p:nvSpPr>
        <p:spPr>
          <a:xfrm>
            <a:off x="9646920" y="4297680"/>
            <a:ext cx="2011680" cy="365760"/>
          </a:xfrm>
          <a:prstGeom prst="rect">
            <a:avLst/>
          </a:prstGeom>
          <a:noFill/>
        </p:spPr>
        <p:txBody>
          <a:bodyPr wrap="square">
            <a:spAutoFit/>
          </a:bodyPr>
          <a:lstStyle/>
          <a:p>
            <a:pPr algn="ctr"/>
            <a:r>
              <a:rPr sz="1800" b="0" i="0">
                <a:solidFill>
                  <a:srgbClr val="C8D4EE"/>
                </a:solidFill>
              </a:rPr>
              <a:t>/ 10</a:t>
            </a:r>
          </a:p>
        </p:txBody>
      </p:sp>
      <p:sp>
        <p:nvSpPr>
          <p:cNvPr id="18" name="Oval 17"/>
          <p:cNvSpPr/>
          <p:nvPr/>
        </p:nvSpPr>
        <p:spPr>
          <a:xfrm>
            <a:off x="9829800" y="4663440"/>
            <a:ext cx="161391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HIGH PRIORITY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AT A GLANCE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Peter Rex — Who He Is</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83080"/>
            <a:ext cx="1920240" cy="1005840"/>
          </a:xfrm>
          <a:prstGeom prst="rect">
            <a:avLst/>
          </a:prstGeom>
          <a:noFill/>
        </p:spPr>
        <p:txBody>
          <a:bodyPr wrap="square">
            <a:spAutoFit/>
          </a:bodyPr>
          <a:lstStyle/>
          <a:p>
            <a:pPr algn="ctr"/>
            <a:r>
              <a:rPr sz="2800" b="1" i="0">
                <a:solidFill>
                  <a:srgbClr val="F5C518"/>
                </a:solidFill>
              </a:rPr>
              <a:t>19,000+</a:t>
            </a:r>
          </a:p>
        </p:txBody>
      </p:sp>
      <p:sp>
        <p:nvSpPr>
          <p:cNvPr id="9" name="TextBox 8"/>
          <p:cNvSpPr txBox="1"/>
          <p:nvPr/>
        </p:nvSpPr>
        <p:spPr>
          <a:xfrm>
            <a:off x="594360" y="2788920"/>
            <a:ext cx="1920240" cy="640080"/>
          </a:xfrm>
          <a:prstGeom prst="rect">
            <a:avLst/>
          </a:prstGeom>
          <a:noFill/>
        </p:spPr>
        <p:txBody>
          <a:bodyPr wrap="square">
            <a:spAutoFit/>
          </a:bodyPr>
          <a:lstStyle/>
          <a:p>
            <a:pPr algn="ctr"/>
            <a:r>
              <a:rPr sz="1200" b="0" i="0">
                <a:solidFill>
                  <a:srgbClr val="C8D4EE"/>
                </a:solidFill>
              </a:rPr>
              <a:t>Apartments Managed</a:t>
            </a:r>
          </a:p>
        </p:txBody>
      </p:sp>
      <p:sp>
        <p:nvSpPr>
          <p:cNvPr id="10" name="Rectangle 9"/>
          <p:cNvSpPr/>
          <p:nvPr/>
        </p:nvSpPr>
        <p:spPr>
          <a:xfrm>
            <a:off x="2770632"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62072" y="1783080"/>
            <a:ext cx="1920240" cy="1005840"/>
          </a:xfrm>
          <a:prstGeom prst="rect">
            <a:avLst/>
          </a:prstGeom>
          <a:noFill/>
        </p:spPr>
        <p:txBody>
          <a:bodyPr wrap="square">
            <a:spAutoFit/>
          </a:bodyPr>
          <a:lstStyle/>
          <a:p>
            <a:pPr algn="ctr"/>
            <a:r>
              <a:rPr sz="2800" b="1" i="0">
                <a:solidFill>
                  <a:srgbClr val="F5C518"/>
                </a:solidFill>
              </a:rPr>
              <a:t>$5B+</a:t>
            </a:r>
          </a:p>
        </p:txBody>
      </p:sp>
      <p:sp>
        <p:nvSpPr>
          <p:cNvPr id="12" name="TextBox 11"/>
          <p:cNvSpPr txBox="1"/>
          <p:nvPr/>
        </p:nvSpPr>
        <p:spPr>
          <a:xfrm>
            <a:off x="2862072" y="2788920"/>
            <a:ext cx="1920240" cy="640080"/>
          </a:xfrm>
          <a:prstGeom prst="rect">
            <a:avLst/>
          </a:prstGeom>
          <a:noFill/>
        </p:spPr>
        <p:txBody>
          <a:bodyPr wrap="square">
            <a:spAutoFit/>
          </a:bodyPr>
          <a:lstStyle/>
          <a:p>
            <a:pPr algn="ctr"/>
            <a:r>
              <a:rPr sz="1200" b="0" i="0">
                <a:solidFill>
                  <a:srgbClr val="C8D4EE"/>
                </a:solidFill>
              </a:rPr>
              <a:t>Assets Under Management</a:t>
            </a:r>
          </a:p>
        </p:txBody>
      </p:sp>
      <p:sp>
        <p:nvSpPr>
          <p:cNvPr id="13" name="Rectangle 12"/>
          <p:cNvSpPr/>
          <p:nvPr/>
        </p:nvSpPr>
        <p:spPr>
          <a:xfrm>
            <a:off x="5038344"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9784" y="1783080"/>
            <a:ext cx="1920240" cy="1005840"/>
          </a:xfrm>
          <a:prstGeom prst="rect">
            <a:avLst/>
          </a:prstGeom>
          <a:noFill/>
        </p:spPr>
        <p:txBody>
          <a:bodyPr wrap="square">
            <a:spAutoFit/>
          </a:bodyPr>
          <a:lstStyle/>
          <a:p>
            <a:pPr algn="ctr"/>
            <a:r>
              <a:rPr sz="2800" b="1" i="0">
                <a:solidFill>
                  <a:srgbClr val="F5C518"/>
                </a:solidFill>
              </a:rPr>
              <a:t>10</a:t>
            </a:r>
          </a:p>
        </p:txBody>
      </p:sp>
      <p:sp>
        <p:nvSpPr>
          <p:cNvPr id="15" name="TextBox 14"/>
          <p:cNvSpPr txBox="1"/>
          <p:nvPr/>
        </p:nvSpPr>
        <p:spPr>
          <a:xfrm>
            <a:off x="5129784" y="2788920"/>
            <a:ext cx="1920240" cy="640080"/>
          </a:xfrm>
          <a:prstGeom prst="rect">
            <a:avLst/>
          </a:prstGeom>
          <a:noFill/>
        </p:spPr>
        <p:txBody>
          <a:bodyPr wrap="square">
            <a:spAutoFit/>
          </a:bodyPr>
          <a:lstStyle/>
          <a:p>
            <a:pPr algn="ctr"/>
            <a:r>
              <a:rPr sz="1200" b="0" i="0">
                <a:solidFill>
                  <a:srgbClr val="C8D4EE"/>
                </a:solidFill>
              </a:rPr>
              <a:t>AI Tech Companies</a:t>
            </a:r>
          </a:p>
        </p:txBody>
      </p:sp>
      <p:sp>
        <p:nvSpPr>
          <p:cNvPr id="16" name="Rectangle 15"/>
          <p:cNvSpPr/>
          <p:nvPr/>
        </p:nvSpPr>
        <p:spPr>
          <a:xfrm>
            <a:off x="7306056"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7496" y="1783080"/>
            <a:ext cx="1920240" cy="1005840"/>
          </a:xfrm>
          <a:prstGeom prst="rect">
            <a:avLst/>
          </a:prstGeom>
          <a:noFill/>
        </p:spPr>
        <p:txBody>
          <a:bodyPr wrap="square">
            <a:spAutoFit/>
          </a:bodyPr>
          <a:lstStyle/>
          <a:p>
            <a:pPr algn="ctr"/>
            <a:r>
              <a:rPr sz="2800" b="1" i="0">
                <a:solidFill>
                  <a:srgbClr val="F5C518"/>
                </a:solidFill>
              </a:rPr>
              <a:t>9</a:t>
            </a:r>
          </a:p>
        </p:txBody>
      </p:sp>
      <p:sp>
        <p:nvSpPr>
          <p:cNvPr id="18" name="TextBox 17"/>
          <p:cNvSpPr txBox="1"/>
          <p:nvPr/>
        </p:nvSpPr>
        <p:spPr>
          <a:xfrm>
            <a:off x="7397496" y="2788920"/>
            <a:ext cx="1920240" cy="640080"/>
          </a:xfrm>
          <a:prstGeom prst="rect">
            <a:avLst/>
          </a:prstGeom>
          <a:noFill/>
        </p:spPr>
        <p:txBody>
          <a:bodyPr wrap="square">
            <a:spAutoFit/>
          </a:bodyPr>
          <a:lstStyle/>
          <a:p>
            <a:pPr algn="ctr"/>
            <a:r>
              <a:rPr sz="1200" b="0" i="0">
                <a:solidFill>
                  <a:srgbClr val="C8D4EE"/>
                </a:solidFill>
              </a:rPr>
              <a:t>Patents Pending</a:t>
            </a:r>
          </a:p>
        </p:txBody>
      </p:sp>
      <p:sp>
        <p:nvSpPr>
          <p:cNvPr id="19" name="Rectangle 18"/>
          <p:cNvSpPr/>
          <p:nvPr/>
        </p:nvSpPr>
        <p:spPr>
          <a:xfrm>
            <a:off x="9573768"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65208" y="1783080"/>
            <a:ext cx="1920240" cy="1005840"/>
          </a:xfrm>
          <a:prstGeom prst="rect">
            <a:avLst/>
          </a:prstGeom>
          <a:noFill/>
        </p:spPr>
        <p:txBody>
          <a:bodyPr wrap="square">
            <a:spAutoFit/>
          </a:bodyPr>
          <a:lstStyle/>
          <a:p>
            <a:pPr algn="ctr"/>
            <a:r>
              <a:rPr sz="2800" b="1" i="0">
                <a:solidFill>
                  <a:srgbClr val="F5C518"/>
                </a:solidFill>
              </a:rPr>
              <a:t>AI R&amp;D
2017</a:t>
            </a:r>
          </a:p>
        </p:txBody>
      </p:sp>
      <p:sp>
        <p:nvSpPr>
          <p:cNvPr id="21" name="TextBox 20"/>
          <p:cNvSpPr txBox="1"/>
          <p:nvPr/>
        </p:nvSpPr>
        <p:spPr>
          <a:xfrm>
            <a:off x="9665208" y="2788920"/>
            <a:ext cx="1920240" cy="640080"/>
          </a:xfrm>
          <a:prstGeom prst="rect">
            <a:avLst/>
          </a:prstGeom>
          <a:noFill/>
        </p:spPr>
        <p:txBody>
          <a:bodyPr wrap="square">
            <a:spAutoFit/>
          </a:bodyPr>
          <a:lstStyle/>
          <a:p>
            <a:pPr algn="ctr"/>
            <a:r>
              <a:rPr sz="1200" b="0" i="0">
                <a:solidFill>
                  <a:srgbClr val="C8D4EE"/>
                </a:solidFill>
              </a:rPr>
              <a:t>Early Mover in PropTech</a:t>
            </a:r>
          </a:p>
        </p:txBody>
      </p:sp>
      <p:sp>
        <p:nvSpPr>
          <p:cNvPr id="22" name="Rectangle 21"/>
          <p:cNvSpPr/>
          <p:nvPr/>
        </p:nvSpPr>
        <p:spPr>
          <a:xfrm>
            <a:off x="502920" y="3840480"/>
            <a:ext cx="11183112" cy="548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913632"/>
            <a:ext cx="10972800" cy="411480"/>
          </a:xfrm>
          <a:prstGeom prst="rect">
            <a:avLst/>
          </a:prstGeom>
          <a:noFill/>
        </p:spPr>
        <p:txBody>
          <a:bodyPr wrap="square">
            <a:spAutoFit/>
          </a:bodyPr>
          <a:lstStyle/>
          <a:p>
            <a:pPr algn="ctr"/>
            <a:r>
              <a:rPr sz="1200" b="0" i="0">
                <a:solidFill>
                  <a:srgbClr val="C8D4EE"/>
                </a:solidFill>
              </a:rPr>
              <a:t>Georgetown BA (Philosophy/Govt)  ·  Harvard Law JD  ·  CPA  ·  Austin TX  ·  WSJ Op-Ed 2020  ·  600+ Teammates  ·  19 Metros  ·  6 States</a:t>
            </a:r>
          </a:p>
        </p:txBody>
      </p:sp>
      <p:sp>
        <p:nvSpPr>
          <p:cNvPr id="24" name="TextBox 23"/>
          <p:cNvSpPr txBox="1"/>
          <p:nvPr/>
        </p:nvSpPr>
        <p:spPr>
          <a:xfrm>
            <a:off x="502920" y="4572000"/>
            <a:ext cx="5303520" cy="320040"/>
          </a:xfrm>
          <a:prstGeom prst="rect">
            <a:avLst/>
          </a:prstGeom>
          <a:noFill/>
        </p:spPr>
        <p:txBody>
          <a:bodyPr wrap="square">
            <a:spAutoFit/>
          </a:bodyPr>
          <a:lstStyle/>
          <a:p>
            <a:pPr algn="l"/>
            <a:r>
              <a:rPr sz="1100" b="1" i="0">
                <a:solidFill>
                  <a:srgbClr val="4F8EFF"/>
                </a:solidFill>
              </a:rPr>
              <a:t>REX TECH COMPANIES</a:t>
            </a:r>
          </a:p>
        </p:txBody>
      </p:sp>
      <p:sp>
        <p:nvSpPr>
          <p:cNvPr id="25" name="TextBox 24"/>
          <p:cNvSpPr txBox="1"/>
          <p:nvPr/>
        </p:nvSpPr>
        <p:spPr>
          <a:xfrm>
            <a:off x="502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OwnProp (fractional tokenized real estate)</a:t>
            </a:r>
          </a:p>
          <a:p>
            <a:pPr algn="l">
              <a:spcAft>
                <a:spcPts val="600"/>
              </a:spcAft>
            </a:pPr>
            <a:r>
              <a:rPr sz="1100"/>
              <a:t>  </a:t>
            </a:r>
            <a:r>
              <a:rPr sz="1100" b="1">
                <a:solidFill>
                  <a:srgbClr val="4F8EFF"/>
                </a:solidFill>
              </a:rPr>
              <a:t>• </a:t>
            </a:r>
            <a:r>
              <a:rPr sz="1300">
                <a:solidFill>
                  <a:srgbClr val="C8D4EE"/>
                </a:solidFill>
              </a:rPr>
              <a:t>GetDone (maintenance AI/ML)</a:t>
            </a:r>
          </a:p>
          <a:p>
            <a:pPr algn="l"/>
            <a:r>
              <a:rPr sz="1100"/>
              <a:t>  </a:t>
            </a:r>
            <a:r>
              <a:rPr sz="1100" b="1">
                <a:solidFill>
                  <a:srgbClr val="4F8EFF"/>
                </a:solidFill>
              </a:rPr>
              <a:t>• </a:t>
            </a:r>
            <a:r>
              <a:rPr sz="1300">
                <a:solidFill>
                  <a:srgbClr val="C8D4EE"/>
                </a:solidFill>
              </a:rPr>
              <a:t>PayUp, SmartFuse, PropData, InsurePro + 4 more</a:t>
            </a:r>
          </a:p>
        </p:txBody>
      </p:sp>
      <p:sp>
        <p:nvSpPr>
          <p:cNvPr id="26" name="TextBox 25"/>
          <p:cNvSpPr txBox="1"/>
          <p:nvPr/>
        </p:nvSpPr>
        <p:spPr>
          <a:xfrm>
            <a:off x="6217920" y="4572000"/>
            <a:ext cx="5303520" cy="320040"/>
          </a:xfrm>
          <a:prstGeom prst="rect">
            <a:avLst/>
          </a:prstGeom>
          <a:noFill/>
        </p:spPr>
        <p:txBody>
          <a:bodyPr wrap="square">
            <a:spAutoFit/>
          </a:bodyPr>
          <a:lstStyle/>
          <a:p>
            <a:pPr algn="l"/>
            <a:r>
              <a:rPr sz="1100" b="1" i="0">
                <a:solidFill>
                  <a:srgbClr val="4F8EFF"/>
                </a:solidFill>
              </a:rPr>
              <a:t>REAL ESTATE PORTFOLIO</a:t>
            </a:r>
          </a:p>
        </p:txBody>
      </p:sp>
      <p:sp>
        <p:nvSpPr>
          <p:cNvPr id="27" name="TextBox 26"/>
          <p:cNvSpPr txBox="1"/>
          <p:nvPr/>
        </p:nvSpPr>
        <p:spPr>
          <a:xfrm>
            <a:off x="6217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19,000 apartments — Sun Belt + Mountain West</a:t>
            </a:r>
          </a:p>
          <a:p>
            <a:pPr algn="l">
              <a:spcAft>
                <a:spcPts val="600"/>
              </a:spcAft>
            </a:pPr>
            <a:r>
              <a:rPr sz="1100"/>
              <a:t>  </a:t>
            </a:r>
            <a:r>
              <a:rPr sz="1100" b="1">
                <a:solidFill>
                  <a:srgbClr val="4F8EFF"/>
                </a:solidFill>
              </a:rPr>
              <a:t>• </a:t>
            </a:r>
            <a:r>
              <a:rPr sz="1300">
                <a:solidFill>
                  <a:srgbClr val="C8D4EE"/>
                </a:solidFill>
              </a:rPr>
              <a:t>Hotel Ella + Arena Hall (Austin)</a:t>
            </a:r>
          </a:p>
          <a:p>
            <a:pPr algn="l"/>
            <a:r>
              <a:rPr sz="1100"/>
              <a:t>  </a:t>
            </a:r>
            <a:r>
              <a:rPr sz="1100" b="1">
                <a:solidFill>
                  <a:srgbClr val="4F8EFF"/>
                </a:solidFill>
              </a:rPr>
              <a:t>• </a:t>
            </a:r>
            <a:r>
              <a:rPr sz="1300">
                <a:solidFill>
                  <a:srgbClr val="C8D4EE"/>
                </a:solidFill>
              </a:rPr>
              <a:t>Office space — Dallas and Austin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WHAT'S WORKING</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Strengths to Build On</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Genuine AI Infrastructure Since 2017</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Peter started AI R&amp;D in 2017 - before most real estate firms had even heard of machine learning. Nine pending patents and NLP/ML solutions powering active products means Rex isn't talking about AI, they're shipping it.</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10 Revenue-Generating Tech Companies</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OwnProp, GetDone, PayUp, SmartFuse, PropData, InsurePro - all mobile-first, API-driven, AI-leveraged, all generating revenue. This is a tech holding company, not a landlord with a website.</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Vertically Integrated at Scale</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Investment, asset management, property management, construction, and tech under one roof across 19 metros. Most operators at this scale have fragmented their stack. Rex owns it end to end.</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OwnProp First-Mover in Fractional Tokenized RE</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Fractional real estate is still early. OwnProp has a genuine first-mover advantage in a category where the incumbents (Fundrise, RealtyMogul) are not tech-native. The product infrastructure is ahead of the marketing funnel.</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Premium Brand Design - rex.com</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The website is clean, minimalist, and premium. It doesn't look like most real estate companies. That's a deliberate identity choice that works. The gap is functional depth, not visual design.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REVENUE LAYER GAPS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Tech Depth on Product Side. Not on the Revenue Side.</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8412480" cy="347472"/>
          </a:xfrm>
          <a:prstGeom prst="rect">
            <a:avLst/>
          </a:prstGeom>
          <a:noFill/>
        </p:spPr>
        <p:txBody>
          <a:bodyPr wrap="square">
            <a:spAutoFit/>
          </a:bodyPr>
          <a:lstStyle/>
          <a:p>
            <a:pPr algn="l"/>
            <a:r>
              <a:rPr sz="1300" b="1" i="0">
                <a:solidFill>
                  <a:srgbClr val="FFFFFF"/>
                </a:solidFill>
              </a:rPr>
              <a:t>INVESTMENT PAGE IS A BRAND DECK, NOT A FUNNEL</a:t>
            </a:r>
          </a:p>
        </p:txBody>
      </p:sp>
      <p:sp>
        <p:nvSpPr>
          <p:cNvPr id="9" name="Oval 8"/>
          <p:cNvSpPr/>
          <p:nvPr/>
        </p:nvSpPr>
        <p:spPr>
          <a:xfrm>
            <a:off x="9235440" y="160020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0" name="TextBox 9"/>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Rex.com/real-estate has no performance data, no fund structure, no team bios, no deal case studies. An accredited investor researching whether to wire money finds nothing concrete to act on. Greystar, Aimco, and Starwood all publish track records. Rex doesn't.</a:t>
            </a:r>
          </a:p>
        </p:txBody>
      </p:sp>
      <p:sp>
        <p:nvSpPr>
          <p:cNvPr id="11" name="Rectangle 10"/>
          <p:cNvSpPr/>
          <p:nvPr/>
        </p:nvSpPr>
        <p:spPr>
          <a:xfrm>
            <a:off x="502920" y="251460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514600"/>
            <a:ext cx="8412480" cy="347472"/>
          </a:xfrm>
          <a:prstGeom prst="rect">
            <a:avLst/>
          </a:prstGeom>
          <a:noFill/>
        </p:spPr>
        <p:txBody>
          <a:bodyPr wrap="square">
            <a:spAutoFit/>
          </a:bodyPr>
          <a:lstStyle/>
          <a:p>
            <a:pPr algn="l"/>
            <a:r>
              <a:rPr sz="1300" b="1" i="0">
                <a:solidFill>
                  <a:srgbClr val="FFFFFF"/>
                </a:solidFill>
              </a:rPr>
              <a:t>OWNPROP LACKS AN INVESTOR ACQUISITION FUNNEL</a:t>
            </a:r>
          </a:p>
        </p:txBody>
      </p:sp>
      <p:sp>
        <p:nvSpPr>
          <p:cNvPr id="13" name="Oval 12"/>
          <p:cNvSpPr/>
          <p:nvPr/>
        </p:nvSpPr>
        <p:spPr>
          <a:xfrm>
            <a:off x="9235440" y="256032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4" name="TextBox 13"/>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Fractional real estate has a longer consideration cycle than most products - investors typically research for weeks before committing. OwnProp needs education sequences, re-engagement flows, and content that moves prospects from awareness to first investment.</a:t>
            </a:r>
          </a:p>
        </p:txBody>
      </p:sp>
      <p:sp>
        <p:nvSpPr>
          <p:cNvPr id="15" name="Rectangle 14"/>
          <p:cNvSpPr/>
          <p:nvPr/>
        </p:nvSpPr>
        <p:spPr>
          <a:xfrm>
            <a:off x="502920" y="347472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474720"/>
            <a:ext cx="8412480" cy="347472"/>
          </a:xfrm>
          <a:prstGeom prst="rect">
            <a:avLst/>
          </a:prstGeom>
          <a:noFill/>
        </p:spPr>
        <p:txBody>
          <a:bodyPr wrap="square">
            <a:spAutoFit/>
          </a:bodyPr>
          <a:lstStyle/>
          <a:p>
            <a:pPr algn="l"/>
            <a:r>
              <a:rPr sz="1300" b="1" i="0">
                <a:solidFill>
                  <a:srgbClr val="FFFFFF"/>
                </a:solidFill>
              </a:rPr>
              <a:t>NO LEASING AUTOMATION AT PORTFOLIO SCALE</a:t>
            </a:r>
          </a:p>
        </p:txBody>
      </p:sp>
      <p:sp>
        <p:nvSpPr>
          <p:cNvPr id="17" name="Oval 16"/>
          <p:cNvSpPr/>
          <p:nvPr/>
        </p:nvSpPr>
        <p:spPr>
          <a:xfrm>
            <a:off x="9235440" y="352044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8" name="TextBox 17"/>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19,000 apartments across 19 metros means thousands of prospect touches monthly. Without automated follow-up, tour scheduling, post-tour nurtures, and renewal sequences, leads go cold between Friday PM and Monday AM. That's vacancy cost at scale.</a:t>
            </a:r>
          </a:p>
        </p:txBody>
      </p:sp>
      <p:sp>
        <p:nvSpPr>
          <p:cNvPr id="19" name="Rectangle 18"/>
          <p:cNvSpPr/>
          <p:nvPr/>
        </p:nvSpPr>
        <p:spPr>
          <a:xfrm>
            <a:off x="502920" y="4434840"/>
            <a:ext cx="54864" cy="64008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434840"/>
            <a:ext cx="8412480" cy="347472"/>
          </a:xfrm>
          <a:prstGeom prst="rect">
            <a:avLst/>
          </a:prstGeom>
          <a:noFill/>
        </p:spPr>
        <p:txBody>
          <a:bodyPr wrap="square">
            <a:spAutoFit/>
          </a:bodyPr>
          <a:lstStyle/>
          <a:p>
            <a:pPr algn="l"/>
            <a:r>
              <a:rPr sz="1300" b="1" i="0">
                <a:solidFill>
                  <a:srgbClr val="FFFFFF"/>
                </a:solidFill>
              </a:rPr>
              <a:t>NO LIVE CHAT ON REX.COM</a:t>
            </a:r>
          </a:p>
        </p:txBody>
      </p:sp>
      <p:sp>
        <p:nvSpPr>
          <p:cNvPr id="21" name="Oval 20"/>
          <p:cNvSpPr/>
          <p:nvPr/>
        </p:nvSpPr>
        <p:spPr>
          <a:xfrm>
            <a:off x="9235440" y="4480560"/>
            <a:ext cx="941832" cy="274320"/>
          </a:xfrm>
          <a:prstGeom prst="ellipse">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MEDIUM</a:t>
            </a:r>
          </a:p>
        </p:txBody>
      </p:sp>
      <p:sp>
        <p:nvSpPr>
          <p:cNvPr id="22" name="TextBox 21"/>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No chat widget anywhere on rex.com. Leasing prospects and potential investors who visit in the evening or on weekends have no real-time engagement path. GetDone handles maintenance. The front door doesn't have the same coverage.</a:t>
            </a:r>
          </a:p>
        </p:txBody>
      </p:sp>
      <p:sp>
        <p:nvSpPr>
          <p:cNvPr id="23" name="Rectangle 22"/>
          <p:cNvSpPr/>
          <p:nvPr/>
        </p:nvSpPr>
        <p:spPr>
          <a:xfrm>
            <a:off x="502920" y="5394960"/>
            <a:ext cx="54864" cy="64008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394960"/>
            <a:ext cx="8412480" cy="347472"/>
          </a:xfrm>
          <a:prstGeom prst="rect">
            <a:avLst/>
          </a:prstGeom>
          <a:noFill/>
        </p:spPr>
        <p:txBody>
          <a:bodyPr wrap="square">
            <a:spAutoFit/>
          </a:bodyPr>
          <a:lstStyle/>
          <a:p>
            <a:pPr algn="l"/>
            <a:r>
              <a:rPr sz="1300" b="1" i="0">
                <a:solidFill>
                  <a:srgbClr val="FFFFFF"/>
                </a:solidFill>
              </a:rPr>
              <a:t>RESIDENT RETENTION NOT VISIBLE IN DIGITAL LAYER</a:t>
            </a:r>
          </a:p>
        </p:txBody>
      </p:sp>
      <p:sp>
        <p:nvSpPr>
          <p:cNvPr id="25" name="Oval 24"/>
          <p:cNvSpPr/>
          <p:nvPr/>
        </p:nvSpPr>
        <p:spPr>
          <a:xfrm>
            <a:off x="9235440" y="5440680"/>
            <a:ext cx="941832" cy="274320"/>
          </a:xfrm>
          <a:prstGeom prst="ellipse">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MEDIUM</a:t>
            </a:r>
          </a:p>
        </p:txBody>
      </p:sp>
      <p:sp>
        <p:nvSpPr>
          <p:cNvPr id="26" name="TextBox 25"/>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With 19,000 units, even a 1% improvement in lease renewal rates is significant. Automated renewal sequences starting 90 days out, personalized by unit type, tenure, and market conditions, are table stakes at this portfolio scale.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A055FF"/>
                </a:solidFill>
              </a:rPr>
              <a:t>WEBSITE DESIGN AUDIT</a:t>
            </a:r>
          </a:p>
        </p:txBody>
      </p:sp>
      <p:sp>
        <p:nvSpPr>
          <p:cNvPr id="5" name="TextBox 4"/>
          <p:cNvSpPr txBox="1"/>
          <p:nvPr/>
        </p:nvSpPr>
        <p:spPr>
          <a:xfrm>
            <a:off x="502920" y="640080"/>
            <a:ext cx="10972800" cy="731520"/>
          </a:xfrm>
          <a:prstGeom prst="rect">
            <a:avLst/>
          </a:prstGeom>
          <a:noFill/>
        </p:spPr>
        <p:txBody>
          <a:bodyPr wrap="square">
            <a:spAutoFit/>
          </a:bodyPr>
          <a:lstStyle/>
          <a:p>
            <a:pPr algn="l"/>
            <a:r>
              <a:rPr sz="3400" b="1" i="0">
                <a:solidFill>
                  <a:srgbClr val="FFFFFF"/>
                </a:solidFill>
              </a:rPr>
              <a:t>Premium Brand. Investor Funnel Missing.</a:t>
            </a:r>
          </a:p>
        </p:txBody>
      </p:sp>
      <p:sp>
        <p:nvSpPr>
          <p:cNvPr id="6" name="Rectangle 5"/>
          <p:cNvSpPr/>
          <p:nvPr/>
        </p:nvSpPr>
        <p:spPr>
          <a:xfrm>
            <a:off x="502920" y="1325880"/>
            <a:ext cx="137160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37360"/>
            <a:ext cx="347472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37360"/>
            <a:ext cx="3474720" cy="38404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55648"/>
            <a:ext cx="3291840" cy="347472"/>
          </a:xfrm>
          <a:prstGeom prst="rect">
            <a:avLst/>
          </a:prstGeom>
          <a:noFill/>
        </p:spPr>
        <p:txBody>
          <a:bodyPr wrap="square">
            <a:spAutoFit/>
          </a:bodyPr>
          <a:lstStyle/>
          <a:p>
            <a:pPr algn="ctr"/>
            <a:r>
              <a:rPr sz="1100" b="1" i="0">
                <a:solidFill>
                  <a:srgbClr val="FFFFFF"/>
                </a:solidFill>
              </a:rPr>
              <a:t>REX.COM TODAY</a:t>
            </a:r>
          </a:p>
        </p:txBody>
      </p:sp>
      <p:sp>
        <p:nvSpPr>
          <p:cNvPr id="10" name="TextBox 9"/>
          <p:cNvSpPr txBox="1"/>
          <p:nvPr/>
        </p:nvSpPr>
        <p:spPr>
          <a:xfrm>
            <a:off x="640080" y="2212848"/>
            <a:ext cx="3291840" cy="265176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Brand deck, not investor conversion funnel</a:t>
            </a:r>
          </a:p>
          <a:p>
            <a:pPr algn="l">
              <a:spcAft>
                <a:spcPts val="600"/>
              </a:spcAft>
            </a:pPr>
            <a:r>
              <a:rPr sz="900"/>
              <a:t>  </a:t>
            </a:r>
            <a:r>
              <a:rPr sz="900" b="1">
                <a:solidFill>
                  <a:srgbClr val="FF4D4D"/>
                </a:solidFill>
              </a:rPr>
              <a:t>• </a:t>
            </a:r>
            <a:r>
              <a:rPr sz="1100">
                <a:solidFill>
                  <a:srgbClr val="C8D4EE"/>
                </a:solidFill>
              </a:rPr>
              <a:t>No performance data or returns history</a:t>
            </a:r>
          </a:p>
          <a:p>
            <a:pPr algn="l">
              <a:spcAft>
                <a:spcPts val="600"/>
              </a:spcAft>
            </a:pPr>
            <a:r>
              <a:rPr sz="900"/>
              <a:t>  </a:t>
            </a:r>
            <a:r>
              <a:rPr sz="900" b="1">
                <a:solidFill>
                  <a:srgbClr val="FF4D4D"/>
                </a:solidFill>
              </a:rPr>
              <a:t>• </a:t>
            </a:r>
            <a:r>
              <a:rPr sz="1100">
                <a:solidFill>
                  <a:srgbClr val="C8D4EE"/>
                </a:solidFill>
              </a:rPr>
              <a:t>No fund structure or investment minimums</a:t>
            </a:r>
          </a:p>
          <a:p>
            <a:pPr algn="l">
              <a:spcAft>
                <a:spcPts val="600"/>
              </a:spcAft>
            </a:pPr>
            <a:r>
              <a:rPr sz="900"/>
              <a:t>  </a:t>
            </a:r>
            <a:r>
              <a:rPr sz="900" b="1">
                <a:solidFill>
                  <a:srgbClr val="FF4D4D"/>
                </a:solidFill>
              </a:rPr>
              <a:t>• </a:t>
            </a:r>
            <a:r>
              <a:rPr sz="1100">
                <a:solidFill>
                  <a:srgbClr val="C8D4EE"/>
                </a:solidFill>
              </a:rPr>
              <a:t>No team bios beyond founder</a:t>
            </a:r>
          </a:p>
          <a:p>
            <a:pPr algn="l">
              <a:spcAft>
                <a:spcPts val="600"/>
              </a:spcAft>
            </a:pPr>
            <a:r>
              <a:rPr sz="900"/>
              <a:t>  </a:t>
            </a:r>
            <a:r>
              <a:rPr sz="900" b="1">
                <a:solidFill>
                  <a:srgbClr val="FF4D4D"/>
                </a:solidFill>
              </a:rPr>
              <a:t>• </a:t>
            </a:r>
            <a:r>
              <a:rPr sz="1100">
                <a:solidFill>
                  <a:srgbClr val="C8D4EE"/>
                </a:solidFill>
              </a:rPr>
              <a:t>No deal case studies or portfolio highlights</a:t>
            </a:r>
          </a:p>
          <a:p>
            <a:pPr algn="l">
              <a:spcAft>
                <a:spcPts val="600"/>
              </a:spcAft>
            </a:pPr>
            <a:r>
              <a:rPr sz="900"/>
              <a:t>  </a:t>
            </a:r>
            <a:r>
              <a:rPr sz="900" b="1">
                <a:solidFill>
                  <a:srgbClr val="FF4D4D"/>
                </a:solidFill>
              </a:rPr>
              <a:t>• </a:t>
            </a:r>
            <a:r>
              <a:rPr sz="1100">
                <a:solidFill>
                  <a:srgbClr val="C8D4EE"/>
                </a:solidFill>
              </a:rPr>
              <a:t>No live chat on any page</a:t>
            </a:r>
          </a:p>
          <a:p>
            <a:pPr algn="l">
              <a:spcAft>
                <a:spcPts val="600"/>
              </a:spcAft>
            </a:pPr>
            <a:r>
              <a:rPr sz="900"/>
              <a:t>  </a:t>
            </a:r>
            <a:r>
              <a:rPr sz="900" b="1">
                <a:solidFill>
                  <a:srgbClr val="FF4D4D"/>
                </a:solidFill>
              </a:rPr>
              <a:t>• </a:t>
            </a:r>
            <a:r>
              <a:rPr sz="1100">
                <a:solidFill>
                  <a:srgbClr val="C8D4EE"/>
                </a:solidFill>
              </a:rPr>
              <a:t>OwnProp lacks investor education content</a:t>
            </a:r>
          </a:p>
          <a:p>
            <a:pPr algn="l"/>
            <a:r>
              <a:rPr sz="900"/>
              <a:t>  </a:t>
            </a:r>
            <a:r>
              <a:rPr sz="900" b="1">
                <a:solidFill>
                  <a:srgbClr val="FF4D4D"/>
                </a:solidFill>
              </a:rPr>
              <a:t>• </a:t>
            </a:r>
            <a:r>
              <a:rPr sz="1100">
                <a:solidFill>
                  <a:srgbClr val="C8D4EE"/>
                </a:solidFill>
              </a:rPr>
              <a:t>No testimonials from LPs or residents</a:t>
            </a:r>
          </a:p>
        </p:txBody>
      </p:sp>
      <p:sp>
        <p:nvSpPr>
          <p:cNvPr id="11" name="TextBox 10"/>
          <p:cNvSpPr txBox="1"/>
          <p:nvPr/>
        </p:nvSpPr>
        <p:spPr>
          <a:xfrm>
            <a:off x="4069080" y="3291840"/>
            <a:ext cx="457200" cy="457200"/>
          </a:xfrm>
          <a:prstGeom prst="rect">
            <a:avLst/>
          </a:prstGeom>
          <a:noFill/>
        </p:spPr>
        <p:txBody>
          <a:bodyPr wrap="square">
            <a:spAutoFit/>
          </a:bodyPr>
          <a:lstStyle/>
          <a:p>
            <a:pPr algn="ctr"/>
            <a:r>
              <a:rPr sz="3000" b="1" i="0">
                <a:solidFill>
                  <a:srgbClr val="A055FF"/>
                </a:solidFill>
              </a:rPr>
              <a:t>-&gt;</a:t>
            </a:r>
          </a:p>
        </p:txBody>
      </p:sp>
      <p:sp>
        <p:nvSpPr>
          <p:cNvPr id="12" name="Rectangle 11"/>
          <p:cNvSpPr/>
          <p:nvPr/>
        </p:nvSpPr>
        <p:spPr>
          <a:xfrm>
            <a:off x="45720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1737360"/>
            <a:ext cx="329184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755648"/>
            <a:ext cx="3108960" cy="347472"/>
          </a:xfrm>
          <a:prstGeom prst="rect">
            <a:avLst/>
          </a:prstGeom>
          <a:noFill/>
        </p:spPr>
        <p:txBody>
          <a:bodyPr wrap="square">
            <a:spAutoFit/>
          </a:bodyPr>
          <a:lstStyle/>
          <a:p>
            <a:pPr algn="ctr"/>
            <a:r>
              <a:rPr sz="900" b="1" i="0">
                <a:solidFill>
                  <a:srgbClr val="FFFFFF"/>
                </a:solidFill>
              </a:rPr>
              <a:t>TOP MULTIFAMILY OPERATORS DO THIS</a:t>
            </a:r>
          </a:p>
        </p:txBody>
      </p:sp>
      <p:sp>
        <p:nvSpPr>
          <p:cNvPr id="15" name="TextBox 14"/>
          <p:cNvSpPr txBox="1"/>
          <p:nvPr/>
        </p:nvSpPr>
        <p:spPr>
          <a:xfrm>
            <a:off x="4663440" y="2212848"/>
            <a:ext cx="3108960" cy="2651760"/>
          </a:xfrm>
          <a:prstGeom prst="rect">
            <a:avLst/>
          </a:prstGeom>
          <a:noFill/>
        </p:spPr>
        <p:txBody>
          <a:bodyPr wrap="square">
            <a:spAutoFit/>
          </a:bodyPr>
          <a:lstStyle/>
          <a:p>
            <a:pPr algn="l">
              <a:spcAft>
                <a:spcPts val="600"/>
              </a:spcAft>
            </a:pPr>
            <a:r>
              <a:rPr sz="900"/>
              <a:t>  </a:t>
            </a:r>
            <a:r>
              <a:rPr sz="900" b="1">
                <a:solidFill>
                  <a:srgbClr val="F5C518"/>
                </a:solidFill>
              </a:rPr>
              <a:t>• </a:t>
            </a:r>
            <a:r>
              <a:rPr sz="1100">
                <a:solidFill>
                  <a:srgbClr val="C8D4EE"/>
                </a:solidFill>
              </a:rPr>
              <a:t>Greystar, Aimco publish full track record pages</a:t>
            </a:r>
          </a:p>
          <a:p>
            <a:pPr algn="l">
              <a:spcAft>
                <a:spcPts val="600"/>
              </a:spcAft>
            </a:pPr>
            <a:r>
              <a:rPr sz="900"/>
              <a:t>  </a:t>
            </a:r>
            <a:r>
              <a:rPr sz="900" b="1">
                <a:solidFill>
                  <a:srgbClr val="F5C518"/>
                </a:solidFill>
              </a:rPr>
              <a:t>• </a:t>
            </a:r>
            <a:r>
              <a:rPr sz="1100">
                <a:solidFill>
                  <a:srgbClr val="C8D4EE"/>
                </a:solidFill>
              </a:rPr>
              <a:t>Starwood, Blackstone show fund structure + team</a:t>
            </a:r>
          </a:p>
          <a:p>
            <a:pPr algn="l">
              <a:spcAft>
                <a:spcPts val="600"/>
              </a:spcAft>
            </a:pPr>
            <a:r>
              <a:rPr sz="900"/>
              <a:t>  </a:t>
            </a:r>
            <a:r>
              <a:rPr sz="900" b="1">
                <a:solidFill>
                  <a:srgbClr val="F5C518"/>
                </a:solidFill>
              </a:rPr>
              <a:t>• </a:t>
            </a:r>
            <a:r>
              <a:rPr sz="1100">
                <a:solidFill>
                  <a:srgbClr val="C8D4EE"/>
                </a:solidFill>
              </a:rPr>
              <a:t>LP testimonials and deal spotlights front and center</a:t>
            </a:r>
          </a:p>
          <a:p>
            <a:pPr algn="l">
              <a:spcAft>
                <a:spcPts val="600"/>
              </a:spcAft>
            </a:pPr>
            <a:r>
              <a:rPr sz="900"/>
              <a:t>  </a:t>
            </a:r>
            <a:r>
              <a:rPr sz="900" b="1">
                <a:solidFill>
                  <a:srgbClr val="F5C518"/>
                </a:solidFill>
              </a:rPr>
              <a:t>• </a:t>
            </a:r>
            <a:r>
              <a:rPr sz="1100">
                <a:solidFill>
                  <a:srgbClr val="C8D4EE"/>
                </a:solidFill>
              </a:rPr>
              <a:t>OwnProp competitors (Fundrise) have deep education funnels</a:t>
            </a:r>
          </a:p>
          <a:p>
            <a:pPr algn="l">
              <a:spcAft>
                <a:spcPts val="600"/>
              </a:spcAft>
            </a:pPr>
            <a:r>
              <a:rPr sz="900"/>
              <a:t>  </a:t>
            </a:r>
            <a:r>
              <a:rPr sz="900" b="1">
                <a:solidFill>
                  <a:srgbClr val="F5C518"/>
                </a:solidFill>
              </a:rPr>
              <a:t>• </a:t>
            </a:r>
            <a:r>
              <a:rPr sz="1100">
                <a:solidFill>
                  <a:srgbClr val="C8D4EE"/>
                </a:solidFill>
              </a:rPr>
              <a:t>Property pages with virtual tours and automated scheduling</a:t>
            </a:r>
          </a:p>
          <a:p>
            <a:pPr algn="l">
              <a:spcAft>
                <a:spcPts val="600"/>
              </a:spcAft>
            </a:pPr>
            <a:r>
              <a:rPr sz="900"/>
              <a:t>  </a:t>
            </a:r>
            <a:r>
              <a:rPr sz="900" b="1">
                <a:solidFill>
                  <a:srgbClr val="F5C518"/>
                </a:solidFill>
              </a:rPr>
              <a:t>• </a:t>
            </a:r>
            <a:r>
              <a:rPr sz="1100">
                <a:solidFill>
                  <a:srgbClr val="C8D4EE"/>
                </a:solidFill>
              </a:rPr>
              <a:t>AI chat for investor and leasing inquiries 24/7</a:t>
            </a:r>
          </a:p>
          <a:p>
            <a:pPr algn="l">
              <a:spcAft>
                <a:spcPts val="600"/>
              </a:spcAft>
            </a:pPr>
            <a:r>
              <a:rPr sz="900"/>
              <a:t>  </a:t>
            </a:r>
            <a:r>
              <a:rPr sz="900" b="1">
                <a:solidFill>
                  <a:srgbClr val="F5C518"/>
                </a:solidFill>
              </a:rPr>
              <a:t>• </a:t>
            </a:r>
            <a:r>
              <a:rPr sz="1100">
                <a:solidFill>
                  <a:srgbClr val="C8D4EE"/>
                </a:solidFill>
              </a:rPr>
              <a:t>Resident portal login prominent for current tenants</a:t>
            </a:r>
          </a:p>
          <a:p>
            <a:pPr algn="l"/>
            <a:r>
              <a:rPr sz="900"/>
              <a:t>  </a:t>
            </a:r>
            <a:r>
              <a:rPr sz="900" b="1">
                <a:solidFill>
                  <a:srgbClr val="F5C518"/>
                </a:solidFill>
              </a:rPr>
              <a:t>• </a:t>
            </a:r>
            <a:r>
              <a:rPr sz="1100">
                <a:solidFill>
                  <a:srgbClr val="C8D4EE"/>
                </a:solidFill>
              </a:rPr>
              <a:t>Performance dashboards visible to prospective LPs</a:t>
            </a:r>
          </a:p>
        </p:txBody>
      </p:sp>
      <p:sp>
        <p:nvSpPr>
          <p:cNvPr id="16" name="TextBox 15"/>
          <p:cNvSpPr txBox="1"/>
          <p:nvPr/>
        </p:nvSpPr>
        <p:spPr>
          <a:xfrm>
            <a:off x="7936992" y="3291840"/>
            <a:ext cx="457200" cy="457200"/>
          </a:xfrm>
          <a:prstGeom prst="rect">
            <a:avLst/>
          </a:prstGeom>
          <a:noFill/>
        </p:spPr>
        <p:txBody>
          <a:bodyPr wrap="square">
            <a:spAutoFit/>
          </a:bodyPr>
          <a:lstStyle/>
          <a:p>
            <a:pPr algn="ctr"/>
            <a:r>
              <a:rPr sz="3000" b="1" i="0">
                <a:solidFill>
                  <a:srgbClr val="A055FF"/>
                </a:solidFill>
              </a:rPr>
              <a:t>-&gt;</a:t>
            </a:r>
          </a:p>
        </p:txBody>
      </p:sp>
      <p:sp>
        <p:nvSpPr>
          <p:cNvPr id="17" name="Rectangle 16"/>
          <p:cNvSpPr/>
          <p:nvPr/>
        </p:nvSpPr>
        <p:spPr>
          <a:xfrm>
            <a:off x="84582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58200" y="1737360"/>
            <a:ext cx="329184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1755648"/>
            <a:ext cx="3108960" cy="347472"/>
          </a:xfrm>
          <a:prstGeom prst="rect">
            <a:avLst/>
          </a:prstGeom>
          <a:noFill/>
        </p:spPr>
        <p:txBody>
          <a:bodyPr wrap="square">
            <a:spAutoFit/>
          </a:bodyPr>
          <a:lstStyle/>
          <a:p>
            <a:pPr algn="ctr"/>
            <a:r>
              <a:rPr sz="1000" b="1" i="0">
                <a:solidFill>
                  <a:srgbClr val="FFFFFF"/>
                </a:solidFill>
              </a:rPr>
              <a:t>WHAT GENOS AI BUILDS</a:t>
            </a:r>
          </a:p>
        </p:txBody>
      </p:sp>
      <p:sp>
        <p:nvSpPr>
          <p:cNvPr id="20" name="TextBox 19"/>
          <p:cNvSpPr txBox="1"/>
          <p:nvPr/>
        </p:nvSpPr>
        <p:spPr>
          <a:xfrm>
            <a:off x="8549640" y="2212848"/>
            <a:ext cx="3108960" cy="2651760"/>
          </a:xfrm>
          <a:prstGeom prst="rect">
            <a:avLst/>
          </a:prstGeom>
          <a:noFill/>
        </p:spPr>
        <p:txBody>
          <a:bodyPr wrap="square">
            <a:spAutoFit/>
          </a:bodyPr>
          <a:lstStyle/>
          <a:p>
            <a:pPr algn="l">
              <a:spcAft>
                <a:spcPts val="600"/>
              </a:spcAft>
            </a:pPr>
            <a:r>
              <a:rPr sz="900"/>
              <a:t>  </a:t>
            </a:r>
            <a:r>
              <a:rPr sz="900" b="1">
                <a:solidFill>
                  <a:srgbClr val="2ECC71"/>
                </a:solidFill>
              </a:rPr>
              <a:t>• </a:t>
            </a:r>
            <a:r>
              <a:rPr sz="1100">
                <a:solidFill>
                  <a:srgbClr val="C8D4EE"/>
                </a:solidFill>
              </a:rPr>
              <a:t>Investment pages: returns data, fund structure, team</a:t>
            </a:r>
          </a:p>
          <a:p>
            <a:pPr algn="l">
              <a:spcAft>
                <a:spcPts val="600"/>
              </a:spcAft>
            </a:pPr>
            <a:r>
              <a:rPr sz="900"/>
              <a:t>  </a:t>
            </a:r>
            <a:r>
              <a:rPr sz="900" b="1">
                <a:solidFill>
                  <a:srgbClr val="2ECC71"/>
                </a:solidFill>
              </a:rPr>
              <a:t>• </a:t>
            </a:r>
            <a:r>
              <a:rPr sz="1100">
                <a:solidFill>
                  <a:srgbClr val="C8D4EE"/>
                </a:solidFill>
              </a:rPr>
              <a:t>OwnProp: full investor education funnel + re-engagement</a:t>
            </a:r>
          </a:p>
          <a:p>
            <a:pPr algn="l">
              <a:spcAft>
                <a:spcPts val="600"/>
              </a:spcAft>
            </a:pPr>
            <a:r>
              <a:rPr sz="900"/>
              <a:t>  </a:t>
            </a:r>
            <a:r>
              <a:rPr sz="900" b="1">
                <a:solidFill>
                  <a:srgbClr val="2ECC71"/>
                </a:solidFill>
              </a:rPr>
              <a:t>• </a:t>
            </a:r>
            <a:r>
              <a:rPr sz="1100">
                <a:solidFill>
                  <a:srgbClr val="C8D4EE"/>
                </a:solidFill>
              </a:rPr>
              <a:t>Deal case studies: deal-by-deal portfolio highlights</a:t>
            </a:r>
          </a:p>
          <a:p>
            <a:pPr algn="l">
              <a:spcAft>
                <a:spcPts val="600"/>
              </a:spcAft>
            </a:pPr>
            <a:r>
              <a:rPr sz="900"/>
              <a:t>  </a:t>
            </a:r>
            <a:r>
              <a:rPr sz="900" b="1">
                <a:solidFill>
                  <a:srgbClr val="2ECC71"/>
                </a:solidFill>
              </a:rPr>
              <a:t>• </a:t>
            </a:r>
            <a:r>
              <a:rPr sz="1100">
                <a:solidFill>
                  <a:srgbClr val="C8D4EE"/>
                </a:solidFill>
              </a:rPr>
              <a:t>LP testimonials section with real partner quotes</a:t>
            </a:r>
          </a:p>
          <a:p>
            <a:pPr algn="l">
              <a:spcAft>
                <a:spcPts val="600"/>
              </a:spcAft>
            </a:pPr>
            <a:r>
              <a:rPr sz="900"/>
              <a:t>  </a:t>
            </a:r>
            <a:r>
              <a:rPr sz="900" b="1">
                <a:solidFill>
                  <a:srgbClr val="2ECC71"/>
                </a:solidFill>
              </a:rPr>
              <a:t>• </a:t>
            </a:r>
            <a:r>
              <a:rPr sz="1100">
                <a:solidFill>
                  <a:srgbClr val="C8D4EE"/>
                </a:solidFill>
              </a:rPr>
              <a:t>AI chat trained on Rex investment criteria</a:t>
            </a:r>
          </a:p>
          <a:p>
            <a:pPr algn="l">
              <a:spcAft>
                <a:spcPts val="600"/>
              </a:spcAft>
            </a:pPr>
            <a:r>
              <a:rPr sz="900"/>
              <a:t>  </a:t>
            </a:r>
            <a:r>
              <a:rPr sz="900" b="1">
                <a:solidFill>
                  <a:srgbClr val="2ECC71"/>
                </a:solidFill>
              </a:rPr>
              <a:t>• </a:t>
            </a:r>
            <a:r>
              <a:rPr sz="1100">
                <a:solidFill>
                  <a:srgbClr val="C8D4EE"/>
                </a:solidFill>
              </a:rPr>
              <a:t>Property pages: virtual tours, automated tour booking</a:t>
            </a:r>
          </a:p>
          <a:p>
            <a:pPr algn="l">
              <a:spcAft>
                <a:spcPts val="600"/>
              </a:spcAft>
            </a:pPr>
            <a:r>
              <a:rPr sz="900"/>
              <a:t>  </a:t>
            </a:r>
            <a:r>
              <a:rPr sz="900" b="1">
                <a:solidFill>
                  <a:srgbClr val="2ECC71"/>
                </a:solidFill>
              </a:rPr>
              <a:t>• </a:t>
            </a:r>
            <a:r>
              <a:rPr sz="1100">
                <a:solidFill>
                  <a:srgbClr val="C8D4EE"/>
                </a:solidFill>
              </a:rPr>
              <a:t>Resident portal integration and retention sequences</a:t>
            </a:r>
          </a:p>
          <a:p>
            <a:pPr algn="l"/>
            <a:r>
              <a:rPr sz="900"/>
              <a:t>  </a:t>
            </a:r>
            <a:r>
              <a:rPr sz="900" b="1">
                <a:solidFill>
                  <a:srgbClr val="2ECC71"/>
                </a:solidFill>
              </a:rPr>
              <a:t>• </a:t>
            </a:r>
            <a:r>
              <a:rPr sz="1100">
                <a:solidFill>
                  <a:srgbClr val="C8D4EE"/>
                </a:solidFill>
              </a:rPr>
              <a:t>Peter's thought leadership auto-syndicating to all channels</a:t>
            </a:r>
          </a:p>
        </p:txBody>
      </p:sp>
      <p:sp>
        <p:nvSpPr>
          <p:cNvPr id="21" name="Rectangle 20"/>
          <p:cNvSpPr/>
          <p:nvPr/>
        </p:nvSpPr>
        <p:spPr>
          <a:xfrm>
            <a:off x="502920" y="5230368"/>
            <a:ext cx="11183112"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285232"/>
            <a:ext cx="2011680" cy="347472"/>
          </a:xfrm>
          <a:prstGeom prst="rect">
            <a:avLst/>
          </a:prstGeom>
          <a:noFill/>
        </p:spPr>
        <p:txBody>
          <a:bodyPr wrap="square">
            <a:spAutoFit/>
          </a:bodyPr>
          <a:lstStyle/>
          <a:p>
            <a:pPr algn="l"/>
            <a:r>
              <a:rPr sz="1100" b="1" i="0">
                <a:solidFill>
                  <a:srgbClr val="A055FF"/>
                </a:solidFill>
              </a:rPr>
              <a:t>WHY IT MATTERS:</a:t>
            </a:r>
          </a:p>
        </p:txBody>
      </p:sp>
      <p:sp>
        <p:nvSpPr>
          <p:cNvPr id="23" name="TextBox 22"/>
          <p:cNvSpPr txBox="1"/>
          <p:nvPr/>
        </p:nvSpPr>
        <p:spPr>
          <a:xfrm>
            <a:off x="2651760" y="5257800"/>
            <a:ext cx="2286000" cy="502920"/>
          </a:xfrm>
          <a:prstGeom prst="rect">
            <a:avLst/>
          </a:prstGeom>
          <a:noFill/>
        </p:spPr>
        <p:txBody>
          <a:bodyPr wrap="square">
            <a:spAutoFit/>
          </a:bodyPr>
          <a:lstStyle/>
          <a:p>
            <a:pPr algn="ctr"/>
            <a:r>
              <a:rPr sz="2400" b="1" i="0">
                <a:solidFill>
                  <a:srgbClr val="F5C518"/>
                </a:solidFill>
              </a:rPr>
              <a:t>94%</a:t>
            </a:r>
          </a:p>
        </p:txBody>
      </p:sp>
      <p:sp>
        <p:nvSpPr>
          <p:cNvPr id="24" name="TextBox 23"/>
          <p:cNvSpPr txBox="1"/>
          <p:nvPr/>
        </p:nvSpPr>
        <p:spPr>
          <a:xfrm>
            <a:off x="2651760" y="5687568"/>
            <a:ext cx="2286000" cy="640080"/>
          </a:xfrm>
          <a:prstGeom prst="rect">
            <a:avLst/>
          </a:prstGeom>
          <a:noFill/>
        </p:spPr>
        <p:txBody>
          <a:bodyPr wrap="square">
            <a:spAutoFit/>
          </a:bodyPr>
          <a:lstStyle/>
          <a:p>
            <a:pPr algn="ctr"/>
            <a:r>
              <a:rPr sz="1000" b="0" i="0">
                <a:solidFill>
                  <a:srgbClr val="C8D4EE"/>
                </a:solidFill>
              </a:rPr>
              <a:t>of first impressions
are design-related</a:t>
            </a:r>
          </a:p>
        </p:txBody>
      </p:sp>
      <p:sp>
        <p:nvSpPr>
          <p:cNvPr id="25" name="TextBox 24"/>
          <p:cNvSpPr txBox="1"/>
          <p:nvPr/>
        </p:nvSpPr>
        <p:spPr>
          <a:xfrm>
            <a:off x="5120640" y="5257800"/>
            <a:ext cx="2286000" cy="502920"/>
          </a:xfrm>
          <a:prstGeom prst="rect">
            <a:avLst/>
          </a:prstGeom>
          <a:noFill/>
        </p:spPr>
        <p:txBody>
          <a:bodyPr wrap="square">
            <a:spAutoFit/>
          </a:bodyPr>
          <a:lstStyle/>
          <a:p>
            <a:pPr algn="ctr"/>
            <a:r>
              <a:rPr sz="2400" b="1" i="0">
                <a:solidFill>
                  <a:srgbClr val="F5C518"/>
                </a:solidFill>
              </a:rPr>
              <a:t>67%</a:t>
            </a:r>
          </a:p>
        </p:txBody>
      </p:sp>
      <p:sp>
        <p:nvSpPr>
          <p:cNvPr id="26" name="TextBox 25"/>
          <p:cNvSpPr txBox="1"/>
          <p:nvPr/>
        </p:nvSpPr>
        <p:spPr>
          <a:xfrm>
            <a:off x="5120640" y="5687568"/>
            <a:ext cx="2286000" cy="640080"/>
          </a:xfrm>
          <a:prstGeom prst="rect">
            <a:avLst/>
          </a:prstGeom>
          <a:noFill/>
        </p:spPr>
        <p:txBody>
          <a:bodyPr wrap="square">
            <a:spAutoFit/>
          </a:bodyPr>
          <a:lstStyle/>
          <a:p>
            <a:pPr algn="ctr"/>
            <a:r>
              <a:rPr sz="1000" b="0" i="0">
                <a:solidFill>
                  <a:srgbClr val="C8D4EE"/>
                </a:solidFill>
              </a:rPr>
              <a:t>of institutional LPs screen
firms via website before call</a:t>
            </a:r>
          </a:p>
        </p:txBody>
      </p:sp>
      <p:sp>
        <p:nvSpPr>
          <p:cNvPr id="27" name="TextBox 26"/>
          <p:cNvSpPr txBox="1"/>
          <p:nvPr/>
        </p:nvSpPr>
        <p:spPr>
          <a:xfrm>
            <a:off x="7589520" y="5257800"/>
            <a:ext cx="2286000" cy="502920"/>
          </a:xfrm>
          <a:prstGeom prst="rect">
            <a:avLst/>
          </a:prstGeom>
          <a:noFill/>
        </p:spPr>
        <p:txBody>
          <a:bodyPr wrap="square">
            <a:spAutoFit/>
          </a:bodyPr>
          <a:lstStyle/>
          <a:p>
            <a:pPr algn="ctr"/>
            <a:r>
              <a:rPr sz="2400" b="1" i="0">
                <a:solidFill>
                  <a:srgbClr val="F5C518"/>
                </a:solidFill>
              </a:rPr>
              <a:t>3 sec</a:t>
            </a:r>
          </a:p>
        </p:txBody>
      </p:sp>
      <p:sp>
        <p:nvSpPr>
          <p:cNvPr id="28" name="TextBox 27"/>
          <p:cNvSpPr txBox="1"/>
          <p:nvPr/>
        </p:nvSpPr>
        <p:spPr>
          <a:xfrm>
            <a:off x="7589520" y="5687568"/>
            <a:ext cx="2286000" cy="640080"/>
          </a:xfrm>
          <a:prstGeom prst="rect">
            <a:avLst/>
          </a:prstGeom>
          <a:noFill/>
        </p:spPr>
        <p:txBody>
          <a:bodyPr wrap="square">
            <a:spAutoFit/>
          </a:bodyPr>
          <a:lstStyle/>
          <a:p>
            <a:pPr algn="ctr"/>
            <a:r>
              <a:rPr sz="1000" b="0" i="0">
                <a:solidFill>
                  <a:srgbClr val="C8D4EE"/>
                </a:solidFill>
              </a:rPr>
              <a:t>before a visitor decides
to engage or leave</a:t>
            </a:r>
          </a:p>
        </p:txBody>
      </p:sp>
      <p:sp>
        <p:nvSpPr>
          <p:cNvPr id="29" name="TextBox 28"/>
          <p:cNvSpPr txBox="1"/>
          <p:nvPr/>
        </p:nvSpPr>
        <p:spPr>
          <a:xfrm>
            <a:off x="10058400" y="5257800"/>
            <a:ext cx="2286000" cy="502920"/>
          </a:xfrm>
          <a:prstGeom prst="rect">
            <a:avLst/>
          </a:prstGeom>
          <a:noFill/>
        </p:spPr>
        <p:txBody>
          <a:bodyPr wrap="square">
            <a:spAutoFit/>
          </a:bodyPr>
          <a:lstStyle/>
          <a:p>
            <a:pPr algn="ctr"/>
            <a:r>
              <a:rPr sz="2400" b="1" i="0">
                <a:solidFill>
                  <a:srgbClr val="F5C518"/>
                </a:solidFill>
              </a:rPr>
              <a:t>200%+</a:t>
            </a:r>
          </a:p>
        </p:txBody>
      </p:sp>
      <p:sp>
        <p:nvSpPr>
          <p:cNvPr id="30" name="TextBox 29"/>
          <p:cNvSpPr txBox="1"/>
          <p:nvPr/>
        </p:nvSpPr>
        <p:spPr>
          <a:xfrm>
            <a:off x="10058400" y="5687568"/>
            <a:ext cx="2286000" cy="640080"/>
          </a:xfrm>
          <a:prstGeom prst="rect">
            <a:avLst/>
          </a:prstGeom>
          <a:noFill/>
        </p:spPr>
        <p:txBody>
          <a:bodyPr wrap="square">
            <a:spAutoFit/>
          </a:bodyPr>
          <a:lstStyle/>
          <a:p>
            <a:pPr algn="ctr"/>
            <a:r>
              <a:rPr sz="1000" b="0" i="0">
                <a:solidFill>
                  <a:srgbClr val="C8D4EE"/>
                </a:solidFill>
              </a:rPr>
              <a:t>lift in conversions with
personalized investor funnel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AI AUTOMATION OPPORTUNITIES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400" b="1" i="0">
                <a:solidFill>
                  <a:srgbClr val="FFFFFF"/>
                </a:solidFill>
              </a:rPr>
              <a:t>The Revenue Layer. Not the Product Layer.</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188720"/>
            <a:ext cx="10972800" cy="347472"/>
          </a:xfrm>
          <a:prstGeom prst="rect">
            <a:avLst/>
          </a:prstGeom>
          <a:noFill/>
        </p:spPr>
        <p:txBody>
          <a:bodyPr wrap="square">
            <a:spAutoFit/>
          </a:bodyPr>
          <a:lstStyle/>
          <a:p>
            <a:pPr algn="l"/>
            <a:r>
              <a:rPr sz="1200" b="0" i="1">
                <a:solidFill>
                  <a:srgbClr val="8A9BBB"/>
                </a:solidFill>
              </a:rPr>
              <a:t>Rex already builds AI products. This is about the commercial automation layer on top of the portfolio.</a:t>
            </a:r>
          </a:p>
        </p:txBody>
      </p:sp>
      <p:sp>
        <p:nvSpPr>
          <p:cNvPr id="8" name="Rectangle 7"/>
          <p:cNvSpPr/>
          <p:nvPr/>
        </p:nvSpPr>
        <p:spPr>
          <a:xfrm>
            <a:off x="502920" y="1645920"/>
            <a:ext cx="2148840"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1810512"/>
            <a:ext cx="1929384" cy="594360"/>
          </a:xfrm>
          <a:prstGeom prst="rect">
            <a:avLst/>
          </a:prstGeom>
          <a:noFill/>
        </p:spPr>
        <p:txBody>
          <a:bodyPr wrap="square">
            <a:spAutoFit/>
          </a:bodyPr>
          <a:lstStyle/>
          <a:p>
            <a:pPr algn="l"/>
            <a:r>
              <a:rPr sz="1300" b="1" i="0">
                <a:solidFill>
                  <a:srgbClr val="F5C518"/>
                </a:solidFill>
              </a:rPr>
              <a:t>Leasing Funnel
Automation</a:t>
            </a:r>
          </a:p>
        </p:txBody>
      </p:sp>
      <p:sp>
        <p:nvSpPr>
          <p:cNvPr id="11" name="TextBox 10"/>
          <p:cNvSpPr txBox="1"/>
          <p:nvPr/>
        </p:nvSpPr>
        <p:spPr>
          <a:xfrm>
            <a:off x="612648" y="2423160"/>
            <a:ext cx="1929384" cy="3291840"/>
          </a:xfrm>
          <a:prstGeom prst="rect">
            <a:avLst/>
          </a:prstGeom>
          <a:noFill/>
        </p:spPr>
        <p:txBody>
          <a:bodyPr wrap="square">
            <a:spAutoFit/>
          </a:bodyPr>
          <a:lstStyle/>
          <a:p>
            <a:pPr algn="l"/>
            <a:r>
              <a:rPr sz="1100" b="0" i="0">
                <a:solidFill>
                  <a:srgbClr val="C8D4EE"/>
                </a:solidFill>
              </a:rPr>
              <a:t>19,000 units across 19 metros = thousands of prospect touches monthly. Automated follow-up, tour scheduling and confirmation, post-tour nudges, and application reminders. Leads that go cold over weekends get recovered automatically.</a:t>
            </a:r>
          </a:p>
        </p:txBody>
      </p:sp>
      <p:sp>
        <p:nvSpPr>
          <p:cNvPr id="12" name="Rectangle 11"/>
          <p:cNvSpPr/>
          <p:nvPr/>
        </p:nvSpPr>
        <p:spPr>
          <a:xfrm>
            <a:off x="2779776" y="1645920"/>
            <a:ext cx="2148840" cy="54864"/>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79776"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89504" y="1810512"/>
            <a:ext cx="1929384" cy="594360"/>
          </a:xfrm>
          <a:prstGeom prst="rect">
            <a:avLst/>
          </a:prstGeom>
          <a:noFill/>
        </p:spPr>
        <p:txBody>
          <a:bodyPr wrap="square">
            <a:spAutoFit/>
          </a:bodyPr>
          <a:lstStyle/>
          <a:p>
            <a:pPr algn="l"/>
            <a:r>
              <a:rPr sz="1300" b="1" i="0">
                <a:solidFill>
                  <a:srgbClr val="4F8EFF"/>
                </a:solidFill>
              </a:rPr>
              <a:t>OwnProp Investor
Acquisition</a:t>
            </a:r>
          </a:p>
        </p:txBody>
      </p:sp>
      <p:sp>
        <p:nvSpPr>
          <p:cNvPr id="15" name="TextBox 14"/>
          <p:cNvSpPr txBox="1"/>
          <p:nvPr/>
        </p:nvSpPr>
        <p:spPr>
          <a:xfrm>
            <a:off x="2889504" y="2423160"/>
            <a:ext cx="1929384" cy="3291840"/>
          </a:xfrm>
          <a:prstGeom prst="rect">
            <a:avLst/>
          </a:prstGeom>
          <a:noFill/>
        </p:spPr>
        <p:txBody>
          <a:bodyPr wrap="square">
            <a:spAutoFit/>
          </a:bodyPr>
          <a:lstStyle/>
          <a:p>
            <a:pPr algn="l"/>
            <a:r>
              <a:rPr sz="1100" b="0" i="0">
                <a:solidFill>
                  <a:srgbClr val="C8D4EE"/>
                </a:solidFill>
              </a:rPr>
              <a:t>Fractional real estate has a 3-6 week consideration cycle. Prospect education sequences, comparison content vs. competitors, re-engagement for people who visited OwnProp but didn't invest. Build the funnel the product deserves.</a:t>
            </a:r>
          </a:p>
        </p:txBody>
      </p:sp>
      <p:sp>
        <p:nvSpPr>
          <p:cNvPr id="16" name="Rectangle 15"/>
          <p:cNvSpPr/>
          <p:nvPr/>
        </p:nvSpPr>
        <p:spPr>
          <a:xfrm>
            <a:off x="5056632" y="1645920"/>
            <a:ext cx="214884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56632"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1810512"/>
            <a:ext cx="1929384" cy="594360"/>
          </a:xfrm>
          <a:prstGeom prst="rect">
            <a:avLst/>
          </a:prstGeom>
          <a:noFill/>
        </p:spPr>
        <p:txBody>
          <a:bodyPr wrap="square">
            <a:spAutoFit/>
          </a:bodyPr>
          <a:lstStyle/>
          <a:p>
            <a:pPr algn="l"/>
            <a:r>
              <a:rPr sz="1300" b="1" i="0">
                <a:solidFill>
                  <a:srgbClr val="2ECC71"/>
                </a:solidFill>
              </a:rPr>
              <a:t>Resident Retention
Sequences</a:t>
            </a:r>
          </a:p>
        </p:txBody>
      </p:sp>
      <p:sp>
        <p:nvSpPr>
          <p:cNvPr id="19" name="TextBox 18"/>
          <p:cNvSpPr txBox="1"/>
          <p:nvPr/>
        </p:nvSpPr>
        <p:spPr>
          <a:xfrm>
            <a:off x="5166360" y="2423160"/>
            <a:ext cx="1929384" cy="3291840"/>
          </a:xfrm>
          <a:prstGeom prst="rect">
            <a:avLst/>
          </a:prstGeom>
          <a:noFill/>
        </p:spPr>
        <p:txBody>
          <a:bodyPr wrap="square">
            <a:spAutoFit/>
          </a:bodyPr>
          <a:lstStyle/>
          <a:p>
            <a:pPr algn="l"/>
            <a:r>
              <a:rPr sz="1100" b="0" i="0">
                <a:solidFill>
                  <a:srgbClr val="C8D4EE"/>
                </a:solidFill>
              </a:rPr>
              <a:t>90-day pre-renewal outreach, personalized by unit type, tenure, and local market conditions. At 19,000 units, a 1% improvement in renewal rates is hundreds of avoided vacancy cycles worth tens of thousands each.</a:t>
            </a:r>
          </a:p>
        </p:txBody>
      </p:sp>
      <p:sp>
        <p:nvSpPr>
          <p:cNvPr id="20" name="Rectangle 19"/>
          <p:cNvSpPr/>
          <p:nvPr/>
        </p:nvSpPr>
        <p:spPr>
          <a:xfrm>
            <a:off x="7333488" y="1645920"/>
            <a:ext cx="2148840" cy="54864"/>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33488"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43216" y="1810512"/>
            <a:ext cx="1929384" cy="594360"/>
          </a:xfrm>
          <a:prstGeom prst="rect">
            <a:avLst/>
          </a:prstGeom>
          <a:noFill/>
        </p:spPr>
        <p:txBody>
          <a:bodyPr wrap="square">
            <a:spAutoFit/>
          </a:bodyPr>
          <a:lstStyle/>
          <a:p>
            <a:pPr algn="l"/>
            <a:r>
              <a:rPr sz="1300" b="1" i="0">
                <a:solidFill>
                  <a:srgbClr val="A055FF"/>
                </a:solidFill>
              </a:rPr>
              <a:t>Investment Page
Inquiry Funnel</a:t>
            </a:r>
          </a:p>
        </p:txBody>
      </p:sp>
      <p:sp>
        <p:nvSpPr>
          <p:cNvPr id="23" name="TextBox 22"/>
          <p:cNvSpPr txBox="1"/>
          <p:nvPr/>
        </p:nvSpPr>
        <p:spPr>
          <a:xfrm>
            <a:off x="7443216" y="2423160"/>
            <a:ext cx="1929384" cy="3291840"/>
          </a:xfrm>
          <a:prstGeom prst="rect">
            <a:avLst/>
          </a:prstGeom>
          <a:noFill/>
        </p:spPr>
        <p:txBody>
          <a:bodyPr wrap="square">
            <a:spAutoFit/>
          </a:bodyPr>
          <a:lstStyle/>
          <a:p>
            <a:pPr algn="l"/>
            <a:r>
              <a:rPr sz="1100" b="0" i="0">
                <a:solidFill>
                  <a:srgbClr val="C8D4EE"/>
                </a:solidFill>
              </a:rPr>
              <a:t>Returns track record, fund structure, deal spotlights, LP testimonials. Convert brand impressions into accredited investor inquiries. Automated follow-up for contact form submissions and investor meeting scheduling.</a:t>
            </a:r>
          </a:p>
        </p:txBody>
      </p:sp>
      <p:sp>
        <p:nvSpPr>
          <p:cNvPr id="24" name="Rectangle 23"/>
          <p:cNvSpPr/>
          <p:nvPr/>
        </p:nvSpPr>
        <p:spPr>
          <a:xfrm>
            <a:off x="9610344" y="1645920"/>
            <a:ext cx="2148840" cy="54864"/>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10344"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20072" y="1810512"/>
            <a:ext cx="1929384" cy="594360"/>
          </a:xfrm>
          <a:prstGeom prst="rect">
            <a:avLst/>
          </a:prstGeom>
          <a:noFill/>
        </p:spPr>
        <p:txBody>
          <a:bodyPr wrap="square">
            <a:spAutoFit/>
          </a:bodyPr>
          <a:lstStyle/>
          <a:p>
            <a:pPr algn="l"/>
            <a:r>
              <a:rPr sz="1300" b="1" i="0">
                <a:solidFill>
                  <a:srgbClr val="FF4D4D"/>
                </a:solidFill>
              </a:rPr>
              <a:t>Peter's Thought
Leadership Pipeline</a:t>
            </a:r>
          </a:p>
        </p:txBody>
      </p:sp>
      <p:sp>
        <p:nvSpPr>
          <p:cNvPr id="27" name="TextBox 26"/>
          <p:cNvSpPr txBox="1"/>
          <p:nvPr/>
        </p:nvSpPr>
        <p:spPr>
          <a:xfrm>
            <a:off x="9720072" y="2423160"/>
            <a:ext cx="1929384" cy="3291840"/>
          </a:xfrm>
          <a:prstGeom prst="rect">
            <a:avLst/>
          </a:prstGeom>
          <a:noFill/>
        </p:spPr>
        <p:txBody>
          <a:bodyPr wrap="square">
            <a:spAutoFit/>
          </a:bodyPr>
          <a:lstStyle/>
          <a:p>
            <a:pPr algn="l"/>
            <a:r>
              <a:rPr sz="1100" b="0" i="0">
                <a:solidFill>
                  <a:srgbClr val="C8D4EE"/>
                </a:solidFill>
              </a:rPr>
              <a:t>One X post or article triggers an automated pipeline: email to investor list, LinkedIn native post, press release draft, newsletter section. Peter creates once. AI distributes everywhere. Builds LP trust at scale.</a:t>
            </a:r>
          </a:p>
        </p:txBody>
      </p:sp>
      <p:sp>
        <p:nvSpPr>
          <p:cNvPr id="28" name="Rectangle 27"/>
          <p:cNvSpPr/>
          <p:nvPr/>
        </p:nvSpPr>
        <p:spPr>
          <a:xfrm>
            <a:off x="502920" y="6126480"/>
            <a:ext cx="11183112" cy="4114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6172200"/>
            <a:ext cx="10972800" cy="320040"/>
          </a:xfrm>
          <a:prstGeom prst="rect">
            <a:avLst/>
          </a:prstGeom>
          <a:noFill/>
        </p:spPr>
        <p:txBody>
          <a:bodyPr wrap="square">
            <a:spAutoFit/>
          </a:bodyPr>
          <a:lstStyle/>
          <a:p>
            <a:pPr algn="l"/>
            <a:r>
              <a:rPr sz="1100" b="0" i="1">
                <a:solidFill>
                  <a:srgbClr val="F5C518"/>
                </a:solidFill>
              </a:rPr>
              <a:t>"Building product for real estate tech is very hard. There are multiple stakeholders. We love hard things at Rex." — Peter Rex, X  |  The revenue automation layer is the other hard thing.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WHAT THIS IS COSTING YOU</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Nine Patents. Revenue Layer Running Manual.</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No investor funnel = capital sitting on the table</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An accredited investor who researches rex.com/real-estate and finds no performance data, no team, and no fund structure doesn't move forward. That's not a product problem. It's a funnel problem. Rex's actual track record would convert many of them.</a:t>
            </a:r>
          </a:p>
        </p:txBody>
      </p:sp>
      <p:sp>
        <p:nvSpPr>
          <p:cNvPr id="10" name="Rectangle 9"/>
          <p:cNvSpPr/>
          <p:nvPr/>
        </p:nvSpPr>
        <p:spPr>
          <a:xfrm>
            <a:off x="502920" y="251460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OwnProp with no nurture = first-mover advantage being given away</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Fundrise and RealtyMogul have deep email nurture sequences, investor education content, and re-engagement flows. OwnProp has the better product and the first-mover position. Without the marketing funnel, the incumbent wins on attention.</a:t>
            </a:r>
          </a:p>
        </p:txBody>
      </p:sp>
      <p:sp>
        <p:nvSpPr>
          <p:cNvPr id="13" name="Rectangle 12"/>
          <p:cNvSpPr/>
          <p:nvPr/>
        </p:nvSpPr>
        <p:spPr>
          <a:xfrm>
            <a:off x="502920" y="347472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19,000 units without leasing automation = weekend vacancy cycles</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Every prospect who tours on a Thursday or Friday and doesn't hear back until Monday is a potential vacancy. Multiply that across 19 metros and the cost is not small. Automated follow-up within 2 hours of a tour request is standard at Greystar. Rex is not there yet.</a:t>
            </a:r>
          </a:p>
        </p:txBody>
      </p:sp>
      <p:sp>
        <p:nvSpPr>
          <p:cNvPr id="16" name="Rectangle 15"/>
          <p:cNvSpPr/>
          <p:nvPr/>
        </p:nvSpPr>
        <p:spPr>
          <a:xfrm>
            <a:off x="502920" y="443484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Resident retention running on inertia</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Renewals that happen because the tenant didn't get around to moving are not the same as renewals earned through proactive communication. Personalized retention sequences reduce vacancy and give Rex data on which residents are flight risks.</a:t>
            </a:r>
          </a:p>
        </p:txBody>
      </p:sp>
      <p:sp>
        <p:nvSpPr>
          <p:cNvPr id="19" name="Rectangle 18"/>
          <p:cNvSpPr/>
          <p:nvPr/>
        </p:nvSpPr>
        <p:spPr>
          <a:xfrm>
            <a:off x="502920" y="539496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Peter's thought leadership not being amplified</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Peter posts on X, writes press pieces, goes on podcasts. None of it is systematically converted into investor outreach or LP relationship building. One syndication pipeline would turn every public post into an investor touchpoint.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 WE'D BUILD</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Genos AI for REX</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Rex Investment Pages Rebuild</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Returns track record, fund structure, deal case studies, team bios. Built for accredited investor conversion, not brand admiration. A prospect who visits this page should have enough to request a meeting without emailing for a deck.</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OwnProp Investor Acquisition Funnel</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Education sequences for fractional RE first-timers, comparison content for prospects evaluating Fundrise or RealtyMogul, re-engagement flows for people who visited but didn't invest. Turns OwnProp's product lead into a conversion lead.</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Leasing Automation Layer</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Automated prospect follow-up within 2 hours of inquiry, tour scheduling and confirmation, post-tour nurture sequences, application reminders. Deployed across all 19 metros. Weekend coverage built in - no lead goes cold between Friday PM and Monday AM.</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Resident Retention Sequences</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90-day pre-renewal outreach by unit type, tenure, and local market. Automated satisfaction check-ins at 6 and 12 months. Flight-risk flagging for residents showing early exit signals. At 19,000 units, this has measurable P&amp;L impact.</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Peter Thought Leadership Pipeline</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One post on X or one press piece triggers automated distribution: investor email list, LinkedIn native, newsletter section, press release. Peter creates. AI handles reach. Builds LP trust at scale without adding marketing headcount.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90-DAY OUTCOMES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What Changes in 90 Days</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356616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82496"/>
            <a:ext cx="3383280" cy="329184"/>
          </a:xfrm>
          <a:prstGeom prst="rect">
            <a:avLst/>
          </a:prstGeom>
          <a:noFill/>
        </p:spPr>
        <p:txBody>
          <a:bodyPr wrap="square">
            <a:spAutoFit/>
          </a:bodyPr>
          <a:lstStyle/>
          <a:p>
            <a:pPr algn="ctr"/>
            <a:r>
              <a:rPr sz="1400" b="1" i="0">
                <a:solidFill>
                  <a:srgbClr val="0A0F2E"/>
                </a:solidFill>
              </a:rPr>
              <a:t>MONTH 1</a:t>
            </a:r>
          </a:p>
        </p:txBody>
      </p:sp>
      <p:sp>
        <p:nvSpPr>
          <p:cNvPr id="9" name="Rectangle 8"/>
          <p:cNvSpPr/>
          <p:nvPr/>
        </p:nvSpPr>
        <p:spPr>
          <a:xfrm>
            <a:off x="502920"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148840"/>
            <a:ext cx="3291840" cy="4023360"/>
          </a:xfrm>
          <a:prstGeom prst="rect">
            <a:avLst/>
          </a:prstGeom>
          <a:noFill/>
        </p:spPr>
        <p:txBody>
          <a:bodyPr wrap="square">
            <a:spAutoFit/>
          </a:bodyPr>
          <a:lstStyle/>
          <a:p>
            <a:pPr algn="l">
              <a:spcAft>
                <a:spcPts val="600"/>
              </a:spcAft>
            </a:pPr>
            <a:r>
              <a:rPr sz="1000"/>
              <a:t>  </a:t>
            </a:r>
            <a:r>
              <a:rPr sz="1000" b="1">
                <a:solidFill>
                  <a:srgbClr val="F5C518"/>
                </a:solidFill>
              </a:rPr>
              <a:t>• </a:t>
            </a:r>
            <a:r>
              <a:rPr sz="1200">
                <a:solidFill>
                  <a:srgbClr val="C8D4EE"/>
                </a:solidFill>
              </a:rPr>
              <a:t>AI chat live on rex.com for investor and leasing inquiries</a:t>
            </a:r>
          </a:p>
          <a:p>
            <a:pPr algn="l">
              <a:spcAft>
                <a:spcPts val="600"/>
              </a:spcAft>
            </a:pPr>
            <a:r>
              <a:rPr sz="1000"/>
              <a:t>  </a:t>
            </a:r>
            <a:r>
              <a:rPr sz="1000" b="1">
                <a:solidFill>
                  <a:srgbClr val="F5C518"/>
                </a:solidFill>
              </a:rPr>
              <a:t>• </a:t>
            </a:r>
            <a:r>
              <a:rPr sz="1200">
                <a:solidFill>
                  <a:srgbClr val="C8D4EE"/>
                </a:solidFill>
              </a:rPr>
              <a:t>Leasing automation deployed - follow-up, tour scheduling, post-tour nudge sequences</a:t>
            </a:r>
          </a:p>
          <a:p>
            <a:pPr algn="l">
              <a:spcAft>
                <a:spcPts val="600"/>
              </a:spcAft>
            </a:pPr>
            <a:r>
              <a:rPr sz="1000"/>
              <a:t>  </a:t>
            </a:r>
            <a:r>
              <a:rPr sz="1000" b="1">
                <a:solidFill>
                  <a:srgbClr val="F5C518"/>
                </a:solidFill>
              </a:rPr>
              <a:t>• </a:t>
            </a:r>
            <a:r>
              <a:rPr sz="1200">
                <a:solidFill>
                  <a:srgbClr val="C8D4EE"/>
                </a:solidFill>
              </a:rPr>
              <a:t>OwnProp nurture sequences active - education content flowing to prospects</a:t>
            </a:r>
          </a:p>
          <a:p>
            <a:pPr algn="l"/>
            <a:r>
              <a:rPr sz="1000"/>
              <a:t>  </a:t>
            </a:r>
            <a:r>
              <a:rPr sz="1000" b="1">
                <a:solidFill>
                  <a:srgbClr val="F5C518"/>
                </a:solidFill>
              </a:rPr>
              <a:t>• </a:t>
            </a:r>
            <a:r>
              <a:rPr sz="1200">
                <a:solidFill>
                  <a:srgbClr val="C8D4EE"/>
                </a:solidFill>
              </a:rPr>
              <a:t>Investment pages rebuild begins - returns data, team, fund structure in design</a:t>
            </a:r>
          </a:p>
        </p:txBody>
      </p:sp>
      <p:sp>
        <p:nvSpPr>
          <p:cNvPr id="11" name="Rectangle 10"/>
          <p:cNvSpPr/>
          <p:nvPr/>
        </p:nvSpPr>
        <p:spPr>
          <a:xfrm>
            <a:off x="4233672" y="1645920"/>
            <a:ext cx="3566160" cy="38404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5112" y="1682496"/>
            <a:ext cx="3383280" cy="329184"/>
          </a:xfrm>
          <a:prstGeom prst="rect">
            <a:avLst/>
          </a:prstGeom>
          <a:noFill/>
        </p:spPr>
        <p:txBody>
          <a:bodyPr wrap="square">
            <a:spAutoFit/>
          </a:bodyPr>
          <a:lstStyle/>
          <a:p>
            <a:pPr algn="ctr"/>
            <a:r>
              <a:rPr sz="1400" b="1" i="0">
                <a:solidFill>
                  <a:srgbClr val="0A0F2E"/>
                </a:solidFill>
              </a:rPr>
              <a:t>MONTH 2</a:t>
            </a:r>
          </a:p>
        </p:txBody>
      </p:sp>
      <p:sp>
        <p:nvSpPr>
          <p:cNvPr id="13" name="Rectangle 12"/>
          <p:cNvSpPr/>
          <p:nvPr/>
        </p:nvSpPr>
        <p:spPr>
          <a:xfrm>
            <a:off x="4233672"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0832" y="2148840"/>
            <a:ext cx="3291840" cy="4023360"/>
          </a:xfrm>
          <a:prstGeom prst="rect">
            <a:avLst/>
          </a:prstGeom>
          <a:noFill/>
        </p:spPr>
        <p:txBody>
          <a:bodyPr wrap="square">
            <a:spAutoFit/>
          </a:bodyPr>
          <a:lstStyle/>
          <a:p>
            <a:pPr algn="l">
              <a:spcAft>
                <a:spcPts val="600"/>
              </a:spcAft>
            </a:pPr>
            <a:r>
              <a:rPr sz="1000"/>
              <a:t>  </a:t>
            </a:r>
            <a:r>
              <a:rPr sz="1000" b="1">
                <a:solidFill>
                  <a:srgbClr val="4F8EFF"/>
                </a:solidFill>
              </a:rPr>
              <a:t>• </a:t>
            </a:r>
            <a:r>
              <a:rPr sz="1200">
                <a:solidFill>
                  <a:srgbClr val="C8D4EE"/>
                </a:solidFill>
              </a:rPr>
              <a:t>Rex investment pages live - track record, team bios, deal spotlights visible to LPs</a:t>
            </a:r>
          </a:p>
          <a:p>
            <a:pPr algn="l">
              <a:spcAft>
                <a:spcPts val="600"/>
              </a:spcAft>
            </a:pPr>
            <a:r>
              <a:rPr sz="1000"/>
              <a:t>  </a:t>
            </a:r>
            <a:r>
              <a:rPr sz="1000" b="1">
                <a:solidFill>
                  <a:srgbClr val="4F8EFF"/>
                </a:solidFill>
              </a:rPr>
              <a:t>• </a:t>
            </a:r>
            <a:r>
              <a:rPr sz="1200">
                <a:solidFill>
                  <a:srgbClr val="C8D4EE"/>
                </a:solidFill>
              </a:rPr>
              <a:t>Resident retention sequences running across full portfolio</a:t>
            </a:r>
          </a:p>
          <a:p>
            <a:pPr algn="l">
              <a:spcAft>
                <a:spcPts val="600"/>
              </a:spcAft>
            </a:pPr>
            <a:r>
              <a:rPr sz="1000"/>
              <a:t>  </a:t>
            </a:r>
            <a:r>
              <a:rPr sz="1000" b="1">
                <a:solidFill>
                  <a:srgbClr val="4F8EFF"/>
                </a:solidFill>
              </a:rPr>
              <a:t>• </a:t>
            </a:r>
            <a:r>
              <a:rPr sz="1200">
                <a:solidFill>
                  <a:srgbClr val="C8D4EE"/>
                </a:solidFill>
              </a:rPr>
              <a:t>OwnProp first campaign performance data: open rates, click-to-invest conversion</a:t>
            </a:r>
          </a:p>
          <a:p>
            <a:pPr algn="l"/>
            <a:r>
              <a:rPr sz="1000"/>
              <a:t>  </a:t>
            </a:r>
            <a:r>
              <a:rPr sz="1000" b="1">
                <a:solidFill>
                  <a:srgbClr val="4F8EFF"/>
                </a:solidFill>
              </a:rPr>
              <a:t>• </a:t>
            </a:r>
            <a:r>
              <a:rPr sz="1200">
                <a:solidFill>
                  <a:srgbClr val="C8D4EE"/>
                </a:solidFill>
              </a:rPr>
              <a:t>Peter thought leadership pipeline active - every post now auto-syndicating</a:t>
            </a:r>
          </a:p>
        </p:txBody>
      </p:sp>
      <p:sp>
        <p:nvSpPr>
          <p:cNvPr id="15" name="Rectangle 14"/>
          <p:cNvSpPr/>
          <p:nvPr/>
        </p:nvSpPr>
        <p:spPr>
          <a:xfrm>
            <a:off x="7964424" y="1645920"/>
            <a:ext cx="356616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1682496"/>
            <a:ext cx="3383280" cy="329184"/>
          </a:xfrm>
          <a:prstGeom prst="rect">
            <a:avLst/>
          </a:prstGeom>
          <a:noFill/>
        </p:spPr>
        <p:txBody>
          <a:bodyPr wrap="square">
            <a:spAutoFit/>
          </a:bodyPr>
          <a:lstStyle/>
          <a:p>
            <a:pPr algn="ctr"/>
            <a:r>
              <a:rPr sz="1400" b="1" i="0">
                <a:solidFill>
                  <a:srgbClr val="0A0F2E"/>
                </a:solidFill>
              </a:rPr>
              <a:t>MONTH 3</a:t>
            </a:r>
          </a:p>
        </p:txBody>
      </p:sp>
      <p:sp>
        <p:nvSpPr>
          <p:cNvPr id="17" name="Rectangle 16"/>
          <p:cNvSpPr/>
          <p:nvPr/>
        </p:nvSpPr>
        <p:spPr>
          <a:xfrm>
            <a:off x="7964424"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01584" y="2148840"/>
            <a:ext cx="3291840" cy="4023360"/>
          </a:xfrm>
          <a:prstGeom prst="rect">
            <a:avLst/>
          </a:prstGeom>
          <a:noFill/>
        </p:spPr>
        <p:txBody>
          <a:bodyPr wrap="square">
            <a:spAutoFit/>
          </a:bodyPr>
          <a:lstStyle/>
          <a:p>
            <a:pPr algn="l">
              <a:spcAft>
                <a:spcPts val="600"/>
              </a:spcAft>
            </a:pPr>
            <a:r>
              <a:rPr sz="1000"/>
              <a:t>  </a:t>
            </a:r>
            <a:r>
              <a:rPr sz="1000" b="1">
                <a:solidFill>
                  <a:srgbClr val="2ECC71"/>
                </a:solidFill>
              </a:rPr>
              <a:t>• </a:t>
            </a:r>
            <a:r>
              <a:rPr sz="1200">
                <a:solidFill>
                  <a:srgbClr val="C8D4EE"/>
                </a:solidFill>
              </a:rPr>
              <a:t>Leasing lead recovery from weekend gaps measurable in per-metro data</a:t>
            </a:r>
          </a:p>
          <a:p>
            <a:pPr algn="l">
              <a:spcAft>
                <a:spcPts val="600"/>
              </a:spcAft>
            </a:pPr>
            <a:r>
              <a:rPr sz="1000"/>
              <a:t>  </a:t>
            </a:r>
            <a:r>
              <a:rPr sz="1000" b="1">
                <a:solidFill>
                  <a:srgbClr val="2ECC71"/>
                </a:solidFill>
              </a:rPr>
              <a:t>• </a:t>
            </a:r>
            <a:r>
              <a:rPr sz="1200">
                <a:solidFill>
                  <a:srgbClr val="C8D4EE"/>
                </a:solidFill>
              </a:rPr>
              <a:t>OwnProp investor conversion rate up vs. organic baseline</a:t>
            </a:r>
          </a:p>
          <a:p>
            <a:pPr algn="l">
              <a:spcAft>
                <a:spcPts val="600"/>
              </a:spcAft>
            </a:pPr>
            <a:r>
              <a:rPr sz="1000"/>
              <a:t>  </a:t>
            </a:r>
            <a:r>
              <a:rPr sz="1000" b="1">
                <a:solidFill>
                  <a:srgbClr val="2ECC71"/>
                </a:solidFill>
              </a:rPr>
              <a:t>• </a:t>
            </a:r>
            <a:r>
              <a:rPr sz="1200">
                <a:solidFill>
                  <a:srgbClr val="C8D4EE"/>
                </a:solidFill>
              </a:rPr>
              <a:t>Renewal rate improvement visible in first cohorts of retention sequences</a:t>
            </a:r>
          </a:p>
          <a:p>
            <a:pPr algn="l"/>
            <a:r>
              <a:rPr sz="1000"/>
              <a:t>  </a:t>
            </a:r>
            <a:r>
              <a:rPr sz="1000" b="1">
                <a:solidFill>
                  <a:srgbClr val="2ECC71"/>
                </a:solidFill>
              </a:rPr>
              <a:t>• </a:t>
            </a:r>
            <a:r>
              <a:rPr sz="1200">
                <a:solidFill>
                  <a:srgbClr val="C8D4EE"/>
                </a:solidFill>
              </a:rPr>
              <a:t>LP inquiry volume from investment pages vs. prior period tracked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0" y="0"/>
            <a:ext cx="5330952" cy="6858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5943600" cy="457200"/>
          </a:xfrm>
          <a:prstGeom prst="rect">
            <a:avLst/>
          </a:prstGeom>
          <a:noFill/>
        </p:spPr>
        <p:txBody>
          <a:bodyPr wrap="square">
            <a:spAutoFit/>
          </a:bodyPr>
          <a:lstStyle/>
          <a:p>
            <a:pPr algn="l"/>
            <a:r>
              <a:rPr sz="1100" b="1" i="0">
                <a:solidFill>
                  <a:srgbClr val="F5C518"/>
                </a:solidFill>
              </a:rPr>
              <a:t>NEXT STEPS</a:t>
            </a:r>
          </a:p>
        </p:txBody>
      </p:sp>
      <p:sp>
        <p:nvSpPr>
          <p:cNvPr id="6" name="TextBox 5"/>
          <p:cNvSpPr txBox="1"/>
          <p:nvPr/>
        </p:nvSpPr>
        <p:spPr>
          <a:xfrm>
            <a:off x="502920" y="731520"/>
            <a:ext cx="6217920" cy="1828800"/>
          </a:xfrm>
          <a:prstGeom prst="rect">
            <a:avLst/>
          </a:prstGeom>
          <a:noFill/>
        </p:spPr>
        <p:txBody>
          <a:bodyPr wrap="square">
            <a:spAutoFit/>
          </a:bodyPr>
          <a:lstStyle/>
          <a:p>
            <a:pPr algn="l"/>
            <a:r>
              <a:rPr sz="4800" b="1" i="0">
                <a:solidFill>
                  <a:srgbClr val="FFFFFF"/>
                </a:solidFill>
              </a:rPr>
              <a:t>Let's Talk for
15 Minutes.</a:t>
            </a:r>
          </a:p>
        </p:txBody>
      </p:sp>
      <p:sp>
        <p:nvSpPr>
          <p:cNvPr id="7" name="Rectangle 6"/>
          <p:cNvSpPr/>
          <p:nvPr/>
        </p:nvSpPr>
        <p:spPr>
          <a:xfrm>
            <a:off x="502920" y="2560320"/>
            <a:ext cx="22860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788920"/>
            <a:ext cx="5943600" cy="731520"/>
          </a:xfrm>
          <a:prstGeom prst="rect">
            <a:avLst/>
          </a:prstGeom>
          <a:noFill/>
        </p:spPr>
        <p:txBody>
          <a:bodyPr wrap="square">
            <a:spAutoFit/>
          </a:bodyPr>
          <a:lstStyle/>
          <a:p>
            <a:pPr algn="l"/>
            <a:r>
              <a:rPr sz="1400" b="0" i="0">
                <a:solidFill>
                  <a:srgbClr val="C8D4EE"/>
                </a:solidFill>
              </a:rPr>
              <a:t>No pitch deck needed. Reply to the email or book directly.
We'll compare notes on the revenue-layer AI stuff.</a:t>
            </a:r>
          </a:p>
        </p:txBody>
      </p:sp>
      <p:sp>
        <p:nvSpPr>
          <p:cNvPr id="9" name="TextBox 8"/>
          <p:cNvSpPr txBox="1"/>
          <p:nvPr/>
        </p:nvSpPr>
        <p:spPr>
          <a:xfrm>
            <a:off x="502920" y="3611880"/>
            <a:ext cx="5943600" cy="1828800"/>
          </a:xfrm>
          <a:prstGeom prst="rect">
            <a:avLst/>
          </a:prstGeom>
          <a:noFill/>
        </p:spPr>
        <p:txBody>
          <a:bodyPr wrap="square">
            <a:spAutoFit/>
          </a:bodyPr>
          <a:lstStyle/>
          <a:p>
            <a:pPr algn="l">
              <a:spcAft>
                <a:spcPts val="600"/>
              </a:spcAft>
            </a:pPr>
            <a:r>
              <a:rPr sz="1200"/>
              <a:t>  </a:t>
            </a:r>
            <a:r>
              <a:rPr sz="1200" b="1">
                <a:solidFill>
                  <a:srgbClr val="F5C518"/>
                </a:solidFill>
              </a:rPr>
              <a:t>• </a:t>
            </a:r>
            <a:r>
              <a:rPr sz="1400">
                <a:solidFill>
                  <a:srgbClr val="FFFFFF"/>
                </a:solidFill>
              </a:rPr>
              <a:t>Reply to this email - we'll set up a time</a:t>
            </a:r>
          </a:p>
          <a:p>
            <a:pPr algn="l">
              <a:spcAft>
                <a:spcPts val="600"/>
              </a:spcAft>
            </a:pPr>
            <a:r>
              <a:rPr sz="1200"/>
              <a:t>  </a:t>
            </a:r>
            <a:r>
              <a:rPr sz="1200" b="1">
                <a:solidFill>
                  <a:srgbClr val="F5C518"/>
                </a:solidFill>
              </a:rPr>
              <a:t>• </a:t>
            </a:r>
            <a:r>
              <a:rPr sz="1400">
                <a:solidFill>
                  <a:srgbClr val="FFFFFF"/>
                </a:solidFill>
              </a:rPr>
              <a:t>Book directly: www.genosai.tech/call</a:t>
            </a:r>
          </a:p>
          <a:p>
            <a:pPr algn="l">
              <a:spcAft>
                <a:spcPts val="600"/>
              </a:spcAft>
            </a:pPr>
            <a:r>
              <a:rPr sz="1200"/>
              <a:t>  </a:t>
            </a:r>
            <a:r>
              <a:rPr sz="1200" b="1">
                <a:solidFill>
                  <a:srgbClr val="F5C518"/>
                </a:solidFill>
              </a:rPr>
              <a:t>• </a:t>
            </a:r>
            <a:r>
              <a:rPr sz="1400">
                <a:solidFill>
                  <a:srgbClr val="FFFFFF"/>
                </a:solidFill>
              </a:rPr>
              <a:t>We walk through the audit findings in 15 minutes</a:t>
            </a:r>
          </a:p>
          <a:p>
            <a:pPr algn="l"/>
            <a:r>
              <a:rPr sz="1200"/>
              <a:t>  </a:t>
            </a:r>
            <a:r>
              <a:rPr sz="1200" b="1">
                <a:solidFill>
                  <a:srgbClr val="F5C518"/>
                </a:solidFill>
              </a:rPr>
              <a:t>• </a:t>
            </a:r>
            <a:r>
              <a:rPr sz="1400">
                <a:solidFill>
                  <a:srgbClr val="FFFFFF"/>
                </a:solidFill>
              </a:rPr>
              <a:t>You decide what, if anything, makes sense</a:t>
            </a:r>
          </a:p>
        </p:txBody>
      </p:sp>
      <p:sp>
        <p:nvSpPr>
          <p:cNvPr id="10" name="Rectangle 9"/>
          <p:cNvSpPr/>
          <p:nvPr/>
        </p:nvSpPr>
        <p:spPr>
          <a:xfrm>
            <a:off x="0" y="5943600"/>
            <a:ext cx="685800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035040"/>
            <a:ext cx="6217920" cy="457200"/>
          </a:xfrm>
          <a:prstGeom prst="rect">
            <a:avLst/>
          </a:prstGeom>
          <a:noFill/>
        </p:spPr>
        <p:txBody>
          <a:bodyPr wrap="square">
            <a:spAutoFit/>
          </a:bodyPr>
          <a:lstStyle/>
          <a:p>
            <a:pPr algn="l"/>
            <a:r>
              <a:rPr sz="1200" b="0" i="0">
                <a:solidFill>
                  <a:srgbClr val="8A9BBB"/>
                </a:solidFill>
              </a:rPr>
              <a:t>Rohan Malik  |  CEO, Genos AI  |  hello@genosai.tech  |  +91 638-714-2699  |  www.genosai.tech</a:t>
            </a:r>
          </a:p>
        </p:txBody>
      </p:sp>
      <p:sp>
        <p:nvSpPr>
          <p:cNvPr id="12" name="TextBox 11"/>
          <p:cNvSpPr txBox="1"/>
          <p:nvPr/>
        </p:nvSpPr>
        <p:spPr>
          <a:xfrm>
            <a:off x="7178040" y="548640"/>
            <a:ext cx="4572000" cy="822960"/>
          </a:xfrm>
          <a:prstGeom prst="rect">
            <a:avLst/>
          </a:prstGeom>
          <a:noFill/>
        </p:spPr>
        <p:txBody>
          <a:bodyPr wrap="square">
            <a:spAutoFit/>
          </a:bodyPr>
          <a:lstStyle/>
          <a:p>
            <a:pPr algn="l"/>
            <a:r>
              <a:rPr sz="2000" b="1" i="0">
                <a:solidFill>
                  <a:srgbClr val="F5C518"/>
                </a:solidFill>
              </a:rPr>
              <a:t>WHAT WE BUILD
FOR REX</a:t>
            </a:r>
          </a:p>
        </p:txBody>
      </p:sp>
      <p:sp>
        <p:nvSpPr>
          <p:cNvPr id="13" name="Rectangle 12"/>
          <p:cNvSpPr/>
          <p:nvPr/>
        </p:nvSpPr>
        <p:spPr>
          <a:xfrm>
            <a:off x="502920" y="132588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78040" y="146304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1508760"/>
            <a:ext cx="1280160" cy="292608"/>
          </a:xfrm>
          <a:prstGeom prst="rect">
            <a:avLst/>
          </a:prstGeom>
          <a:noFill/>
        </p:spPr>
        <p:txBody>
          <a:bodyPr wrap="square">
            <a:spAutoFit/>
          </a:bodyPr>
          <a:lstStyle/>
          <a:p>
            <a:pPr algn="l"/>
            <a:r>
              <a:rPr sz="1000" b="1" i="0">
                <a:solidFill>
                  <a:srgbClr val="F5C518"/>
                </a:solidFill>
              </a:rPr>
              <a:t>Investment Pages</a:t>
            </a:r>
          </a:p>
        </p:txBody>
      </p:sp>
      <p:sp>
        <p:nvSpPr>
          <p:cNvPr id="16" name="TextBox 15"/>
          <p:cNvSpPr txBox="1"/>
          <p:nvPr/>
        </p:nvSpPr>
        <p:spPr>
          <a:xfrm>
            <a:off x="8686800" y="1508760"/>
            <a:ext cx="3291840" cy="594360"/>
          </a:xfrm>
          <a:prstGeom prst="rect">
            <a:avLst/>
          </a:prstGeom>
          <a:noFill/>
        </p:spPr>
        <p:txBody>
          <a:bodyPr wrap="square">
            <a:spAutoFit/>
          </a:bodyPr>
          <a:lstStyle/>
          <a:p>
            <a:pPr algn="l"/>
            <a:r>
              <a:rPr sz="1100" b="0" i="0">
                <a:solidFill>
                  <a:srgbClr val="C8D4EE"/>
                </a:solidFill>
              </a:rPr>
              <a:t>Track record, team, fund structure - built to convert LPs</a:t>
            </a:r>
          </a:p>
        </p:txBody>
      </p:sp>
      <p:sp>
        <p:nvSpPr>
          <p:cNvPr id="17" name="Rectangle 16"/>
          <p:cNvSpPr/>
          <p:nvPr/>
        </p:nvSpPr>
        <p:spPr>
          <a:xfrm>
            <a:off x="7178040" y="2267712"/>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0" y="2313432"/>
            <a:ext cx="1280160" cy="292608"/>
          </a:xfrm>
          <a:prstGeom prst="rect">
            <a:avLst/>
          </a:prstGeom>
          <a:noFill/>
        </p:spPr>
        <p:txBody>
          <a:bodyPr wrap="square">
            <a:spAutoFit/>
          </a:bodyPr>
          <a:lstStyle/>
          <a:p>
            <a:pPr algn="l"/>
            <a:r>
              <a:rPr sz="1000" b="1" i="0">
                <a:solidFill>
                  <a:srgbClr val="F5C518"/>
                </a:solidFill>
              </a:rPr>
              <a:t>OwnProp Funnel</a:t>
            </a:r>
          </a:p>
        </p:txBody>
      </p:sp>
      <p:sp>
        <p:nvSpPr>
          <p:cNvPr id="19" name="TextBox 18"/>
          <p:cNvSpPr txBox="1"/>
          <p:nvPr/>
        </p:nvSpPr>
        <p:spPr>
          <a:xfrm>
            <a:off x="8686800" y="2313432"/>
            <a:ext cx="3291840" cy="594360"/>
          </a:xfrm>
          <a:prstGeom prst="rect">
            <a:avLst/>
          </a:prstGeom>
          <a:noFill/>
        </p:spPr>
        <p:txBody>
          <a:bodyPr wrap="square">
            <a:spAutoFit/>
          </a:bodyPr>
          <a:lstStyle/>
          <a:p>
            <a:pPr algn="l"/>
            <a:r>
              <a:rPr sz="1100" b="0" i="0">
                <a:solidFill>
                  <a:srgbClr val="C8D4EE"/>
                </a:solidFill>
              </a:rPr>
              <a:t>Education sequences + re-engagement for fractional RE investors</a:t>
            </a:r>
          </a:p>
        </p:txBody>
      </p:sp>
      <p:sp>
        <p:nvSpPr>
          <p:cNvPr id="20" name="Rectangle 19"/>
          <p:cNvSpPr/>
          <p:nvPr/>
        </p:nvSpPr>
        <p:spPr>
          <a:xfrm>
            <a:off x="7178040" y="3072384"/>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3118104"/>
            <a:ext cx="1280160" cy="292608"/>
          </a:xfrm>
          <a:prstGeom prst="rect">
            <a:avLst/>
          </a:prstGeom>
          <a:noFill/>
        </p:spPr>
        <p:txBody>
          <a:bodyPr wrap="square">
            <a:spAutoFit/>
          </a:bodyPr>
          <a:lstStyle/>
          <a:p>
            <a:pPr algn="l"/>
            <a:r>
              <a:rPr sz="1000" b="1" i="0">
                <a:solidFill>
                  <a:srgbClr val="F5C518"/>
                </a:solidFill>
              </a:rPr>
              <a:t>Leasing Automation</a:t>
            </a:r>
          </a:p>
        </p:txBody>
      </p:sp>
      <p:sp>
        <p:nvSpPr>
          <p:cNvPr id="22" name="TextBox 21"/>
          <p:cNvSpPr txBox="1"/>
          <p:nvPr/>
        </p:nvSpPr>
        <p:spPr>
          <a:xfrm>
            <a:off x="8686800" y="3118104"/>
            <a:ext cx="3291840" cy="594360"/>
          </a:xfrm>
          <a:prstGeom prst="rect">
            <a:avLst/>
          </a:prstGeom>
          <a:noFill/>
        </p:spPr>
        <p:txBody>
          <a:bodyPr wrap="square">
            <a:spAutoFit/>
          </a:bodyPr>
          <a:lstStyle/>
          <a:p>
            <a:pPr algn="l"/>
            <a:r>
              <a:rPr sz="1100" b="0" i="0">
                <a:solidFill>
                  <a:srgbClr val="C8D4EE"/>
                </a:solidFill>
              </a:rPr>
              <a:t>Follow-up, tour scheduling, post-tour nurture - 19 metros</a:t>
            </a:r>
          </a:p>
        </p:txBody>
      </p:sp>
      <p:sp>
        <p:nvSpPr>
          <p:cNvPr id="23" name="Rectangle 22"/>
          <p:cNvSpPr/>
          <p:nvPr/>
        </p:nvSpPr>
        <p:spPr>
          <a:xfrm>
            <a:off x="7178040" y="3877056"/>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3922776"/>
            <a:ext cx="1280160" cy="292608"/>
          </a:xfrm>
          <a:prstGeom prst="rect">
            <a:avLst/>
          </a:prstGeom>
          <a:noFill/>
        </p:spPr>
        <p:txBody>
          <a:bodyPr wrap="square">
            <a:spAutoFit/>
          </a:bodyPr>
          <a:lstStyle/>
          <a:p>
            <a:pPr algn="l"/>
            <a:r>
              <a:rPr sz="1000" b="1" i="0">
                <a:solidFill>
                  <a:srgbClr val="F5C518"/>
                </a:solidFill>
              </a:rPr>
              <a:t>Resident Retention</a:t>
            </a:r>
          </a:p>
        </p:txBody>
      </p:sp>
      <p:sp>
        <p:nvSpPr>
          <p:cNvPr id="25" name="TextBox 24"/>
          <p:cNvSpPr txBox="1"/>
          <p:nvPr/>
        </p:nvSpPr>
        <p:spPr>
          <a:xfrm>
            <a:off x="8686800" y="3922776"/>
            <a:ext cx="3291840" cy="594360"/>
          </a:xfrm>
          <a:prstGeom prst="rect">
            <a:avLst/>
          </a:prstGeom>
          <a:noFill/>
        </p:spPr>
        <p:txBody>
          <a:bodyPr wrap="square">
            <a:spAutoFit/>
          </a:bodyPr>
          <a:lstStyle/>
          <a:p>
            <a:pPr algn="l"/>
            <a:r>
              <a:rPr sz="1100" b="0" i="0">
                <a:solidFill>
                  <a:srgbClr val="C8D4EE"/>
                </a:solidFill>
              </a:rPr>
              <a:t>90-day pre-renewal sequences, personalized by tenure/unit</a:t>
            </a:r>
          </a:p>
        </p:txBody>
      </p:sp>
      <p:sp>
        <p:nvSpPr>
          <p:cNvPr id="26" name="Rectangle 25"/>
          <p:cNvSpPr/>
          <p:nvPr/>
        </p:nvSpPr>
        <p:spPr>
          <a:xfrm>
            <a:off x="7178040" y="4681728"/>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0" y="4727448"/>
            <a:ext cx="1280160" cy="292608"/>
          </a:xfrm>
          <a:prstGeom prst="rect">
            <a:avLst/>
          </a:prstGeom>
          <a:noFill/>
        </p:spPr>
        <p:txBody>
          <a:bodyPr wrap="square">
            <a:spAutoFit/>
          </a:bodyPr>
          <a:lstStyle/>
          <a:p>
            <a:pPr algn="l"/>
            <a:r>
              <a:rPr sz="1000" b="1" i="0">
                <a:solidFill>
                  <a:srgbClr val="F5C518"/>
                </a:solidFill>
              </a:rPr>
              <a:t>AI Chat</a:t>
            </a:r>
          </a:p>
        </p:txBody>
      </p:sp>
      <p:sp>
        <p:nvSpPr>
          <p:cNvPr id="28" name="TextBox 27"/>
          <p:cNvSpPr txBox="1"/>
          <p:nvPr/>
        </p:nvSpPr>
        <p:spPr>
          <a:xfrm>
            <a:off x="8686800" y="4727448"/>
            <a:ext cx="3291840" cy="594360"/>
          </a:xfrm>
          <a:prstGeom prst="rect">
            <a:avLst/>
          </a:prstGeom>
          <a:noFill/>
        </p:spPr>
        <p:txBody>
          <a:bodyPr wrap="square">
            <a:spAutoFit/>
          </a:bodyPr>
          <a:lstStyle/>
          <a:p>
            <a:pPr algn="l"/>
            <a:r>
              <a:rPr sz="1100" b="0" i="0">
                <a:solidFill>
                  <a:srgbClr val="C8D4EE"/>
                </a:solidFill>
              </a:rPr>
              <a:t>24/7 investor and leasing inquiry widget on rex.com</a:t>
            </a:r>
          </a:p>
        </p:txBody>
      </p:sp>
      <p:sp>
        <p:nvSpPr>
          <p:cNvPr id="29" name="Rectangle 28"/>
          <p:cNvSpPr/>
          <p:nvPr/>
        </p:nvSpPr>
        <p:spPr>
          <a:xfrm>
            <a:off x="7178040" y="548640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0" y="5532120"/>
            <a:ext cx="1280160" cy="292608"/>
          </a:xfrm>
          <a:prstGeom prst="rect">
            <a:avLst/>
          </a:prstGeom>
          <a:noFill/>
        </p:spPr>
        <p:txBody>
          <a:bodyPr wrap="square">
            <a:spAutoFit/>
          </a:bodyPr>
          <a:lstStyle/>
          <a:p>
            <a:pPr algn="l"/>
            <a:r>
              <a:rPr sz="1000" b="1" i="0">
                <a:solidFill>
                  <a:srgbClr val="F5C518"/>
                </a:solidFill>
              </a:rPr>
              <a:t>Thought Leadership</a:t>
            </a:r>
          </a:p>
        </p:txBody>
      </p:sp>
      <p:sp>
        <p:nvSpPr>
          <p:cNvPr id="31" name="TextBox 30"/>
          <p:cNvSpPr txBox="1"/>
          <p:nvPr/>
        </p:nvSpPr>
        <p:spPr>
          <a:xfrm>
            <a:off x="8686800" y="5532120"/>
            <a:ext cx="3291840" cy="594360"/>
          </a:xfrm>
          <a:prstGeom prst="rect">
            <a:avLst/>
          </a:prstGeom>
          <a:noFill/>
        </p:spPr>
        <p:txBody>
          <a:bodyPr wrap="square">
            <a:spAutoFit/>
          </a:bodyPr>
          <a:lstStyle/>
          <a:p>
            <a:pPr algn="l"/>
            <a:r>
              <a:rPr sz="1100" b="0" i="0">
                <a:solidFill>
                  <a:srgbClr val="C8D4EE"/>
                </a:solidFill>
              </a:rPr>
              <a:t>Peter's posts auto-syndicated to email, LinkedIn, press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