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00B4D8"/>
                </a:solidFill>
              </a:rPr>
              <a:t>CROSSROAD / ENERINVEST PROPTECH</a:t>
            </a:r>
          </a:p>
        </p:txBody>
      </p:sp>
      <p:sp>
        <p:nvSpPr>
          <p:cNvPr id="8" name="TextBox 7"/>
          <p:cNvSpPr txBox="1"/>
          <p:nvPr/>
        </p:nvSpPr>
        <p:spPr>
          <a:xfrm>
            <a:off x="502920" y="1874519"/>
            <a:ext cx="8229600" cy="1645920"/>
          </a:xfrm>
          <a:prstGeom prst="rect">
            <a:avLst/>
          </a:prstGeom>
          <a:noFill/>
        </p:spPr>
        <p:txBody>
          <a:bodyPr wrap="square">
            <a:spAutoFit/>
          </a:bodyPr>
          <a:lstStyle/>
          <a:p>
            <a:pPr algn="l"/>
            <a:r>
              <a:rPr sz="4400" b="1" i="0">
                <a:solidFill>
                  <a:srgbClr val="FFFFFF"/>
                </a:solidFill>
              </a:rPr>
              <a:t>Website &amp; Sales Funnel
Audit Report</a:t>
            </a:r>
          </a:p>
        </p:txBody>
      </p:sp>
      <p:sp>
        <p:nvSpPr>
          <p:cNvPr id="9" name="Rectangle 8"/>
          <p:cNvSpPr/>
          <p:nvPr/>
        </p:nvSpPr>
        <p:spPr>
          <a:xfrm>
            <a:off x="502920" y="3520440"/>
            <a:ext cx="27432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Mauro Terrinoni, CFA - CEO &amp; Co-Founder</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00B4D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Mauro Terrinoni and Crossroad</a:t>
            </a:r>
          </a:p>
        </p:txBody>
      </p:sp>
      <p:sp>
        <p:nvSpPr>
          <p:cNvPr id="6" name="Rectangle 5"/>
          <p:cNvSpPr/>
          <p:nvPr/>
        </p:nvSpPr>
        <p:spPr>
          <a:xfrm>
            <a:off x="502920" y="1234440"/>
            <a:ext cx="109728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1800" b="1" i="0">
                <a:solidFill>
                  <a:srgbClr val="00B4D8"/>
                </a:solidFill>
              </a:rPr>
              <a:t>50 yrs</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100" b="0" i="0">
                <a:solidFill>
                  <a:srgbClr val="C8D4EE"/>
                </a:solidFill>
              </a:rPr>
              <a:t>Combined founder
experience (Mauro + Alex)</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1800" b="1" i="0">
                <a:solidFill>
                  <a:srgbClr val="00B4D8"/>
                </a:solidFill>
              </a:rPr>
              <a:t>CFA +
MBA</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100" b="0" i="0">
                <a:solidFill>
                  <a:srgbClr val="C8D4EE"/>
                </a:solidFill>
              </a:rPr>
              <a:t>Cornell Johnson +
JPMorgan/Citi/Fortress</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1800" b="1" i="0">
                <a:solidFill>
                  <a:srgbClr val="00B4D8"/>
                </a:solidFill>
              </a:rPr>
              <a:t>8 yrs</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100" b="0" i="0">
                <a:solidFill>
                  <a:srgbClr val="C8D4EE"/>
                </a:solidFill>
              </a:rPr>
              <a:t>PropTech product
innovation</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1800" b="1" i="0">
                <a:solidFill>
                  <a:srgbClr val="00B4D8"/>
                </a:solidFill>
              </a:rPr>
              <a:t>2020</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100" b="0" i="0">
                <a:solidFill>
                  <a:srgbClr val="C8D4EE"/>
                </a:solidFill>
              </a:rPr>
              <a:t>Crossroad founded
London, UK</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1800" b="1" i="0">
                <a:solidFill>
                  <a:srgbClr val="00B4D8"/>
                </a:solidFill>
              </a:rPr>
              <a:t>2 pubs</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100" b="0" i="0">
                <a:solidFill>
                  <a:srgbClr val="C8D4EE"/>
                </a:solidFill>
              </a:rPr>
              <a:t>'PropTech can do for you'
+ 'Digital era' article</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100" b="0" i="0">
                <a:solidFill>
                  <a:srgbClr val="C8D4EE"/>
                </a:solidFill>
              </a:rPr>
              <a:t>36-37 Albert Embankment, London SE1 7TL  |  info@enerinvest.com  |  2-10 employees  |  PropTech / B2B SaaS</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00B4D8"/>
                </a:solidFill>
              </a:rPr>
              <a:t>MAURO'S BACKGROUND</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CFA charter holder (Oct 2004) + MBA Cornell Johnson</a:t>
            </a:r>
          </a:p>
          <a:p>
            <a:pPr algn="l">
              <a:spcAft>
                <a:spcPts val="600"/>
              </a:spcAft>
            </a:pPr>
            <a:r>
              <a:rPr sz="1000"/>
              <a:t>  </a:t>
            </a:r>
            <a:r>
              <a:rPr sz="1000" b="1">
                <a:solidFill>
                  <a:srgbClr val="4F8EFF"/>
                </a:solidFill>
              </a:rPr>
              <a:t>* </a:t>
            </a:r>
            <a:r>
              <a:rPr sz="1200">
                <a:solidFill>
                  <a:srgbClr val="C8D4EE"/>
                </a:solidFill>
              </a:rPr>
              <a:t>Career: JPMorgan, Citi, Fortress, ACP Capital - IB + PE + distressed credit</a:t>
            </a:r>
          </a:p>
          <a:p>
            <a:pPr algn="l">
              <a:spcAft>
                <a:spcPts val="600"/>
              </a:spcAft>
            </a:pPr>
            <a:r>
              <a:rPr sz="1000"/>
              <a:t>  </a:t>
            </a:r>
            <a:r>
              <a:rPr sz="1000" b="1">
                <a:solidFill>
                  <a:srgbClr val="4F8EFF"/>
                </a:solidFill>
              </a:rPr>
              <a:t>* </a:t>
            </a:r>
            <a:r>
              <a:rPr sz="1200">
                <a:solidFill>
                  <a:srgbClr val="C8D4EE"/>
                </a:solidFill>
              </a:rPr>
              <a:t>Executed trades in the hundreds of millions across European markets</a:t>
            </a:r>
          </a:p>
          <a:p>
            <a:pPr algn="l"/>
            <a:r>
              <a:rPr sz="1000"/>
              <a:t>  </a:t>
            </a:r>
            <a:r>
              <a:rPr sz="1000" b="1">
                <a:solidFill>
                  <a:srgbClr val="4F8EFF"/>
                </a:solidFill>
              </a:rPr>
              <a:t>* </a:t>
            </a:r>
            <a:r>
              <a:rPr sz="1200">
                <a:solidFill>
                  <a:srgbClr val="C8D4EE"/>
                </a:solidFill>
              </a:rPr>
              <a:t>Published: 'Property Management enters the digital era' (Nov 2020)</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00B4D8"/>
                </a:solidFill>
              </a:rPr>
              <a:t>CROSSROAD PLATFORM</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Asset, people, data, document, project management</a:t>
            </a:r>
          </a:p>
          <a:p>
            <a:pPr algn="l">
              <a:spcAft>
                <a:spcPts val="600"/>
              </a:spcAft>
            </a:pPr>
            <a:r>
              <a:rPr sz="1000"/>
              <a:t>  </a:t>
            </a:r>
            <a:r>
              <a:rPr sz="1000" b="1">
                <a:solidFill>
                  <a:srgbClr val="4F8EFF"/>
                </a:solidFill>
              </a:rPr>
              <a:t>* </a:t>
            </a:r>
            <a:r>
              <a:rPr sz="1200">
                <a:solidFill>
                  <a:srgbClr val="C8D4EE"/>
                </a:solidFill>
              </a:rPr>
              <a:t>CRM for buyers, tenants, borrowers</a:t>
            </a:r>
          </a:p>
          <a:p>
            <a:pPr algn="l">
              <a:spcAft>
                <a:spcPts val="600"/>
              </a:spcAft>
            </a:pPr>
            <a:r>
              <a:rPr sz="1000"/>
              <a:t>  </a:t>
            </a:r>
            <a:r>
              <a:rPr sz="1000" b="1">
                <a:solidFill>
                  <a:srgbClr val="4F8EFF"/>
                </a:solidFill>
              </a:rPr>
              <a:t>* </a:t>
            </a:r>
            <a:r>
              <a:rPr sz="1200">
                <a:solidFill>
                  <a:srgbClr val="C8D4EE"/>
                </a:solidFill>
              </a:rPr>
              <a:t>Branded property marketing website with built-in CRM</a:t>
            </a:r>
          </a:p>
          <a:p>
            <a:pPr algn="l"/>
            <a:r>
              <a:rPr sz="1000"/>
              <a:t>  </a:t>
            </a:r>
            <a:r>
              <a:rPr sz="1000" b="1">
                <a:solidFill>
                  <a:srgbClr val="4F8EFF"/>
                </a:solidFill>
              </a:rPr>
              <a:t>* </a:t>
            </a:r>
            <a:r>
              <a:rPr sz="1200">
                <a:solidFill>
                  <a:srgbClr val="C8D4EE"/>
                </a:solidFill>
              </a:rPr>
              <a:t>Collaborative workspace for internal + external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2200" b="1" i="0">
                <a:solidFill>
                  <a:srgbClr val="FFFFFF"/>
                </a:solidFill>
              </a:rPr>
              <a:t>Strong Institutional Credentials, a Real Product, and a Gap That Is the Pitch.</a:t>
            </a:r>
          </a:p>
        </p:txBody>
      </p:sp>
      <p:sp>
        <p:nvSpPr>
          <p:cNvPr id="6" name="Rectangle 5"/>
          <p:cNvSpPr/>
          <p:nvPr/>
        </p:nvSpPr>
        <p:spPr>
          <a:xfrm>
            <a:off x="502920" y="132588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300" b="1" i="0">
                <a:solidFill>
                  <a:srgbClr val="FFFFFF"/>
                </a:solidFill>
              </a:rPr>
              <a:t>Mauro Has Already Made the Case for Digitisation - In Writing</a:t>
            </a:r>
          </a:p>
        </p:txBody>
      </p:sp>
      <p:sp>
        <p:nvSpPr>
          <p:cNvPr id="9" name="TextBox 8"/>
          <p:cNvSpPr txBox="1"/>
          <p:nvPr/>
        </p:nvSpPr>
        <p:spPr>
          <a:xfrm>
            <a:off x="685800" y="1874520"/>
            <a:ext cx="10789920" cy="548640"/>
          </a:xfrm>
          <a:prstGeom prst="rect">
            <a:avLst/>
          </a:prstGeom>
          <a:noFill/>
        </p:spPr>
        <p:txBody>
          <a:bodyPr wrap="square">
            <a:spAutoFit/>
          </a:bodyPr>
          <a:lstStyle/>
          <a:p>
            <a:pPr algn="l"/>
            <a:r>
              <a:rPr sz="1100" b="0" i="0">
                <a:solidFill>
                  <a:srgbClr val="C8D4EE"/>
                </a:solidFill>
              </a:rPr>
              <a:t>Two published pieces arguing that property management must go digital give Mauro credibility with his target market and make the concept sell unnecessary. He is not asking property managers to believe in digital transformation - he is giving them a platform for it. The gap is applying the same argument to Crossroad's own customer acquisition.</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300" b="1" i="0">
                <a:solidFill>
                  <a:srgbClr val="FFFFFF"/>
                </a:solidFill>
              </a:rPr>
              <a:t>CFA + JPMorgan/Citi/Fortress Background Means Rigorous ROI Standards</a:t>
            </a:r>
          </a:p>
        </p:txBody>
      </p:sp>
      <p:sp>
        <p:nvSpPr>
          <p:cNvPr id="12" name="TextBox 11"/>
          <p:cNvSpPr txBox="1"/>
          <p:nvPr/>
        </p:nvSpPr>
        <p:spPr>
          <a:xfrm>
            <a:off x="685800" y="2834640"/>
            <a:ext cx="10789920" cy="548640"/>
          </a:xfrm>
          <a:prstGeom prst="rect">
            <a:avLst/>
          </a:prstGeom>
          <a:noFill/>
        </p:spPr>
        <p:txBody>
          <a:bodyPr wrap="square">
            <a:spAutoFit/>
          </a:bodyPr>
          <a:lstStyle/>
          <a:p>
            <a:pPr algn="l"/>
            <a:r>
              <a:rPr sz="1100" b="0" i="0">
                <a:solidFill>
                  <a:srgbClr val="C8D4EE"/>
                </a:solidFill>
              </a:rPr>
              <a:t>Mauro evaluates investment arguments with institutional discipline. The pitch to him must be specific, data-led, and framed in terms of pipeline velocity and conversion rate improvement - not general AI enthusiasm. A CFA who ran distressed credit at Fortress will dismiss vague AI claims and respond to specific funnel metrics.</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300" b="1" i="0">
                <a:solidFill>
                  <a:srgbClr val="FFFFFF"/>
                </a:solidFill>
              </a:rPr>
              <a:t>The Product Addresses a Real, Documented Pain</a:t>
            </a:r>
          </a:p>
        </p:txBody>
      </p:sp>
      <p:sp>
        <p:nvSpPr>
          <p:cNvPr id="15" name="TextBox 14"/>
          <p:cNvSpPr txBox="1"/>
          <p:nvPr/>
        </p:nvSpPr>
        <p:spPr>
          <a:xfrm>
            <a:off x="685800" y="3794760"/>
            <a:ext cx="10789920" cy="548640"/>
          </a:xfrm>
          <a:prstGeom prst="rect">
            <a:avLst/>
          </a:prstGeom>
          <a:noFill/>
        </p:spPr>
        <p:txBody>
          <a:bodyPr wrap="square">
            <a:spAutoFit/>
          </a:bodyPr>
          <a:lstStyle/>
          <a:p>
            <a:pPr algn="l"/>
            <a:r>
              <a:rPr sz="1100" b="0" i="0">
                <a:solidFill>
                  <a:srgbClr val="C8D4EE"/>
                </a:solidFill>
              </a:rPr>
              <a:t>Fragmented spreadsheets, disconnected service providers, manual document exchange, and siloed reporting are genuine operational problems for property portfolio managers. Crossroad's positioning around a single synoptic view of all assets, projects, and teams is correct. The product logic is sound. The gap is getting qualified evaluators into the funnel efficiently.</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300" b="1" i="0">
                <a:solidFill>
                  <a:srgbClr val="FFFFFF"/>
                </a:solidFill>
              </a:rPr>
              <a:t>50 Years of Combined Experience Executing Large European Real Estate Trades</a:t>
            </a:r>
          </a:p>
        </p:txBody>
      </p:sp>
      <p:sp>
        <p:nvSpPr>
          <p:cNvPr id="18" name="TextBox 17"/>
          <p:cNvSpPr txBox="1"/>
          <p:nvPr/>
        </p:nvSpPr>
        <p:spPr>
          <a:xfrm>
            <a:off x="685800" y="4754880"/>
            <a:ext cx="10789920" cy="548640"/>
          </a:xfrm>
          <a:prstGeom prst="rect">
            <a:avLst/>
          </a:prstGeom>
          <a:noFill/>
        </p:spPr>
        <p:txBody>
          <a:bodyPr wrap="square">
            <a:spAutoFit/>
          </a:bodyPr>
          <a:lstStyle/>
          <a:p>
            <a:pPr algn="l"/>
            <a:r>
              <a:rPr sz="1100" b="0" i="0">
                <a:solidFill>
                  <a:srgbClr val="C8D4EE"/>
                </a:solidFill>
              </a:rPr>
              <a:t>Mauro and Alex have transacted hundreds of millions across European markets. They understand the operational complexity they are solving. That depth makes the product credible to institutional property managers who are the most valuable potential clients - and the most demanding evaluators during a sales process.</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300" b="1" i="0">
                <a:solidFill>
                  <a:srgbClr val="FFFFFF"/>
                </a:solidFill>
              </a:rPr>
              <a:t>The Irony Is the Pitch - and It Is Not Hostile</a:t>
            </a:r>
          </a:p>
        </p:txBody>
      </p:sp>
      <p:sp>
        <p:nvSpPr>
          <p:cNvPr id="21" name="TextBox 20"/>
          <p:cNvSpPr txBox="1"/>
          <p:nvPr/>
        </p:nvSpPr>
        <p:spPr>
          <a:xfrm>
            <a:off x="685800" y="5715000"/>
            <a:ext cx="10789920" cy="548640"/>
          </a:xfrm>
          <a:prstGeom prst="rect">
            <a:avLst/>
          </a:prstGeom>
          <a:noFill/>
        </p:spPr>
        <p:txBody>
          <a:bodyPr wrap="square">
            <a:spAutoFit/>
          </a:bodyPr>
          <a:lstStyle/>
          <a:p>
            <a:pPr algn="l"/>
            <a:r>
              <a:rPr sz="1100" b="0" i="0">
                <a:solidFill>
                  <a:srgbClr val="C8D4EE"/>
                </a:solidFill>
              </a:rPr>
              <a:t>Pointing out that a PropTech company has a manual sales funnel is not a criticism of the product. It is a specific, accurate observation that only someone who looked carefully would make. Mauro published 'Property Management enters the digital era.' The argument applies to his own customer acquisition. He will recognise this immediately - and it opens a conversation rather than closing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THE THREE GAPS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400" b="1" i="0">
                <a:solidFill>
                  <a:srgbClr val="FFFFFF"/>
                </a:solidFill>
              </a:rPr>
              <a:t>'Go Digital with Crossroad Today.' CTA Leads to an Email Inbox.</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611880" cy="4572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91640"/>
            <a:ext cx="3392424" cy="384048"/>
          </a:xfrm>
          <a:prstGeom prst="rect">
            <a:avLst/>
          </a:prstGeom>
          <a:noFill/>
        </p:spPr>
        <p:txBody>
          <a:bodyPr wrap="square">
            <a:spAutoFit/>
          </a:bodyPr>
          <a:lstStyle/>
          <a:p>
            <a:pPr algn="ctr"/>
            <a:r>
              <a:rPr sz="1100" b="1" i="0">
                <a:solidFill>
                  <a:srgbClr val="0A0F2E"/>
                </a:solidFill>
              </a:rPr>
              <a:t>GAP 1
MANUAL
SALES FUNNEL</a:t>
            </a:r>
          </a:p>
        </p:txBody>
      </p:sp>
      <p:sp>
        <p:nvSpPr>
          <p:cNvPr id="9" name="Rectangle 8"/>
          <p:cNvSpPr/>
          <p:nvPr/>
        </p:nvSpPr>
        <p:spPr>
          <a:xfrm>
            <a:off x="502920"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176272"/>
            <a:ext cx="3392424" cy="320040"/>
          </a:xfrm>
          <a:prstGeom prst="rect">
            <a:avLst/>
          </a:prstGeom>
          <a:noFill/>
        </p:spPr>
        <p:txBody>
          <a:bodyPr wrap="square">
            <a:spAutoFit/>
          </a:bodyPr>
          <a:lstStyle/>
          <a:p>
            <a:pPr algn="l"/>
            <a:r>
              <a:rPr sz="1000" b="0" i="1">
                <a:solidFill>
                  <a:srgbClr val="FF4D4D"/>
                </a:solidFill>
              </a:rPr>
              <a:t>The mechanism for digital transformation is an email</a:t>
            </a:r>
          </a:p>
        </p:txBody>
      </p:sp>
      <p:sp>
        <p:nvSpPr>
          <p:cNvPr id="11" name="TextBox 10"/>
          <p:cNvSpPr txBox="1"/>
          <p:nvPr/>
        </p:nvSpPr>
        <p:spPr>
          <a:xfrm>
            <a:off x="612648" y="2542032"/>
            <a:ext cx="3392424" cy="35661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Homepage CTA: 'Go Digital with Crossroad Today' -&gt; resolves to info@enerinvest.com</a:t>
            </a:r>
          </a:p>
          <a:p>
            <a:pPr algn="l">
              <a:spcAft>
                <a:spcPts val="600"/>
              </a:spcAft>
            </a:pPr>
            <a:r>
              <a:rPr sz="900"/>
              <a:t>  </a:t>
            </a:r>
            <a:r>
              <a:rPr sz="900" b="1">
                <a:solidFill>
                  <a:srgbClr val="FF4D4D"/>
                </a:solidFill>
              </a:rPr>
              <a:t>* </a:t>
            </a:r>
            <a:r>
              <a:rPr sz="1100">
                <a:solidFill>
                  <a:srgbClr val="C8D4EE"/>
                </a:solidFill>
              </a:rPr>
              <a:t>No demo booking automation - prospect interest captured with zero qualifying context</a:t>
            </a:r>
          </a:p>
          <a:p>
            <a:pPr algn="l">
              <a:spcAft>
                <a:spcPts val="600"/>
              </a:spcAft>
            </a:pPr>
            <a:r>
              <a:rPr sz="900"/>
              <a:t>  </a:t>
            </a:r>
            <a:r>
              <a:rPr sz="900" b="1">
                <a:solidFill>
                  <a:srgbClr val="FF4D4D"/>
                </a:solidFill>
              </a:rPr>
              <a:t>* </a:t>
            </a:r>
            <a:r>
              <a:rPr sz="1100">
                <a:solidFill>
                  <a:srgbClr val="C8D4EE"/>
                </a:solidFill>
              </a:rPr>
              <a:t>No AI chatbot to answer product questions in real time or qualify portfolio size/type</a:t>
            </a:r>
          </a:p>
          <a:p>
            <a:pPr algn="l"/>
            <a:r>
              <a:rPr sz="900"/>
              <a:t>  </a:t>
            </a:r>
            <a:r>
              <a:rPr sz="900" b="1">
                <a:solidFill>
                  <a:srgbClr val="FF4D4D"/>
                </a:solidFill>
              </a:rPr>
              <a:t>* </a:t>
            </a:r>
            <a:r>
              <a:rPr sz="1100">
                <a:solidFill>
                  <a:srgbClr val="C8D4EE"/>
                </a:solidFill>
              </a:rPr>
              <a:t>No post-visit nurture - non-converting visitors disappear permanently</a:t>
            </a:r>
          </a:p>
        </p:txBody>
      </p:sp>
      <p:sp>
        <p:nvSpPr>
          <p:cNvPr id="12" name="Rectangle 11"/>
          <p:cNvSpPr/>
          <p:nvPr/>
        </p:nvSpPr>
        <p:spPr>
          <a:xfrm>
            <a:off x="4279392" y="1645920"/>
            <a:ext cx="3611880" cy="4572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1691640"/>
            <a:ext cx="3392424" cy="384048"/>
          </a:xfrm>
          <a:prstGeom prst="rect">
            <a:avLst/>
          </a:prstGeom>
          <a:noFill/>
        </p:spPr>
        <p:txBody>
          <a:bodyPr wrap="square">
            <a:spAutoFit/>
          </a:bodyPr>
          <a:lstStyle/>
          <a:p>
            <a:pPr algn="ctr"/>
            <a:r>
              <a:rPr sz="1100" b="1" i="0">
                <a:solidFill>
                  <a:srgbClr val="0A0F2E"/>
                </a:solidFill>
              </a:rPr>
              <a:t>GAP 2
NO SOCIAL PROOF
OR SEO CONTENT</a:t>
            </a:r>
          </a:p>
        </p:txBody>
      </p:sp>
      <p:sp>
        <p:nvSpPr>
          <p:cNvPr id="14" name="Rectangle 13"/>
          <p:cNvSpPr/>
          <p:nvPr/>
        </p:nvSpPr>
        <p:spPr>
          <a:xfrm>
            <a:off x="4279392"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2176272"/>
            <a:ext cx="3392424" cy="320040"/>
          </a:xfrm>
          <a:prstGeom prst="rect">
            <a:avLst/>
          </a:prstGeom>
          <a:noFill/>
        </p:spPr>
        <p:txBody>
          <a:bodyPr wrap="square">
            <a:spAutoFit/>
          </a:bodyPr>
          <a:lstStyle/>
          <a:p>
            <a:pPr algn="l"/>
            <a:r>
              <a:rPr sz="1000" b="0" i="1">
                <a:solidFill>
                  <a:srgbClr val="F5C518"/>
                </a:solidFill>
              </a:rPr>
              <a:t>8 years in market, 2 published pieces - none of it on the site</a:t>
            </a:r>
          </a:p>
        </p:txBody>
      </p:sp>
      <p:sp>
        <p:nvSpPr>
          <p:cNvPr id="16" name="TextBox 15"/>
          <p:cNvSpPr txBox="1"/>
          <p:nvPr/>
        </p:nvSpPr>
        <p:spPr>
          <a:xfrm>
            <a:off x="4389120" y="2542032"/>
            <a:ext cx="3392424" cy="35661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No case studies, no client logos, no outcome metrics despite 8 years operating</a:t>
            </a:r>
          </a:p>
          <a:p>
            <a:pPr algn="l">
              <a:spcAft>
                <a:spcPts val="600"/>
              </a:spcAft>
            </a:pPr>
            <a:r>
              <a:rPr sz="900"/>
              <a:t>  </a:t>
            </a:r>
            <a:r>
              <a:rPr sz="900" b="1">
                <a:solidFill>
                  <a:srgbClr val="F5C518"/>
                </a:solidFill>
              </a:rPr>
              <a:t>* </a:t>
            </a:r>
            <a:r>
              <a:rPr sz="1100">
                <a:solidFill>
                  <a:srgbClr val="C8D4EE"/>
                </a:solidFill>
              </a:rPr>
              <a:t>Mauro's two LinkedIn articles not indexed as site content - SEO value entirely lost</a:t>
            </a:r>
          </a:p>
          <a:p>
            <a:pPr algn="l">
              <a:spcAft>
                <a:spcPts val="600"/>
              </a:spcAft>
            </a:pPr>
            <a:r>
              <a:rPr sz="900"/>
              <a:t>  </a:t>
            </a:r>
            <a:r>
              <a:rPr sz="900" b="1">
                <a:solidFill>
                  <a:srgbClr val="F5C518"/>
                </a:solidFill>
              </a:rPr>
              <a:t>* </a:t>
            </a:r>
            <a:r>
              <a:rPr sz="1100">
                <a:solidFill>
                  <a:srgbClr val="C8D4EE"/>
                </a:solidFill>
              </a:rPr>
              <a:t>No pricing page: lengthens B2B sales cycles by forcing 1:1 qualification for every prospect</a:t>
            </a:r>
          </a:p>
          <a:p>
            <a:pPr algn="l"/>
            <a:r>
              <a:rPr sz="900"/>
              <a:t>  </a:t>
            </a:r>
            <a:r>
              <a:rPr sz="900" b="1">
                <a:solidFill>
                  <a:srgbClr val="F5C518"/>
                </a:solidFill>
              </a:rPr>
              <a:t>* </a:t>
            </a:r>
            <a:r>
              <a:rPr sz="1100">
                <a:solidFill>
                  <a:srgbClr val="C8D4EE"/>
                </a:solidFill>
              </a:rPr>
              <a:t>No ROI calculator for property managers to self-qualify before requesting a demo</a:t>
            </a:r>
          </a:p>
        </p:txBody>
      </p:sp>
      <p:sp>
        <p:nvSpPr>
          <p:cNvPr id="17" name="Rectangle 16"/>
          <p:cNvSpPr/>
          <p:nvPr/>
        </p:nvSpPr>
        <p:spPr>
          <a:xfrm>
            <a:off x="8055864" y="1645920"/>
            <a:ext cx="3611880" cy="4572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1691640"/>
            <a:ext cx="3392424" cy="384048"/>
          </a:xfrm>
          <a:prstGeom prst="rect">
            <a:avLst/>
          </a:prstGeom>
          <a:noFill/>
        </p:spPr>
        <p:txBody>
          <a:bodyPr wrap="square">
            <a:spAutoFit/>
          </a:bodyPr>
          <a:lstStyle/>
          <a:p>
            <a:pPr algn="ctr"/>
            <a:r>
              <a:rPr sz="1100" b="1" i="0">
                <a:solidFill>
                  <a:srgbClr val="0A0F2E"/>
                </a:solidFill>
              </a:rPr>
              <a:t>GAP 3
FRICTION IN THE
EVALUATOR PATH</a:t>
            </a:r>
          </a:p>
        </p:txBody>
      </p:sp>
      <p:sp>
        <p:nvSpPr>
          <p:cNvPr id="19" name="Rectangle 18"/>
          <p:cNvSpPr/>
          <p:nvPr/>
        </p:nvSpPr>
        <p:spPr>
          <a:xfrm>
            <a:off x="8055864" y="2103120"/>
            <a:ext cx="361188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176272"/>
            <a:ext cx="3392424" cy="320040"/>
          </a:xfrm>
          <a:prstGeom prst="rect">
            <a:avLst/>
          </a:prstGeom>
          <a:noFill/>
        </p:spPr>
        <p:txBody>
          <a:bodyPr wrap="square">
            <a:spAutoFit/>
          </a:bodyPr>
          <a:lstStyle/>
          <a:p>
            <a:pPr algn="l"/>
            <a:r>
              <a:rPr sz="1000" b="0" i="1">
                <a:solidFill>
                  <a:srgbClr val="4F8EFF"/>
                </a:solidFill>
              </a:rPr>
              <a:t>No self-serve option for inbound evaluators</a:t>
            </a:r>
          </a:p>
        </p:txBody>
      </p:sp>
      <p:sp>
        <p:nvSpPr>
          <p:cNvPr id="21" name="TextBox 20"/>
          <p:cNvSpPr txBox="1"/>
          <p:nvPr/>
        </p:nvSpPr>
        <p:spPr>
          <a:xfrm>
            <a:off x="8165592" y="2542032"/>
            <a:ext cx="3392424" cy="3566160"/>
          </a:xfrm>
          <a:prstGeom prst="rect">
            <a:avLst/>
          </a:prstGeom>
          <a:noFill/>
        </p:spPr>
        <p:txBody>
          <a:bodyPr wrap="square">
            <a:spAutoFit/>
          </a:bodyPr>
          <a:lstStyle/>
          <a:p>
            <a:pPr algn="l">
              <a:spcAft>
                <a:spcPts val="600"/>
              </a:spcAft>
            </a:pPr>
            <a:r>
              <a:rPr sz="900"/>
              <a:t>  </a:t>
            </a:r>
            <a:r>
              <a:rPr sz="900" b="1">
                <a:solidFill>
                  <a:srgbClr val="4F8EFF"/>
                </a:solidFill>
              </a:rPr>
              <a:t>* </a:t>
            </a:r>
            <a:r>
              <a:rPr sz="1100">
                <a:solidFill>
                  <a:srgbClr val="C8D4EE"/>
                </a:solidFill>
              </a:rPr>
              <a:t>No free trial or freemium tier - every evaluator requires a full sales conversation</a:t>
            </a:r>
          </a:p>
          <a:p>
            <a:pPr algn="l">
              <a:spcAft>
                <a:spcPts val="600"/>
              </a:spcAft>
            </a:pPr>
            <a:r>
              <a:rPr sz="900"/>
              <a:t>  </a:t>
            </a:r>
            <a:r>
              <a:rPr sz="900" b="1">
                <a:solidFill>
                  <a:srgbClr val="4F8EFF"/>
                </a:solidFill>
              </a:rPr>
              <a:t>* </a:t>
            </a:r>
            <a:r>
              <a:rPr sz="1100">
                <a:solidFill>
                  <a:srgbClr val="C8D4EE"/>
                </a:solidFill>
              </a:rPr>
              <a:t>A property manager comparing 5 SaaS options will choose the one they can try first</a:t>
            </a:r>
          </a:p>
          <a:p>
            <a:pPr algn="l">
              <a:spcAft>
                <a:spcPts val="600"/>
              </a:spcAft>
            </a:pPr>
            <a:r>
              <a:rPr sz="900"/>
              <a:t>  </a:t>
            </a:r>
            <a:r>
              <a:rPr sz="900" b="1">
                <a:solidFill>
                  <a:srgbClr val="4F8EFF"/>
                </a:solidFill>
              </a:rPr>
              <a:t>* </a:t>
            </a:r>
            <a:r>
              <a:rPr sz="1100">
                <a:solidFill>
                  <a:srgbClr val="C8D4EE"/>
                </a:solidFill>
              </a:rPr>
              <a:t>No product tour, no explainer video, no interactive demo - evaluate by email only</a:t>
            </a:r>
          </a:p>
          <a:p>
            <a:pPr algn="l"/>
            <a:r>
              <a:rPr sz="900"/>
              <a:t>  </a:t>
            </a:r>
            <a:r>
              <a:rPr sz="900" b="1">
                <a:solidFill>
                  <a:srgbClr val="4F8EFF"/>
                </a:solidFill>
              </a:rPr>
              <a:t>* </a:t>
            </a:r>
            <a:r>
              <a:rPr sz="1100">
                <a:solidFill>
                  <a:srgbClr val="C8D4EE"/>
                </a:solidFill>
              </a:rPr>
              <a:t>Institutional clients (Mauro's target) will evaluate rigorously - the evaluation process must match their standard</a:t>
            </a:r>
          </a:p>
        </p:txBody>
      </p:sp>
      <p:sp>
        <p:nvSpPr>
          <p:cNvPr id="22" name="Rectangle 21"/>
          <p:cNvSpPr/>
          <p:nvPr/>
        </p:nvSpPr>
        <p:spPr>
          <a:xfrm>
            <a:off x="502920" y="6446520"/>
            <a:ext cx="11183112" cy="27432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73952"/>
            <a:ext cx="10972800" cy="228600"/>
          </a:xfrm>
          <a:prstGeom prst="rect">
            <a:avLst/>
          </a:prstGeom>
          <a:noFill/>
        </p:spPr>
        <p:txBody>
          <a:bodyPr wrap="square">
            <a:spAutoFit/>
          </a:bodyPr>
          <a:lstStyle/>
          <a:p>
            <a:pPr algn="l"/>
            <a:r>
              <a:rPr sz="1100" b="0" i="1">
                <a:solidFill>
                  <a:srgbClr val="F5C518"/>
                </a:solidFill>
              </a:rPr>
              <a:t>The product digitises property management. The sales funnel is still operating like it's 2010.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600" b="1" i="0">
                <a:solidFill>
                  <a:srgbClr val="FFFFFF"/>
                </a:solidFill>
              </a:rPr>
              <a:t>Well Designed. Manually Operated.</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900" b="1" i="0">
                <a:solidFill>
                  <a:srgbClr val="FFFFFF"/>
                </a:solidFill>
              </a:rPr>
              <a:t>CROSSROAD.APP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CTA 'Go Digital Today' -&gt; email inbox</a:t>
            </a:r>
          </a:p>
          <a:p>
            <a:pPr algn="l">
              <a:spcAft>
                <a:spcPts val="600"/>
              </a:spcAft>
            </a:pPr>
            <a:r>
              <a:rPr sz="900"/>
              <a:t>  </a:t>
            </a:r>
            <a:r>
              <a:rPr sz="900" b="1">
                <a:solidFill>
                  <a:srgbClr val="FF4D4D"/>
                </a:solidFill>
              </a:rPr>
              <a:t>* </a:t>
            </a:r>
            <a:r>
              <a:rPr sz="1100">
                <a:solidFill>
                  <a:srgbClr val="C8D4EE"/>
                </a:solidFill>
              </a:rPr>
              <a:t>No AI chatbot or demo booking automation</a:t>
            </a:r>
          </a:p>
          <a:p>
            <a:pPr algn="l">
              <a:spcAft>
                <a:spcPts val="600"/>
              </a:spcAft>
            </a:pPr>
            <a:r>
              <a:rPr sz="900"/>
              <a:t>  </a:t>
            </a:r>
            <a:r>
              <a:rPr sz="900" b="1">
                <a:solidFill>
                  <a:srgbClr val="FF4D4D"/>
                </a:solidFill>
              </a:rPr>
              <a:t>* </a:t>
            </a:r>
            <a:r>
              <a:rPr sz="1100">
                <a:solidFill>
                  <a:srgbClr val="C8D4EE"/>
                </a:solidFill>
              </a:rPr>
              <a:t>No qualifying intake (portfolio size, type, pain)</a:t>
            </a:r>
          </a:p>
          <a:p>
            <a:pPr algn="l">
              <a:spcAft>
                <a:spcPts val="600"/>
              </a:spcAft>
            </a:pPr>
            <a:r>
              <a:rPr sz="900"/>
              <a:t>  </a:t>
            </a:r>
            <a:r>
              <a:rPr sz="900" b="1">
                <a:solidFill>
                  <a:srgbClr val="FF4D4D"/>
                </a:solidFill>
              </a:rPr>
              <a:t>* </a:t>
            </a:r>
            <a:r>
              <a:rPr sz="1100">
                <a:solidFill>
                  <a:srgbClr val="C8D4EE"/>
                </a:solidFill>
              </a:rPr>
              <a:t>No post-visit nurture sequence</a:t>
            </a:r>
          </a:p>
          <a:p>
            <a:pPr algn="l">
              <a:spcAft>
                <a:spcPts val="600"/>
              </a:spcAft>
            </a:pPr>
            <a:r>
              <a:rPr sz="900"/>
              <a:t>  </a:t>
            </a:r>
            <a:r>
              <a:rPr sz="900" b="1">
                <a:solidFill>
                  <a:srgbClr val="FF4D4D"/>
                </a:solidFill>
              </a:rPr>
              <a:t>* </a:t>
            </a:r>
            <a:r>
              <a:rPr sz="1100">
                <a:solidFill>
                  <a:srgbClr val="C8D4EE"/>
                </a:solidFill>
              </a:rPr>
              <a:t>No pricing page</a:t>
            </a:r>
          </a:p>
          <a:p>
            <a:pPr algn="l">
              <a:spcAft>
                <a:spcPts val="600"/>
              </a:spcAft>
            </a:pPr>
            <a:r>
              <a:rPr sz="900"/>
              <a:t>  </a:t>
            </a:r>
            <a:r>
              <a:rPr sz="900" b="1">
                <a:solidFill>
                  <a:srgbClr val="FF4D4D"/>
                </a:solidFill>
              </a:rPr>
              <a:t>* </a:t>
            </a:r>
            <a:r>
              <a:rPr sz="1100">
                <a:solidFill>
                  <a:srgbClr val="C8D4EE"/>
                </a:solidFill>
              </a:rPr>
              <a:t>No case studies or client logos</a:t>
            </a:r>
          </a:p>
          <a:p>
            <a:pPr algn="l">
              <a:spcAft>
                <a:spcPts val="600"/>
              </a:spcAft>
            </a:pPr>
            <a:r>
              <a:rPr sz="900"/>
              <a:t>  </a:t>
            </a:r>
            <a:r>
              <a:rPr sz="900" b="1">
                <a:solidFill>
                  <a:srgbClr val="FF4D4D"/>
                </a:solidFill>
              </a:rPr>
              <a:t>* </a:t>
            </a:r>
            <a:r>
              <a:rPr sz="1100">
                <a:solidFill>
                  <a:srgbClr val="C8D4EE"/>
                </a:solidFill>
              </a:rPr>
              <a:t>LinkedIn articles not on site as blog</a:t>
            </a:r>
          </a:p>
          <a:p>
            <a:pPr algn="l"/>
            <a:r>
              <a:rPr sz="900"/>
              <a:t>  </a:t>
            </a:r>
            <a:r>
              <a:rPr sz="900" b="1">
                <a:solidFill>
                  <a:srgbClr val="FF4D4D"/>
                </a:solidFill>
              </a:rPr>
              <a:t>* </a:t>
            </a:r>
            <a:r>
              <a:rPr sz="1100">
                <a:solidFill>
                  <a:srgbClr val="C8D4EE"/>
                </a:solidFill>
              </a:rPr>
              <a:t>No free trial or self-serve evaluation path</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B2B SAAS LEADERS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AI chatbot qualifies + books demo automatically</a:t>
            </a:r>
          </a:p>
          <a:p>
            <a:pPr algn="l">
              <a:spcAft>
                <a:spcPts val="600"/>
              </a:spcAft>
            </a:pPr>
            <a:r>
              <a:rPr sz="900"/>
              <a:t>  </a:t>
            </a:r>
            <a:r>
              <a:rPr sz="900" b="1">
                <a:solidFill>
                  <a:srgbClr val="F5C518"/>
                </a:solidFill>
              </a:rPr>
              <a:t>* </a:t>
            </a:r>
            <a:r>
              <a:rPr sz="1100">
                <a:solidFill>
                  <a:srgbClr val="C8D4EE"/>
                </a:solidFill>
              </a:rPr>
              <a:t>Automated demo booking with pre-qualification</a:t>
            </a:r>
          </a:p>
          <a:p>
            <a:pPr algn="l">
              <a:spcAft>
                <a:spcPts val="600"/>
              </a:spcAft>
            </a:pPr>
            <a:r>
              <a:rPr sz="900"/>
              <a:t>  </a:t>
            </a:r>
            <a:r>
              <a:rPr sz="900" b="1">
                <a:solidFill>
                  <a:srgbClr val="F5C518"/>
                </a:solidFill>
              </a:rPr>
              <a:t>* </a:t>
            </a:r>
            <a:r>
              <a:rPr sz="1100">
                <a:solidFill>
                  <a:srgbClr val="C8D4EE"/>
                </a:solidFill>
              </a:rPr>
              <a:t>Pricing page: transparent tiers reduce friction</a:t>
            </a:r>
          </a:p>
          <a:p>
            <a:pPr algn="l">
              <a:spcAft>
                <a:spcPts val="600"/>
              </a:spcAft>
            </a:pPr>
            <a:r>
              <a:rPr sz="900"/>
              <a:t>  </a:t>
            </a:r>
            <a:r>
              <a:rPr sz="900" b="1">
                <a:solidFill>
                  <a:srgbClr val="F5C518"/>
                </a:solidFill>
              </a:rPr>
              <a:t>* </a:t>
            </a:r>
            <a:r>
              <a:rPr sz="1100">
                <a:solidFill>
                  <a:srgbClr val="C8D4EE"/>
                </a:solidFill>
              </a:rPr>
              <a:t>Post-visit Day 1/3/7 nurture sequence</a:t>
            </a:r>
          </a:p>
          <a:p>
            <a:pPr algn="l">
              <a:spcAft>
                <a:spcPts val="600"/>
              </a:spcAft>
            </a:pPr>
            <a:r>
              <a:rPr sz="900"/>
              <a:t>  </a:t>
            </a:r>
            <a:r>
              <a:rPr sz="900" b="1">
                <a:solidFill>
                  <a:srgbClr val="F5C518"/>
                </a:solidFill>
              </a:rPr>
              <a:t>* </a:t>
            </a:r>
            <a:r>
              <a:rPr sz="1100">
                <a:solidFill>
                  <a:srgbClr val="C8D4EE"/>
                </a:solidFill>
              </a:rPr>
              <a:t>Case studies with portfolio size + ROI metrics</a:t>
            </a:r>
          </a:p>
          <a:p>
            <a:pPr algn="l">
              <a:spcAft>
                <a:spcPts val="600"/>
              </a:spcAft>
            </a:pPr>
            <a:r>
              <a:rPr sz="900"/>
              <a:t>  </a:t>
            </a:r>
            <a:r>
              <a:rPr sz="900" b="1">
                <a:solidFill>
                  <a:srgbClr val="F5C518"/>
                </a:solidFill>
              </a:rPr>
              <a:t>* </a:t>
            </a:r>
            <a:r>
              <a:rPr sz="1100">
                <a:solidFill>
                  <a:srgbClr val="C8D4EE"/>
                </a:solidFill>
              </a:rPr>
              <a:t>SEO blog indexed from thought leadership content</a:t>
            </a:r>
          </a:p>
          <a:p>
            <a:pPr algn="l">
              <a:spcAft>
                <a:spcPts val="600"/>
              </a:spcAft>
            </a:pPr>
            <a:r>
              <a:rPr sz="900"/>
              <a:t>  </a:t>
            </a:r>
            <a:r>
              <a:rPr sz="900" b="1">
                <a:solidFill>
                  <a:srgbClr val="F5C518"/>
                </a:solidFill>
              </a:rPr>
              <a:t>* </a:t>
            </a:r>
            <a:r>
              <a:rPr sz="1100">
                <a:solidFill>
                  <a:srgbClr val="C8D4EE"/>
                </a:solidFill>
              </a:rPr>
              <a:t>Free trial or interactive demo for self-serve eval</a:t>
            </a:r>
          </a:p>
          <a:p>
            <a:pPr algn="l"/>
            <a:r>
              <a:rPr sz="900"/>
              <a:t>  </a:t>
            </a:r>
            <a:r>
              <a:rPr sz="900" b="1">
                <a:solidFill>
                  <a:srgbClr val="F5C518"/>
                </a:solidFill>
              </a:rPr>
              <a:t>* </a:t>
            </a:r>
            <a:r>
              <a:rPr sz="1100">
                <a:solidFill>
                  <a:srgbClr val="C8D4EE"/>
                </a:solidFill>
              </a:rPr>
              <a:t>ROI calculator as lead magnet with email gate</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AI chatbot: qualifies by portfolio size, type, pain</a:t>
            </a:r>
          </a:p>
          <a:p>
            <a:pPr algn="l">
              <a:spcAft>
                <a:spcPts val="600"/>
              </a:spcAft>
            </a:pPr>
            <a:r>
              <a:rPr sz="900"/>
              <a:t>  </a:t>
            </a:r>
            <a:r>
              <a:rPr sz="900" b="1">
                <a:solidFill>
                  <a:srgbClr val="2ECC71"/>
                </a:solidFill>
              </a:rPr>
              <a:t>* </a:t>
            </a:r>
            <a:r>
              <a:rPr sz="1100">
                <a:solidFill>
                  <a:srgbClr val="C8D4EE"/>
                </a:solidFill>
              </a:rPr>
              <a:t>Automated demo booking replaces email CTA</a:t>
            </a:r>
          </a:p>
          <a:p>
            <a:pPr algn="l">
              <a:spcAft>
                <a:spcPts val="600"/>
              </a:spcAft>
            </a:pPr>
            <a:r>
              <a:rPr sz="900"/>
              <a:t>  </a:t>
            </a:r>
            <a:r>
              <a:rPr sz="900" b="1">
                <a:solidFill>
                  <a:srgbClr val="2ECC71"/>
                </a:solidFill>
              </a:rPr>
              <a:t>* </a:t>
            </a:r>
            <a:r>
              <a:rPr sz="1100">
                <a:solidFill>
                  <a:srgbClr val="C8D4EE"/>
                </a:solidFill>
              </a:rPr>
              <a:t>Post-visit Day 1/3/7 nurture sequence</a:t>
            </a:r>
          </a:p>
          <a:p>
            <a:pPr algn="l">
              <a:spcAft>
                <a:spcPts val="600"/>
              </a:spcAft>
            </a:pPr>
            <a:r>
              <a:rPr sz="900"/>
              <a:t>  </a:t>
            </a:r>
            <a:r>
              <a:rPr sz="900" b="1">
                <a:solidFill>
                  <a:srgbClr val="2ECC71"/>
                </a:solidFill>
              </a:rPr>
              <a:t>* </a:t>
            </a:r>
            <a:r>
              <a:rPr sz="1100">
                <a:solidFill>
                  <a:srgbClr val="C8D4EE"/>
                </a:solidFill>
              </a:rPr>
              <a:t>Pricing page with transparent starter tier</a:t>
            </a:r>
          </a:p>
          <a:p>
            <a:pPr algn="l">
              <a:spcAft>
                <a:spcPts val="600"/>
              </a:spcAft>
            </a:pPr>
            <a:r>
              <a:rPr sz="900"/>
              <a:t>  </a:t>
            </a:r>
            <a:r>
              <a:rPr sz="900" b="1">
                <a:solidFill>
                  <a:srgbClr val="2ECC71"/>
                </a:solidFill>
              </a:rPr>
              <a:t>* </a:t>
            </a:r>
            <a:r>
              <a:rPr sz="1100">
                <a:solidFill>
                  <a:srgbClr val="C8D4EE"/>
                </a:solidFill>
              </a:rPr>
              <a:t>Mauro's LinkedIn articles indexed as blog</a:t>
            </a:r>
          </a:p>
          <a:p>
            <a:pPr algn="l">
              <a:spcAft>
                <a:spcPts val="600"/>
              </a:spcAft>
            </a:pPr>
            <a:r>
              <a:rPr sz="900"/>
              <a:t>  </a:t>
            </a:r>
            <a:r>
              <a:rPr sz="900" b="1">
                <a:solidFill>
                  <a:srgbClr val="2ECC71"/>
                </a:solidFill>
              </a:rPr>
              <a:t>* </a:t>
            </a:r>
            <a:r>
              <a:rPr sz="1100">
                <a:solidFill>
                  <a:srgbClr val="C8D4EE"/>
                </a:solidFill>
              </a:rPr>
              <a:t>ROI calculator: hours saved per portfolio manager</a:t>
            </a:r>
          </a:p>
          <a:p>
            <a:pPr algn="l">
              <a:spcAft>
                <a:spcPts val="600"/>
              </a:spcAft>
            </a:pPr>
            <a:r>
              <a:rPr sz="900"/>
              <a:t>  </a:t>
            </a:r>
            <a:r>
              <a:rPr sz="900" b="1">
                <a:solidFill>
                  <a:srgbClr val="2ECC71"/>
                </a:solidFill>
              </a:rPr>
              <a:t>* </a:t>
            </a:r>
            <a:r>
              <a:rPr sz="1100">
                <a:solidFill>
                  <a:srgbClr val="C8D4EE"/>
                </a:solidFill>
              </a:rPr>
              <a:t>Case study template + first 2 client stories</a:t>
            </a:r>
          </a:p>
          <a:p>
            <a:pPr algn="l"/>
            <a:r>
              <a:rPr sz="900"/>
              <a:t>  </a:t>
            </a:r>
            <a:r>
              <a:rPr sz="900" b="1">
                <a:solidFill>
                  <a:srgbClr val="2ECC71"/>
                </a:solidFill>
              </a:rPr>
              <a:t>* </a:t>
            </a:r>
            <a:r>
              <a:rPr sz="1100">
                <a:solidFill>
                  <a:srgbClr val="C8D4EE"/>
                </a:solidFill>
              </a:rPr>
              <a:t>European SEO content: UK, Italian, Spanish markets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194560" cy="347472"/>
          </a:xfrm>
          <a:prstGeom prst="rect">
            <a:avLst/>
          </a:prstGeom>
          <a:noFill/>
        </p:spPr>
        <p:txBody>
          <a:bodyPr wrap="square">
            <a:spAutoFit/>
          </a:bodyPr>
          <a:lstStyle/>
          <a:p>
            <a:pPr algn="l"/>
            <a:r>
              <a:rPr sz="1100" b="1" i="0">
                <a:solidFill>
                  <a:srgbClr val="A055FF"/>
                </a:solidFill>
              </a:rPr>
              <a:t>SALES FUNNEL BENCHMARK:</a:t>
            </a:r>
          </a:p>
        </p:txBody>
      </p:sp>
      <p:sp>
        <p:nvSpPr>
          <p:cNvPr id="23" name="TextBox 22"/>
          <p:cNvSpPr txBox="1"/>
          <p:nvPr/>
        </p:nvSpPr>
        <p:spPr>
          <a:xfrm>
            <a:off x="2926080" y="5257800"/>
            <a:ext cx="2286000" cy="502920"/>
          </a:xfrm>
          <a:prstGeom prst="rect">
            <a:avLst/>
          </a:prstGeom>
          <a:noFill/>
        </p:spPr>
        <p:txBody>
          <a:bodyPr wrap="square">
            <a:spAutoFit/>
          </a:bodyPr>
          <a:lstStyle/>
          <a:p>
            <a:pPr algn="ctr"/>
            <a:r>
              <a:rPr sz="2200" b="1" i="0">
                <a:solidFill>
                  <a:srgbClr val="F5C518"/>
                </a:solidFill>
              </a:rPr>
              <a:t>0 sec</a:t>
            </a:r>
          </a:p>
        </p:txBody>
      </p:sp>
      <p:sp>
        <p:nvSpPr>
          <p:cNvPr id="24" name="TextBox 23"/>
          <p:cNvSpPr txBox="1"/>
          <p:nvPr/>
        </p:nvSpPr>
        <p:spPr>
          <a:xfrm>
            <a:off x="2926080" y="5687568"/>
            <a:ext cx="2286000" cy="640080"/>
          </a:xfrm>
          <a:prstGeom prst="rect">
            <a:avLst/>
          </a:prstGeom>
          <a:noFill/>
        </p:spPr>
        <p:txBody>
          <a:bodyPr wrap="square">
            <a:spAutoFit/>
          </a:bodyPr>
          <a:lstStyle/>
          <a:p>
            <a:pPr algn="ctr"/>
            <a:r>
              <a:rPr sz="1000" b="0" i="0">
                <a:solidFill>
                  <a:srgbClr val="C8D4EE"/>
                </a:solidFill>
              </a:rPr>
              <a:t>Demo booking time
with AI chatbot</a:t>
            </a:r>
          </a:p>
        </p:txBody>
      </p:sp>
      <p:sp>
        <p:nvSpPr>
          <p:cNvPr id="25" name="TextBox 24"/>
          <p:cNvSpPr txBox="1"/>
          <p:nvPr/>
        </p:nvSpPr>
        <p:spPr>
          <a:xfrm>
            <a:off x="5394960" y="5257800"/>
            <a:ext cx="2286000" cy="502920"/>
          </a:xfrm>
          <a:prstGeom prst="rect">
            <a:avLst/>
          </a:prstGeom>
          <a:noFill/>
        </p:spPr>
        <p:txBody>
          <a:bodyPr wrap="square">
            <a:spAutoFit/>
          </a:bodyPr>
          <a:lstStyle/>
          <a:p>
            <a:pPr algn="ctr"/>
            <a:r>
              <a:rPr sz="2200" b="1" i="0">
                <a:solidFill>
                  <a:srgbClr val="F5C518"/>
                </a:solidFill>
              </a:rPr>
              <a:t>3-5x</a:t>
            </a:r>
          </a:p>
        </p:txBody>
      </p:sp>
      <p:sp>
        <p:nvSpPr>
          <p:cNvPr id="26" name="TextBox 25"/>
          <p:cNvSpPr txBox="1"/>
          <p:nvPr/>
        </p:nvSpPr>
        <p:spPr>
          <a:xfrm>
            <a:off x="5394960" y="5687568"/>
            <a:ext cx="2286000" cy="640080"/>
          </a:xfrm>
          <a:prstGeom prst="rect">
            <a:avLst/>
          </a:prstGeom>
          <a:noFill/>
        </p:spPr>
        <p:txBody>
          <a:bodyPr wrap="square">
            <a:spAutoFit/>
          </a:bodyPr>
          <a:lstStyle/>
          <a:p>
            <a:pPr algn="ctr"/>
            <a:r>
              <a:rPr sz="1000" b="0" i="0">
                <a:solidFill>
                  <a:srgbClr val="C8D4EE"/>
                </a:solidFill>
              </a:rPr>
              <a:t>More demos booked
vs. email CTA</a:t>
            </a:r>
          </a:p>
        </p:txBody>
      </p:sp>
      <p:sp>
        <p:nvSpPr>
          <p:cNvPr id="27" name="TextBox 26"/>
          <p:cNvSpPr txBox="1"/>
          <p:nvPr/>
        </p:nvSpPr>
        <p:spPr>
          <a:xfrm>
            <a:off x="7863840" y="5257800"/>
            <a:ext cx="2286000" cy="502920"/>
          </a:xfrm>
          <a:prstGeom prst="rect">
            <a:avLst/>
          </a:prstGeom>
          <a:noFill/>
        </p:spPr>
        <p:txBody>
          <a:bodyPr wrap="square">
            <a:spAutoFit/>
          </a:bodyPr>
          <a:lstStyle/>
          <a:p>
            <a:pPr algn="ctr"/>
            <a:r>
              <a:rPr sz="2200" b="1" i="0">
                <a:solidFill>
                  <a:srgbClr val="F5C518"/>
                </a:solidFill>
              </a:rPr>
              <a:t>Day 7</a:t>
            </a:r>
          </a:p>
        </p:txBody>
      </p:sp>
      <p:sp>
        <p:nvSpPr>
          <p:cNvPr id="28" name="TextBox 27"/>
          <p:cNvSpPr txBox="1"/>
          <p:nvPr/>
        </p:nvSpPr>
        <p:spPr>
          <a:xfrm>
            <a:off x="7863840" y="5687568"/>
            <a:ext cx="2286000" cy="640080"/>
          </a:xfrm>
          <a:prstGeom prst="rect">
            <a:avLst/>
          </a:prstGeom>
          <a:noFill/>
        </p:spPr>
        <p:txBody>
          <a:bodyPr wrap="square">
            <a:spAutoFit/>
          </a:bodyPr>
          <a:lstStyle/>
          <a:p>
            <a:pPr algn="ctr"/>
            <a:r>
              <a:rPr sz="1000" b="0" i="0">
                <a:solidFill>
                  <a:srgbClr val="C8D4EE"/>
                </a:solidFill>
              </a:rPr>
              <a:t>Last automated
nurture touchpoint</a:t>
            </a:r>
          </a:p>
        </p:txBody>
      </p:sp>
      <p:sp>
        <p:nvSpPr>
          <p:cNvPr id="29" name="TextBox 28"/>
          <p:cNvSpPr txBox="1"/>
          <p:nvPr/>
        </p:nvSpPr>
        <p:spPr>
          <a:xfrm>
            <a:off x="10332720" y="5257800"/>
            <a:ext cx="2286000" cy="502920"/>
          </a:xfrm>
          <a:prstGeom prst="rect">
            <a:avLst/>
          </a:prstGeom>
          <a:noFill/>
        </p:spPr>
        <p:txBody>
          <a:bodyPr wrap="square">
            <a:spAutoFit/>
          </a:bodyPr>
          <a:lstStyle/>
          <a:p>
            <a:pPr algn="ctr"/>
            <a:r>
              <a:rPr sz="2200" b="1" i="0">
                <a:solidFill>
                  <a:srgbClr val="F5C518"/>
                </a:solidFill>
              </a:rPr>
              <a:t>2 pubs</a:t>
            </a:r>
          </a:p>
        </p:txBody>
      </p:sp>
      <p:sp>
        <p:nvSpPr>
          <p:cNvPr id="30" name="TextBox 29"/>
          <p:cNvSpPr txBox="1"/>
          <p:nvPr/>
        </p:nvSpPr>
        <p:spPr>
          <a:xfrm>
            <a:off x="10332720" y="5687568"/>
            <a:ext cx="2286000" cy="640080"/>
          </a:xfrm>
          <a:prstGeom prst="rect">
            <a:avLst/>
          </a:prstGeom>
          <a:noFill/>
        </p:spPr>
        <p:txBody>
          <a:bodyPr wrap="square">
            <a:spAutoFit/>
          </a:bodyPr>
          <a:lstStyle/>
          <a:p>
            <a:pPr algn="ctr"/>
            <a:r>
              <a:rPr sz="1000" b="0" i="0">
                <a:solidFill>
                  <a:srgbClr val="C8D4EE"/>
                </a:solidFill>
              </a:rPr>
              <a:t>LinkedIn articles
not yet on site as SEO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SALES AUTOMATION STACK</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600" b="1" i="0">
                <a:solidFill>
                  <a:srgbClr val="FFFFFF"/>
                </a:solidFill>
              </a:rPr>
              <a:t>Four Layers That Fill the Demo Pipeline Without Manual Work.</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69748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2478024" cy="594360"/>
          </a:xfrm>
          <a:prstGeom prst="rect">
            <a:avLst/>
          </a:prstGeom>
          <a:noFill/>
        </p:spPr>
        <p:txBody>
          <a:bodyPr wrap="square">
            <a:spAutoFit/>
          </a:bodyPr>
          <a:lstStyle/>
          <a:p>
            <a:pPr algn="l"/>
            <a:r>
              <a:rPr sz="1300" b="1" i="0">
                <a:solidFill>
                  <a:srgbClr val="00B4D8"/>
                </a:solidFill>
              </a:rPr>
              <a:t>AI Chatbot +
Demo Booking</a:t>
            </a:r>
          </a:p>
        </p:txBody>
      </p:sp>
      <p:sp>
        <p:nvSpPr>
          <p:cNvPr id="10" name="TextBox 9"/>
          <p:cNvSpPr txBox="1"/>
          <p:nvPr/>
        </p:nvSpPr>
        <p:spPr>
          <a:xfrm>
            <a:off x="612648" y="2423160"/>
            <a:ext cx="2478024" cy="3337560"/>
          </a:xfrm>
          <a:prstGeom prst="rect">
            <a:avLst/>
          </a:prstGeom>
          <a:noFill/>
        </p:spPr>
        <p:txBody>
          <a:bodyPr wrap="square">
            <a:spAutoFit/>
          </a:bodyPr>
          <a:lstStyle/>
          <a:p>
            <a:pPr algn="l"/>
            <a:r>
              <a:rPr sz="1100" b="0" i="0">
                <a:solidFill>
                  <a:srgbClr val="C8D4EE"/>
                </a:solidFill>
              </a:rPr>
              <a:t>Replaces the email CTA. A visitor lands on crossroad.app, has questions about asset management scope or CRM functionality. An AI chatbot answers in real time, qualifies by portfolio size, property type (commercial, residential, mixed), geography, and current tooling. Qualified prospects book a demo directly. Non-qualified visitors are routed to content. Mauro and Alex only receive pre-qualified demo requests with full context attached.</a:t>
            </a:r>
          </a:p>
        </p:txBody>
      </p:sp>
      <p:sp>
        <p:nvSpPr>
          <p:cNvPr id="11" name="Rectangle 10"/>
          <p:cNvSpPr/>
          <p:nvPr/>
        </p:nvSpPr>
        <p:spPr>
          <a:xfrm>
            <a:off x="3346704" y="1645920"/>
            <a:ext cx="269748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6432" y="1810512"/>
            <a:ext cx="2478024" cy="594360"/>
          </a:xfrm>
          <a:prstGeom prst="rect">
            <a:avLst/>
          </a:prstGeom>
          <a:noFill/>
        </p:spPr>
        <p:txBody>
          <a:bodyPr wrap="square">
            <a:spAutoFit/>
          </a:bodyPr>
          <a:lstStyle/>
          <a:p>
            <a:pPr algn="l"/>
            <a:r>
              <a:rPr sz="1300" b="1" i="0">
                <a:solidFill>
                  <a:srgbClr val="F5C518"/>
                </a:solidFill>
              </a:rPr>
              <a:t>Post-Visit
Nurture Sequence</a:t>
            </a:r>
          </a:p>
        </p:txBody>
      </p:sp>
      <p:sp>
        <p:nvSpPr>
          <p:cNvPr id="14" name="TextBox 13"/>
          <p:cNvSpPr txBox="1"/>
          <p:nvPr/>
        </p:nvSpPr>
        <p:spPr>
          <a:xfrm>
            <a:off x="3456432" y="2423160"/>
            <a:ext cx="2478024" cy="3337560"/>
          </a:xfrm>
          <a:prstGeom prst="rect">
            <a:avLst/>
          </a:prstGeom>
          <a:noFill/>
        </p:spPr>
        <p:txBody>
          <a:bodyPr wrap="square">
            <a:spAutoFit/>
          </a:bodyPr>
          <a:lstStyle/>
          <a:p>
            <a:pPr algn="l"/>
            <a:r>
              <a:rPr sz="1100" b="0" i="0">
                <a:solidFill>
                  <a:srgbClr val="C8D4EE"/>
                </a:solidFill>
              </a:rPr>
              <a:t>A property manager who visits crossroad.app, reads the product pages, and does not immediately book is not saying no - they are comparing. A Day 1 follow-up email summarising the platform, Day 3 featuring a use case, and Day 7 with an ROI question re-engages them at the decision moment. For B2B SaaS where the sales cycle is weeks not minutes, the nurture sequence is where most deals are actually won.</a:t>
            </a:r>
          </a:p>
        </p:txBody>
      </p:sp>
      <p:sp>
        <p:nvSpPr>
          <p:cNvPr id="15" name="Rectangle 14"/>
          <p:cNvSpPr/>
          <p:nvPr/>
        </p:nvSpPr>
        <p:spPr>
          <a:xfrm>
            <a:off x="6190488" y="1645920"/>
            <a:ext cx="269748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0488"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0216" y="1810512"/>
            <a:ext cx="2478024" cy="594360"/>
          </a:xfrm>
          <a:prstGeom prst="rect">
            <a:avLst/>
          </a:prstGeom>
          <a:noFill/>
        </p:spPr>
        <p:txBody>
          <a:bodyPr wrap="square">
            <a:spAutoFit/>
          </a:bodyPr>
          <a:lstStyle/>
          <a:p>
            <a:pPr algn="l"/>
            <a:r>
              <a:rPr sz="1300" b="1" i="0">
                <a:solidFill>
                  <a:srgbClr val="2ECC71"/>
                </a:solidFill>
              </a:rPr>
              <a:t>Content &amp;
SEO Engine</a:t>
            </a:r>
          </a:p>
        </p:txBody>
      </p:sp>
      <p:sp>
        <p:nvSpPr>
          <p:cNvPr id="18" name="TextBox 17"/>
          <p:cNvSpPr txBox="1"/>
          <p:nvPr/>
        </p:nvSpPr>
        <p:spPr>
          <a:xfrm>
            <a:off x="6300216" y="2423160"/>
            <a:ext cx="2478024" cy="3337560"/>
          </a:xfrm>
          <a:prstGeom prst="rect">
            <a:avLst/>
          </a:prstGeom>
          <a:noFill/>
        </p:spPr>
        <p:txBody>
          <a:bodyPr wrap="square">
            <a:spAutoFit/>
          </a:bodyPr>
          <a:lstStyle/>
          <a:p>
            <a:pPr algn="l"/>
            <a:r>
              <a:rPr sz="1100" b="0" i="0">
                <a:solidFill>
                  <a:srgbClr val="C8D4EE"/>
                </a:solidFill>
              </a:rPr>
              <a:t>Mauro published two articles that make the case for PropTech digitisation. Neither is indexed on crossroad.app. Importing them as blog posts, adding state- and market-specific property management guides (UK, Italian, Spanish markets - matching Mauro's language capabilities and European deal history), and building an ROI calculator targets property managers actively researching solutions - the highest-intent inbound traffic possible.</a:t>
            </a:r>
          </a:p>
        </p:txBody>
      </p:sp>
      <p:sp>
        <p:nvSpPr>
          <p:cNvPr id="19" name="Rectangle 18"/>
          <p:cNvSpPr/>
          <p:nvPr/>
        </p:nvSpPr>
        <p:spPr>
          <a:xfrm>
            <a:off x="9034272" y="1645920"/>
            <a:ext cx="269748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00784"/>
            <a:ext cx="269748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1810512"/>
            <a:ext cx="2478024" cy="594360"/>
          </a:xfrm>
          <a:prstGeom prst="rect">
            <a:avLst/>
          </a:prstGeom>
          <a:noFill/>
        </p:spPr>
        <p:txBody>
          <a:bodyPr wrap="square">
            <a:spAutoFit/>
          </a:bodyPr>
          <a:lstStyle/>
          <a:p>
            <a:pPr algn="l"/>
            <a:r>
              <a:rPr sz="1300" b="1" i="0">
                <a:solidFill>
                  <a:srgbClr val="A055FF"/>
                </a:solidFill>
              </a:rPr>
              <a:t>Social Proof
Infrastructure</a:t>
            </a:r>
          </a:p>
        </p:txBody>
      </p:sp>
      <p:sp>
        <p:nvSpPr>
          <p:cNvPr id="22" name="TextBox 21"/>
          <p:cNvSpPr txBox="1"/>
          <p:nvPr/>
        </p:nvSpPr>
        <p:spPr>
          <a:xfrm>
            <a:off x="9144000" y="2423160"/>
            <a:ext cx="2478024" cy="3337560"/>
          </a:xfrm>
          <a:prstGeom prst="rect">
            <a:avLst/>
          </a:prstGeom>
          <a:noFill/>
        </p:spPr>
        <p:txBody>
          <a:bodyPr wrap="square">
            <a:spAutoFit/>
          </a:bodyPr>
          <a:lstStyle/>
          <a:p>
            <a:pPr algn="l"/>
            <a:r>
              <a:rPr sz="1100" b="0" i="0">
                <a:solidFill>
                  <a:srgbClr val="C8D4EE"/>
                </a:solidFill>
              </a:rPr>
              <a:t>8 years of PropTech work with 50 years of combined experience and European institutional trade history. None of it is surfaced as case studies, client logos, or outcome metrics on crossroad.app. A property manager evaluating 5 platforms will disproportionately weight the one with documented client results. A case study template capturing portfolio size, previous tooling, implementation time, and outcomes converts the existing track record into a conversion asset.</a:t>
            </a:r>
          </a:p>
        </p:txBody>
      </p:sp>
      <p:sp>
        <p:nvSpPr>
          <p:cNvPr id="23" name="Rectangle 22"/>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Mauro's job is building and selling Crossroad. The automation layer handles prospect qualification, nurturing, and re-engagement.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8C00"/>
                </a:solidFill>
              </a:rPr>
              <a:t>THE CORE ARGUMENT</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What Mauro Wrote vs. How Crossroad Acquires Customers.</a:t>
            </a:r>
          </a:p>
        </p:txBody>
      </p:sp>
      <p:sp>
        <p:nvSpPr>
          <p:cNvPr id="6" name="Rectangle 5"/>
          <p:cNvSpPr/>
          <p:nvPr/>
        </p:nvSpPr>
        <p:spPr>
          <a:xfrm>
            <a:off x="502920" y="1234440"/>
            <a:ext cx="228600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11183112" cy="12344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81912"/>
            <a:ext cx="10789920" cy="1005840"/>
          </a:xfrm>
          <a:prstGeom prst="rect">
            <a:avLst/>
          </a:prstGeom>
          <a:noFill/>
        </p:spPr>
        <p:txBody>
          <a:bodyPr wrap="square">
            <a:spAutoFit/>
          </a:bodyPr>
          <a:lstStyle/>
          <a:p>
            <a:pPr algn="ctr"/>
            <a:r>
              <a:rPr sz="1600" b="0" i="1">
                <a:solidFill>
                  <a:srgbClr val="F5C518"/>
                </a:solidFill>
              </a:rPr>
              <a:t>"Property management has traditionally been plagued by inefficiencies, fragmented data, and manual processes. Technology is the answer."</a:t>
            </a:r>
          </a:p>
        </p:txBody>
      </p:sp>
      <p:sp>
        <p:nvSpPr>
          <p:cNvPr id="9" name="TextBox 8"/>
          <p:cNvSpPr txBox="1"/>
          <p:nvPr/>
        </p:nvSpPr>
        <p:spPr>
          <a:xfrm>
            <a:off x="685800" y="2514600"/>
            <a:ext cx="10789920" cy="274320"/>
          </a:xfrm>
          <a:prstGeom prst="rect">
            <a:avLst/>
          </a:prstGeom>
          <a:noFill/>
        </p:spPr>
        <p:txBody>
          <a:bodyPr wrap="square">
            <a:spAutoFit/>
          </a:bodyPr>
          <a:lstStyle/>
          <a:p>
            <a:pPr algn="ctr"/>
            <a:r>
              <a:rPr sz="1100" b="0" i="0">
                <a:solidFill>
                  <a:srgbClr val="8A9BBB"/>
                </a:solidFill>
              </a:rPr>
              <a:t>- Mauro Terrinoni, 'Property Management enters the digital era', November 2020</a:t>
            </a:r>
          </a:p>
        </p:txBody>
      </p:sp>
      <p:sp>
        <p:nvSpPr>
          <p:cNvPr id="10" name="Rectangle 9"/>
          <p:cNvSpPr/>
          <p:nvPr/>
        </p:nvSpPr>
        <p:spPr>
          <a:xfrm>
            <a:off x="502920" y="2926080"/>
            <a:ext cx="5394960" cy="3154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90088"/>
            <a:ext cx="5120640" cy="320040"/>
          </a:xfrm>
          <a:prstGeom prst="rect">
            <a:avLst/>
          </a:prstGeom>
          <a:noFill/>
        </p:spPr>
        <p:txBody>
          <a:bodyPr wrap="square">
            <a:spAutoFit/>
          </a:bodyPr>
          <a:lstStyle/>
          <a:p>
            <a:pPr algn="l"/>
            <a:r>
              <a:rPr sz="1100" b="1" i="0">
                <a:solidFill>
                  <a:srgbClr val="FF8C00"/>
                </a:solidFill>
              </a:rPr>
              <a:t>CROSSROAD'S PITCH TO PROPERTY MANAGERS</a:t>
            </a:r>
          </a:p>
        </p:txBody>
      </p:sp>
      <p:sp>
        <p:nvSpPr>
          <p:cNvPr id="12" name="TextBox 11"/>
          <p:cNvSpPr txBox="1"/>
          <p:nvPr/>
        </p:nvSpPr>
        <p:spPr>
          <a:xfrm>
            <a:off x="640080" y="3337560"/>
            <a:ext cx="5120640" cy="2377440"/>
          </a:xfrm>
          <a:prstGeom prst="rect">
            <a:avLst/>
          </a:prstGeom>
          <a:noFill/>
        </p:spPr>
        <p:txBody>
          <a:bodyPr wrap="square">
            <a:spAutoFit/>
          </a:bodyPr>
          <a:lstStyle/>
          <a:p>
            <a:pPr algn="l">
              <a:spcAft>
                <a:spcPts val="600"/>
              </a:spcAft>
            </a:pPr>
            <a:r>
              <a:rPr sz="1000"/>
              <a:t>  </a:t>
            </a:r>
            <a:r>
              <a:rPr sz="1000" b="1">
                <a:solidFill>
                  <a:srgbClr val="FF8C00"/>
                </a:solidFill>
              </a:rPr>
              <a:t>* </a:t>
            </a:r>
            <a:r>
              <a:rPr sz="1200">
                <a:solidFill>
                  <a:srgbClr val="C8D4EE"/>
                </a:solidFill>
              </a:rPr>
              <a:t>Centralise fragmented asset data into one dashboard</a:t>
            </a:r>
          </a:p>
          <a:p>
            <a:pPr algn="l">
              <a:spcAft>
                <a:spcPts val="600"/>
              </a:spcAft>
            </a:pPr>
            <a:r>
              <a:rPr sz="1000"/>
              <a:t>  </a:t>
            </a:r>
            <a:r>
              <a:rPr sz="1000" b="1">
                <a:solidFill>
                  <a:srgbClr val="FF8C00"/>
                </a:solidFill>
              </a:rPr>
              <a:t>* </a:t>
            </a:r>
            <a:r>
              <a:rPr sz="1200">
                <a:solidFill>
                  <a:srgbClr val="C8D4EE"/>
                </a:solidFill>
              </a:rPr>
              <a:t>Replace manual document exchange with digital workflows</a:t>
            </a:r>
          </a:p>
          <a:p>
            <a:pPr algn="l">
              <a:spcAft>
                <a:spcPts val="600"/>
              </a:spcAft>
            </a:pPr>
            <a:r>
              <a:rPr sz="1000"/>
              <a:t>  </a:t>
            </a:r>
            <a:r>
              <a:rPr sz="1000" b="1">
                <a:solidFill>
                  <a:srgbClr val="FF8C00"/>
                </a:solidFill>
              </a:rPr>
              <a:t>* </a:t>
            </a:r>
            <a:r>
              <a:rPr sz="1200">
                <a:solidFill>
                  <a:srgbClr val="C8D4EE"/>
                </a:solidFill>
              </a:rPr>
              <a:t>Eliminate disconnected spreadsheets across team members</a:t>
            </a:r>
          </a:p>
          <a:p>
            <a:pPr algn="l">
              <a:spcAft>
                <a:spcPts val="600"/>
              </a:spcAft>
            </a:pPr>
            <a:r>
              <a:rPr sz="1000"/>
              <a:t>  </a:t>
            </a:r>
            <a:r>
              <a:rPr sz="1000" b="1">
                <a:solidFill>
                  <a:srgbClr val="FF8C00"/>
                </a:solidFill>
              </a:rPr>
              <a:t>* </a:t>
            </a:r>
            <a:r>
              <a:rPr sz="1200">
                <a:solidFill>
                  <a:srgbClr val="C8D4EE"/>
                </a:solidFill>
              </a:rPr>
              <a:t>Automate project and task tracking across service providers</a:t>
            </a:r>
          </a:p>
          <a:p>
            <a:pPr algn="l">
              <a:spcAft>
                <a:spcPts val="600"/>
              </a:spcAft>
            </a:pPr>
            <a:r>
              <a:rPr sz="1000"/>
              <a:t>  </a:t>
            </a:r>
            <a:r>
              <a:rPr sz="1000" b="1">
                <a:solidFill>
                  <a:srgbClr val="FF8C00"/>
                </a:solidFill>
              </a:rPr>
              <a:t>* </a:t>
            </a:r>
            <a:r>
              <a:rPr sz="1200">
                <a:solidFill>
                  <a:srgbClr val="C8D4EE"/>
                </a:solidFill>
              </a:rPr>
              <a:t>Build a CRM that connects buyers, tenants, and borrowers</a:t>
            </a:r>
          </a:p>
          <a:p>
            <a:pPr algn="l"/>
            <a:r>
              <a:rPr sz="1000"/>
              <a:t>  </a:t>
            </a:r>
            <a:r>
              <a:rPr sz="1000" b="1">
                <a:solidFill>
                  <a:srgbClr val="FF8C00"/>
                </a:solidFill>
              </a:rPr>
              <a:t>* </a:t>
            </a:r>
            <a:r>
              <a:rPr sz="1200">
                <a:solidFill>
                  <a:srgbClr val="C8D4EE"/>
                </a:solidFill>
              </a:rPr>
              <a:t>Go digital with your property operations today</a:t>
            </a:r>
          </a:p>
        </p:txBody>
      </p:sp>
      <p:sp>
        <p:nvSpPr>
          <p:cNvPr id="13" name="Rectangle 12"/>
          <p:cNvSpPr/>
          <p:nvPr/>
        </p:nvSpPr>
        <p:spPr>
          <a:xfrm>
            <a:off x="6080760" y="2926080"/>
            <a:ext cx="5605272" cy="3154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2990088"/>
            <a:ext cx="5303520" cy="320040"/>
          </a:xfrm>
          <a:prstGeom prst="rect">
            <a:avLst/>
          </a:prstGeom>
          <a:noFill/>
        </p:spPr>
        <p:txBody>
          <a:bodyPr wrap="square">
            <a:spAutoFit/>
          </a:bodyPr>
          <a:lstStyle/>
          <a:p>
            <a:pPr algn="l"/>
            <a:r>
              <a:rPr sz="1100" b="1" i="0">
                <a:solidFill>
                  <a:srgbClr val="FF4D4D"/>
                </a:solidFill>
              </a:rPr>
              <a:t>HOW CROSSROAD ACQUIRES ITS OWN CUSTOMERS</a:t>
            </a:r>
          </a:p>
        </p:txBody>
      </p:sp>
      <p:sp>
        <p:nvSpPr>
          <p:cNvPr id="15" name="TextBox 14"/>
          <p:cNvSpPr txBox="1"/>
          <p:nvPr/>
        </p:nvSpPr>
        <p:spPr>
          <a:xfrm>
            <a:off x="6217920" y="3337560"/>
            <a:ext cx="5303520" cy="2377440"/>
          </a:xfrm>
          <a:prstGeom prst="rect">
            <a:avLst/>
          </a:prstGeom>
          <a:noFill/>
        </p:spPr>
        <p:txBody>
          <a:bodyPr wrap="square">
            <a:spAutoFit/>
          </a:bodyPr>
          <a:lstStyle/>
          <a:p>
            <a:pPr algn="l">
              <a:spcAft>
                <a:spcPts val="600"/>
              </a:spcAft>
            </a:pPr>
            <a:r>
              <a:rPr sz="1000"/>
              <a:t>  </a:t>
            </a:r>
            <a:r>
              <a:rPr sz="1000" b="1">
                <a:solidFill>
                  <a:srgbClr val="FF4D4D"/>
                </a:solidFill>
              </a:rPr>
              <a:t>* </a:t>
            </a:r>
            <a:r>
              <a:rPr sz="1200">
                <a:solidFill>
                  <a:srgbClr val="C8D4EE"/>
                </a:solidFill>
              </a:rPr>
              <a:t>Prospect reads homepage, wants a demo</a:t>
            </a:r>
          </a:p>
          <a:p>
            <a:pPr algn="l">
              <a:spcAft>
                <a:spcPts val="600"/>
              </a:spcAft>
            </a:pPr>
            <a:r>
              <a:rPr sz="1000"/>
              <a:t>  </a:t>
            </a:r>
            <a:r>
              <a:rPr sz="1000" b="1">
                <a:solidFill>
                  <a:srgbClr val="FF4D4D"/>
                </a:solidFill>
              </a:rPr>
              <a:t>* </a:t>
            </a:r>
            <a:r>
              <a:rPr sz="1200">
                <a:solidFill>
                  <a:srgbClr val="C8D4EE"/>
                </a:solidFill>
              </a:rPr>
              <a:t>CTA: 'Go Digital with Crossroad Today'</a:t>
            </a:r>
          </a:p>
          <a:p>
            <a:pPr algn="l">
              <a:spcAft>
                <a:spcPts val="600"/>
              </a:spcAft>
            </a:pPr>
            <a:r>
              <a:rPr sz="1000"/>
              <a:t>  </a:t>
            </a:r>
            <a:r>
              <a:rPr sz="1000" b="1">
                <a:solidFill>
                  <a:srgbClr val="FF4D4D"/>
                </a:solidFill>
              </a:rPr>
              <a:t>* </a:t>
            </a:r>
            <a:r>
              <a:rPr sz="1200">
                <a:solidFill>
                  <a:srgbClr val="C8D4EE"/>
                </a:solidFill>
              </a:rPr>
              <a:t>Clicks CTA -&gt; opens email client -&gt; writes to info@enerinvest.com</a:t>
            </a:r>
          </a:p>
          <a:p>
            <a:pPr algn="l">
              <a:spcAft>
                <a:spcPts val="600"/>
              </a:spcAft>
            </a:pPr>
            <a:r>
              <a:rPr sz="1000"/>
              <a:t>  </a:t>
            </a:r>
            <a:r>
              <a:rPr sz="1000" b="1">
                <a:solidFill>
                  <a:srgbClr val="FF4D4D"/>
                </a:solidFill>
              </a:rPr>
              <a:t>* </a:t>
            </a:r>
            <a:r>
              <a:rPr sz="1200">
                <a:solidFill>
                  <a:srgbClr val="C8D4EE"/>
                </a:solidFill>
              </a:rPr>
              <a:t>Waits for a human to reply and schedule a call</a:t>
            </a:r>
          </a:p>
          <a:p>
            <a:pPr algn="l">
              <a:spcAft>
                <a:spcPts val="600"/>
              </a:spcAft>
            </a:pPr>
            <a:r>
              <a:rPr sz="1000"/>
              <a:t>  </a:t>
            </a:r>
            <a:r>
              <a:rPr sz="1000" b="1">
                <a:solidFill>
                  <a:srgbClr val="FF4D4D"/>
                </a:solidFill>
              </a:rPr>
              <a:t>* </a:t>
            </a:r>
            <a:r>
              <a:rPr sz="1200">
                <a:solidFill>
                  <a:srgbClr val="C8D4EE"/>
                </a:solidFill>
              </a:rPr>
              <a:t>No chatbot, no qualifier, no nurture if they don't follow through</a:t>
            </a:r>
          </a:p>
          <a:p>
            <a:pPr algn="l"/>
            <a:r>
              <a:rPr sz="1000"/>
              <a:t>  </a:t>
            </a:r>
            <a:r>
              <a:rPr sz="1000" b="1">
                <a:solidFill>
                  <a:srgbClr val="FF4D4D"/>
                </a:solidFill>
              </a:rPr>
              <a:t>* </a:t>
            </a:r>
            <a:r>
              <a:rPr sz="1200">
                <a:solidFill>
                  <a:srgbClr val="C8D4EE"/>
                </a:solidFill>
              </a:rPr>
              <a:t>No pricing, no trial, no self-serve evaluation path</a:t>
            </a:r>
          </a:p>
        </p:txBody>
      </p:sp>
      <p:sp>
        <p:nvSpPr>
          <p:cNvPr id="16" name="Rectangle 15"/>
          <p:cNvSpPr/>
          <p:nvPr/>
        </p:nvSpPr>
        <p:spPr>
          <a:xfrm>
            <a:off x="502920" y="6217920"/>
            <a:ext cx="11183112" cy="34747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263640"/>
            <a:ext cx="10972800" cy="256032"/>
          </a:xfrm>
          <a:prstGeom prst="rect">
            <a:avLst/>
          </a:prstGeom>
          <a:noFill/>
        </p:spPr>
        <p:txBody>
          <a:bodyPr wrap="square">
            <a:spAutoFit/>
          </a:bodyPr>
          <a:lstStyle/>
          <a:p>
            <a:pPr algn="l"/>
            <a:r>
              <a:rPr sz="1100" b="0" i="1">
                <a:solidFill>
                  <a:srgbClr val="FF8C00"/>
                </a:solidFill>
              </a:rPr>
              <a:t>The same inefficiency Crossroad eliminates for property managers is present in Crossroad's own sales process. Genos AI closes that gap.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IMPLEMENTATION PLAN</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Funnel Automation First. Content Second. Social Proof Third.</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1682496"/>
            <a:ext cx="1673352" cy="384048"/>
          </a:xfrm>
          <a:prstGeom prst="rect">
            <a:avLst/>
          </a:prstGeom>
          <a:noFill/>
        </p:spPr>
        <p:txBody>
          <a:bodyPr wrap="square">
            <a:spAutoFit/>
          </a:bodyPr>
          <a:lstStyle/>
          <a:p>
            <a:pPr algn="l"/>
            <a:r>
              <a:rPr sz="1300" b="1" i="0">
                <a:solidFill>
                  <a:srgbClr val="0A0F2E"/>
                </a:solidFill>
              </a:rPr>
              <a:t>PHASE 1</a:t>
            </a:r>
          </a:p>
        </p:txBody>
      </p:sp>
      <p:sp>
        <p:nvSpPr>
          <p:cNvPr id="9" name="TextBox 8"/>
          <p:cNvSpPr txBox="1"/>
          <p:nvPr/>
        </p:nvSpPr>
        <p:spPr>
          <a:xfrm>
            <a:off x="2107692" y="1719072"/>
            <a:ext cx="1824228" cy="347472"/>
          </a:xfrm>
          <a:prstGeom prst="rect">
            <a:avLst/>
          </a:prstGeom>
          <a:noFill/>
        </p:spPr>
        <p:txBody>
          <a:bodyPr wrap="square">
            <a:spAutoFit/>
          </a:bodyPr>
          <a:lstStyle/>
          <a:p>
            <a:pPr algn="r"/>
            <a:r>
              <a:rPr sz="1100" b="0" i="0">
                <a:solidFill>
                  <a:srgbClr val="0A0F2E"/>
                </a:solidFill>
              </a:rPr>
              <a:t>Weeks 1-2</a:t>
            </a:r>
          </a:p>
        </p:txBody>
      </p:sp>
      <p:sp>
        <p:nvSpPr>
          <p:cNvPr id="10" name="Rectangle 9"/>
          <p:cNvSpPr/>
          <p:nvPr/>
        </p:nvSpPr>
        <p:spPr>
          <a:xfrm>
            <a:off x="502920"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 y="226771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212848"/>
            <a:ext cx="3218688" cy="292608"/>
          </a:xfrm>
          <a:prstGeom prst="rect">
            <a:avLst/>
          </a:prstGeom>
          <a:noFill/>
        </p:spPr>
        <p:txBody>
          <a:bodyPr wrap="square">
            <a:spAutoFit/>
          </a:bodyPr>
          <a:lstStyle/>
          <a:p>
            <a:pPr algn="l"/>
            <a:r>
              <a:rPr sz="1200" b="1" i="0">
                <a:solidFill>
                  <a:srgbClr val="F5C518"/>
                </a:solidFill>
              </a:rPr>
              <a:t>AI Chatbot + Demo Booking</a:t>
            </a:r>
          </a:p>
        </p:txBody>
      </p:sp>
      <p:sp>
        <p:nvSpPr>
          <p:cNvPr id="13" name="TextBox 12"/>
          <p:cNvSpPr txBox="1"/>
          <p:nvPr/>
        </p:nvSpPr>
        <p:spPr>
          <a:xfrm>
            <a:off x="731520" y="2487168"/>
            <a:ext cx="3218688" cy="411480"/>
          </a:xfrm>
          <a:prstGeom prst="rect">
            <a:avLst/>
          </a:prstGeom>
          <a:noFill/>
        </p:spPr>
        <p:txBody>
          <a:bodyPr wrap="square">
            <a:spAutoFit/>
          </a:bodyPr>
          <a:lstStyle/>
          <a:p>
            <a:pPr algn="l"/>
            <a:r>
              <a:rPr sz="1100" b="0" i="0">
                <a:solidFill>
                  <a:srgbClr val="C8D4EE"/>
                </a:solidFill>
              </a:rPr>
              <a:t>Chatbot trained on Crossroad features, qualifying by portfolio size, property type, geography, current tools. Automated demo booking replaces email CTA. Mauro receives pre-qualified leads only.</a:t>
            </a:r>
          </a:p>
        </p:txBody>
      </p:sp>
      <p:sp>
        <p:nvSpPr>
          <p:cNvPr id="14" name="Rectangle 13"/>
          <p:cNvSpPr/>
          <p:nvPr/>
        </p:nvSpPr>
        <p:spPr>
          <a:xfrm>
            <a:off x="612648" y="313639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218688" cy="292608"/>
          </a:xfrm>
          <a:prstGeom prst="rect">
            <a:avLst/>
          </a:prstGeom>
          <a:noFill/>
        </p:spPr>
        <p:txBody>
          <a:bodyPr wrap="square">
            <a:spAutoFit/>
          </a:bodyPr>
          <a:lstStyle/>
          <a:p>
            <a:pPr algn="l"/>
            <a:r>
              <a:rPr sz="1200" b="1" i="0">
                <a:solidFill>
                  <a:srgbClr val="F5C518"/>
                </a:solidFill>
              </a:rPr>
              <a:t>Post-Visit Nurture Live</a:t>
            </a:r>
          </a:p>
        </p:txBody>
      </p:sp>
      <p:sp>
        <p:nvSpPr>
          <p:cNvPr id="16" name="TextBox 15"/>
          <p:cNvSpPr txBox="1"/>
          <p:nvPr/>
        </p:nvSpPr>
        <p:spPr>
          <a:xfrm>
            <a:off x="731520" y="3355848"/>
            <a:ext cx="3218688" cy="411480"/>
          </a:xfrm>
          <a:prstGeom prst="rect">
            <a:avLst/>
          </a:prstGeom>
          <a:noFill/>
        </p:spPr>
        <p:txBody>
          <a:bodyPr wrap="square">
            <a:spAutoFit/>
          </a:bodyPr>
          <a:lstStyle/>
          <a:p>
            <a:pPr algn="l"/>
            <a:r>
              <a:rPr sz="1100" b="0" i="0">
                <a:solidFill>
                  <a:srgbClr val="C8D4EE"/>
                </a:solidFill>
              </a:rPr>
              <a:t>Day 1/3/7 email sequence for non-converting visitors. B2B SaaS pipeline is won at touchpoint 3-5, not on first visit.</a:t>
            </a:r>
          </a:p>
        </p:txBody>
      </p:sp>
      <p:sp>
        <p:nvSpPr>
          <p:cNvPr id="17" name="Rectangle 16"/>
          <p:cNvSpPr/>
          <p:nvPr/>
        </p:nvSpPr>
        <p:spPr>
          <a:xfrm>
            <a:off x="612648" y="4005072"/>
            <a:ext cx="45720" cy="47548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50208"/>
            <a:ext cx="3218688" cy="292608"/>
          </a:xfrm>
          <a:prstGeom prst="rect">
            <a:avLst/>
          </a:prstGeom>
          <a:noFill/>
        </p:spPr>
        <p:txBody>
          <a:bodyPr wrap="square">
            <a:spAutoFit/>
          </a:bodyPr>
          <a:lstStyle/>
          <a:p>
            <a:pPr algn="l"/>
            <a:r>
              <a:rPr sz="1200" b="1" i="0">
                <a:solidFill>
                  <a:srgbClr val="F5C518"/>
                </a:solidFill>
              </a:rPr>
              <a:t>LinkedIn Articles as Blog</a:t>
            </a:r>
          </a:p>
        </p:txBody>
      </p:sp>
      <p:sp>
        <p:nvSpPr>
          <p:cNvPr id="19" name="TextBox 18"/>
          <p:cNvSpPr txBox="1"/>
          <p:nvPr/>
        </p:nvSpPr>
        <p:spPr>
          <a:xfrm>
            <a:off x="731520" y="4224528"/>
            <a:ext cx="3218688" cy="411480"/>
          </a:xfrm>
          <a:prstGeom prst="rect">
            <a:avLst/>
          </a:prstGeom>
          <a:noFill/>
        </p:spPr>
        <p:txBody>
          <a:bodyPr wrap="square">
            <a:spAutoFit/>
          </a:bodyPr>
          <a:lstStyle/>
          <a:p>
            <a:pPr algn="l"/>
            <a:r>
              <a:rPr sz="1100" b="0" i="0">
                <a:solidFill>
                  <a:srgbClr val="C8D4EE"/>
                </a:solidFill>
              </a:rPr>
              <a:t>Mauro's two published pieces imported and indexed as site blog. Immediate SEO value from existing content - zero additional writing required.</a:t>
            </a:r>
          </a:p>
        </p:txBody>
      </p:sp>
      <p:sp>
        <p:nvSpPr>
          <p:cNvPr id="20" name="Rectangle 19"/>
          <p:cNvSpPr/>
          <p:nvPr/>
        </p:nvSpPr>
        <p:spPr>
          <a:xfrm>
            <a:off x="4233672" y="1645920"/>
            <a:ext cx="356616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682496"/>
            <a:ext cx="1673352" cy="384048"/>
          </a:xfrm>
          <a:prstGeom prst="rect">
            <a:avLst/>
          </a:prstGeom>
          <a:noFill/>
        </p:spPr>
        <p:txBody>
          <a:bodyPr wrap="square">
            <a:spAutoFit/>
          </a:bodyPr>
          <a:lstStyle/>
          <a:p>
            <a:pPr algn="l"/>
            <a:r>
              <a:rPr sz="1300" b="1" i="0">
                <a:solidFill>
                  <a:srgbClr val="0A0F2E"/>
                </a:solidFill>
              </a:rPr>
              <a:t>PHASE 2</a:t>
            </a:r>
          </a:p>
        </p:txBody>
      </p:sp>
      <p:sp>
        <p:nvSpPr>
          <p:cNvPr id="22" name="TextBox 21"/>
          <p:cNvSpPr txBox="1"/>
          <p:nvPr/>
        </p:nvSpPr>
        <p:spPr>
          <a:xfrm>
            <a:off x="5838444" y="1719072"/>
            <a:ext cx="1824228" cy="347472"/>
          </a:xfrm>
          <a:prstGeom prst="rect">
            <a:avLst/>
          </a:prstGeom>
          <a:noFill/>
        </p:spPr>
        <p:txBody>
          <a:bodyPr wrap="square">
            <a:spAutoFit/>
          </a:bodyPr>
          <a:lstStyle/>
          <a:p>
            <a:pPr algn="r"/>
            <a:r>
              <a:rPr sz="1100" b="0" i="0">
                <a:solidFill>
                  <a:srgbClr val="0A0F2E"/>
                </a:solidFill>
              </a:rPr>
              <a:t>Weeks 3-5</a:t>
            </a:r>
          </a:p>
        </p:txBody>
      </p:sp>
      <p:sp>
        <p:nvSpPr>
          <p:cNvPr id="23" name="Rectangle 22"/>
          <p:cNvSpPr/>
          <p:nvPr/>
        </p:nvSpPr>
        <p:spPr>
          <a:xfrm>
            <a:off x="4233672"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226771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62272" y="2212848"/>
            <a:ext cx="3218688" cy="292608"/>
          </a:xfrm>
          <a:prstGeom prst="rect">
            <a:avLst/>
          </a:prstGeom>
          <a:noFill/>
        </p:spPr>
        <p:txBody>
          <a:bodyPr wrap="square">
            <a:spAutoFit/>
          </a:bodyPr>
          <a:lstStyle/>
          <a:p>
            <a:pPr algn="l"/>
            <a:r>
              <a:rPr sz="1200" b="1" i="0">
                <a:solidFill>
                  <a:srgbClr val="4F8EFF"/>
                </a:solidFill>
              </a:rPr>
              <a:t>Pricing Page</a:t>
            </a:r>
          </a:p>
        </p:txBody>
      </p:sp>
      <p:sp>
        <p:nvSpPr>
          <p:cNvPr id="26" name="TextBox 25"/>
          <p:cNvSpPr txBox="1"/>
          <p:nvPr/>
        </p:nvSpPr>
        <p:spPr>
          <a:xfrm>
            <a:off x="4462272" y="2487168"/>
            <a:ext cx="3218688" cy="411480"/>
          </a:xfrm>
          <a:prstGeom prst="rect">
            <a:avLst/>
          </a:prstGeom>
          <a:noFill/>
        </p:spPr>
        <p:txBody>
          <a:bodyPr wrap="square">
            <a:spAutoFit/>
          </a:bodyPr>
          <a:lstStyle/>
          <a:p>
            <a:pPr algn="l"/>
            <a:r>
              <a:rPr sz="1100" b="0" i="0">
                <a:solidFill>
                  <a:srgbClr val="C8D4EE"/>
                </a:solidFill>
              </a:rPr>
              <a:t>Transparent starter tier (even 'contact for enterprise' with a clear entry point). Reduces friction for inbound evaluators comparing multiple platforms.</a:t>
            </a:r>
          </a:p>
        </p:txBody>
      </p:sp>
      <p:sp>
        <p:nvSpPr>
          <p:cNvPr id="27" name="Rectangle 26"/>
          <p:cNvSpPr/>
          <p:nvPr/>
        </p:nvSpPr>
        <p:spPr>
          <a:xfrm>
            <a:off x="4343400" y="313639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3081528"/>
            <a:ext cx="3218688" cy="292608"/>
          </a:xfrm>
          <a:prstGeom prst="rect">
            <a:avLst/>
          </a:prstGeom>
          <a:noFill/>
        </p:spPr>
        <p:txBody>
          <a:bodyPr wrap="square">
            <a:spAutoFit/>
          </a:bodyPr>
          <a:lstStyle/>
          <a:p>
            <a:pPr algn="l"/>
            <a:r>
              <a:rPr sz="1200" b="1" i="0">
                <a:solidFill>
                  <a:srgbClr val="4F8EFF"/>
                </a:solidFill>
              </a:rPr>
              <a:t>ROI Calculator</a:t>
            </a:r>
          </a:p>
        </p:txBody>
      </p:sp>
      <p:sp>
        <p:nvSpPr>
          <p:cNvPr id="29" name="TextBox 28"/>
          <p:cNvSpPr txBox="1"/>
          <p:nvPr/>
        </p:nvSpPr>
        <p:spPr>
          <a:xfrm>
            <a:off x="4462272" y="3355848"/>
            <a:ext cx="3218688" cy="411480"/>
          </a:xfrm>
          <a:prstGeom prst="rect">
            <a:avLst/>
          </a:prstGeom>
          <a:noFill/>
        </p:spPr>
        <p:txBody>
          <a:bodyPr wrap="square">
            <a:spAutoFit/>
          </a:bodyPr>
          <a:lstStyle/>
          <a:p>
            <a:pPr algn="l"/>
            <a:r>
              <a:rPr sz="1100" b="0" i="0">
                <a:solidFill>
                  <a:srgbClr val="C8D4EE"/>
                </a:solidFill>
              </a:rPr>
              <a:t>Hours saved per property manager per month based on portfolio size and current tooling. Email gate before results. High-intent lead capture from self-qualifying property managers.</a:t>
            </a:r>
          </a:p>
        </p:txBody>
      </p:sp>
      <p:sp>
        <p:nvSpPr>
          <p:cNvPr id="30" name="Rectangle 29"/>
          <p:cNvSpPr/>
          <p:nvPr/>
        </p:nvSpPr>
        <p:spPr>
          <a:xfrm>
            <a:off x="4343400" y="4005072"/>
            <a:ext cx="45720" cy="47548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62272" y="3950208"/>
            <a:ext cx="3218688" cy="292608"/>
          </a:xfrm>
          <a:prstGeom prst="rect">
            <a:avLst/>
          </a:prstGeom>
          <a:noFill/>
        </p:spPr>
        <p:txBody>
          <a:bodyPr wrap="square">
            <a:spAutoFit/>
          </a:bodyPr>
          <a:lstStyle/>
          <a:p>
            <a:pPr algn="l"/>
            <a:r>
              <a:rPr sz="1200" b="1" i="0">
                <a:solidFill>
                  <a:srgbClr val="4F8EFF"/>
                </a:solidFill>
              </a:rPr>
              <a:t>Case Study Template</a:t>
            </a:r>
          </a:p>
        </p:txBody>
      </p:sp>
      <p:sp>
        <p:nvSpPr>
          <p:cNvPr id="32" name="TextBox 31"/>
          <p:cNvSpPr txBox="1"/>
          <p:nvPr/>
        </p:nvSpPr>
        <p:spPr>
          <a:xfrm>
            <a:off x="4462272" y="4224528"/>
            <a:ext cx="3218688" cy="411480"/>
          </a:xfrm>
          <a:prstGeom prst="rect">
            <a:avLst/>
          </a:prstGeom>
          <a:noFill/>
        </p:spPr>
        <p:txBody>
          <a:bodyPr wrap="square">
            <a:spAutoFit/>
          </a:bodyPr>
          <a:lstStyle/>
          <a:p>
            <a:pPr algn="l"/>
            <a:r>
              <a:rPr sz="1100" b="0" i="0">
                <a:solidFill>
                  <a:srgbClr val="C8D4EE"/>
                </a:solidFill>
              </a:rPr>
              <a:t>2-3 client stories with portfolio size, previous tooling, implementation time, outcomes. Institutional evaluators weight documented results heavily.</a:t>
            </a:r>
          </a:p>
        </p:txBody>
      </p:sp>
      <p:sp>
        <p:nvSpPr>
          <p:cNvPr id="33" name="Rectangle 32"/>
          <p:cNvSpPr/>
          <p:nvPr/>
        </p:nvSpPr>
        <p:spPr>
          <a:xfrm>
            <a:off x="7964424" y="1645920"/>
            <a:ext cx="356616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74152" y="1682496"/>
            <a:ext cx="1673352" cy="384048"/>
          </a:xfrm>
          <a:prstGeom prst="rect">
            <a:avLst/>
          </a:prstGeom>
          <a:noFill/>
        </p:spPr>
        <p:txBody>
          <a:bodyPr wrap="square">
            <a:spAutoFit/>
          </a:bodyPr>
          <a:lstStyle/>
          <a:p>
            <a:pPr algn="l"/>
            <a:r>
              <a:rPr sz="1300" b="1" i="0">
                <a:solidFill>
                  <a:srgbClr val="0A0F2E"/>
                </a:solidFill>
              </a:rPr>
              <a:t>PHASE 3</a:t>
            </a:r>
          </a:p>
        </p:txBody>
      </p:sp>
      <p:sp>
        <p:nvSpPr>
          <p:cNvPr id="35" name="TextBox 34"/>
          <p:cNvSpPr txBox="1"/>
          <p:nvPr/>
        </p:nvSpPr>
        <p:spPr>
          <a:xfrm>
            <a:off x="9569196" y="1719072"/>
            <a:ext cx="1824228" cy="347472"/>
          </a:xfrm>
          <a:prstGeom prst="rect">
            <a:avLst/>
          </a:prstGeom>
          <a:noFill/>
        </p:spPr>
        <p:txBody>
          <a:bodyPr wrap="square">
            <a:spAutoFit/>
          </a:bodyPr>
          <a:lstStyle/>
          <a:p>
            <a:pPr algn="r"/>
            <a:r>
              <a:rPr sz="1100" b="0" i="0">
                <a:solidFill>
                  <a:srgbClr val="0A0F2E"/>
                </a:solidFill>
              </a:rPr>
              <a:t>Months 2-3</a:t>
            </a:r>
          </a:p>
        </p:txBody>
      </p:sp>
      <p:sp>
        <p:nvSpPr>
          <p:cNvPr id="36" name="Rectangle 35"/>
          <p:cNvSpPr/>
          <p:nvPr/>
        </p:nvSpPr>
        <p:spPr>
          <a:xfrm>
            <a:off x="7964424" y="2121408"/>
            <a:ext cx="356616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74152" y="226771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93024" y="2212848"/>
            <a:ext cx="3218688" cy="292608"/>
          </a:xfrm>
          <a:prstGeom prst="rect">
            <a:avLst/>
          </a:prstGeom>
          <a:noFill/>
        </p:spPr>
        <p:txBody>
          <a:bodyPr wrap="square">
            <a:spAutoFit/>
          </a:bodyPr>
          <a:lstStyle/>
          <a:p>
            <a:pPr algn="l"/>
            <a:r>
              <a:rPr sz="1200" b="1" i="0">
                <a:solidFill>
                  <a:srgbClr val="2ECC71"/>
                </a:solidFill>
              </a:rPr>
              <a:t>European SEO Content</a:t>
            </a:r>
          </a:p>
        </p:txBody>
      </p:sp>
      <p:sp>
        <p:nvSpPr>
          <p:cNvPr id="39" name="TextBox 38"/>
          <p:cNvSpPr txBox="1"/>
          <p:nvPr/>
        </p:nvSpPr>
        <p:spPr>
          <a:xfrm>
            <a:off x="8193024" y="2487168"/>
            <a:ext cx="3218688" cy="411480"/>
          </a:xfrm>
          <a:prstGeom prst="rect">
            <a:avLst/>
          </a:prstGeom>
          <a:noFill/>
        </p:spPr>
        <p:txBody>
          <a:bodyPr wrap="square">
            <a:spAutoFit/>
          </a:bodyPr>
          <a:lstStyle/>
          <a:p>
            <a:pPr algn="l"/>
            <a:r>
              <a:rPr sz="1100" b="0" i="0">
                <a:solidFill>
                  <a:srgbClr val="C8D4EE"/>
                </a:solidFill>
              </a:rPr>
              <a:t>Property management guides for UK, Italian, Spanish markets - matching Mauro's language coverage and European deal geography. 10-15 articles targeting portfolio manager search terms.</a:t>
            </a:r>
          </a:p>
        </p:txBody>
      </p:sp>
      <p:sp>
        <p:nvSpPr>
          <p:cNvPr id="40" name="Rectangle 39"/>
          <p:cNvSpPr/>
          <p:nvPr/>
        </p:nvSpPr>
        <p:spPr>
          <a:xfrm>
            <a:off x="8074152" y="313639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93024" y="3081528"/>
            <a:ext cx="3218688" cy="292608"/>
          </a:xfrm>
          <a:prstGeom prst="rect">
            <a:avLst/>
          </a:prstGeom>
          <a:noFill/>
        </p:spPr>
        <p:txBody>
          <a:bodyPr wrap="square">
            <a:spAutoFit/>
          </a:bodyPr>
          <a:lstStyle/>
          <a:p>
            <a:pPr algn="l"/>
            <a:r>
              <a:rPr sz="1200" b="1" i="0">
                <a:solidFill>
                  <a:srgbClr val="2ECC71"/>
                </a:solidFill>
              </a:rPr>
              <a:t>Chatbot Data Analysis</a:t>
            </a:r>
          </a:p>
        </p:txBody>
      </p:sp>
      <p:sp>
        <p:nvSpPr>
          <p:cNvPr id="42" name="TextBox 41"/>
          <p:cNvSpPr txBox="1"/>
          <p:nvPr/>
        </p:nvSpPr>
        <p:spPr>
          <a:xfrm>
            <a:off x="8193024" y="3355848"/>
            <a:ext cx="3218688" cy="411480"/>
          </a:xfrm>
          <a:prstGeom prst="rect">
            <a:avLst/>
          </a:prstGeom>
          <a:noFill/>
        </p:spPr>
        <p:txBody>
          <a:bodyPr wrap="square">
            <a:spAutoFit/>
          </a:bodyPr>
          <a:lstStyle/>
          <a:p>
            <a:pPr algn="l"/>
            <a:r>
              <a:rPr sz="1100" b="0" i="0">
                <a:solidFill>
                  <a:srgbClr val="C8D4EE"/>
                </a:solidFill>
              </a:rPr>
              <a:t>First 60 days of qualifying data refines ICP. What portfolio size converts? What property type? Which pain point closes fastest?</a:t>
            </a:r>
          </a:p>
        </p:txBody>
      </p:sp>
      <p:sp>
        <p:nvSpPr>
          <p:cNvPr id="43" name="Rectangle 42"/>
          <p:cNvSpPr/>
          <p:nvPr/>
        </p:nvSpPr>
        <p:spPr>
          <a:xfrm>
            <a:off x="8074152" y="4005072"/>
            <a:ext cx="45720" cy="47548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93024" y="3950208"/>
            <a:ext cx="3218688" cy="292608"/>
          </a:xfrm>
          <a:prstGeom prst="rect">
            <a:avLst/>
          </a:prstGeom>
          <a:noFill/>
        </p:spPr>
        <p:txBody>
          <a:bodyPr wrap="square">
            <a:spAutoFit/>
          </a:bodyPr>
          <a:lstStyle/>
          <a:p>
            <a:pPr algn="l"/>
            <a:r>
              <a:rPr sz="1200" b="1" i="0">
                <a:solidFill>
                  <a:srgbClr val="2ECC71"/>
                </a:solidFill>
              </a:rPr>
              <a:t>Full Pipeline Reporting</a:t>
            </a:r>
          </a:p>
        </p:txBody>
      </p:sp>
      <p:sp>
        <p:nvSpPr>
          <p:cNvPr id="45" name="TextBox 44"/>
          <p:cNvSpPr txBox="1"/>
          <p:nvPr/>
        </p:nvSpPr>
        <p:spPr>
          <a:xfrm>
            <a:off x="8193024" y="4224528"/>
            <a:ext cx="3218688" cy="411480"/>
          </a:xfrm>
          <a:prstGeom prst="rect">
            <a:avLst/>
          </a:prstGeom>
          <a:noFill/>
        </p:spPr>
        <p:txBody>
          <a:bodyPr wrap="square">
            <a:spAutoFit/>
          </a:bodyPr>
          <a:lstStyle/>
          <a:p>
            <a:pPr algn="l"/>
            <a:r>
              <a:rPr sz="1100" b="0" i="0">
                <a:solidFill>
                  <a:srgbClr val="C8D4EE"/>
                </a:solidFill>
              </a:rPr>
              <a:t>Demo booking rate, nurture sequence conversion, SEO traffic and ranking. CFA-level ROI reporting on the automation investment.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BEFORE vs AFTER</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What Actually Changes for Crossroad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4937760" cy="3200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4754880" cy="256032"/>
          </a:xfrm>
          <a:prstGeom prst="rect">
            <a:avLst/>
          </a:prstGeom>
          <a:noFill/>
        </p:spPr>
        <p:txBody>
          <a:bodyPr wrap="square">
            <a:spAutoFit/>
          </a:bodyPr>
          <a:lstStyle/>
          <a:p>
            <a:pPr algn="l"/>
            <a:r>
              <a:rPr sz="1100" b="1" i="0">
                <a:solidFill>
                  <a:srgbClr val="FFFFFF"/>
                </a:solidFill>
              </a:rPr>
              <a:t>TODAY</a:t>
            </a:r>
          </a:p>
        </p:txBody>
      </p:sp>
      <p:sp>
        <p:nvSpPr>
          <p:cNvPr id="9" name="Rectangle 8"/>
          <p:cNvSpPr/>
          <p:nvPr/>
        </p:nvSpPr>
        <p:spPr>
          <a:xfrm>
            <a:off x="5897880" y="1508760"/>
            <a:ext cx="5330952" cy="3200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536192"/>
            <a:ext cx="4937760" cy="256032"/>
          </a:xfrm>
          <a:prstGeom prst="rect">
            <a:avLst/>
          </a:prstGeom>
          <a:noFill/>
        </p:spPr>
        <p:txBody>
          <a:bodyPr wrap="square">
            <a:spAutoFit/>
          </a:bodyPr>
          <a:lstStyle/>
          <a:p>
            <a:pPr algn="l"/>
            <a:r>
              <a:rPr sz="1100" b="1" i="0">
                <a:solidFill>
                  <a:srgbClr val="FFFFFF"/>
                </a:solidFill>
              </a:rPr>
              <a:t>AFTER 90 DAYS</a:t>
            </a:r>
          </a:p>
        </p:txBody>
      </p:sp>
      <p:sp>
        <p:nvSpPr>
          <p:cNvPr id="11" name="Rectangle 10"/>
          <p:cNvSpPr/>
          <p:nvPr/>
        </p:nvSpPr>
        <p:spPr>
          <a:xfrm>
            <a:off x="502920" y="1920240"/>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1938528"/>
            <a:ext cx="10972800" cy="182880"/>
          </a:xfrm>
          <a:prstGeom prst="rect">
            <a:avLst/>
          </a:prstGeom>
          <a:noFill/>
        </p:spPr>
        <p:txBody>
          <a:bodyPr wrap="square">
            <a:spAutoFit/>
          </a:bodyPr>
          <a:lstStyle/>
          <a:p>
            <a:pPr algn="l"/>
            <a:r>
              <a:rPr sz="900" b="1" i="0">
                <a:solidFill>
                  <a:srgbClr val="8A9BBB"/>
                </a:solidFill>
              </a:rPr>
              <a:t>DEMO REQUEST PROCESS</a:t>
            </a:r>
          </a:p>
        </p:txBody>
      </p:sp>
      <p:sp>
        <p:nvSpPr>
          <p:cNvPr id="13" name="TextBox 12"/>
          <p:cNvSpPr txBox="1"/>
          <p:nvPr/>
        </p:nvSpPr>
        <p:spPr>
          <a:xfrm>
            <a:off x="594360" y="2139696"/>
            <a:ext cx="4754880" cy="603504"/>
          </a:xfrm>
          <a:prstGeom prst="rect">
            <a:avLst/>
          </a:prstGeom>
          <a:noFill/>
        </p:spPr>
        <p:txBody>
          <a:bodyPr wrap="square">
            <a:spAutoFit/>
          </a:bodyPr>
          <a:lstStyle/>
          <a:p>
            <a:pPr algn="l"/>
            <a:r>
              <a:rPr sz="1100" b="0" i="0">
                <a:solidFill>
                  <a:srgbClr val="C8D4EE"/>
                </a:solidFill>
              </a:rPr>
              <a:t>Prospect clicks 'Go Digital with Crossroad Today', opens email client, writes to info@, waits for a human reply, and schedules a call with no context captured.</a:t>
            </a:r>
          </a:p>
        </p:txBody>
      </p:sp>
      <p:sp>
        <p:nvSpPr>
          <p:cNvPr id="14" name="TextBox 13"/>
          <p:cNvSpPr txBox="1"/>
          <p:nvPr/>
        </p:nvSpPr>
        <p:spPr>
          <a:xfrm>
            <a:off x="5989320" y="2139696"/>
            <a:ext cx="4937760" cy="603504"/>
          </a:xfrm>
          <a:prstGeom prst="rect">
            <a:avLst/>
          </a:prstGeom>
          <a:noFill/>
        </p:spPr>
        <p:txBody>
          <a:bodyPr wrap="square">
            <a:spAutoFit/>
          </a:bodyPr>
          <a:lstStyle/>
          <a:p>
            <a:pPr algn="l"/>
            <a:r>
              <a:rPr sz="1100" b="0" i="0">
                <a:solidFill>
                  <a:srgbClr val="FFFFFF"/>
                </a:solidFill>
              </a:rPr>
              <a:t>AI chatbot qualifies in 5 questions. Portfolio size, property type, geography, current tools, main pain. Pre-qualified demo booked automatically. Mauro's first call is substantive.</a:t>
            </a:r>
          </a:p>
        </p:txBody>
      </p:sp>
      <p:sp>
        <p:nvSpPr>
          <p:cNvPr id="15" name="Rectangle 14"/>
          <p:cNvSpPr/>
          <p:nvPr/>
        </p:nvSpPr>
        <p:spPr>
          <a:xfrm>
            <a:off x="502920" y="2852928"/>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871216"/>
            <a:ext cx="10972800" cy="182880"/>
          </a:xfrm>
          <a:prstGeom prst="rect">
            <a:avLst/>
          </a:prstGeom>
          <a:noFill/>
        </p:spPr>
        <p:txBody>
          <a:bodyPr wrap="square">
            <a:spAutoFit/>
          </a:bodyPr>
          <a:lstStyle/>
          <a:p>
            <a:pPr algn="l"/>
            <a:r>
              <a:rPr sz="900" b="1" i="0">
                <a:solidFill>
                  <a:srgbClr val="8A9BBB"/>
                </a:solidFill>
              </a:rPr>
              <a:t>NON-CONVERTING VISITORS</a:t>
            </a:r>
          </a:p>
        </p:txBody>
      </p:sp>
      <p:sp>
        <p:nvSpPr>
          <p:cNvPr id="17" name="TextBox 16"/>
          <p:cNvSpPr txBox="1"/>
          <p:nvPr/>
        </p:nvSpPr>
        <p:spPr>
          <a:xfrm>
            <a:off x="594360" y="3072384"/>
            <a:ext cx="4754880" cy="603504"/>
          </a:xfrm>
          <a:prstGeom prst="rect">
            <a:avLst/>
          </a:prstGeom>
          <a:noFill/>
        </p:spPr>
        <p:txBody>
          <a:bodyPr wrap="square">
            <a:spAutoFit/>
          </a:bodyPr>
          <a:lstStyle/>
          <a:p>
            <a:pPr algn="l"/>
            <a:r>
              <a:rPr sz="1100" b="0" i="0">
                <a:solidFill>
                  <a:srgbClr val="C8D4EE"/>
                </a:solidFill>
              </a:rPr>
              <a:t>A property manager visits crossroad.app, reads the product pages, does not immediately email. No follow-up. They compare 4 other platforms and choose the one that stayed in touch.</a:t>
            </a:r>
          </a:p>
        </p:txBody>
      </p:sp>
      <p:sp>
        <p:nvSpPr>
          <p:cNvPr id="18" name="TextBox 17"/>
          <p:cNvSpPr txBox="1"/>
          <p:nvPr/>
        </p:nvSpPr>
        <p:spPr>
          <a:xfrm>
            <a:off x="5989320" y="3072384"/>
            <a:ext cx="4937760" cy="603504"/>
          </a:xfrm>
          <a:prstGeom prst="rect">
            <a:avLst/>
          </a:prstGeom>
          <a:noFill/>
        </p:spPr>
        <p:txBody>
          <a:bodyPr wrap="square">
            <a:spAutoFit/>
          </a:bodyPr>
          <a:lstStyle/>
          <a:p>
            <a:pPr algn="l"/>
            <a:r>
              <a:rPr sz="1100" b="0" i="0">
                <a:solidFill>
                  <a:srgbClr val="FFFFFF"/>
                </a:solidFill>
              </a:rPr>
              <a:t>Day 1/3/7 nurture sequence re-engages. Day 3 use case matches their property type. Day 7 ROI question arrives at the decision moment. B2B deals close in the nurture, not the first visit.</a:t>
            </a:r>
          </a:p>
        </p:txBody>
      </p:sp>
      <p:sp>
        <p:nvSpPr>
          <p:cNvPr id="19" name="Rectangle 18"/>
          <p:cNvSpPr/>
          <p:nvPr/>
        </p:nvSpPr>
        <p:spPr>
          <a:xfrm>
            <a:off x="502920" y="3785616"/>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3803904"/>
            <a:ext cx="10972800" cy="182880"/>
          </a:xfrm>
          <a:prstGeom prst="rect">
            <a:avLst/>
          </a:prstGeom>
          <a:noFill/>
        </p:spPr>
        <p:txBody>
          <a:bodyPr wrap="square">
            <a:spAutoFit/>
          </a:bodyPr>
          <a:lstStyle/>
          <a:p>
            <a:pPr algn="l"/>
            <a:r>
              <a:rPr sz="900" b="1" i="0">
                <a:solidFill>
                  <a:srgbClr val="8A9BBB"/>
                </a:solidFill>
              </a:rPr>
              <a:t>THOUGHT LEADERSHIP SEO</a:t>
            </a:r>
          </a:p>
        </p:txBody>
      </p:sp>
      <p:sp>
        <p:nvSpPr>
          <p:cNvPr id="21" name="TextBox 20"/>
          <p:cNvSpPr txBox="1"/>
          <p:nvPr/>
        </p:nvSpPr>
        <p:spPr>
          <a:xfrm>
            <a:off x="594360" y="4005072"/>
            <a:ext cx="4754880" cy="603504"/>
          </a:xfrm>
          <a:prstGeom prst="rect">
            <a:avLst/>
          </a:prstGeom>
          <a:noFill/>
        </p:spPr>
        <p:txBody>
          <a:bodyPr wrap="square">
            <a:spAutoFit/>
          </a:bodyPr>
          <a:lstStyle/>
          <a:p>
            <a:pPr algn="l"/>
            <a:r>
              <a:rPr sz="1100" b="0" i="0">
                <a:solidFill>
                  <a:srgbClr val="C8D4EE"/>
                </a:solidFill>
              </a:rPr>
              <a:t>Mauro published 'Property Management enters the digital era' and 'What PropTech can do for you' on LinkedIn. Neither is indexed as site content. SEO value = zero.</a:t>
            </a:r>
          </a:p>
        </p:txBody>
      </p:sp>
      <p:sp>
        <p:nvSpPr>
          <p:cNvPr id="22" name="TextBox 21"/>
          <p:cNvSpPr txBox="1"/>
          <p:nvPr/>
        </p:nvSpPr>
        <p:spPr>
          <a:xfrm>
            <a:off x="5989320" y="4005072"/>
            <a:ext cx="4937760" cy="603504"/>
          </a:xfrm>
          <a:prstGeom prst="rect">
            <a:avLst/>
          </a:prstGeom>
          <a:noFill/>
        </p:spPr>
        <p:txBody>
          <a:bodyPr wrap="square">
            <a:spAutoFit/>
          </a:bodyPr>
          <a:lstStyle/>
          <a:p>
            <a:pPr algn="l"/>
            <a:r>
              <a:rPr sz="1100" b="0" i="0">
                <a:solidFill>
                  <a:srgbClr val="FFFFFF"/>
                </a:solidFill>
              </a:rPr>
              <a:t>Both articles live as indexed blog posts on crossroad.app. Property managers searching 'property management digital transformation' find Mauro's writing before a competitor's.</a:t>
            </a:r>
          </a:p>
        </p:txBody>
      </p:sp>
      <p:sp>
        <p:nvSpPr>
          <p:cNvPr id="23" name="Rectangle 22"/>
          <p:cNvSpPr/>
          <p:nvPr/>
        </p:nvSpPr>
        <p:spPr>
          <a:xfrm>
            <a:off x="502920" y="4718304"/>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736592"/>
            <a:ext cx="10972800" cy="182880"/>
          </a:xfrm>
          <a:prstGeom prst="rect">
            <a:avLst/>
          </a:prstGeom>
          <a:noFill/>
        </p:spPr>
        <p:txBody>
          <a:bodyPr wrap="square">
            <a:spAutoFit/>
          </a:bodyPr>
          <a:lstStyle/>
          <a:p>
            <a:pPr algn="l"/>
            <a:r>
              <a:rPr sz="900" b="1" i="0">
                <a:solidFill>
                  <a:srgbClr val="8A9BBB"/>
                </a:solidFill>
              </a:rPr>
              <a:t>EVALUATOR SOCIAL PROOF</a:t>
            </a:r>
          </a:p>
        </p:txBody>
      </p:sp>
      <p:sp>
        <p:nvSpPr>
          <p:cNvPr id="25" name="TextBox 24"/>
          <p:cNvSpPr txBox="1"/>
          <p:nvPr/>
        </p:nvSpPr>
        <p:spPr>
          <a:xfrm>
            <a:off x="594360" y="4937760"/>
            <a:ext cx="4754880" cy="603504"/>
          </a:xfrm>
          <a:prstGeom prst="rect">
            <a:avLst/>
          </a:prstGeom>
          <a:noFill/>
        </p:spPr>
        <p:txBody>
          <a:bodyPr wrap="square">
            <a:spAutoFit/>
          </a:bodyPr>
          <a:lstStyle/>
          <a:p>
            <a:pPr algn="l"/>
            <a:r>
              <a:rPr sz="1100" b="0" i="0">
                <a:solidFill>
                  <a:srgbClr val="C8D4EE"/>
                </a:solidFill>
              </a:rPr>
              <a:t>8 years in market with 50 years combined founder experience and institutional trade history. Zero case studies or client outcomes on the site. Evaluators have no reference points.</a:t>
            </a:r>
          </a:p>
        </p:txBody>
      </p:sp>
      <p:sp>
        <p:nvSpPr>
          <p:cNvPr id="26" name="TextBox 25"/>
          <p:cNvSpPr txBox="1"/>
          <p:nvPr/>
        </p:nvSpPr>
        <p:spPr>
          <a:xfrm>
            <a:off x="5989320" y="4937760"/>
            <a:ext cx="4937760" cy="603504"/>
          </a:xfrm>
          <a:prstGeom prst="rect">
            <a:avLst/>
          </a:prstGeom>
          <a:noFill/>
        </p:spPr>
        <p:txBody>
          <a:bodyPr wrap="square">
            <a:spAutoFit/>
          </a:bodyPr>
          <a:lstStyle/>
          <a:p>
            <a:pPr algn="l"/>
            <a:r>
              <a:rPr sz="1100" b="0" i="0">
                <a:solidFill>
                  <a:srgbClr val="FFFFFF"/>
                </a:solidFill>
              </a:rPr>
              <a:t>2-3 client case studies with portfolio size, previous tooling, implementation time, and outcome metrics. ROI calculator for self-qualification. Institutional evaluators have evidence.</a:t>
            </a:r>
          </a:p>
        </p:txBody>
      </p:sp>
      <p:sp>
        <p:nvSpPr>
          <p:cNvPr id="27" name="Rectangle 26"/>
          <p:cNvSpPr/>
          <p:nvPr/>
        </p:nvSpPr>
        <p:spPr>
          <a:xfrm>
            <a:off x="502920" y="5650992"/>
            <a:ext cx="11183112" cy="201168"/>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669280"/>
            <a:ext cx="10972800" cy="182880"/>
          </a:xfrm>
          <a:prstGeom prst="rect">
            <a:avLst/>
          </a:prstGeom>
          <a:noFill/>
        </p:spPr>
        <p:txBody>
          <a:bodyPr wrap="square">
            <a:spAutoFit/>
          </a:bodyPr>
          <a:lstStyle/>
          <a:p>
            <a:pPr algn="l"/>
            <a:r>
              <a:rPr sz="900" b="1" i="0">
                <a:solidFill>
                  <a:srgbClr val="8A9BBB"/>
                </a:solidFill>
              </a:rPr>
              <a:t>EUROPEAN MARKET SEO</a:t>
            </a:r>
          </a:p>
        </p:txBody>
      </p:sp>
      <p:sp>
        <p:nvSpPr>
          <p:cNvPr id="29" name="TextBox 28"/>
          <p:cNvSpPr txBox="1"/>
          <p:nvPr/>
        </p:nvSpPr>
        <p:spPr>
          <a:xfrm>
            <a:off x="594360" y="5870448"/>
            <a:ext cx="4754880" cy="603504"/>
          </a:xfrm>
          <a:prstGeom prst="rect">
            <a:avLst/>
          </a:prstGeom>
          <a:noFill/>
        </p:spPr>
        <p:txBody>
          <a:bodyPr wrap="square">
            <a:spAutoFit/>
          </a:bodyPr>
          <a:lstStyle/>
          <a:p>
            <a:pPr algn="l"/>
            <a:r>
              <a:rPr sz="1100" b="0" i="0">
                <a:solidFill>
                  <a:srgbClr val="C8D4EE"/>
                </a:solidFill>
              </a:rPr>
              <a:t>Mauro speaks English, Italian, and Spanish fluently and has executed deals across European markets. Zero content targeting UK, Italian, or Spanish property management search terms.</a:t>
            </a:r>
          </a:p>
        </p:txBody>
      </p:sp>
      <p:sp>
        <p:nvSpPr>
          <p:cNvPr id="30" name="TextBox 29"/>
          <p:cNvSpPr txBox="1"/>
          <p:nvPr/>
        </p:nvSpPr>
        <p:spPr>
          <a:xfrm>
            <a:off x="5989320" y="5870448"/>
            <a:ext cx="4937760" cy="603504"/>
          </a:xfrm>
          <a:prstGeom prst="rect">
            <a:avLst/>
          </a:prstGeom>
          <a:noFill/>
        </p:spPr>
        <p:txBody>
          <a:bodyPr wrap="square">
            <a:spAutoFit/>
          </a:bodyPr>
          <a:lstStyle/>
          <a:p>
            <a:pPr algn="l"/>
            <a:r>
              <a:rPr sz="1100" b="0" i="0">
                <a:solidFill>
                  <a:srgbClr val="FFFFFF"/>
                </a:solidFill>
              </a:rPr>
              <a:t>10-15 articles targeting property management keywords in UK and European markets. Mauro's language capability and deal geography become content distribution channels.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00B4D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needed. Reply or book a call.
Focused on demo automation and nurture sequence first.</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00B4D8"/>
                </a:solidFill>
              </a:rPr>
              <a:t>* </a:t>
            </a:r>
            <a:r>
              <a:rPr sz="1400">
                <a:solidFill>
                  <a:srgbClr val="FFFFFF"/>
                </a:solidFill>
              </a:rPr>
              <a:t>Reply to this email - we'll set up a time</a:t>
            </a:r>
          </a:p>
          <a:p>
            <a:pPr algn="l">
              <a:spcAft>
                <a:spcPts val="600"/>
              </a:spcAft>
            </a:pPr>
            <a:r>
              <a:rPr sz="1200"/>
              <a:t>  </a:t>
            </a:r>
            <a:r>
              <a:rPr sz="1200" b="1">
                <a:solidFill>
                  <a:srgbClr val="00B4D8"/>
                </a:solidFill>
              </a:rPr>
              <a:t>* </a:t>
            </a:r>
            <a:r>
              <a:rPr sz="1400">
                <a:solidFill>
                  <a:srgbClr val="FFFFFF"/>
                </a:solidFill>
              </a:rPr>
              <a:t>Start: AI chatbot + automated demo booking (2 weeks)</a:t>
            </a:r>
          </a:p>
          <a:p>
            <a:pPr algn="l">
              <a:spcAft>
                <a:spcPts val="600"/>
              </a:spcAft>
            </a:pPr>
            <a:r>
              <a:rPr sz="1200"/>
              <a:t>  </a:t>
            </a:r>
            <a:r>
              <a:rPr sz="1200" b="1">
                <a:solidFill>
                  <a:srgbClr val="00B4D8"/>
                </a:solidFill>
              </a:rPr>
              <a:t>* </a:t>
            </a:r>
            <a:r>
              <a:rPr sz="1400">
                <a:solidFill>
                  <a:srgbClr val="FFFFFF"/>
                </a:solidFill>
              </a:rPr>
              <a:t>Add post-visit nurture + LinkedIn articles as blog</a:t>
            </a:r>
          </a:p>
          <a:p>
            <a:pPr algn="l"/>
            <a:r>
              <a:rPr sz="1200"/>
              <a:t>  </a:t>
            </a:r>
            <a:r>
              <a:rPr sz="1200" b="1">
                <a:solidFill>
                  <a:srgbClr val="00B4D8"/>
                </a:solidFill>
              </a:rPr>
              <a:t>* </a:t>
            </a:r>
            <a:r>
              <a:rPr sz="1400">
                <a:solidFill>
                  <a:srgbClr val="FFFFFF"/>
                </a:solidFill>
              </a:rPr>
              <a:t>Months 2-3: ROI calculator, case studies, EU SEO</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100" b="0" i="0">
                <a:solidFill>
                  <a:srgbClr val="8A9BBB"/>
                </a:solidFill>
              </a:rPr>
              <a:t>Rohan Malik  |  CEO, Genos AI  |  hello@genosai.tech  |  +91 638-714-2699  |  www.genosai.tech</a:t>
            </a:r>
          </a:p>
        </p:txBody>
      </p:sp>
      <p:sp>
        <p:nvSpPr>
          <p:cNvPr id="12" name="TextBox 11"/>
          <p:cNvSpPr txBox="1"/>
          <p:nvPr/>
        </p:nvSpPr>
        <p:spPr>
          <a:xfrm>
            <a:off x="7178040" y="548640"/>
            <a:ext cx="4572000" cy="1005840"/>
          </a:xfrm>
          <a:prstGeom prst="rect">
            <a:avLst/>
          </a:prstGeom>
          <a:noFill/>
        </p:spPr>
        <p:txBody>
          <a:bodyPr wrap="square">
            <a:spAutoFit/>
          </a:bodyPr>
          <a:lstStyle/>
          <a:p>
            <a:pPr algn="l"/>
            <a:r>
              <a:rPr sz="2200" b="1" i="0">
                <a:solidFill>
                  <a:srgbClr val="00B4D8"/>
                </a:solidFill>
              </a:rPr>
              <a:t>THREE GAPS.
THREE FIXES.</a:t>
            </a:r>
          </a:p>
        </p:txBody>
      </p:sp>
      <p:sp>
        <p:nvSpPr>
          <p:cNvPr id="13" name="Rectangle 12"/>
          <p:cNvSpPr/>
          <p:nvPr/>
        </p:nvSpPr>
        <p:spPr>
          <a:xfrm>
            <a:off x="502920" y="1508760"/>
            <a:ext cx="109728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6916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737360"/>
            <a:ext cx="1280160" cy="292608"/>
          </a:xfrm>
          <a:prstGeom prst="rect">
            <a:avLst/>
          </a:prstGeom>
          <a:noFill/>
        </p:spPr>
        <p:txBody>
          <a:bodyPr wrap="square">
            <a:spAutoFit/>
          </a:bodyPr>
          <a:lstStyle/>
          <a:p>
            <a:pPr algn="l"/>
            <a:r>
              <a:rPr sz="1000" b="1" i="0">
                <a:solidFill>
                  <a:srgbClr val="00B4D8"/>
                </a:solidFill>
              </a:rPr>
              <a:t>Manual Funnel</a:t>
            </a:r>
          </a:p>
        </p:txBody>
      </p:sp>
      <p:sp>
        <p:nvSpPr>
          <p:cNvPr id="16" name="TextBox 15"/>
          <p:cNvSpPr txBox="1"/>
          <p:nvPr/>
        </p:nvSpPr>
        <p:spPr>
          <a:xfrm>
            <a:off x="8686800" y="1737360"/>
            <a:ext cx="3291840" cy="594360"/>
          </a:xfrm>
          <a:prstGeom prst="rect">
            <a:avLst/>
          </a:prstGeom>
          <a:noFill/>
        </p:spPr>
        <p:txBody>
          <a:bodyPr wrap="square">
            <a:spAutoFit/>
          </a:bodyPr>
          <a:lstStyle/>
          <a:p>
            <a:pPr algn="l"/>
            <a:r>
              <a:rPr sz="1100" b="0" i="0">
                <a:solidFill>
                  <a:srgbClr val="C8D4EE"/>
                </a:solidFill>
              </a:rPr>
              <a:t>AI chatbot + automated demo booking replaces email CTA</a:t>
            </a:r>
          </a:p>
        </p:txBody>
      </p:sp>
      <p:sp>
        <p:nvSpPr>
          <p:cNvPr id="17" name="Rectangle 16"/>
          <p:cNvSpPr/>
          <p:nvPr/>
        </p:nvSpPr>
        <p:spPr>
          <a:xfrm>
            <a:off x="7178040" y="24963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542032"/>
            <a:ext cx="1280160" cy="292608"/>
          </a:xfrm>
          <a:prstGeom prst="rect">
            <a:avLst/>
          </a:prstGeom>
          <a:noFill/>
        </p:spPr>
        <p:txBody>
          <a:bodyPr wrap="square">
            <a:spAutoFit/>
          </a:bodyPr>
          <a:lstStyle/>
          <a:p>
            <a:pPr algn="l"/>
            <a:r>
              <a:rPr sz="1000" b="1" i="0">
                <a:solidFill>
                  <a:srgbClr val="00B4D8"/>
                </a:solidFill>
              </a:rPr>
              <a:t>No Nurture</a:t>
            </a:r>
          </a:p>
        </p:txBody>
      </p:sp>
      <p:sp>
        <p:nvSpPr>
          <p:cNvPr id="19" name="TextBox 18"/>
          <p:cNvSpPr txBox="1"/>
          <p:nvPr/>
        </p:nvSpPr>
        <p:spPr>
          <a:xfrm>
            <a:off x="8686800" y="2542032"/>
            <a:ext cx="3291840" cy="594360"/>
          </a:xfrm>
          <a:prstGeom prst="rect">
            <a:avLst/>
          </a:prstGeom>
          <a:noFill/>
        </p:spPr>
        <p:txBody>
          <a:bodyPr wrap="square">
            <a:spAutoFit/>
          </a:bodyPr>
          <a:lstStyle/>
          <a:p>
            <a:pPr algn="l"/>
            <a:r>
              <a:rPr sz="1100" b="0" i="0">
                <a:solidFill>
                  <a:srgbClr val="C8D4EE"/>
                </a:solidFill>
              </a:rPr>
              <a:t>Day 1/3/7 sequence: B2B deals close at touchpoint 3-5</a:t>
            </a:r>
          </a:p>
        </p:txBody>
      </p:sp>
      <p:sp>
        <p:nvSpPr>
          <p:cNvPr id="20" name="Rectangle 19"/>
          <p:cNvSpPr/>
          <p:nvPr/>
        </p:nvSpPr>
        <p:spPr>
          <a:xfrm>
            <a:off x="7178040" y="33009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346704"/>
            <a:ext cx="1280160" cy="292608"/>
          </a:xfrm>
          <a:prstGeom prst="rect">
            <a:avLst/>
          </a:prstGeom>
          <a:noFill/>
        </p:spPr>
        <p:txBody>
          <a:bodyPr wrap="square">
            <a:spAutoFit/>
          </a:bodyPr>
          <a:lstStyle/>
          <a:p>
            <a:pPr algn="l"/>
            <a:r>
              <a:rPr sz="1000" b="1" i="0">
                <a:solidFill>
                  <a:srgbClr val="00B4D8"/>
                </a:solidFill>
              </a:rPr>
              <a:t>Buried Content</a:t>
            </a:r>
          </a:p>
        </p:txBody>
      </p:sp>
      <p:sp>
        <p:nvSpPr>
          <p:cNvPr id="22" name="TextBox 21"/>
          <p:cNvSpPr txBox="1"/>
          <p:nvPr/>
        </p:nvSpPr>
        <p:spPr>
          <a:xfrm>
            <a:off x="8686800" y="3346704"/>
            <a:ext cx="3291840" cy="594360"/>
          </a:xfrm>
          <a:prstGeom prst="rect">
            <a:avLst/>
          </a:prstGeom>
          <a:noFill/>
        </p:spPr>
        <p:txBody>
          <a:bodyPr wrap="square">
            <a:spAutoFit/>
          </a:bodyPr>
          <a:lstStyle/>
          <a:p>
            <a:pPr algn="l"/>
            <a:r>
              <a:rPr sz="1100" b="0" i="0">
                <a:solidFill>
                  <a:srgbClr val="C8D4EE"/>
                </a:solidFill>
              </a:rPr>
              <a:t>LinkedIn articles indexed as SEO blog (zero new writing)</a:t>
            </a:r>
          </a:p>
        </p:txBody>
      </p:sp>
      <p:sp>
        <p:nvSpPr>
          <p:cNvPr id="23" name="Rectangle 22"/>
          <p:cNvSpPr/>
          <p:nvPr/>
        </p:nvSpPr>
        <p:spPr>
          <a:xfrm>
            <a:off x="7178040" y="41056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4151376"/>
            <a:ext cx="1280160" cy="292608"/>
          </a:xfrm>
          <a:prstGeom prst="rect">
            <a:avLst/>
          </a:prstGeom>
          <a:noFill/>
        </p:spPr>
        <p:txBody>
          <a:bodyPr wrap="square">
            <a:spAutoFit/>
          </a:bodyPr>
          <a:lstStyle/>
          <a:p>
            <a:pPr algn="l"/>
            <a:r>
              <a:rPr sz="1000" b="1" i="0">
                <a:solidFill>
                  <a:srgbClr val="00B4D8"/>
                </a:solidFill>
              </a:rPr>
              <a:t>No Social Proof</a:t>
            </a:r>
          </a:p>
        </p:txBody>
      </p:sp>
      <p:sp>
        <p:nvSpPr>
          <p:cNvPr id="25" name="TextBox 24"/>
          <p:cNvSpPr txBox="1"/>
          <p:nvPr/>
        </p:nvSpPr>
        <p:spPr>
          <a:xfrm>
            <a:off x="8686800" y="4151376"/>
            <a:ext cx="3291840" cy="594360"/>
          </a:xfrm>
          <a:prstGeom prst="rect">
            <a:avLst/>
          </a:prstGeom>
          <a:noFill/>
        </p:spPr>
        <p:txBody>
          <a:bodyPr wrap="square">
            <a:spAutoFit/>
          </a:bodyPr>
          <a:lstStyle/>
          <a:p>
            <a:pPr algn="l"/>
            <a:r>
              <a:rPr sz="1100" b="0" i="0">
                <a:solidFill>
                  <a:srgbClr val="C8D4EE"/>
                </a:solidFill>
              </a:rPr>
              <a:t>Case studies + ROI calculator for institutional evaluators</a:t>
            </a:r>
          </a:p>
        </p:txBody>
      </p:sp>
      <p:sp>
        <p:nvSpPr>
          <p:cNvPr id="26" name="Rectangle 25"/>
          <p:cNvSpPr/>
          <p:nvPr/>
        </p:nvSpPr>
        <p:spPr>
          <a:xfrm>
            <a:off x="7178040" y="49103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956048"/>
            <a:ext cx="1280160" cy="292608"/>
          </a:xfrm>
          <a:prstGeom prst="rect">
            <a:avLst/>
          </a:prstGeom>
          <a:noFill/>
        </p:spPr>
        <p:txBody>
          <a:bodyPr wrap="square">
            <a:spAutoFit/>
          </a:bodyPr>
          <a:lstStyle/>
          <a:p>
            <a:pPr algn="l"/>
            <a:r>
              <a:rPr sz="1000" b="1" i="0">
                <a:solidFill>
                  <a:srgbClr val="00B4D8"/>
                </a:solidFill>
              </a:rPr>
              <a:t>No Pricing</a:t>
            </a:r>
          </a:p>
        </p:txBody>
      </p:sp>
      <p:sp>
        <p:nvSpPr>
          <p:cNvPr id="28" name="TextBox 27"/>
          <p:cNvSpPr txBox="1"/>
          <p:nvPr/>
        </p:nvSpPr>
        <p:spPr>
          <a:xfrm>
            <a:off x="8686800" y="4956048"/>
            <a:ext cx="3291840" cy="594360"/>
          </a:xfrm>
          <a:prstGeom prst="rect">
            <a:avLst/>
          </a:prstGeom>
          <a:noFill/>
        </p:spPr>
        <p:txBody>
          <a:bodyPr wrap="square">
            <a:spAutoFit/>
          </a:bodyPr>
          <a:lstStyle/>
          <a:p>
            <a:pPr algn="l"/>
            <a:r>
              <a:rPr sz="1100" b="0" i="0">
                <a:solidFill>
                  <a:srgbClr val="C8D4EE"/>
                </a:solidFill>
              </a:rPr>
              <a:t>Transparent starter tier reduces B2B sales cycle length</a:t>
            </a:r>
          </a:p>
        </p:txBody>
      </p:sp>
      <p:sp>
        <p:nvSpPr>
          <p:cNvPr id="29" name="Rectangle 28"/>
          <p:cNvSpPr/>
          <p:nvPr/>
        </p:nvSpPr>
        <p:spPr>
          <a:xfrm>
            <a:off x="7178040" y="57150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760720"/>
            <a:ext cx="1280160" cy="292608"/>
          </a:xfrm>
          <a:prstGeom prst="rect">
            <a:avLst/>
          </a:prstGeom>
          <a:noFill/>
        </p:spPr>
        <p:txBody>
          <a:bodyPr wrap="square">
            <a:spAutoFit/>
          </a:bodyPr>
          <a:lstStyle/>
          <a:p>
            <a:pPr algn="l"/>
            <a:r>
              <a:rPr sz="1000" b="1" i="0">
                <a:solidFill>
                  <a:srgbClr val="00B4D8"/>
                </a:solidFill>
              </a:rPr>
              <a:t>Zero EU SEO</a:t>
            </a:r>
          </a:p>
        </p:txBody>
      </p:sp>
      <p:sp>
        <p:nvSpPr>
          <p:cNvPr id="31" name="TextBox 30"/>
          <p:cNvSpPr txBox="1"/>
          <p:nvPr/>
        </p:nvSpPr>
        <p:spPr>
          <a:xfrm>
            <a:off x="8686800" y="5760720"/>
            <a:ext cx="3291840" cy="594360"/>
          </a:xfrm>
          <a:prstGeom prst="rect">
            <a:avLst/>
          </a:prstGeom>
          <a:noFill/>
        </p:spPr>
        <p:txBody>
          <a:bodyPr wrap="square">
            <a:spAutoFit/>
          </a:bodyPr>
          <a:lstStyle/>
          <a:p>
            <a:pPr algn="l"/>
            <a:r>
              <a:rPr sz="1100" b="0" i="0">
                <a:solidFill>
                  <a:srgbClr val="C8D4EE"/>
                </a:solidFill>
              </a:rPr>
              <a:t>UK, Italian, Spanish property management content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