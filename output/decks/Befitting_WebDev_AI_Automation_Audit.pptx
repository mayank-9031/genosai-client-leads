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4160520"/>
            <a:ext cx="115031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A032"/>
                </a:solidFill>
              </a:rPr>
              <a:t>BEFITTING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Web Development &amp;
AI Automation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290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A623"/>
                </a:solidFill>
              </a:rPr>
              <a:t>Strategic Digital Transformation Roadmap for a Pan-African Property Leader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B6E"/>
                </a:solidFill>
              </a:rPr>
              <a:t>Prepared by: Genos Apollo  |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74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AA88"/>
                </a:solidFill>
              </a:rPr>
              <a:t>befittingproperties.com  •  Lagos, Nigeria  •  Pan-African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B6E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6751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A032"/>
                </a:solidFill>
              </a:rPr>
              <a:t>What we will cover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Befitting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77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0080" cy="9601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032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4A29"/>
                </a:solidFill>
              </a:rPr>
              <a:t>Company Digital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110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B6E"/>
                </a:solidFill>
              </a:rPr>
              <a:t>Current state of befittingproperties.com &amp; digital footprint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5577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640080" cy="9601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032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4A29"/>
                </a:solidFill>
              </a:rPr>
              <a:t>Website Audit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9110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B6E"/>
                </a:solidFill>
              </a:rPr>
              <a:t>UX, performance, SEO, security &amp; compliance gaps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32888"/>
            <a:ext cx="5577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532888"/>
            <a:ext cx="640080" cy="9601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032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6243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4A29"/>
                </a:solidFill>
              </a:rPr>
              <a:t>Web Development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0266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B6E"/>
                </a:solidFill>
              </a:rPr>
              <a:t>Modernisation blueprint &amp; tech stack recommendations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532888"/>
            <a:ext cx="5577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532888"/>
            <a:ext cx="640080" cy="9601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032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243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4A29"/>
                </a:solidFill>
              </a:rPr>
              <a:t>AI Automation Opportunities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0266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B6E"/>
                </a:solidFill>
              </a:rPr>
              <a:t>Where AI drives efficiency, revenue &amp; scale for Befitting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48456"/>
            <a:ext cx="5577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648456"/>
            <a:ext cx="640080" cy="9601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032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7398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4A29"/>
                </a:solidFill>
              </a:rPr>
              <a:t>Benefits of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1422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B6E"/>
                </a:solidFill>
              </a:rPr>
              <a:t>Time savings, ROI and competitive edge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648456"/>
            <a:ext cx="5577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3648456"/>
            <a:ext cx="640080" cy="9601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032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7398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4A29"/>
                </a:solidFill>
              </a:rPr>
              <a:t>Implementation Timeline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1422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B6E"/>
                </a:solidFill>
              </a:rPr>
              <a:t>Phased 12-month delivery plan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764024"/>
            <a:ext cx="5577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764024"/>
            <a:ext cx="640080" cy="9601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9926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032"/>
                </a:solidFill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8554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4A29"/>
                </a:solidFill>
              </a:rPr>
              <a:t>Investment &amp; Next Steps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257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B6E"/>
                </a:solidFill>
              </a:rPr>
              <a:t>Budget guidance and immediate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Company Digital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6751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A032"/>
                </a:solidFill>
              </a:rPr>
              <a:t>Befitting Group – current digital footprint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Befitting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2588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Company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4A29"/>
                </a:solidFill>
              </a:rPr>
              <a:t>Industry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828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6E"/>
                </a:solidFill>
              </a:rPr>
              <a:t>Real Estate Development, Property Management &amp; Investment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134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4A29"/>
                </a:solidFill>
              </a:rPr>
              <a:t>Headquarters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3134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6E"/>
                </a:solidFill>
              </a:rPr>
              <a:t>Lagos, Nigeria (Pan-African operations)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980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4A29"/>
                </a:solidFill>
              </a:rPr>
              <a:t>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980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6E"/>
                </a:solidFill>
              </a:rPr>
              <a:t>Residential, Commercial, Office &amp; Mixed-Use Developments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826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4A29"/>
                </a:solidFill>
              </a:rPr>
              <a:t>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282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6E"/>
                </a:solidFill>
              </a:rPr>
              <a:t>12+ years in African real estate sector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6732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4A29"/>
                </a:solidFill>
              </a:rPr>
              <a:t>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7673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6E"/>
                </a:solidFill>
              </a:rPr>
              <a:t>befittingproperties.com  (primary digital channel)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519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4A29"/>
                </a:solidFill>
              </a:rPr>
              <a:t>Mobile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251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6E"/>
                </a:solidFill>
              </a:rPr>
              <a:t>Befitting Properties – available on App Store (iOS)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3659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4A29"/>
                </a:solidFill>
              </a:rPr>
              <a:t>LinkedIn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7365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6E"/>
                </a:solidFill>
              </a:rPr>
              <a:t>Befitting Group – active company presence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2122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4A29"/>
                </a:solidFill>
              </a:rPr>
              <a:t>Social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221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6E"/>
                </a:solidFill>
              </a:rPr>
              <a:t>Instagram  @befittingproperties  |  Facebook active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280160"/>
            <a:ext cx="594360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9904" y="132588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Digital Health Indicators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9904" y="18288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1E"/>
                </a:solidFill>
              </a:rPr>
              <a:t>Website Page Speed (Mobile)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74C3C"/>
                </a:solidFill>
              </a:rPr>
              <a:t>~38 / 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6E"/>
                </a:solidFill>
              </a:rPr>
              <a:t>Needs urgent optimisation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23042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1E"/>
                </a:solidFill>
              </a:rPr>
              <a:t>Website Page Speed (Desktop)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23042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032"/>
                </a:solidFill>
              </a:rPr>
              <a:t>~65 / 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2304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6E"/>
                </a:solidFill>
              </a:rPr>
              <a:t>Below industry benchmark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9904" y="27797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1E"/>
                </a:solidFill>
              </a:rPr>
              <a:t>SEO Coverage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27797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032"/>
                </a:solidFill>
              </a:rPr>
              <a:t>~55 / 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2779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6E"/>
                </a:solidFill>
              </a:rPr>
              <a:t>Thin content, missing schema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9904" y="32552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1E"/>
                </a:solidFill>
              </a:rPr>
              <a:t>Mobile Responsiveness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3255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032"/>
                </a:solidFill>
              </a:rPr>
              <a:t>Partial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32552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6E"/>
                </a:solidFill>
              </a:rPr>
              <a:t>Some breakpoint issues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9904" y="37307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1E"/>
                </a:solidFill>
              </a:rPr>
              <a:t>SSL / HTTPS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3730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✓ Active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40" y="3730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6E"/>
                </a:solidFill>
              </a:rPr>
              <a:t>Valid certificate in place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9904" y="4206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1E"/>
                </a:solidFill>
              </a:rPr>
              <a:t>Mobile App (iOS)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4206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6E"/>
                </a:solidFill>
              </a:rPr>
              <a:t>App Store – property search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9904" y="46817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1E"/>
                </a:solidFill>
              </a:rPr>
              <a:t>Social Media Integration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46817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74C3C"/>
                </a:solidFill>
              </a:rPr>
              <a:t>Minimal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21240" y="4681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6E"/>
                </a:solidFill>
              </a:rPr>
              <a:t>No live feed on website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9904" y="515721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1E"/>
                </a:solidFill>
              </a:rPr>
              <a:t>AI Features (current)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51572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032"/>
                </a:solidFill>
              </a:rPr>
              <a:t>Virtual Tours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1240" y="51572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6E"/>
                </a:solidFill>
              </a:rPr>
              <a:t>Limited AI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Website Audit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6751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A032"/>
                </a:solidFill>
              </a:rPr>
              <a:t>befittingproperties.com – identified gaps &amp; opportunities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Befitting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88920" cy="41148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" y="1965960"/>
            <a:ext cx="91440" cy="9144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Mobile load time estimated &gt;5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" y="2624328"/>
            <a:ext cx="91440" cy="9144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55117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Heavy unoptimised image 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" y="3282696"/>
            <a:ext cx="91440" cy="9144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2095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No CDN – assets from single origin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" y="3941064"/>
            <a:ext cx="91440" cy="9144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86791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JS render-blocking on first paint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" y="4599432"/>
            <a:ext cx="91440" cy="9144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5262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No lazy-loading on listing images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1325880"/>
            <a:ext cx="27889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0128" y="1325880"/>
            <a:ext cx="2788920" cy="41148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9856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UX /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65576" y="1965960"/>
            <a:ext cx="91440" cy="914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48456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Navigation hierarchy unclear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65576" y="2624328"/>
            <a:ext cx="91440" cy="914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255117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Property search limited &amp; slow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65576" y="3282696"/>
            <a:ext cx="91440" cy="914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48456" y="32095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No saved searches / wishlists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65576" y="3941064"/>
            <a:ext cx="91440" cy="914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48456" y="386791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CTA buttons lack visual weight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65576" y="4599432"/>
            <a:ext cx="91440" cy="914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45262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Inconsistent mobile typography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1325880"/>
            <a:ext cx="27889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54496" y="1325880"/>
            <a:ext cx="2788920" cy="41148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SEO &amp; Content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9944" y="1965960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Meta descriptions absent &gt;65 % pages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9944" y="262432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92824" y="255117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No structured data / schema markup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9944" y="3282696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2824" y="32095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Blog / insights section thin / empty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9944" y="3941064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92824" y="386791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Listing descriptions too brief for SEO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9944" y="4599432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92824" y="45262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No Google Business Profile linked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98864" y="1325880"/>
            <a:ext cx="27889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98864" y="1325880"/>
            <a:ext cx="278892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08592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Security &amp; Legal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54312" y="1965960"/>
            <a:ext cx="91440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37192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Cookie consent banner absent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54312" y="2624328"/>
            <a:ext cx="91440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37192" y="255117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NDPR / data privacy notice weak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54312" y="3282696"/>
            <a:ext cx="91440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37192" y="32095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Form validation needs hardening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54312" y="3941064"/>
            <a:ext cx="91440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37192" y="386791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Missing security headers (CSP, X-Frame)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54312" y="4599432"/>
            <a:ext cx="91440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37192" y="45262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No HTTPS enforcement on all sub-paths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6245352"/>
            <a:ext cx="11430000" cy="50292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62910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2B1E"/>
                </a:solidFill>
              </a:rPr>
              <a:t>Top Priority: Mobile performance + SEO content + NDPR/cookie compliance – highest ROI quickwins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Web Development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6751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A032"/>
                </a:solidFill>
              </a:rPr>
              <a:t>Modernising befittingproperties.com for performance &amp;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Befitting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41605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160520" cy="411480"/>
          </a:xfrm>
          <a:prstGeom prst="rect">
            <a:avLst/>
          </a:prstGeom>
          <a:solidFill>
            <a:srgbClr val="23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2588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Recommended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7AB5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288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Next.js 15 (React) – SSR &amp; static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76856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7AB5"/>
                </a:solidFill>
              </a:rPr>
              <a:t>CMS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27685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Contentful / Sanity.io – headless, developer-friendly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2491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7AB5"/>
                </a:solidFill>
              </a:rPr>
              <a:t>Hosting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72491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Vercel + AWS CloudFront CDN (Nigeria edge nodes)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7296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7AB5"/>
                </a:solidFill>
              </a:rPr>
              <a:t>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17296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Algolia – instant property faceted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2102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7AB5"/>
                </a:solidFill>
              </a:rPr>
              <a:t>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62102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Google Maps API + geo-tagged listings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6908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7AB5"/>
                </a:solidFill>
              </a:rPr>
              <a:t>Mobile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06908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React Native – unified iOS/Android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17136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7AB5"/>
                </a:solidFill>
              </a:rPr>
              <a:t>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1713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Flutterwave / Paystack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6519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7AB5"/>
                </a:solidFill>
              </a:rPr>
              <a:t>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96519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GA4 + Hotjar heatmaps + Meta Pixel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1324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7AB5"/>
                </a:solidFill>
              </a:rPr>
              <a:t>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41324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Auth0 – investor &amp; tenant portal login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280160"/>
            <a:ext cx="708660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0" y="1280160"/>
            <a:ext cx="7086600" cy="41148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01184" y="1325880"/>
            <a:ext cx="6766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Improvements &amp; New Features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01184" y="1920240"/>
            <a:ext cx="73152" cy="20116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84064" y="181051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4A29"/>
                </a:solidFill>
              </a:rPr>
              <a:t>Speed &amp; Core Web Vitals (Target 90+ Score)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208483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6E"/>
                </a:solidFill>
              </a:rPr>
              <a:t>WebP images, code-split JS, CDN edge delivery, lazy-load listings, pre-fetch on hover.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01184" y="2578608"/>
            <a:ext cx="73152" cy="20116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84064" y="2468880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4A29"/>
                </a:solidFill>
              </a:rPr>
              <a:t>Advanced Property Search &amp; Discovery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4064" y="274320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6E"/>
                </a:solidFill>
              </a:rPr>
              <a:t>Faceted filters (type, price, size, location). Map-based browsing. Saved searches &amp; alerts.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01184" y="3236976"/>
            <a:ext cx="73152" cy="20116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84064" y="3127248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4A29"/>
                </a:solidFill>
              </a:rPr>
              <a:t>Investor &amp; Tenant Self-Service Portal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4064" y="340156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6E"/>
                </a:solidFill>
              </a:rPr>
              <a:t>Secure login: documents, rent history, maintenance requests, ROI dashboards.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01184" y="3895344"/>
            <a:ext cx="73152" cy="20116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84064" y="3785616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4A29"/>
                </a:solidFill>
              </a:rPr>
              <a:t>Integrated Payment Gateway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84064" y="405993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6E"/>
                </a:solidFill>
              </a:rPr>
              <a:t>Flutterwave/Paystack for rent, deposits, and investment subscriptions — in-app and web.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01184" y="4553712"/>
            <a:ext cx="73152" cy="20116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84064" y="4443984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4A29"/>
                </a:solidFill>
              </a:rPr>
              <a:t>SEO Architecture &amp; Schema Markup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4718304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6E"/>
                </a:solidFill>
              </a:rPr>
              <a:t>Property schema, local SEO per Lagos/Abuja node, rich snippets, auto sitemaps.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01184" y="5212080"/>
            <a:ext cx="73152" cy="20116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84064" y="510235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4A29"/>
                </a:solidFill>
              </a:rPr>
              <a:t>NDPR / Cookie Compliance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84064" y="537667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6E"/>
                </a:solidFill>
              </a:rPr>
              <a:t>Consent banner, data subject request flow, privacy policy modernisation.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01184" y="5870448"/>
            <a:ext cx="73152" cy="20116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84064" y="5760720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4A29"/>
                </a:solidFill>
              </a:rPr>
              <a:t>Social &amp; App Deep-Link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84064" y="603504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6E"/>
                </a:solidFill>
              </a:rPr>
              <a:t>Instagram feed on site, auto-post new listings, deep links from web → mobile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AI Automation Opportunity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6751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A032"/>
                </a:solidFill>
              </a:rPr>
              <a:t>Where AI delivers immediate value for Befitting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Befitting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669280" cy="41148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988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Property Listings &amp; Marketing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20240"/>
            <a:ext cx="91440" cy="914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8562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AI auto-generates listing copy from spec sheet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313432"/>
            <a:ext cx="91440" cy="914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24942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Photo enhancement, tagging &amp; floor plan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706624"/>
            <a:ext cx="91440" cy="914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64261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Dynamic pricing engine (demand-driven rents)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099816"/>
            <a:ext cx="91440" cy="914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035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Bulk import &amp; normalise data from Excel/PDF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3493008"/>
            <a:ext cx="91440" cy="914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4290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Auto-post new listings to Instagram &amp; Facebook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32588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325880"/>
            <a:ext cx="5669280" cy="41148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38988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Client &amp; Tenant Communication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1920240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18562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24/7 AI chatbot on website + WhatsApp bot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2313432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24942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Auto-draft tenancy renewal &amp; payment reminders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2706624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264261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Maintenance ticket classification &amp; routing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73952" y="3099816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3035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Personalised property recommendations via email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73952" y="349300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2" y="34290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Multi-language support (English, Pidgin, French)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7764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977640"/>
            <a:ext cx="5669280" cy="411480"/>
          </a:xfrm>
          <a:prstGeom prst="rect">
            <a:avLst/>
          </a:prstGeom>
          <a:solidFill>
            <a:srgbClr val="23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04164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Market Intelligence &amp; Analytics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4572000"/>
            <a:ext cx="91440" cy="91440"/>
          </a:xfrm>
          <a:prstGeom prst="rect">
            <a:avLst/>
          </a:prstGeom>
          <a:solidFill>
            <a:srgbClr val="23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50799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Auto-scrape &amp; summarise competitor listings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4965192"/>
            <a:ext cx="91440" cy="91440"/>
          </a:xfrm>
          <a:prstGeom prst="rect">
            <a:avLst/>
          </a:prstGeom>
          <a:solidFill>
            <a:srgbClr val="23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49011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Weekly AI-generated Lagos/Abuja market reports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" y="5358384"/>
            <a:ext cx="91440" cy="91440"/>
          </a:xfrm>
          <a:prstGeom prst="rect">
            <a:avLst/>
          </a:prstGeom>
          <a:solidFill>
            <a:srgbClr val="23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29437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Predictive vacancy &amp; demand forecasting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" y="5751576"/>
            <a:ext cx="91440" cy="91440"/>
          </a:xfrm>
          <a:prstGeom prst="rect">
            <a:avLst/>
          </a:prstGeom>
          <a:solidFill>
            <a:srgbClr val="23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68756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Portfolio performance dashboards (real-time)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6144768"/>
            <a:ext cx="91440" cy="91440"/>
          </a:xfrm>
          <a:prstGeom prst="rect">
            <a:avLst/>
          </a:prstGeom>
          <a:solidFill>
            <a:srgbClr val="23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60807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Investor ROI reporting – fully automated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97764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3977640"/>
            <a:ext cx="5669280" cy="41148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404164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Operations &amp; Back-Office Automation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73952" y="4572000"/>
            <a:ext cx="91440" cy="9144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450799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Invoice &amp; accounts payable processing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73952" y="4965192"/>
            <a:ext cx="91440" cy="9144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56832" y="49011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AI contract review – clause flagging &amp; alerts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73952" y="5358384"/>
            <a:ext cx="91440" cy="9144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6832" y="529437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HR: CV screening, onboarding document generation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73952" y="5751576"/>
            <a:ext cx="91440" cy="9144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56832" y="568756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Meeting notes → action items (AI transcription)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73952" y="6144768"/>
            <a:ext cx="91440" cy="9144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56832" y="60807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KYC / AML document verification automation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Benefits of AI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6751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A032"/>
                </a:solidFill>
              </a:rPr>
              <a:t>Measurable impact across the Befitting Group business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Befitting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14630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904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8A032"/>
                </a:solidFill>
              </a:rPr>
              <a:t>65–75%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Reduction in
repetitive admin tasks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25880"/>
            <a:ext cx="2743200" cy="14630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4904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8A032"/>
                </a:solidFill>
              </a:rPr>
              <a:t>4×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Faster property
listing publication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2743200" cy="14630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904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8A032"/>
                </a:solidFill>
              </a:rPr>
              <a:t>45%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Lower cost per
client enquiry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325880"/>
            <a:ext cx="2743200" cy="14630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4904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8A032"/>
                </a:solidFill>
              </a:rP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Client service via
AI chatbot (0 overtime)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44368"/>
            <a:ext cx="5669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944368"/>
            <a:ext cx="5669280" cy="402336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990088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Speed to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4728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New listings live in minutes, not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7581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AI writes SEO-optimised description from a spec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690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Photos auto-tagged, watermarked &amp; resized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37997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Social posts drafted &amp; scheduled automatically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944368"/>
            <a:ext cx="5669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944368"/>
            <a:ext cx="5669280" cy="402336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2990088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Cost Efficiency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44728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Cut admin staff data-entry time by &gt;55 %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7581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Fewer errors = fewer costly tenant disputes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0690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Lower dependence on external marketing agencies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37997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Scale listing volume without scaling headcount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54296"/>
            <a:ext cx="5669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654296"/>
            <a:ext cx="5669280" cy="402336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4700016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Client Experience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15721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Instant 24/7 WhatsApp &amp; web chatbot responses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4681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Personalised property match notifications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7790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Auto viewing confirmations, reminders &amp; follow-ups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08990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Self-service portal for rent &amp; maintenance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654296"/>
            <a:ext cx="5669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4654296"/>
            <a:ext cx="5669280" cy="402336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9088" y="4700016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Competitive &amp; Strategic Edge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15721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AI-driven Lagos/Abuja market intelligence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54681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First-mover in Nigerian PropTech AI adoption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57790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Attract diaspora investors with automated reports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608990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▸  Proprietary data asset builds year-on-year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ROI &amp;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6751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A032"/>
                </a:solidFill>
              </a:rPr>
              <a:t>Projected returns from web + AI investment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Befitting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138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2588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Indicative Investment (Year 1 – USD)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8366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Website Rebuild (Next.js + Headless CMS)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88366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6E"/>
                </a:solidFill>
              </a:rPr>
              <a:t>$12 000 – $18 000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591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AI Chatbot &amp; WhatsApp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3591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6E"/>
                </a:solidFill>
              </a:rPr>
              <a:t> $4 500 – $7 500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34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Listing Automation &amp; AI Copywriting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83464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6E"/>
                </a:solidFill>
              </a:rPr>
              <a:t> $3 000 – $5 500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101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Mobile App Enhancement (React Native)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3101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6E"/>
                </a:solidFill>
              </a:rPr>
              <a:t> $6 000 – $10 000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856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SEO, NDPR Compliance &amp; Speed Sprint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78561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6E"/>
                </a:solidFill>
              </a:rPr>
              <a:t> $2 500 – $4 000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611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Training, Docs &amp; Change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2611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6E"/>
                </a:solidFill>
              </a:rPr>
              <a:t> $1 500 – $2 500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365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Monthly support / hosting / AI APIs (est.)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73659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6E"/>
                </a:solidFill>
              </a:rPr>
              <a:t> $800 – $1 400 / 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57216"/>
            <a:ext cx="5303520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1E"/>
                </a:solidFill>
              </a:rPr>
              <a:t>TOTAL YEAR 1 (once-off + 12 mo support)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53035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7AE60"/>
                </a:solidFill>
              </a:rPr>
              <a:t>$39 100 – $64 300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5138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9904" y="132588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Projected Returns &amp; Savings (USD / Year)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9904" y="1883664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Admin time saved (FTE equivalent)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18836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6E"/>
                </a:solidFill>
              </a:rPr>
              <a:t>1–2 FTE / yr  ≈  $18 000+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235915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Reduced marketing agency dependency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23591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6E"/>
                </a:solidFill>
              </a:rPr>
              <a:t>~$8 000 / year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2834640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Increased organic leads (SEO + UX uplift)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6E"/>
                </a:solidFill>
              </a:rPr>
              <a:t>+30–45 % qualified enquiries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9904" y="331012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Faster listing → tenancy conversion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3310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6E"/>
                </a:solidFill>
              </a:rPr>
              <a:t>Est. −12 days avg. vacancy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9904" y="378561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Chatbot deflects call centre volume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37856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6E"/>
                </a:solidFill>
              </a:rPr>
              <a:t>−35 % inbound call 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9904" y="4261104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Investor portal subscription / fee revenue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6E"/>
                </a:solidFill>
              </a:rPr>
              <a:t>Potential $6 000+ / year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9904" y="473659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1E"/>
                </a:solidFill>
              </a:rPr>
              <a:t>Diaspora investor reach (digital-first)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7365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6E"/>
                </a:solidFill>
              </a:rPr>
              <a:t>New market segment unlocked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5157216"/>
            <a:ext cx="5943600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5303520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1E"/>
                </a:solidFill>
              </a:rPr>
              <a:t>ESTIMATED YEAR 1 SAVINGS / UPSIDE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38360" y="5303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7AE60"/>
                </a:solidFill>
              </a:rPr>
              <a:t>$32 000 – $55 000+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64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54A29"/>
                </a:solidFill>
              </a:rPr>
              <a:t>Estimated breakeven: 10–16 months  |  Automation savings compound every year thereafter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Implementation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6751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A032"/>
                </a:solidFill>
              </a:rPr>
              <a:t>Phased 12-month delivery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Befitting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88920" cy="65836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1
Mon 1–3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1600200"/>
            <a:ext cx="128016" cy="54864"/>
          </a:xfrm>
          <a:prstGeom prst="rect">
            <a:avLst/>
          </a:prstGeom>
          <a:solidFill>
            <a:srgbClr val="6B7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221992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Full website performance audit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99008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Speed &amp; SEO quick-win sprint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758184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NDPR / cookie consent go-live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526280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AI chatbot MVP launch on site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294376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WhatsApp bot pilot for enquiries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0128" y="1325880"/>
            <a:ext cx="27889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0128" y="1325880"/>
            <a:ext cx="2788920" cy="658368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128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
Mon 4–6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336" y="1600200"/>
            <a:ext cx="128016" cy="54864"/>
          </a:xfrm>
          <a:prstGeom prst="rect">
            <a:avLst/>
          </a:prstGeom>
          <a:solidFill>
            <a:srgbClr val="6B7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0" y="2221992"/>
            <a:ext cx="91440" cy="914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Next.js rebuild &amp; CMS migration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2990088"/>
            <a:ext cx="91440" cy="914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Advanced property search (Algolia)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758184"/>
            <a:ext cx="91440" cy="914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Listing automation + AI copywriting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4526280"/>
            <a:ext cx="91440" cy="914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Instagram auto-post integration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5294376"/>
            <a:ext cx="91440" cy="914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Mobile app v2 (React Native uplift)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54496" y="1325880"/>
            <a:ext cx="27889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54496" y="1325880"/>
            <a:ext cx="2788920" cy="658368"/>
          </a:xfrm>
          <a:prstGeom prst="rect">
            <a:avLst/>
          </a:prstGeom>
          <a:solidFill>
            <a:srgbClr val="23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
Mon 7–9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61704" y="1600200"/>
            <a:ext cx="128016" cy="54864"/>
          </a:xfrm>
          <a:prstGeom prst="rect">
            <a:avLst/>
          </a:prstGeom>
          <a:solidFill>
            <a:srgbClr val="6B7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19088" y="2221992"/>
            <a:ext cx="91440" cy="91440"/>
          </a:xfrm>
          <a:prstGeom prst="rect">
            <a:avLst/>
          </a:prstGeom>
          <a:solidFill>
            <a:srgbClr val="23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Investor &amp; tenant portal launch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9088" y="2990088"/>
            <a:ext cx="91440" cy="91440"/>
          </a:xfrm>
          <a:prstGeom prst="rect">
            <a:avLst/>
          </a:prstGeom>
          <a:solidFill>
            <a:srgbClr val="23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Payment gateway (Flutterwave) live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19088" y="3758184"/>
            <a:ext cx="91440" cy="91440"/>
          </a:xfrm>
          <a:prstGeom prst="rect">
            <a:avLst/>
          </a:prstGeom>
          <a:solidFill>
            <a:srgbClr val="23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01968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AI market intelligence reports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9088" y="4526280"/>
            <a:ext cx="91440" cy="91440"/>
          </a:xfrm>
          <a:prstGeom prst="rect">
            <a:avLst/>
          </a:prstGeom>
          <a:solidFill>
            <a:srgbClr val="23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Invoice &amp; contract automation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19088" y="5294376"/>
            <a:ext cx="91440" cy="91440"/>
          </a:xfrm>
          <a:prstGeom prst="rect">
            <a:avLst/>
          </a:prstGeom>
          <a:solidFill>
            <a:srgbClr val="23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Staff enablement &amp; training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98864" y="1325880"/>
            <a:ext cx="27889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98864" y="1325880"/>
            <a:ext cx="2788920" cy="658368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98864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4
Mon 10–12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63456" y="2221992"/>
            <a:ext cx="91440" cy="9144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46336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Predictive vacancy analytics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63456" y="2990088"/>
            <a:ext cx="91440" cy="9144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46336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Advanced chatbot fine-tuning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63456" y="3758184"/>
            <a:ext cx="91440" cy="9144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46336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ERP / accounting API integration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63456" y="4526280"/>
            <a:ext cx="91440" cy="9144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46336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KYC / AML document AI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63456" y="5294376"/>
            <a:ext cx="91440" cy="9144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46336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Full audit, review &amp; optimise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Befitting Group  |  Web Dev &amp; AI Automation Audit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8A032"/>
                </a:solidFill>
              </a:rPr>
              <a:t>Why Automate —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789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FFFFFF"/>
                </a:solidFill>
              </a:rPr>
              <a:t>Nigerian PropTech is growing at 23 % CAGR. The window to lead — not follow — is open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502920" cy="47548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54A29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3736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Nigerian PropTech is accelerating 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1168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D8BB"/>
                </a:solidFill>
              </a:rPr>
              <a:t>Competitors are deploying AI-powered search, chatbots and virtual tours right now. First movers capture SEO authority and brand preference that late adopters cannot recover for years.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33472"/>
            <a:ext cx="50292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33472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54A29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33472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Labour costs and inflation keep rising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907792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D8BB"/>
                </a:solidFill>
              </a:rPr>
              <a:t>Every manual process — data entry, email follow-up, report writing — costs more each year. Automation freezes that cost curve and redeploys talent to relationship and revenue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529584"/>
            <a:ext cx="50292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29584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54A29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29584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Clients expect instant, 24/7 responses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03904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D8BB"/>
                </a:solidFill>
              </a:rPr>
              <a:t>Over 70 % of African property enquirers move to the first agent who responds. An AI WhatsApp bot means Befitting is always first — without overtime or weekend pay.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425696"/>
            <a:ext cx="502920" cy="475488"/>
          </a:xfrm>
          <a:prstGeom prst="rect">
            <a:avLst/>
          </a:prstGeom>
          <a:solidFill>
            <a:srgbClr val="23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2569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54A29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425696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tools are now genuinely affordable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70001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D8BB"/>
                </a:solidFill>
              </a:rPr>
              <a:t>GPT-4o API costs have dropped &gt;90 % since 2023. Enterprise-grade automation is no longer reserved for REITs — it is accessible to ambitious mid-market property groups today.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321808"/>
            <a:ext cx="502920" cy="475488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32180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54A29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321808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compounds in competitive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D8BB"/>
                </a:solidFill>
              </a:rPr>
              <a:t>Every automated interaction generates structured data. Over 2–3 years, Befitting builds a proprietary Lagos/Abuja dataset for pricing, forecasting, and investor reporting that no competitor can replicate.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6751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A032"/>
                </a:solidFill>
              </a:rPr>
              <a:t>From audit to action – what happens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Befitting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88920" cy="3749039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88920" cy="41148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26464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A032"/>
                </a:solidFill>
              </a:rPr>
              <a:t>Stakeholder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Present findings to leadership. Agree priority areas and budget envelope. Assign internal digital champion.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371600"/>
            <a:ext cx="2788920" cy="3749039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371600"/>
            <a:ext cx="2788920" cy="41148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1426464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4A29"/>
                </a:solidFill>
              </a:rPr>
              <a:t>Kick-Off &amp;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Provide hosting, CMS, analytics and social access. Finalise project charter. Daily standups begin.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4496" y="1371600"/>
            <a:ext cx="2788920" cy="3749039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371600"/>
            <a:ext cx="2788920" cy="411480"/>
          </a:xfrm>
          <a:prstGeom prst="rect">
            <a:avLst/>
          </a:prstGeom>
          <a:solidFill>
            <a:srgbClr val="23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426464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7AB5"/>
                </a:solidFill>
              </a:rPr>
              <a:t>Sprint 1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Speed fixes, NDPR compliance and AI chatbot integration start simultaneously across parallel tracks.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1371600"/>
            <a:ext cx="2788920" cy="3749039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4" y="1371600"/>
            <a:ext cx="2788920" cy="411480"/>
          </a:xfrm>
          <a:prstGeom prst="rect">
            <a:avLst/>
          </a:prstGeom>
          <a:solidFill>
            <a:srgbClr val="0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4" y="1426464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Month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7A45"/>
                </a:solidFill>
              </a:rPr>
              <a:t>Phase 1 Go-Live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1E"/>
                </a:solidFill>
              </a:rPr>
              <a:t>Chatbot + WhatsApp bot live. SEO/speed fixes deployed. First AI-generated listings in production.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21808"/>
            <a:ext cx="11430000" cy="100584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394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032"/>
                </a:solidFill>
              </a:rPr>
              <a:t>Ready to transform Befitting Group's digital presence?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76072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Contact Genos Apollo to schedule your discovery workshop and technical deep-dive.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5321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8A032"/>
                </a:solidFill>
              </a:rPr>
              <a:t>befittingproperties.com  •  @befittingproperties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3246120"/>
            <a:ext cx="115031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058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803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A623"/>
                </a:solidFill>
              </a:rPr>
              <a:t>Building Africa's property future — smarter, faster, and more connected.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BB99"/>
                </a:solidFill>
              </a:rPr>
              <a:t>Befitting Group  •  befittingproperties.com  •  Lagos, Nigeria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447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B6E"/>
                </a:solidFill>
              </a:rPr>
              <a:t>Prepared by Genos Apollo  |  May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