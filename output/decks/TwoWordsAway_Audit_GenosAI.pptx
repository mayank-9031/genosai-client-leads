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Rectangle 6"/>
          <p:cNvSpPr/>
          <p:nvPr/>
        </p:nvSpPr>
        <p:spPr>
          <a:xfrm>
            <a:off x="502920" y="731520"/>
            <a:ext cx="2743200" cy="347472"/>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49808"/>
            <a:ext cx="2743200" cy="320040"/>
          </a:xfrm>
          <a:prstGeom prst="rect">
            <a:avLst/>
          </a:prstGeom>
          <a:noFill/>
        </p:spPr>
        <p:txBody>
          <a:bodyPr wrap="square">
            <a:spAutoFit/>
          </a:bodyPr>
          <a:lstStyle/>
          <a:p>
            <a:pPr algn="l"/>
            <a:r>
              <a:rPr sz="1000" b="1" i="0">
                <a:solidFill>
                  <a:srgbClr val="06091F"/>
                </a:solidFill>
              </a:rPr>
              <a:t>  AS SEEN ON SHARK TANK INDIA</a:t>
            </a:r>
          </a:p>
        </p:txBody>
      </p:sp>
      <p:sp>
        <p:nvSpPr>
          <p:cNvPr id="9" name="TextBox 8"/>
          <p:cNvSpPr txBox="1"/>
          <p:nvPr/>
        </p:nvSpPr>
        <p:spPr>
          <a:xfrm>
            <a:off x="502920" y="1261872"/>
            <a:ext cx="8229600" cy="548640"/>
          </a:xfrm>
          <a:prstGeom prst="rect">
            <a:avLst/>
          </a:prstGeom>
          <a:noFill/>
        </p:spPr>
        <p:txBody>
          <a:bodyPr wrap="square">
            <a:spAutoFit/>
          </a:bodyPr>
          <a:lstStyle/>
          <a:p>
            <a:pPr algn="l"/>
            <a:r>
              <a:rPr sz="1300" b="0" i="0">
                <a:solidFill>
                  <a:srgbClr val="4F8EFF"/>
                </a:solidFill>
              </a:rPr>
              <a:t>TWOWORDSAWAY.COM</a:t>
            </a:r>
          </a:p>
        </p:txBody>
      </p:sp>
      <p:sp>
        <p:nvSpPr>
          <p:cNvPr id="10" name="TextBox 9"/>
          <p:cNvSpPr txBox="1"/>
          <p:nvPr/>
        </p:nvSpPr>
        <p:spPr>
          <a:xfrm>
            <a:off x="502920" y="1719072"/>
            <a:ext cx="8229600" cy="1645920"/>
          </a:xfrm>
          <a:prstGeom prst="rect">
            <a:avLst/>
          </a:prstGeom>
          <a:noFill/>
        </p:spPr>
        <p:txBody>
          <a:bodyPr wrap="square">
            <a:spAutoFit/>
          </a:bodyPr>
          <a:lstStyle/>
          <a:p>
            <a:pPr algn="l"/>
            <a:r>
              <a:rPr sz="4600" b="1" i="0">
                <a:solidFill>
                  <a:srgbClr val="FFFFFF"/>
                </a:solidFill>
              </a:rPr>
              <a:t>Website &amp; AI Growth
Audit Report</a:t>
            </a:r>
          </a:p>
        </p:txBody>
      </p:sp>
      <p:sp>
        <p:nvSpPr>
          <p:cNvPr id="11" name="Rectangle 10"/>
          <p:cNvSpPr/>
          <p:nvPr/>
        </p:nvSpPr>
        <p:spPr>
          <a:xfrm>
            <a:off x="502920" y="3364992"/>
            <a:ext cx="2743200" cy="36576"/>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639312"/>
            <a:ext cx="8229600" cy="457200"/>
          </a:xfrm>
          <a:prstGeom prst="rect">
            <a:avLst/>
          </a:prstGeom>
          <a:noFill/>
        </p:spPr>
        <p:txBody>
          <a:bodyPr wrap="square">
            <a:spAutoFit/>
          </a:bodyPr>
          <a:lstStyle/>
          <a:p>
            <a:pPr algn="l"/>
            <a:r>
              <a:rPr sz="1400" b="0" i="0">
                <a:solidFill>
                  <a:srgbClr val="C8D4EE"/>
                </a:solidFill>
              </a:rPr>
              <a:t>Prepared exclusively for the TwoWordsAway founding team</a:t>
            </a:r>
          </a:p>
        </p:txBody>
      </p:sp>
      <p:sp>
        <p:nvSpPr>
          <p:cNvPr id="13" name="Rectangle 12"/>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5" name="TextBox 14"/>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6" name="Rectangle 15"/>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8" name="TextBox 17"/>
          <p:cNvSpPr txBox="1"/>
          <p:nvPr/>
        </p:nvSpPr>
        <p:spPr>
          <a:xfrm>
            <a:off x="9646920" y="3429000"/>
            <a:ext cx="2011680" cy="1005840"/>
          </a:xfrm>
          <a:prstGeom prst="rect">
            <a:avLst/>
          </a:prstGeom>
          <a:noFill/>
        </p:spPr>
        <p:txBody>
          <a:bodyPr wrap="square">
            <a:spAutoFit/>
          </a:bodyPr>
          <a:lstStyle/>
          <a:p>
            <a:pPr algn="ctr"/>
            <a:r>
              <a:rPr sz="7200" b="1" i="0">
                <a:solidFill>
                  <a:srgbClr val="FFC030"/>
                </a:solidFill>
              </a:rPr>
              <a:t>7</a:t>
            </a:r>
          </a:p>
        </p:txBody>
      </p:sp>
      <p:sp>
        <p:nvSpPr>
          <p:cNvPr id="19" name="TextBox 18"/>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20" name="Oval 19"/>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Two Words Away — What They've Built</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3000" b="1" i="0">
                <a:solidFill>
                  <a:srgbClr val="FFC030"/>
                </a:solidFill>
              </a:rPr>
              <a:t>120+</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100" b="0" i="0">
                <a:solidFill>
                  <a:srgbClr val="C8D4EE"/>
                </a:solidFill>
              </a:rPr>
              <a:t>Professionals
at Tables</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3000" b="1" i="0">
                <a:solidFill>
                  <a:srgbClr val="FFC030"/>
                </a:solidFill>
              </a:rPr>
              <a:t>60+</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100" b="0" i="0">
                <a:solidFill>
                  <a:srgbClr val="C8D4EE"/>
                </a:solidFill>
              </a:rPr>
              <a:t>Tables
Hosted</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3000" b="1" i="0">
                <a:solidFill>
                  <a:srgbClr val="FFC030"/>
                </a:solidFill>
              </a:rPr>
              <a:t>6</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100" b="0" i="0">
                <a:solidFill>
                  <a:srgbClr val="C8D4EE"/>
                </a:solidFill>
              </a:rPr>
              <a:t>Cities
Active</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3000" b="1" i="0">
                <a:solidFill>
                  <a:srgbClr val="FFC030"/>
                </a:solidFill>
              </a:rPr>
              <a:t>97%</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100" b="0" i="0">
                <a:solidFill>
                  <a:srgbClr val="C8D4EE"/>
                </a:solidFill>
              </a:rPr>
              <a:t>Post-Event
Satisfaction</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3000" b="1" i="0">
                <a:solidFill>
                  <a:srgbClr val="FFC030"/>
                </a:solidFill>
              </a:rPr>
              <a:t>4</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100" b="0" i="0">
                <a:solidFill>
                  <a:srgbClr val="C8D4EE"/>
                </a:solidFill>
              </a:rPr>
              <a:t>Event Types
Dinner / Coffee
Drinks / Lunch</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100" b="0" i="0">
                <a:solidFill>
                  <a:srgbClr val="C8D4EE"/>
                </a:solidFill>
              </a:rPr>
              <a:t>Curated networking dinners &amp; coffees  ·  Bangalore · Mumbai · Delhi · Gurgaon + 2 cities  ·  Free signup, per-seat fee per table  ·  As seen on Shark Tank India</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4F8EFF"/>
                </a:solidFill>
              </a:rPr>
              <a:t>WHAT THEY DO</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500"/>
              </a:spcAft>
            </a:pPr>
            <a:r>
              <a:rPr sz="1100" b="1">
                <a:solidFill>
                  <a:srgbClr val="4F8EFF"/>
                </a:solidFill>
              </a:rPr>
              <a:t>• </a:t>
            </a:r>
            <a:r>
              <a:rPr sz="1200">
                <a:solidFill>
                  <a:srgbClr val="C8D4EE"/>
                </a:solidFill>
              </a:rPr>
              <a:t>Curate small-group dinners (4–8 people) for founders, investors, engineers, and growth professionals</a:t>
            </a:r>
          </a:p>
          <a:p>
            <a:pPr algn="l">
              <a:spcAft>
                <a:spcPts val="500"/>
              </a:spcAft>
            </a:pPr>
            <a:r>
              <a:rPr sz="1100" b="1">
                <a:solidFill>
                  <a:srgbClr val="4F8EFF"/>
                </a:solidFill>
              </a:rPr>
              <a:t>• </a:t>
            </a:r>
            <a:r>
              <a:rPr sz="1200">
                <a:solidFill>
                  <a:srgbClr val="C8D4EE"/>
                </a:solidFill>
              </a:rPr>
              <a:t>Handle venue, curation, and invites — attendees just show up</a:t>
            </a:r>
          </a:p>
          <a:p>
            <a:pPr algn="l"/>
            <a:r>
              <a:rPr sz="1100" b="1">
                <a:solidFill>
                  <a:srgbClr val="4F8EFF"/>
                </a:solidFill>
              </a:rPr>
              <a:t>• </a:t>
            </a:r>
            <a:r>
              <a:rPr sz="1200">
                <a:solidFill>
                  <a:srgbClr val="C8D4EE"/>
                </a:solidFill>
              </a:rPr>
              <a:t>Free to sign up; paid per-seat model for confirmed tables</a:t>
            </a:r>
          </a:p>
        </p:txBody>
      </p:sp>
      <p:sp>
        <p:nvSpPr>
          <p:cNvPr id="26" name="TextBox 25"/>
          <p:cNvSpPr txBox="1"/>
          <p:nvPr/>
        </p:nvSpPr>
        <p:spPr>
          <a:xfrm>
            <a:off x="6355080" y="4572000"/>
            <a:ext cx="5303520" cy="320040"/>
          </a:xfrm>
          <a:prstGeom prst="rect">
            <a:avLst/>
          </a:prstGeom>
          <a:noFill/>
        </p:spPr>
        <p:txBody>
          <a:bodyPr wrap="square">
            <a:spAutoFit/>
          </a:bodyPr>
          <a:lstStyle/>
          <a:p>
            <a:pPr algn="l"/>
            <a:r>
              <a:rPr sz="1100" b="1" i="0">
                <a:solidFill>
                  <a:srgbClr val="4F8EFF"/>
                </a:solidFill>
              </a:rPr>
              <a:t>TARGET USERS</a:t>
            </a:r>
          </a:p>
        </p:txBody>
      </p:sp>
      <p:sp>
        <p:nvSpPr>
          <p:cNvPr id="27" name="TextBox 26"/>
          <p:cNvSpPr txBox="1"/>
          <p:nvPr/>
        </p:nvSpPr>
        <p:spPr>
          <a:xfrm>
            <a:off x="6355080" y="4892040"/>
            <a:ext cx="5303520" cy="1371600"/>
          </a:xfrm>
          <a:prstGeom prst="rect">
            <a:avLst/>
          </a:prstGeom>
          <a:noFill/>
        </p:spPr>
        <p:txBody>
          <a:bodyPr wrap="square">
            <a:spAutoFit/>
          </a:bodyPr>
          <a:lstStyle/>
          <a:p>
            <a:pPr algn="l">
              <a:spcAft>
                <a:spcPts val="500"/>
              </a:spcAft>
            </a:pPr>
            <a:r>
              <a:rPr sz="1100" b="1">
                <a:solidFill>
                  <a:srgbClr val="4F8EFF"/>
                </a:solidFill>
              </a:rPr>
              <a:t>• </a:t>
            </a:r>
            <a:r>
              <a:rPr sz="1200">
                <a:solidFill>
                  <a:srgbClr val="C8D4EE"/>
                </a:solidFill>
              </a:rPr>
              <a:t>Founders — fundraising, co-founders, warm intros to VCs</a:t>
            </a:r>
          </a:p>
          <a:p>
            <a:pPr algn="l">
              <a:spcAft>
                <a:spcPts val="500"/>
              </a:spcAft>
            </a:pPr>
            <a:r>
              <a:rPr sz="1100" b="1">
                <a:solidFill>
                  <a:srgbClr val="4F8EFF"/>
                </a:solidFill>
              </a:rPr>
              <a:t>• </a:t>
            </a:r>
            <a:r>
              <a:rPr sz="1200">
                <a:solidFill>
                  <a:srgbClr val="C8D4EE"/>
                </a:solidFill>
              </a:rPr>
              <a:t>Investors &amp; Angels — early access to high-intent founders</a:t>
            </a:r>
          </a:p>
          <a:p>
            <a:pPr algn="l"/>
            <a:r>
              <a:rPr sz="1100" b="1">
                <a:solidFill>
                  <a:srgbClr val="4F8EFF"/>
                </a:solidFill>
              </a:rPr>
              <a:t>• </a:t>
            </a:r>
            <a:r>
              <a:rPr sz="1200">
                <a:solidFill>
                  <a:srgbClr val="C8D4EE"/>
                </a:solidFill>
              </a:rPr>
              <a:t>Operators, Product, Growth, Engineers, Ambitious Employees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5836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Shark Tank India — On-Site and Prominent</a:t>
            </a:r>
          </a:p>
        </p:txBody>
      </p:sp>
      <p:sp>
        <p:nvSpPr>
          <p:cNvPr id="9" name="TextBox 8"/>
          <p:cNvSpPr txBox="1"/>
          <p:nvPr/>
        </p:nvSpPr>
        <p:spPr>
          <a:xfrm>
            <a:off x="685800" y="1901952"/>
            <a:ext cx="10789920" cy="530352"/>
          </a:xfrm>
          <a:prstGeom prst="rect">
            <a:avLst/>
          </a:prstGeom>
          <a:noFill/>
        </p:spPr>
        <p:txBody>
          <a:bodyPr wrap="square">
            <a:spAutoFit/>
          </a:bodyPr>
          <a:lstStyle/>
          <a:p>
            <a:pPr algn="l"/>
            <a:r>
              <a:rPr sz="1150" b="0" i="0">
                <a:solidFill>
                  <a:srgbClr val="C8D4EE"/>
                </a:solidFill>
              </a:rPr>
              <a:t>The Shark Tank India credibility badge is front-and-center on the homepage. For a bootstrapped product in India, this is a moat. New visitors immediately see third-party validation before reading a single line of copy. Most early-stage startups spend years trying to earn this kind of trust — TWA already has it.</a:t>
            </a:r>
          </a:p>
        </p:txBody>
      </p:sp>
      <p:sp>
        <p:nvSpPr>
          <p:cNvPr id="10" name="Rectangle 9"/>
          <p:cNvSpPr/>
          <p:nvPr/>
        </p:nvSpPr>
        <p:spPr>
          <a:xfrm>
            <a:off x="502920" y="2514600"/>
            <a:ext cx="54864" cy="65836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Razor-Sharp Value Proposition</a:t>
            </a:r>
          </a:p>
        </p:txBody>
      </p:sp>
      <p:sp>
        <p:nvSpPr>
          <p:cNvPr id="12" name="TextBox 11"/>
          <p:cNvSpPr txBox="1"/>
          <p:nvPr/>
        </p:nvSpPr>
        <p:spPr>
          <a:xfrm>
            <a:off x="685800" y="2862072"/>
            <a:ext cx="10789920" cy="530352"/>
          </a:xfrm>
          <a:prstGeom prst="rect">
            <a:avLst/>
          </a:prstGeom>
          <a:noFill/>
        </p:spPr>
        <p:txBody>
          <a:bodyPr wrap="square">
            <a:spAutoFit/>
          </a:bodyPr>
          <a:lstStyle/>
          <a:p>
            <a:pPr algn="l"/>
            <a:r>
              <a:rPr sz="1150" b="0" i="0">
                <a:solidFill>
                  <a:srgbClr val="C8D4EE"/>
                </a:solidFill>
              </a:rPr>
              <a:t>"We handle the people, table and venue — you just show up." That's the entire product in one sentence. It's clear, memorable, and directly eliminates the two biggest objections to networking events: effort and awkwardness. The homepage passes the 5-second test.</a:t>
            </a:r>
          </a:p>
        </p:txBody>
      </p:sp>
      <p:sp>
        <p:nvSpPr>
          <p:cNvPr id="13" name="Rectangle 12"/>
          <p:cNvSpPr/>
          <p:nvPr/>
        </p:nvSpPr>
        <p:spPr>
          <a:xfrm>
            <a:off x="502920" y="3474720"/>
            <a:ext cx="54864" cy="65836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Live Event Inventory with Seat Scarcity</a:t>
            </a:r>
          </a:p>
        </p:txBody>
      </p:sp>
      <p:sp>
        <p:nvSpPr>
          <p:cNvPr id="15" name="TextBox 14"/>
          <p:cNvSpPr txBox="1"/>
          <p:nvPr/>
        </p:nvSpPr>
        <p:spPr>
          <a:xfrm>
            <a:off x="685800" y="3822192"/>
            <a:ext cx="10789920" cy="530352"/>
          </a:xfrm>
          <a:prstGeom prst="rect">
            <a:avLst/>
          </a:prstGeom>
          <a:noFill/>
        </p:spPr>
        <p:txBody>
          <a:bodyPr wrap="square">
            <a:spAutoFit/>
          </a:bodyPr>
          <a:lstStyle/>
          <a:p>
            <a:pPr algn="l"/>
            <a:r>
              <a:rPr sz="1150" b="0" i="0">
                <a:solidFill>
                  <a:srgbClr val="C8D4EE"/>
                </a:solidFill>
              </a:rPr>
              <a:t>The /events page shows 8 upcoming tables across Bangalore, Mumbai, Delhi, and Gurgaon — with real seat counts like '2 seats left' and '1 seat left'. This is not vaporware. Real events, real scarcity, real urgency. It's the strongest conversion signal on the whole site.</a:t>
            </a:r>
          </a:p>
        </p:txBody>
      </p:sp>
      <p:sp>
        <p:nvSpPr>
          <p:cNvPr id="16" name="Rectangle 15"/>
          <p:cNvSpPr/>
          <p:nvPr/>
        </p:nvSpPr>
        <p:spPr>
          <a:xfrm>
            <a:off x="502920" y="4434840"/>
            <a:ext cx="54864" cy="65836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6 Persona-Specific Value Sections</a:t>
            </a:r>
          </a:p>
        </p:txBody>
      </p:sp>
      <p:sp>
        <p:nvSpPr>
          <p:cNvPr id="18" name="TextBox 17"/>
          <p:cNvSpPr txBox="1"/>
          <p:nvPr/>
        </p:nvSpPr>
        <p:spPr>
          <a:xfrm>
            <a:off x="685800" y="4782312"/>
            <a:ext cx="10789920" cy="530352"/>
          </a:xfrm>
          <a:prstGeom prst="rect">
            <a:avLst/>
          </a:prstGeom>
          <a:noFill/>
        </p:spPr>
        <p:txBody>
          <a:bodyPr wrap="square">
            <a:spAutoFit/>
          </a:bodyPr>
          <a:lstStyle/>
          <a:p>
            <a:pPr algn="l"/>
            <a:r>
              <a:rPr sz="1150" b="0" i="0">
                <a:solidFill>
                  <a:srgbClr val="C8D4EE"/>
                </a:solidFill>
              </a:rPr>
              <a:t>The homepage breaks down benefits for Founders, Investors, Operators, Product/Growth, Engineers, and Ambitious Employees — each with 3 tailored bullet points. Visitors self-identify. This dramatically improves conversion rates compared to generic 'meet professionals' messaging.</a:t>
            </a:r>
          </a:p>
        </p:txBody>
      </p:sp>
      <p:sp>
        <p:nvSpPr>
          <p:cNvPr id="19" name="Rectangle 18"/>
          <p:cNvSpPr/>
          <p:nvPr/>
        </p:nvSpPr>
        <p:spPr>
          <a:xfrm>
            <a:off x="502920" y="5394960"/>
            <a:ext cx="54864" cy="65836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Frictionless Entry — Free Signup</a:t>
            </a:r>
          </a:p>
        </p:txBody>
      </p:sp>
      <p:sp>
        <p:nvSpPr>
          <p:cNvPr id="21" name="TextBox 20"/>
          <p:cNvSpPr txBox="1"/>
          <p:nvPr/>
        </p:nvSpPr>
        <p:spPr>
          <a:xfrm>
            <a:off x="685800" y="5742432"/>
            <a:ext cx="10789920" cy="530352"/>
          </a:xfrm>
          <a:prstGeom prst="rect">
            <a:avLst/>
          </a:prstGeom>
          <a:noFill/>
        </p:spPr>
        <p:txBody>
          <a:bodyPr wrap="square">
            <a:spAutoFit/>
          </a:bodyPr>
          <a:lstStyle/>
          <a:p>
            <a:pPr algn="l"/>
            <a:r>
              <a:rPr sz="1150" b="0" i="0">
                <a:solidFill>
                  <a:srgbClr val="C8D4EE"/>
                </a:solidFill>
              </a:rPr>
              <a:t>No credit card, no commitment at signup. The free model eliminates the #1 reason people don't try new networking products: financial risk. Once someone is in the system, the conversion from 'registered' to 'paid seat' is a much easier ask.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IT'S BROKEN</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6 Issues Found in the Audit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54864" cy="62179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81328"/>
            <a:ext cx="8961120" cy="320040"/>
          </a:xfrm>
          <a:prstGeom prst="rect">
            <a:avLst/>
          </a:prstGeom>
          <a:noFill/>
        </p:spPr>
        <p:txBody>
          <a:bodyPr wrap="square">
            <a:spAutoFit/>
          </a:bodyPr>
          <a:lstStyle/>
          <a:p>
            <a:pPr algn="l"/>
            <a:r>
              <a:rPr sz="1300" b="1" i="0">
                <a:solidFill>
                  <a:srgbClr val="FFFFFF"/>
                </a:solidFill>
              </a:rPr>
              <a:t>/about — 404 Page Not Found</a:t>
            </a:r>
          </a:p>
        </p:txBody>
      </p:sp>
      <p:sp>
        <p:nvSpPr>
          <p:cNvPr id="9" name="Oval 8"/>
          <p:cNvSpPr/>
          <p:nvPr/>
        </p:nvSpPr>
        <p:spPr>
          <a:xfrm>
            <a:off x="9921240" y="1517904"/>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01368"/>
            <a:ext cx="10789920" cy="475488"/>
          </a:xfrm>
          <a:prstGeom prst="rect">
            <a:avLst/>
          </a:prstGeom>
          <a:noFill/>
        </p:spPr>
        <p:txBody>
          <a:bodyPr wrap="square">
            <a:spAutoFit/>
          </a:bodyPr>
          <a:lstStyle/>
          <a:p>
            <a:pPr algn="l"/>
            <a:r>
              <a:rPr sz="1100" b="0" i="0">
                <a:solidFill>
                  <a:srgbClr val="C8D4EE"/>
                </a:solidFill>
              </a:rPr>
              <a:t>The footer prominently links to 'About' — clicking it returns a 404. Visitors looking for the founding story, team background, and company mission hit a dead end. This page is critical for enterprise clients and investors doing due diligence.</a:t>
            </a:r>
          </a:p>
        </p:txBody>
      </p:sp>
      <p:sp>
        <p:nvSpPr>
          <p:cNvPr id="11" name="Rectangle 10"/>
          <p:cNvSpPr/>
          <p:nvPr/>
        </p:nvSpPr>
        <p:spPr>
          <a:xfrm>
            <a:off x="502920" y="2368296"/>
            <a:ext cx="54864" cy="62179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68296"/>
            <a:ext cx="8961120" cy="320040"/>
          </a:xfrm>
          <a:prstGeom prst="rect">
            <a:avLst/>
          </a:prstGeom>
          <a:noFill/>
        </p:spPr>
        <p:txBody>
          <a:bodyPr wrap="square">
            <a:spAutoFit/>
          </a:bodyPr>
          <a:lstStyle/>
          <a:p>
            <a:pPr algn="l"/>
            <a:r>
              <a:rPr sz="1300" b="1" i="0">
                <a:solidFill>
                  <a:srgbClr val="FFFFFF"/>
                </a:solidFill>
              </a:rPr>
              <a:t>/contact-us — 404 Page Not Found</a:t>
            </a:r>
          </a:p>
        </p:txBody>
      </p:sp>
      <p:sp>
        <p:nvSpPr>
          <p:cNvPr id="13" name="Oval 12"/>
          <p:cNvSpPr/>
          <p:nvPr/>
        </p:nvSpPr>
        <p:spPr>
          <a:xfrm>
            <a:off x="9921240" y="2404872"/>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688336"/>
            <a:ext cx="10789920" cy="475488"/>
          </a:xfrm>
          <a:prstGeom prst="rect">
            <a:avLst/>
          </a:prstGeom>
          <a:noFill/>
        </p:spPr>
        <p:txBody>
          <a:bodyPr wrap="square">
            <a:spAutoFit/>
          </a:bodyPr>
          <a:lstStyle/>
          <a:p>
            <a:pPr algn="l"/>
            <a:r>
              <a:rPr sz="1100" b="0" i="0">
                <a:solidFill>
                  <a:srgbClr val="C8D4EE"/>
                </a:solidFill>
              </a:rPr>
              <a:t>'Contact Us' appears in both the main nav and the footer. Both routes return 404. There is no way to reach the team through the website other than the two email addresses buried in the footer. Any serious B2B or press inquiry dies here.</a:t>
            </a:r>
          </a:p>
        </p:txBody>
      </p:sp>
      <p:sp>
        <p:nvSpPr>
          <p:cNvPr id="15" name="Rectangle 14"/>
          <p:cNvSpPr/>
          <p:nvPr/>
        </p:nvSpPr>
        <p:spPr>
          <a:xfrm>
            <a:off x="502920" y="3255264"/>
            <a:ext cx="54864" cy="62179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55264"/>
            <a:ext cx="8961120" cy="320040"/>
          </a:xfrm>
          <a:prstGeom prst="rect">
            <a:avLst/>
          </a:prstGeom>
          <a:noFill/>
        </p:spPr>
        <p:txBody>
          <a:bodyPr wrap="square">
            <a:spAutoFit/>
          </a:bodyPr>
          <a:lstStyle/>
          <a:p>
            <a:pPr algn="l"/>
            <a:r>
              <a:rPr sz="1300" b="1" i="0">
                <a:solidFill>
                  <a:srgbClr val="FFFFFF"/>
                </a:solidFill>
              </a:rPr>
              <a:t>/blog — 404 Page Not Found</a:t>
            </a:r>
          </a:p>
        </p:txBody>
      </p:sp>
      <p:sp>
        <p:nvSpPr>
          <p:cNvPr id="17" name="Oval 16"/>
          <p:cNvSpPr/>
          <p:nvPr/>
        </p:nvSpPr>
        <p:spPr>
          <a:xfrm>
            <a:off x="9921240" y="32918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575304"/>
            <a:ext cx="10789920" cy="475488"/>
          </a:xfrm>
          <a:prstGeom prst="rect">
            <a:avLst/>
          </a:prstGeom>
          <a:noFill/>
        </p:spPr>
        <p:txBody>
          <a:bodyPr wrap="square">
            <a:spAutoFit/>
          </a:bodyPr>
          <a:lstStyle/>
          <a:p>
            <a:pPr algn="l"/>
            <a:r>
              <a:rPr sz="1100" b="0" i="0">
                <a:solidFill>
                  <a:srgbClr val="C8D4EE"/>
                </a:solidFill>
              </a:rPr>
              <a:t>The blog is listed in the footer nav — a high-value SEO and content marketing channel. The route doesn't exist. Every 'networking tips', 'how to meet investors', 'Shark Tank experience' article that should be driving organic search traffic is simply not there.</a:t>
            </a:r>
          </a:p>
        </p:txBody>
      </p:sp>
      <p:sp>
        <p:nvSpPr>
          <p:cNvPr id="19" name="Rectangle 18"/>
          <p:cNvSpPr/>
          <p:nvPr/>
        </p:nvSpPr>
        <p:spPr>
          <a:xfrm>
            <a:off x="502920" y="4142232"/>
            <a:ext cx="54864" cy="621792"/>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142232"/>
            <a:ext cx="8961120" cy="320040"/>
          </a:xfrm>
          <a:prstGeom prst="rect">
            <a:avLst/>
          </a:prstGeom>
          <a:noFill/>
        </p:spPr>
        <p:txBody>
          <a:bodyPr wrap="square">
            <a:spAutoFit/>
          </a:bodyPr>
          <a:lstStyle/>
          <a:p>
            <a:pPr algn="l"/>
            <a:r>
              <a:rPr sz="1300" b="1" i="0">
                <a:solidFill>
                  <a:srgbClr val="FFFFFF"/>
                </a:solidFill>
              </a:rPr>
              <a:t>/feedback and /support — Both 404</a:t>
            </a:r>
          </a:p>
        </p:txBody>
      </p:sp>
      <p:sp>
        <p:nvSpPr>
          <p:cNvPr id="21" name="Oval 20"/>
          <p:cNvSpPr/>
          <p:nvPr/>
        </p:nvSpPr>
        <p:spPr>
          <a:xfrm>
            <a:off x="9921240" y="4178808"/>
            <a:ext cx="941832" cy="27432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462272"/>
            <a:ext cx="10789920" cy="475488"/>
          </a:xfrm>
          <a:prstGeom prst="rect">
            <a:avLst/>
          </a:prstGeom>
          <a:noFill/>
        </p:spPr>
        <p:txBody>
          <a:bodyPr wrap="square">
            <a:spAutoFit/>
          </a:bodyPr>
          <a:lstStyle/>
          <a:p>
            <a:pPr algn="l"/>
            <a:r>
              <a:rPr sz="1100" b="0" i="0">
                <a:solidFill>
                  <a:srgbClr val="C8D4EE"/>
                </a:solidFill>
              </a:rPr>
              <a:t>Both Feedback and Support are linked in the footer nav. Both throw 404 errors. Users who want to report an issue, suggest an improvement, or get help before booking a table have no self-serve path. This erodes trust post-signup.</a:t>
            </a:r>
          </a:p>
        </p:txBody>
      </p:sp>
      <p:sp>
        <p:nvSpPr>
          <p:cNvPr id="23" name="Rectangle 22"/>
          <p:cNvSpPr/>
          <p:nvPr/>
        </p:nvSpPr>
        <p:spPr>
          <a:xfrm>
            <a:off x="502920" y="5029200"/>
            <a:ext cx="54864" cy="62179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029200"/>
            <a:ext cx="8961120" cy="320040"/>
          </a:xfrm>
          <a:prstGeom prst="rect">
            <a:avLst/>
          </a:prstGeom>
          <a:noFill/>
        </p:spPr>
        <p:txBody>
          <a:bodyPr wrap="square">
            <a:spAutoFit/>
          </a:bodyPr>
          <a:lstStyle/>
          <a:p>
            <a:pPr algn="l"/>
            <a:r>
              <a:rPr sz="1300" b="1" i="0">
                <a:solidFill>
                  <a:srgbClr val="FFFFFF"/>
                </a:solidFill>
              </a:rPr>
              <a:t>Pricing Page Has Wrong Product Copy</a:t>
            </a:r>
          </a:p>
        </p:txBody>
      </p:sp>
      <p:sp>
        <p:nvSpPr>
          <p:cNvPr id="25" name="Oval 24"/>
          <p:cNvSpPr/>
          <p:nvPr/>
        </p:nvSpPr>
        <p:spPr>
          <a:xfrm>
            <a:off x="9921240" y="5065776"/>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26" name="TextBox 25"/>
          <p:cNvSpPr txBox="1"/>
          <p:nvPr/>
        </p:nvSpPr>
        <p:spPr>
          <a:xfrm>
            <a:off x="685800" y="5349240"/>
            <a:ext cx="10789920" cy="475488"/>
          </a:xfrm>
          <a:prstGeom prst="rect">
            <a:avLst/>
          </a:prstGeom>
          <a:noFill/>
        </p:spPr>
        <p:txBody>
          <a:bodyPr wrap="square">
            <a:spAutoFit/>
          </a:bodyPr>
          <a:lstStyle/>
          <a:p>
            <a:pPr algn="l"/>
            <a:r>
              <a:rPr sz="1100" b="0" i="0">
                <a:solidFill>
                  <a:srgbClr val="C8D4EE"/>
                </a:solidFill>
              </a:rPr>
              <a:t>The /pricing page still describes an older concept: 'Two Words Away is free to use. Say when you're free, get matched, make plans.' This contradicts the homepage which clearly states attendees pay a per-seat fee. A visitor who checks pricing before booking reads two completely different products.</a:t>
            </a:r>
          </a:p>
        </p:txBody>
      </p:sp>
      <p:sp>
        <p:nvSpPr>
          <p:cNvPr id="27" name="Rectangle 26"/>
          <p:cNvSpPr/>
          <p:nvPr/>
        </p:nvSpPr>
        <p:spPr>
          <a:xfrm>
            <a:off x="502920" y="5916168"/>
            <a:ext cx="54864" cy="621792"/>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916168"/>
            <a:ext cx="8961120" cy="320040"/>
          </a:xfrm>
          <a:prstGeom prst="rect">
            <a:avLst/>
          </a:prstGeom>
          <a:noFill/>
        </p:spPr>
        <p:txBody>
          <a:bodyPr wrap="square">
            <a:spAutoFit/>
          </a:bodyPr>
          <a:lstStyle/>
          <a:p>
            <a:pPr algn="l"/>
            <a:r>
              <a:rPr sz="1300" b="1" i="0">
                <a:solidFill>
                  <a:srgbClr val="FFFFFF"/>
                </a:solidFill>
              </a:rPr>
              <a:t>Events Require Login to See Venue &amp; Guest List</a:t>
            </a:r>
          </a:p>
        </p:txBody>
      </p:sp>
      <p:sp>
        <p:nvSpPr>
          <p:cNvPr id="29" name="Oval 28"/>
          <p:cNvSpPr/>
          <p:nvPr/>
        </p:nvSpPr>
        <p:spPr>
          <a:xfrm>
            <a:off x="9921240" y="5952744"/>
            <a:ext cx="941832" cy="27432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30" name="TextBox 29"/>
          <p:cNvSpPr txBox="1"/>
          <p:nvPr/>
        </p:nvSpPr>
        <p:spPr>
          <a:xfrm>
            <a:off x="685800" y="6236208"/>
            <a:ext cx="10789920" cy="475488"/>
          </a:xfrm>
          <a:prstGeom prst="rect">
            <a:avLst/>
          </a:prstGeom>
          <a:noFill/>
        </p:spPr>
        <p:txBody>
          <a:bodyPr wrap="square">
            <a:spAutoFit/>
          </a:bodyPr>
          <a:lstStyle/>
          <a:p>
            <a:pPr algn="l"/>
            <a:r>
              <a:rPr sz="1100" b="0" i="0">
                <a:solidFill>
                  <a:srgbClr val="C8D4EE"/>
                </a:solidFill>
              </a:rPr>
              <a:t>Logged-out visitors can see event cards but cannot see the venue or who's attending until they sign up. While this drives registration, it also means curious visitors can't assess table quality before committing — a silent conversion friction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The Site Works. It Could Convert 3x Better.</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474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000" b="1" i="0">
                <a:solidFill>
                  <a:srgbClr val="FFFFFF"/>
                </a:solidFill>
              </a:rPr>
              <a:t>TWOWORDSAWAY TODAY</a:t>
            </a:r>
          </a:p>
        </p:txBody>
      </p:sp>
      <p:sp>
        <p:nvSpPr>
          <p:cNvPr id="10" name="TextBox 9"/>
          <p:cNvSpPr txBox="1"/>
          <p:nvPr/>
        </p:nvSpPr>
        <p:spPr>
          <a:xfrm>
            <a:off x="640080" y="2212848"/>
            <a:ext cx="3291840" cy="2834640"/>
          </a:xfrm>
          <a:prstGeom prst="rect">
            <a:avLst/>
          </a:prstGeom>
          <a:noFill/>
        </p:spPr>
        <p:txBody>
          <a:bodyPr wrap="square">
            <a:spAutoFit/>
          </a:bodyPr>
          <a:lstStyle/>
          <a:p>
            <a:pPr algn="l">
              <a:spcAft>
                <a:spcPts val="500"/>
              </a:spcAft>
            </a:pPr>
            <a:r>
              <a:rPr sz="1000" b="1">
                <a:solidFill>
                  <a:srgbClr val="FF4D4D"/>
                </a:solidFill>
              </a:rPr>
              <a:t>• </a:t>
            </a:r>
            <a:r>
              <a:rPr sz="1100">
                <a:solidFill>
                  <a:srgbClr val="C8D4EE"/>
                </a:solidFill>
              </a:rPr>
              <a:t>/about, /contact, /blog all return 404</a:t>
            </a:r>
          </a:p>
          <a:p>
            <a:pPr algn="l">
              <a:spcAft>
                <a:spcPts val="500"/>
              </a:spcAft>
            </a:pPr>
            <a:r>
              <a:rPr sz="1000" b="1">
                <a:solidFill>
                  <a:srgbClr val="FF4D4D"/>
                </a:solidFill>
              </a:rPr>
              <a:t>• </a:t>
            </a:r>
            <a:r>
              <a:rPr sz="1100">
                <a:solidFill>
                  <a:srgbClr val="C8D4EE"/>
                </a:solidFill>
              </a:rPr>
              <a:t>Pricing page shows old product — wrong copy</a:t>
            </a:r>
          </a:p>
          <a:p>
            <a:pPr algn="l">
              <a:spcAft>
                <a:spcPts val="500"/>
              </a:spcAft>
            </a:pPr>
            <a:r>
              <a:rPr sz="1000" b="1">
                <a:solidFill>
                  <a:srgbClr val="FF4D4D"/>
                </a:solidFill>
              </a:rPr>
              <a:t>• </a:t>
            </a:r>
            <a:r>
              <a:rPr sz="1100">
                <a:solidFill>
                  <a:srgbClr val="C8D4EE"/>
                </a:solidFill>
              </a:rPr>
              <a:t>No team/founder story on the site</a:t>
            </a:r>
          </a:p>
          <a:p>
            <a:pPr algn="l">
              <a:spcAft>
                <a:spcPts val="500"/>
              </a:spcAft>
            </a:pPr>
            <a:r>
              <a:rPr sz="1000" b="1">
                <a:solidFill>
                  <a:srgbClr val="FF4D4D"/>
                </a:solidFill>
              </a:rPr>
              <a:t>• </a:t>
            </a:r>
            <a:r>
              <a:rPr sz="1100">
                <a:solidFill>
                  <a:srgbClr val="C8D4EE"/>
                </a:solidFill>
              </a:rPr>
              <a:t>No testimonial depth — only 3 short quotes</a:t>
            </a:r>
          </a:p>
          <a:p>
            <a:pPr algn="l">
              <a:spcAft>
                <a:spcPts val="500"/>
              </a:spcAft>
            </a:pPr>
            <a:r>
              <a:rPr sz="1000" b="1">
                <a:solidFill>
                  <a:srgbClr val="FF4D4D"/>
                </a:solidFill>
              </a:rPr>
              <a:t>• </a:t>
            </a:r>
            <a:r>
              <a:rPr sz="1100">
                <a:solidFill>
                  <a:srgbClr val="C8D4EE"/>
                </a:solidFill>
              </a:rPr>
              <a:t>No FAQ expansion — 4 questions, all collapsed</a:t>
            </a:r>
          </a:p>
          <a:p>
            <a:pPr algn="l">
              <a:spcAft>
                <a:spcPts val="500"/>
              </a:spcAft>
            </a:pPr>
            <a:r>
              <a:rPr sz="1000" b="1">
                <a:solidFill>
                  <a:srgbClr val="FF4D4D"/>
                </a:solidFill>
              </a:rPr>
              <a:t>• </a:t>
            </a:r>
            <a:r>
              <a:rPr sz="1100">
                <a:solidFill>
                  <a:srgbClr val="C8D4EE"/>
                </a:solidFill>
              </a:rPr>
              <a:t>Events are auth-gated — no venue preview</a:t>
            </a:r>
          </a:p>
          <a:p>
            <a:pPr algn="l">
              <a:spcAft>
                <a:spcPts val="500"/>
              </a:spcAft>
            </a:pPr>
            <a:r>
              <a:rPr sz="1000" b="1">
                <a:solidFill>
                  <a:srgbClr val="FF4D4D"/>
                </a:solidFill>
              </a:rPr>
              <a:t>• </a:t>
            </a:r>
            <a:r>
              <a:rPr sz="1100">
                <a:solidFill>
                  <a:srgbClr val="C8D4EE"/>
                </a:solidFill>
              </a:rPr>
              <a:t>No blog / content marketing engine</a:t>
            </a:r>
          </a:p>
          <a:p>
            <a:pPr algn="l"/>
            <a:r>
              <a:rPr sz="1000" b="1">
                <a:solidFill>
                  <a:srgbClr val="FF4D4D"/>
                </a:solidFill>
              </a:rPr>
              <a:t>• </a:t>
            </a:r>
            <a:r>
              <a:rPr sz="1100">
                <a:solidFill>
                  <a:srgbClr val="C8D4EE"/>
                </a:solidFill>
              </a:rPr>
              <a:t>No sticky CTA or floating 'Book a Seat' button</a:t>
            </a:r>
          </a:p>
        </p:txBody>
      </p:sp>
      <p:sp>
        <p:nvSpPr>
          <p:cNvPr id="11" name="TextBox 10"/>
          <p:cNvSpPr txBox="1"/>
          <p:nvPr/>
        </p:nvSpPr>
        <p:spPr>
          <a:xfrm>
            <a:off x="4069080" y="3383280"/>
            <a:ext cx="457200" cy="457200"/>
          </a:xfrm>
          <a:prstGeom prst="rect">
            <a:avLst/>
          </a:prstGeom>
          <a:noFill/>
        </p:spPr>
        <p:txBody>
          <a:bodyPr wrap="square">
            <a:spAutoFit/>
          </a:bodyPr>
          <a:lstStyle/>
          <a:p>
            <a:pPr algn="ctr"/>
            <a:r>
              <a:rPr sz="3000" b="1" i="0">
                <a:solidFill>
                  <a:srgbClr val="A055FF"/>
                </a:solidFill>
              </a:rPr>
              <a:t>→</a:t>
            </a:r>
          </a:p>
        </p:txBody>
      </p:sp>
      <p:sp>
        <p:nvSpPr>
          <p:cNvPr id="12" name="Rectangle 11"/>
          <p:cNvSpPr/>
          <p:nvPr/>
        </p:nvSpPr>
        <p:spPr>
          <a:xfrm>
            <a:off x="4572000" y="1737360"/>
            <a:ext cx="3291840" cy="3474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1000" b="1" i="0">
                <a:solidFill>
                  <a:srgbClr val="FFFFFF"/>
                </a:solidFill>
              </a:rPr>
              <a:t>TOP EVENT PLATFORMS DO THIS</a:t>
            </a:r>
          </a:p>
        </p:txBody>
      </p:sp>
      <p:sp>
        <p:nvSpPr>
          <p:cNvPr id="15" name="TextBox 14"/>
          <p:cNvSpPr txBox="1"/>
          <p:nvPr/>
        </p:nvSpPr>
        <p:spPr>
          <a:xfrm>
            <a:off x="4663440" y="2212848"/>
            <a:ext cx="3108960" cy="2834640"/>
          </a:xfrm>
          <a:prstGeom prst="rect">
            <a:avLst/>
          </a:prstGeom>
          <a:noFill/>
        </p:spPr>
        <p:txBody>
          <a:bodyPr wrap="square">
            <a:spAutoFit/>
          </a:bodyPr>
          <a:lstStyle/>
          <a:p>
            <a:pPr algn="l">
              <a:spcAft>
                <a:spcPts val="500"/>
              </a:spcAft>
            </a:pPr>
            <a:r>
              <a:rPr sz="1000" b="1">
                <a:solidFill>
                  <a:srgbClr val="FFC030"/>
                </a:solidFill>
              </a:rPr>
              <a:t>• </a:t>
            </a:r>
            <a:r>
              <a:rPr sz="1100">
                <a:solidFill>
                  <a:srgbClr val="C8D4EE"/>
                </a:solidFill>
              </a:rPr>
              <a:t>About page: founder story + mission + team photos</a:t>
            </a:r>
          </a:p>
          <a:p>
            <a:pPr algn="l">
              <a:spcAft>
                <a:spcPts val="500"/>
              </a:spcAft>
            </a:pPr>
            <a:r>
              <a:rPr sz="1000" b="1">
                <a:solidFill>
                  <a:srgbClr val="FFC030"/>
                </a:solidFill>
              </a:rPr>
              <a:t>• </a:t>
            </a:r>
            <a:r>
              <a:rPr sz="1100">
                <a:solidFill>
                  <a:srgbClr val="C8D4EE"/>
                </a:solidFill>
              </a:rPr>
              <a:t>Contact page: form + WhatsApp + email + response SLA</a:t>
            </a:r>
          </a:p>
          <a:p>
            <a:pPr algn="l">
              <a:spcAft>
                <a:spcPts val="500"/>
              </a:spcAft>
            </a:pPr>
            <a:r>
              <a:rPr sz="1000" b="1">
                <a:solidFill>
                  <a:srgbClr val="FFC030"/>
                </a:solidFill>
              </a:rPr>
              <a:t>• </a:t>
            </a:r>
            <a:r>
              <a:rPr sz="1100">
                <a:solidFill>
                  <a:srgbClr val="C8D4EE"/>
                </a:solidFill>
              </a:rPr>
              <a:t>Rich blog driving SEO (networking tips, founder guides)</a:t>
            </a:r>
          </a:p>
          <a:p>
            <a:pPr algn="l">
              <a:spcAft>
                <a:spcPts val="500"/>
              </a:spcAft>
            </a:pPr>
            <a:r>
              <a:rPr sz="1000" b="1">
                <a:solidFill>
                  <a:srgbClr val="FFC030"/>
                </a:solidFill>
              </a:rPr>
              <a:t>• </a:t>
            </a:r>
            <a:r>
              <a:rPr sz="1100">
                <a:solidFill>
                  <a:srgbClr val="C8D4EE"/>
                </a:solidFill>
              </a:rPr>
              <a:t>Testimonials: 20+ with names, roles, company logos</a:t>
            </a:r>
          </a:p>
          <a:p>
            <a:pPr algn="l">
              <a:spcAft>
                <a:spcPts val="500"/>
              </a:spcAft>
            </a:pPr>
            <a:r>
              <a:rPr sz="1000" b="1">
                <a:solidFill>
                  <a:srgbClr val="FFC030"/>
                </a:solidFill>
              </a:rPr>
              <a:t>• </a:t>
            </a:r>
            <a:r>
              <a:rPr sz="1100">
                <a:solidFill>
                  <a:srgbClr val="C8D4EE"/>
                </a:solidFill>
              </a:rPr>
              <a:t>FAQ: 10+ questions, fully expanded, schema markup</a:t>
            </a:r>
          </a:p>
          <a:p>
            <a:pPr algn="l">
              <a:spcAft>
                <a:spcPts val="500"/>
              </a:spcAft>
            </a:pPr>
            <a:r>
              <a:rPr sz="1000" b="1">
                <a:solidFill>
                  <a:srgbClr val="FFC030"/>
                </a:solidFill>
              </a:rPr>
              <a:t>• </a:t>
            </a:r>
            <a:r>
              <a:rPr sz="1100">
                <a:solidFill>
                  <a:srgbClr val="C8D4EE"/>
                </a:solidFill>
              </a:rPr>
              <a:t>Event previews: show venue type before login</a:t>
            </a:r>
          </a:p>
          <a:p>
            <a:pPr algn="l">
              <a:spcAft>
                <a:spcPts val="500"/>
              </a:spcAft>
            </a:pPr>
            <a:r>
              <a:rPr sz="1000" b="1">
                <a:solidFill>
                  <a:srgbClr val="FFC030"/>
                </a:solidFill>
              </a:rPr>
              <a:t>• </a:t>
            </a:r>
            <a:r>
              <a:rPr sz="1100">
                <a:solidFill>
                  <a:srgbClr val="C8D4EE"/>
                </a:solidFill>
              </a:rPr>
              <a:t>Sticky 'Sign Up Free' header always visible</a:t>
            </a:r>
          </a:p>
          <a:p>
            <a:pPr algn="l"/>
            <a:r>
              <a:rPr sz="1000" b="1">
                <a:solidFill>
                  <a:srgbClr val="FFC030"/>
                </a:solidFill>
              </a:rPr>
              <a:t>• </a:t>
            </a:r>
            <a:r>
              <a:rPr sz="1100">
                <a:solidFill>
                  <a:srgbClr val="C8D4EE"/>
                </a:solidFill>
              </a:rPr>
              <a:t>Social proof ticker: '47 people joined this week'</a:t>
            </a:r>
          </a:p>
        </p:txBody>
      </p:sp>
      <p:sp>
        <p:nvSpPr>
          <p:cNvPr id="16" name="TextBox 15"/>
          <p:cNvSpPr txBox="1"/>
          <p:nvPr/>
        </p:nvSpPr>
        <p:spPr>
          <a:xfrm>
            <a:off x="7936992" y="3383280"/>
            <a:ext cx="457200" cy="457200"/>
          </a:xfrm>
          <a:prstGeom prst="rect">
            <a:avLst/>
          </a:prstGeom>
          <a:noFill/>
        </p:spPr>
        <p:txBody>
          <a:bodyPr wrap="square">
            <a:spAutoFit/>
          </a:bodyPr>
          <a:lstStyle/>
          <a:p>
            <a:pPr algn="ctr"/>
            <a:r>
              <a:rPr sz="3000" b="1" i="0">
                <a:solidFill>
                  <a:srgbClr val="A055FF"/>
                </a:solidFill>
              </a:rPr>
              <a:t>→</a:t>
            </a:r>
          </a:p>
        </p:txBody>
      </p:sp>
      <p:sp>
        <p:nvSpPr>
          <p:cNvPr id="17" name="Rectangle 16"/>
          <p:cNvSpPr/>
          <p:nvPr/>
        </p:nvSpPr>
        <p:spPr>
          <a:xfrm>
            <a:off x="8458200" y="1737360"/>
            <a:ext cx="3291840" cy="3474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834640"/>
          </a:xfrm>
          <a:prstGeom prst="rect">
            <a:avLst/>
          </a:prstGeom>
          <a:noFill/>
        </p:spPr>
        <p:txBody>
          <a:bodyPr wrap="square">
            <a:spAutoFit/>
          </a:bodyPr>
          <a:lstStyle/>
          <a:p>
            <a:pPr algn="l">
              <a:spcAft>
                <a:spcPts val="500"/>
              </a:spcAft>
            </a:pPr>
            <a:r>
              <a:rPr sz="1000" b="1">
                <a:solidFill>
                  <a:srgbClr val="2ECC71"/>
                </a:solidFill>
              </a:rPr>
              <a:t>• </a:t>
            </a:r>
            <a:r>
              <a:rPr sz="1100">
                <a:solidFill>
                  <a:srgbClr val="C8D4EE"/>
                </a:solidFill>
              </a:rPr>
              <a:t>Fix all 5 broken pages — about, contact, blog, feedback, support</a:t>
            </a:r>
          </a:p>
          <a:p>
            <a:pPr algn="l">
              <a:spcAft>
                <a:spcPts val="500"/>
              </a:spcAft>
            </a:pPr>
            <a:r>
              <a:rPr sz="1000" b="1">
                <a:solidFill>
                  <a:srgbClr val="2ECC71"/>
                </a:solidFill>
              </a:rPr>
              <a:t>• </a:t>
            </a:r>
            <a:r>
              <a:rPr sz="1100">
                <a:solidFill>
                  <a:srgbClr val="C8D4EE"/>
                </a:solidFill>
              </a:rPr>
              <a:t>Rewrite /pricing to match actual paid-seat model</a:t>
            </a:r>
          </a:p>
          <a:p>
            <a:pPr algn="l">
              <a:spcAft>
                <a:spcPts val="500"/>
              </a:spcAft>
            </a:pPr>
            <a:r>
              <a:rPr sz="1000" b="1">
                <a:solidFill>
                  <a:srgbClr val="2ECC71"/>
                </a:solidFill>
              </a:rPr>
              <a:t>• </a:t>
            </a:r>
            <a:r>
              <a:rPr sz="1100">
                <a:solidFill>
                  <a:srgbClr val="C8D4EE"/>
                </a:solidFill>
              </a:rPr>
              <a:t>Founder story page: Shark Tank journey, mission, team</a:t>
            </a:r>
          </a:p>
          <a:p>
            <a:pPr algn="l">
              <a:spcAft>
                <a:spcPts val="500"/>
              </a:spcAft>
            </a:pPr>
            <a:r>
              <a:rPr sz="1000" b="1">
                <a:solidFill>
                  <a:srgbClr val="2ECC71"/>
                </a:solidFill>
              </a:rPr>
              <a:t>• </a:t>
            </a:r>
            <a:r>
              <a:rPr sz="1100">
                <a:solidFill>
                  <a:srgbClr val="C8D4EE"/>
                </a:solidFill>
              </a:rPr>
              <a:t>30+ testimonials section, auto-populated via WhatsApp</a:t>
            </a:r>
          </a:p>
          <a:p>
            <a:pPr algn="l">
              <a:spcAft>
                <a:spcPts val="500"/>
              </a:spcAft>
            </a:pPr>
            <a:r>
              <a:rPr sz="1000" b="1">
                <a:solidFill>
                  <a:srgbClr val="2ECC71"/>
                </a:solidFill>
              </a:rPr>
              <a:t>• </a:t>
            </a:r>
            <a:r>
              <a:rPr sz="1100">
                <a:solidFill>
                  <a:srgbClr val="C8D4EE"/>
                </a:solidFill>
              </a:rPr>
              <a:t>Blog: SEO articles on networking, hiring, India startups</a:t>
            </a:r>
          </a:p>
          <a:p>
            <a:pPr algn="l">
              <a:spcAft>
                <a:spcPts val="500"/>
              </a:spcAft>
            </a:pPr>
            <a:r>
              <a:rPr sz="1000" b="1">
                <a:solidFill>
                  <a:srgbClr val="2ECC71"/>
                </a:solidFill>
              </a:rPr>
              <a:t>• </a:t>
            </a:r>
            <a:r>
              <a:rPr sz="1100">
                <a:solidFill>
                  <a:srgbClr val="C8D4EE"/>
                </a:solidFill>
              </a:rPr>
              <a:t>Sticky 'Book a Table' CTA on every page</a:t>
            </a:r>
          </a:p>
          <a:p>
            <a:pPr algn="l">
              <a:spcAft>
                <a:spcPts val="500"/>
              </a:spcAft>
            </a:pPr>
            <a:r>
              <a:rPr sz="1000" b="1">
                <a:solidFill>
                  <a:srgbClr val="2ECC71"/>
                </a:solidFill>
              </a:rPr>
              <a:t>• </a:t>
            </a:r>
            <a:r>
              <a:rPr sz="1100">
                <a:solidFill>
                  <a:srgbClr val="C8D4EE"/>
                </a:solidFill>
              </a:rPr>
              <a:t>WhatsApp chat widget for instant attendee queries</a:t>
            </a:r>
          </a:p>
          <a:p>
            <a:pPr algn="l"/>
            <a:r>
              <a:rPr sz="1000" b="1">
                <a:solidFill>
                  <a:srgbClr val="2ECC71"/>
                </a:solidFill>
              </a:rPr>
              <a:t>• </a:t>
            </a:r>
            <a:r>
              <a:rPr sz="1100">
                <a:solidFill>
                  <a:srgbClr val="C8D4EE"/>
                </a:solidFill>
              </a:rPr>
              <a:t>Social proof: live seat counter + recent signups ticker</a:t>
            </a:r>
          </a:p>
        </p:txBody>
      </p:sp>
      <p:sp>
        <p:nvSpPr>
          <p:cNvPr id="21" name="Rectangle 20"/>
          <p:cNvSpPr/>
          <p:nvPr/>
        </p:nvSpPr>
        <p:spPr>
          <a:xfrm>
            <a:off x="502920" y="5376672"/>
            <a:ext cx="11183112" cy="102412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440680"/>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743200" y="5413248"/>
            <a:ext cx="1463040" cy="530352"/>
          </a:xfrm>
          <a:prstGeom prst="rect">
            <a:avLst/>
          </a:prstGeom>
          <a:noFill/>
        </p:spPr>
        <p:txBody>
          <a:bodyPr wrap="square">
            <a:spAutoFit/>
          </a:bodyPr>
          <a:lstStyle/>
          <a:p>
            <a:pPr algn="ctr"/>
            <a:r>
              <a:rPr sz="2000" b="1" i="0">
                <a:solidFill>
                  <a:srgbClr val="FFC030"/>
                </a:solidFill>
              </a:rPr>
              <a:t>88%</a:t>
            </a:r>
          </a:p>
        </p:txBody>
      </p:sp>
      <p:sp>
        <p:nvSpPr>
          <p:cNvPr id="24" name="TextBox 23"/>
          <p:cNvSpPr txBox="1"/>
          <p:nvPr/>
        </p:nvSpPr>
        <p:spPr>
          <a:xfrm>
            <a:off x="2743200" y="5925312"/>
            <a:ext cx="1463040" cy="457200"/>
          </a:xfrm>
          <a:prstGeom prst="rect">
            <a:avLst/>
          </a:prstGeom>
          <a:noFill/>
        </p:spPr>
        <p:txBody>
          <a:bodyPr wrap="square">
            <a:spAutoFit/>
          </a:bodyPr>
          <a:lstStyle/>
          <a:p>
            <a:pPr algn="ctr"/>
            <a:r>
              <a:rPr sz="1000" b="0" i="0">
                <a:solidFill>
                  <a:srgbClr val="8A9BBB"/>
                </a:solidFill>
              </a:rPr>
              <a:t>of users won't return
after a bad experience</a:t>
            </a:r>
          </a:p>
        </p:txBody>
      </p:sp>
      <p:sp>
        <p:nvSpPr>
          <p:cNvPr id="25" name="TextBox 24"/>
          <p:cNvSpPr txBox="1"/>
          <p:nvPr/>
        </p:nvSpPr>
        <p:spPr>
          <a:xfrm>
            <a:off x="4983480" y="5413248"/>
            <a:ext cx="1463040" cy="530352"/>
          </a:xfrm>
          <a:prstGeom prst="rect">
            <a:avLst/>
          </a:prstGeom>
          <a:noFill/>
        </p:spPr>
        <p:txBody>
          <a:bodyPr wrap="square">
            <a:spAutoFit/>
          </a:bodyPr>
          <a:lstStyle/>
          <a:p>
            <a:pPr algn="ctr"/>
            <a:r>
              <a:rPr sz="2000" b="1" i="0">
                <a:solidFill>
                  <a:srgbClr val="FFC030"/>
                </a:solidFill>
              </a:rPr>
              <a:t>3 sec</a:t>
            </a:r>
          </a:p>
        </p:txBody>
      </p:sp>
      <p:sp>
        <p:nvSpPr>
          <p:cNvPr id="26" name="TextBox 25"/>
          <p:cNvSpPr txBox="1"/>
          <p:nvPr/>
        </p:nvSpPr>
        <p:spPr>
          <a:xfrm>
            <a:off x="4983480" y="5925312"/>
            <a:ext cx="1463040" cy="457200"/>
          </a:xfrm>
          <a:prstGeom prst="rect">
            <a:avLst/>
          </a:prstGeom>
          <a:noFill/>
        </p:spPr>
        <p:txBody>
          <a:bodyPr wrap="square">
            <a:spAutoFit/>
          </a:bodyPr>
          <a:lstStyle/>
          <a:p>
            <a:pPr algn="ctr"/>
            <a:r>
              <a:rPr sz="1000" b="0" i="0">
                <a:solidFill>
                  <a:srgbClr val="8A9BBB"/>
                </a:solidFill>
              </a:rPr>
              <a:t>to decide stay or leave
— first impression is design</a:t>
            </a:r>
          </a:p>
        </p:txBody>
      </p:sp>
      <p:sp>
        <p:nvSpPr>
          <p:cNvPr id="27" name="TextBox 26"/>
          <p:cNvSpPr txBox="1"/>
          <p:nvPr/>
        </p:nvSpPr>
        <p:spPr>
          <a:xfrm>
            <a:off x="7223760" y="5413248"/>
            <a:ext cx="1463040" cy="530352"/>
          </a:xfrm>
          <a:prstGeom prst="rect">
            <a:avLst/>
          </a:prstGeom>
          <a:noFill/>
        </p:spPr>
        <p:txBody>
          <a:bodyPr wrap="square">
            <a:spAutoFit/>
          </a:bodyPr>
          <a:lstStyle/>
          <a:p>
            <a:pPr algn="ctr"/>
            <a:r>
              <a:rPr sz="2000" b="1" i="0">
                <a:solidFill>
                  <a:srgbClr val="FFC030"/>
                </a:solidFill>
              </a:rPr>
              <a:t>200%+</a:t>
            </a:r>
          </a:p>
        </p:txBody>
      </p:sp>
      <p:sp>
        <p:nvSpPr>
          <p:cNvPr id="28" name="TextBox 27"/>
          <p:cNvSpPr txBox="1"/>
          <p:nvPr/>
        </p:nvSpPr>
        <p:spPr>
          <a:xfrm>
            <a:off x="7223760" y="5925312"/>
            <a:ext cx="1463040" cy="457200"/>
          </a:xfrm>
          <a:prstGeom prst="rect">
            <a:avLst/>
          </a:prstGeom>
          <a:noFill/>
        </p:spPr>
        <p:txBody>
          <a:bodyPr wrap="square">
            <a:spAutoFit/>
          </a:bodyPr>
          <a:lstStyle/>
          <a:p>
            <a:pPr algn="ctr"/>
            <a:r>
              <a:rPr sz="1000" b="0" i="0">
                <a:solidFill>
                  <a:srgbClr val="8A9BBB"/>
                </a:solidFill>
              </a:rPr>
              <a:t>more conversions from
a trust-optimised site</a:t>
            </a:r>
          </a:p>
        </p:txBody>
      </p:sp>
      <p:sp>
        <p:nvSpPr>
          <p:cNvPr id="29" name="TextBox 28"/>
          <p:cNvSpPr txBox="1"/>
          <p:nvPr/>
        </p:nvSpPr>
        <p:spPr>
          <a:xfrm>
            <a:off x="9464040" y="5413248"/>
            <a:ext cx="1463040" cy="530352"/>
          </a:xfrm>
          <a:prstGeom prst="rect">
            <a:avLst/>
          </a:prstGeom>
          <a:noFill/>
        </p:spPr>
        <p:txBody>
          <a:bodyPr wrap="square">
            <a:spAutoFit/>
          </a:bodyPr>
          <a:lstStyle/>
          <a:p>
            <a:pPr algn="ctr"/>
            <a:r>
              <a:rPr sz="2000" b="1" i="0">
                <a:solidFill>
                  <a:srgbClr val="FFC030"/>
                </a:solidFill>
              </a:rPr>
              <a:t>5 broken
pages</a:t>
            </a:r>
          </a:p>
        </p:txBody>
      </p:sp>
      <p:sp>
        <p:nvSpPr>
          <p:cNvPr id="30" name="TextBox 29"/>
          <p:cNvSpPr txBox="1"/>
          <p:nvPr/>
        </p:nvSpPr>
        <p:spPr>
          <a:xfrm>
            <a:off x="9464040" y="5925312"/>
            <a:ext cx="1463040" cy="457200"/>
          </a:xfrm>
          <a:prstGeom prst="rect">
            <a:avLst/>
          </a:prstGeom>
          <a:noFill/>
        </p:spPr>
        <p:txBody>
          <a:bodyPr wrap="square">
            <a:spAutoFit/>
          </a:bodyPr>
          <a:lstStyle/>
          <a:p>
            <a:pPr algn="ctr"/>
            <a:r>
              <a:rPr sz="1000" b="0" i="0">
                <a:solidFill>
                  <a:srgbClr val="8A9BBB"/>
                </a:solidFill>
              </a:rPr>
              <a:t>found in this audit
causing silent drop-off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C030"/>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The Hidden Cost of the Status Quo</a:t>
            </a:r>
          </a:p>
        </p:txBody>
      </p:sp>
      <p:sp>
        <p:nvSpPr>
          <p:cNvPr id="6" name="Rectangle 5"/>
          <p:cNvSpPr/>
          <p:nvPr/>
        </p:nvSpPr>
        <p:spPr>
          <a:xfrm>
            <a:off x="502920" y="1234440"/>
            <a:ext cx="1097280" cy="36576"/>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11183112" cy="1143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00200"/>
            <a:ext cx="7315200" cy="384048"/>
          </a:xfrm>
          <a:prstGeom prst="rect">
            <a:avLst/>
          </a:prstGeom>
          <a:noFill/>
        </p:spPr>
        <p:txBody>
          <a:bodyPr wrap="square">
            <a:spAutoFit/>
          </a:bodyPr>
          <a:lstStyle/>
          <a:p>
            <a:pPr algn="l"/>
            <a:r>
              <a:rPr sz="1400" b="1" i="0">
                <a:solidFill>
                  <a:srgbClr val="FFC030"/>
                </a:solidFill>
              </a:rPr>
              <a:t>!  Every Signup Gets Silence After the Thank-You Page</a:t>
            </a:r>
          </a:p>
        </p:txBody>
      </p:sp>
      <p:sp>
        <p:nvSpPr>
          <p:cNvPr id="9" name="TextBox 8"/>
          <p:cNvSpPr txBox="1"/>
          <p:nvPr/>
        </p:nvSpPr>
        <p:spPr>
          <a:xfrm>
            <a:off x="640080" y="1984248"/>
            <a:ext cx="10789920" cy="566928"/>
          </a:xfrm>
          <a:prstGeom prst="rect">
            <a:avLst/>
          </a:prstGeom>
          <a:noFill/>
        </p:spPr>
        <p:txBody>
          <a:bodyPr wrap="square">
            <a:spAutoFit/>
          </a:bodyPr>
          <a:lstStyle/>
          <a:p>
            <a:pPr algn="l"/>
            <a:r>
              <a:rPr sz="1150" b="0" i="0">
                <a:solidFill>
                  <a:srgbClr val="C8D4EE"/>
                </a:solidFill>
              </a:rPr>
              <a:t>Someone discovers Two Words Away, creates a free account, and then... nothing happens. No WhatsApp message. No 'here's a table in your city'. No nudge when a relevant seat opens. The conversion window from signup to first booking is highest in the first 48 hours — and right now that window closes with zero automated touchpoints.</a:t>
            </a:r>
          </a:p>
        </p:txBody>
      </p:sp>
      <p:sp>
        <p:nvSpPr>
          <p:cNvPr id="10" name="Rectangle 9"/>
          <p:cNvSpPr/>
          <p:nvPr/>
        </p:nvSpPr>
        <p:spPr>
          <a:xfrm>
            <a:off x="502920" y="2770632"/>
            <a:ext cx="11183112" cy="1143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62072"/>
            <a:ext cx="7315200" cy="384048"/>
          </a:xfrm>
          <a:prstGeom prst="rect">
            <a:avLst/>
          </a:prstGeom>
          <a:noFill/>
        </p:spPr>
        <p:txBody>
          <a:bodyPr wrap="square">
            <a:spAutoFit/>
          </a:bodyPr>
          <a:lstStyle/>
          <a:p>
            <a:pPr algn="l"/>
            <a:r>
              <a:rPr sz="1400" b="1" i="0">
                <a:solidFill>
                  <a:srgbClr val="FFC030"/>
                </a:solidFill>
              </a:rPr>
              <a:t>!  8 Live Tables, Zero Automated Reminders</a:t>
            </a:r>
          </a:p>
        </p:txBody>
      </p:sp>
      <p:sp>
        <p:nvSpPr>
          <p:cNvPr id="12" name="TextBox 11"/>
          <p:cNvSpPr txBox="1"/>
          <p:nvPr/>
        </p:nvSpPr>
        <p:spPr>
          <a:xfrm>
            <a:off x="640080" y="3246120"/>
            <a:ext cx="10789920" cy="566928"/>
          </a:xfrm>
          <a:prstGeom prst="rect">
            <a:avLst/>
          </a:prstGeom>
          <a:noFill/>
        </p:spPr>
        <p:txBody>
          <a:bodyPr wrap="square">
            <a:spAutoFit/>
          </a:bodyPr>
          <a:lstStyle/>
          <a:p>
            <a:pPr algn="l"/>
            <a:r>
              <a:rPr sz="1150" b="0" i="0">
                <a:solidFill>
                  <a:srgbClr val="C8D4EE"/>
                </a:solidFill>
              </a:rPr>
              <a:t>There are 8 upcoming tables across 4 cities. Every confirmed attendee is relying on their own calendar to show up. There's no 48-hour reminder, no day-of venue reveal, no 'here's who you'll meet tonight' message. No-show rates for unreminded events average 20-30%. That's lost revenue and degraded table quality every single event.</a:t>
            </a:r>
          </a:p>
        </p:txBody>
      </p:sp>
      <p:sp>
        <p:nvSpPr>
          <p:cNvPr id="13" name="Rectangle 12"/>
          <p:cNvSpPr/>
          <p:nvPr/>
        </p:nvSpPr>
        <p:spPr>
          <a:xfrm>
            <a:off x="502920" y="4032504"/>
            <a:ext cx="11183112" cy="1143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23944"/>
            <a:ext cx="7315200" cy="384048"/>
          </a:xfrm>
          <a:prstGeom prst="rect">
            <a:avLst/>
          </a:prstGeom>
          <a:noFill/>
        </p:spPr>
        <p:txBody>
          <a:bodyPr wrap="square">
            <a:spAutoFit/>
          </a:bodyPr>
          <a:lstStyle/>
          <a:p>
            <a:pPr algn="l"/>
            <a:r>
              <a:rPr sz="1400" b="1" i="0">
                <a:solidFill>
                  <a:srgbClr val="FFC030"/>
                </a:solidFill>
              </a:rPr>
              <a:t>!  Post-Event: The Warm Moment Is Wasted</a:t>
            </a:r>
          </a:p>
        </p:txBody>
      </p:sp>
      <p:sp>
        <p:nvSpPr>
          <p:cNvPr id="15" name="TextBox 14"/>
          <p:cNvSpPr txBox="1"/>
          <p:nvPr/>
        </p:nvSpPr>
        <p:spPr>
          <a:xfrm>
            <a:off x="640080" y="4507992"/>
            <a:ext cx="10789920" cy="566928"/>
          </a:xfrm>
          <a:prstGeom prst="rect">
            <a:avLst/>
          </a:prstGeom>
          <a:noFill/>
        </p:spPr>
        <p:txBody>
          <a:bodyPr wrap="square">
            <a:spAutoFit/>
          </a:bodyPr>
          <a:lstStyle/>
          <a:p>
            <a:pPr algn="l"/>
            <a:r>
              <a:rPr sz="1150" b="0" i="0">
                <a:solidFill>
                  <a:srgbClr val="C8D4EE"/>
                </a:solidFill>
              </a:rPr>
              <a:t>The highest-intent moment in the entire attendee journey is the 24 hours after a table. People are energised, connections are fresh, and they're most likely to book again and refer friends. Right now, there is no post-event WhatsApp follow-up, no connection list, no feedback ask, and no 'book your next table' nudge. That moment evaporates every time.</a:t>
            </a:r>
          </a:p>
        </p:txBody>
      </p:sp>
      <p:sp>
        <p:nvSpPr>
          <p:cNvPr id="16" name="Rectangle 15"/>
          <p:cNvSpPr/>
          <p:nvPr/>
        </p:nvSpPr>
        <p:spPr>
          <a:xfrm>
            <a:off x="502920" y="5294376"/>
            <a:ext cx="11183112" cy="1143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385816"/>
            <a:ext cx="7315200" cy="384048"/>
          </a:xfrm>
          <a:prstGeom prst="rect">
            <a:avLst/>
          </a:prstGeom>
          <a:noFill/>
        </p:spPr>
        <p:txBody>
          <a:bodyPr wrap="square">
            <a:spAutoFit/>
          </a:bodyPr>
          <a:lstStyle/>
          <a:p>
            <a:pPr algn="l"/>
            <a:r>
              <a:rPr sz="1400" b="1" i="0">
                <a:solidFill>
                  <a:srgbClr val="FFC030"/>
                </a:solidFill>
              </a:rPr>
              <a:t>!  5 Broken Pages Silently Killing Credibility</a:t>
            </a:r>
          </a:p>
        </p:txBody>
      </p:sp>
      <p:sp>
        <p:nvSpPr>
          <p:cNvPr id="18" name="TextBox 17"/>
          <p:cNvSpPr txBox="1"/>
          <p:nvPr/>
        </p:nvSpPr>
        <p:spPr>
          <a:xfrm>
            <a:off x="640080" y="5769864"/>
            <a:ext cx="10789920" cy="566928"/>
          </a:xfrm>
          <a:prstGeom prst="rect">
            <a:avLst/>
          </a:prstGeom>
          <a:noFill/>
        </p:spPr>
        <p:txBody>
          <a:bodyPr wrap="square">
            <a:spAutoFit/>
          </a:bodyPr>
          <a:lstStyle/>
          <a:p>
            <a:pPr algn="l"/>
            <a:r>
              <a:rPr sz="1150" b="0" i="0">
                <a:solidFill>
                  <a:srgbClr val="C8D4EE"/>
                </a:solidFill>
              </a:rPr>
              <a:t>Every time a VC, journalist, enterprise HR team, or serious professional clicks 'About' and lands on a 404, the brand takes a credibility hit. It signals either a site that's been abandoned or a team that doesn't test their own product. First impressions with decision-makers don't get a second chance.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5D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5D366"/>
                </a:solidFill>
              </a:rPr>
              <a:t>WHATSAPP AUTOMATION OPPORTUNITY</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Seven AI Flows Built for TwoWordsAway</a:t>
            </a:r>
          </a:p>
        </p:txBody>
      </p:sp>
      <p:sp>
        <p:nvSpPr>
          <p:cNvPr id="6" name="Rectangle 5"/>
          <p:cNvSpPr/>
          <p:nvPr/>
        </p:nvSpPr>
        <p:spPr>
          <a:xfrm>
            <a:off x="502920" y="1234440"/>
            <a:ext cx="1097280" cy="36576"/>
          </a:xfrm>
          <a:prstGeom prst="rect">
            <a:avLst/>
          </a:prstGeom>
          <a:solidFill>
            <a:srgbClr val="25D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548640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00200"/>
            <a:ext cx="640080" cy="502920"/>
          </a:xfrm>
          <a:prstGeom prst="rect">
            <a:avLst/>
          </a:prstGeom>
          <a:noFill/>
        </p:spPr>
        <p:txBody>
          <a:bodyPr wrap="square">
            <a:spAutoFit/>
          </a:bodyPr>
          <a:lstStyle/>
          <a:p>
            <a:pPr algn="l"/>
            <a:r>
              <a:rPr sz="2000" b="1" i="0">
                <a:solidFill>
                  <a:srgbClr val="25D366"/>
                </a:solidFill>
              </a:rPr>
              <a:t>01</a:t>
            </a:r>
          </a:p>
        </p:txBody>
      </p:sp>
      <p:sp>
        <p:nvSpPr>
          <p:cNvPr id="9" name="TextBox 8"/>
          <p:cNvSpPr txBox="1"/>
          <p:nvPr/>
        </p:nvSpPr>
        <p:spPr>
          <a:xfrm>
            <a:off x="1234440" y="1600200"/>
            <a:ext cx="4572000" cy="347472"/>
          </a:xfrm>
          <a:prstGeom prst="rect">
            <a:avLst/>
          </a:prstGeom>
          <a:noFill/>
        </p:spPr>
        <p:txBody>
          <a:bodyPr wrap="square">
            <a:spAutoFit/>
          </a:bodyPr>
          <a:lstStyle/>
          <a:p>
            <a:pPr algn="l"/>
            <a:r>
              <a:rPr sz="1300" b="1" i="0">
                <a:solidFill>
                  <a:srgbClr val="FFFFFF"/>
                </a:solidFill>
              </a:rPr>
              <a:t>Signup Nurture Sequence</a:t>
            </a:r>
          </a:p>
        </p:txBody>
      </p:sp>
      <p:sp>
        <p:nvSpPr>
          <p:cNvPr id="10" name="TextBox 9"/>
          <p:cNvSpPr txBox="1"/>
          <p:nvPr/>
        </p:nvSpPr>
        <p:spPr>
          <a:xfrm>
            <a:off x="594360" y="2011680"/>
            <a:ext cx="5212080" cy="594360"/>
          </a:xfrm>
          <a:prstGeom prst="rect">
            <a:avLst/>
          </a:prstGeom>
          <a:noFill/>
        </p:spPr>
        <p:txBody>
          <a:bodyPr wrap="square">
            <a:spAutoFit/>
          </a:bodyPr>
          <a:lstStyle/>
          <a:p>
            <a:pPr algn="l"/>
            <a:r>
              <a:rPr sz="1100" b="0" i="0">
                <a:solidFill>
                  <a:srgbClr val="C8D4EE"/>
                </a:solidFill>
              </a:rPr>
              <a:t>The moment someone signs up, a WhatsApp message fires: welcome, profile confirmation, and the next available table in their city with a direct booking link. No cold inbox. No waiting. The highest-intent window captured automatically.</a:t>
            </a:r>
          </a:p>
        </p:txBody>
      </p:sp>
      <p:sp>
        <p:nvSpPr>
          <p:cNvPr id="11" name="Rectangle 10"/>
          <p:cNvSpPr/>
          <p:nvPr/>
        </p:nvSpPr>
        <p:spPr>
          <a:xfrm>
            <a:off x="502920" y="2816352"/>
            <a:ext cx="548640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907792"/>
            <a:ext cx="640080" cy="502920"/>
          </a:xfrm>
          <a:prstGeom prst="rect">
            <a:avLst/>
          </a:prstGeom>
          <a:noFill/>
        </p:spPr>
        <p:txBody>
          <a:bodyPr wrap="square">
            <a:spAutoFit/>
          </a:bodyPr>
          <a:lstStyle/>
          <a:p>
            <a:pPr algn="l"/>
            <a:r>
              <a:rPr sz="2000" b="1" i="0">
                <a:solidFill>
                  <a:srgbClr val="25D366"/>
                </a:solidFill>
              </a:rPr>
              <a:t>02</a:t>
            </a:r>
          </a:p>
        </p:txBody>
      </p:sp>
      <p:sp>
        <p:nvSpPr>
          <p:cNvPr id="13" name="TextBox 12"/>
          <p:cNvSpPr txBox="1"/>
          <p:nvPr/>
        </p:nvSpPr>
        <p:spPr>
          <a:xfrm>
            <a:off x="1234440" y="2907792"/>
            <a:ext cx="4572000" cy="347472"/>
          </a:xfrm>
          <a:prstGeom prst="rect">
            <a:avLst/>
          </a:prstGeom>
          <a:noFill/>
        </p:spPr>
        <p:txBody>
          <a:bodyPr wrap="square">
            <a:spAutoFit/>
          </a:bodyPr>
          <a:lstStyle/>
          <a:p>
            <a:pPr algn="l"/>
            <a:r>
              <a:rPr sz="1300" b="1" i="0">
                <a:solidFill>
                  <a:srgbClr val="FFFFFF"/>
                </a:solidFill>
              </a:rPr>
              <a:t>Seat Availability Alerts</a:t>
            </a:r>
          </a:p>
        </p:txBody>
      </p:sp>
      <p:sp>
        <p:nvSpPr>
          <p:cNvPr id="14" name="TextBox 13"/>
          <p:cNvSpPr txBox="1"/>
          <p:nvPr/>
        </p:nvSpPr>
        <p:spPr>
          <a:xfrm>
            <a:off x="594360" y="3319272"/>
            <a:ext cx="5212080" cy="594360"/>
          </a:xfrm>
          <a:prstGeom prst="rect">
            <a:avLst/>
          </a:prstGeom>
          <a:noFill/>
        </p:spPr>
        <p:txBody>
          <a:bodyPr wrap="square">
            <a:spAutoFit/>
          </a:bodyPr>
          <a:lstStyle/>
          <a:p>
            <a:pPr algn="l"/>
            <a:r>
              <a:rPr sz="1100" b="0" i="0">
                <a:solidFill>
                  <a:srgbClr val="C8D4EE"/>
                </a:solidFill>
              </a:rPr>
              <a:t>When a new table opens in a city, all registered users matched to that city + persona type get an alert: event type, date, seats available, and one-tap booking. Fills seats faster than any email campaign. Urgency is built-in when only 2 seats remain.</a:t>
            </a:r>
          </a:p>
        </p:txBody>
      </p:sp>
      <p:sp>
        <p:nvSpPr>
          <p:cNvPr id="15" name="Rectangle 14"/>
          <p:cNvSpPr/>
          <p:nvPr/>
        </p:nvSpPr>
        <p:spPr>
          <a:xfrm>
            <a:off x="502920" y="4123944"/>
            <a:ext cx="548640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15384"/>
            <a:ext cx="640080" cy="502920"/>
          </a:xfrm>
          <a:prstGeom prst="rect">
            <a:avLst/>
          </a:prstGeom>
          <a:noFill/>
        </p:spPr>
        <p:txBody>
          <a:bodyPr wrap="square">
            <a:spAutoFit/>
          </a:bodyPr>
          <a:lstStyle/>
          <a:p>
            <a:pPr algn="l"/>
            <a:r>
              <a:rPr sz="2000" b="1" i="0">
                <a:solidFill>
                  <a:srgbClr val="25D366"/>
                </a:solidFill>
              </a:rPr>
              <a:t>03</a:t>
            </a:r>
          </a:p>
        </p:txBody>
      </p:sp>
      <p:sp>
        <p:nvSpPr>
          <p:cNvPr id="17" name="TextBox 16"/>
          <p:cNvSpPr txBox="1"/>
          <p:nvPr/>
        </p:nvSpPr>
        <p:spPr>
          <a:xfrm>
            <a:off x="1234440" y="4215384"/>
            <a:ext cx="4572000" cy="347472"/>
          </a:xfrm>
          <a:prstGeom prst="rect">
            <a:avLst/>
          </a:prstGeom>
          <a:noFill/>
        </p:spPr>
        <p:txBody>
          <a:bodyPr wrap="square">
            <a:spAutoFit/>
          </a:bodyPr>
          <a:lstStyle/>
          <a:p>
            <a:pPr algn="l"/>
            <a:r>
              <a:rPr sz="1300" b="1" i="0">
                <a:solidFill>
                  <a:srgbClr val="FFFFFF"/>
                </a:solidFill>
              </a:rPr>
              <a:t>48-Hour &amp; Day-Of Event Reminders</a:t>
            </a:r>
          </a:p>
        </p:txBody>
      </p:sp>
      <p:sp>
        <p:nvSpPr>
          <p:cNvPr id="18" name="TextBox 17"/>
          <p:cNvSpPr txBox="1"/>
          <p:nvPr/>
        </p:nvSpPr>
        <p:spPr>
          <a:xfrm>
            <a:off x="594360" y="4626864"/>
            <a:ext cx="5212080" cy="594360"/>
          </a:xfrm>
          <a:prstGeom prst="rect">
            <a:avLst/>
          </a:prstGeom>
          <a:noFill/>
        </p:spPr>
        <p:txBody>
          <a:bodyPr wrap="square">
            <a:spAutoFit/>
          </a:bodyPr>
          <a:lstStyle/>
          <a:p>
            <a:pPr algn="l"/>
            <a:r>
              <a:rPr sz="1100" b="0" i="0">
                <a:solidFill>
                  <a:srgbClr val="C8D4EE"/>
                </a:solidFill>
              </a:rPr>
              <a:t>Two messages per confirmed booking: a 48h reminder with event details and a day-of message with the venue address + a preview of who they'll be meeting. Reduces no-shows by 25-40%. Table quality improves. Attendee satisfaction goes up.</a:t>
            </a:r>
          </a:p>
        </p:txBody>
      </p:sp>
      <p:sp>
        <p:nvSpPr>
          <p:cNvPr id="19" name="Rectangle 18"/>
          <p:cNvSpPr/>
          <p:nvPr/>
        </p:nvSpPr>
        <p:spPr>
          <a:xfrm>
            <a:off x="502920" y="5431536"/>
            <a:ext cx="548640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522976"/>
            <a:ext cx="640080" cy="502920"/>
          </a:xfrm>
          <a:prstGeom prst="rect">
            <a:avLst/>
          </a:prstGeom>
          <a:noFill/>
        </p:spPr>
        <p:txBody>
          <a:bodyPr wrap="square">
            <a:spAutoFit/>
          </a:bodyPr>
          <a:lstStyle/>
          <a:p>
            <a:pPr algn="l"/>
            <a:r>
              <a:rPr sz="2000" b="1" i="0">
                <a:solidFill>
                  <a:srgbClr val="25D366"/>
                </a:solidFill>
              </a:rPr>
              <a:t>04</a:t>
            </a:r>
          </a:p>
        </p:txBody>
      </p:sp>
      <p:sp>
        <p:nvSpPr>
          <p:cNvPr id="21" name="TextBox 20"/>
          <p:cNvSpPr txBox="1"/>
          <p:nvPr/>
        </p:nvSpPr>
        <p:spPr>
          <a:xfrm>
            <a:off x="1234440" y="5522976"/>
            <a:ext cx="4572000" cy="347472"/>
          </a:xfrm>
          <a:prstGeom prst="rect">
            <a:avLst/>
          </a:prstGeom>
          <a:noFill/>
        </p:spPr>
        <p:txBody>
          <a:bodyPr wrap="square">
            <a:spAutoFit/>
          </a:bodyPr>
          <a:lstStyle/>
          <a:p>
            <a:pPr algn="l"/>
            <a:r>
              <a:rPr sz="1300" b="1" i="0">
                <a:solidFill>
                  <a:srgbClr val="FFFFFF"/>
                </a:solidFill>
              </a:rPr>
              <a:t>Post-Event Follow-Up &amp; Connection List</a:t>
            </a:r>
          </a:p>
        </p:txBody>
      </p:sp>
      <p:sp>
        <p:nvSpPr>
          <p:cNvPr id="22" name="TextBox 21"/>
          <p:cNvSpPr txBox="1"/>
          <p:nvPr/>
        </p:nvSpPr>
        <p:spPr>
          <a:xfrm>
            <a:off x="594360" y="5934456"/>
            <a:ext cx="5212080" cy="594360"/>
          </a:xfrm>
          <a:prstGeom prst="rect">
            <a:avLst/>
          </a:prstGeom>
          <a:noFill/>
        </p:spPr>
        <p:txBody>
          <a:bodyPr wrap="square">
            <a:spAutoFit/>
          </a:bodyPr>
          <a:lstStyle/>
          <a:p>
            <a:pPr algn="l"/>
            <a:r>
              <a:rPr sz="1100" b="0" i="0">
                <a:solidFill>
                  <a:srgbClr val="C8D4EE"/>
                </a:solidFill>
              </a:rPr>
              <a:t>Within 2 hours of a table ending, every attendee gets a WhatsApp message with the names and details of who they met, a prompt to connect, and a 'book your next table' CTA. The warm moment is captured. Repeat bookings increase significantly.</a:t>
            </a:r>
          </a:p>
        </p:txBody>
      </p:sp>
      <p:sp>
        <p:nvSpPr>
          <p:cNvPr id="23" name="Rectangle 22"/>
          <p:cNvSpPr/>
          <p:nvPr/>
        </p:nvSpPr>
        <p:spPr>
          <a:xfrm>
            <a:off x="6400800" y="1508760"/>
            <a:ext cx="530352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1600200"/>
            <a:ext cx="640080" cy="502920"/>
          </a:xfrm>
          <a:prstGeom prst="rect">
            <a:avLst/>
          </a:prstGeom>
          <a:noFill/>
        </p:spPr>
        <p:txBody>
          <a:bodyPr wrap="square">
            <a:spAutoFit/>
          </a:bodyPr>
          <a:lstStyle/>
          <a:p>
            <a:pPr algn="l"/>
            <a:r>
              <a:rPr sz="2000" b="1" i="0">
                <a:solidFill>
                  <a:srgbClr val="FFC030"/>
                </a:solidFill>
              </a:rPr>
              <a:t>05</a:t>
            </a:r>
          </a:p>
        </p:txBody>
      </p:sp>
      <p:sp>
        <p:nvSpPr>
          <p:cNvPr id="25" name="TextBox 24"/>
          <p:cNvSpPr txBox="1"/>
          <p:nvPr/>
        </p:nvSpPr>
        <p:spPr>
          <a:xfrm>
            <a:off x="7132320" y="1600200"/>
            <a:ext cx="4389120" cy="347472"/>
          </a:xfrm>
          <a:prstGeom prst="rect">
            <a:avLst/>
          </a:prstGeom>
          <a:noFill/>
        </p:spPr>
        <p:txBody>
          <a:bodyPr wrap="square">
            <a:spAutoFit/>
          </a:bodyPr>
          <a:lstStyle/>
          <a:p>
            <a:pPr algn="l"/>
            <a:r>
              <a:rPr sz="1300" b="1" i="0">
                <a:solidFill>
                  <a:srgbClr val="FFFFFF"/>
                </a:solidFill>
              </a:rPr>
              <a:t>Feedback Collection (NPS via WhatsApp)</a:t>
            </a:r>
          </a:p>
        </p:txBody>
      </p:sp>
      <p:sp>
        <p:nvSpPr>
          <p:cNvPr id="26" name="TextBox 25"/>
          <p:cNvSpPr txBox="1"/>
          <p:nvPr/>
        </p:nvSpPr>
        <p:spPr>
          <a:xfrm>
            <a:off x="6492240" y="2011680"/>
            <a:ext cx="5029200" cy="594360"/>
          </a:xfrm>
          <a:prstGeom prst="rect">
            <a:avLst/>
          </a:prstGeom>
          <a:noFill/>
        </p:spPr>
        <p:txBody>
          <a:bodyPr wrap="square">
            <a:spAutoFit/>
          </a:bodyPr>
          <a:lstStyle/>
          <a:p>
            <a:pPr algn="l"/>
            <a:r>
              <a:rPr sz="1100" b="0" i="0">
                <a:solidFill>
                  <a:srgbClr val="C8D4EE"/>
                </a:solidFill>
              </a:rPr>
              <a:t>Post-event feedback request via WhatsApp — a simple 1-5 rating plus one open question. Response rates on WhatsApp are 5x higher than email surveys. The data feeds directly into curation quality: better tables, better testimonials, better product.</a:t>
            </a:r>
          </a:p>
        </p:txBody>
      </p:sp>
      <p:sp>
        <p:nvSpPr>
          <p:cNvPr id="27" name="Rectangle 26"/>
          <p:cNvSpPr/>
          <p:nvPr/>
        </p:nvSpPr>
        <p:spPr>
          <a:xfrm>
            <a:off x="6400800" y="2816352"/>
            <a:ext cx="530352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2907792"/>
            <a:ext cx="640080" cy="502920"/>
          </a:xfrm>
          <a:prstGeom prst="rect">
            <a:avLst/>
          </a:prstGeom>
          <a:noFill/>
        </p:spPr>
        <p:txBody>
          <a:bodyPr wrap="square">
            <a:spAutoFit/>
          </a:bodyPr>
          <a:lstStyle/>
          <a:p>
            <a:pPr algn="l"/>
            <a:r>
              <a:rPr sz="2000" b="1" i="0">
                <a:solidFill>
                  <a:srgbClr val="FFC030"/>
                </a:solidFill>
              </a:rPr>
              <a:t>06</a:t>
            </a:r>
          </a:p>
        </p:txBody>
      </p:sp>
      <p:sp>
        <p:nvSpPr>
          <p:cNvPr id="29" name="TextBox 28"/>
          <p:cNvSpPr txBox="1"/>
          <p:nvPr/>
        </p:nvSpPr>
        <p:spPr>
          <a:xfrm>
            <a:off x="7132320" y="2907792"/>
            <a:ext cx="4389120" cy="347472"/>
          </a:xfrm>
          <a:prstGeom prst="rect">
            <a:avLst/>
          </a:prstGeom>
          <a:noFill/>
        </p:spPr>
        <p:txBody>
          <a:bodyPr wrap="square">
            <a:spAutoFit/>
          </a:bodyPr>
          <a:lstStyle/>
          <a:p>
            <a:pPr algn="l"/>
            <a:r>
              <a:rPr sz="1300" b="1" i="0">
                <a:solidFill>
                  <a:srgbClr val="FFFFFF"/>
                </a:solidFill>
              </a:rPr>
              <a:t>No-Show Recovery &amp; Waitlist Management</a:t>
            </a:r>
          </a:p>
        </p:txBody>
      </p:sp>
      <p:sp>
        <p:nvSpPr>
          <p:cNvPr id="30" name="TextBox 29"/>
          <p:cNvSpPr txBox="1"/>
          <p:nvPr/>
        </p:nvSpPr>
        <p:spPr>
          <a:xfrm>
            <a:off x="6492240" y="3319272"/>
            <a:ext cx="5029200" cy="594360"/>
          </a:xfrm>
          <a:prstGeom prst="rect">
            <a:avLst/>
          </a:prstGeom>
          <a:noFill/>
        </p:spPr>
        <p:txBody>
          <a:bodyPr wrap="square">
            <a:spAutoFit/>
          </a:bodyPr>
          <a:lstStyle/>
          <a:p>
            <a:pPr algn="l"/>
            <a:r>
              <a:rPr sz="1100" b="0" i="0">
                <a:solidFill>
                  <a:srgbClr val="C8D4EE"/>
                </a:solidFill>
              </a:rPr>
              <a:t>If an attendee doesn't show up, an automated message checks in the next morning and offers them the next available table in their city. If a table is full, users join a WhatsApp waitlist and get notified the moment a seat opens — no manual coordination needed.</a:t>
            </a:r>
          </a:p>
        </p:txBody>
      </p:sp>
      <p:sp>
        <p:nvSpPr>
          <p:cNvPr id="31" name="Rectangle 30"/>
          <p:cNvSpPr/>
          <p:nvPr/>
        </p:nvSpPr>
        <p:spPr>
          <a:xfrm>
            <a:off x="6400800" y="4123944"/>
            <a:ext cx="530352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215384"/>
            <a:ext cx="640080" cy="502920"/>
          </a:xfrm>
          <a:prstGeom prst="rect">
            <a:avLst/>
          </a:prstGeom>
          <a:noFill/>
        </p:spPr>
        <p:txBody>
          <a:bodyPr wrap="square">
            <a:spAutoFit/>
          </a:bodyPr>
          <a:lstStyle/>
          <a:p>
            <a:pPr algn="l"/>
            <a:r>
              <a:rPr sz="2000" b="1" i="0">
                <a:solidFill>
                  <a:srgbClr val="FFC030"/>
                </a:solidFill>
              </a:rPr>
              <a:t>07</a:t>
            </a:r>
          </a:p>
        </p:txBody>
      </p:sp>
      <p:sp>
        <p:nvSpPr>
          <p:cNvPr id="33" name="TextBox 32"/>
          <p:cNvSpPr txBox="1"/>
          <p:nvPr/>
        </p:nvSpPr>
        <p:spPr>
          <a:xfrm>
            <a:off x="7132320" y="4215384"/>
            <a:ext cx="4389120" cy="347472"/>
          </a:xfrm>
          <a:prstGeom prst="rect">
            <a:avLst/>
          </a:prstGeom>
          <a:noFill/>
        </p:spPr>
        <p:txBody>
          <a:bodyPr wrap="square">
            <a:spAutoFit/>
          </a:bodyPr>
          <a:lstStyle/>
          <a:p>
            <a:pPr algn="l"/>
            <a:r>
              <a:rPr sz="1300" b="1" i="0">
                <a:solidFill>
                  <a:srgbClr val="FFFFFF"/>
                </a:solidFill>
              </a:rPr>
              <a:t>Re-engagement for Lapsed Signups</a:t>
            </a:r>
          </a:p>
        </p:txBody>
      </p:sp>
      <p:sp>
        <p:nvSpPr>
          <p:cNvPr id="34" name="TextBox 33"/>
          <p:cNvSpPr txBox="1"/>
          <p:nvPr/>
        </p:nvSpPr>
        <p:spPr>
          <a:xfrm>
            <a:off x="6492240" y="4626864"/>
            <a:ext cx="5029200" cy="594360"/>
          </a:xfrm>
          <a:prstGeom prst="rect">
            <a:avLst/>
          </a:prstGeom>
          <a:noFill/>
        </p:spPr>
        <p:txBody>
          <a:bodyPr wrap="square">
            <a:spAutoFit/>
          </a:bodyPr>
          <a:lstStyle/>
          <a:p>
            <a:pPr algn="l"/>
            <a:r>
              <a:rPr sz="1100" b="0" i="0">
                <a:solidFill>
                  <a:srgbClr val="C8D4EE"/>
                </a:solidFill>
              </a:rPr>
              <a:t>Users who signed up but never booked, or who haven't attended in 60+ days, get a personalised re-engagement message: 'A Founders Dinner is happening in Delhi this Friday — 3 seats left. Want in?' Converts dormant users back into revenue with zero manual effort.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THE ATTENDEE LIFECYCLE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Happens Today vs. What Should Happen</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72768"/>
            <a:ext cx="178308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00200"/>
            <a:ext cx="1783080" cy="347472"/>
          </a:xfrm>
          <a:prstGeom prst="rect">
            <a:avLst/>
          </a:prstGeom>
          <a:noFill/>
        </p:spPr>
        <p:txBody>
          <a:bodyPr wrap="square">
            <a:spAutoFit/>
          </a:bodyPr>
          <a:lstStyle/>
          <a:p>
            <a:pPr algn="ctr"/>
            <a:r>
              <a:rPr sz="900" b="1" i="0">
                <a:solidFill>
                  <a:srgbClr val="06091F"/>
                </a:solidFill>
              </a:rPr>
              <a:t>DISCOVERS SITE</a:t>
            </a:r>
          </a:p>
        </p:txBody>
      </p:sp>
      <p:sp>
        <p:nvSpPr>
          <p:cNvPr id="9" name="Rectangle 8"/>
          <p:cNvSpPr/>
          <p:nvPr/>
        </p:nvSpPr>
        <p:spPr>
          <a:xfrm>
            <a:off x="502920" y="1993392"/>
            <a:ext cx="1783080" cy="1828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057400"/>
            <a:ext cx="1627632" cy="1691640"/>
          </a:xfrm>
          <a:prstGeom prst="rect">
            <a:avLst/>
          </a:prstGeom>
          <a:noFill/>
        </p:spPr>
        <p:txBody>
          <a:bodyPr wrap="square">
            <a:spAutoFit/>
          </a:bodyPr>
          <a:lstStyle/>
          <a:p>
            <a:pPr algn="l"/>
            <a:r>
              <a:rPr sz="1050" b="0" i="0">
                <a:solidFill>
                  <a:srgbClr val="C8D4EE"/>
                </a:solidFill>
              </a:rPr>
              <a:t>Lands on homepage
Shark Tank badge → trust
Clean value prop</a:t>
            </a:r>
          </a:p>
        </p:txBody>
      </p:sp>
      <p:sp>
        <p:nvSpPr>
          <p:cNvPr id="11" name="TextBox 10"/>
          <p:cNvSpPr txBox="1"/>
          <p:nvPr/>
        </p:nvSpPr>
        <p:spPr>
          <a:xfrm>
            <a:off x="2331720" y="2194560"/>
            <a:ext cx="182880" cy="457200"/>
          </a:xfrm>
          <a:prstGeom prst="rect">
            <a:avLst/>
          </a:prstGeom>
          <a:noFill/>
        </p:spPr>
        <p:txBody>
          <a:bodyPr wrap="square">
            <a:spAutoFit/>
          </a:bodyPr>
          <a:lstStyle/>
          <a:p>
            <a:pPr algn="ctr"/>
            <a:r>
              <a:rPr sz="1800" b="1" i="0">
                <a:solidFill>
                  <a:srgbClr val="4F8EFF"/>
                </a:solidFill>
              </a:rPr>
              <a:t>→</a:t>
            </a:r>
          </a:p>
        </p:txBody>
      </p:sp>
      <p:sp>
        <p:nvSpPr>
          <p:cNvPr id="12" name="Rectangle 11"/>
          <p:cNvSpPr/>
          <p:nvPr/>
        </p:nvSpPr>
        <p:spPr>
          <a:xfrm>
            <a:off x="2468880" y="1572768"/>
            <a:ext cx="178308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1600200"/>
            <a:ext cx="1783080" cy="347472"/>
          </a:xfrm>
          <a:prstGeom prst="rect">
            <a:avLst/>
          </a:prstGeom>
          <a:noFill/>
        </p:spPr>
        <p:txBody>
          <a:bodyPr wrap="square">
            <a:spAutoFit/>
          </a:bodyPr>
          <a:lstStyle/>
          <a:p>
            <a:pPr algn="ctr"/>
            <a:r>
              <a:rPr sz="900" b="1" i="0">
                <a:solidFill>
                  <a:srgbClr val="06091F"/>
                </a:solidFill>
              </a:rPr>
              <a:t>SIGNS UP FREE</a:t>
            </a:r>
          </a:p>
        </p:txBody>
      </p:sp>
      <p:sp>
        <p:nvSpPr>
          <p:cNvPr id="14" name="Rectangle 13"/>
          <p:cNvSpPr/>
          <p:nvPr/>
        </p:nvSpPr>
        <p:spPr>
          <a:xfrm>
            <a:off x="2468880" y="1993392"/>
            <a:ext cx="1783080" cy="1828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2057400"/>
            <a:ext cx="1627632" cy="1691640"/>
          </a:xfrm>
          <a:prstGeom prst="rect">
            <a:avLst/>
          </a:prstGeom>
          <a:noFill/>
        </p:spPr>
        <p:txBody>
          <a:bodyPr wrap="square">
            <a:spAutoFit/>
          </a:bodyPr>
          <a:lstStyle/>
          <a:p>
            <a:pPr algn="l"/>
            <a:r>
              <a:rPr sz="1050" b="0" i="0">
                <a:solidFill>
                  <a:srgbClr val="C8D4EE"/>
                </a:solidFill>
              </a:rPr>
              <a:t>Creates account
No credit card
No welcome WA message</a:t>
            </a:r>
          </a:p>
        </p:txBody>
      </p:sp>
      <p:sp>
        <p:nvSpPr>
          <p:cNvPr id="16" name="TextBox 15"/>
          <p:cNvSpPr txBox="1"/>
          <p:nvPr/>
        </p:nvSpPr>
        <p:spPr>
          <a:xfrm>
            <a:off x="4297680" y="2194560"/>
            <a:ext cx="182880" cy="457200"/>
          </a:xfrm>
          <a:prstGeom prst="rect">
            <a:avLst/>
          </a:prstGeom>
          <a:noFill/>
        </p:spPr>
        <p:txBody>
          <a:bodyPr wrap="square">
            <a:spAutoFit/>
          </a:bodyPr>
          <a:lstStyle/>
          <a:p>
            <a:pPr algn="ctr"/>
            <a:r>
              <a:rPr sz="1800" b="1" i="0">
                <a:solidFill>
                  <a:srgbClr val="4F8EFF"/>
                </a:solidFill>
              </a:rPr>
              <a:t>→</a:t>
            </a:r>
          </a:p>
        </p:txBody>
      </p:sp>
      <p:sp>
        <p:nvSpPr>
          <p:cNvPr id="17" name="Rectangle 16"/>
          <p:cNvSpPr/>
          <p:nvPr/>
        </p:nvSpPr>
        <p:spPr>
          <a:xfrm>
            <a:off x="4434840" y="1572768"/>
            <a:ext cx="178308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1600200"/>
            <a:ext cx="1783080" cy="347472"/>
          </a:xfrm>
          <a:prstGeom prst="rect">
            <a:avLst/>
          </a:prstGeom>
          <a:noFill/>
        </p:spPr>
        <p:txBody>
          <a:bodyPr wrap="square">
            <a:spAutoFit/>
          </a:bodyPr>
          <a:lstStyle/>
          <a:p>
            <a:pPr algn="ctr"/>
            <a:r>
              <a:rPr sz="900" b="1" i="0">
                <a:solidFill>
                  <a:srgbClr val="06091F"/>
                </a:solidFill>
              </a:rPr>
              <a:t>BROWSES EVENTS</a:t>
            </a:r>
          </a:p>
        </p:txBody>
      </p:sp>
      <p:sp>
        <p:nvSpPr>
          <p:cNvPr id="19" name="Rectangle 18"/>
          <p:cNvSpPr/>
          <p:nvPr/>
        </p:nvSpPr>
        <p:spPr>
          <a:xfrm>
            <a:off x="4434840" y="1993392"/>
            <a:ext cx="1783080" cy="1828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80" y="2057400"/>
            <a:ext cx="1627632" cy="1691640"/>
          </a:xfrm>
          <a:prstGeom prst="rect">
            <a:avLst/>
          </a:prstGeom>
          <a:noFill/>
        </p:spPr>
        <p:txBody>
          <a:bodyPr wrap="square">
            <a:spAutoFit/>
          </a:bodyPr>
          <a:lstStyle/>
          <a:p>
            <a:pPr algn="l"/>
            <a:r>
              <a:rPr sz="1050" b="0" i="0">
                <a:solidFill>
                  <a:srgbClr val="C8D4EE"/>
                </a:solidFill>
              </a:rPr>
              <a:t>Sees event cards
Seat counts visible
Venue hidden — must login</a:t>
            </a:r>
          </a:p>
        </p:txBody>
      </p:sp>
      <p:sp>
        <p:nvSpPr>
          <p:cNvPr id="21" name="TextBox 20"/>
          <p:cNvSpPr txBox="1"/>
          <p:nvPr/>
        </p:nvSpPr>
        <p:spPr>
          <a:xfrm>
            <a:off x="6263640" y="2194560"/>
            <a:ext cx="182880" cy="457200"/>
          </a:xfrm>
          <a:prstGeom prst="rect">
            <a:avLst/>
          </a:prstGeom>
          <a:noFill/>
        </p:spPr>
        <p:txBody>
          <a:bodyPr wrap="square">
            <a:spAutoFit/>
          </a:bodyPr>
          <a:lstStyle/>
          <a:p>
            <a:pPr algn="ctr"/>
            <a:r>
              <a:rPr sz="1800" b="1" i="0">
                <a:solidFill>
                  <a:srgbClr val="4F8EFF"/>
                </a:solidFill>
              </a:rPr>
              <a:t>→</a:t>
            </a:r>
          </a:p>
        </p:txBody>
      </p:sp>
      <p:sp>
        <p:nvSpPr>
          <p:cNvPr id="22" name="Rectangle 21"/>
          <p:cNvSpPr/>
          <p:nvPr/>
        </p:nvSpPr>
        <p:spPr>
          <a:xfrm>
            <a:off x="6400800" y="1572768"/>
            <a:ext cx="178308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600200"/>
            <a:ext cx="1783080" cy="347472"/>
          </a:xfrm>
          <a:prstGeom prst="rect">
            <a:avLst/>
          </a:prstGeom>
          <a:noFill/>
        </p:spPr>
        <p:txBody>
          <a:bodyPr wrap="square">
            <a:spAutoFit/>
          </a:bodyPr>
          <a:lstStyle/>
          <a:p>
            <a:pPr algn="ctr"/>
            <a:r>
              <a:rPr sz="900" b="1" i="0">
                <a:solidFill>
                  <a:srgbClr val="06091F"/>
                </a:solidFill>
              </a:rPr>
              <a:t>BOOKS A TABLE</a:t>
            </a:r>
          </a:p>
        </p:txBody>
      </p:sp>
      <p:sp>
        <p:nvSpPr>
          <p:cNvPr id="24" name="Rectangle 23"/>
          <p:cNvSpPr/>
          <p:nvPr/>
        </p:nvSpPr>
        <p:spPr>
          <a:xfrm>
            <a:off x="6400800" y="1993392"/>
            <a:ext cx="1783080" cy="1828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2057400"/>
            <a:ext cx="1627632" cy="1691640"/>
          </a:xfrm>
          <a:prstGeom prst="rect">
            <a:avLst/>
          </a:prstGeom>
          <a:noFill/>
        </p:spPr>
        <p:txBody>
          <a:bodyPr wrap="square">
            <a:spAutoFit/>
          </a:bodyPr>
          <a:lstStyle/>
          <a:p>
            <a:pPr algn="l"/>
            <a:r>
              <a:rPr sz="1050" b="0" i="0">
                <a:solidFill>
                  <a:srgbClr val="C8D4EE"/>
                </a:solidFill>
              </a:rPr>
              <a:t>Per-seat payment
No confirmation WA
No calendar link sent</a:t>
            </a:r>
          </a:p>
        </p:txBody>
      </p:sp>
      <p:sp>
        <p:nvSpPr>
          <p:cNvPr id="26" name="TextBox 25"/>
          <p:cNvSpPr txBox="1"/>
          <p:nvPr/>
        </p:nvSpPr>
        <p:spPr>
          <a:xfrm>
            <a:off x="8229600" y="2194560"/>
            <a:ext cx="182880" cy="457200"/>
          </a:xfrm>
          <a:prstGeom prst="rect">
            <a:avLst/>
          </a:prstGeom>
          <a:noFill/>
        </p:spPr>
        <p:txBody>
          <a:bodyPr wrap="square">
            <a:spAutoFit/>
          </a:bodyPr>
          <a:lstStyle/>
          <a:p>
            <a:pPr algn="ctr"/>
            <a:r>
              <a:rPr sz="1800" b="1" i="0">
                <a:solidFill>
                  <a:srgbClr val="4F8EFF"/>
                </a:solidFill>
              </a:rPr>
              <a:t>→</a:t>
            </a:r>
          </a:p>
        </p:txBody>
      </p:sp>
      <p:sp>
        <p:nvSpPr>
          <p:cNvPr id="27" name="Rectangle 26"/>
          <p:cNvSpPr/>
          <p:nvPr/>
        </p:nvSpPr>
        <p:spPr>
          <a:xfrm>
            <a:off x="8366760" y="1572768"/>
            <a:ext cx="178308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60" y="1600200"/>
            <a:ext cx="1783080" cy="347472"/>
          </a:xfrm>
          <a:prstGeom prst="rect">
            <a:avLst/>
          </a:prstGeom>
          <a:noFill/>
        </p:spPr>
        <p:txBody>
          <a:bodyPr wrap="square">
            <a:spAutoFit/>
          </a:bodyPr>
          <a:lstStyle/>
          <a:p>
            <a:pPr algn="ctr"/>
            <a:r>
              <a:rPr sz="900" b="1" i="0">
                <a:solidFill>
                  <a:srgbClr val="06091F"/>
                </a:solidFill>
              </a:rPr>
              <a:t>ATTENDS DINNER</a:t>
            </a:r>
          </a:p>
        </p:txBody>
      </p:sp>
      <p:sp>
        <p:nvSpPr>
          <p:cNvPr id="29" name="Rectangle 28"/>
          <p:cNvSpPr/>
          <p:nvPr/>
        </p:nvSpPr>
        <p:spPr>
          <a:xfrm>
            <a:off x="8366760" y="1993392"/>
            <a:ext cx="1783080" cy="1828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58200" y="2057400"/>
            <a:ext cx="1627632" cy="1691640"/>
          </a:xfrm>
          <a:prstGeom prst="rect">
            <a:avLst/>
          </a:prstGeom>
          <a:noFill/>
        </p:spPr>
        <p:txBody>
          <a:bodyPr wrap="square">
            <a:spAutoFit/>
          </a:bodyPr>
          <a:lstStyle/>
          <a:p>
            <a:pPr algn="l"/>
            <a:r>
              <a:rPr sz="1050" b="0" i="0">
                <a:solidFill>
                  <a:srgbClr val="C8D4EE"/>
                </a:solidFill>
              </a:rPr>
              <a:t>Meets 4–8 people
No day-of reminder
Venue sent manually?</a:t>
            </a:r>
          </a:p>
        </p:txBody>
      </p:sp>
      <p:sp>
        <p:nvSpPr>
          <p:cNvPr id="31" name="TextBox 30"/>
          <p:cNvSpPr txBox="1"/>
          <p:nvPr/>
        </p:nvSpPr>
        <p:spPr>
          <a:xfrm>
            <a:off x="10195560" y="2194560"/>
            <a:ext cx="182880" cy="457200"/>
          </a:xfrm>
          <a:prstGeom prst="rect">
            <a:avLst/>
          </a:prstGeom>
          <a:noFill/>
        </p:spPr>
        <p:txBody>
          <a:bodyPr wrap="square">
            <a:spAutoFit/>
          </a:bodyPr>
          <a:lstStyle/>
          <a:p>
            <a:pPr algn="ctr"/>
            <a:r>
              <a:rPr sz="1800" b="1" i="0">
                <a:solidFill>
                  <a:srgbClr val="4F8EFF"/>
                </a:solidFill>
              </a:rPr>
              <a:t>→</a:t>
            </a:r>
          </a:p>
        </p:txBody>
      </p:sp>
      <p:sp>
        <p:nvSpPr>
          <p:cNvPr id="32" name="Rectangle 31"/>
          <p:cNvSpPr/>
          <p:nvPr/>
        </p:nvSpPr>
        <p:spPr>
          <a:xfrm>
            <a:off x="10332720" y="1572768"/>
            <a:ext cx="178308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0" y="1600200"/>
            <a:ext cx="1783080" cy="347472"/>
          </a:xfrm>
          <a:prstGeom prst="rect">
            <a:avLst/>
          </a:prstGeom>
          <a:noFill/>
        </p:spPr>
        <p:txBody>
          <a:bodyPr wrap="square">
            <a:spAutoFit/>
          </a:bodyPr>
          <a:lstStyle/>
          <a:p>
            <a:pPr algn="ctr"/>
            <a:r>
              <a:rPr sz="900" b="1" i="0">
                <a:solidFill>
                  <a:srgbClr val="06091F"/>
                </a:solidFill>
              </a:rPr>
              <a:t>POST-EVENT</a:t>
            </a:r>
          </a:p>
        </p:txBody>
      </p:sp>
      <p:sp>
        <p:nvSpPr>
          <p:cNvPr id="34" name="Rectangle 33"/>
          <p:cNvSpPr/>
          <p:nvPr/>
        </p:nvSpPr>
        <p:spPr>
          <a:xfrm>
            <a:off x="10332720" y="1993392"/>
            <a:ext cx="1783080" cy="1828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4160" y="2057400"/>
            <a:ext cx="1627632" cy="1691640"/>
          </a:xfrm>
          <a:prstGeom prst="rect">
            <a:avLst/>
          </a:prstGeom>
          <a:noFill/>
        </p:spPr>
        <p:txBody>
          <a:bodyPr wrap="square">
            <a:spAutoFit/>
          </a:bodyPr>
          <a:lstStyle/>
          <a:p>
            <a:pPr algn="l"/>
            <a:r>
              <a:rPr sz="1050" b="0" i="0">
                <a:solidFill>
                  <a:srgbClr val="C8D4EE"/>
                </a:solidFill>
              </a:rPr>
              <a:t>Goes home
No follow-up
No connection list
No feedback ask</a:t>
            </a:r>
          </a:p>
        </p:txBody>
      </p:sp>
      <p:sp>
        <p:nvSpPr>
          <p:cNvPr id="36" name="TextBox 35"/>
          <p:cNvSpPr txBox="1"/>
          <p:nvPr/>
        </p:nvSpPr>
        <p:spPr>
          <a:xfrm>
            <a:off x="502920" y="4041648"/>
            <a:ext cx="10972800" cy="347472"/>
          </a:xfrm>
          <a:prstGeom prst="rect">
            <a:avLst/>
          </a:prstGeom>
          <a:noFill/>
        </p:spPr>
        <p:txBody>
          <a:bodyPr wrap="square">
            <a:spAutoFit/>
          </a:bodyPr>
          <a:lstStyle/>
          <a:p>
            <a:pPr algn="l"/>
            <a:r>
              <a:rPr sz="1100" b="1" i="0">
                <a:solidFill>
                  <a:srgbClr val="25D366"/>
                </a:solidFill>
              </a:rPr>
              <a:t>AUTOMATION GAPS (what fires at each stage with Genos AI):</a:t>
            </a:r>
          </a:p>
        </p:txBody>
      </p:sp>
      <p:sp>
        <p:nvSpPr>
          <p:cNvPr id="37" name="Rectangle 36"/>
          <p:cNvSpPr/>
          <p:nvPr/>
        </p:nvSpPr>
        <p:spPr>
          <a:xfrm>
            <a:off x="502920" y="4434840"/>
            <a:ext cx="1783080" cy="1691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 y="4526280"/>
            <a:ext cx="1664208" cy="1572768"/>
          </a:xfrm>
          <a:prstGeom prst="rect">
            <a:avLst/>
          </a:prstGeom>
          <a:noFill/>
        </p:spPr>
        <p:txBody>
          <a:bodyPr wrap="square">
            <a:spAutoFit/>
          </a:bodyPr>
          <a:lstStyle/>
          <a:p>
            <a:pPr algn="l"/>
            <a:r>
              <a:rPr sz="1050" b="0" i="0">
                <a:solidFill>
                  <a:srgbClr val="FF4D4D"/>
                </a:solidFill>
              </a:rPr>
              <a:t>No action</a:t>
            </a:r>
          </a:p>
        </p:txBody>
      </p:sp>
      <p:sp>
        <p:nvSpPr>
          <p:cNvPr id="39" name="Rectangle 38"/>
          <p:cNvSpPr/>
          <p:nvPr/>
        </p:nvSpPr>
        <p:spPr>
          <a:xfrm>
            <a:off x="2468880" y="4434840"/>
            <a:ext cx="1783080" cy="1691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42032" y="4526280"/>
            <a:ext cx="1664208" cy="1572768"/>
          </a:xfrm>
          <a:prstGeom prst="rect">
            <a:avLst/>
          </a:prstGeom>
          <a:noFill/>
        </p:spPr>
        <p:txBody>
          <a:bodyPr wrap="square">
            <a:spAutoFit/>
          </a:bodyPr>
          <a:lstStyle/>
          <a:p>
            <a:pPr algn="l"/>
            <a:r>
              <a:rPr sz="1050" b="0" i="0">
                <a:solidFill>
                  <a:srgbClr val="25D366"/>
                </a:solidFill>
              </a:rPr>
              <a:t>WA welcome
+ city table alert</a:t>
            </a:r>
          </a:p>
        </p:txBody>
      </p:sp>
      <p:sp>
        <p:nvSpPr>
          <p:cNvPr id="41" name="Rectangle 40"/>
          <p:cNvSpPr/>
          <p:nvPr/>
        </p:nvSpPr>
        <p:spPr>
          <a:xfrm>
            <a:off x="4434840" y="4434840"/>
            <a:ext cx="1783080" cy="1691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07992" y="4526280"/>
            <a:ext cx="1664208" cy="1572768"/>
          </a:xfrm>
          <a:prstGeom prst="rect">
            <a:avLst/>
          </a:prstGeom>
          <a:noFill/>
        </p:spPr>
        <p:txBody>
          <a:bodyPr wrap="square">
            <a:spAutoFit/>
          </a:bodyPr>
          <a:lstStyle/>
          <a:p>
            <a:pPr algn="l"/>
            <a:r>
              <a:rPr sz="1050" b="0" i="0">
                <a:solidFill>
                  <a:srgbClr val="25D366"/>
                </a:solidFill>
              </a:rPr>
              <a:t>WA seat alert
when match opens</a:t>
            </a:r>
          </a:p>
        </p:txBody>
      </p:sp>
      <p:sp>
        <p:nvSpPr>
          <p:cNvPr id="43" name="Rectangle 42"/>
          <p:cNvSpPr/>
          <p:nvPr/>
        </p:nvSpPr>
        <p:spPr>
          <a:xfrm>
            <a:off x="6400800" y="4434840"/>
            <a:ext cx="1783080" cy="1691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73952" y="4526280"/>
            <a:ext cx="1664208" cy="1572768"/>
          </a:xfrm>
          <a:prstGeom prst="rect">
            <a:avLst/>
          </a:prstGeom>
          <a:noFill/>
        </p:spPr>
        <p:txBody>
          <a:bodyPr wrap="square">
            <a:spAutoFit/>
          </a:bodyPr>
          <a:lstStyle/>
          <a:p>
            <a:pPr algn="l"/>
            <a:r>
              <a:rPr sz="1050" b="0" i="0">
                <a:solidFill>
                  <a:srgbClr val="25D366"/>
                </a:solidFill>
              </a:rPr>
              <a:t>WA confirmation
+ calendar link</a:t>
            </a:r>
          </a:p>
        </p:txBody>
      </p:sp>
      <p:sp>
        <p:nvSpPr>
          <p:cNvPr id="45" name="Rectangle 44"/>
          <p:cNvSpPr/>
          <p:nvPr/>
        </p:nvSpPr>
        <p:spPr>
          <a:xfrm>
            <a:off x="8366760" y="4434840"/>
            <a:ext cx="1783080" cy="1691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39912" y="4526280"/>
            <a:ext cx="1664208" cy="1572768"/>
          </a:xfrm>
          <a:prstGeom prst="rect">
            <a:avLst/>
          </a:prstGeom>
          <a:noFill/>
        </p:spPr>
        <p:txBody>
          <a:bodyPr wrap="square">
            <a:spAutoFit/>
          </a:bodyPr>
          <a:lstStyle/>
          <a:p>
            <a:pPr algn="l"/>
            <a:r>
              <a:rPr sz="1050" b="0" i="0">
                <a:solidFill>
                  <a:srgbClr val="25D366"/>
                </a:solidFill>
              </a:rPr>
              <a:t>48h reminder
+ day-of venue
+ who you'll meet</a:t>
            </a:r>
          </a:p>
        </p:txBody>
      </p:sp>
      <p:sp>
        <p:nvSpPr>
          <p:cNvPr id="47" name="Rectangle 46"/>
          <p:cNvSpPr/>
          <p:nvPr/>
        </p:nvSpPr>
        <p:spPr>
          <a:xfrm>
            <a:off x="10332720" y="4434840"/>
            <a:ext cx="1783080" cy="1691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05872" y="4526280"/>
            <a:ext cx="1664208" cy="1572768"/>
          </a:xfrm>
          <a:prstGeom prst="rect">
            <a:avLst/>
          </a:prstGeom>
          <a:noFill/>
        </p:spPr>
        <p:txBody>
          <a:bodyPr wrap="square">
            <a:spAutoFit/>
          </a:bodyPr>
          <a:lstStyle/>
          <a:p>
            <a:pPr algn="l"/>
            <a:r>
              <a:rPr sz="1050" b="0" i="0">
                <a:solidFill>
                  <a:srgbClr val="25D366"/>
                </a:solidFill>
              </a:rPr>
              <a:t>Connection list
+ NPS ask
+ rebook CTA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The Genos AI Stack for TwoWordsAway</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64208"/>
            <a:ext cx="475488"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645920"/>
            <a:ext cx="475488" cy="475488"/>
          </a:xfrm>
          <a:prstGeom prst="rect">
            <a:avLst/>
          </a:prstGeom>
          <a:noFill/>
        </p:spPr>
        <p:txBody>
          <a:bodyPr wrap="square">
            <a:spAutoFit/>
          </a:bodyPr>
          <a:lstStyle/>
          <a:p>
            <a:pPr algn="ctr"/>
            <a:r>
              <a:rPr sz="1600" b="1" i="0">
                <a:solidFill>
                  <a:srgbClr val="FFFFFF"/>
                </a:solidFill>
              </a:rPr>
              <a:t>1</a:t>
            </a:r>
          </a:p>
        </p:txBody>
      </p:sp>
      <p:sp>
        <p:nvSpPr>
          <p:cNvPr id="10" name="TextBox 9"/>
          <p:cNvSpPr txBox="1"/>
          <p:nvPr/>
        </p:nvSpPr>
        <p:spPr>
          <a:xfrm>
            <a:off x="1170432" y="1554480"/>
            <a:ext cx="6858000" cy="347472"/>
          </a:xfrm>
          <a:prstGeom prst="rect">
            <a:avLst/>
          </a:prstGeom>
          <a:noFill/>
        </p:spPr>
        <p:txBody>
          <a:bodyPr wrap="square">
            <a:spAutoFit/>
          </a:bodyPr>
          <a:lstStyle/>
          <a:p>
            <a:pPr algn="l"/>
            <a:r>
              <a:rPr sz="1400" b="1" i="0">
                <a:solidFill>
                  <a:srgbClr val="FFFFFF"/>
                </a:solidFill>
              </a:rPr>
              <a:t>Fix All Broken Pages + Rewrite Pricing</a:t>
            </a:r>
          </a:p>
        </p:txBody>
      </p:sp>
      <p:sp>
        <p:nvSpPr>
          <p:cNvPr id="11" name="TextBox 10"/>
          <p:cNvSpPr txBox="1"/>
          <p:nvPr/>
        </p:nvSpPr>
        <p:spPr>
          <a:xfrm>
            <a:off x="1170432" y="1920240"/>
            <a:ext cx="7498079" cy="384048"/>
          </a:xfrm>
          <a:prstGeom prst="rect">
            <a:avLst/>
          </a:prstGeom>
          <a:noFill/>
        </p:spPr>
        <p:txBody>
          <a:bodyPr wrap="square">
            <a:spAutoFit/>
          </a:bodyPr>
          <a:lstStyle/>
          <a:p>
            <a:pPr algn="l"/>
            <a:r>
              <a:rPr sz="1100" b="0" i="0">
                <a:solidFill>
                  <a:srgbClr val="C8D4EE"/>
                </a:solidFill>
              </a:rPr>
              <a:t>Build /about (founder story, Shark Tank journey, team), /contact-us (form + WhatsApp + email), /blog (SEO-first content engine), /feedback and /support pages. Rewrite /pricing to accurately describe the per-seat model with a clear value comparison.</a:t>
            </a:r>
          </a:p>
        </p:txBody>
      </p:sp>
      <p:sp>
        <p:nvSpPr>
          <p:cNvPr id="12" name="Oval 11"/>
          <p:cNvSpPr/>
          <p:nvPr/>
        </p:nvSpPr>
        <p:spPr>
          <a:xfrm>
            <a:off x="10515600" y="1755648"/>
            <a:ext cx="1133856"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 1–2</a:t>
            </a:r>
          </a:p>
        </p:txBody>
      </p:sp>
      <p:sp>
        <p:nvSpPr>
          <p:cNvPr id="13" name="Rectangle 12"/>
          <p:cNvSpPr/>
          <p:nvPr/>
        </p:nvSpPr>
        <p:spPr>
          <a:xfrm>
            <a:off x="502920" y="2487168"/>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70048"/>
            <a:ext cx="475488"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651760"/>
            <a:ext cx="475488" cy="475488"/>
          </a:xfrm>
          <a:prstGeom prst="rect">
            <a:avLst/>
          </a:prstGeom>
          <a:noFill/>
        </p:spPr>
        <p:txBody>
          <a:bodyPr wrap="square">
            <a:spAutoFit/>
          </a:bodyPr>
          <a:lstStyle/>
          <a:p>
            <a:pPr algn="ctr"/>
            <a:r>
              <a:rPr sz="1600" b="1" i="0">
                <a:solidFill>
                  <a:srgbClr val="FFFFFF"/>
                </a:solidFill>
              </a:rPr>
              <a:t>2</a:t>
            </a:r>
          </a:p>
        </p:txBody>
      </p:sp>
      <p:sp>
        <p:nvSpPr>
          <p:cNvPr id="16" name="TextBox 15"/>
          <p:cNvSpPr txBox="1"/>
          <p:nvPr/>
        </p:nvSpPr>
        <p:spPr>
          <a:xfrm>
            <a:off x="1170432" y="2560320"/>
            <a:ext cx="6858000" cy="347472"/>
          </a:xfrm>
          <a:prstGeom prst="rect">
            <a:avLst/>
          </a:prstGeom>
          <a:noFill/>
        </p:spPr>
        <p:txBody>
          <a:bodyPr wrap="square">
            <a:spAutoFit/>
          </a:bodyPr>
          <a:lstStyle/>
          <a:p>
            <a:pPr algn="l"/>
            <a:r>
              <a:rPr sz="1400" b="1" i="0">
                <a:solidFill>
                  <a:srgbClr val="FFFFFF"/>
                </a:solidFill>
              </a:rPr>
              <a:t>WhatsApp Automation Engine — Full Lifecycle</a:t>
            </a:r>
          </a:p>
        </p:txBody>
      </p:sp>
      <p:sp>
        <p:nvSpPr>
          <p:cNvPr id="17" name="TextBox 16"/>
          <p:cNvSpPr txBox="1"/>
          <p:nvPr/>
        </p:nvSpPr>
        <p:spPr>
          <a:xfrm>
            <a:off x="1170432" y="2926080"/>
            <a:ext cx="7498079" cy="384048"/>
          </a:xfrm>
          <a:prstGeom prst="rect">
            <a:avLst/>
          </a:prstGeom>
          <a:noFill/>
        </p:spPr>
        <p:txBody>
          <a:bodyPr wrap="square">
            <a:spAutoFit/>
          </a:bodyPr>
          <a:lstStyle/>
          <a:p>
            <a:pPr algn="l"/>
            <a:r>
              <a:rPr sz="1100" b="0" i="0">
                <a:solidFill>
                  <a:srgbClr val="C8D4EE"/>
                </a:solidFill>
              </a:rPr>
              <a:t>7 automated flows covering every stage from signup to re-engagement: signup nurture, seat alerts, 48h/day-of reminders, post-event follow-up with connection list, NPS collection, no-show recovery, and lapsed-user reactivation. All personalised by city + persona.</a:t>
            </a:r>
          </a:p>
        </p:txBody>
      </p:sp>
      <p:sp>
        <p:nvSpPr>
          <p:cNvPr id="18" name="Oval 17"/>
          <p:cNvSpPr/>
          <p:nvPr/>
        </p:nvSpPr>
        <p:spPr>
          <a:xfrm>
            <a:off x="10515600" y="2761488"/>
            <a:ext cx="1133856"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 2–4</a:t>
            </a:r>
          </a:p>
        </p:txBody>
      </p:sp>
      <p:sp>
        <p:nvSpPr>
          <p:cNvPr id="19" name="Rectangle 18"/>
          <p:cNvSpPr/>
          <p:nvPr/>
        </p:nvSpPr>
        <p:spPr>
          <a:xfrm>
            <a:off x="502920" y="3493008"/>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675888"/>
            <a:ext cx="475488"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657600"/>
            <a:ext cx="475488" cy="475488"/>
          </a:xfrm>
          <a:prstGeom prst="rect">
            <a:avLst/>
          </a:prstGeom>
          <a:noFill/>
        </p:spPr>
        <p:txBody>
          <a:bodyPr wrap="square">
            <a:spAutoFit/>
          </a:bodyPr>
          <a:lstStyle/>
          <a:p>
            <a:pPr algn="ctr"/>
            <a:r>
              <a:rPr sz="1600" b="1" i="0">
                <a:solidFill>
                  <a:srgbClr val="FFFFFF"/>
                </a:solidFill>
              </a:rPr>
              <a:t>3</a:t>
            </a:r>
          </a:p>
        </p:txBody>
      </p:sp>
      <p:sp>
        <p:nvSpPr>
          <p:cNvPr id="22" name="TextBox 21"/>
          <p:cNvSpPr txBox="1"/>
          <p:nvPr/>
        </p:nvSpPr>
        <p:spPr>
          <a:xfrm>
            <a:off x="1170432" y="3566160"/>
            <a:ext cx="6858000" cy="347472"/>
          </a:xfrm>
          <a:prstGeom prst="rect">
            <a:avLst/>
          </a:prstGeom>
          <a:noFill/>
        </p:spPr>
        <p:txBody>
          <a:bodyPr wrap="square">
            <a:spAutoFit/>
          </a:bodyPr>
          <a:lstStyle/>
          <a:p>
            <a:pPr algn="l"/>
            <a:r>
              <a:rPr sz="1400" b="1" i="0">
                <a:solidFill>
                  <a:srgbClr val="FFFFFF"/>
                </a:solidFill>
              </a:rPr>
              <a:t>Testimonials Engine + Social Proof</a:t>
            </a:r>
          </a:p>
        </p:txBody>
      </p:sp>
      <p:sp>
        <p:nvSpPr>
          <p:cNvPr id="23" name="TextBox 22"/>
          <p:cNvSpPr txBox="1"/>
          <p:nvPr/>
        </p:nvSpPr>
        <p:spPr>
          <a:xfrm>
            <a:off x="1170432" y="3931920"/>
            <a:ext cx="7498079" cy="384048"/>
          </a:xfrm>
          <a:prstGeom prst="rect">
            <a:avLst/>
          </a:prstGeom>
          <a:noFill/>
        </p:spPr>
        <p:txBody>
          <a:bodyPr wrap="square">
            <a:spAutoFit/>
          </a:bodyPr>
          <a:lstStyle/>
          <a:p>
            <a:pPr algn="l"/>
            <a:r>
              <a:rPr sz="1100" b="0" i="0">
                <a:solidFill>
                  <a:srgbClr val="C8D4EE"/>
                </a:solidFill>
              </a:rPr>
              <a:t>Automated post-event WhatsApp request asking attendees to share a quote. Quotes feed into a live testimonials section on the homepage. Over 60 tables hosted, that's 60+ testimonials waiting to be captured. Adds massive trust signal for new visitors.</a:t>
            </a:r>
          </a:p>
        </p:txBody>
      </p:sp>
      <p:sp>
        <p:nvSpPr>
          <p:cNvPr id="24" name="Oval 23"/>
          <p:cNvSpPr/>
          <p:nvPr/>
        </p:nvSpPr>
        <p:spPr>
          <a:xfrm>
            <a:off x="10515600" y="3767328"/>
            <a:ext cx="1133856"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 3–5</a:t>
            </a:r>
          </a:p>
        </p:txBody>
      </p:sp>
      <p:sp>
        <p:nvSpPr>
          <p:cNvPr id="25" name="Rectangle 24"/>
          <p:cNvSpPr/>
          <p:nvPr/>
        </p:nvSpPr>
        <p:spPr>
          <a:xfrm>
            <a:off x="502920" y="4498848"/>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81728"/>
            <a:ext cx="475488"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663440"/>
            <a:ext cx="475488" cy="475488"/>
          </a:xfrm>
          <a:prstGeom prst="rect">
            <a:avLst/>
          </a:prstGeom>
          <a:noFill/>
        </p:spPr>
        <p:txBody>
          <a:bodyPr wrap="square">
            <a:spAutoFit/>
          </a:bodyPr>
          <a:lstStyle/>
          <a:p>
            <a:pPr algn="ctr"/>
            <a:r>
              <a:rPr sz="1600" b="1" i="0">
                <a:solidFill>
                  <a:srgbClr val="FFFFFF"/>
                </a:solidFill>
              </a:rPr>
              <a:t>4</a:t>
            </a:r>
          </a:p>
        </p:txBody>
      </p:sp>
      <p:sp>
        <p:nvSpPr>
          <p:cNvPr id="28" name="TextBox 27"/>
          <p:cNvSpPr txBox="1"/>
          <p:nvPr/>
        </p:nvSpPr>
        <p:spPr>
          <a:xfrm>
            <a:off x="1170432" y="4572000"/>
            <a:ext cx="6858000" cy="347472"/>
          </a:xfrm>
          <a:prstGeom prst="rect">
            <a:avLst/>
          </a:prstGeom>
          <a:noFill/>
        </p:spPr>
        <p:txBody>
          <a:bodyPr wrap="square">
            <a:spAutoFit/>
          </a:bodyPr>
          <a:lstStyle/>
          <a:p>
            <a:pPr algn="l"/>
            <a:r>
              <a:rPr sz="1400" b="1" i="0">
                <a:solidFill>
                  <a:srgbClr val="FFFFFF"/>
                </a:solidFill>
              </a:rPr>
              <a:t>SEO Blog — Networking &amp; Startup Content</a:t>
            </a:r>
          </a:p>
        </p:txBody>
      </p:sp>
      <p:sp>
        <p:nvSpPr>
          <p:cNvPr id="29" name="TextBox 28"/>
          <p:cNvSpPr txBox="1"/>
          <p:nvPr/>
        </p:nvSpPr>
        <p:spPr>
          <a:xfrm>
            <a:off x="1170432" y="4937760"/>
            <a:ext cx="7498079" cy="384048"/>
          </a:xfrm>
          <a:prstGeom prst="rect">
            <a:avLst/>
          </a:prstGeom>
          <a:noFill/>
        </p:spPr>
        <p:txBody>
          <a:bodyPr wrap="square">
            <a:spAutoFit/>
          </a:bodyPr>
          <a:lstStyle/>
          <a:p>
            <a:pPr algn="l"/>
            <a:r>
              <a:rPr sz="1100" b="0" i="0">
                <a:solidFill>
                  <a:srgbClr val="C8D4EE"/>
                </a:solidFill>
              </a:rPr>
              <a:t>Launch blog with 5 cornerstone articles targeting high-intent India keywords: 'how to meet investors in Bangalore', 'startup networking events Mumbai', 'find a co-founder in Delhi'. Each article links back to the events page with a table-booking CTA.</a:t>
            </a:r>
          </a:p>
        </p:txBody>
      </p:sp>
      <p:sp>
        <p:nvSpPr>
          <p:cNvPr id="30" name="Oval 29"/>
          <p:cNvSpPr/>
          <p:nvPr/>
        </p:nvSpPr>
        <p:spPr>
          <a:xfrm>
            <a:off x="10515600" y="4773168"/>
            <a:ext cx="1133856"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 3–6</a:t>
            </a:r>
          </a:p>
        </p:txBody>
      </p:sp>
      <p:sp>
        <p:nvSpPr>
          <p:cNvPr id="31" name="Rectangle 30"/>
          <p:cNvSpPr/>
          <p:nvPr/>
        </p:nvSpPr>
        <p:spPr>
          <a:xfrm>
            <a:off x="502920" y="5504688"/>
            <a:ext cx="987552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687568"/>
            <a:ext cx="475488"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5669280"/>
            <a:ext cx="475488" cy="475488"/>
          </a:xfrm>
          <a:prstGeom prst="rect">
            <a:avLst/>
          </a:prstGeom>
          <a:noFill/>
        </p:spPr>
        <p:txBody>
          <a:bodyPr wrap="square">
            <a:spAutoFit/>
          </a:bodyPr>
          <a:lstStyle/>
          <a:p>
            <a:pPr algn="ctr"/>
            <a:r>
              <a:rPr sz="1600" b="1" i="0">
                <a:solidFill>
                  <a:srgbClr val="FFFFFF"/>
                </a:solidFill>
              </a:rPr>
              <a:t>5</a:t>
            </a:r>
          </a:p>
        </p:txBody>
      </p:sp>
      <p:sp>
        <p:nvSpPr>
          <p:cNvPr id="34" name="TextBox 33"/>
          <p:cNvSpPr txBox="1"/>
          <p:nvPr/>
        </p:nvSpPr>
        <p:spPr>
          <a:xfrm>
            <a:off x="1170432" y="5577840"/>
            <a:ext cx="6858000" cy="347472"/>
          </a:xfrm>
          <a:prstGeom prst="rect">
            <a:avLst/>
          </a:prstGeom>
          <a:noFill/>
        </p:spPr>
        <p:txBody>
          <a:bodyPr wrap="square">
            <a:spAutoFit/>
          </a:bodyPr>
          <a:lstStyle/>
          <a:p>
            <a:pPr algn="l"/>
            <a:r>
              <a:rPr sz="1400" b="1" i="0">
                <a:solidFill>
                  <a:srgbClr val="FFFFFF"/>
                </a:solidFill>
              </a:rPr>
              <a:t>Conversion Optimisation — CTA + Scarcity Layer</a:t>
            </a:r>
          </a:p>
        </p:txBody>
      </p:sp>
      <p:sp>
        <p:nvSpPr>
          <p:cNvPr id="35" name="TextBox 34"/>
          <p:cNvSpPr txBox="1"/>
          <p:nvPr/>
        </p:nvSpPr>
        <p:spPr>
          <a:xfrm>
            <a:off x="1170432" y="5943600"/>
            <a:ext cx="7498079" cy="384048"/>
          </a:xfrm>
          <a:prstGeom prst="rect">
            <a:avLst/>
          </a:prstGeom>
          <a:noFill/>
        </p:spPr>
        <p:txBody>
          <a:bodyPr wrap="square">
            <a:spAutoFit/>
          </a:bodyPr>
          <a:lstStyle/>
          <a:p>
            <a:pPr algn="l"/>
            <a:r>
              <a:rPr sz="1100" b="0" i="0">
                <a:solidFill>
                  <a:srgbClr val="C8D4EE"/>
                </a:solidFill>
              </a:rPr>
              <a:t>Add sticky 'Book a Table' header, real-time seat counter on homepage, social proof ticker ('14 people joined this week'), and a 'Founders Dinner in your city' personalised CTA block based on user location. Estimated lift: 40-60% more free signups.</a:t>
            </a:r>
          </a:p>
        </p:txBody>
      </p:sp>
      <p:sp>
        <p:nvSpPr>
          <p:cNvPr id="36" name="Oval 35"/>
          <p:cNvSpPr/>
          <p:nvPr/>
        </p:nvSpPr>
        <p:spPr>
          <a:xfrm>
            <a:off x="10515600" y="5779008"/>
            <a:ext cx="1133856" cy="274320"/>
          </a:xfrm>
          <a:prstGeom prst="ellipse">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8A9BBB"/>
                </a:solidFill>
              </a:rPr>
              <a:t>Week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C030"/>
                </a:solidFill>
              </a:rPr>
              <a:t>NEXT STEPS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One Call to See What's Possible</a:t>
            </a:r>
          </a:p>
        </p:txBody>
      </p:sp>
      <p:sp>
        <p:nvSpPr>
          <p:cNvPr id="6" name="Rectangle 5"/>
          <p:cNvSpPr/>
          <p:nvPr/>
        </p:nvSpPr>
        <p:spPr>
          <a:xfrm>
            <a:off x="502920" y="1234440"/>
            <a:ext cx="1097280" cy="36576"/>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8288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28800"/>
            <a:ext cx="914400" cy="118872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011680"/>
            <a:ext cx="914400" cy="640080"/>
          </a:xfrm>
          <a:prstGeom prst="rect">
            <a:avLst/>
          </a:prstGeom>
          <a:noFill/>
        </p:spPr>
        <p:txBody>
          <a:bodyPr wrap="square">
            <a:spAutoFit/>
          </a:bodyPr>
          <a:lstStyle/>
          <a:p>
            <a:pPr algn="ctr"/>
            <a:r>
              <a:rPr sz="3600" b="1" i="0">
                <a:solidFill>
                  <a:srgbClr val="06091F"/>
                </a:solidFill>
              </a:rPr>
              <a:t>1</a:t>
            </a:r>
          </a:p>
        </p:txBody>
      </p:sp>
      <p:sp>
        <p:nvSpPr>
          <p:cNvPr id="10" name="TextBox 9"/>
          <p:cNvSpPr txBox="1"/>
          <p:nvPr/>
        </p:nvSpPr>
        <p:spPr>
          <a:xfrm>
            <a:off x="1554480" y="1965960"/>
            <a:ext cx="9144000" cy="411480"/>
          </a:xfrm>
          <a:prstGeom prst="rect">
            <a:avLst/>
          </a:prstGeom>
          <a:noFill/>
        </p:spPr>
        <p:txBody>
          <a:bodyPr wrap="square">
            <a:spAutoFit/>
          </a:bodyPr>
          <a:lstStyle/>
          <a:p>
            <a:pPr algn="l"/>
            <a:r>
              <a:rPr sz="1600" b="1" i="0">
                <a:solidFill>
                  <a:srgbClr val="FFFFFF"/>
                </a:solidFill>
              </a:rPr>
              <a:t>Reply or Book a 15-Min Call</a:t>
            </a:r>
          </a:p>
        </p:txBody>
      </p:sp>
      <p:sp>
        <p:nvSpPr>
          <p:cNvPr id="11" name="TextBox 10"/>
          <p:cNvSpPr txBox="1"/>
          <p:nvPr/>
        </p:nvSpPr>
        <p:spPr>
          <a:xfrm>
            <a:off x="1554480" y="2377440"/>
            <a:ext cx="9601200" cy="502920"/>
          </a:xfrm>
          <a:prstGeom prst="rect">
            <a:avLst/>
          </a:prstGeom>
          <a:noFill/>
        </p:spPr>
        <p:txBody>
          <a:bodyPr wrap="square">
            <a:spAutoFit/>
          </a:bodyPr>
          <a:lstStyle/>
          <a:p>
            <a:pPr algn="l"/>
            <a:r>
              <a:rPr sz="1250" b="0" i="0">
                <a:solidFill>
                  <a:srgbClr val="C8D4EE"/>
                </a:solidFill>
              </a:rPr>
              <a:t>No pitch. No commitment. We walk you through exactly what we found in the audit and what a fixed, automated version of the site looks like for TwoWordsAway specifically.</a:t>
            </a:r>
          </a:p>
        </p:txBody>
      </p:sp>
      <p:sp>
        <p:nvSpPr>
          <p:cNvPr id="12" name="Rectangle 11"/>
          <p:cNvSpPr/>
          <p:nvPr/>
        </p:nvSpPr>
        <p:spPr>
          <a:xfrm>
            <a:off x="502920" y="32004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200400"/>
            <a:ext cx="914400" cy="118872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83280"/>
            <a:ext cx="914400" cy="640080"/>
          </a:xfrm>
          <a:prstGeom prst="rect">
            <a:avLst/>
          </a:prstGeom>
          <a:noFill/>
        </p:spPr>
        <p:txBody>
          <a:bodyPr wrap="square">
            <a:spAutoFit/>
          </a:bodyPr>
          <a:lstStyle/>
          <a:p>
            <a:pPr algn="ctr"/>
            <a:r>
              <a:rPr sz="3600" b="1" i="0">
                <a:solidFill>
                  <a:srgbClr val="06091F"/>
                </a:solidFill>
              </a:rPr>
              <a:t>2</a:t>
            </a:r>
          </a:p>
        </p:txBody>
      </p:sp>
      <p:sp>
        <p:nvSpPr>
          <p:cNvPr id="15" name="TextBox 14"/>
          <p:cNvSpPr txBox="1"/>
          <p:nvPr/>
        </p:nvSpPr>
        <p:spPr>
          <a:xfrm>
            <a:off x="1554480" y="3337560"/>
            <a:ext cx="9144000" cy="411480"/>
          </a:xfrm>
          <a:prstGeom prst="rect">
            <a:avLst/>
          </a:prstGeom>
          <a:noFill/>
        </p:spPr>
        <p:txBody>
          <a:bodyPr wrap="square">
            <a:spAutoFit/>
          </a:bodyPr>
          <a:lstStyle/>
          <a:p>
            <a:pPr algn="l"/>
            <a:r>
              <a:rPr sz="1600" b="1" i="0">
                <a:solidFill>
                  <a:srgbClr val="FFFFFF"/>
                </a:solidFill>
              </a:rPr>
              <a:t>Free Automation Demo</a:t>
            </a:r>
          </a:p>
        </p:txBody>
      </p:sp>
      <p:sp>
        <p:nvSpPr>
          <p:cNvPr id="16" name="TextBox 15"/>
          <p:cNvSpPr txBox="1"/>
          <p:nvPr/>
        </p:nvSpPr>
        <p:spPr>
          <a:xfrm>
            <a:off x="1554480" y="3749040"/>
            <a:ext cx="9601200" cy="502920"/>
          </a:xfrm>
          <a:prstGeom prst="rect">
            <a:avLst/>
          </a:prstGeom>
          <a:noFill/>
        </p:spPr>
        <p:txBody>
          <a:bodyPr wrap="square">
            <a:spAutoFit/>
          </a:bodyPr>
          <a:lstStyle/>
          <a:p>
            <a:pPr algn="l"/>
            <a:r>
              <a:rPr sz="1250" b="0" i="0">
                <a:solidFill>
                  <a:srgbClr val="C8D4EE"/>
                </a:solidFill>
              </a:rPr>
              <a:t>We run a live WhatsApp agent demo using your actual event flow — signup, seat alert, and post-event follow-up — so you can see exactly what your attendees would experience.</a:t>
            </a:r>
          </a:p>
        </p:txBody>
      </p:sp>
      <p:sp>
        <p:nvSpPr>
          <p:cNvPr id="17" name="Rectangle 16"/>
          <p:cNvSpPr/>
          <p:nvPr/>
        </p:nvSpPr>
        <p:spPr>
          <a:xfrm>
            <a:off x="502920" y="45720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572000"/>
            <a:ext cx="914400" cy="118872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754880"/>
            <a:ext cx="914400" cy="640080"/>
          </a:xfrm>
          <a:prstGeom prst="rect">
            <a:avLst/>
          </a:prstGeom>
          <a:noFill/>
        </p:spPr>
        <p:txBody>
          <a:bodyPr wrap="square">
            <a:spAutoFit/>
          </a:bodyPr>
          <a:lstStyle/>
          <a:p>
            <a:pPr algn="ctr"/>
            <a:r>
              <a:rPr sz="3600" b="1" i="0">
                <a:solidFill>
                  <a:srgbClr val="06091F"/>
                </a:solidFill>
              </a:rPr>
              <a:t>3</a:t>
            </a:r>
          </a:p>
        </p:txBody>
      </p:sp>
      <p:sp>
        <p:nvSpPr>
          <p:cNvPr id="20" name="TextBox 19"/>
          <p:cNvSpPr txBox="1"/>
          <p:nvPr/>
        </p:nvSpPr>
        <p:spPr>
          <a:xfrm>
            <a:off x="1554480" y="4709160"/>
            <a:ext cx="9144000" cy="411480"/>
          </a:xfrm>
          <a:prstGeom prst="rect">
            <a:avLst/>
          </a:prstGeom>
          <a:noFill/>
        </p:spPr>
        <p:txBody>
          <a:bodyPr wrap="square">
            <a:spAutoFit/>
          </a:bodyPr>
          <a:lstStyle/>
          <a:p>
            <a:pPr algn="l"/>
            <a:r>
              <a:rPr sz="1600" b="1" i="0">
                <a:solidFill>
                  <a:srgbClr val="FFFFFF"/>
                </a:solidFill>
              </a:rPr>
              <a:t>Custom Build Roadmap</a:t>
            </a:r>
          </a:p>
        </p:txBody>
      </p:sp>
      <p:sp>
        <p:nvSpPr>
          <p:cNvPr id="21" name="TextBox 20"/>
          <p:cNvSpPr txBox="1"/>
          <p:nvPr/>
        </p:nvSpPr>
        <p:spPr>
          <a:xfrm>
            <a:off x="1554480" y="5120640"/>
            <a:ext cx="9601200" cy="502920"/>
          </a:xfrm>
          <a:prstGeom prst="rect">
            <a:avLst/>
          </a:prstGeom>
          <a:noFill/>
        </p:spPr>
        <p:txBody>
          <a:bodyPr wrap="square">
            <a:spAutoFit/>
          </a:bodyPr>
          <a:lstStyle/>
          <a:p>
            <a:pPr algn="l"/>
            <a:r>
              <a:rPr sz="1250" b="0" i="0">
                <a:solidFill>
                  <a:srgbClr val="C8D4EE"/>
                </a:solidFill>
              </a:rPr>
              <a:t>We deliver a bespoke implementation plan: which pages to fix first, which automation flows to launch, in what order, and a clear timeline from kickoff to first live WhatsApp message.</a:t>
            </a:r>
          </a:p>
        </p:txBody>
      </p:sp>
      <p:sp>
        <p:nvSpPr>
          <p:cNvPr id="22" name="Rectangle 21"/>
          <p:cNvSpPr/>
          <p:nvPr/>
        </p:nvSpPr>
        <p:spPr>
          <a:xfrm>
            <a:off x="0" y="5943600"/>
            <a:ext cx="12188952" cy="9144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035040"/>
            <a:ext cx="11183112" cy="502920"/>
          </a:xfrm>
          <a:prstGeom prst="rect">
            <a:avLst/>
          </a:prstGeom>
          <a:noFill/>
        </p:spPr>
        <p:txBody>
          <a:bodyPr wrap="square">
            <a:spAutoFit/>
          </a:bodyPr>
          <a:lstStyle/>
          <a:p>
            <a:pPr algn="ctr"/>
            <a:r>
              <a:rPr sz="1400" b="1" i="0">
                <a:solidFill>
                  <a:srgbClr val="FFFFFF"/>
                </a:solidFill>
              </a:rPr>
              <a:t>Rohan Malik  ·  CEO, Genos AI  ·  hello@genosai.tech  ·  +91 638-714-2699  ·  www.genosai.tech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