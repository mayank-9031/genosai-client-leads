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Rectangle 1"/>
          <p:cNvSpPr/>
          <p:nvPr/>
        </p:nvSpPr>
        <p:spPr>
          <a:xfrm>
            <a:off x="0" y="0"/>
            <a:ext cx="12188952" cy="3810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914400"/>
            <a:ext cx="5486400" cy="320040"/>
          </a:xfrm>
          <a:prstGeom prst="rect">
            <a:avLst/>
          </a:prstGeom>
          <a:noFill/>
        </p:spPr>
        <p:txBody>
          <a:bodyPr wrap="square">
            <a:spAutoFit/>
          </a:bodyPr>
          <a:lstStyle/>
          <a:p>
            <a:pPr algn="l"/>
            <a:r>
              <a:rPr sz="1000" b="1" i="0">
                <a:solidFill>
                  <a:srgbClr val="6B6B6E"/>
                </a:solidFill>
                <a:latin typeface="Satoshi"/>
              </a:rPr>
              <a:t>PREPARED FOR</a:t>
            </a:r>
          </a:p>
        </p:txBody>
      </p:sp>
      <p:sp>
        <p:nvSpPr>
          <p:cNvPr id="4" name="Rectangle 3"/>
          <p:cNvSpPr/>
          <p:nvPr/>
        </p:nvSpPr>
        <p:spPr>
          <a:xfrm>
            <a:off x="685800" y="1298448"/>
            <a:ext cx="5943600" cy="9525"/>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463040"/>
            <a:ext cx="8686800" cy="1463040"/>
          </a:xfrm>
          <a:prstGeom prst="rect">
            <a:avLst/>
          </a:prstGeom>
          <a:noFill/>
        </p:spPr>
        <p:txBody>
          <a:bodyPr wrap="square">
            <a:spAutoFit/>
          </a:bodyPr>
          <a:lstStyle/>
          <a:p>
            <a:pPr algn="l"/>
            <a:r>
              <a:rPr sz="5400" b="0" i="0">
                <a:solidFill>
                  <a:srgbClr val="FFFFFF"/>
                </a:solidFill>
                <a:latin typeface="Instrument Serif"/>
              </a:rPr>
              <a:t>Education Outcomes Fund</a:t>
            </a:r>
          </a:p>
        </p:txBody>
      </p:sp>
      <p:sp>
        <p:nvSpPr>
          <p:cNvPr id="6" name="TextBox 5"/>
          <p:cNvSpPr txBox="1"/>
          <p:nvPr/>
        </p:nvSpPr>
        <p:spPr>
          <a:xfrm>
            <a:off x="685800" y="2834640"/>
            <a:ext cx="7315200" cy="292608"/>
          </a:xfrm>
          <a:prstGeom prst="rect">
            <a:avLst/>
          </a:prstGeom>
          <a:noFill/>
        </p:spPr>
        <p:txBody>
          <a:bodyPr wrap="square">
            <a:spAutoFit/>
          </a:bodyPr>
          <a:lstStyle/>
          <a:p>
            <a:pPr algn="l"/>
            <a:r>
              <a:rPr sz="1200" b="0" i="0">
                <a:solidFill>
                  <a:srgbClr val="9D9D9F"/>
                </a:solidFill>
                <a:latin typeface="Satoshi"/>
              </a:rPr>
              <a:t>Outcomes-Based Education Financing  .  Sierra Leone  .  Nigeria  .  Rwanda  .  South Africa  .  Tunisia</a:t>
            </a:r>
          </a:p>
        </p:txBody>
      </p:sp>
      <p:sp>
        <p:nvSpPr>
          <p:cNvPr id="7" name="TextBox 6"/>
          <p:cNvSpPr txBox="1"/>
          <p:nvPr/>
        </p:nvSpPr>
        <p:spPr>
          <a:xfrm>
            <a:off x="685800" y="3246120"/>
            <a:ext cx="5486400" cy="256032"/>
          </a:xfrm>
          <a:prstGeom prst="rect">
            <a:avLst/>
          </a:prstGeom>
          <a:noFill/>
        </p:spPr>
        <p:txBody>
          <a:bodyPr wrap="square">
            <a:spAutoFit/>
          </a:bodyPr>
          <a:lstStyle/>
          <a:p>
            <a:pPr algn="l"/>
            <a:r>
              <a:rPr sz="1100" b="0" i="0">
                <a:solidFill>
                  <a:srgbClr val="6B6B6E"/>
                </a:solidFill>
                <a:latin typeface="Satoshi"/>
              </a:rPr>
              <a:t>London, UK  .  Hosted by UNICEF  .  Founded 2018</a:t>
            </a:r>
          </a:p>
        </p:txBody>
      </p:sp>
      <p:sp>
        <p:nvSpPr>
          <p:cNvPr id="8" name="Rectangle 7"/>
          <p:cNvSpPr/>
          <p:nvPr/>
        </p:nvSpPr>
        <p:spPr>
          <a:xfrm>
            <a:off x="685800" y="3657600"/>
            <a:ext cx="5943600" cy="9525"/>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3840480"/>
            <a:ext cx="6858000" cy="256032"/>
          </a:xfrm>
          <a:prstGeom prst="rect">
            <a:avLst/>
          </a:prstGeom>
          <a:noFill/>
        </p:spPr>
        <p:txBody>
          <a:bodyPr wrap="square">
            <a:spAutoFit/>
          </a:bodyPr>
          <a:lstStyle/>
          <a:p>
            <a:pPr algn="l"/>
            <a:r>
              <a:rPr sz="1000" b="1" i="0">
                <a:solidFill>
                  <a:srgbClr val="A78BFA"/>
                </a:solidFill>
                <a:latin typeface="Satoshi"/>
              </a:rPr>
              <a:t>AI AUDIT &amp; AUTOMATION PROPOSAL</a:t>
            </a:r>
          </a:p>
        </p:txBody>
      </p:sp>
      <p:sp>
        <p:nvSpPr>
          <p:cNvPr id="10" name="TextBox 9"/>
          <p:cNvSpPr txBox="1"/>
          <p:nvPr/>
        </p:nvSpPr>
        <p:spPr>
          <a:xfrm>
            <a:off x="685800" y="4206240"/>
            <a:ext cx="5943600" cy="1280160"/>
          </a:xfrm>
          <a:prstGeom prst="rect">
            <a:avLst/>
          </a:prstGeom>
          <a:noFill/>
        </p:spPr>
        <p:txBody>
          <a:bodyPr wrap="square">
            <a:spAutoFit/>
          </a:bodyPr>
          <a:lstStyle/>
          <a:p>
            <a:pPr algn="l"/>
            <a:r>
              <a:rPr sz="1300" b="0">
                <a:solidFill>
                  <a:srgbClr val="86868A"/>
                </a:solidFill>
                <a:latin typeface="Satoshi"/>
              </a:rPr>
              <a:t>An AI automation blueprint for EOF's operational layer --</a:t>
            </a:r>
          </a:p>
          <a:p>
            <a:pPr algn="l"/>
            <a:r>
              <a:rPr sz="1300" b="0">
                <a:solidFill>
                  <a:srgbClr val="86868A"/>
                </a:solidFill>
                <a:latin typeface="Satoshi"/>
              </a:rPr>
              <a:t>from partner intake and donor reporting</a:t>
            </a:r>
          </a:p>
          <a:p>
            <a:pPr algn="l"/>
            <a:r>
              <a:rPr sz="1300" b="0">
                <a:solidFill>
                  <a:srgbClr val="86868A"/>
                </a:solidFill>
                <a:latin typeface="Satoshi"/>
              </a:rPr>
              <a:t>to knowledge management and country team coordination,</a:t>
            </a:r>
          </a:p>
          <a:p>
            <a:pPr algn="l"/>
            <a:r>
              <a:rPr sz="1300" b="0">
                <a:solidFill>
                  <a:srgbClr val="86868A"/>
                </a:solidFill>
                <a:latin typeface="Satoshi"/>
              </a:rPr>
              <a:t>built to scale impact without scaling headcount.</a:t>
            </a:r>
          </a:p>
        </p:txBody>
      </p:sp>
      <p:sp>
        <p:nvSpPr>
          <p:cNvPr id="11" name="Rounded Rectangle 10"/>
          <p:cNvSpPr/>
          <p:nvPr/>
        </p:nvSpPr>
        <p:spPr>
          <a:xfrm>
            <a:off x="8503920" y="1097280"/>
            <a:ext cx="2999232" cy="228600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32520" y="1371600"/>
            <a:ext cx="2560320" cy="256032"/>
          </a:xfrm>
          <a:prstGeom prst="rect">
            <a:avLst/>
          </a:prstGeom>
          <a:noFill/>
        </p:spPr>
        <p:txBody>
          <a:bodyPr wrap="square">
            <a:spAutoFit/>
          </a:bodyPr>
          <a:lstStyle/>
          <a:p>
            <a:pPr algn="l"/>
            <a:r>
              <a:rPr sz="900" b="1" i="0">
                <a:solidFill>
                  <a:srgbClr val="6B6B6E"/>
                </a:solidFill>
                <a:latin typeface="Satoshi"/>
              </a:rPr>
              <a:t>PREPARED BY</a:t>
            </a:r>
          </a:p>
        </p:txBody>
      </p:sp>
      <p:sp>
        <p:nvSpPr>
          <p:cNvPr id="13" name="TextBox 12"/>
          <p:cNvSpPr txBox="1"/>
          <p:nvPr/>
        </p:nvSpPr>
        <p:spPr>
          <a:xfrm>
            <a:off x="8732520" y="1719072"/>
            <a:ext cx="2560320" cy="292608"/>
          </a:xfrm>
          <a:prstGeom prst="rect">
            <a:avLst/>
          </a:prstGeom>
          <a:noFill/>
        </p:spPr>
        <p:txBody>
          <a:bodyPr wrap="square">
            <a:spAutoFit/>
          </a:bodyPr>
          <a:lstStyle/>
          <a:p>
            <a:pPr algn="l"/>
            <a:r>
              <a:rPr sz="2000" b="0" i="0">
                <a:solidFill>
                  <a:srgbClr val="FFFFFF"/>
                </a:solidFill>
                <a:latin typeface="Instrument Serif"/>
              </a:rPr>
              <a:t>GenosAI Tech</a:t>
            </a:r>
          </a:p>
        </p:txBody>
      </p:sp>
      <p:sp>
        <p:nvSpPr>
          <p:cNvPr id="14" name="TextBox 13"/>
          <p:cNvSpPr txBox="1"/>
          <p:nvPr/>
        </p:nvSpPr>
        <p:spPr>
          <a:xfrm>
            <a:off x="8732520" y="2103120"/>
            <a:ext cx="2560320" cy="237744"/>
          </a:xfrm>
          <a:prstGeom prst="rect">
            <a:avLst/>
          </a:prstGeom>
          <a:noFill/>
        </p:spPr>
        <p:txBody>
          <a:bodyPr wrap="square">
            <a:spAutoFit/>
          </a:bodyPr>
          <a:lstStyle/>
          <a:p>
            <a:pPr algn="l"/>
            <a:r>
              <a:rPr sz="1100" b="0" i="0">
                <a:solidFill>
                  <a:srgbClr val="9D9D9F"/>
                </a:solidFill>
                <a:latin typeface="Satoshi"/>
              </a:rPr>
              <a:t>Rohan Malik  .  Founder &amp; CEO</a:t>
            </a:r>
          </a:p>
        </p:txBody>
      </p:sp>
      <p:sp>
        <p:nvSpPr>
          <p:cNvPr id="15" name="TextBox 14"/>
          <p:cNvSpPr txBox="1"/>
          <p:nvPr/>
        </p:nvSpPr>
        <p:spPr>
          <a:xfrm>
            <a:off x="8732520" y="2423160"/>
            <a:ext cx="2560320" cy="237744"/>
          </a:xfrm>
          <a:prstGeom prst="rect">
            <a:avLst/>
          </a:prstGeom>
          <a:noFill/>
        </p:spPr>
        <p:txBody>
          <a:bodyPr wrap="square">
            <a:spAutoFit/>
          </a:bodyPr>
          <a:lstStyle/>
          <a:p>
            <a:pPr algn="l"/>
            <a:r>
              <a:rPr sz="1000" b="0" i="0">
                <a:solidFill>
                  <a:srgbClr val="6B6B6E"/>
                </a:solidFill>
                <a:latin typeface="Satoshi"/>
              </a:rPr>
              <a:t>hello@genosai.tech  .  www.genosai.tech</a:t>
            </a:r>
          </a:p>
        </p:txBody>
      </p:sp>
      <p:sp>
        <p:nvSpPr>
          <p:cNvPr id="16" name="TextBox 15"/>
          <p:cNvSpPr txBox="1"/>
          <p:nvPr/>
        </p:nvSpPr>
        <p:spPr>
          <a:xfrm>
            <a:off x="685800" y="6263640"/>
            <a:ext cx="3657600" cy="411480"/>
          </a:xfrm>
          <a:prstGeom prst="rect">
            <a:avLst/>
          </a:prstGeom>
          <a:noFill/>
        </p:spPr>
        <p:txBody>
          <a:bodyPr wrap="square">
            <a:spAutoFit/>
          </a:bodyPr>
          <a:lstStyle/>
          <a:p>
            <a:pPr algn="l"/>
            <a:r>
              <a:rPr sz="2200" b="0" i="0">
                <a:solidFill>
                  <a:srgbClr val="FFFFFF"/>
                </a:solidFill>
                <a:latin typeface="Instrument Serif"/>
              </a:rPr>
              <a:t>GenosAI</a:t>
            </a:r>
          </a:p>
        </p:txBody>
      </p:sp>
      <p:sp>
        <p:nvSpPr>
          <p:cNvPr id="17" name="TextBox 16"/>
          <p:cNvSpPr txBox="1"/>
          <p:nvPr/>
        </p:nvSpPr>
        <p:spPr>
          <a:xfrm>
            <a:off x="2194560" y="6291072"/>
            <a:ext cx="2743200" cy="274320"/>
          </a:xfrm>
          <a:prstGeom prst="rect">
            <a:avLst/>
          </a:prstGeom>
          <a:noFill/>
        </p:spPr>
        <p:txBody>
          <a:bodyPr wrap="square">
            <a:spAutoFit/>
          </a:bodyPr>
          <a:lstStyle/>
          <a:p>
            <a:pPr algn="l"/>
            <a:r>
              <a:rPr sz="900" b="0" i="0">
                <a:solidFill>
                  <a:srgbClr val="444447"/>
                </a:solidFill>
                <a:latin typeface="Satoshi"/>
              </a:rPr>
              <a:t>v1.0  .  2026  .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TextBox 1"/>
          <p:cNvSpPr txBox="1"/>
          <p:nvPr/>
        </p:nvSpPr>
        <p:spPr>
          <a:xfrm>
            <a:off x="685800" y="201168"/>
            <a:ext cx="5486400" cy="256032"/>
          </a:xfrm>
          <a:prstGeom prst="rect">
            <a:avLst/>
          </a:prstGeom>
          <a:noFill/>
        </p:spPr>
        <p:txBody>
          <a:bodyPr wrap="square">
            <a:spAutoFit/>
          </a:bodyPr>
          <a:lstStyle/>
          <a:p>
            <a:pPr algn="l"/>
            <a:r>
              <a:rPr sz="900" b="1" i="0">
                <a:solidFill>
                  <a:srgbClr val="6B6B6E"/>
                </a:solidFill>
                <a:latin typeface="Satoshi"/>
              </a:rPr>
              <a:t>GENOSAI  x  EDUCATION OUTCOMES FUND</a:t>
            </a:r>
          </a:p>
        </p:txBody>
      </p:sp>
      <p:sp>
        <p:nvSpPr>
          <p:cNvPr id="3" name="TextBox 2"/>
          <p:cNvSpPr txBox="1"/>
          <p:nvPr/>
        </p:nvSpPr>
        <p:spPr>
          <a:xfrm>
            <a:off x="6858000" y="201168"/>
            <a:ext cx="4645152" cy="256032"/>
          </a:xfrm>
          <a:prstGeom prst="rect">
            <a:avLst/>
          </a:prstGeom>
          <a:noFill/>
        </p:spPr>
        <p:txBody>
          <a:bodyPr wrap="square">
            <a:spAutoFit/>
          </a:bodyPr>
          <a:lstStyle/>
          <a:p>
            <a:pPr algn="r"/>
            <a:r>
              <a:rPr sz="900" b="1" i="0">
                <a:solidFill>
                  <a:srgbClr val="6B6B6E"/>
                </a:solidFill>
                <a:latin typeface="Satoshi"/>
              </a:rPr>
              <a:t>01  .  WEBSITE AUDIT</a:t>
            </a:r>
          </a:p>
        </p:txBody>
      </p:sp>
      <p:sp>
        <p:nvSpPr>
          <p:cNvPr id="4" name="Rectangle 3"/>
          <p:cNvSpPr/>
          <p:nvPr/>
        </p:nvSpPr>
        <p:spPr>
          <a:xfrm>
            <a:off x="685800" y="530352"/>
            <a:ext cx="10817352" cy="9525"/>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473952"/>
            <a:ext cx="7315200" cy="256032"/>
          </a:xfrm>
          <a:prstGeom prst="rect">
            <a:avLst/>
          </a:prstGeom>
          <a:noFill/>
        </p:spPr>
        <p:txBody>
          <a:bodyPr wrap="square">
            <a:spAutoFit/>
          </a:bodyPr>
          <a:lstStyle/>
          <a:p>
            <a:pPr algn="l"/>
            <a:r>
              <a:rPr sz="800" b="0" i="0">
                <a:solidFill>
                  <a:srgbClr val="444447"/>
                </a:solidFill>
                <a:latin typeface="Satoshi"/>
              </a:rPr>
              <a:t>AI Audit &amp; Automation Proposal  .  Education Outcomes Fund  .  2026</a:t>
            </a:r>
          </a:p>
        </p:txBody>
      </p:sp>
      <p:sp>
        <p:nvSpPr>
          <p:cNvPr id="6" name="TextBox 5"/>
          <p:cNvSpPr txBox="1"/>
          <p:nvPr/>
        </p:nvSpPr>
        <p:spPr>
          <a:xfrm>
            <a:off x="8686800" y="6473952"/>
            <a:ext cx="2816352" cy="256032"/>
          </a:xfrm>
          <a:prstGeom prst="rect">
            <a:avLst/>
          </a:prstGeom>
          <a:noFill/>
        </p:spPr>
        <p:txBody>
          <a:bodyPr wrap="square">
            <a:spAutoFit/>
          </a:bodyPr>
          <a:lstStyle/>
          <a:p>
            <a:pPr algn="r"/>
            <a:r>
              <a:rPr sz="800" b="0" i="0">
                <a:solidFill>
                  <a:srgbClr val="444447"/>
                </a:solidFill>
                <a:latin typeface="Satoshi"/>
              </a:rPr>
              <a:t>02 / 12</a:t>
            </a:r>
          </a:p>
        </p:txBody>
      </p:sp>
      <p:sp>
        <p:nvSpPr>
          <p:cNvPr id="7" name="TextBox 6"/>
          <p:cNvSpPr txBox="1"/>
          <p:nvPr/>
        </p:nvSpPr>
        <p:spPr>
          <a:xfrm>
            <a:off x="685800" y="777240"/>
            <a:ext cx="5486400" cy="274320"/>
          </a:xfrm>
          <a:prstGeom prst="rect">
            <a:avLst/>
          </a:prstGeom>
          <a:noFill/>
        </p:spPr>
        <p:txBody>
          <a:bodyPr wrap="square">
            <a:spAutoFit/>
          </a:bodyPr>
          <a:lstStyle/>
          <a:p>
            <a:pPr algn="l"/>
            <a:r>
              <a:rPr sz="1000" b="1" i="0">
                <a:solidFill>
                  <a:srgbClr val="A78BFA"/>
                </a:solidFill>
                <a:latin typeface="Satoshi"/>
              </a:rPr>
              <a:t>WEBSITE AUDIT  --  EDUCATIONOUTCOMESFUND.ORG</a:t>
            </a:r>
          </a:p>
        </p:txBody>
      </p:sp>
      <p:sp>
        <p:nvSpPr>
          <p:cNvPr id="8" name="TextBox 7"/>
          <p:cNvSpPr txBox="1"/>
          <p:nvPr/>
        </p:nvSpPr>
        <p:spPr>
          <a:xfrm>
            <a:off x="685800" y="1078992"/>
            <a:ext cx="9144000" cy="1463040"/>
          </a:xfrm>
          <a:prstGeom prst="rect">
            <a:avLst/>
          </a:prstGeom>
          <a:noFill/>
        </p:spPr>
        <p:txBody>
          <a:bodyPr wrap="square">
            <a:spAutoFit/>
          </a:bodyPr>
          <a:lstStyle/>
          <a:p>
            <a:pPr algn="l"/>
            <a:r>
              <a:rPr sz="3400" b="0" i="0">
                <a:solidFill>
                  <a:srgbClr val="FFFFFF"/>
                </a:solidFill>
                <a:latin typeface="Instrument Serif"/>
              </a:rPr>
              <a:t>Website Score: 4 / 10  --  Critical Gaps</a:t>
            </a:r>
          </a:p>
        </p:txBody>
      </p:sp>
      <p:sp>
        <p:nvSpPr>
          <p:cNvPr id="9" name="TextBox 8"/>
          <p:cNvSpPr txBox="1"/>
          <p:nvPr/>
        </p:nvSpPr>
        <p:spPr>
          <a:xfrm>
            <a:off x="685800" y="2011680"/>
            <a:ext cx="8229600" cy="347472"/>
          </a:xfrm>
          <a:prstGeom prst="rect">
            <a:avLst/>
          </a:prstGeom>
          <a:noFill/>
        </p:spPr>
        <p:txBody>
          <a:bodyPr wrap="square">
            <a:spAutoFit/>
          </a:bodyPr>
          <a:lstStyle/>
          <a:p>
            <a:pPr algn="l"/>
            <a:r>
              <a:rPr sz="1300" b="0" i="0">
                <a:solidFill>
                  <a:srgbClr val="86868A"/>
                </a:solidFill>
                <a:latin typeface="Satoshi"/>
              </a:rPr>
              <a:t>EOF's website presents the mission clearly -- but the operational layer is absent. Inbound partner proposals, donor enquiries, and implementer applications all route through a single generic form with no triage, no automation, and no follow-up.</a:t>
            </a:r>
          </a:p>
        </p:txBody>
      </p:sp>
      <p:sp>
        <p:nvSpPr>
          <p:cNvPr id="10" name="Rounded Rectangle 9"/>
          <p:cNvSpPr/>
          <p:nvPr/>
        </p:nvSpPr>
        <p:spPr>
          <a:xfrm>
            <a:off x="10607040" y="1097280"/>
            <a:ext cx="1005840" cy="1005840"/>
          </a:xfrm>
          <a:prstGeom prst="round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07040" y="1243584"/>
            <a:ext cx="1005840" cy="411480"/>
          </a:xfrm>
          <a:prstGeom prst="rect">
            <a:avLst/>
          </a:prstGeom>
          <a:noFill/>
        </p:spPr>
        <p:txBody>
          <a:bodyPr wrap="square">
            <a:spAutoFit/>
          </a:bodyPr>
          <a:lstStyle/>
          <a:p>
            <a:pPr algn="ctr"/>
            <a:r>
              <a:rPr sz="2200" b="0" i="0">
                <a:solidFill>
                  <a:srgbClr val="0A0A0F"/>
                </a:solidFill>
                <a:latin typeface="Instrument Serif"/>
              </a:rPr>
              <a:t>4/10</a:t>
            </a:r>
          </a:p>
        </p:txBody>
      </p:sp>
      <p:sp>
        <p:nvSpPr>
          <p:cNvPr id="12" name="TextBox 11"/>
          <p:cNvSpPr txBox="1"/>
          <p:nvPr/>
        </p:nvSpPr>
        <p:spPr>
          <a:xfrm>
            <a:off x="10607040" y="1664208"/>
            <a:ext cx="1005840" cy="256032"/>
          </a:xfrm>
          <a:prstGeom prst="rect">
            <a:avLst/>
          </a:prstGeom>
          <a:noFill/>
        </p:spPr>
        <p:txBody>
          <a:bodyPr wrap="square">
            <a:spAutoFit/>
          </a:bodyPr>
          <a:lstStyle/>
          <a:p>
            <a:pPr algn="ctr"/>
            <a:r>
              <a:rPr sz="800" b="1" i="0">
                <a:solidFill>
                  <a:srgbClr val="0A0A0F"/>
                </a:solidFill>
                <a:latin typeface="Satoshi"/>
              </a:rPr>
              <a:t>SCORE</a:t>
            </a:r>
          </a:p>
        </p:txBody>
      </p:sp>
      <p:sp>
        <p:nvSpPr>
          <p:cNvPr id="13" name="Rectangle 12"/>
          <p:cNvSpPr/>
          <p:nvPr/>
        </p:nvSpPr>
        <p:spPr>
          <a:xfrm>
            <a:off x="685800" y="2487168"/>
            <a:ext cx="10817352" cy="9525"/>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85800" y="2697480"/>
            <a:ext cx="5257800" cy="82296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2770632"/>
            <a:ext cx="320040" cy="274320"/>
          </a:xfrm>
          <a:prstGeom prst="rect">
            <a:avLst/>
          </a:prstGeom>
          <a:noFill/>
        </p:spPr>
        <p:txBody>
          <a:bodyPr wrap="square">
            <a:spAutoFit/>
          </a:bodyPr>
          <a:lstStyle/>
          <a:p>
            <a:pPr algn="l"/>
            <a:r>
              <a:rPr sz="1300" b="1" i="0">
                <a:solidFill>
                  <a:srgbClr val="F87171"/>
                </a:solidFill>
                <a:latin typeface="Satoshi"/>
              </a:rPr>
              <a:t>!</a:t>
            </a:r>
          </a:p>
        </p:txBody>
      </p:sp>
      <p:sp>
        <p:nvSpPr>
          <p:cNvPr id="16" name="TextBox 15"/>
          <p:cNvSpPr txBox="1"/>
          <p:nvPr/>
        </p:nvSpPr>
        <p:spPr>
          <a:xfrm>
            <a:off x="1234440" y="2761488"/>
            <a:ext cx="4480560" cy="274320"/>
          </a:xfrm>
          <a:prstGeom prst="rect">
            <a:avLst/>
          </a:prstGeom>
          <a:noFill/>
        </p:spPr>
        <p:txBody>
          <a:bodyPr wrap="square">
            <a:spAutoFit/>
          </a:bodyPr>
          <a:lstStyle/>
          <a:p>
            <a:pPr algn="l"/>
            <a:r>
              <a:rPr sz="1200" b="1" i="0">
                <a:solidFill>
                  <a:srgbClr val="FFFFFF"/>
                </a:solidFill>
                <a:latin typeface="Satoshi"/>
              </a:rPr>
              <a:t>No partner intake automation</a:t>
            </a:r>
          </a:p>
        </p:txBody>
      </p:sp>
      <p:sp>
        <p:nvSpPr>
          <p:cNvPr id="17" name="TextBox 16"/>
          <p:cNvSpPr txBox="1"/>
          <p:nvPr/>
        </p:nvSpPr>
        <p:spPr>
          <a:xfrm>
            <a:off x="1234440" y="3063240"/>
            <a:ext cx="4480560" cy="384048"/>
          </a:xfrm>
          <a:prstGeom prst="rect">
            <a:avLst/>
          </a:prstGeom>
          <a:noFill/>
        </p:spPr>
        <p:txBody>
          <a:bodyPr wrap="square">
            <a:spAutoFit/>
          </a:bodyPr>
          <a:lstStyle/>
          <a:p>
            <a:pPr algn="l"/>
            <a:r>
              <a:rPr sz="1000" b="0" i="0">
                <a:solidFill>
                  <a:srgbClr val="9D9D9F"/>
                </a:solidFill>
                <a:latin typeface="Satoshi"/>
              </a:rPr>
              <a:t>Implementer and investor proposals arrive via a generic Google Form. No triage, no scoring, no routing -- every submission handled manually.</a:t>
            </a:r>
          </a:p>
        </p:txBody>
      </p:sp>
      <p:sp>
        <p:nvSpPr>
          <p:cNvPr id="18" name="Rounded Rectangle 17"/>
          <p:cNvSpPr/>
          <p:nvPr/>
        </p:nvSpPr>
        <p:spPr>
          <a:xfrm>
            <a:off x="685800" y="3630168"/>
            <a:ext cx="5257800" cy="82296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3703320"/>
            <a:ext cx="320040" cy="274320"/>
          </a:xfrm>
          <a:prstGeom prst="rect">
            <a:avLst/>
          </a:prstGeom>
          <a:noFill/>
        </p:spPr>
        <p:txBody>
          <a:bodyPr wrap="square">
            <a:spAutoFit/>
          </a:bodyPr>
          <a:lstStyle/>
          <a:p>
            <a:pPr algn="l"/>
            <a:r>
              <a:rPr sz="1300" b="1" i="0">
                <a:solidFill>
                  <a:srgbClr val="F87171"/>
                </a:solidFill>
                <a:latin typeface="Satoshi"/>
              </a:rPr>
              <a:t>!</a:t>
            </a:r>
          </a:p>
        </p:txBody>
      </p:sp>
      <p:sp>
        <p:nvSpPr>
          <p:cNvPr id="20" name="TextBox 19"/>
          <p:cNvSpPr txBox="1"/>
          <p:nvPr/>
        </p:nvSpPr>
        <p:spPr>
          <a:xfrm>
            <a:off x="1234440" y="3694176"/>
            <a:ext cx="4480560" cy="274320"/>
          </a:xfrm>
          <a:prstGeom prst="rect">
            <a:avLst/>
          </a:prstGeom>
          <a:noFill/>
        </p:spPr>
        <p:txBody>
          <a:bodyPr wrap="square">
            <a:spAutoFit/>
          </a:bodyPr>
          <a:lstStyle/>
          <a:p>
            <a:pPr algn="l"/>
            <a:r>
              <a:rPr sz="1200" b="1" i="0">
                <a:solidFill>
                  <a:srgbClr val="FFFFFF"/>
                </a:solidFill>
                <a:latin typeface="Satoshi"/>
              </a:rPr>
              <a:t>No meeting booking system</a:t>
            </a:r>
          </a:p>
        </p:txBody>
      </p:sp>
      <p:sp>
        <p:nvSpPr>
          <p:cNvPr id="21" name="TextBox 20"/>
          <p:cNvSpPr txBox="1"/>
          <p:nvPr/>
        </p:nvSpPr>
        <p:spPr>
          <a:xfrm>
            <a:off x="1234440" y="3995928"/>
            <a:ext cx="4480560" cy="384048"/>
          </a:xfrm>
          <a:prstGeom prst="rect">
            <a:avLst/>
          </a:prstGeom>
          <a:noFill/>
        </p:spPr>
        <p:txBody>
          <a:bodyPr wrap="square">
            <a:spAutoFit/>
          </a:bodyPr>
          <a:lstStyle/>
          <a:p>
            <a:pPr algn="l"/>
            <a:r>
              <a:rPr sz="1000" b="0" i="0">
                <a:solidFill>
                  <a:srgbClr val="9D9D9F"/>
                </a:solidFill>
                <a:latin typeface="Satoshi"/>
              </a:rPr>
              <a:t>No Calendly or scheduling link for inbound donor, government, or partner calls. All contact routed through a single form, creating unnecessary back-and-forth.</a:t>
            </a:r>
          </a:p>
        </p:txBody>
      </p:sp>
      <p:sp>
        <p:nvSpPr>
          <p:cNvPr id="22" name="Rounded Rectangle 21"/>
          <p:cNvSpPr/>
          <p:nvPr/>
        </p:nvSpPr>
        <p:spPr>
          <a:xfrm>
            <a:off x="685800" y="4562856"/>
            <a:ext cx="5257800" cy="82296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4636008"/>
            <a:ext cx="320040" cy="274320"/>
          </a:xfrm>
          <a:prstGeom prst="rect">
            <a:avLst/>
          </a:prstGeom>
          <a:noFill/>
        </p:spPr>
        <p:txBody>
          <a:bodyPr wrap="square">
            <a:spAutoFit/>
          </a:bodyPr>
          <a:lstStyle/>
          <a:p>
            <a:pPr algn="l"/>
            <a:r>
              <a:rPr sz="1300" b="1" i="0">
                <a:solidFill>
                  <a:srgbClr val="F87171"/>
                </a:solidFill>
                <a:latin typeface="Satoshi"/>
              </a:rPr>
              <a:t>!</a:t>
            </a:r>
          </a:p>
        </p:txBody>
      </p:sp>
      <p:sp>
        <p:nvSpPr>
          <p:cNvPr id="24" name="TextBox 23"/>
          <p:cNvSpPr txBox="1"/>
          <p:nvPr/>
        </p:nvSpPr>
        <p:spPr>
          <a:xfrm>
            <a:off x="1234440" y="4626864"/>
            <a:ext cx="4480560" cy="274320"/>
          </a:xfrm>
          <a:prstGeom prst="rect">
            <a:avLst/>
          </a:prstGeom>
          <a:noFill/>
        </p:spPr>
        <p:txBody>
          <a:bodyPr wrap="square">
            <a:spAutoFit/>
          </a:bodyPr>
          <a:lstStyle/>
          <a:p>
            <a:pPr algn="l"/>
            <a:r>
              <a:rPr sz="1200" b="1" i="0">
                <a:solidFill>
                  <a:srgbClr val="FFFFFF"/>
                </a:solidFill>
                <a:latin typeface="Satoshi"/>
              </a:rPr>
              <a:t>No email automation or audience segmentation</a:t>
            </a:r>
          </a:p>
        </p:txBody>
      </p:sp>
      <p:sp>
        <p:nvSpPr>
          <p:cNvPr id="25" name="TextBox 24"/>
          <p:cNvSpPr txBox="1"/>
          <p:nvPr/>
        </p:nvSpPr>
        <p:spPr>
          <a:xfrm>
            <a:off x="1234440" y="4928616"/>
            <a:ext cx="4480560" cy="384048"/>
          </a:xfrm>
          <a:prstGeom prst="rect">
            <a:avLst/>
          </a:prstGeom>
          <a:noFill/>
        </p:spPr>
        <p:txBody>
          <a:bodyPr wrap="square">
            <a:spAutoFit/>
          </a:bodyPr>
          <a:lstStyle/>
          <a:p>
            <a:pPr algn="l"/>
            <a:r>
              <a:rPr sz="1000" b="0" i="0">
                <a:solidFill>
                  <a:srgbClr val="9D9D9F"/>
                </a:solidFill>
                <a:latin typeface="Satoshi"/>
              </a:rPr>
              <a:t>Newsletter exists but no visible segmentation. Government partners, donors, implementers, and researchers each need different content -- none is differentiated.</a:t>
            </a:r>
          </a:p>
        </p:txBody>
      </p:sp>
      <p:sp>
        <p:nvSpPr>
          <p:cNvPr id="26" name="Rounded Rectangle 25"/>
          <p:cNvSpPr/>
          <p:nvPr/>
        </p:nvSpPr>
        <p:spPr>
          <a:xfrm>
            <a:off x="6492240" y="2697480"/>
            <a:ext cx="5257800" cy="82296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75120" y="2770632"/>
            <a:ext cx="320040" cy="274320"/>
          </a:xfrm>
          <a:prstGeom prst="rect">
            <a:avLst/>
          </a:prstGeom>
          <a:noFill/>
        </p:spPr>
        <p:txBody>
          <a:bodyPr wrap="square">
            <a:spAutoFit/>
          </a:bodyPr>
          <a:lstStyle/>
          <a:p>
            <a:pPr algn="l"/>
            <a:r>
              <a:rPr sz="1300" b="1" i="0">
                <a:solidFill>
                  <a:srgbClr val="F87171"/>
                </a:solidFill>
                <a:latin typeface="Satoshi"/>
              </a:rPr>
              <a:t>!</a:t>
            </a:r>
          </a:p>
        </p:txBody>
      </p:sp>
      <p:sp>
        <p:nvSpPr>
          <p:cNvPr id="28" name="TextBox 27"/>
          <p:cNvSpPr txBox="1"/>
          <p:nvPr/>
        </p:nvSpPr>
        <p:spPr>
          <a:xfrm>
            <a:off x="7040880" y="2761488"/>
            <a:ext cx="4480560" cy="274320"/>
          </a:xfrm>
          <a:prstGeom prst="rect">
            <a:avLst/>
          </a:prstGeom>
          <a:noFill/>
        </p:spPr>
        <p:txBody>
          <a:bodyPr wrap="square">
            <a:spAutoFit/>
          </a:bodyPr>
          <a:lstStyle/>
          <a:p>
            <a:pPr algn="l"/>
            <a:r>
              <a:rPr sz="1200" b="1" i="0">
                <a:solidFill>
                  <a:srgbClr val="FFFFFF"/>
                </a:solidFill>
                <a:latin typeface="Satoshi"/>
              </a:rPr>
              <a:t>No gated content or lead capture</a:t>
            </a:r>
          </a:p>
        </p:txBody>
      </p:sp>
      <p:sp>
        <p:nvSpPr>
          <p:cNvPr id="29" name="TextBox 28"/>
          <p:cNvSpPr txBox="1"/>
          <p:nvPr/>
        </p:nvSpPr>
        <p:spPr>
          <a:xfrm>
            <a:off x="7040880" y="3063240"/>
            <a:ext cx="4480560" cy="384048"/>
          </a:xfrm>
          <a:prstGeom prst="rect">
            <a:avLst/>
          </a:prstGeom>
          <a:noFill/>
        </p:spPr>
        <p:txBody>
          <a:bodyPr wrap="square">
            <a:spAutoFit/>
          </a:bodyPr>
          <a:lstStyle/>
          <a:p>
            <a:pPr algn="l"/>
            <a:r>
              <a:rPr sz="1000" b="0" i="0">
                <a:solidFill>
                  <a:srgbClr val="9D9D9F"/>
                </a:solidFill>
                <a:latin typeface="Satoshi"/>
              </a:rPr>
              <a:t>EOF publishes high-value practice notes and technical briefs -- none behind an email capture form. Every download is anonymous; no nurture pathway exists.</a:t>
            </a:r>
          </a:p>
        </p:txBody>
      </p:sp>
      <p:sp>
        <p:nvSpPr>
          <p:cNvPr id="30" name="Rounded Rectangle 29"/>
          <p:cNvSpPr/>
          <p:nvPr/>
        </p:nvSpPr>
        <p:spPr>
          <a:xfrm>
            <a:off x="6492240" y="3630168"/>
            <a:ext cx="5257800" cy="82296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75120" y="3703320"/>
            <a:ext cx="320040" cy="274320"/>
          </a:xfrm>
          <a:prstGeom prst="rect">
            <a:avLst/>
          </a:prstGeom>
          <a:noFill/>
        </p:spPr>
        <p:txBody>
          <a:bodyPr wrap="square">
            <a:spAutoFit/>
          </a:bodyPr>
          <a:lstStyle/>
          <a:p>
            <a:pPr algn="l"/>
            <a:r>
              <a:rPr sz="1300" b="1" i="0">
                <a:solidFill>
                  <a:srgbClr val="F87171"/>
                </a:solidFill>
                <a:latin typeface="Satoshi"/>
              </a:rPr>
              <a:t>!</a:t>
            </a:r>
          </a:p>
        </p:txBody>
      </p:sp>
      <p:sp>
        <p:nvSpPr>
          <p:cNvPr id="32" name="TextBox 31"/>
          <p:cNvSpPr txBox="1"/>
          <p:nvPr/>
        </p:nvSpPr>
        <p:spPr>
          <a:xfrm>
            <a:off x="7040880" y="3694176"/>
            <a:ext cx="4480560" cy="274320"/>
          </a:xfrm>
          <a:prstGeom prst="rect">
            <a:avLst/>
          </a:prstGeom>
          <a:noFill/>
        </p:spPr>
        <p:txBody>
          <a:bodyPr wrap="square">
            <a:spAutoFit/>
          </a:bodyPr>
          <a:lstStyle/>
          <a:p>
            <a:pPr algn="l"/>
            <a:r>
              <a:rPr sz="1200" b="1" i="0">
                <a:solidFill>
                  <a:srgbClr val="FFFFFF"/>
                </a:solidFill>
                <a:latin typeface="Satoshi"/>
              </a:rPr>
              <a:t>No searchable knowledge base</a:t>
            </a:r>
          </a:p>
        </p:txBody>
      </p:sp>
      <p:sp>
        <p:nvSpPr>
          <p:cNvPr id="33" name="TextBox 32"/>
          <p:cNvSpPr txBox="1"/>
          <p:nvPr/>
        </p:nvSpPr>
        <p:spPr>
          <a:xfrm>
            <a:off x="7040880" y="3995928"/>
            <a:ext cx="4480560" cy="384048"/>
          </a:xfrm>
          <a:prstGeom prst="rect">
            <a:avLst/>
          </a:prstGeom>
          <a:noFill/>
        </p:spPr>
        <p:txBody>
          <a:bodyPr wrap="square">
            <a:spAutoFit/>
          </a:bodyPr>
          <a:lstStyle/>
          <a:p>
            <a:pPr algn="l"/>
            <a:r>
              <a:rPr sz="1000" b="0" i="0">
                <a:solidFill>
                  <a:srgbClr val="9D9D9F"/>
                </a:solidFill>
                <a:latin typeface="Satoshi"/>
              </a:rPr>
              <a:t>Institutional knowledge lives in PDFs and blog posts. No AI-searchable layer means the same questions are answered repeatedly.</a:t>
            </a:r>
          </a:p>
        </p:txBody>
      </p:sp>
      <p:sp>
        <p:nvSpPr>
          <p:cNvPr id="34" name="Rounded Rectangle 33"/>
          <p:cNvSpPr/>
          <p:nvPr/>
        </p:nvSpPr>
        <p:spPr>
          <a:xfrm>
            <a:off x="6492240" y="4562856"/>
            <a:ext cx="5257800" cy="82296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75120" y="4636008"/>
            <a:ext cx="320040" cy="274320"/>
          </a:xfrm>
          <a:prstGeom prst="rect">
            <a:avLst/>
          </a:prstGeom>
          <a:noFill/>
        </p:spPr>
        <p:txBody>
          <a:bodyPr wrap="square">
            <a:spAutoFit/>
          </a:bodyPr>
          <a:lstStyle/>
          <a:p>
            <a:pPr algn="l"/>
            <a:r>
              <a:rPr sz="1300" b="1" i="0">
                <a:solidFill>
                  <a:srgbClr val="F87171"/>
                </a:solidFill>
                <a:latin typeface="Satoshi"/>
              </a:rPr>
              <a:t>!</a:t>
            </a:r>
          </a:p>
        </p:txBody>
      </p:sp>
      <p:sp>
        <p:nvSpPr>
          <p:cNvPr id="36" name="TextBox 35"/>
          <p:cNvSpPr txBox="1"/>
          <p:nvPr/>
        </p:nvSpPr>
        <p:spPr>
          <a:xfrm>
            <a:off x="7040880" y="4626864"/>
            <a:ext cx="4480560" cy="274320"/>
          </a:xfrm>
          <a:prstGeom prst="rect">
            <a:avLst/>
          </a:prstGeom>
          <a:noFill/>
        </p:spPr>
        <p:txBody>
          <a:bodyPr wrap="square">
            <a:spAutoFit/>
          </a:bodyPr>
          <a:lstStyle/>
          <a:p>
            <a:pPr algn="l"/>
            <a:r>
              <a:rPr sz="1200" b="1" i="0">
                <a:solidFill>
                  <a:srgbClr val="FFFFFF"/>
                </a:solidFill>
                <a:latin typeface="Satoshi"/>
              </a:rPr>
              <a:t>Built on Wix -- limited automation capability</a:t>
            </a:r>
          </a:p>
        </p:txBody>
      </p:sp>
      <p:sp>
        <p:nvSpPr>
          <p:cNvPr id="37" name="TextBox 36"/>
          <p:cNvSpPr txBox="1"/>
          <p:nvPr/>
        </p:nvSpPr>
        <p:spPr>
          <a:xfrm>
            <a:off x="7040880" y="4928616"/>
            <a:ext cx="4480560" cy="384048"/>
          </a:xfrm>
          <a:prstGeom prst="rect">
            <a:avLst/>
          </a:prstGeom>
          <a:noFill/>
        </p:spPr>
        <p:txBody>
          <a:bodyPr wrap="square">
            <a:spAutoFit/>
          </a:bodyPr>
          <a:lstStyle/>
          <a:p>
            <a:pPr algn="l"/>
            <a:r>
              <a:rPr sz="1000" b="0" i="0">
                <a:solidFill>
                  <a:srgbClr val="9D9D9F"/>
                </a:solidFill>
                <a:latin typeface="Satoshi"/>
              </a:rPr>
              <a:t>The site's CMS limits native integration with CRM, automation, or AI tools. A headless or API-first approach is needed for the operational layer to function.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TextBox 1"/>
          <p:cNvSpPr txBox="1"/>
          <p:nvPr/>
        </p:nvSpPr>
        <p:spPr>
          <a:xfrm>
            <a:off x="685800" y="201168"/>
            <a:ext cx="5486400" cy="256032"/>
          </a:xfrm>
          <a:prstGeom prst="rect">
            <a:avLst/>
          </a:prstGeom>
          <a:noFill/>
        </p:spPr>
        <p:txBody>
          <a:bodyPr wrap="square">
            <a:spAutoFit/>
          </a:bodyPr>
          <a:lstStyle/>
          <a:p>
            <a:pPr algn="l"/>
            <a:r>
              <a:rPr sz="900" b="1" i="0">
                <a:solidFill>
                  <a:srgbClr val="6B6B6E"/>
                </a:solidFill>
                <a:latin typeface="Satoshi"/>
              </a:rPr>
              <a:t>GENOSAI  x  EDUCATION OUTCOMES FUND</a:t>
            </a:r>
          </a:p>
        </p:txBody>
      </p:sp>
      <p:sp>
        <p:nvSpPr>
          <p:cNvPr id="3" name="TextBox 2"/>
          <p:cNvSpPr txBox="1"/>
          <p:nvPr/>
        </p:nvSpPr>
        <p:spPr>
          <a:xfrm>
            <a:off x="6858000" y="201168"/>
            <a:ext cx="4645152" cy="256032"/>
          </a:xfrm>
          <a:prstGeom prst="rect">
            <a:avLst/>
          </a:prstGeom>
          <a:noFill/>
        </p:spPr>
        <p:txBody>
          <a:bodyPr wrap="square">
            <a:spAutoFit/>
          </a:bodyPr>
          <a:lstStyle/>
          <a:p>
            <a:pPr algn="r"/>
            <a:r>
              <a:rPr sz="900" b="1" i="0">
                <a:solidFill>
                  <a:srgbClr val="6B6B6E"/>
                </a:solidFill>
                <a:latin typeface="Satoshi"/>
              </a:rPr>
              <a:t>02  .  ORGANISATION OVERVIEW</a:t>
            </a:r>
          </a:p>
        </p:txBody>
      </p:sp>
      <p:sp>
        <p:nvSpPr>
          <p:cNvPr id="4" name="Rectangle 3"/>
          <p:cNvSpPr/>
          <p:nvPr/>
        </p:nvSpPr>
        <p:spPr>
          <a:xfrm>
            <a:off x="685800" y="530352"/>
            <a:ext cx="10817352" cy="9525"/>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473952"/>
            <a:ext cx="7315200" cy="256032"/>
          </a:xfrm>
          <a:prstGeom prst="rect">
            <a:avLst/>
          </a:prstGeom>
          <a:noFill/>
        </p:spPr>
        <p:txBody>
          <a:bodyPr wrap="square">
            <a:spAutoFit/>
          </a:bodyPr>
          <a:lstStyle/>
          <a:p>
            <a:pPr algn="l"/>
            <a:r>
              <a:rPr sz="800" b="0" i="0">
                <a:solidFill>
                  <a:srgbClr val="444447"/>
                </a:solidFill>
                <a:latin typeface="Satoshi"/>
              </a:rPr>
              <a:t>AI Audit &amp; Automation Proposal  .  Education Outcomes Fund  .  2026</a:t>
            </a:r>
          </a:p>
        </p:txBody>
      </p:sp>
      <p:sp>
        <p:nvSpPr>
          <p:cNvPr id="6" name="TextBox 5"/>
          <p:cNvSpPr txBox="1"/>
          <p:nvPr/>
        </p:nvSpPr>
        <p:spPr>
          <a:xfrm>
            <a:off x="8686800" y="6473952"/>
            <a:ext cx="2816352" cy="256032"/>
          </a:xfrm>
          <a:prstGeom prst="rect">
            <a:avLst/>
          </a:prstGeom>
          <a:noFill/>
        </p:spPr>
        <p:txBody>
          <a:bodyPr wrap="square">
            <a:spAutoFit/>
          </a:bodyPr>
          <a:lstStyle/>
          <a:p>
            <a:pPr algn="r"/>
            <a:r>
              <a:rPr sz="800" b="0" i="0">
                <a:solidFill>
                  <a:srgbClr val="444447"/>
                </a:solidFill>
                <a:latin typeface="Satoshi"/>
              </a:rPr>
              <a:t>03 / 12</a:t>
            </a:r>
          </a:p>
        </p:txBody>
      </p:sp>
      <p:sp>
        <p:nvSpPr>
          <p:cNvPr id="7" name="TextBox 6"/>
          <p:cNvSpPr txBox="1"/>
          <p:nvPr/>
        </p:nvSpPr>
        <p:spPr>
          <a:xfrm>
            <a:off x="685800" y="777240"/>
            <a:ext cx="5486400" cy="274320"/>
          </a:xfrm>
          <a:prstGeom prst="rect">
            <a:avLst/>
          </a:prstGeom>
          <a:noFill/>
        </p:spPr>
        <p:txBody>
          <a:bodyPr wrap="square">
            <a:spAutoFit/>
          </a:bodyPr>
          <a:lstStyle/>
          <a:p>
            <a:pPr algn="l"/>
            <a:r>
              <a:rPr sz="1000" b="1" i="0">
                <a:solidFill>
                  <a:srgbClr val="A78BFA"/>
                </a:solidFill>
                <a:latin typeface="Satoshi"/>
              </a:rPr>
              <a:t>THE FUND AT A GLANCE</a:t>
            </a:r>
          </a:p>
        </p:txBody>
      </p:sp>
      <p:sp>
        <p:nvSpPr>
          <p:cNvPr id="8" name="TextBox 7"/>
          <p:cNvSpPr txBox="1"/>
          <p:nvPr/>
        </p:nvSpPr>
        <p:spPr>
          <a:xfrm>
            <a:off x="685800" y="1078992"/>
            <a:ext cx="9144000" cy="1463040"/>
          </a:xfrm>
          <a:prstGeom prst="rect">
            <a:avLst/>
          </a:prstGeom>
          <a:noFill/>
        </p:spPr>
        <p:txBody>
          <a:bodyPr wrap="square">
            <a:spAutoFit/>
          </a:bodyPr>
          <a:lstStyle/>
          <a:p>
            <a:pPr algn="l"/>
            <a:r>
              <a:rPr sz="3200" b="0" i="0">
                <a:solidFill>
                  <a:srgbClr val="FFFFFF"/>
                </a:solidFill>
                <a:latin typeface="Instrument Serif"/>
              </a:rPr>
              <a:t>5x Programme Growth in 4 Years.
45 People. One Operational Layer Missing.</a:t>
            </a:r>
          </a:p>
        </p:txBody>
      </p:sp>
      <p:sp>
        <p:nvSpPr>
          <p:cNvPr id="9" name="TextBox 8"/>
          <p:cNvSpPr txBox="1"/>
          <p:nvPr/>
        </p:nvSpPr>
        <p:spPr>
          <a:xfrm>
            <a:off x="685800" y="2121408"/>
            <a:ext cx="8229600" cy="347472"/>
          </a:xfrm>
          <a:prstGeom prst="rect">
            <a:avLst/>
          </a:prstGeom>
          <a:noFill/>
        </p:spPr>
        <p:txBody>
          <a:bodyPr wrap="square">
            <a:spAutoFit/>
          </a:bodyPr>
          <a:lstStyle/>
          <a:p>
            <a:pPr algn="l"/>
            <a:r>
              <a:rPr sz="1300" b="0" i="0">
                <a:solidFill>
                  <a:srgbClr val="86868A"/>
                </a:solidFill>
                <a:latin typeface="Satoshi"/>
              </a:rPr>
              <a:t>EOF designs and manages Outcomes Funds -- pooled financing vehicles where payment is tied to independently verified results. From one active programme in 2022 to five in 2026, with Namibia in development. The mission scales. The operations need to keep up.</a:t>
            </a:r>
          </a:p>
        </p:txBody>
      </p:sp>
      <p:sp>
        <p:nvSpPr>
          <p:cNvPr id="10" name="Rectangle 9"/>
          <p:cNvSpPr/>
          <p:nvPr/>
        </p:nvSpPr>
        <p:spPr>
          <a:xfrm>
            <a:off x="685800" y="2633472"/>
            <a:ext cx="10817352" cy="9525"/>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85800" y="2834640"/>
            <a:ext cx="2560320" cy="182880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999232"/>
            <a:ext cx="2194560" cy="256032"/>
          </a:xfrm>
          <a:prstGeom prst="rect">
            <a:avLst/>
          </a:prstGeom>
          <a:noFill/>
        </p:spPr>
        <p:txBody>
          <a:bodyPr wrap="square">
            <a:spAutoFit/>
          </a:bodyPr>
          <a:lstStyle/>
          <a:p>
            <a:pPr algn="l"/>
            <a:r>
              <a:rPr sz="900" b="1" i="0">
                <a:solidFill>
                  <a:srgbClr val="6B6B6E"/>
                </a:solidFill>
                <a:latin typeface="Satoshi"/>
              </a:rPr>
              <a:t>STAFF</a:t>
            </a:r>
          </a:p>
        </p:txBody>
      </p:sp>
      <p:sp>
        <p:nvSpPr>
          <p:cNvPr id="13" name="TextBox 12"/>
          <p:cNvSpPr txBox="1"/>
          <p:nvPr/>
        </p:nvSpPr>
        <p:spPr>
          <a:xfrm>
            <a:off x="914400" y="3337560"/>
            <a:ext cx="2194560" cy="566928"/>
          </a:xfrm>
          <a:prstGeom prst="rect">
            <a:avLst/>
          </a:prstGeom>
          <a:noFill/>
        </p:spPr>
        <p:txBody>
          <a:bodyPr wrap="square">
            <a:spAutoFit/>
          </a:bodyPr>
          <a:lstStyle/>
          <a:p>
            <a:pPr algn="l"/>
            <a:r>
              <a:rPr sz="2400" b="0" i="0">
                <a:solidFill>
                  <a:srgbClr val="FFFFFF"/>
                </a:solidFill>
                <a:latin typeface="Instrument Serif"/>
              </a:rPr>
              <a:t>~45</a:t>
            </a:r>
          </a:p>
        </p:txBody>
      </p:sp>
      <p:sp>
        <p:nvSpPr>
          <p:cNvPr id="14" name="TextBox 13"/>
          <p:cNvSpPr txBox="1"/>
          <p:nvPr/>
        </p:nvSpPr>
        <p:spPr>
          <a:xfrm>
            <a:off x="914400" y="4005072"/>
            <a:ext cx="2194560" cy="411480"/>
          </a:xfrm>
          <a:prstGeom prst="rect">
            <a:avLst/>
          </a:prstGeom>
          <a:noFill/>
        </p:spPr>
        <p:txBody>
          <a:bodyPr wrap="square">
            <a:spAutoFit/>
          </a:bodyPr>
          <a:lstStyle/>
          <a:p>
            <a:pPr algn="l"/>
            <a:r>
              <a:rPr sz="1100" b="0" i="0">
                <a:solidFill>
                  <a:srgbClr val="9D9D9F"/>
                </a:solidFill>
                <a:latin typeface="Satoshi"/>
              </a:rPr>
              <a:t>London HQ + 6 country teams</a:t>
            </a:r>
          </a:p>
        </p:txBody>
      </p:sp>
      <p:sp>
        <p:nvSpPr>
          <p:cNvPr id="15" name="Rounded Rectangle 14"/>
          <p:cNvSpPr/>
          <p:nvPr/>
        </p:nvSpPr>
        <p:spPr>
          <a:xfrm>
            <a:off x="3419856" y="2834640"/>
            <a:ext cx="2560320" cy="182880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48456" y="2999232"/>
            <a:ext cx="2194560" cy="256032"/>
          </a:xfrm>
          <a:prstGeom prst="rect">
            <a:avLst/>
          </a:prstGeom>
          <a:noFill/>
        </p:spPr>
        <p:txBody>
          <a:bodyPr wrap="square">
            <a:spAutoFit/>
          </a:bodyPr>
          <a:lstStyle/>
          <a:p>
            <a:pPr algn="l"/>
            <a:r>
              <a:rPr sz="900" b="1" i="0">
                <a:solidFill>
                  <a:srgbClr val="6B6B6E"/>
                </a:solidFill>
                <a:latin typeface="Satoshi"/>
              </a:rPr>
              <a:t>MOBILISED</a:t>
            </a:r>
          </a:p>
        </p:txBody>
      </p:sp>
      <p:sp>
        <p:nvSpPr>
          <p:cNvPr id="17" name="TextBox 16"/>
          <p:cNvSpPr txBox="1"/>
          <p:nvPr/>
        </p:nvSpPr>
        <p:spPr>
          <a:xfrm>
            <a:off x="3648456" y="3337560"/>
            <a:ext cx="2194560" cy="566928"/>
          </a:xfrm>
          <a:prstGeom prst="rect">
            <a:avLst/>
          </a:prstGeom>
          <a:noFill/>
        </p:spPr>
        <p:txBody>
          <a:bodyPr wrap="square">
            <a:spAutoFit/>
          </a:bodyPr>
          <a:lstStyle/>
          <a:p>
            <a:pPr algn="l"/>
            <a:r>
              <a:rPr sz="2400" b="0" i="0">
                <a:solidFill>
                  <a:srgbClr val="FFFFFF"/>
                </a:solidFill>
                <a:latin typeface="Instrument Serif"/>
              </a:rPr>
              <a:t>$130M+</a:t>
            </a:r>
          </a:p>
        </p:txBody>
      </p:sp>
      <p:sp>
        <p:nvSpPr>
          <p:cNvPr id="18" name="TextBox 17"/>
          <p:cNvSpPr txBox="1"/>
          <p:nvPr/>
        </p:nvSpPr>
        <p:spPr>
          <a:xfrm>
            <a:off x="3648456" y="4005072"/>
            <a:ext cx="2194560" cy="411480"/>
          </a:xfrm>
          <a:prstGeom prst="rect">
            <a:avLst/>
          </a:prstGeom>
          <a:noFill/>
        </p:spPr>
        <p:txBody>
          <a:bodyPr wrap="square">
            <a:spAutoFit/>
          </a:bodyPr>
          <a:lstStyle/>
          <a:p>
            <a:pPr algn="l"/>
            <a:r>
              <a:rPr sz="1100" b="0" i="0">
                <a:solidFill>
                  <a:srgbClr val="9D9D9F"/>
                </a:solidFill>
                <a:latin typeface="Satoshi"/>
              </a:rPr>
              <a:t>across active Outcomes Funds</a:t>
            </a:r>
          </a:p>
        </p:txBody>
      </p:sp>
      <p:sp>
        <p:nvSpPr>
          <p:cNvPr id="19" name="Rounded Rectangle 18"/>
          <p:cNvSpPr/>
          <p:nvPr/>
        </p:nvSpPr>
        <p:spPr>
          <a:xfrm>
            <a:off x="6153912" y="2834640"/>
            <a:ext cx="2560320" cy="182880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82512" y="2999232"/>
            <a:ext cx="2194560" cy="256032"/>
          </a:xfrm>
          <a:prstGeom prst="rect">
            <a:avLst/>
          </a:prstGeom>
          <a:noFill/>
        </p:spPr>
        <p:txBody>
          <a:bodyPr wrap="square">
            <a:spAutoFit/>
          </a:bodyPr>
          <a:lstStyle/>
          <a:p>
            <a:pPr algn="l"/>
            <a:r>
              <a:rPr sz="900" b="1" i="0">
                <a:solidFill>
                  <a:srgbClr val="6B6B6E"/>
                </a:solidFill>
                <a:latin typeface="Satoshi"/>
              </a:rPr>
              <a:t>BENEFICIARIES</a:t>
            </a:r>
          </a:p>
        </p:txBody>
      </p:sp>
      <p:sp>
        <p:nvSpPr>
          <p:cNvPr id="21" name="TextBox 20"/>
          <p:cNvSpPr txBox="1"/>
          <p:nvPr/>
        </p:nvSpPr>
        <p:spPr>
          <a:xfrm>
            <a:off x="6382512" y="3337560"/>
            <a:ext cx="2194560" cy="566928"/>
          </a:xfrm>
          <a:prstGeom prst="rect">
            <a:avLst/>
          </a:prstGeom>
          <a:noFill/>
        </p:spPr>
        <p:txBody>
          <a:bodyPr wrap="square">
            <a:spAutoFit/>
          </a:bodyPr>
          <a:lstStyle/>
          <a:p>
            <a:pPr algn="l"/>
            <a:r>
              <a:rPr sz="2400" b="0" i="0">
                <a:solidFill>
                  <a:srgbClr val="FFFFFF"/>
                </a:solidFill>
                <a:latin typeface="Instrument Serif"/>
              </a:rPr>
              <a:t>500K+</a:t>
            </a:r>
          </a:p>
        </p:txBody>
      </p:sp>
      <p:sp>
        <p:nvSpPr>
          <p:cNvPr id="22" name="TextBox 21"/>
          <p:cNvSpPr txBox="1"/>
          <p:nvPr/>
        </p:nvSpPr>
        <p:spPr>
          <a:xfrm>
            <a:off x="6382512" y="4005072"/>
            <a:ext cx="2194560" cy="411480"/>
          </a:xfrm>
          <a:prstGeom prst="rect">
            <a:avLst/>
          </a:prstGeom>
          <a:noFill/>
        </p:spPr>
        <p:txBody>
          <a:bodyPr wrap="square">
            <a:spAutoFit/>
          </a:bodyPr>
          <a:lstStyle/>
          <a:p>
            <a:pPr algn="l"/>
            <a:r>
              <a:rPr sz="1100" b="0" i="0">
                <a:solidFill>
                  <a:srgbClr val="9D9D9F"/>
                </a:solidFill>
                <a:latin typeface="Satoshi"/>
              </a:rPr>
              <a:t>children and youth reached</a:t>
            </a:r>
          </a:p>
        </p:txBody>
      </p:sp>
      <p:sp>
        <p:nvSpPr>
          <p:cNvPr id="23" name="Rounded Rectangle 22"/>
          <p:cNvSpPr/>
          <p:nvPr/>
        </p:nvSpPr>
        <p:spPr>
          <a:xfrm>
            <a:off x="8887968" y="2834640"/>
            <a:ext cx="2560320" cy="182880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16568" y="2999232"/>
            <a:ext cx="2194560" cy="256032"/>
          </a:xfrm>
          <a:prstGeom prst="rect">
            <a:avLst/>
          </a:prstGeom>
          <a:noFill/>
        </p:spPr>
        <p:txBody>
          <a:bodyPr wrap="square">
            <a:spAutoFit/>
          </a:bodyPr>
          <a:lstStyle/>
          <a:p>
            <a:pPr algn="l"/>
            <a:r>
              <a:rPr sz="900" b="1" i="0">
                <a:solidFill>
                  <a:srgbClr val="6B6B6E"/>
                </a:solidFill>
                <a:latin typeface="Satoshi"/>
              </a:rPr>
              <a:t>PROGRAMMES</a:t>
            </a:r>
          </a:p>
        </p:txBody>
      </p:sp>
      <p:sp>
        <p:nvSpPr>
          <p:cNvPr id="25" name="TextBox 24"/>
          <p:cNvSpPr txBox="1"/>
          <p:nvPr/>
        </p:nvSpPr>
        <p:spPr>
          <a:xfrm>
            <a:off x="9116568" y="3337560"/>
            <a:ext cx="2194560" cy="566928"/>
          </a:xfrm>
          <a:prstGeom prst="rect">
            <a:avLst/>
          </a:prstGeom>
          <a:noFill/>
        </p:spPr>
        <p:txBody>
          <a:bodyPr wrap="square">
            <a:spAutoFit/>
          </a:bodyPr>
          <a:lstStyle/>
          <a:p>
            <a:pPr algn="l"/>
            <a:r>
              <a:rPr sz="2400" b="0" i="0">
                <a:solidFill>
                  <a:srgbClr val="FFFFFF"/>
                </a:solidFill>
                <a:latin typeface="Instrument Serif"/>
              </a:rPr>
              <a:t>5 active</a:t>
            </a:r>
          </a:p>
        </p:txBody>
      </p:sp>
      <p:sp>
        <p:nvSpPr>
          <p:cNvPr id="26" name="TextBox 25"/>
          <p:cNvSpPr txBox="1"/>
          <p:nvPr/>
        </p:nvSpPr>
        <p:spPr>
          <a:xfrm>
            <a:off x="9116568" y="4005072"/>
            <a:ext cx="2194560" cy="411480"/>
          </a:xfrm>
          <a:prstGeom prst="rect">
            <a:avLst/>
          </a:prstGeom>
          <a:noFill/>
        </p:spPr>
        <p:txBody>
          <a:bodyPr wrap="square">
            <a:spAutoFit/>
          </a:bodyPr>
          <a:lstStyle/>
          <a:p>
            <a:pPr algn="l"/>
            <a:r>
              <a:rPr sz="1100" b="0" i="0">
                <a:solidFill>
                  <a:srgbClr val="9D9D9F"/>
                </a:solidFill>
                <a:latin typeface="Satoshi"/>
              </a:rPr>
              <a:t>Sierra Leone, Nigeria, Rwanda, SA, Tunisia</a:t>
            </a:r>
          </a:p>
        </p:txBody>
      </p:sp>
      <p:sp>
        <p:nvSpPr>
          <p:cNvPr id="27" name="TextBox 26"/>
          <p:cNvSpPr txBox="1"/>
          <p:nvPr/>
        </p:nvSpPr>
        <p:spPr>
          <a:xfrm>
            <a:off x="685800" y="4937760"/>
            <a:ext cx="10058400" cy="256032"/>
          </a:xfrm>
          <a:prstGeom prst="rect">
            <a:avLst/>
          </a:prstGeom>
          <a:noFill/>
        </p:spPr>
        <p:txBody>
          <a:bodyPr wrap="square">
            <a:spAutoFit/>
          </a:bodyPr>
          <a:lstStyle/>
          <a:p>
            <a:pPr algn="l"/>
            <a:r>
              <a:rPr sz="900" b="1" i="0">
                <a:solidFill>
                  <a:srgbClr val="6B6B6E"/>
                </a:solidFill>
                <a:latin typeface="Satoshi"/>
              </a:rPr>
              <a:t>ACTIVE PROGRAMME FOOTPRINT</a:t>
            </a:r>
          </a:p>
        </p:txBody>
      </p:sp>
      <p:sp>
        <p:nvSpPr>
          <p:cNvPr id="28" name="Rectangle 27"/>
          <p:cNvSpPr/>
          <p:nvPr/>
        </p:nvSpPr>
        <p:spPr>
          <a:xfrm>
            <a:off x="685800" y="5230368"/>
            <a:ext cx="10817352" cy="9525"/>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5321808"/>
            <a:ext cx="10817352" cy="384048"/>
          </a:xfrm>
          <a:prstGeom prst="rect">
            <a:avLst/>
          </a:prstGeom>
          <a:noFill/>
        </p:spPr>
        <p:txBody>
          <a:bodyPr wrap="square">
            <a:spAutoFit/>
          </a:bodyPr>
          <a:lstStyle/>
          <a:p>
            <a:pPr algn="l"/>
            <a:r>
              <a:rPr sz="1200" b="0" i="0">
                <a:solidFill>
                  <a:srgbClr val="9D9D9F"/>
                </a:solidFill>
                <a:latin typeface="Satoshi"/>
              </a:rPr>
              <a:t>Sierra Leone (SLEIC, $18M, 100K+ children)  .  Nigeria LEAF ($25M, 200K children, launched March 2026)  .  Rwanda (ECD)  .  South Africa  .  Tunisia (youth employment)  .  Namibia (in development)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TextBox 1"/>
          <p:cNvSpPr txBox="1"/>
          <p:nvPr/>
        </p:nvSpPr>
        <p:spPr>
          <a:xfrm>
            <a:off x="685800" y="201168"/>
            <a:ext cx="5486400" cy="256032"/>
          </a:xfrm>
          <a:prstGeom prst="rect">
            <a:avLst/>
          </a:prstGeom>
          <a:noFill/>
        </p:spPr>
        <p:txBody>
          <a:bodyPr wrap="square">
            <a:spAutoFit/>
          </a:bodyPr>
          <a:lstStyle/>
          <a:p>
            <a:pPr algn="l"/>
            <a:r>
              <a:rPr sz="900" b="1" i="0">
                <a:solidFill>
                  <a:srgbClr val="6B6B6E"/>
                </a:solidFill>
                <a:latin typeface="Satoshi"/>
              </a:rPr>
              <a:t>GENOSAI  x  EDUCATION OUTCOMES FUND</a:t>
            </a:r>
          </a:p>
        </p:txBody>
      </p:sp>
      <p:sp>
        <p:nvSpPr>
          <p:cNvPr id="3" name="TextBox 2"/>
          <p:cNvSpPr txBox="1"/>
          <p:nvPr/>
        </p:nvSpPr>
        <p:spPr>
          <a:xfrm>
            <a:off x="6858000" y="201168"/>
            <a:ext cx="4645152" cy="256032"/>
          </a:xfrm>
          <a:prstGeom prst="rect">
            <a:avLst/>
          </a:prstGeom>
          <a:noFill/>
        </p:spPr>
        <p:txBody>
          <a:bodyPr wrap="square">
            <a:spAutoFit/>
          </a:bodyPr>
          <a:lstStyle/>
          <a:p>
            <a:pPr algn="r"/>
            <a:r>
              <a:rPr sz="900" b="1" i="0">
                <a:solidFill>
                  <a:srgbClr val="6B6B6E"/>
                </a:solidFill>
                <a:latin typeface="Satoshi"/>
              </a:rPr>
              <a:t>03  .  VISION</a:t>
            </a:r>
          </a:p>
        </p:txBody>
      </p:sp>
      <p:sp>
        <p:nvSpPr>
          <p:cNvPr id="4" name="Rectangle 3"/>
          <p:cNvSpPr/>
          <p:nvPr/>
        </p:nvSpPr>
        <p:spPr>
          <a:xfrm>
            <a:off x="685800" y="530352"/>
            <a:ext cx="10817352" cy="9525"/>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473952"/>
            <a:ext cx="7315200" cy="256032"/>
          </a:xfrm>
          <a:prstGeom prst="rect">
            <a:avLst/>
          </a:prstGeom>
          <a:noFill/>
        </p:spPr>
        <p:txBody>
          <a:bodyPr wrap="square">
            <a:spAutoFit/>
          </a:bodyPr>
          <a:lstStyle/>
          <a:p>
            <a:pPr algn="l"/>
            <a:r>
              <a:rPr sz="800" b="0" i="0">
                <a:solidFill>
                  <a:srgbClr val="444447"/>
                </a:solidFill>
                <a:latin typeface="Satoshi"/>
              </a:rPr>
              <a:t>AI Audit &amp; Automation Proposal  .  Education Outcomes Fund  .  2026</a:t>
            </a:r>
          </a:p>
        </p:txBody>
      </p:sp>
      <p:sp>
        <p:nvSpPr>
          <p:cNvPr id="6" name="TextBox 5"/>
          <p:cNvSpPr txBox="1"/>
          <p:nvPr/>
        </p:nvSpPr>
        <p:spPr>
          <a:xfrm>
            <a:off x="8686800" y="6473952"/>
            <a:ext cx="2816352" cy="256032"/>
          </a:xfrm>
          <a:prstGeom prst="rect">
            <a:avLst/>
          </a:prstGeom>
          <a:noFill/>
        </p:spPr>
        <p:txBody>
          <a:bodyPr wrap="square">
            <a:spAutoFit/>
          </a:bodyPr>
          <a:lstStyle/>
          <a:p>
            <a:pPr algn="r"/>
            <a:r>
              <a:rPr sz="800" b="0" i="0">
                <a:solidFill>
                  <a:srgbClr val="444447"/>
                </a:solidFill>
                <a:latin typeface="Satoshi"/>
              </a:rPr>
              <a:t>04 / 12</a:t>
            </a:r>
          </a:p>
        </p:txBody>
      </p:sp>
      <p:sp>
        <p:nvSpPr>
          <p:cNvPr id="7" name="TextBox 6"/>
          <p:cNvSpPr txBox="1"/>
          <p:nvPr/>
        </p:nvSpPr>
        <p:spPr>
          <a:xfrm>
            <a:off x="685800" y="777240"/>
            <a:ext cx="5486400" cy="274320"/>
          </a:xfrm>
          <a:prstGeom prst="rect">
            <a:avLst/>
          </a:prstGeom>
          <a:noFill/>
        </p:spPr>
        <p:txBody>
          <a:bodyPr wrap="square">
            <a:spAutoFit/>
          </a:bodyPr>
          <a:lstStyle/>
          <a:p>
            <a:pPr algn="l"/>
            <a:r>
              <a:rPr sz="1000" b="1" i="0">
                <a:solidFill>
                  <a:srgbClr val="A78BFA"/>
                </a:solidFill>
                <a:latin typeface="Satoshi"/>
              </a:rPr>
              <a:t>THE OPERATIONAL OPPORTUNITY</a:t>
            </a:r>
          </a:p>
        </p:txBody>
      </p:sp>
      <p:sp>
        <p:nvSpPr>
          <p:cNvPr id="8" name="TextBox 7"/>
          <p:cNvSpPr txBox="1"/>
          <p:nvPr/>
        </p:nvSpPr>
        <p:spPr>
          <a:xfrm>
            <a:off x="685800" y="1078992"/>
            <a:ext cx="9144000" cy="1463040"/>
          </a:xfrm>
          <a:prstGeom prst="rect">
            <a:avLst/>
          </a:prstGeom>
          <a:noFill/>
        </p:spPr>
        <p:txBody>
          <a:bodyPr wrap="square">
            <a:spAutoFit/>
          </a:bodyPr>
          <a:lstStyle/>
          <a:p>
            <a:pPr algn="l"/>
            <a:r>
              <a:rPr sz="3800" b="0" i="0">
                <a:solidFill>
                  <a:srgbClr val="FFFFFF"/>
                </a:solidFill>
                <a:latin typeface="Instrument Serif"/>
              </a:rPr>
              <a:t>Scale Impact Without
Scaling Headcount</a:t>
            </a:r>
          </a:p>
        </p:txBody>
      </p:sp>
      <p:sp>
        <p:nvSpPr>
          <p:cNvPr id="9" name="Rounded Rectangle 8"/>
          <p:cNvSpPr/>
          <p:nvPr/>
        </p:nvSpPr>
        <p:spPr>
          <a:xfrm>
            <a:off x="685800" y="2606040"/>
            <a:ext cx="6858000" cy="114300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2724912"/>
            <a:ext cx="6400800" cy="365760"/>
          </a:xfrm>
          <a:prstGeom prst="rect">
            <a:avLst/>
          </a:prstGeom>
          <a:noFill/>
        </p:spPr>
        <p:txBody>
          <a:bodyPr wrap="square">
            <a:spAutoFit/>
          </a:bodyPr>
          <a:lstStyle/>
          <a:p>
            <a:pPr algn="l"/>
            <a:r>
              <a:rPr sz="3200" b="0" i="0">
                <a:solidFill>
                  <a:srgbClr val="A78BFA"/>
                </a:solidFill>
                <a:latin typeface="Instrument Serif"/>
              </a:rPr>
              <a:t>"</a:t>
            </a:r>
          </a:p>
        </p:txBody>
      </p:sp>
      <p:sp>
        <p:nvSpPr>
          <p:cNvPr id="11" name="TextBox 10"/>
          <p:cNvSpPr txBox="1"/>
          <p:nvPr/>
        </p:nvSpPr>
        <p:spPr>
          <a:xfrm>
            <a:off x="1371600" y="2761488"/>
            <a:ext cx="5943600" cy="777240"/>
          </a:xfrm>
          <a:prstGeom prst="rect">
            <a:avLst/>
          </a:prstGeom>
          <a:noFill/>
        </p:spPr>
        <p:txBody>
          <a:bodyPr wrap="square">
            <a:spAutoFit/>
          </a:bodyPr>
          <a:lstStyle/>
          <a:p>
            <a:pPr algn="l"/>
            <a:r>
              <a:rPr sz="1500" b="0" i="1">
                <a:solidFill>
                  <a:srgbClr val="FFFFFF"/>
                </a:solidFill>
                <a:latin typeface="Instrument Serif"/>
              </a:rPr>
              <a:t>Real change happens when we stop paying for promises and start paying for results. The same principle applies to operations: every manual process EOF runs is a promise to scale impact that costs more than it should.</a:t>
            </a:r>
          </a:p>
        </p:txBody>
      </p:sp>
      <p:sp>
        <p:nvSpPr>
          <p:cNvPr id="12" name="Rounded Rectangle 11"/>
          <p:cNvSpPr/>
          <p:nvPr/>
        </p:nvSpPr>
        <p:spPr>
          <a:xfrm>
            <a:off x="685800" y="3977639"/>
            <a:ext cx="2560320" cy="242316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160520"/>
            <a:ext cx="548640" cy="384048"/>
          </a:xfrm>
          <a:prstGeom prst="rect">
            <a:avLst/>
          </a:prstGeom>
          <a:noFill/>
        </p:spPr>
        <p:txBody>
          <a:bodyPr wrap="square">
            <a:spAutoFit/>
          </a:bodyPr>
          <a:lstStyle/>
          <a:p>
            <a:pPr algn="l"/>
            <a:r>
              <a:rPr sz="2200" b="0" i="0">
                <a:solidFill>
                  <a:srgbClr val="A78BFA"/>
                </a:solidFill>
                <a:latin typeface="Instrument Serif"/>
              </a:rPr>
              <a:t>01</a:t>
            </a:r>
          </a:p>
        </p:txBody>
      </p:sp>
      <p:sp>
        <p:nvSpPr>
          <p:cNvPr id="14" name="TextBox 13"/>
          <p:cNvSpPr txBox="1"/>
          <p:nvPr/>
        </p:nvSpPr>
        <p:spPr>
          <a:xfrm>
            <a:off x="914400" y="4617720"/>
            <a:ext cx="2194560" cy="594360"/>
          </a:xfrm>
          <a:prstGeom prst="rect">
            <a:avLst/>
          </a:prstGeom>
          <a:noFill/>
        </p:spPr>
        <p:txBody>
          <a:bodyPr wrap="square">
            <a:spAutoFit/>
          </a:bodyPr>
          <a:lstStyle/>
          <a:p>
            <a:pPr algn="l"/>
            <a:r>
              <a:rPr sz="1600" b="0" i="0">
                <a:solidFill>
                  <a:srgbClr val="FFFFFF"/>
                </a:solidFill>
                <a:latin typeface="Instrument Serif"/>
              </a:rPr>
              <a:t>Intake
Automation</a:t>
            </a:r>
          </a:p>
        </p:txBody>
      </p:sp>
      <p:sp>
        <p:nvSpPr>
          <p:cNvPr id="15" name="TextBox 14"/>
          <p:cNvSpPr txBox="1"/>
          <p:nvPr/>
        </p:nvSpPr>
        <p:spPr>
          <a:xfrm>
            <a:off x="914400" y="5285232"/>
            <a:ext cx="2194560" cy="804672"/>
          </a:xfrm>
          <a:prstGeom prst="rect">
            <a:avLst/>
          </a:prstGeom>
          <a:noFill/>
        </p:spPr>
        <p:txBody>
          <a:bodyPr wrap="square">
            <a:spAutoFit/>
          </a:bodyPr>
          <a:lstStyle/>
          <a:p>
            <a:pPr algn="l"/>
            <a:r>
              <a:rPr sz="1100" b="0" i="0">
                <a:solidFill>
                  <a:srgbClr val="9D9D9F"/>
                </a:solidFill>
                <a:latin typeface="Satoshi"/>
              </a:rPr>
              <a:t>Partner and implementer proposals qualified and routed without manual review.</a:t>
            </a:r>
          </a:p>
        </p:txBody>
      </p:sp>
      <p:sp>
        <p:nvSpPr>
          <p:cNvPr id="16" name="Rounded Rectangle 15"/>
          <p:cNvSpPr/>
          <p:nvPr/>
        </p:nvSpPr>
        <p:spPr>
          <a:xfrm>
            <a:off x="3383280" y="3977639"/>
            <a:ext cx="2560320" cy="242316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11880" y="4160520"/>
            <a:ext cx="548640" cy="384048"/>
          </a:xfrm>
          <a:prstGeom prst="rect">
            <a:avLst/>
          </a:prstGeom>
          <a:noFill/>
        </p:spPr>
        <p:txBody>
          <a:bodyPr wrap="square">
            <a:spAutoFit/>
          </a:bodyPr>
          <a:lstStyle/>
          <a:p>
            <a:pPr algn="l"/>
            <a:r>
              <a:rPr sz="2200" b="0" i="0">
                <a:solidFill>
                  <a:srgbClr val="A78BFA"/>
                </a:solidFill>
                <a:latin typeface="Instrument Serif"/>
              </a:rPr>
              <a:t>02</a:t>
            </a:r>
          </a:p>
        </p:txBody>
      </p:sp>
      <p:sp>
        <p:nvSpPr>
          <p:cNvPr id="18" name="TextBox 17"/>
          <p:cNvSpPr txBox="1"/>
          <p:nvPr/>
        </p:nvSpPr>
        <p:spPr>
          <a:xfrm>
            <a:off x="3611880" y="4617720"/>
            <a:ext cx="2194560" cy="594360"/>
          </a:xfrm>
          <a:prstGeom prst="rect">
            <a:avLst/>
          </a:prstGeom>
          <a:noFill/>
        </p:spPr>
        <p:txBody>
          <a:bodyPr wrap="square">
            <a:spAutoFit/>
          </a:bodyPr>
          <a:lstStyle/>
          <a:p>
            <a:pPr algn="l"/>
            <a:r>
              <a:rPr sz="1600" b="0" i="0">
                <a:solidFill>
                  <a:srgbClr val="FFFFFF"/>
                </a:solidFill>
                <a:latin typeface="Instrument Serif"/>
              </a:rPr>
              <a:t>Donor
Reporting</a:t>
            </a:r>
          </a:p>
        </p:txBody>
      </p:sp>
      <p:sp>
        <p:nvSpPr>
          <p:cNvPr id="19" name="TextBox 18"/>
          <p:cNvSpPr txBox="1"/>
          <p:nvPr/>
        </p:nvSpPr>
        <p:spPr>
          <a:xfrm>
            <a:off x="3611880" y="5285232"/>
            <a:ext cx="2194560" cy="804672"/>
          </a:xfrm>
          <a:prstGeom prst="rect">
            <a:avLst/>
          </a:prstGeom>
          <a:noFill/>
        </p:spPr>
        <p:txBody>
          <a:bodyPr wrap="square">
            <a:spAutoFit/>
          </a:bodyPr>
          <a:lstStyle/>
          <a:p>
            <a:pPr algn="l"/>
            <a:r>
              <a:rPr sz="1100" b="0" i="0">
                <a:solidFill>
                  <a:srgbClr val="9D9D9F"/>
                </a:solidFill>
                <a:latin typeface="Satoshi"/>
              </a:rPr>
              <a:t>Verified outcomes data auto-compiled into funder-specific report drafts.</a:t>
            </a:r>
          </a:p>
        </p:txBody>
      </p:sp>
      <p:sp>
        <p:nvSpPr>
          <p:cNvPr id="20" name="Rounded Rectangle 19"/>
          <p:cNvSpPr/>
          <p:nvPr/>
        </p:nvSpPr>
        <p:spPr>
          <a:xfrm>
            <a:off x="6080760" y="3977639"/>
            <a:ext cx="2560320" cy="242316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9360" y="4160520"/>
            <a:ext cx="548640" cy="384048"/>
          </a:xfrm>
          <a:prstGeom prst="rect">
            <a:avLst/>
          </a:prstGeom>
          <a:noFill/>
        </p:spPr>
        <p:txBody>
          <a:bodyPr wrap="square">
            <a:spAutoFit/>
          </a:bodyPr>
          <a:lstStyle/>
          <a:p>
            <a:pPr algn="l"/>
            <a:r>
              <a:rPr sz="2200" b="0" i="0">
                <a:solidFill>
                  <a:srgbClr val="A78BFA"/>
                </a:solidFill>
                <a:latin typeface="Instrument Serif"/>
              </a:rPr>
              <a:t>03</a:t>
            </a:r>
          </a:p>
        </p:txBody>
      </p:sp>
      <p:sp>
        <p:nvSpPr>
          <p:cNvPr id="22" name="TextBox 21"/>
          <p:cNvSpPr txBox="1"/>
          <p:nvPr/>
        </p:nvSpPr>
        <p:spPr>
          <a:xfrm>
            <a:off x="6309360" y="4617720"/>
            <a:ext cx="2194560" cy="594360"/>
          </a:xfrm>
          <a:prstGeom prst="rect">
            <a:avLst/>
          </a:prstGeom>
          <a:noFill/>
        </p:spPr>
        <p:txBody>
          <a:bodyPr wrap="square">
            <a:spAutoFit/>
          </a:bodyPr>
          <a:lstStyle/>
          <a:p>
            <a:pPr algn="l"/>
            <a:r>
              <a:rPr sz="1600" b="0" i="0">
                <a:solidFill>
                  <a:srgbClr val="FFFFFF"/>
                </a:solidFill>
                <a:latin typeface="Instrument Serif"/>
              </a:rPr>
              <a:t>Comms
Automation</a:t>
            </a:r>
          </a:p>
        </p:txBody>
      </p:sp>
      <p:sp>
        <p:nvSpPr>
          <p:cNvPr id="23" name="TextBox 22"/>
          <p:cNvSpPr txBox="1"/>
          <p:nvPr/>
        </p:nvSpPr>
        <p:spPr>
          <a:xfrm>
            <a:off x="6309360" y="5285232"/>
            <a:ext cx="2194560" cy="804672"/>
          </a:xfrm>
          <a:prstGeom prst="rect">
            <a:avLst/>
          </a:prstGeom>
          <a:noFill/>
        </p:spPr>
        <p:txBody>
          <a:bodyPr wrap="square">
            <a:spAutoFit/>
          </a:bodyPr>
          <a:lstStyle/>
          <a:p>
            <a:pPr algn="l"/>
            <a:r>
              <a:rPr sz="1100" b="0" i="0">
                <a:solidFill>
                  <a:srgbClr val="9D9D9F"/>
                </a:solidFill>
                <a:latin typeface="Satoshi"/>
              </a:rPr>
              <a:t>Stakeholder updates segmented by role and delivered at scale.</a:t>
            </a:r>
          </a:p>
        </p:txBody>
      </p:sp>
      <p:sp>
        <p:nvSpPr>
          <p:cNvPr id="24" name="Rounded Rectangle 23"/>
          <p:cNvSpPr/>
          <p:nvPr/>
        </p:nvSpPr>
        <p:spPr>
          <a:xfrm>
            <a:off x="8778240" y="3977639"/>
            <a:ext cx="2560320" cy="242316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06840" y="4160520"/>
            <a:ext cx="548640" cy="384048"/>
          </a:xfrm>
          <a:prstGeom prst="rect">
            <a:avLst/>
          </a:prstGeom>
          <a:noFill/>
        </p:spPr>
        <p:txBody>
          <a:bodyPr wrap="square">
            <a:spAutoFit/>
          </a:bodyPr>
          <a:lstStyle/>
          <a:p>
            <a:pPr algn="l"/>
            <a:r>
              <a:rPr sz="2200" b="0" i="0">
                <a:solidFill>
                  <a:srgbClr val="A78BFA"/>
                </a:solidFill>
                <a:latin typeface="Instrument Serif"/>
              </a:rPr>
              <a:t>04</a:t>
            </a:r>
          </a:p>
        </p:txBody>
      </p:sp>
      <p:sp>
        <p:nvSpPr>
          <p:cNvPr id="26" name="TextBox 25"/>
          <p:cNvSpPr txBox="1"/>
          <p:nvPr/>
        </p:nvSpPr>
        <p:spPr>
          <a:xfrm>
            <a:off x="9006840" y="4617720"/>
            <a:ext cx="2194560" cy="594360"/>
          </a:xfrm>
          <a:prstGeom prst="rect">
            <a:avLst/>
          </a:prstGeom>
          <a:noFill/>
        </p:spPr>
        <p:txBody>
          <a:bodyPr wrap="square">
            <a:spAutoFit/>
          </a:bodyPr>
          <a:lstStyle/>
          <a:p>
            <a:pPr algn="l"/>
            <a:r>
              <a:rPr sz="1600" b="0" i="0">
                <a:solidFill>
                  <a:srgbClr val="FFFFFF"/>
                </a:solidFill>
                <a:latin typeface="Instrument Serif"/>
              </a:rPr>
              <a:t>Knowledge
Management</a:t>
            </a:r>
          </a:p>
        </p:txBody>
      </p:sp>
      <p:sp>
        <p:nvSpPr>
          <p:cNvPr id="27" name="TextBox 26"/>
          <p:cNvSpPr txBox="1"/>
          <p:nvPr/>
        </p:nvSpPr>
        <p:spPr>
          <a:xfrm>
            <a:off x="9006840" y="5285232"/>
            <a:ext cx="2194560" cy="804672"/>
          </a:xfrm>
          <a:prstGeom prst="rect">
            <a:avLst/>
          </a:prstGeom>
          <a:noFill/>
        </p:spPr>
        <p:txBody>
          <a:bodyPr wrap="square">
            <a:spAutoFit/>
          </a:bodyPr>
          <a:lstStyle/>
          <a:p>
            <a:pPr algn="l"/>
            <a:r>
              <a:rPr sz="1100" b="0" i="0">
                <a:solidFill>
                  <a:srgbClr val="9D9D9F"/>
                </a:solidFill>
                <a:latin typeface="Satoshi"/>
              </a:rPr>
              <a:t>Institutional knowledge searchable by any team member in any country.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TextBox 1"/>
          <p:cNvSpPr txBox="1"/>
          <p:nvPr/>
        </p:nvSpPr>
        <p:spPr>
          <a:xfrm>
            <a:off x="685800" y="201168"/>
            <a:ext cx="5486400" cy="256032"/>
          </a:xfrm>
          <a:prstGeom prst="rect">
            <a:avLst/>
          </a:prstGeom>
          <a:noFill/>
        </p:spPr>
        <p:txBody>
          <a:bodyPr wrap="square">
            <a:spAutoFit/>
          </a:bodyPr>
          <a:lstStyle/>
          <a:p>
            <a:pPr algn="l"/>
            <a:r>
              <a:rPr sz="900" b="1" i="0">
                <a:solidFill>
                  <a:srgbClr val="6B6B6E"/>
                </a:solidFill>
                <a:latin typeface="Satoshi"/>
              </a:rPr>
              <a:t>GENOSAI  x  EDUCATION OUTCOMES FUND</a:t>
            </a:r>
          </a:p>
        </p:txBody>
      </p:sp>
      <p:sp>
        <p:nvSpPr>
          <p:cNvPr id="3" name="TextBox 2"/>
          <p:cNvSpPr txBox="1"/>
          <p:nvPr/>
        </p:nvSpPr>
        <p:spPr>
          <a:xfrm>
            <a:off x="6858000" y="201168"/>
            <a:ext cx="4645152" cy="256032"/>
          </a:xfrm>
          <a:prstGeom prst="rect">
            <a:avLst/>
          </a:prstGeom>
          <a:noFill/>
        </p:spPr>
        <p:txBody>
          <a:bodyPr wrap="square">
            <a:spAutoFit/>
          </a:bodyPr>
          <a:lstStyle/>
          <a:p>
            <a:pPr algn="r"/>
            <a:r>
              <a:rPr sz="900" b="1" i="0">
                <a:solidFill>
                  <a:srgbClr val="6B6B6E"/>
                </a:solidFill>
                <a:latin typeface="Satoshi"/>
              </a:rPr>
              <a:t>04  .  AUTOMATION SYSTEMS</a:t>
            </a:r>
          </a:p>
        </p:txBody>
      </p:sp>
      <p:sp>
        <p:nvSpPr>
          <p:cNvPr id="4" name="Rectangle 3"/>
          <p:cNvSpPr/>
          <p:nvPr/>
        </p:nvSpPr>
        <p:spPr>
          <a:xfrm>
            <a:off x="685800" y="530352"/>
            <a:ext cx="10817352" cy="9525"/>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473952"/>
            <a:ext cx="7315200" cy="256032"/>
          </a:xfrm>
          <a:prstGeom prst="rect">
            <a:avLst/>
          </a:prstGeom>
          <a:noFill/>
        </p:spPr>
        <p:txBody>
          <a:bodyPr wrap="square">
            <a:spAutoFit/>
          </a:bodyPr>
          <a:lstStyle/>
          <a:p>
            <a:pPr algn="l"/>
            <a:r>
              <a:rPr sz="800" b="0" i="0">
                <a:solidFill>
                  <a:srgbClr val="444447"/>
                </a:solidFill>
                <a:latin typeface="Satoshi"/>
              </a:rPr>
              <a:t>AI Audit &amp; Automation Proposal  .  Education Outcomes Fund  .  2026</a:t>
            </a:r>
          </a:p>
        </p:txBody>
      </p:sp>
      <p:sp>
        <p:nvSpPr>
          <p:cNvPr id="6" name="TextBox 5"/>
          <p:cNvSpPr txBox="1"/>
          <p:nvPr/>
        </p:nvSpPr>
        <p:spPr>
          <a:xfrm>
            <a:off x="8686800" y="6473952"/>
            <a:ext cx="2816352" cy="256032"/>
          </a:xfrm>
          <a:prstGeom prst="rect">
            <a:avLst/>
          </a:prstGeom>
          <a:noFill/>
        </p:spPr>
        <p:txBody>
          <a:bodyPr wrap="square">
            <a:spAutoFit/>
          </a:bodyPr>
          <a:lstStyle/>
          <a:p>
            <a:pPr algn="r"/>
            <a:r>
              <a:rPr sz="800" b="0" i="0">
                <a:solidFill>
                  <a:srgbClr val="444447"/>
                </a:solidFill>
                <a:latin typeface="Satoshi"/>
              </a:rPr>
              <a:t>05 / 12</a:t>
            </a:r>
          </a:p>
        </p:txBody>
      </p:sp>
      <p:sp>
        <p:nvSpPr>
          <p:cNvPr id="7" name="TextBox 6"/>
          <p:cNvSpPr txBox="1"/>
          <p:nvPr/>
        </p:nvSpPr>
        <p:spPr>
          <a:xfrm>
            <a:off x="685800" y="777240"/>
            <a:ext cx="5486400" cy="274320"/>
          </a:xfrm>
          <a:prstGeom prst="rect">
            <a:avLst/>
          </a:prstGeom>
          <a:noFill/>
        </p:spPr>
        <p:txBody>
          <a:bodyPr wrap="square">
            <a:spAutoFit/>
          </a:bodyPr>
          <a:lstStyle/>
          <a:p>
            <a:pPr algn="l"/>
            <a:r>
              <a:rPr sz="1000" b="1" i="0">
                <a:solidFill>
                  <a:srgbClr val="A78BFA"/>
                </a:solidFill>
                <a:latin typeface="Satoshi"/>
              </a:rPr>
              <a:t>FIVE AI SYSTEMS FOR EOF</a:t>
            </a:r>
          </a:p>
        </p:txBody>
      </p:sp>
      <p:sp>
        <p:nvSpPr>
          <p:cNvPr id="8" name="TextBox 7"/>
          <p:cNvSpPr txBox="1"/>
          <p:nvPr/>
        </p:nvSpPr>
        <p:spPr>
          <a:xfrm>
            <a:off x="685800" y="1078992"/>
            <a:ext cx="9144000" cy="1463040"/>
          </a:xfrm>
          <a:prstGeom prst="rect">
            <a:avLst/>
          </a:prstGeom>
          <a:noFill/>
        </p:spPr>
        <p:txBody>
          <a:bodyPr wrap="square">
            <a:spAutoFit/>
          </a:bodyPr>
          <a:lstStyle/>
          <a:p>
            <a:pPr algn="l"/>
            <a:r>
              <a:rPr sz="3600" b="0" i="0">
                <a:solidFill>
                  <a:srgbClr val="FFFFFF"/>
                </a:solidFill>
                <a:latin typeface="Instrument Serif"/>
              </a:rPr>
              <a:t>The Automation Blueprint</a:t>
            </a:r>
          </a:p>
        </p:txBody>
      </p:sp>
      <p:sp>
        <p:nvSpPr>
          <p:cNvPr id="9" name="Rounded Rectangle 8"/>
          <p:cNvSpPr/>
          <p:nvPr/>
        </p:nvSpPr>
        <p:spPr>
          <a:xfrm>
            <a:off x="685800" y="2377440"/>
            <a:ext cx="2057400" cy="3749039"/>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14400" y="2606040"/>
            <a:ext cx="502920" cy="50292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624328"/>
            <a:ext cx="502920" cy="438912"/>
          </a:xfrm>
          <a:prstGeom prst="rect">
            <a:avLst/>
          </a:prstGeom>
          <a:noFill/>
        </p:spPr>
        <p:txBody>
          <a:bodyPr wrap="square">
            <a:spAutoFit/>
          </a:bodyPr>
          <a:lstStyle/>
          <a:p>
            <a:pPr algn="ctr"/>
            <a:r>
              <a:rPr sz="1600" b="1" i="0">
                <a:solidFill>
                  <a:srgbClr val="0A0A0F"/>
                </a:solidFill>
                <a:latin typeface="Satoshi"/>
              </a:rPr>
              <a:t>A</a:t>
            </a:r>
          </a:p>
        </p:txBody>
      </p:sp>
      <p:sp>
        <p:nvSpPr>
          <p:cNvPr id="12" name="TextBox 11"/>
          <p:cNvSpPr txBox="1"/>
          <p:nvPr/>
        </p:nvSpPr>
        <p:spPr>
          <a:xfrm>
            <a:off x="868680" y="3246120"/>
            <a:ext cx="1691640" cy="685800"/>
          </a:xfrm>
          <a:prstGeom prst="rect">
            <a:avLst/>
          </a:prstGeom>
          <a:noFill/>
        </p:spPr>
        <p:txBody>
          <a:bodyPr wrap="square">
            <a:spAutoFit/>
          </a:bodyPr>
          <a:lstStyle/>
          <a:p>
            <a:pPr algn="l"/>
            <a:r>
              <a:rPr sz="1500" b="0" i="0">
                <a:solidFill>
                  <a:srgbClr val="FFFFFF"/>
                </a:solidFill>
                <a:latin typeface="Instrument Serif"/>
              </a:rPr>
              <a:t>Partner
Intake AI</a:t>
            </a:r>
          </a:p>
        </p:txBody>
      </p:sp>
      <p:sp>
        <p:nvSpPr>
          <p:cNvPr id="13" name="TextBox 12"/>
          <p:cNvSpPr txBox="1"/>
          <p:nvPr/>
        </p:nvSpPr>
        <p:spPr>
          <a:xfrm>
            <a:off x="868680" y="4005072"/>
            <a:ext cx="1691640" cy="502920"/>
          </a:xfrm>
          <a:prstGeom prst="rect">
            <a:avLst/>
          </a:prstGeom>
          <a:noFill/>
        </p:spPr>
        <p:txBody>
          <a:bodyPr wrap="square">
            <a:spAutoFit/>
          </a:bodyPr>
          <a:lstStyle/>
          <a:p>
            <a:pPr algn="l"/>
            <a:r>
              <a:rPr sz="1200" b="0" i="0">
                <a:solidFill>
                  <a:srgbClr val="9D9D9F"/>
                </a:solidFill>
                <a:latin typeface="Satoshi"/>
              </a:rPr>
              <a:t>Smart triage for all inbound proposals.</a:t>
            </a:r>
          </a:p>
        </p:txBody>
      </p:sp>
      <p:sp>
        <p:nvSpPr>
          <p:cNvPr id="14" name="Rounded Rectangle 13"/>
          <p:cNvSpPr/>
          <p:nvPr/>
        </p:nvSpPr>
        <p:spPr>
          <a:xfrm>
            <a:off x="2898648" y="2377440"/>
            <a:ext cx="2057400" cy="3749039"/>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27248" y="2606040"/>
            <a:ext cx="502920" cy="50292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127248" y="2624328"/>
            <a:ext cx="502920" cy="438912"/>
          </a:xfrm>
          <a:prstGeom prst="rect">
            <a:avLst/>
          </a:prstGeom>
          <a:noFill/>
        </p:spPr>
        <p:txBody>
          <a:bodyPr wrap="square">
            <a:spAutoFit/>
          </a:bodyPr>
          <a:lstStyle/>
          <a:p>
            <a:pPr algn="ctr"/>
            <a:r>
              <a:rPr sz="1600" b="1" i="0">
                <a:solidFill>
                  <a:srgbClr val="0A0A0F"/>
                </a:solidFill>
                <a:latin typeface="Satoshi"/>
              </a:rPr>
              <a:t>B</a:t>
            </a:r>
          </a:p>
        </p:txBody>
      </p:sp>
      <p:sp>
        <p:nvSpPr>
          <p:cNvPr id="17" name="TextBox 16"/>
          <p:cNvSpPr txBox="1"/>
          <p:nvPr/>
        </p:nvSpPr>
        <p:spPr>
          <a:xfrm>
            <a:off x="3081528" y="3246120"/>
            <a:ext cx="1691640" cy="685800"/>
          </a:xfrm>
          <a:prstGeom prst="rect">
            <a:avLst/>
          </a:prstGeom>
          <a:noFill/>
        </p:spPr>
        <p:txBody>
          <a:bodyPr wrap="square">
            <a:spAutoFit/>
          </a:bodyPr>
          <a:lstStyle/>
          <a:p>
            <a:pPr algn="l"/>
            <a:r>
              <a:rPr sz="1500" b="0" i="0">
                <a:solidFill>
                  <a:srgbClr val="FFFFFF"/>
                </a:solidFill>
                <a:latin typeface="Instrument Serif"/>
              </a:rPr>
              <a:t>Donor
Reporting AI</a:t>
            </a:r>
          </a:p>
        </p:txBody>
      </p:sp>
      <p:sp>
        <p:nvSpPr>
          <p:cNvPr id="18" name="TextBox 17"/>
          <p:cNvSpPr txBox="1"/>
          <p:nvPr/>
        </p:nvSpPr>
        <p:spPr>
          <a:xfrm>
            <a:off x="3081528" y="4005072"/>
            <a:ext cx="1691640" cy="502920"/>
          </a:xfrm>
          <a:prstGeom prst="rect">
            <a:avLst/>
          </a:prstGeom>
          <a:noFill/>
        </p:spPr>
        <p:txBody>
          <a:bodyPr wrap="square">
            <a:spAutoFit/>
          </a:bodyPr>
          <a:lstStyle/>
          <a:p>
            <a:pPr algn="l"/>
            <a:r>
              <a:rPr sz="1200" b="0" i="0">
                <a:solidFill>
                  <a:srgbClr val="9D9D9F"/>
                </a:solidFill>
                <a:latin typeface="Satoshi"/>
              </a:rPr>
              <a:t>Auto-generate funder-specific reports.</a:t>
            </a:r>
          </a:p>
        </p:txBody>
      </p:sp>
      <p:sp>
        <p:nvSpPr>
          <p:cNvPr id="19" name="Rounded Rectangle 18"/>
          <p:cNvSpPr/>
          <p:nvPr/>
        </p:nvSpPr>
        <p:spPr>
          <a:xfrm>
            <a:off x="5111496" y="2377440"/>
            <a:ext cx="2057400" cy="3749039"/>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340096" y="2606040"/>
            <a:ext cx="502920" cy="50292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40096" y="2624328"/>
            <a:ext cx="502920" cy="438912"/>
          </a:xfrm>
          <a:prstGeom prst="rect">
            <a:avLst/>
          </a:prstGeom>
          <a:noFill/>
        </p:spPr>
        <p:txBody>
          <a:bodyPr wrap="square">
            <a:spAutoFit/>
          </a:bodyPr>
          <a:lstStyle/>
          <a:p>
            <a:pPr algn="ctr"/>
            <a:r>
              <a:rPr sz="1600" b="1" i="0">
                <a:solidFill>
                  <a:srgbClr val="0A0A0F"/>
                </a:solidFill>
                <a:latin typeface="Satoshi"/>
              </a:rPr>
              <a:t>C</a:t>
            </a:r>
          </a:p>
        </p:txBody>
      </p:sp>
      <p:sp>
        <p:nvSpPr>
          <p:cNvPr id="22" name="TextBox 21"/>
          <p:cNvSpPr txBox="1"/>
          <p:nvPr/>
        </p:nvSpPr>
        <p:spPr>
          <a:xfrm>
            <a:off x="5294376" y="3246120"/>
            <a:ext cx="1691640" cy="685800"/>
          </a:xfrm>
          <a:prstGeom prst="rect">
            <a:avLst/>
          </a:prstGeom>
          <a:noFill/>
        </p:spPr>
        <p:txBody>
          <a:bodyPr wrap="square">
            <a:spAutoFit/>
          </a:bodyPr>
          <a:lstStyle/>
          <a:p>
            <a:pPr algn="l"/>
            <a:r>
              <a:rPr sz="1500" b="0" i="0">
                <a:solidFill>
                  <a:srgbClr val="FFFFFF"/>
                </a:solidFill>
                <a:latin typeface="Instrument Serif"/>
              </a:rPr>
              <a:t>Stakeholder
Comms AI</a:t>
            </a:r>
          </a:p>
        </p:txBody>
      </p:sp>
      <p:sp>
        <p:nvSpPr>
          <p:cNvPr id="23" name="TextBox 22"/>
          <p:cNvSpPr txBox="1"/>
          <p:nvPr/>
        </p:nvSpPr>
        <p:spPr>
          <a:xfrm>
            <a:off x="5294376" y="4005072"/>
            <a:ext cx="1691640" cy="502920"/>
          </a:xfrm>
          <a:prstGeom prst="rect">
            <a:avLst/>
          </a:prstGeom>
          <a:noFill/>
        </p:spPr>
        <p:txBody>
          <a:bodyPr wrap="square">
            <a:spAutoFit/>
          </a:bodyPr>
          <a:lstStyle/>
          <a:p>
            <a:pPr algn="l"/>
            <a:r>
              <a:rPr sz="1200" b="0" i="0">
                <a:solidFill>
                  <a:srgbClr val="9D9D9F"/>
                </a:solidFill>
                <a:latin typeface="Satoshi"/>
              </a:rPr>
              <a:t>Segmented updates by audience.</a:t>
            </a:r>
          </a:p>
        </p:txBody>
      </p:sp>
      <p:sp>
        <p:nvSpPr>
          <p:cNvPr id="24" name="Rounded Rectangle 23"/>
          <p:cNvSpPr/>
          <p:nvPr/>
        </p:nvSpPr>
        <p:spPr>
          <a:xfrm>
            <a:off x="7324344" y="2377440"/>
            <a:ext cx="2057400" cy="3749039"/>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552944" y="2606040"/>
            <a:ext cx="502920" cy="50292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52944" y="2624328"/>
            <a:ext cx="502920" cy="438912"/>
          </a:xfrm>
          <a:prstGeom prst="rect">
            <a:avLst/>
          </a:prstGeom>
          <a:noFill/>
        </p:spPr>
        <p:txBody>
          <a:bodyPr wrap="square">
            <a:spAutoFit/>
          </a:bodyPr>
          <a:lstStyle/>
          <a:p>
            <a:pPr algn="ctr"/>
            <a:r>
              <a:rPr sz="1600" b="1" i="0">
                <a:solidFill>
                  <a:srgbClr val="0A0A0F"/>
                </a:solidFill>
                <a:latin typeface="Satoshi"/>
              </a:rPr>
              <a:t>D</a:t>
            </a:r>
          </a:p>
        </p:txBody>
      </p:sp>
      <p:sp>
        <p:nvSpPr>
          <p:cNvPr id="27" name="TextBox 26"/>
          <p:cNvSpPr txBox="1"/>
          <p:nvPr/>
        </p:nvSpPr>
        <p:spPr>
          <a:xfrm>
            <a:off x="7507224" y="3246120"/>
            <a:ext cx="1691640" cy="685800"/>
          </a:xfrm>
          <a:prstGeom prst="rect">
            <a:avLst/>
          </a:prstGeom>
          <a:noFill/>
        </p:spPr>
        <p:txBody>
          <a:bodyPr wrap="square">
            <a:spAutoFit/>
          </a:bodyPr>
          <a:lstStyle/>
          <a:p>
            <a:pPr algn="l"/>
            <a:r>
              <a:rPr sz="1500" b="0" i="0">
                <a:solidFill>
                  <a:srgbClr val="FFFFFF"/>
                </a:solidFill>
                <a:latin typeface="Instrument Serif"/>
              </a:rPr>
              <a:t>Knowledge
Management AI</a:t>
            </a:r>
          </a:p>
        </p:txBody>
      </p:sp>
      <p:sp>
        <p:nvSpPr>
          <p:cNvPr id="28" name="TextBox 27"/>
          <p:cNvSpPr txBox="1"/>
          <p:nvPr/>
        </p:nvSpPr>
        <p:spPr>
          <a:xfrm>
            <a:off x="7507224" y="4005072"/>
            <a:ext cx="1691640" cy="502920"/>
          </a:xfrm>
          <a:prstGeom prst="rect">
            <a:avLst/>
          </a:prstGeom>
          <a:noFill/>
        </p:spPr>
        <p:txBody>
          <a:bodyPr wrap="square">
            <a:spAutoFit/>
          </a:bodyPr>
          <a:lstStyle/>
          <a:p>
            <a:pPr algn="l"/>
            <a:r>
              <a:rPr sz="1200" b="0" i="0">
                <a:solidFill>
                  <a:srgbClr val="9D9D9F"/>
                </a:solidFill>
                <a:latin typeface="Satoshi"/>
              </a:rPr>
              <a:t>RAG over institutional knowledge base.</a:t>
            </a:r>
          </a:p>
        </p:txBody>
      </p:sp>
      <p:sp>
        <p:nvSpPr>
          <p:cNvPr id="29" name="Rounded Rectangle 28"/>
          <p:cNvSpPr/>
          <p:nvPr/>
        </p:nvSpPr>
        <p:spPr>
          <a:xfrm>
            <a:off x="9537192" y="2377440"/>
            <a:ext cx="2057400" cy="3749039"/>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765792" y="2606040"/>
            <a:ext cx="502920" cy="50292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765792" y="2624328"/>
            <a:ext cx="502920" cy="438912"/>
          </a:xfrm>
          <a:prstGeom prst="rect">
            <a:avLst/>
          </a:prstGeom>
          <a:noFill/>
        </p:spPr>
        <p:txBody>
          <a:bodyPr wrap="square">
            <a:spAutoFit/>
          </a:bodyPr>
          <a:lstStyle/>
          <a:p>
            <a:pPr algn="ctr"/>
            <a:r>
              <a:rPr sz="1600" b="1" i="0">
                <a:solidFill>
                  <a:srgbClr val="0A0A0F"/>
                </a:solidFill>
                <a:latin typeface="Satoshi"/>
              </a:rPr>
              <a:t>E</a:t>
            </a:r>
          </a:p>
        </p:txBody>
      </p:sp>
      <p:sp>
        <p:nvSpPr>
          <p:cNvPr id="32" name="TextBox 31"/>
          <p:cNvSpPr txBox="1"/>
          <p:nvPr/>
        </p:nvSpPr>
        <p:spPr>
          <a:xfrm>
            <a:off x="9720072" y="3246120"/>
            <a:ext cx="1691640" cy="685800"/>
          </a:xfrm>
          <a:prstGeom prst="rect">
            <a:avLst/>
          </a:prstGeom>
          <a:noFill/>
        </p:spPr>
        <p:txBody>
          <a:bodyPr wrap="square">
            <a:spAutoFit/>
          </a:bodyPr>
          <a:lstStyle/>
          <a:p>
            <a:pPr algn="l"/>
            <a:r>
              <a:rPr sz="1500" b="0" i="0">
                <a:solidFill>
                  <a:srgbClr val="FFFFFF"/>
                </a:solidFill>
                <a:latin typeface="Instrument Serif"/>
              </a:rPr>
              <a:t>Country Team
Coord. AI</a:t>
            </a:r>
          </a:p>
        </p:txBody>
      </p:sp>
      <p:sp>
        <p:nvSpPr>
          <p:cNvPr id="33" name="TextBox 32"/>
          <p:cNvSpPr txBox="1"/>
          <p:nvPr/>
        </p:nvSpPr>
        <p:spPr>
          <a:xfrm>
            <a:off x="9720072" y="4005072"/>
            <a:ext cx="1691640" cy="502920"/>
          </a:xfrm>
          <a:prstGeom prst="rect">
            <a:avLst/>
          </a:prstGeom>
          <a:noFill/>
        </p:spPr>
        <p:txBody>
          <a:bodyPr wrap="square">
            <a:spAutoFit/>
          </a:bodyPr>
          <a:lstStyle/>
          <a:p>
            <a:pPr algn="l"/>
            <a:r>
              <a:rPr sz="1200" b="0" i="0">
                <a:solidFill>
                  <a:srgbClr val="9D9D9F"/>
                </a:solidFill>
                <a:latin typeface="Satoshi"/>
              </a:rPr>
              <a:t>Async updates + scheduling automation.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TextBox 1"/>
          <p:cNvSpPr txBox="1"/>
          <p:nvPr/>
        </p:nvSpPr>
        <p:spPr>
          <a:xfrm>
            <a:off x="685800" y="201168"/>
            <a:ext cx="5486400" cy="256032"/>
          </a:xfrm>
          <a:prstGeom prst="rect">
            <a:avLst/>
          </a:prstGeom>
          <a:noFill/>
        </p:spPr>
        <p:txBody>
          <a:bodyPr wrap="square">
            <a:spAutoFit/>
          </a:bodyPr>
          <a:lstStyle/>
          <a:p>
            <a:pPr algn="l"/>
            <a:r>
              <a:rPr sz="900" b="1" i="0">
                <a:solidFill>
                  <a:srgbClr val="6B6B6E"/>
                </a:solidFill>
                <a:latin typeface="Satoshi"/>
              </a:rPr>
              <a:t>GENOSAI  x  EDUCATION OUTCOMES FUND</a:t>
            </a:r>
          </a:p>
        </p:txBody>
      </p:sp>
      <p:sp>
        <p:nvSpPr>
          <p:cNvPr id="3" name="TextBox 2"/>
          <p:cNvSpPr txBox="1"/>
          <p:nvPr/>
        </p:nvSpPr>
        <p:spPr>
          <a:xfrm>
            <a:off x="6858000" y="201168"/>
            <a:ext cx="4645152" cy="256032"/>
          </a:xfrm>
          <a:prstGeom prst="rect">
            <a:avLst/>
          </a:prstGeom>
          <a:noFill/>
        </p:spPr>
        <p:txBody>
          <a:bodyPr wrap="square">
            <a:spAutoFit/>
          </a:bodyPr>
          <a:lstStyle/>
          <a:p>
            <a:pPr algn="r"/>
            <a:r>
              <a:rPr sz="900" b="1" i="0">
                <a:solidFill>
                  <a:srgbClr val="6B6B6E"/>
                </a:solidFill>
                <a:latin typeface="Satoshi"/>
              </a:rPr>
              <a:t>04A  .  PARTNER INTAKE AI</a:t>
            </a:r>
          </a:p>
        </p:txBody>
      </p:sp>
      <p:sp>
        <p:nvSpPr>
          <p:cNvPr id="4" name="Rectangle 3"/>
          <p:cNvSpPr/>
          <p:nvPr/>
        </p:nvSpPr>
        <p:spPr>
          <a:xfrm>
            <a:off x="685800" y="530352"/>
            <a:ext cx="10817352" cy="9525"/>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473952"/>
            <a:ext cx="7315200" cy="256032"/>
          </a:xfrm>
          <a:prstGeom prst="rect">
            <a:avLst/>
          </a:prstGeom>
          <a:noFill/>
        </p:spPr>
        <p:txBody>
          <a:bodyPr wrap="square">
            <a:spAutoFit/>
          </a:bodyPr>
          <a:lstStyle/>
          <a:p>
            <a:pPr algn="l"/>
            <a:r>
              <a:rPr sz="800" b="0" i="0">
                <a:solidFill>
                  <a:srgbClr val="444447"/>
                </a:solidFill>
                <a:latin typeface="Satoshi"/>
              </a:rPr>
              <a:t>AI Audit &amp; Automation Proposal  .  Education Outcomes Fund  .  2026</a:t>
            </a:r>
          </a:p>
        </p:txBody>
      </p:sp>
      <p:sp>
        <p:nvSpPr>
          <p:cNvPr id="6" name="TextBox 5"/>
          <p:cNvSpPr txBox="1"/>
          <p:nvPr/>
        </p:nvSpPr>
        <p:spPr>
          <a:xfrm>
            <a:off x="8686800" y="6473952"/>
            <a:ext cx="2816352" cy="256032"/>
          </a:xfrm>
          <a:prstGeom prst="rect">
            <a:avLst/>
          </a:prstGeom>
          <a:noFill/>
        </p:spPr>
        <p:txBody>
          <a:bodyPr wrap="square">
            <a:spAutoFit/>
          </a:bodyPr>
          <a:lstStyle/>
          <a:p>
            <a:pPr algn="r"/>
            <a:r>
              <a:rPr sz="800" b="0" i="0">
                <a:solidFill>
                  <a:srgbClr val="444447"/>
                </a:solidFill>
                <a:latin typeface="Satoshi"/>
              </a:rPr>
              <a:t>06 / 12</a:t>
            </a:r>
          </a:p>
        </p:txBody>
      </p:sp>
      <p:sp>
        <p:nvSpPr>
          <p:cNvPr id="7" name="TextBox 6"/>
          <p:cNvSpPr txBox="1"/>
          <p:nvPr/>
        </p:nvSpPr>
        <p:spPr>
          <a:xfrm>
            <a:off x="685800" y="777240"/>
            <a:ext cx="5486400" cy="274320"/>
          </a:xfrm>
          <a:prstGeom prst="rect">
            <a:avLst/>
          </a:prstGeom>
          <a:noFill/>
        </p:spPr>
        <p:txBody>
          <a:bodyPr wrap="square">
            <a:spAutoFit/>
          </a:bodyPr>
          <a:lstStyle/>
          <a:p>
            <a:pPr algn="l"/>
            <a:r>
              <a:rPr sz="1000" b="1" i="0">
                <a:solidFill>
                  <a:srgbClr val="A78BFA"/>
                </a:solidFill>
                <a:latin typeface="Satoshi"/>
              </a:rPr>
              <a:t>MODULE A</a:t>
            </a:r>
          </a:p>
        </p:txBody>
      </p:sp>
      <p:sp>
        <p:nvSpPr>
          <p:cNvPr id="8" name="TextBox 7"/>
          <p:cNvSpPr txBox="1"/>
          <p:nvPr/>
        </p:nvSpPr>
        <p:spPr>
          <a:xfrm>
            <a:off x="685800" y="1078992"/>
            <a:ext cx="9144000" cy="1463040"/>
          </a:xfrm>
          <a:prstGeom prst="rect">
            <a:avLst/>
          </a:prstGeom>
          <a:noFill/>
        </p:spPr>
        <p:txBody>
          <a:bodyPr wrap="square">
            <a:spAutoFit/>
          </a:bodyPr>
          <a:lstStyle/>
          <a:p>
            <a:pPr algn="l"/>
            <a:r>
              <a:rPr sz="3400" b="0" i="0">
                <a:solidFill>
                  <a:srgbClr val="FFFFFF"/>
                </a:solidFill>
                <a:latin typeface="Instrument Serif"/>
              </a:rPr>
              <a:t>Partner &amp; Implementer Intake AI</a:t>
            </a:r>
          </a:p>
        </p:txBody>
      </p:sp>
      <p:sp>
        <p:nvSpPr>
          <p:cNvPr id="9" name="TextBox 8"/>
          <p:cNvSpPr txBox="1"/>
          <p:nvPr/>
        </p:nvSpPr>
        <p:spPr>
          <a:xfrm>
            <a:off x="685800" y="2011680"/>
            <a:ext cx="5943600" cy="384048"/>
          </a:xfrm>
          <a:prstGeom prst="rect">
            <a:avLst/>
          </a:prstGeom>
          <a:noFill/>
        </p:spPr>
        <p:txBody>
          <a:bodyPr wrap="square">
            <a:spAutoFit/>
          </a:bodyPr>
          <a:lstStyle/>
          <a:p>
            <a:pPr algn="l"/>
            <a:r>
              <a:rPr sz="1400" b="0" i="0">
                <a:solidFill>
                  <a:srgbClr val="86868A"/>
                </a:solidFill>
                <a:latin typeface="Satoshi"/>
              </a:rPr>
              <a:t>Every inbound proposal -- NGO, government partner, investor, or implementer -- enters a structured AI intake system that qualifies, scores, and routes before a programme manager is involved.</a:t>
            </a:r>
          </a:p>
        </p:txBody>
      </p:sp>
      <p:sp>
        <p:nvSpPr>
          <p:cNvPr id="10" name="Rectangle 9"/>
          <p:cNvSpPr/>
          <p:nvPr/>
        </p:nvSpPr>
        <p:spPr>
          <a:xfrm>
            <a:off x="685800" y="2514600"/>
            <a:ext cx="10817352" cy="9525"/>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743200"/>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12" name="TextBox 11"/>
          <p:cNvSpPr txBox="1"/>
          <p:nvPr/>
        </p:nvSpPr>
        <p:spPr>
          <a:xfrm>
            <a:off x="960120" y="2743200"/>
            <a:ext cx="4754880" cy="237744"/>
          </a:xfrm>
          <a:prstGeom prst="rect">
            <a:avLst/>
          </a:prstGeom>
          <a:noFill/>
        </p:spPr>
        <p:txBody>
          <a:bodyPr wrap="square">
            <a:spAutoFit/>
          </a:bodyPr>
          <a:lstStyle/>
          <a:p>
            <a:pPr algn="l"/>
            <a:r>
              <a:rPr sz="1300" b="1" i="0">
                <a:solidFill>
                  <a:srgbClr val="FFFFFF"/>
                </a:solidFill>
                <a:latin typeface="Satoshi"/>
              </a:rPr>
              <a:t>Smart intake routing</a:t>
            </a:r>
          </a:p>
        </p:txBody>
      </p:sp>
      <p:sp>
        <p:nvSpPr>
          <p:cNvPr id="13" name="TextBox 12"/>
          <p:cNvSpPr txBox="1"/>
          <p:nvPr/>
        </p:nvSpPr>
        <p:spPr>
          <a:xfrm>
            <a:off x="960120" y="2990088"/>
            <a:ext cx="4754880" cy="347472"/>
          </a:xfrm>
          <a:prstGeom prst="rect">
            <a:avLst/>
          </a:prstGeom>
          <a:noFill/>
        </p:spPr>
        <p:txBody>
          <a:bodyPr wrap="square">
            <a:spAutoFit/>
          </a:bodyPr>
          <a:lstStyle/>
          <a:p>
            <a:pPr algn="l"/>
            <a:r>
              <a:rPr sz="1200" b="0" i="0">
                <a:solidFill>
                  <a:srgbClr val="9D9D9F"/>
                </a:solidFill>
                <a:latin typeface="Satoshi"/>
              </a:rPr>
              <a:t>Inbound enquiries from the website categorised by type on submission: implementer proposal, government partnership, donor enquiry, researcher request, media. Each routed to the appropriate team member automatically.</a:t>
            </a:r>
          </a:p>
        </p:txBody>
      </p:sp>
      <p:sp>
        <p:nvSpPr>
          <p:cNvPr id="14" name="TextBox 13"/>
          <p:cNvSpPr txBox="1"/>
          <p:nvPr/>
        </p:nvSpPr>
        <p:spPr>
          <a:xfrm>
            <a:off x="685800" y="3401568"/>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15" name="TextBox 14"/>
          <p:cNvSpPr txBox="1"/>
          <p:nvPr/>
        </p:nvSpPr>
        <p:spPr>
          <a:xfrm>
            <a:off x="960120" y="3401568"/>
            <a:ext cx="4754880" cy="237744"/>
          </a:xfrm>
          <a:prstGeom prst="rect">
            <a:avLst/>
          </a:prstGeom>
          <a:noFill/>
        </p:spPr>
        <p:txBody>
          <a:bodyPr wrap="square">
            <a:spAutoFit/>
          </a:bodyPr>
          <a:lstStyle/>
          <a:p>
            <a:pPr algn="l"/>
            <a:r>
              <a:rPr sz="1300" b="1" i="0">
                <a:solidFill>
                  <a:srgbClr val="FFFFFF"/>
                </a:solidFill>
                <a:latin typeface="Satoshi"/>
              </a:rPr>
              <a:t>Implementer scoring</a:t>
            </a:r>
          </a:p>
        </p:txBody>
      </p:sp>
      <p:sp>
        <p:nvSpPr>
          <p:cNvPr id="16" name="TextBox 15"/>
          <p:cNvSpPr txBox="1"/>
          <p:nvPr/>
        </p:nvSpPr>
        <p:spPr>
          <a:xfrm>
            <a:off x="960120" y="3648456"/>
            <a:ext cx="4754880" cy="347472"/>
          </a:xfrm>
          <a:prstGeom prst="rect">
            <a:avLst/>
          </a:prstGeom>
          <a:noFill/>
        </p:spPr>
        <p:txBody>
          <a:bodyPr wrap="square">
            <a:spAutoFit/>
          </a:bodyPr>
          <a:lstStyle/>
          <a:p>
            <a:pPr algn="l"/>
            <a:r>
              <a:rPr sz="1200" b="0" i="0">
                <a:solidFill>
                  <a:srgbClr val="9D9D9F"/>
                </a:solidFill>
                <a:latin typeface="Satoshi"/>
              </a:rPr>
              <a:t>For NGO and implementer proposals, an AI intake form captures organisation type, country context, target population, capacity, and track record. A scoring model ranks fit against EOF's active programme criteria.</a:t>
            </a:r>
          </a:p>
        </p:txBody>
      </p:sp>
      <p:sp>
        <p:nvSpPr>
          <p:cNvPr id="17" name="TextBox 16"/>
          <p:cNvSpPr txBox="1"/>
          <p:nvPr/>
        </p:nvSpPr>
        <p:spPr>
          <a:xfrm>
            <a:off x="685800" y="4059936"/>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18" name="TextBox 17"/>
          <p:cNvSpPr txBox="1"/>
          <p:nvPr/>
        </p:nvSpPr>
        <p:spPr>
          <a:xfrm>
            <a:off x="960120" y="4059936"/>
            <a:ext cx="4754880" cy="237744"/>
          </a:xfrm>
          <a:prstGeom prst="rect">
            <a:avLst/>
          </a:prstGeom>
          <a:noFill/>
        </p:spPr>
        <p:txBody>
          <a:bodyPr wrap="square">
            <a:spAutoFit/>
          </a:bodyPr>
          <a:lstStyle/>
          <a:p>
            <a:pPr algn="l"/>
            <a:r>
              <a:rPr sz="1300" b="1" i="0">
                <a:solidFill>
                  <a:srgbClr val="FFFFFF"/>
                </a:solidFill>
                <a:latin typeface="Satoshi"/>
              </a:rPr>
              <a:t>Automated acknowledgement sequences</a:t>
            </a:r>
          </a:p>
        </p:txBody>
      </p:sp>
      <p:sp>
        <p:nvSpPr>
          <p:cNvPr id="19" name="TextBox 18"/>
          <p:cNvSpPr txBox="1"/>
          <p:nvPr/>
        </p:nvSpPr>
        <p:spPr>
          <a:xfrm>
            <a:off x="960120" y="4306824"/>
            <a:ext cx="4754880" cy="347472"/>
          </a:xfrm>
          <a:prstGeom prst="rect">
            <a:avLst/>
          </a:prstGeom>
          <a:noFill/>
        </p:spPr>
        <p:txBody>
          <a:bodyPr wrap="square">
            <a:spAutoFit/>
          </a:bodyPr>
          <a:lstStyle/>
          <a:p>
            <a:pPr algn="l"/>
            <a:r>
              <a:rPr sz="1200" b="0" i="0">
                <a:solidFill>
                  <a:srgbClr val="9D9D9F"/>
                </a:solidFill>
                <a:latin typeface="Satoshi"/>
              </a:rPr>
              <a:t>Every submission receives an immediate, context-aware acknowledgement. Qualified proposals receive a follow-up timeline; unqualified ones a respectful redirect to the implementer database -- without programme team involvement.</a:t>
            </a:r>
          </a:p>
        </p:txBody>
      </p:sp>
      <p:sp>
        <p:nvSpPr>
          <p:cNvPr id="20" name="TextBox 19"/>
          <p:cNvSpPr txBox="1"/>
          <p:nvPr/>
        </p:nvSpPr>
        <p:spPr>
          <a:xfrm>
            <a:off x="685800" y="4718304"/>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21" name="TextBox 20"/>
          <p:cNvSpPr txBox="1"/>
          <p:nvPr/>
        </p:nvSpPr>
        <p:spPr>
          <a:xfrm>
            <a:off x="960120" y="4718304"/>
            <a:ext cx="4754880" cy="237744"/>
          </a:xfrm>
          <a:prstGeom prst="rect">
            <a:avLst/>
          </a:prstGeom>
          <a:noFill/>
        </p:spPr>
        <p:txBody>
          <a:bodyPr wrap="square">
            <a:spAutoFit/>
          </a:bodyPr>
          <a:lstStyle/>
          <a:p>
            <a:pPr algn="l"/>
            <a:r>
              <a:rPr sz="1300" b="1" i="0">
                <a:solidFill>
                  <a:srgbClr val="FFFFFF"/>
                </a:solidFill>
                <a:latin typeface="Satoshi"/>
              </a:rPr>
              <a:t>Meeting scheduling for qualified leads</a:t>
            </a:r>
          </a:p>
        </p:txBody>
      </p:sp>
      <p:sp>
        <p:nvSpPr>
          <p:cNvPr id="22" name="TextBox 21"/>
          <p:cNvSpPr txBox="1"/>
          <p:nvPr/>
        </p:nvSpPr>
        <p:spPr>
          <a:xfrm>
            <a:off x="960120" y="4965192"/>
            <a:ext cx="4754880" cy="347472"/>
          </a:xfrm>
          <a:prstGeom prst="rect">
            <a:avLst/>
          </a:prstGeom>
          <a:noFill/>
        </p:spPr>
        <p:txBody>
          <a:bodyPr wrap="square">
            <a:spAutoFit/>
          </a:bodyPr>
          <a:lstStyle/>
          <a:p>
            <a:pPr algn="l"/>
            <a:r>
              <a:rPr sz="1200" b="0" i="0">
                <a:solidFill>
                  <a:srgbClr val="9D9D9F"/>
                </a:solidFill>
                <a:latin typeface="Satoshi"/>
              </a:rPr>
              <a:t>Proposals that pass the scoring threshold trigger an automated meeting invite to Eugenio Donadio or the relevant Programme Lead. No back-and-forth scheduling required.</a:t>
            </a:r>
          </a:p>
        </p:txBody>
      </p:sp>
      <p:sp>
        <p:nvSpPr>
          <p:cNvPr id="23" name="TextBox 22"/>
          <p:cNvSpPr txBox="1"/>
          <p:nvPr/>
        </p:nvSpPr>
        <p:spPr>
          <a:xfrm>
            <a:off x="685800" y="5376672"/>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24" name="TextBox 23"/>
          <p:cNvSpPr txBox="1"/>
          <p:nvPr/>
        </p:nvSpPr>
        <p:spPr>
          <a:xfrm>
            <a:off x="960120" y="5376672"/>
            <a:ext cx="4754880" cy="237744"/>
          </a:xfrm>
          <a:prstGeom prst="rect">
            <a:avLst/>
          </a:prstGeom>
          <a:noFill/>
        </p:spPr>
        <p:txBody>
          <a:bodyPr wrap="square">
            <a:spAutoFit/>
          </a:bodyPr>
          <a:lstStyle/>
          <a:p>
            <a:pPr algn="l"/>
            <a:r>
              <a:rPr sz="1300" b="1" i="0">
                <a:solidFill>
                  <a:srgbClr val="FFFFFF"/>
                </a:solidFill>
                <a:latin typeface="Satoshi"/>
              </a:rPr>
              <a:t>CRM pipeline integration</a:t>
            </a:r>
          </a:p>
        </p:txBody>
      </p:sp>
      <p:sp>
        <p:nvSpPr>
          <p:cNvPr id="25" name="TextBox 24"/>
          <p:cNvSpPr txBox="1"/>
          <p:nvPr/>
        </p:nvSpPr>
        <p:spPr>
          <a:xfrm>
            <a:off x="960120" y="5623560"/>
            <a:ext cx="4754880" cy="347472"/>
          </a:xfrm>
          <a:prstGeom prst="rect">
            <a:avLst/>
          </a:prstGeom>
          <a:noFill/>
        </p:spPr>
        <p:txBody>
          <a:bodyPr wrap="square">
            <a:spAutoFit/>
          </a:bodyPr>
          <a:lstStyle/>
          <a:p>
            <a:pPr algn="l"/>
            <a:r>
              <a:rPr sz="1200" b="0" i="0">
                <a:solidFill>
                  <a:srgbClr val="9D9D9F"/>
                </a:solidFill>
                <a:latin typeface="Satoshi"/>
              </a:rPr>
              <a:t>All intake data flows into a CRM pipeline -- partner stage, geography, programme fit. Max McCabe and Milena Castellnou see the full inbound picture in one view.</a:t>
            </a:r>
          </a:p>
        </p:txBody>
      </p:sp>
      <p:sp>
        <p:nvSpPr>
          <p:cNvPr id="26" name="Rounded Rectangle 25"/>
          <p:cNvSpPr/>
          <p:nvPr/>
        </p:nvSpPr>
        <p:spPr>
          <a:xfrm>
            <a:off x="6858000" y="2743200"/>
            <a:ext cx="4572000" cy="338328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132320" y="2926080"/>
            <a:ext cx="4114800" cy="256032"/>
          </a:xfrm>
          <a:prstGeom prst="rect">
            <a:avLst/>
          </a:prstGeom>
          <a:noFill/>
        </p:spPr>
        <p:txBody>
          <a:bodyPr wrap="square">
            <a:spAutoFit/>
          </a:bodyPr>
          <a:lstStyle/>
          <a:p>
            <a:pPr algn="l"/>
            <a:r>
              <a:rPr sz="900" b="1" i="0">
                <a:solidFill>
                  <a:srgbClr val="6B6B6E"/>
                </a:solidFill>
                <a:latin typeface="Satoshi"/>
              </a:rPr>
              <a:t>THE CURRENT STATE</a:t>
            </a:r>
          </a:p>
        </p:txBody>
      </p:sp>
      <p:sp>
        <p:nvSpPr>
          <p:cNvPr id="28" name="TextBox 27"/>
          <p:cNvSpPr txBox="1"/>
          <p:nvPr/>
        </p:nvSpPr>
        <p:spPr>
          <a:xfrm>
            <a:off x="7132320" y="3291840"/>
            <a:ext cx="4114800" cy="502920"/>
          </a:xfrm>
          <a:prstGeom prst="rect">
            <a:avLst/>
          </a:prstGeom>
          <a:noFill/>
        </p:spPr>
        <p:txBody>
          <a:bodyPr wrap="square">
            <a:spAutoFit/>
          </a:bodyPr>
          <a:lstStyle/>
          <a:p>
            <a:pPr algn="l"/>
            <a:r>
              <a:rPr sz="1800" b="0" i="0">
                <a:solidFill>
                  <a:srgbClr val="FFFFFF"/>
                </a:solidFill>
                <a:latin typeface="Instrument Serif"/>
              </a:rPr>
              <a:t>A Google Form with no triage.</a:t>
            </a:r>
          </a:p>
        </p:txBody>
      </p:sp>
      <p:sp>
        <p:nvSpPr>
          <p:cNvPr id="29" name="TextBox 28"/>
          <p:cNvSpPr txBox="1"/>
          <p:nvPr/>
        </p:nvSpPr>
        <p:spPr>
          <a:xfrm>
            <a:off x="7132320" y="3822191"/>
            <a:ext cx="4114800" cy="502920"/>
          </a:xfrm>
          <a:prstGeom prst="rect">
            <a:avLst/>
          </a:prstGeom>
          <a:noFill/>
        </p:spPr>
        <p:txBody>
          <a:bodyPr wrap="square">
            <a:spAutoFit/>
          </a:bodyPr>
          <a:lstStyle/>
          <a:p>
            <a:pPr algn="l"/>
            <a:r>
              <a:rPr sz="1600" b="0" i="0">
                <a:solidFill>
                  <a:srgbClr val="F87171"/>
                </a:solidFill>
                <a:latin typeface="Instrument Serif"/>
              </a:rPr>
              <a:t>Every submission handled manually.</a:t>
            </a:r>
          </a:p>
        </p:txBody>
      </p:sp>
      <p:sp>
        <p:nvSpPr>
          <p:cNvPr id="30" name="TextBox 29"/>
          <p:cNvSpPr txBox="1"/>
          <p:nvPr/>
        </p:nvSpPr>
        <p:spPr>
          <a:xfrm>
            <a:off x="7132320" y="4462272"/>
            <a:ext cx="4114800" cy="658368"/>
          </a:xfrm>
          <a:prstGeom prst="rect">
            <a:avLst/>
          </a:prstGeom>
          <a:noFill/>
        </p:spPr>
        <p:txBody>
          <a:bodyPr wrap="square">
            <a:spAutoFit/>
          </a:bodyPr>
          <a:lstStyle/>
          <a:p>
            <a:pPr algn="l"/>
            <a:r>
              <a:rPr sz="1100" b="0" i="0">
                <a:solidFill>
                  <a:srgbClr val="9D9D9F"/>
                </a:solidFill>
                <a:latin typeface="Satoshi"/>
              </a:rPr>
              <a:t>With five active programmes and a sixth in development, unqualified proposals absorb programme team time that belongs on Sierra Leone, Nigeria, and Namibia.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TextBox 1"/>
          <p:cNvSpPr txBox="1"/>
          <p:nvPr/>
        </p:nvSpPr>
        <p:spPr>
          <a:xfrm>
            <a:off x="685800" y="201168"/>
            <a:ext cx="5486400" cy="256032"/>
          </a:xfrm>
          <a:prstGeom prst="rect">
            <a:avLst/>
          </a:prstGeom>
          <a:noFill/>
        </p:spPr>
        <p:txBody>
          <a:bodyPr wrap="square">
            <a:spAutoFit/>
          </a:bodyPr>
          <a:lstStyle/>
          <a:p>
            <a:pPr algn="l"/>
            <a:r>
              <a:rPr sz="900" b="1" i="0">
                <a:solidFill>
                  <a:srgbClr val="6B6B6E"/>
                </a:solidFill>
                <a:latin typeface="Satoshi"/>
              </a:rPr>
              <a:t>GENOSAI  x  EDUCATION OUTCOMES FUND</a:t>
            </a:r>
          </a:p>
        </p:txBody>
      </p:sp>
      <p:sp>
        <p:nvSpPr>
          <p:cNvPr id="3" name="TextBox 2"/>
          <p:cNvSpPr txBox="1"/>
          <p:nvPr/>
        </p:nvSpPr>
        <p:spPr>
          <a:xfrm>
            <a:off x="6858000" y="201168"/>
            <a:ext cx="4645152" cy="256032"/>
          </a:xfrm>
          <a:prstGeom prst="rect">
            <a:avLst/>
          </a:prstGeom>
          <a:noFill/>
        </p:spPr>
        <p:txBody>
          <a:bodyPr wrap="square">
            <a:spAutoFit/>
          </a:bodyPr>
          <a:lstStyle/>
          <a:p>
            <a:pPr algn="r"/>
            <a:r>
              <a:rPr sz="900" b="1" i="0">
                <a:solidFill>
                  <a:srgbClr val="6B6B6E"/>
                </a:solidFill>
                <a:latin typeface="Satoshi"/>
              </a:rPr>
              <a:t>04B  .  DONOR REPORTING AI</a:t>
            </a:r>
          </a:p>
        </p:txBody>
      </p:sp>
      <p:sp>
        <p:nvSpPr>
          <p:cNvPr id="4" name="Rectangle 3"/>
          <p:cNvSpPr/>
          <p:nvPr/>
        </p:nvSpPr>
        <p:spPr>
          <a:xfrm>
            <a:off x="685800" y="530352"/>
            <a:ext cx="10817352" cy="9525"/>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473952"/>
            <a:ext cx="7315200" cy="256032"/>
          </a:xfrm>
          <a:prstGeom prst="rect">
            <a:avLst/>
          </a:prstGeom>
          <a:noFill/>
        </p:spPr>
        <p:txBody>
          <a:bodyPr wrap="square">
            <a:spAutoFit/>
          </a:bodyPr>
          <a:lstStyle/>
          <a:p>
            <a:pPr algn="l"/>
            <a:r>
              <a:rPr sz="800" b="0" i="0">
                <a:solidFill>
                  <a:srgbClr val="444447"/>
                </a:solidFill>
                <a:latin typeface="Satoshi"/>
              </a:rPr>
              <a:t>AI Audit &amp; Automation Proposal  .  Education Outcomes Fund  .  2026</a:t>
            </a:r>
          </a:p>
        </p:txBody>
      </p:sp>
      <p:sp>
        <p:nvSpPr>
          <p:cNvPr id="6" name="TextBox 5"/>
          <p:cNvSpPr txBox="1"/>
          <p:nvPr/>
        </p:nvSpPr>
        <p:spPr>
          <a:xfrm>
            <a:off x="8686800" y="6473952"/>
            <a:ext cx="2816352" cy="256032"/>
          </a:xfrm>
          <a:prstGeom prst="rect">
            <a:avLst/>
          </a:prstGeom>
          <a:noFill/>
        </p:spPr>
        <p:txBody>
          <a:bodyPr wrap="square">
            <a:spAutoFit/>
          </a:bodyPr>
          <a:lstStyle/>
          <a:p>
            <a:pPr algn="r"/>
            <a:r>
              <a:rPr sz="800" b="0" i="0">
                <a:solidFill>
                  <a:srgbClr val="444447"/>
                </a:solidFill>
                <a:latin typeface="Satoshi"/>
              </a:rPr>
              <a:t>07 / 12</a:t>
            </a:r>
          </a:p>
        </p:txBody>
      </p:sp>
      <p:sp>
        <p:nvSpPr>
          <p:cNvPr id="7" name="TextBox 6"/>
          <p:cNvSpPr txBox="1"/>
          <p:nvPr/>
        </p:nvSpPr>
        <p:spPr>
          <a:xfrm>
            <a:off x="685800" y="777240"/>
            <a:ext cx="5486400" cy="274320"/>
          </a:xfrm>
          <a:prstGeom prst="rect">
            <a:avLst/>
          </a:prstGeom>
          <a:noFill/>
        </p:spPr>
        <p:txBody>
          <a:bodyPr wrap="square">
            <a:spAutoFit/>
          </a:bodyPr>
          <a:lstStyle/>
          <a:p>
            <a:pPr algn="l"/>
            <a:r>
              <a:rPr sz="1000" b="1" i="0">
                <a:solidFill>
                  <a:srgbClr val="A78BFA"/>
                </a:solidFill>
                <a:latin typeface="Satoshi"/>
              </a:rPr>
              <a:t>MODULE B</a:t>
            </a:r>
          </a:p>
        </p:txBody>
      </p:sp>
      <p:sp>
        <p:nvSpPr>
          <p:cNvPr id="8" name="TextBox 7"/>
          <p:cNvSpPr txBox="1"/>
          <p:nvPr/>
        </p:nvSpPr>
        <p:spPr>
          <a:xfrm>
            <a:off x="685800" y="1078992"/>
            <a:ext cx="9144000" cy="1463040"/>
          </a:xfrm>
          <a:prstGeom prst="rect">
            <a:avLst/>
          </a:prstGeom>
          <a:noFill/>
        </p:spPr>
        <p:txBody>
          <a:bodyPr wrap="square">
            <a:spAutoFit/>
          </a:bodyPr>
          <a:lstStyle/>
          <a:p>
            <a:pPr algn="l"/>
            <a:r>
              <a:rPr sz="3400" b="0" i="0">
                <a:solidFill>
                  <a:srgbClr val="FFFFFF"/>
                </a:solidFill>
                <a:latin typeface="Instrument Serif"/>
              </a:rPr>
              <a:t>Donor Reporting Automation</a:t>
            </a:r>
          </a:p>
        </p:txBody>
      </p:sp>
      <p:sp>
        <p:nvSpPr>
          <p:cNvPr id="9" name="TextBox 8"/>
          <p:cNvSpPr txBox="1"/>
          <p:nvPr/>
        </p:nvSpPr>
        <p:spPr>
          <a:xfrm>
            <a:off x="685800" y="2011680"/>
            <a:ext cx="5943600" cy="384048"/>
          </a:xfrm>
          <a:prstGeom prst="rect">
            <a:avLst/>
          </a:prstGeom>
          <a:noFill/>
        </p:spPr>
        <p:txBody>
          <a:bodyPr wrap="square">
            <a:spAutoFit/>
          </a:bodyPr>
          <a:lstStyle/>
          <a:p>
            <a:pPr algn="l"/>
            <a:r>
              <a:rPr sz="1400" b="0" i="0">
                <a:solidFill>
                  <a:srgbClr val="86868A"/>
                </a:solidFill>
                <a:latin typeface="Satoshi"/>
              </a:rPr>
              <a:t>EOF has five active programmes, each with multiple funders. CIFF, UBS Optimus Foundation, and the Japan Ministry of Foreign Affairs each have different reporting requirements. AI compiles the data -- the team validates and signs off.</a:t>
            </a:r>
          </a:p>
        </p:txBody>
      </p:sp>
      <p:sp>
        <p:nvSpPr>
          <p:cNvPr id="10" name="Rectangle 9"/>
          <p:cNvSpPr/>
          <p:nvPr/>
        </p:nvSpPr>
        <p:spPr>
          <a:xfrm>
            <a:off x="685800" y="2514600"/>
            <a:ext cx="10817352" cy="9525"/>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743200"/>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12" name="TextBox 11"/>
          <p:cNvSpPr txBox="1"/>
          <p:nvPr/>
        </p:nvSpPr>
        <p:spPr>
          <a:xfrm>
            <a:off x="960120" y="2743200"/>
            <a:ext cx="4754880" cy="237744"/>
          </a:xfrm>
          <a:prstGeom prst="rect">
            <a:avLst/>
          </a:prstGeom>
          <a:noFill/>
        </p:spPr>
        <p:txBody>
          <a:bodyPr wrap="square">
            <a:spAutoFit/>
          </a:bodyPr>
          <a:lstStyle/>
          <a:p>
            <a:pPr algn="l"/>
            <a:r>
              <a:rPr sz="1300" b="1" i="0">
                <a:solidFill>
                  <a:srgbClr val="FFFFFF"/>
                </a:solidFill>
                <a:latin typeface="Satoshi"/>
              </a:rPr>
              <a:t>Verified outcomes data aggregation</a:t>
            </a:r>
          </a:p>
        </p:txBody>
      </p:sp>
      <p:sp>
        <p:nvSpPr>
          <p:cNvPr id="13" name="TextBox 12"/>
          <p:cNvSpPr txBox="1"/>
          <p:nvPr/>
        </p:nvSpPr>
        <p:spPr>
          <a:xfrm>
            <a:off x="960120" y="2990088"/>
            <a:ext cx="4754880" cy="347472"/>
          </a:xfrm>
          <a:prstGeom prst="rect">
            <a:avLst/>
          </a:prstGeom>
          <a:noFill/>
        </p:spPr>
        <p:txBody>
          <a:bodyPr wrap="square">
            <a:spAutoFit/>
          </a:bodyPr>
          <a:lstStyle/>
          <a:p>
            <a:pPr algn="l"/>
            <a:r>
              <a:rPr sz="1200" b="0" i="0">
                <a:solidFill>
                  <a:srgbClr val="9D9D9F"/>
                </a:solidFill>
                <a:latin typeface="Satoshi"/>
              </a:rPr>
              <a:t>Results from independent enumerators and government inspectors aggregated automatically by programme, cohort, and measurement period. No manual compilation from raw verification data.</a:t>
            </a:r>
          </a:p>
        </p:txBody>
      </p:sp>
      <p:sp>
        <p:nvSpPr>
          <p:cNvPr id="14" name="TextBox 13"/>
          <p:cNvSpPr txBox="1"/>
          <p:nvPr/>
        </p:nvSpPr>
        <p:spPr>
          <a:xfrm>
            <a:off x="685800" y="3401568"/>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15" name="TextBox 14"/>
          <p:cNvSpPr txBox="1"/>
          <p:nvPr/>
        </p:nvSpPr>
        <p:spPr>
          <a:xfrm>
            <a:off x="960120" y="3401568"/>
            <a:ext cx="4754880" cy="237744"/>
          </a:xfrm>
          <a:prstGeom prst="rect">
            <a:avLst/>
          </a:prstGeom>
          <a:noFill/>
        </p:spPr>
        <p:txBody>
          <a:bodyPr wrap="square">
            <a:spAutoFit/>
          </a:bodyPr>
          <a:lstStyle/>
          <a:p>
            <a:pPr algn="l"/>
            <a:r>
              <a:rPr sz="1300" b="1" i="0">
                <a:solidFill>
                  <a:srgbClr val="FFFFFF"/>
                </a:solidFill>
                <a:latin typeface="Satoshi"/>
              </a:rPr>
              <a:t>Funder-specific report drafts</a:t>
            </a:r>
          </a:p>
        </p:txBody>
      </p:sp>
      <p:sp>
        <p:nvSpPr>
          <p:cNvPr id="16" name="TextBox 15"/>
          <p:cNvSpPr txBox="1"/>
          <p:nvPr/>
        </p:nvSpPr>
        <p:spPr>
          <a:xfrm>
            <a:off x="960120" y="3648456"/>
            <a:ext cx="4754880" cy="347472"/>
          </a:xfrm>
          <a:prstGeom prst="rect">
            <a:avLst/>
          </a:prstGeom>
          <a:noFill/>
        </p:spPr>
        <p:txBody>
          <a:bodyPr wrap="square">
            <a:spAutoFit/>
          </a:bodyPr>
          <a:lstStyle/>
          <a:p>
            <a:pPr algn="l"/>
            <a:r>
              <a:rPr sz="1200" b="0" i="0">
                <a:solidFill>
                  <a:srgbClr val="9D9D9F"/>
                </a:solidFill>
                <a:latin typeface="Satoshi"/>
              </a:rPr>
              <a:t>AI generates a report draft formatted to each donor's template: CIFF narrative format, UBS Optimus financial summary, Japan MoFA results table. Programme Analysts review and finalise -- not build from scratch.</a:t>
            </a:r>
          </a:p>
        </p:txBody>
      </p:sp>
      <p:sp>
        <p:nvSpPr>
          <p:cNvPr id="17" name="TextBox 16"/>
          <p:cNvSpPr txBox="1"/>
          <p:nvPr/>
        </p:nvSpPr>
        <p:spPr>
          <a:xfrm>
            <a:off x="685800" y="4059936"/>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18" name="TextBox 17"/>
          <p:cNvSpPr txBox="1"/>
          <p:nvPr/>
        </p:nvSpPr>
        <p:spPr>
          <a:xfrm>
            <a:off x="960120" y="4059936"/>
            <a:ext cx="4754880" cy="237744"/>
          </a:xfrm>
          <a:prstGeom prst="rect">
            <a:avLst/>
          </a:prstGeom>
          <a:noFill/>
        </p:spPr>
        <p:txBody>
          <a:bodyPr wrap="square">
            <a:spAutoFit/>
          </a:bodyPr>
          <a:lstStyle/>
          <a:p>
            <a:pPr algn="l"/>
            <a:r>
              <a:rPr sz="1300" b="1" i="0">
                <a:solidFill>
                  <a:srgbClr val="FFFFFF"/>
                </a:solidFill>
                <a:latin typeface="Satoshi"/>
              </a:rPr>
              <a:t>Anomaly flagging</a:t>
            </a:r>
          </a:p>
        </p:txBody>
      </p:sp>
      <p:sp>
        <p:nvSpPr>
          <p:cNvPr id="19" name="TextBox 18"/>
          <p:cNvSpPr txBox="1"/>
          <p:nvPr/>
        </p:nvSpPr>
        <p:spPr>
          <a:xfrm>
            <a:off x="960120" y="4306824"/>
            <a:ext cx="4754880" cy="347472"/>
          </a:xfrm>
          <a:prstGeom prst="rect">
            <a:avLst/>
          </a:prstGeom>
          <a:noFill/>
        </p:spPr>
        <p:txBody>
          <a:bodyPr wrap="square">
            <a:spAutoFit/>
          </a:bodyPr>
          <a:lstStyle/>
          <a:p>
            <a:pPr algn="l"/>
            <a:r>
              <a:rPr sz="1200" b="0" i="0">
                <a:solidFill>
                  <a:srgbClr val="9D9D9F"/>
                </a:solidFill>
                <a:latin typeface="Satoshi"/>
              </a:rPr>
              <a:t>When verified outcomes data deviates significantly from projections, the AI flags it before the report is drafted -- giving the team time to contextualise the finding rather than explain it reactively.</a:t>
            </a:r>
          </a:p>
        </p:txBody>
      </p:sp>
      <p:sp>
        <p:nvSpPr>
          <p:cNvPr id="20" name="TextBox 19"/>
          <p:cNvSpPr txBox="1"/>
          <p:nvPr/>
        </p:nvSpPr>
        <p:spPr>
          <a:xfrm>
            <a:off x="685800" y="4718304"/>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21" name="TextBox 20"/>
          <p:cNvSpPr txBox="1"/>
          <p:nvPr/>
        </p:nvSpPr>
        <p:spPr>
          <a:xfrm>
            <a:off x="960120" y="4718304"/>
            <a:ext cx="4754880" cy="237744"/>
          </a:xfrm>
          <a:prstGeom prst="rect">
            <a:avLst/>
          </a:prstGeom>
          <a:noFill/>
        </p:spPr>
        <p:txBody>
          <a:bodyPr wrap="square">
            <a:spAutoFit/>
          </a:bodyPr>
          <a:lstStyle/>
          <a:p>
            <a:pPr algn="l"/>
            <a:r>
              <a:rPr sz="1300" b="1" i="0">
                <a:solidFill>
                  <a:srgbClr val="FFFFFF"/>
                </a:solidFill>
                <a:latin typeface="Satoshi"/>
              </a:rPr>
              <a:t>Progress milestone alerts</a:t>
            </a:r>
          </a:p>
        </p:txBody>
      </p:sp>
      <p:sp>
        <p:nvSpPr>
          <p:cNvPr id="22" name="TextBox 21"/>
          <p:cNvSpPr txBox="1"/>
          <p:nvPr/>
        </p:nvSpPr>
        <p:spPr>
          <a:xfrm>
            <a:off x="960120" y="4965192"/>
            <a:ext cx="4754880" cy="347472"/>
          </a:xfrm>
          <a:prstGeom prst="rect">
            <a:avLst/>
          </a:prstGeom>
          <a:noFill/>
        </p:spPr>
        <p:txBody>
          <a:bodyPr wrap="square">
            <a:spAutoFit/>
          </a:bodyPr>
          <a:lstStyle/>
          <a:p>
            <a:pPr algn="l"/>
            <a:r>
              <a:rPr sz="1200" b="0" i="0">
                <a:solidFill>
                  <a:srgbClr val="9D9D9F"/>
                </a:solidFill>
                <a:latin typeface="Satoshi"/>
              </a:rPr>
              <a:t>When a programme hits a verified milestone (e.g. 50K of 100K SLEIC children reached), the relevant funder receives an automated milestone update -- maintaining donor confidence between formal reporting periods.</a:t>
            </a:r>
          </a:p>
        </p:txBody>
      </p:sp>
      <p:sp>
        <p:nvSpPr>
          <p:cNvPr id="23" name="TextBox 22"/>
          <p:cNvSpPr txBox="1"/>
          <p:nvPr/>
        </p:nvSpPr>
        <p:spPr>
          <a:xfrm>
            <a:off x="685800" y="5376672"/>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24" name="TextBox 23"/>
          <p:cNvSpPr txBox="1"/>
          <p:nvPr/>
        </p:nvSpPr>
        <p:spPr>
          <a:xfrm>
            <a:off x="960120" y="5376672"/>
            <a:ext cx="4754880" cy="237744"/>
          </a:xfrm>
          <a:prstGeom prst="rect">
            <a:avLst/>
          </a:prstGeom>
          <a:noFill/>
        </p:spPr>
        <p:txBody>
          <a:bodyPr wrap="square">
            <a:spAutoFit/>
          </a:bodyPr>
          <a:lstStyle/>
          <a:p>
            <a:pPr algn="l"/>
            <a:r>
              <a:rPr sz="1300" b="1" i="0">
                <a:solidFill>
                  <a:srgbClr val="FFFFFF"/>
                </a:solidFill>
                <a:latin typeface="Satoshi"/>
              </a:rPr>
              <a:t>Cross-programme results dashboard</a:t>
            </a:r>
          </a:p>
        </p:txBody>
      </p:sp>
      <p:sp>
        <p:nvSpPr>
          <p:cNvPr id="25" name="TextBox 24"/>
          <p:cNvSpPr txBox="1"/>
          <p:nvPr/>
        </p:nvSpPr>
        <p:spPr>
          <a:xfrm>
            <a:off x="960120" y="5623560"/>
            <a:ext cx="4754880" cy="347472"/>
          </a:xfrm>
          <a:prstGeom prst="rect">
            <a:avLst/>
          </a:prstGeom>
          <a:noFill/>
        </p:spPr>
        <p:txBody>
          <a:bodyPr wrap="square">
            <a:spAutoFit/>
          </a:bodyPr>
          <a:lstStyle/>
          <a:p>
            <a:pPr algn="l"/>
            <a:r>
              <a:rPr sz="1200" b="0" i="0">
                <a:solidFill>
                  <a:srgbClr val="9D9D9F"/>
                </a:solidFill>
                <a:latin typeface="Satoshi"/>
              </a:rPr>
              <a:t>A live dashboard for Amel and Max: verified results across all five programmes, updated after each enumeration cycle. One view, always current.</a:t>
            </a:r>
          </a:p>
        </p:txBody>
      </p:sp>
      <p:sp>
        <p:nvSpPr>
          <p:cNvPr id="26" name="Rounded Rectangle 25"/>
          <p:cNvSpPr/>
          <p:nvPr/>
        </p:nvSpPr>
        <p:spPr>
          <a:xfrm>
            <a:off x="6858000" y="2743200"/>
            <a:ext cx="4572000" cy="338328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132320" y="2926080"/>
            <a:ext cx="4114800" cy="256032"/>
          </a:xfrm>
          <a:prstGeom prst="rect">
            <a:avLst/>
          </a:prstGeom>
          <a:noFill/>
        </p:spPr>
        <p:txBody>
          <a:bodyPr wrap="square">
            <a:spAutoFit/>
          </a:bodyPr>
          <a:lstStyle/>
          <a:p>
            <a:pPr algn="l"/>
            <a:r>
              <a:rPr sz="900" b="1" i="0">
                <a:solidFill>
                  <a:srgbClr val="6B6B6E"/>
                </a:solidFill>
                <a:latin typeface="Satoshi"/>
              </a:rPr>
              <a:t>THE REPORTING CHALLENGE</a:t>
            </a:r>
          </a:p>
        </p:txBody>
      </p:sp>
      <p:sp>
        <p:nvSpPr>
          <p:cNvPr id="28" name="TextBox 27"/>
          <p:cNvSpPr txBox="1"/>
          <p:nvPr/>
        </p:nvSpPr>
        <p:spPr>
          <a:xfrm>
            <a:off x="7132320" y="3291840"/>
            <a:ext cx="4114800" cy="502920"/>
          </a:xfrm>
          <a:prstGeom prst="rect">
            <a:avLst/>
          </a:prstGeom>
          <a:noFill/>
        </p:spPr>
        <p:txBody>
          <a:bodyPr wrap="square">
            <a:spAutoFit/>
          </a:bodyPr>
          <a:lstStyle/>
          <a:p>
            <a:pPr algn="l"/>
            <a:r>
              <a:rPr sz="1800" b="0" i="0">
                <a:solidFill>
                  <a:srgbClr val="FFFFFF"/>
                </a:solidFill>
                <a:latin typeface="Instrument Serif"/>
              </a:rPr>
              <a:t>5 programmes x multiple funders</a:t>
            </a:r>
          </a:p>
        </p:txBody>
      </p:sp>
      <p:sp>
        <p:nvSpPr>
          <p:cNvPr id="29" name="TextBox 28"/>
          <p:cNvSpPr txBox="1"/>
          <p:nvPr/>
        </p:nvSpPr>
        <p:spPr>
          <a:xfrm>
            <a:off x="7132320" y="3822191"/>
            <a:ext cx="4114800" cy="502920"/>
          </a:xfrm>
          <a:prstGeom prst="rect">
            <a:avLst/>
          </a:prstGeom>
          <a:noFill/>
        </p:spPr>
        <p:txBody>
          <a:bodyPr wrap="square">
            <a:spAutoFit/>
          </a:bodyPr>
          <a:lstStyle/>
          <a:p>
            <a:pPr algn="l"/>
            <a:r>
              <a:rPr sz="1600" b="0" i="0">
                <a:solidFill>
                  <a:srgbClr val="F87171"/>
                </a:solidFill>
                <a:latin typeface="Instrument Serif"/>
              </a:rPr>
              <a:t>= compounding reporting load.</a:t>
            </a:r>
          </a:p>
        </p:txBody>
      </p:sp>
      <p:sp>
        <p:nvSpPr>
          <p:cNvPr id="30" name="TextBox 29"/>
          <p:cNvSpPr txBox="1"/>
          <p:nvPr/>
        </p:nvSpPr>
        <p:spPr>
          <a:xfrm>
            <a:off x="7132320" y="4462272"/>
            <a:ext cx="4114800" cy="658368"/>
          </a:xfrm>
          <a:prstGeom prst="rect">
            <a:avLst/>
          </a:prstGeom>
          <a:noFill/>
        </p:spPr>
        <p:txBody>
          <a:bodyPr wrap="square">
            <a:spAutoFit/>
          </a:bodyPr>
          <a:lstStyle/>
          <a:p>
            <a:pPr algn="l"/>
            <a:r>
              <a:rPr sz="1100" b="0" i="0">
                <a:solidFill>
                  <a:srgbClr val="9D9D9F"/>
                </a:solidFill>
                <a:latin typeface="Satoshi"/>
              </a:rPr>
              <a:t>Each new programme launch multiplies the donor reporting obligation. AI automation keeps that load flat as EOF scales toward its 2030 goal of 15 active partnerships.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TextBox 1"/>
          <p:cNvSpPr txBox="1"/>
          <p:nvPr/>
        </p:nvSpPr>
        <p:spPr>
          <a:xfrm>
            <a:off x="685800" y="201168"/>
            <a:ext cx="5486400" cy="256032"/>
          </a:xfrm>
          <a:prstGeom prst="rect">
            <a:avLst/>
          </a:prstGeom>
          <a:noFill/>
        </p:spPr>
        <p:txBody>
          <a:bodyPr wrap="square">
            <a:spAutoFit/>
          </a:bodyPr>
          <a:lstStyle/>
          <a:p>
            <a:pPr algn="l"/>
            <a:r>
              <a:rPr sz="900" b="1" i="0">
                <a:solidFill>
                  <a:srgbClr val="6B6B6E"/>
                </a:solidFill>
                <a:latin typeface="Satoshi"/>
              </a:rPr>
              <a:t>GENOSAI  x  EDUCATION OUTCOMES FUND</a:t>
            </a:r>
          </a:p>
        </p:txBody>
      </p:sp>
      <p:sp>
        <p:nvSpPr>
          <p:cNvPr id="3" name="TextBox 2"/>
          <p:cNvSpPr txBox="1"/>
          <p:nvPr/>
        </p:nvSpPr>
        <p:spPr>
          <a:xfrm>
            <a:off x="6858000" y="201168"/>
            <a:ext cx="4645152" cy="256032"/>
          </a:xfrm>
          <a:prstGeom prst="rect">
            <a:avLst/>
          </a:prstGeom>
          <a:noFill/>
        </p:spPr>
        <p:txBody>
          <a:bodyPr wrap="square">
            <a:spAutoFit/>
          </a:bodyPr>
          <a:lstStyle/>
          <a:p>
            <a:pPr algn="r"/>
            <a:r>
              <a:rPr sz="900" b="1" i="0">
                <a:solidFill>
                  <a:srgbClr val="6B6B6E"/>
                </a:solidFill>
                <a:latin typeface="Satoshi"/>
              </a:rPr>
              <a:t>04C  .  STAKEHOLDER COMMS AI</a:t>
            </a:r>
          </a:p>
        </p:txBody>
      </p:sp>
      <p:sp>
        <p:nvSpPr>
          <p:cNvPr id="4" name="Rectangle 3"/>
          <p:cNvSpPr/>
          <p:nvPr/>
        </p:nvSpPr>
        <p:spPr>
          <a:xfrm>
            <a:off x="685800" y="530352"/>
            <a:ext cx="10817352" cy="9525"/>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473952"/>
            <a:ext cx="7315200" cy="256032"/>
          </a:xfrm>
          <a:prstGeom prst="rect">
            <a:avLst/>
          </a:prstGeom>
          <a:noFill/>
        </p:spPr>
        <p:txBody>
          <a:bodyPr wrap="square">
            <a:spAutoFit/>
          </a:bodyPr>
          <a:lstStyle/>
          <a:p>
            <a:pPr algn="l"/>
            <a:r>
              <a:rPr sz="800" b="0" i="0">
                <a:solidFill>
                  <a:srgbClr val="444447"/>
                </a:solidFill>
                <a:latin typeface="Satoshi"/>
              </a:rPr>
              <a:t>AI Audit &amp; Automation Proposal  .  Education Outcomes Fund  .  2026</a:t>
            </a:r>
          </a:p>
        </p:txBody>
      </p:sp>
      <p:sp>
        <p:nvSpPr>
          <p:cNvPr id="6" name="TextBox 5"/>
          <p:cNvSpPr txBox="1"/>
          <p:nvPr/>
        </p:nvSpPr>
        <p:spPr>
          <a:xfrm>
            <a:off x="8686800" y="6473952"/>
            <a:ext cx="2816352" cy="256032"/>
          </a:xfrm>
          <a:prstGeom prst="rect">
            <a:avLst/>
          </a:prstGeom>
          <a:noFill/>
        </p:spPr>
        <p:txBody>
          <a:bodyPr wrap="square">
            <a:spAutoFit/>
          </a:bodyPr>
          <a:lstStyle/>
          <a:p>
            <a:pPr algn="r"/>
            <a:r>
              <a:rPr sz="800" b="0" i="0">
                <a:solidFill>
                  <a:srgbClr val="444447"/>
                </a:solidFill>
                <a:latin typeface="Satoshi"/>
              </a:rPr>
              <a:t>08 / 12</a:t>
            </a:r>
          </a:p>
        </p:txBody>
      </p:sp>
      <p:sp>
        <p:nvSpPr>
          <p:cNvPr id="7" name="TextBox 6"/>
          <p:cNvSpPr txBox="1"/>
          <p:nvPr/>
        </p:nvSpPr>
        <p:spPr>
          <a:xfrm>
            <a:off x="685800" y="777240"/>
            <a:ext cx="5486400" cy="274320"/>
          </a:xfrm>
          <a:prstGeom prst="rect">
            <a:avLst/>
          </a:prstGeom>
          <a:noFill/>
        </p:spPr>
        <p:txBody>
          <a:bodyPr wrap="square">
            <a:spAutoFit/>
          </a:bodyPr>
          <a:lstStyle/>
          <a:p>
            <a:pPr algn="l"/>
            <a:r>
              <a:rPr sz="1000" b="1" i="0">
                <a:solidFill>
                  <a:srgbClr val="A78BFA"/>
                </a:solidFill>
                <a:latin typeface="Satoshi"/>
              </a:rPr>
              <a:t>MODULE C</a:t>
            </a:r>
          </a:p>
        </p:txBody>
      </p:sp>
      <p:sp>
        <p:nvSpPr>
          <p:cNvPr id="8" name="TextBox 7"/>
          <p:cNvSpPr txBox="1"/>
          <p:nvPr/>
        </p:nvSpPr>
        <p:spPr>
          <a:xfrm>
            <a:off x="685800" y="1078992"/>
            <a:ext cx="9144000" cy="1463040"/>
          </a:xfrm>
          <a:prstGeom prst="rect">
            <a:avLst/>
          </a:prstGeom>
          <a:noFill/>
        </p:spPr>
        <p:txBody>
          <a:bodyPr wrap="square">
            <a:spAutoFit/>
          </a:bodyPr>
          <a:lstStyle/>
          <a:p>
            <a:pPr algn="l"/>
            <a:r>
              <a:rPr sz="3200" b="0" i="0">
                <a:solidFill>
                  <a:srgbClr val="FFFFFF"/>
                </a:solidFill>
                <a:latin typeface="Instrument Serif"/>
              </a:rPr>
              <a:t>Stakeholder Communications AI</a:t>
            </a:r>
          </a:p>
        </p:txBody>
      </p:sp>
      <p:sp>
        <p:nvSpPr>
          <p:cNvPr id="9" name="TextBox 8"/>
          <p:cNvSpPr txBox="1"/>
          <p:nvPr/>
        </p:nvSpPr>
        <p:spPr>
          <a:xfrm>
            <a:off x="685800" y="2011680"/>
            <a:ext cx="5943600" cy="384048"/>
          </a:xfrm>
          <a:prstGeom prst="rect">
            <a:avLst/>
          </a:prstGeom>
          <a:noFill/>
        </p:spPr>
        <p:txBody>
          <a:bodyPr wrap="square">
            <a:spAutoFit/>
          </a:bodyPr>
          <a:lstStyle/>
          <a:p>
            <a:pPr algn="l"/>
            <a:r>
              <a:rPr sz="1400" b="0" i="0">
                <a:solidFill>
                  <a:srgbClr val="86868A"/>
                </a:solidFill>
                <a:latin typeface="Satoshi"/>
              </a:rPr>
              <a:t>19,581 LinkedIn followers and a newsletter database with no visible segmentation. Government partners, donors, implementers, and researchers need fundamentally different content. One broadcast to all is wasted on most.</a:t>
            </a:r>
          </a:p>
        </p:txBody>
      </p:sp>
      <p:sp>
        <p:nvSpPr>
          <p:cNvPr id="10" name="Rectangle 9"/>
          <p:cNvSpPr/>
          <p:nvPr/>
        </p:nvSpPr>
        <p:spPr>
          <a:xfrm>
            <a:off x="685800" y="2514600"/>
            <a:ext cx="10817352" cy="9525"/>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743200"/>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12" name="TextBox 11"/>
          <p:cNvSpPr txBox="1"/>
          <p:nvPr/>
        </p:nvSpPr>
        <p:spPr>
          <a:xfrm>
            <a:off x="960120" y="2743200"/>
            <a:ext cx="4754880" cy="237744"/>
          </a:xfrm>
          <a:prstGeom prst="rect">
            <a:avLst/>
          </a:prstGeom>
          <a:noFill/>
        </p:spPr>
        <p:txBody>
          <a:bodyPr wrap="square">
            <a:spAutoFit/>
          </a:bodyPr>
          <a:lstStyle/>
          <a:p>
            <a:pPr algn="l"/>
            <a:r>
              <a:rPr sz="1300" b="1" i="0">
                <a:solidFill>
                  <a:srgbClr val="FFFFFF"/>
                </a:solidFill>
                <a:latin typeface="Satoshi"/>
              </a:rPr>
              <a:t>Audience segmentation</a:t>
            </a:r>
          </a:p>
        </p:txBody>
      </p:sp>
      <p:sp>
        <p:nvSpPr>
          <p:cNvPr id="13" name="TextBox 12"/>
          <p:cNvSpPr txBox="1"/>
          <p:nvPr/>
        </p:nvSpPr>
        <p:spPr>
          <a:xfrm>
            <a:off x="960120" y="2990088"/>
            <a:ext cx="4754880" cy="347472"/>
          </a:xfrm>
          <a:prstGeom prst="rect">
            <a:avLst/>
          </a:prstGeom>
          <a:noFill/>
        </p:spPr>
        <p:txBody>
          <a:bodyPr wrap="square">
            <a:spAutoFit/>
          </a:bodyPr>
          <a:lstStyle/>
          <a:p>
            <a:pPr algn="l"/>
            <a:r>
              <a:rPr sz="1200" b="0" i="0">
                <a:solidFill>
                  <a:srgbClr val="9D9D9F"/>
                </a:solidFill>
                <a:latin typeface="Satoshi"/>
              </a:rPr>
              <a:t>Contacts segmented by role: government partner, institutional donor, implementer/NGO, researcher/academic, journalist/media. Each receives content relevant to their context.</a:t>
            </a:r>
          </a:p>
        </p:txBody>
      </p:sp>
      <p:sp>
        <p:nvSpPr>
          <p:cNvPr id="14" name="TextBox 13"/>
          <p:cNvSpPr txBox="1"/>
          <p:nvPr/>
        </p:nvSpPr>
        <p:spPr>
          <a:xfrm>
            <a:off x="685800" y="3401568"/>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15" name="TextBox 14"/>
          <p:cNvSpPr txBox="1"/>
          <p:nvPr/>
        </p:nvSpPr>
        <p:spPr>
          <a:xfrm>
            <a:off x="960120" y="3401568"/>
            <a:ext cx="4754880" cy="237744"/>
          </a:xfrm>
          <a:prstGeom prst="rect">
            <a:avLst/>
          </a:prstGeom>
          <a:noFill/>
        </p:spPr>
        <p:txBody>
          <a:bodyPr wrap="square">
            <a:spAutoFit/>
          </a:bodyPr>
          <a:lstStyle/>
          <a:p>
            <a:pPr algn="l"/>
            <a:r>
              <a:rPr sz="1300" b="1" i="0">
                <a:solidFill>
                  <a:srgbClr val="FFFFFF"/>
                </a:solidFill>
                <a:latin typeface="Satoshi"/>
              </a:rPr>
              <a:t>Automated update sequences by geography</a:t>
            </a:r>
          </a:p>
        </p:txBody>
      </p:sp>
      <p:sp>
        <p:nvSpPr>
          <p:cNvPr id="16" name="TextBox 15"/>
          <p:cNvSpPr txBox="1"/>
          <p:nvPr/>
        </p:nvSpPr>
        <p:spPr>
          <a:xfrm>
            <a:off x="960120" y="3648456"/>
            <a:ext cx="4754880" cy="347472"/>
          </a:xfrm>
          <a:prstGeom prst="rect">
            <a:avLst/>
          </a:prstGeom>
          <a:noFill/>
        </p:spPr>
        <p:txBody>
          <a:bodyPr wrap="square">
            <a:spAutoFit/>
          </a:bodyPr>
          <a:lstStyle/>
          <a:p>
            <a:pPr algn="l"/>
            <a:r>
              <a:rPr sz="1200" b="0" i="0">
                <a:solidFill>
                  <a:srgbClr val="9D9D9F"/>
                </a:solidFill>
                <a:latin typeface="Satoshi"/>
              </a:rPr>
              <a:t>When a new LEAF Nigeria result is published, Lagos State officials and Nigeria-based implementers receive a targeted update. UK donors receive a funder-perspective version. One event, four audiences.</a:t>
            </a:r>
          </a:p>
        </p:txBody>
      </p:sp>
      <p:sp>
        <p:nvSpPr>
          <p:cNvPr id="17" name="TextBox 16"/>
          <p:cNvSpPr txBox="1"/>
          <p:nvPr/>
        </p:nvSpPr>
        <p:spPr>
          <a:xfrm>
            <a:off x="685800" y="4059936"/>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18" name="TextBox 17"/>
          <p:cNvSpPr txBox="1"/>
          <p:nvPr/>
        </p:nvSpPr>
        <p:spPr>
          <a:xfrm>
            <a:off x="960120" y="4059936"/>
            <a:ext cx="4754880" cy="237744"/>
          </a:xfrm>
          <a:prstGeom prst="rect">
            <a:avLst/>
          </a:prstGeom>
          <a:noFill/>
        </p:spPr>
        <p:txBody>
          <a:bodyPr wrap="square">
            <a:spAutoFit/>
          </a:bodyPr>
          <a:lstStyle/>
          <a:p>
            <a:pPr algn="l"/>
            <a:r>
              <a:rPr sz="1300" b="1" i="0">
                <a:solidFill>
                  <a:srgbClr val="FFFFFF"/>
                </a:solidFill>
                <a:latin typeface="Satoshi"/>
              </a:rPr>
              <a:t>Gated content with lead capture</a:t>
            </a:r>
          </a:p>
        </p:txBody>
      </p:sp>
      <p:sp>
        <p:nvSpPr>
          <p:cNvPr id="19" name="TextBox 18"/>
          <p:cNvSpPr txBox="1"/>
          <p:nvPr/>
        </p:nvSpPr>
        <p:spPr>
          <a:xfrm>
            <a:off x="960120" y="4306824"/>
            <a:ext cx="4754880" cy="347472"/>
          </a:xfrm>
          <a:prstGeom prst="rect">
            <a:avLst/>
          </a:prstGeom>
          <a:noFill/>
        </p:spPr>
        <p:txBody>
          <a:bodyPr wrap="square">
            <a:spAutoFit/>
          </a:bodyPr>
          <a:lstStyle/>
          <a:p>
            <a:pPr algn="l"/>
            <a:r>
              <a:rPr sz="1200" b="0" i="0">
                <a:solidFill>
                  <a:srgbClr val="9D9D9F"/>
                </a:solidFill>
                <a:latin typeface="Satoshi"/>
              </a:rPr>
              <a:t>Practice notes, evaluation reports, and technical briefs placed behind an email capture form. Every download becomes a contactable stakeholder in the appropriate segment.</a:t>
            </a:r>
          </a:p>
        </p:txBody>
      </p:sp>
      <p:sp>
        <p:nvSpPr>
          <p:cNvPr id="20" name="TextBox 19"/>
          <p:cNvSpPr txBox="1"/>
          <p:nvPr/>
        </p:nvSpPr>
        <p:spPr>
          <a:xfrm>
            <a:off x="685800" y="4718304"/>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21" name="TextBox 20"/>
          <p:cNvSpPr txBox="1"/>
          <p:nvPr/>
        </p:nvSpPr>
        <p:spPr>
          <a:xfrm>
            <a:off x="960120" y="4718304"/>
            <a:ext cx="4754880" cy="237744"/>
          </a:xfrm>
          <a:prstGeom prst="rect">
            <a:avLst/>
          </a:prstGeom>
          <a:noFill/>
        </p:spPr>
        <p:txBody>
          <a:bodyPr wrap="square">
            <a:spAutoFit/>
          </a:bodyPr>
          <a:lstStyle/>
          <a:p>
            <a:pPr algn="l"/>
            <a:r>
              <a:rPr sz="1300" b="1" i="0">
                <a:solidFill>
                  <a:srgbClr val="FFFFFF"/>
                </a:solidFill>
                <a:latin typeface="Satoshi"/>
              </a:rPr>
              <a:t>LinkedIn content scheduling</a:t>
            </a:r>
          </a:p>
        </p:txBody>
      </p:sp>
      <p:sp>
        <p:nvSpPr>
          <p:cNvPr id="22" name="TextBox 21"/>
          <p:cNvSpPr txBox="1"/>
          <p:nvPr/>
        </p:nvSpPr>
        <p:spPr>
          <a:xfrm>
            <a:off x="960120" y="4965192"/>
            <a:ext cx="4754880" cy="347472"/>
          </a:xfrm>
          <a:prstGeom prst="rect">
            <a:avLst/>
          </a:prstGeom>
          <a:noFill/>
        </p:spPr>
        <p:txBody>
          <a:bodyPr wrap="square">
            <a:spAutoFit/>
          </a:bodyPr>
          <a:lstStyle/>
          <a:p>
            <a:pPr algn="l"/>
            <a:r>
              <a:rPr sz="1200" b="0" i="0">
                <a:solidFill>
                  <a:srgbClr val="9D9D9F"/>
                </a:solidFill>
                <a:latin typeface="Satoshi"/>
              </a:rPr>
              <a:t>EOF's high-quality programme content published on a consistent schedule via automated LinkedIn posting -- reducing the manual effort behind maintaining 19,581 followers with regular updates.</a:t>
            </a:r>
          </a:p>
        </p:txBody>
      </p:sp>
      <p:sp>
        <p:nvSpPr>
          <p:cNvPr id="23" name="TextBox 22"/>
          <p:cNvSpPr txBox="1"/>
          <p:nvPr/>
        </p:nvSpPr>
        <p:spPr>
          <a:xfrm>
            <a:off x="685800" y="5376672"/>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24" name="TextBox 23"/>
          <p:cNvSpPr txBox="1"/>
          <p:nvPr/>
        </p:nvSpPr>
        <p:spPr>
          <a:xfrm>
            <a:off x="960120" y="5376672"/>
            <a:ext cx="4754880" cy="237744"/>
          </a:xfrm>
          <a:prstGeom prst="rect">
            <a:avLst/>
          </a:prstGeom>
          <a:noFill/>
        </p:spPr>
        <p:txBody>
          <a:bodyPr wrap="square">
            <a:spAutoFit/>
          </a:bodyPr>
          <a:lstStyle/>
          <a:p>
            <a:pPr algn="l"/>
            <a:r>
              <a:rPr sz="1300" b="1" i="0">
                <a:solidFill>
                  <a:srgbClr val="FFFFFF"/>
                </a:solidFill>
                <a:latin typeface="Satoshi"/>
              </a:rPr>
              <a:t>Conference and event follow-up sequences</a:t>
            </a:r>
          </a:p>
        </p:txBody>
      </p:sp>
      <p:sp>
        <p:nvSpPr>
          <p:cNvPr id="25" name="TextBox 24"/>
          <p:cNvSpPr txBox="1"/>
          <p:nvPr/>
        </p:nvSpPr>
        <p:spPr>
          <a:xfrm>
            <a:off x="960120" y="5623560"/>
            <a:ext cx="4754880" cy="347472"/>
          </a:xfrm>
          <a:prstGeom prst="rect">
            <a:avLst/>
          </a:prstGeom>
          <a:noFill/>
        </p:spPr>
        <p:txBody>
          <a:bodyPr wrap="square">
            <a:spAutoFit/>
          </a:bodyPr>
          <a:lstStyle/>
          <a:p>
            <a:pPr algn="l"/>
            <a:r>
              <a:rPr sz="1200" b="0" i="0">
                <a:solidFill>
                  <a:srgbClr val="9D9D9F"/>
                </a:solidFill>
                <a:latin typeface="Satoshi"/>
              </a:rPr>
              <a:t>After GPE summits, UNESCO conferences, or bilateral meetings, AI sends tailored follow-up sequences to contacts met at the event within 24 hours -- maintaining momentum from in-person conversations.</a:t>
            </a:r>
          </a:p>
        </p:txBody>
      </p:sp>
      <p:sp>
        <p:nvSpPr>
          <p:cNvPr id="26" name="Rounded Rectangle 25"/>
          <p:cNvSpPr/>
          <p:nvPr/>
        </p:nvSpPr>
        <p:spPr>
          <a:xfrm>
            <a:off x="6858000" y="2743200"/>
            <a:ext cx="4572000" cy="338328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132320" y="2926080"/>
            <a:ext cx="4114800" cy="256032"/>
          </a:xfrm>
          <a:prstGeom prst="rect">
            <a:avLst/>
          </a:prstGeom>
          <a:noFill/>
        </p:spPr>
        <p:txBody>
          <a:bodyPr wrap="square">
            <a:spAutoFit/>
          </a:bodyPr>
          <a:lstStyle/>
          <a:p>
            <a:pPr algn="l"/>
            <a:r>
              <a:rPr sz="900" b="1" i="0">
                <a:solidFill>
                  <a:srgbClr val="6B6B6E"/>
                </a:solidFill>
                <a:latin typeface="Satoshi"/>
              </a:rPr>
              <a:t>THE COMMS OPPORTUNITY</a:t>
            </a:r>
          </a:p>
        </p:txBody>
      </p:sp>
      <p:sp>
        <p:nvSpPr>
          <p:cNvPr id="28" name="TextBox 27"/>
          <p:cNvSpPr txBox="1"/>
          <p:nvPr/>
        </p:nvSpPr>
        <p:spPr>
          <a:xfrm>
            <a:off x="7132320" y="3291840"/>
            <a:ext cx="4114800" cy="502920"/>
          </a:xfrm>
          <a:prstGeom prst="rect">
            <a:avLst/>
          </a:prstGeom>
          <a:noFill/>
        </p:spPr>
        <p:txBody>
          <a:bodyPr wrap="square">
            <a:spAutoFit/>
          </a:bodyPr>
          <a:lstStyle/>
          <a:p>
            <a:pPr algn="l"/>
            <a:r>
              <a:rPr sz="1700" b="0" i="0">
                <a:solidFill>
                  <a:srgbClr val="FFFFFF"/>
                </a:solidFill>
                <a:latin typeface="Instrument Serif"/>
              </a:rPr>
              <a:t>EOF's evidence base is world-class.</a:t>
            </a:r>
          </a:p>
        </p:txBody>
      </p:sp>
      <p:sp>
        <p:nvSpPr>
          <p:cNvPr id="29" name="TextBox 28"/>
          <p:cNvSpPr txBox="1"/>
          <p:nvPr/>
        </p:nvSpPr>
        <p:spPr>
          <a:xfrm>
            <a:off x="7132320" y="3822191"/>
            <a:ext cx="4114800" cy="502920"/>
          </a:xfrm>
          <a:prstGeom prst="rect">
            <a:avLst/>
          </a:prstGeom>
          <a:noFill/>
        </p:spPr>
        <p:txBody>
          <a:bodyPr wrap="square">
            <a:spAutoFit/>
          </a:bodyPr>
          <a:lstStyle/>
          <a:p>
            <a:pPr algn="l"/>
            <a:r>
              <a:rPr sz="1700" b="0" i="0">
                <a:solidFill>
                  <a:srgbClr val="F87171"/>
                </a:solidFill>
                <a:latin typeface="Instrument Serif"/>
              </a:rPr>
              <a:t>Its distribution is not.</a:t>
            </a:r>
          </a:p>
        </p:txBody>
      </p:sp>
      <p:sp>
        <p:nvSpPr>
          <p:cNvPr id="30" name="TextBox 29"/>
          <p:cNvSpPr txBox="1"/>
          <p:nvPr/>
        </p:nvSpPr>
        <p:spPr>
          <a:xfrm>
            <a:off x="7132320" y="4462272"/>
            <a:ext cx="4114800" cy="658368"/>
          </a:xfrm>
          <a:prstGeom prst="rect">
            <a:avLst/>
          </a:prstGeom>
          <a:noFill/>
        </p:spPr>
        <p:txBody>
          <a:bodyPr wrap="square">
            <a:spAutoFit/>
          </a:bodyPr>
          <a:lstStyle/>
          <a:p>
            <a:pPr algn="l"/>
            <a:r>
              <a:rPr sz="1100" b="0" i="0">
                <a:solidFill>
                  <a:srgbClr val="9D9D9F"/>
                </a:solidFill>
                <a:latin typeface="Satoshi"/>
              </a:rPr>
              <a:t>SLEIC Year 3 results and the LEAF Nigeria launch represent globally significant education data. Automated, segmented distribution ensures that evidence reaches the people who can act on 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TextBox 1"/>
          <p:cNvSpPr txBox="1"/>
          <p:nvPr/>
        </p:nvSpPr>
        <p:spPr>
          <a:xfrm>
            <a:off x="685800" y="201168"/>
            <a:ext cx="5486400" cy="256032"/>
          </a:xfrm>
          <a:prstGeom prst="rect">
            <a:avLst/>
          </a:prstGeom>
          <a:noFill/>
        </p:spPr>
        <p:txBody>
          <a:bodyPr wrap="square">
            <a:spAutoFit/>
          </a:bodyPr>
          <a:lstStyle/>
          <a:p>
            <a:pPr algn="l"/>
            <a:r>
              <a:rPr sz="900" b="1" i="0">
                <a:solidFill>
                  <a:srgbClr val="6B6B6E"/>
                </a:solidFill>
                <a:latin typeface="Satoshi"/>
              </a:rPr>
              <a:t>GENOSAI  x  EDUCATION OUTCOMES FUND</a:t>
            </a:r>
          </a:p>
        </p:txBody>
      </p:sp>
      <p:sp>
        <p:nvSpPr>
          <p:cNvPr id="3" name="TextBox 2"/>
          <p:cNvSpPr txBox="1"/>
          <p:nvPr/>
        </p:nvSpPr>
        <p:spPr>
          <a:xfrm>
            <a:off x="6858000" y="201168"/>
            <a:ext cx="4645152" cy="256032"/>
          </a:xfrm>
          <a:prstGeom prst="rect">
            <a:avLst/>
          </a:prstGeom>
          <a:noFill/>
        </p:spPr>
        <p:txBody>
          <a:bodyPr wrap="square">
            <a:spAutoFit/>
          </a:bodyPr>
          <a:lstStyle/>
          <a:p>
            <a:pPr algn="r"/>
            <a:r>
              <a:rPr sz="900" b="1" i="0">
                <a:solidFill>
                  <a:srgbClr val="6B6B6E"/>
                </a:solidFill>
                <a:latin typeface="Satoshi"/>
              </a:rPr>
              <a:t>04D / 04E  .  KNOWLEDGE &amp; COORDINATION</a:t>
            </a:r>
          </a:p>
        </p:txBody>
      </p:sp>
      <p:sp>
        <p:nvSpPr>
          <p:cNvPr id="4" name="Rectangle 3"/>
          <p:cNvSpPr/>
          <p:nvPr/>
        </p:nvSpPr>
        <p:spPr>
          <a:xfrm>
            <a:off x="685800" y="530352"/>
            <a:ext cx="10817352" cy="9525"/>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473952"/>
            <a:ext cx="7315200" cy="256032"/>
          </a:xfrm>
          <a:prstGeom prst="rect">
            <a:avLst/>
          </a:prstGeom>
          <a:noFill/>
        </p:spPr>
        <p:txBody>
          <a:bodyPr wrap="square">
            <a:spAutoFit/>
          </a:bodyPr>
          <a:lstStyle/>
          <a:p>
            <a:pPr algn="l"/>
            <a:r>
              <a:rPr sz="800" b="0" i="0">
                <a:solidFill>
                  <a:srgbClr val="444447"/>
                </a:solidFill>
                <a:latin typeface="Satoshi"/>
              </a:rPr>
              <a:t>AI Audit &amp; Automation Proposal  .  Education Outcomes Fund  .  2026</a:t>
            </a:r>
          </a:p>
        </p:txBody>
      </p:sp>
      <p:sp>
        <p:nvSpPr>
          <p:cNvPr id="6" name="TextBox 5"/>
          <p:cNvSpPr txBox="1"/>
          <p:nvPr/>
        </p:nvSpPr>
        <p:spPr>
          <a:xfrm>
            <a:off x="8686800" y="6473952"/>
            <a:ext cx="2816352" cy="256032"/>
          </a:xfrm>
          <a:prstGeom prst="rect">
            <a:avLst/>
          </a:prstGeom>
          <a:noFill/>
        </p:spPr>
        <p:txBody>
          <a:bodyPr wrap="square">
            <a:spAutoFit/>
          </a:bodyPr>
          <a:lstStyle/>
          <a:p>
            <a:pPr algn="r"/>
            <a:r>
              <a:rPr sz="800" b="0" i="0">
                <a:solidFill>
                  <a:srgbClr val="444447"/>
                </a:solidFill>
                <a:latin typeface="Satoshi"/>
              </a:rPr>
              <a:t>09 / 12</a:t>
            </a:r>
          </a:p>
        </p:txBody>
      </p:sp>
      <p:sp>
        <p:nvSpPr>
          <p:cNvPr id="7" name="TextBox 6"/>
          <p:cNvSpPr txBox="1"/>
          <p:nvPr/>
        </p:nvSpPr>
        <p:spPr>
          <a:xfrm>
            <a:off x="685800" y="777240"/>
            <a:ext cx="5486400" cy="274320"/>
          </a:xfrm>
          <a:prstGeom prst="rect">
            <a:avLst/>
          </a:prstGeom>
          <a:noFill/>
        </p:spPr>
        <p:txBody>
          <a:bodyPr wrap="square">
            <a:spAutoFit/>
          </a:bodyPr>
          <a:lstStyle/>
          <a:p>
            <a:pPr algn="l"/>
            <a:r>
              <a:rPr sz="1000" b="1" i="0">
                <a:solidFill>
                  <a:srgbClr val="A78BFA"/>
                </a:solidFill>
                <a:latin typeface="Satoshi"/>
              </a:rPr>
              <a:t>MODULE D</a:t>
            </a:r>
          </a:p>
        </p:txBody>
      </p:sp>
      <p:sp>
        <p:nvSpPr>
          <p:cNvPr id="8" name="TextBox 7"/>
          <p:cNvSpPr txBox="1"/>
          <p:nvPr/>
        </p:nvSpPr>
        <p:spPr>
          <a:xfrm>
            <a:off x="685800" y="1078992"/>
            <a:ext cx="9144000" cy="1463040"/>
          </a:xfrm>
          <a:prstGeom prst="rect">
            <a:avLst/>
          </a:prstGeom>
          <a:noFill/>
        </p:spPr>
        <p:txBody>
          <a:bodyPr wrap="square">
            <a:spAutoFit/>
          </a:bodyPr>
          <a:lstStyle/>
          <a:p>
            <a:pPr algn="l"/>
            <a:r>
              <a:rPr sz="2800" b="0" i="0">
                <a:solidFill>
                  <a:srgbClr val="FFFFFF"/>
                </a:solidFill>
                <a:latin typeface="Instrument Serif"/>
              </a:rPr>
              <a:t>Knowledge Management AI</a:t>
            </a:r>
          </a:p>
        </p:txBody>
      </p:sp>
      <p:sp>
        <p:nvSpPr>
          <p:cNvPr id="9" name="TextBox 8"/>
          <p:cNvSpPr txBox="1"/>
          <p:nvPr/>
        </p:nvSpPr>
        <p:spPr>
          <a:xfrm>
            <a:off x="685800" y="1874519"/>
            <a:ext cx="5029200" cy="347472"/>
          </a:xfrm>
          <a:prstGeom prst="rect">
            <a:avLst/>
          </a:prstGeom>
          <a:noFill/>
        </p:spPr>
        <p:txBody>
          <a:bodyPr wrap="square">
            <a:spAutoFit/>
          </a:bodyPr>
          <a:lstStyle/>
          <a:p>
            <a:pPr algn="l"/>
            <a:r>
              <a:rPr sz="1300" b="0" i="0">
                <a:solidFill>
                  <a:srgbClr val="86868A"/>
                </a:solidFill>
                <a:latin typeface="Satoshi"/>
              </a:rPr>
              <a:t>EOF's institutional knowledge lives in PDFs and blog posts. A RAG AI makes it searchable for every team member in every country.</a:t>
            </a:r>
          </a:p>
        </p:txBody>
      </p:sp>
      <p:sp>
        <p:nvSpPr>
          <p:cNvPr id="10" name="TextBox 9"/>
          <p:cNvSpPr txBox="1"/>
          <p:nvPr/>
        </p:nvSpPr>
        <p:spPr>
          <a:xfrm>
            <a:off x="685800" y="2377440"/>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11" name="TextBox 10"/>
          <p:cNvSpPr txBox="1"/>
          <p:nvPr/>
        </p:nvSpPr>
        <p:spPr>
          <a:xfrm>
            <a:off x="960120" y="2377440"/>
            <a:ext cx="4754880" cy="237744"/>
          </a:xfrm>
          <a:prstGeom prst="rect">
            <a:avLst/>
          </a:prstGeom>
          <a:noFill/>
        </p:spPr>
        <p:txBody>
          <a:bodyPr wrap="square">
            <a:spAutoFit/>
          </a:bodyPr>
          <a:lstStyle/>
          <a:p>
            <a:pPr algn="l"/>
            <a:r>
              <a:rPr sz="1200" b="1" i="0">
                <a:solidFill>
                  <a:srgbClr val="FFFFFF"/>
                </a:solidFill>
                <a:latin typeface="Satoshi"/>
              </a:rPr>
              <a:t>AI-searchable knowledge base</a:t>
            </a:r>
          </a:p>
        </p:txBody>
      </p:sp>
      <p:sp>
        <p:nvSpPr>
          <p:cNvPr id="12" name="TextBox 11"/>
          <p:cNvSpPr txBox="1"/>
          <p:nvPr/>
        </p:nvSpPr>
        <p:spPr>
          <a:xfrm>
            <a:off x="960120" y="2624328"/>
            <a:ext cx="4754880" cy="347472"/>
          </a:xfrm>
          <a:prstGeom prst="rect">
            <a:avLst/>
          </a:prstGeom>
          <a:noFill/>
        </p:spPr>
        <p:txBody>
          <a:bodyPr wrap="square">
            <a:spAutoFit/>
          </a:bodyPr>
          <a:lstStyle/>
          <a:p>
            <a:pPr algn="l"/>
            <a:r>
              <a:rPr sz="1100" b="0" i="0">
                <a:solidFill>
                  <a:srgbClr val="9D9D9F"/>
                </a:solidFill>
                <a:latin typeface="Satoshi"/>
              </a:rPr>
              <a:t>All published practice notes, technical briefs, evaluation reports, and case studies indexed into a searchable RAG system. Any team member queries in plain language -- 'what worked in Rwanda ECD' -- and gets a sourced answer in seconds.</a:t>
            </a:r>
          </a:p>
        </p:txBody>
      </p:sp>
      <p:sp>
        <p:nvSpPr>
          <p:cNvPr id="13" name="TextBox 12"/>
          <p:cNvSpPr txBox="1"/>
          <p:nvPr/>
        </p:nvSpPr>
        <p:spPr>
          <a:xfrm>
            <a:off x="685800" y="3035808"/>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14" name="TextBox 13"/>
          <p:cNvSpPr txBox="1"/>
          <p:nvPr/>
        </p:nvSpPr>
        <p:spPr>
          <a:xfrm>
            <a:off x="960120" y="3035808"/>
            <a:ext cx="4754880" cy="237744"/>
          </a:xfrm>
          <a:prstGeom prst="rect">
            <a:avLst/>
          </a:prstGeom>
          <a:noFill/>
        </p:spPr>
        <p:txBody>
          <a:bodyPr wrap="square">
            <a:spAutoFit/>
          </a:bodyPr>
          <a:lstStyle/>
          <a:p>
            <a:pPr algn="l"/>
            <a:r>
              <a:rPr sz="1200" b="1" i="0">
                <a:solidFill>
                  <a:srgbClr val="FFFFFF"/>
                </a:solidFill>
                <a:latin typeface="Satoshi"/>
              </a:rPr>
              <a:t>New joiner onboarding</a:t>
            </a:r>
          </a:p>
        </p:txBody>
      </p:sp>
      <p:sp>
        <p:nvSpPr>
          <p:cNvPr id="15" name="TextBox 14"/>
          <p:cNvSpPr txBox="1"/>
          <p:nvPr/>
        </p:nvSpPr>
        <p:spPr>
          <a:xfrm>
            <a:off x="960120" y="3282696"/>
            <a:ext cx="4754880" cy="347472"/>
          </a:xfrm>
          <a:prstGeom prst="rect">
            <a:avLst/>
          </a:prstGeom>
          <a:noFill/>
        </p:spPr>
        <p:txBody>
          <a:bodyPr wrap="square">
            <a:spAutoFit/>
          </a:bodyPr>
          <a:lstStyle/>
          <a:p>
            <a:pPr algn="l"/>
            <a:r>
              <a:rPr sz="1100" b="0" i="0">
                <a:solidFill>
                  <a:srgbClr val="9D9D9F"/>
                </a:solidFill>
                <a:latin typeface="Satoshi"/>
              </a:rPr>
              <a:t>Programme Analysts joining for Sierra Leone or Namibia oriented via an AI that answers context-specific questions from the knowledge base, rather than relying on senior staff to explain the same background.</a:t>
            </a:r>
          </a:p>
        </p:txBody>
      </p:sp>
      <p:sp>
        <p:nvSpPr>
          <p:cNvPr id="16" name="TextBox 15"/>
          <p:cNvSpPr txBox="1"/>
          <p:nvPr/>
        </p:nvSpPr>
        <p:spPr>
          <a:xfrm>
            <a:off x="685800" y="3694176"/>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17" name="TextBox 16"/>
          <p:cNvSpPr txBox="1"/>
          <p:nvPr/>
        </p:nvSpPr>
        <p:spPr>
          <a:xfrm>
            <a:off x="960120" y="3694176"/>
            <a:ext cx="4754880" cy="237744"/>
          </a:xfrm>
          <a:prstGeom prst="rect">
            <a:avLst/>
          </a:prstGeom>
          <a:noFill/>
        </p:spPr>
        <p:txBody>
          <a:bodyPr wrap="square">
            <a:spAutoFit/>
          </a:bodyPr>
          <a:lstStyle/>
          <a:p>
            <a:pPr algn="l"/>
            <a:r>
              <a:rPr sz="1200" b="1" i="0">
                <a:solidFill>
                  <a:srgbClr val="FFFFFF"/>
                </a:solidFill>
                <a:latin typeface="Satoshi"/>
              </a:rPr>
              <a:t>Meeting synthesis and capture</a:t>
            </a:r>
          </a:p>
        </p:txBody>
      </p:sp>
      <p:sp>
        <p:nvSpPr>
          <p:cNvPr id="18" name="TextBox 17"/>
          <p:cNvSpPr txBox="1"/>
          <p:nvPr/>
        </p:nvSpPr>
        <p:spPr>
          <a:xfrm>
            <a:off x="960120" y="3941064"/>
            <a:ext cx="4754880" cy="347472"/>
          </a:xfrm>
          <a:prstGeom prst="rect">
            <a:avLst/>
          </a:prstGeom>
          <a:noFill/>
        </p:spPr>
        <p:txBody>
          <a:bodyPr wrap="square">
            <a:spAutoFit/>
          </a:bodyPr>
          <a:lstStyle/>
          <a:p>
            <a:pPr algn="l"/>
            <a:r>
              <a:rPr sz="1100" b="0" i="0">
                <a:solidFill>
                  <a:srgbClr val="9D9D9F"/>
                </a:solidFill>
                <a:latin typeface="Satoshi"/>
              </a:rPr>
              <a:t>Programme team meetings and country calls recorded and auto-summarised. Key decisions, action items, and learnings captured to the knowledge base without manual note-taking -- closing the 'Growing in Spirals' loop.</a:t>
            </a:r>
          </a:p>
        </p:txBody>
      </p:sp>
      <p:sp>
        <p:nvSpPr>
          <p:cNvPr id="19" name="Rectangle 18"/>
          <p:cNvSpPr/>
          <p:nvPr/>
        </p:nvSpPr>
        <p:spPr>
          <a:xfrm>
            <a:off x="6092698" y="777240"/>
            <a:ext cx="12700" cy="9525"/>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3640" y="777240"/>
            <a:ext cx="5486400" cy="274320"/>
          </a:xfrm>
          <a:prstGeom prst="rect">
            <a:avLst/>
          </a:prstGeom>
          <a:noFill/>
        </p:spPr>
        <p:txBody>
          <a:bodyPr wrap="square">
            <a:spAutoFit/>
          </a:bodyPr>
          <a:lstStyle/>
          <a:p>
            <a:pPr algn="l"/>
            <a:r>
              <a:rPr sz="1000" b="1" i="0">
                <a:solidFill>
                  <a:srgbClr val="A78BFA"/>
                </a:solidFill>
                <a:latin typeface="Satoshi"/>
              </a:rPr>
              <a:t>MODULE E</a:t>
            </a:r>
          </a:p>
        </p:txBody>
      </p:sp>
      <p:sp>
        <p:nvSpPr>
          <p:cNvPr id="21" name="TextBox 20"/>
          <p:cNvSpPr txBox="1"/>
          <p:nvPr/>
        </p:nvSpPr>
        <p:spPr>
          <a:xfrm>
            <a:off x="6263640" y="1078992"/>
            <a:ext cx="9144000" cy="1463040"/>
          </a:xfrm>
          <a:prstGeom prst="rect">
            <a:avLst/>
          </a:prstGeom>
          <a:noFill/>
        </p:spPr>
        <p:txBody>
          <a:bodyPr wrap="square">
            <a:spAutoFit/>
          </a:bodyPr>
          <a:lstStyle/>
          <a:p>
            <a:pPr algn="l"/>
            <a:r>
              <a:rPr sz="2800" b="0" i="0">
                <a:solidFill>
                  <a:srgbClr val="FFFFFF"/>
                </a:solidFill>
                <a:latin typeface="Instrument Serif"/>
              </a:rPr>
              <a:t>Country Team Coordination AI</a:t>
            </a:r>
          </a:p>
        </p:txBody>
      </p:sp>
      <p:sp>
        <p:nvSpPr>
          <p:cNvPr id="22" name="TextBox 21"/>
          <p:cNvSpPr txBox="1"/>
          <p:nvPr/>
        </p:nvSpPr>
        <p:spPr>
          <a:xfrm>
            <a:off x="6263640" y="1874519"/>
            <a:ext cx="5212080" cy="347472"/>
          </a:xfrm>
          <a:prstGeom prst="rect">
            <a:avLst/>
          </a:prstGeom>
          <a:noFill/>
        </p:spPr>
        <p:txBody>
          <a:bodyPr wrap="square">
            <a:spAutoFit/>
          </a:bodyPr>
          <a:lstStyle/>
          <a:p>
            <a:pPr algn="l"/>
            <a:r>
              <a:rPr sz="1300" b="0" i="0">
                <a:solidFill>
                  <a:srgbClr val="86868A"/>
                </a:solidFill>
                <a:latin typeface="Satoshi"/>
              </a:rPr>
              <a:t>Six country teams (Sierra Leone, Nigeria, Rwanda, South Africa, Tunisia, Namibia) reporting to London. Async coordination at this scale needs automation.</a:t>
            </a:r>
          </a:p>
        </p:txBody>
      </p:sp>
      <p:sp>
        <p:nvSpPr>
          <p:cNvPr id="23" name="TextBox 22"/>
          <p:cNvSpPr txBox="1"/>
          <p:nvPr/>
        </p:nvSpPr>
        <p:spPr>
          <a:xfrm>
            <a:off x="6263640" y="2377440"/>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24" name="TextBox 23"/>
          <p:cNvSpPr txBox="1"/>
          <p:nvPr/>
        </p:nvSpPr>
        <p:spPr>
          <a:xfrm>
            <a:off x="6537960" y="2377440"/>
            <a:ext cx="4937760" cy="237744"/>
          </a:xfrm>
          <a:prstGeom prst="rect">
            <a:avLst/>
          </a:prstGeom>
          <a:noFill/>
        </p:spPr>
        <p:txBody>
          <a:bodyPr wrap="square">
            <a:spAutoFit/>
          </a:bodyPr>
          <a:lstStyle/>
          <a:p>
            <a:pPr algn="l"/>
            <a:r>
              <a:rPr sz="1200" b="1" i="0">
                <a:solidFill>
                  <a:srgbClr val="FFFFFF"/>
                </a:solidFill>
                <a:latin typeface="Satoshi"/>
              </a:rPr>
              <a:t>Weekly async status synthesis</a:t>
            </a:r>
          </a:p>
        </p:txBody>
      </p:sp>
      <p:sp>
        <p:nvSpPr>
          <p:cNvPr id="25" name="TextBox 24"/>
          <p:cNvSpPr txBox="1"/>
          <p:nvPr/>
        </p:nvSpPr>
        <p:spPr>
          <a:xfrm>
            <a:off x="6537960" y="2624328"/>
            <a:ext cx="4937760" cy="347472"/>
          </a:xfrm>
          <a:prstGeom prst="rect">
            <a:avLst/>
          </a:prstGeom>
          <a:noFill/>
        </p:spPr>
        <p:txBody>
          <a:bodyPr wrap="square">
            <a:spAutoFit/>
          </a:bodyPr>
          <a:lstStyle/>
          <a:p>
            <a:pPr algn="l"/>
            <a:r>
              <a:rPr sz="1100" b="0" i="0">
                <a:solidFill>
                  <a:srgbClr val="9D9D9F"/>
                </a:solidFill>
                <a:latin typeface="Satoshi"/>
              </a:rPr>
              <a:t>Country leads submit structured weekly updates via a simple form or WhatsApp. AI synthesises into a single executive summary for Milena Castellnou and Max McCabe -- no Monday coordination call required to understand the portfolio status.</a:t>
            </a:r>
          </a:p>
        </p:txBody>
      </p:sp>
      <p:sp>
        <p:nvSpPr>
          <p:cNvPr id="26" name="TextBox 25"/>
          <p:cNvSpPr txBox="1"/>
          <p:nvPr/>
        </p:nvSpPr>
        <p:spPr>
          <a:xfrm>
            <a:off x="6263640" y="3035808"/>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27" name="TextBox 26"/>
          <p:cNvSpPr txBox="1"/>
          <p:nvPr/>
        </p:nvSpPr>
        <p:spPr>
          <a:xfrm>
            <a:off x="6537960" y="3035808"/>
            <a:ext cx="4937760" cy="237744"/>
          </a:xfrm>
          <a:prstGeom prst="rect">
            <a:avLst/>
          </a:prstGeom>
          <a:noFill/>
        </p:spPr>
        <p:txBody>
          <a:bodyPr wrap="square">
            <a:spAutoFit/>
          </a:bodyPr>
          <a:lstStyle/>
          <a:p>
            <a:pPr algn="l"/>
            <a:r>
              <a:rPr sz="1200" b="1" i="0">
                <a:solidFill>
                  <a:srgbClr val="FFFFFF"/>
                </a:solidFill>
                <a:latin typeface="Satoshi"/>
              </a:rPr>
              <a:t>Scheduling automation</a:t>
            </a:r>
          </a:p>
        </p:txBody>
      </p:sp>
      <p:sp>
        <p:nvSpPr>
          <p:cNvPr id="28" name="TextBox 27"/>
          <p:cNvSpPr txBox="1"/>
          <p:nvPr/>
        </p:nvSpPr>
        <p:spPr>
          <a:xfrm>
            <a:off x="6537960" y="3282696"/>
            <a:ext cx="4937760" cy="347472"/>
          </a:xfrm>
          <a:prstGeom prst="rect">
            <a:avLst/>
          </a:prstGeom>
          <a:noFill/>
        </p:spPr>
        <p:txBody>
          <a:bodyPr wrap="square">
            <a:spAutoFit/>
          </a:bodyPr>
          <a:lstStyle/>
          <a:p>
            <a:pPr algn="l"/>
            <a:r>
              <a:rPr sz="1100" b="0" i="0">
                <a:solidFill>
                  <a:srgbClr val="9D9D9F"/>
                </a:solidFill>
                <a:latin typeface="Satoshi"/>
              </a:rPr>
              <a:t>Inbound requests for calls with programme leads managed by an AI scheduling layer. Government officials in Freetown and donors in London book directly without going through the London operations team.</a:t>
            </a:r>
          </a:p>
        </p:txBody>
      </p:sp>
      <p:sp>
        <p:nvSpPr>
          <p:cNvPr id="29" name="TextBox 28"/>
          <p:cNvSpPr txBox="1"/>
          <p:nvPr/>
        </p:nvSpPr>
        <p:spPr>
          <a:xfrm>
            <a:off x="6263640" y="3694176"/>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30" name="TextBox 29"/>
          <p:cNvSpPr txBox="1"/>
          <p:nvPr/>
        </p:nvSpPr>
        <p:spPr>
          <a:xfrm>
            <a:off x="6537960" y="3694176"/>
            <a:ext cx="4937760" cy="237744"/>
          </a:xfrm>
          <a:prstGeom prst="rect">
            <a:avLst/>
          </a:prstGeom>
          <a:noFill/>
        </p:spPr>
        <p:txBody>
          <a:bodyPr wrap="square">
            <a:spAutoFit/>
          </a:bodyPr>
          <a:lstStyle/>
          <a:p>
            <a:pPr algn="l"/>
            <a:r>
              <a:rPr sz="1200" b="1" i="0">
                <a:solidFill>
                  <a:srgbClr val="FFFFFF"/>
                </a:solidFill>
                <a:latin typeface="Satoshi"/>
              </a:rPr>
              <a:t>Risk and delay flagging</a:t>
            </a:r>
          </a:p>
        </p:txBody>
      </p:sp>
      <p:sp>
        <p:nvSpPr>
          <p:cNvPr id="31" name="TextBox 30"/>
          <p:cNvSpPr txBox="1"/>
          <p:nvPr/>
        </p:nvSpPr>
        <p:spPr>
          <a:xfrm>
            <a:off x="6537960" y="3941064"/>
            <a:ext cx="4937760" cy="347472"/>
          </a:xfrm>
          <a:prstGeom prst="rect">
            <a:avLst/>
          </a:prstGeom>
          <a:noFill/>
        </p:spPr>
        <p:txBody>
          <a:bodyPr wrap="square">
            <a:spAutoFit/>
          </a:bodyPr>
          <a:lstStyle/>
          <a:p>
            <a:pPr algn="l"/>
            <a:r>
              <a:rPr sz="1100" b="0" i="0">
                <a:solidFill>
                  <a:srgbClr val="9D9D9F"/>
                </a:solidFill>
                <a:latin typeface="Satoshi"/>
              </a:rPr>
              <a:t>When a country programme reports a verification delay or government approval lag, the AI flags it to the relevant Programme Lead and suggests a mitigation note for the affected donor's reporting timeline.</a:t>
            </a:r>
          </a:p>
        </p:txBody>
      </p:sp>
      <p:sp>
        <p:nvSpPr>
          <p:cNvPr id="32" name="TextBox 31"/>
          <p:cNvSpPr txBox="1"/>
          <p:nvPr/>
        </p:nvSpPr>
        <p:spPr>
          <a:xfrm>
            <a:off x="6263640" y="4352544"/>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33" name="TextBox 32"/>
          <p:cNvSpPr txBox="1"/>
          <p:nvPr/>
        </p:nvSpPr>
        <p:spPr>
          <a:xfrm>
            <a:off x="6537960" y="4352544"/>
            <a:ext cx="4937760" cy="237744"/>
          </a:xfrm>
          <a:prstGeom prst="rect">
            <a:avLst/>
          </a:prstGeom>
          <a:noFill/>
        </p:spPr>
        <p:txBody>
          <a:bodyPr wrap="square">
            <a:spAutoFit/>
          </a:bodyPr>
          <a:lstStyle/>
          <a:p>
            <a:pPr algn="l"/>
            <a:r>
              <a:rPr sz="1200" b="1" i="0">
                <a:solidFill>
                  <a:srgbClr val="FFFFFF"/>
                </a:solidFill>
                <a:latin typeface="Satoshi"/>
              </a:rPr>
              <a:t>Cross-programme learning alerts</a:t>
            </a:r>
          </a:p>
        </p:txBody>
      </p:sp>
      <p:sp>
        <p:nvSpPr>
          <p:cNvPr id="34" name="TextBox 33"/>
          <p:cNvSpPr txBox="1"/>
          <p:nvPr/>
        </p:nvSpPr>
        <p:spPr>
          <a:xfrm>
            <a:off x="6537960" y="4599432"/>
            <a:ext cx="4937760" cy="347472"/>
          </a:xfrm>
          <a:prstGeom prst="rect">
            <a:avLst/>
          </a:prstGeom>
          <a:noFill/>
        </p:spPr>
        <p:txBody>
          <a:bodyPr wrap="square">
            <a:spAutoFit/>
          </a:bodyPr>
          <a:lstStyle/>
          <a:p>
            <a:pPr algn="l"/>
            <a:r>
              <a:rPr sz="1100" b="0" i="0">
                <a:solidFill>
                  <a:srgbClr val="9D9D9F"/>
                </a:solidFill>
                <a:latin typeface="Satoshi"/>
              </a:rPr>
              <a:t>When Rwanda reports a finding that is relevant to the Namibia ECD programme in development, the AI surfaces the connection automatically for the Namibia team -- institutional knowledge transfer without meetings.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TextBox 1"/>
          <p:cNvSpPr txBox="1"/>
          <p:nvPr/>
        </p:nvSpPr>
        <p:spPr>
          <a:xfrm>
            <a:off x="685800" y="201168"/>
            <a:ext cx="5486400" cy="256032"/>
          </a:xfrm>
          <a:prstGeom prst="rect">
            <a:avLst/>
          </a:prstGeom>
          <a:noFill/>
        </p:spPr>
        <p:txBody>
          <a:bodyPr wrap="square">
            <a:spAutoFit/>
          </a:bodyPr>
          <a:lstStyle/>
          <a:p>
            <a:pPr algn="l"/>
            <a:r>
              <a:rPr sz="900" b="1" i="0">
                <a:solidFill>
                  <a:srgbClr val="6B6B6E"/>
                </a:solidFill>
                <a:latin typeface="Satoshi"/>
              </a:rPr>
              <a:t>GENOSAI  x  EDUCATION OUTCOMES FUND</a:t>
            </a:r>
          </a:p>
        </p:txBody>
      </p:sp>
      <p:sp>
        <p:nvSpPr>
          <p:cNvPr id="3" name="TextBox 2"/>
          <p:cNvSpPr txBox="1"/>
          <p:nvPr/>
        </p:nvSpPr>
        <p:spPr>
          <a:xfrm>
            <a:off x="6858000" y="201168"/>
            <a:ext cx="4645152" cy="256032"/>
          </a:xfrm>
          <a:prstGeom prst="rect">
            <a:avLst/>
          </a:prstGeom>
          <a:noFill/>
        </p:spPr>
        <p:txBody>
          <a:bodyPr wrap="square">
            <a:spAutoFit/>
          </a:bodyPr>
          <a:lstStyle/>
          <a:p>
            <a:pPr algn="r"/>
            <a:r>
              <a:rPr sz="900" b="1" i="0">
                <a:solidFill>
                  <a:srgbClr val="6B6B6E"/>
                </a:solidFill>
                <a:latin typeface="Satoshi"/>
              </a:rPr>
              <a:t>05  .  OPERATIONS FLOW</a:t>
            </a:r>
          </a:p>
        </p:txBody>
      </p:sp>
      <p:sp>
        <p:nvSpPr>
          <p:cNvPr id="4" name="Rectangle 3"/>
          <p:cNvSpPr/>
          <p:nvPr/>
        </p:nvSpPr>
        <p:spPr>
          <a:xfrm>
            <a:off x="685800" y="530352"/>
            <a:ext cx="10817352" cy="9525"/>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473952"/>
            <a:ext cx="7315200" cy="256032"/>
          </a:xfrm>
          <a:prstGeom prst="rect">
            <a:avLst/>
          </a:prstGeom>
          <a:noFill/>
        </p:spPr>
        <p:txBody>
          <a:bodyPr wrap="square">
            <a:spAutoFit/>
          </a:bodyPr>
          <a:lstStyle/>
          <a:p>
            <a:pPr algn="l"/>
            <a:r>
              <a:rPr sz="800" b="0" i="0">
                <a:solidFill>
                  <a:srgbClr val="444447"/>
                </a:solidFill>
                <a:latin typeface="Satoshi"/>
              </a:rPr>
              <a:t>AI Audit &amp; Automation Proposal  .  Education Outcomes Fund  .  2026</a:t>
            </a:r>
          </a:p>
        </p:txBody>
      </p:sp>
      <p:sp>
        <p:nvSpPr>
          <p:cNvPr id="6" name="TextBox 5"/>
          <p:cNvSpPr txBox="1"/>
          <p:nvPr/>
        </p:nvSpPr>
        <p:spPr>
          <a:xfrm>
            <a:off x="8686800" y="6473952"/>
            <a:ext cx="2816352" cy="256032"/>
          </a:xfrm>
          <a:prstGeom prst="rect">
            <a:avLst/>
          </a:prstGeom>
          <a:noFill/>
        </p:spPr>
        <p:txBody>
          <a:bodyPr wrap="square">
            <a:spAutoFit/>
          </a:bodyPr>
          <a:lstStyle/>
          <a:p>
            <a:pPr algn="r"/>
            <a:r>
              <a:rPr sz="800" b="0" i="0">
                <a:solidFill>
                  <a:srgbClr val="444447"/>
                </a:solidFill>
                <a:latin typeface="Satoshi"/>
              </a:rPr>
              <a:t>10 / 12</a:t>
            </a:r>
          </a:p>
        </p:txBody>
      </p:sp>
      <p:sp>
        <p:nvSpPr>
          <p:cNvPr id="7" name="TextBox 6"/>
          <p:cNvSpPr txBox="1"/>
          <p:nvPr/>
        </p:nvSpPr>
        <p:spPr>
          <a:xfrm>
            <a:off x="685800" y="777240"/>
            <a:ext cx="5486400" cy="274320"/>
          </a:xfrm>
          <a:prstGeom prst="rect">
            <a:avLst/>
          </a:prstGeom>
          <a:noFill/>
        </p:spPr>
        <p:txBody>
          <a:bodyPr wrap="square">
            <a:spAutoFit/>
          </a:bodyPr>
          <a:lstStyle/>
          <a:p>
            <a:pPr algn="l"/>
            <a:r>
              <a:rPr sz="1000" b="1" i="0">
                <a:solidFill>
                  <a:srgbClr val="A78BFA"/>
                </a:solidFill>
                <a:latin typeface="Satoshi"/>
              </a:rPr>
              <a:t>INTAKE  -&gt;  DESIGN  -&gt;  LAUNCH  -&gt;  VERIFY  -&gt;  REPORT  -&gt;  SCALE</a:t>
            </a:r>
          </a:p>
        </p:txBody>
      </p:sp>
      <p:sp>
        <p:nvSpPr>
          <p:cNvPr id="8" name="TextBox 7"/>
          <p:cNvSpPr txBox="1"/>
          <p:nvPr/>
        </p:nvSpPr>
        <p:spPr>
          <a:xfrm>
            <a:off x="685800" y="1078992"/>
            <a:ext cx="9144000" cy="1463040"/>
          </a:xfrm>
          <a:prstGeom prst="rect">
            <a:avLst/>
          </a:prstGeom>
          <a:noFill/>
        </p:spPr>
        <p:txBody>
          <a:bodyPr wrap="square">
            <a:spAutoFit/>
          </a:bodyPr>
          <a:lstStyle/>
          <a:p>
            <a:pPr algn="l"/>
            <a:r>
              <a:rPr sz="3000" b="0" i="0">
                <a:solidFill>
                  <a:srgbClr val="FFFFFF"/>
                </a:solidFill>
                <a:latin typeface="Instrument Serif"/>
              </a:rPr>
              <a:t>Automated Programme Operations Lifecycle</a:t>
            </a:r>
          </a:p>
        </p:txBody>
      </p:sp>
      <p:sp>
        <p:nvSpPr>
          <p:cNvPr id="9" name="TextBox 8"/>
          <p:cNvSpPr txBox="1"/>
          <p:nvPr/>
        </p:nvSpPr>
        <p:spPr>
          <a:xfrm>
            <a:off x="685800" y="2011680"/>
            <a:ext cx="9144000" cy="347472"/>
          </a:xfrm>
          <a:prstGeom prst="rect">
            <a:avLst/>
          </a:prstGeom>
          <a:noFill/>
        </p:spPr>
        <p:txBody>
          <a:bodyPr wrap="square">
            <a:spAutoFit/>
          </a:bodyPr>
          <a:lstStyle/>
          <a:p>
            <a:pPr algn="l"/>
            <a:r>
              <a:rPr sz="1300" b="0" i="0">
                <a:solidFill>
                  <a:srgbClr val="86868A"/>
                </a:solidFill>
                <a:latin typeface="Satoshi"/>
              </a:rPr>
              <a:t>From the first partner enquiry to a published outcomes report -- every stage automated.</a:t>
            </a:r>
          </a:p>
        </p:txBody>
      </p:sp>
      <p:sp>
        <p:nvSpPr>
          <p:cNvPr id="10" name="Rectangle 9"/>
          <p:cNvSpPr/>
          <p:nvPr/>
        </p:nvSpPr>
        <p:spPr>
          <a:xfrm>
            <a:off x="685800" y="2487168"/>
            <a:ext cx="10817352" cy="9525"/>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85800" y="2834640"/>
            <a:ext cx="1280160" cy="320040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8" y="2999232"/>
            <a:ext cx="1097280" cy="347472"/>
          </a:xfrm>
          <a:prstGeom prst="rect">
            <a:avLst/>
          </a:prstGeom>
          <a:noFill/>
        </p:spPr>
        <p:txBody>
          <a:bodyPr wrap="square">
            <a:spAutoFit/>
          </a:bodyPr>
          <a:lstStyle/>
          <a:p>
            <a:pPr algn="l"/>
            <a:r>
              <a:rPr sz="2000" b="0" i="0">
                <a:solidFill>
                  <a:srgbClr val="A78BFA"/>
                </a:solidFill>
                <a:latin typeface="Instrument Serif"/>
              </a:rPr>
              <a:t>01</a:t>
            </a:r>
          </a:p>
        </p:txBody>
      </p:sp>
      <p:sp>
        <p:nvSpPr>
          <p:cNvPr id="13" name="TextBox 12"/>
          <p:cNvSpPr txBox="1"/>
          <p:nvPr/>
        </p:nvSpPr>
        <p:spPr>
          <a:xfrm>
            <a:off x="795528" y="3429000"/>
            <a:ext cx="1097280" cy="594360"/>
          </a:xfrm>
          <a:prstGeom prst="rect">
            <a:avLst/>
          </a:prstGeom>
          <a:noFill/>
        </p:spPr>
        <p:txBody>
          <a:bodyPr wrap="square">
            <a:spAutoFit/>
          </a:bodyPr>
          <a:lstStyle/>
          <a:p>
            <a:pPr algn="l"/>
            <a:r>
              <a:rPr sz="1300" b="0" i="0">
                <a:solidFill>
                  <a:srgbClr val="FFFFFF"/>
                </a:solidFill>
                <a:latin typeface="Instrument Serif"/>
              </a:rPr>
              <a:t>Inbound
Proposal</a:t>
            </a:r>
          </a:p>
        </p:txBody>
      </p:sp>
      <p:sp>
        <p:nvSpPr>
          <p:cNvPr id="14" name="TextBox 13"/>
          <p:cNvSpPr txBox="1"/>
          <p:nvPr/>
        </p:nvSpPr>
        <p:spPr>
          <a:xfrm>
            <a:off x="795528" y="4114800"/>
            <a:ext cx="1097280" cy="685800"/>
          </a:xfrm>
          <a:prstGeom prst="rect">
            <a:avLst/>
          </a:prstGeom>
          <a:noFill/>
        </p:spPr>
        <p:txBody>
          <a:bodyPr wrap="square">
            <a:spAutoFit/>
          </a:bodyPr>
          <a:lstStyle/>
          <a:p>
            <a:pPr algn="l"/>
            <a:r>
              <a:rPr sz="1000" b="0" i="0">
                <a:solidFill>
                  <a:srgbClr val="9D9D9F"/>
                </a:solidFill>
                <a:latin typeface="Satoshi"/>
              </a:rPr>
              <a:t>AI intake form
scores and routes</a:t>
            </a:r>
          </a:p>
        </p:txBody>
      </p:sp>
      <p:sp>
        <p:nvSpPr>
          <p:cNvPr id="15" name="TextBox 14"/>
          <p:cNvSpPr txBox="1"/>
          <p:nvPr/>
        </p:nvSpPr>
        <p:spPr>
          <a:xfrm>
            <a:off x="1984248" y="3840480"/>
            <a:ext cx="155448" cy="256032"/>
          </a:xfrm>
          <a:prstGeom prst="rect">
            <a:avLst/>
          </a:prstGeom>
          <a:noFill/>
        </p:spPr>
        <p:txBody>
          <a:bodyPr wrap="square">
            <a:spAutoFit/>
          </a:bodyPr>
          <a:lstStyle/>
          <a:p>
            <a:pPr algn="ctr"/>
            <a:r>
              <a:rPr sz="1400" b="0" i="0">
                <a:solidFill>
                  <a:srgbClr val="6B6B6E"/>
                </a:solidFill>
                <a:latin typeface="Satoshi"/>
              </a:rPr>
              <a:t>&gt;</a:t>
            </a:r>
          </a:p>
        </p:txBody>
      </p:sp>
      <p:sp>
        <p:nvSpPr>
          <p:cNvPr id="16" name="Rounded Rectangle 15"/>
          <p:cNvSpPr/>
          <p:nvPr/>
        </p:nvSpPr>
        <p:spPr>
          <a:xfrm>
            <a:off x="2075688" y="2834640"/>
            <a:ext cx="1280160" cy="320040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185416" y="2999232"/>
            <a:ext cx="1097280" cy="347472"/>
          </a:xfrm>
          <a:prstGeom prst="rect">
            <a:avLst/>
          </a:prstGeom>
          <a:noFill/>
        </p:spPr>
        <p:txBody>
          <a:bodyPr wrap="square">
            <a:spAutoFit/>
          </a:bodyPr>
          <a:lstStyle/>
          <a:p>
            <a:pPr algn="l"/>
            <a:r>
              <a:rPr sz="2000" b="0" i="0">
                <a:solidFill>
                  <a:srgbClr val="A78BFA"/>
                </a:solidFill>
                <a:latin typeface="Instrument Serif"/>
              </a:rPr>
              <a:t>02</a:t>
            </a:r>
          </a:p>
        </p:txBody>
      </p:sp>
      <p:sp>
        <p:nvSpPr>
          <p:cNvPr id="18" name="TextBox 17"/>
          <p:cNvSpPr txBox="1"/>
          <p:nvPr/>
        </p:nvSpPr>
        <p:spPr>
          <a:xfrm>
            <a:off x="2185416" y="3429000"/>
            <a:ext cx="1097280" cy="594360"/>
          </a:xfrm>
          <a:prstGeom prst="rect">
            <a:avLst/>
          </a:prstGeom>
          <a:noFill/>
        </p:spPr>
        <p:txBody>
          <a:bodyPr wrap="square">
            <a:spAutoFit/>
          </a:bodyPr>
          <a:lstStyle/>
          <a:p>
            <a:pPr algn="l"/>
            <a:r>
              <a:rPr sz="1300" b="0" i="0">
                <a:solidFill>
                  <a:srgbClr val="FFFFFF"/>
                </a:solidFill>
                <a:latin typeface="Instrument Serif"/>
              </a:rPr>
              <a:t>Partner
Qualification</a:t>
            </a:r>
          </a:p>
        </p:txBody>
      </p:sp>
      <p:sp>
        <p:nvSpPr>
          <p:cNvPr id="19" name="TextBox 18"/>
          <p:cNvSpPr txBox="1"/>
          <p:nvPr/>
        </p:nvSpPr>
        <p:spPr>
          <a:xfrm>
            <a:off x="2185416" y="4114800"/>
            <a:ext cx="1097280" cy="685800"/>
          </a:xfrm>
          <a:prstGeom prst="rect">
            <a:avLst/>
          </a:prstGeom>
          <a:noFill/>
        </p:spPr>
        <p:txBody>
          <a:bodyPr wrap="square">
            <a:spAutoFit/>
          </a:bodyPr>
          <a:lstStyle/>
          <a:p>
            <a:pPr algn="l"/>
            <a:r>
              <a:rPr sz="1000" b="0" i="0">
                <a:solidFill>
                  <a:srgbClr val="9D9D9F"/>
                </a:solidFill>
                <a:latin typeface="Satoshi"/>
              </a:rPr>
              <a:t>Scoring model
flags fit/no-fit</a:t>
            </a:r>
          </a:p>
        </p:txBody>
      </p:sp>
      <p:sp>
        <p:nvSpPr>
          <p:cNvPr id="20" name="TextBox 19"/>
          <p:cNvSpPr txBox="1"/>
          <p:nvPr/>
        </p:nvSpPr>
        <p:spPr>
          <a:xfrm>
            <a:off x="3374136" y="3840480"/>
            <a:ext cx="155448" cy="256032"/>
          </a:xfrm>
          <a:prstGeom prst="rect">
            <a:avLst/>
          </a:prstGeom>
          <a:noFill/>
        </p:spPr>
        <p:txBody>
          <a:bodyPr wrap="square">
            <a:spAutoFit/>
          </a:bodyPr>
          <a:lstStyle/>
          <a:p>
            <a:pPr algn="ctr"/>
            <a:r>
              <a:rPr sz="1400" b="0" i="0">
                <a:solidFill>
                  <a:srgbClr val="6B6B6E"/>
                </a:solidFill>
                <a:latin typeface="Satoshi"/>
              </a:rPr>
              <a:t>&gt;</a:t>
            </a:r>
          </a:p>
        </p:txBody>
      </p:sp>
      <p:sp>
        <p:nvSpPr>
          <p:cNvPr id="21" name="Rounded Rectangle 20"/>
          <p:cNvSpPr/>
          <p:nvPr/>
        </p:nvSpPr>
        <p:spPr>
          <a:xfrm>
            <a:off x="3465576" y="2834640"/>
            <a:ext cx="1280160" cy="320040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575304" y="2999232"/>
            <a:ext cx="1097280" cy="347472"/>
          </a:xfrm>
          <a:prstGeom prst="rect">
            <a:avLst/>
          </a:prstGeom>
          <a:noFill/>
        </p:spPr>
        <p:txBody>
          <a:bodyPr wrap="square">
            <a:spAutoFit/>
          </a:bodyPr>
          <a:lstStyle/>
          <a:p>
            <a:pPr algn="l"/>
            <a:r>
              <a:rPr sz="2000" b="0" i="0">
                <a:solidFill>
                  <a:srgbClr val="A78BFA"/>
                </a:solidFill>
                <a:latin typeface="Instrument Serif"/>
              </a:rPr>
              <a:t>03</a:t>
            </a:r>
          </a:p>
        </p:txBody>
      </p:sp>
      <p:sp>
        <p:nvSpPr>
          <p:cNvPr id="23" name="TextBox 22"/>
          <p:cNvSpPr txBox="1"/>
          <p:nvPr/>
        </p:nvSpPr>
        <p:spPr>
          <a:xfrm>
            <a:off x="3575304" y="3429000"/>
            <a:ext cx="1097280" cy="594360"/>
          </a:xfrm>
          <a:prstGeom prst="rect">
            <a:avLst/>
          </a:prstGeom>
          <a:noFill/>
        </p:spPr>
        <p:txBody>
          <a:bodyPr wrap="square">
            <a:spAutoFit/>
          </a:bodyPr>
          <a:lstStyle/>
          <a:p>
            <a:pPr algn="l"/>
            <a:r>
              <a:rPr sz="1300" b="0" i="0">
                <a:solidFill>
                  <a:srgbClr val="FFFFFF"/>
                </a:solidFill>
                <a:latin typeface="Instrument Serif"/>
              </a:rPr>
              <a:t>Meeting
Scheduled</a:t>
            </a:r>
          </a:p>
        </p:txBody>
      </p:sp>
      <p:sp>
        <p:nvSpPr>
          <p:cNvPr id="24" name="TextBox 23"/>
          <p:cNvSpPr txBox="1"/>
          <p:nvPr/>
        </p:nvSpPr>
        <p:spPr>
          <a:xfrm>
            <a:off x="3575304" y="4114800"/>
            <a:ext cx="1097280" cy="685800"/>
          </a:xfrm>
          <a:prstGeom prst="rect">
            <a:avLst/>
          </a:prstGeom>
          <a:noFill/>
        </p:spPr>
        <p:txBody>
          <a:bodyPr wrap="square">
            <a:spAutoFit/>
          </a:bodyPr>
          <a:lstStyle/>
          <a:p>
            <a:pPr algn="l"/>
            <a:r>
              <a:rPr sz="1000" b="0" i="0">
                <a:solidFill>
                  <a:srgbClr val="9D9D9F"/>
                </a:solidFill>
                <a:latin typeface="Satoshi"/>
              </a:rPr>
              <a:t>Auto-invite to
Programme Lead</a:t>
            </a:r>
          </a:p>
        </p:txBody>
      </p:sp>
      <p:sp>
        <p:nvSpPr>
          <p:cNvPr id="25" name="TextBox 24"/>
          <p:cNvSpPr txBox="1"/>
          <p:nvPr/>
        </p:nvSpPr>
        <p:spPr>
          <a:xfrm>
            <a:off x="4764024" y="3840480"/>
            <a:ext cx="155448" cy="256032"/>
          </a:xfrm>
          <a:prstGeom prst="rect">
            <a:avLst/>
          </a:prstGeom>
          <a:noFill/>
        </p:spPr>
        <p:txBody>
          <a:bodyPr wrap="square">
            <a:spAutoFit/>
          </a:bodyPr>
          <a:lstStyle/>
          <a:p>
            <a:pPr algn="ctr"/>
            <a:r>
              <a:rPr sz="1400" b="0" i="0">
                <a:solidFill>
                  <a:srgbClr val="6B6B6E"/>
                </a:solidFill>
                <a:latin typeface="Satoshi"/>
              </a:rPr>
              <a:t>&gt;</a:t>
            </a:r>
          </a:p>
        </p:txBody>
      </p:sp>
      <p:sp>
        <p:nvSpPr>
          <p:cNvPr id="26" name="Rounded Rectangle 25"/>
          <p:cNvSpPr/>
          <p:nvPr/>
        </p:nvSpPr>
        <p:spPr>
          <a:xfrm>
            <a:off x="4855464" y="2834640"/>
            <a:ext cx="1280160" cy="320040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965192" y="2999232"/>
            <a:ext cx="1097280" cy="347472"/>
          </a:xfrm>
          <a:prstGeom prst="rect">
            <a:avLst/>
          </a:prstGeom>
          <a:noFill/>
        </p:spPr>
        <p:txBody>
          <a:bodyPr wrap="square">
            <a:spAutoFit/>
          </a:bodyPr>
          <a:lstStyle/>
          <a:p>
            <a:pPr algn="l"/>
            <a:r>
              <a:rPr sz="2000" b="0" i="0">
                <a:solidFill>
                  <a:srgbClr val="A78BFA"/>
                </a:solidFill>
                <a:latin typeface="Instrument Serif"/>
              </a:rPr>
              <a:t>04</a:t>
            </a:r>
          </a:p>
        </p:txBody>
      </p:sp>
      <p:sp>
        <p:nvSpPr>
          <p:cNvPr id="28" name="TextBox 27"/>
          <p:cNvSpPr txBox="1"/>
          <p:nvPr/>
        </p:nvSpPr>
        <p:spPr>
          <a:xfrm>
            <a:off x="4965192" y="3429000"/>
            <a:ext cx="1097280" cy="594360"/>
          </a:xfrm>
          <a:prstGeom prst="rect">
            <a:avLst/>
          </a:prstGeom>
          <a:noFill/>
        </p:spPr>
        <p:txBody>
          <a:bodyPr wrap="square">
            <a:spAutoFit/>
          </a:bodyPr>
          <a:lstStyle/>
          <a:p>
            <a:pPr algn="l"/>
            <a:r>
              <a:rPr sz="1300" b="0" i="0">
                <a:solidFill>
                  <a:srgbClr val="FFFFFF"/>
                </a:solidFill>
                <a:latin typeface="Instrument Serif"/>
              </a:rPr>
              <a:t>Programme
Designed</a:t>
            </a:r>
          </a:p>
        </p:txBody>
      </p:sp>
      <p:sp>
        <p:nvSpPr>
          <p:cNvPr id="29" name="TextBox 28"/>
          <p:cNvSpPr txBox="1"/>
          <p:nvPr/>
        </p:nvSpPr>
        <p:spPr>
          <a:xfrm>
            <a:off x="4965192" y="4114800"/>
            <a:ext cx="1097280" cy="685800"/>
          </a:xfrm>
          <a:prstGeom prst="rect">
            <a:avLst/>
          </a:prstGeom>
          <a:noFill/>
        </p:spPr>
        <p:txBody>
          <a:bodyPr wrap="square">
            <a:spAutoFit/>
          </a:bodyPr>
          <a:lstStyle/>
          <a:p>
            <a:pPr algn="l"/>
            <a:r>
              <a:rPr sz="1000" b="0" i="0">
                <a:solidFill>
                  <a:srgbClr val="9D9D9F"/>
                </a:solidFill>
                <a:latin typeface="Satoshi"/>
              </a:rPr>
              <a:t>Knowledge base
consulted by AI</a:t>
            </a:r>
          </a:p>
        </p:txBody>
      </p:sp>
      <p:sp>
        <p:nvSpPr>
          <p:cNvPr id="30" name="TextBox 29"/>
          <p:cNvSpPr txBox="1"/>
          <p:nvPr/>
        </p:nvSpPr>
        <p:spPr>
          <a:xfrm>
            <a:off x="6153912" y="3840480"/>
            <a:ext cx="155448" cy="256032"/>
          </a:xfrm>
          <a:prstGeom prst="rect">
            <a:avLst/>
          </a:prstGeom>
          <a:noFill/>
        </p:spPr>
        <p:txBody>
          <a:bodyPr wrap="square">
            <a:spAutoFit/>
          </a:bodyPr>
          <a:lstStyle/>
          <a:p>
            <a:pPr algn="ctr"/>
            <a:r>
              <a:rPr sz="1400" b="0" i="0">
                <a:solidFill>
                  <a:srgbClr val="6B6B6E"/>
                </a:solidFill>
                <a:latin typeface="Satoshi"/>
              </a:rPr>
              <a:t>&gt;</a:t>
            </a:r>
          </a:p>
        </p:txBody>
      </p:sp>
      <p:sp>
        <p:nvSpPr>
          <p:cNvPr id="31" name="Rounded Rectangle 30"/>
          <p:cNvSpPr/>
          <p:nvPr/>
        </p:nvSpPr>
        <p:spPr>
          <a:xfrm>
            <a:off x="6245352" y="2834640"/>
            <a:ext cx="1280160" cy="320040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55080" y="2999232"/>
            <a:ext cx="1097280" cy="347472"/>
          </a:xfrm>
          <a:prstGeom prst="rect">
            <a:avLst/>
          </a:prstGeom>
          <a:noFill/>
        </p:spPr>
        <p:txBody>
          <a:bodyPr wrap="square">
            <a:spAutoFit/>
          </a:bodyPr>
          <a:lstStyle/>
          <a:p>
            <a:pPr algn="l"/>
            <a:r>
              <a:rPr sz="2000" b="0" i="0">
                <a:solidFill>
                  <a:srgbClr val="A78BFA"/>
                </a:solidFill>
                <a:latin typeface="Instrument Serif"/>
              </a:rPr>
              <a:t>05</a:t>
            </a:r>
          </a:p>
        </p:txBody>
      </p:sp>
      <p:sp>
        <p:nvSpPr>
          <p:cNvPr id="33" name="TextBox 32"/>
          <p:cNvSpPr txBox="1"/>
          <p:nvPr/>
        </p:nvSpPr>
        <p:spPr>
          <a:xfrm>
            <a:off x="6355080" y="3429000"/>
            <a:ext cx="1097280" cy="594360"/>
          </a:xfrm>
          <a:prstGeom prst="rect">
            <a:avLst/>
          </a:prstGeom>
          <a:noFill/>
        </p:spPr>
        <p:txBody>
          <a:bodyPr wrap="square">
            <a:spAutoFit/>
          </a:bodyPr>
          <a:lstStyle/>
          <a:p>
            <a:pPr algn="l"/>
            <a:r>
              <a:rPr sz="1300" b="0" i="0">
                <a:solidFill>
                  <a:srgbClr val="FFFFFF"/>
                </a:solidFill>
                <a:latin typeface="Instrument Serif"/>
              </a:rPr>
              <a:t>Launch
Comms</a:t>
            </a:r>
          </a:p>
        </p:txBody>
      </p:sp>
      <p:sp>
        <p:nvSpPr>
          <p:cNvPr id="34" name="TextBox 33"/>
          <p:cNvSpPr txBox="1"/>
          <p:nvPr/>
        </p:nvSpPr>
        <p:spPr>
          <a:xfrm>
            <a:off x="6355080" y="4114800"/>
            <a:ext cx="1097280" cy="685800"/>
          </a:xfrm>
          <a:prstGeom prst="rect">
            <a:avLst/>
          </a:prstGeom>
          <a:noFill/>
        </p:spPr>
        <p:txBody>
          <a:bodyPr wrap="square">
            <a:spAutoFit/>
          </a:bodyPr>
          <a:lstStyle/>
          <a:p>
            <a:pPr algn="l"/>
            <a:r>
              <a:rPr sz="1000" b="0" i="0">
                <a:solidFill>
                  <a:srgbClr val="9D9D9F"/>
                </a:solidFill>
                <a:latin typeface="Satoshi"/>
              </a:rPr>
              <a:t>Segmented alerts
to stakeholders</a:t>
            </a:r>
          </a:p>
        </p:txBody>
      </p:sp>
      <p:sp>
        <p:nvSpPr>
          <p:cNvPr id="35" name="TextBox 34"/>
          <p:cNvSpPr txBox="1"/>
          <p:nvPr/>
        </p:nvSpPr>
        <p:spPr>
          <a:xfrm>
            <a:off x="7543800" y="3840480"/>
            <a:ext cx="155448" cy="256032"/>
          </a:xfrm>
          <a:prstGeom prst="rect">
            <a:avLst/>
          </a:prstGeom>
          <a:noFill/>
        </p:spPr>
        <p:txBody>
          <a:bodyPr wrap="square">
            <a:spAutoFit/>
          </a:bodyPr>
          <a:lstStyle/>
          <a:p>
            <a:pPr algn="ctr"/>
            <a:r>
              <a:rPr sz="1400" b="0" i="0">
                <a:solidFill>
                  <a:srgbClr val="6B6B6E"/>
                </a:solidFill>
                <a:latin typeface="Satoshi"/>
              </a:rPr>
              <a:t>&gt;</a:t>
            </a:r>
          </a:p>
        </p:txBody>
      </p:sp>
      <p:sp>
        <p:nvSpPr>
          <p:cNvPr id="36" name="Rounded Rectangle 35"/>
          <p:cNvSpPr/>
          <p:nvPr/>
        </p:nvSpPr>
        <p:spPr>
          <a:xfrm>
            <a:off x="7635240" y="2834640"/>
            <a:ext cx="1280160" cy="320040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744968" y="2999232"/>
            <a:ext cx="1097280" cy="347472"/>
          </a:xfrm>
          <a:prstGeom prst="rect">
            <a:avLst/>
          </a:prstGeom>
          <a:noFill/>
        </p:spPr>
        <p:txBody>
          <a:bodyPr wrap="square">
            <a:spAutoFit/>
          </a:bodyPr>
          <a:lstStyle/>
          <a:p>
            <a:pPr algn="l"/>
            <a:r>
              <a:rPr sz="2000" b="0" i="0">
                <a:solidFill>
                  <a:srgbClr val="A78BFA"/>
                </a:solidFill>
                <a:latin typeface="Instrument Serif"/>
              </a:rPr>
              <a:t>06</a:t>
            </a:r>
          </a:p>
        </p:txBody>
      </p:sp>
      <p:sp>
        <p:nvSpPr>
          <p:cNvPr id="38" name="TextBox 37"/>
          <p:cNvSpPr txBox="1"/>
          <p:nvPr/>
        </p:nvSpPr>
        <p:spPr>
          <a:xfrm>
            <a:off x="7744968" y="3429000"/>
            <a:ext cx="1097280" cy="594360"/>
          </a:xfrm>
          <a:prstGeom prst="rect">
            <a:avLst/>
          </a:prstGeom>
          <a:noFill/>
        </p:spPr>
        <p:txBody>
          <a:bodyPr wrap="square">
            <a:spAutoFit/>
          </a:bodyPr>
          <a:lstStyle/>
          <a:p>
            <a:pPr algn="l"/>
            <a:r>
              <a:rPr sz="1300" b="0" i="0">
                <a:solidFill>
                  <a:srgbClr val="FFFFFF"/>
                </a:solidFill>
                <a:latin typeface="Instrument Serif"/>
              </a:rPr>
              <a:t>Verification
Cycle</a:t>
            </a:r>
          </a:p>
        </p:txBody>
      </p:sp>
      <p:sp>
        <p:nvSpPr>
          <p:cNvPr id="39" name="TextBox 38"/>
          <p:cNvSpPr txBox="1"/>
          <p:nvPr/>
        </p:nvSpPr>
        <p:spPr>
          <a:xfrm>
            <a:off x="7744968" y="4114800"/>
            <a:ext cx="1097280" cy="685800"/>
          </a:xfrm>
          <a:prstGeom prst="rect">
            <a:avLst/>
          </a:prstGeom>
          <a:noFill/>
        </p:spPr>
        <p:txBody>
          <a:bodyPr wrap="square">
            <a:spAutoFit/>
          </a:bodyPr>
          <a:lstStyle/>
          <a:p>
            <a:pPr algn="l"/>
            <a:r>
              <a:rPr sz="1000" b="0" i="0">
                <a:solidFill>
                  <a:srgbClr val="9D9D9F"/>
                </a:solidFill>
                <a:latin typeface="Satoshi"/>
              </a:rPr>
              <a:t>Data aggregated
automatically</a:t>
            </a:r>
          </a:p>
        </p:txBody>
      </p:sp>
      <p:sp>
        <p:nvSpPr>
          <p:cNvPr id="40" name="TextBox 39"/>
          <p:cNvSpPr txBox="1"/>
          <p:nvPr/>
        </p:nvSpPr>
        <p:spPr>
          <a:xfrm>
            <a:off x="8933688" y="3840480"/>
            <a:ext cx="155448" cy="256032"/>
          </a:xfrm>
          <a:prstGeom prst="rect">
            <a:avLst/>
          </a:prstGeom>
          <a:noFill/>
        </p:spPr>
        <p:txBody>
          <a:bodyPr wrap="square">
            <a:spAutoFit/>
          </a:bodyPr>
          <a:lstStyle/>
          <a:p>
            <a:pPr algn="ctr"/>
            <a:r>
              <a:rPr sz="1400" b="0" i="0">
                <a:solidFill>
                  <a:srgbClr val="6B6B6E"/>
                </a:solidFill>
                <a:latin typeface="Satoshi"/>
              </a:rPr>
              <a:t>&gt;</a:t>
            </a:r>
          </a:p>
        </p:txBody>
      </p:sp>
      <p:sp>
        <p:nvSpPr>
          <p:cNvPr id="41" name="Rounded Rectangle 40"/>
          <p:cNvSpPr/>
          <p:nvPr/>
        </p:nvSpPr>
        <p:spPr>
          <a:xfrm>
            <a:off x="9025128" y="2834640"/>
            <a:ext cx="1280160" cy="320040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134856" y="2999232"/>
            <a:ext cx="1097280" cy="347472"/>
          </a:xfrm>
          <a:prstGeom prst="rect">
            <a:avLst/>
          </a:prstGeom>
          <a:noFill/>
        </p:spPr>
        <p:txBody>
          <a:bodyPr wrap="square">
            <a:spAutoFit/>
          </a:bodyPr>
          <a:lstStyle/>
          <a:p>
            <a:pPr algn="l"/>
            <a:r>
              <a:rPr sz="2000" b="0" i="0">
                <a:solidFill>
                  <a:srgbClr val="A78BFA"/>
                </a:solidFill>
                <a:latin typeface="Instrument Serif"/>
              </a:rPr>
              <a:t>07</a:t>
            </a:r>
          </a:p>
        </p:txBody>
      </p:sp>
      <p:sp>
        <p:nvSpPr>
          <p:cNvPr id="43" name="TextBox 42"/>
          <p:cNvSpPr txBox="1"/>
          <p:nvPr/>
        </p:nvSpPr>
        <p:spPr>
          <a:xfrm>
            <a:off x="9134856" y="3429000"/>
            <a:ext cx="1097280" cy="594360"/>
          </a:xfrm>
          <a:prstGeom prst="rect">
            <a:avLst/>
          </a:prstGeom>
          <a:noFill/>
        </p:spPr>
        <p:txBody>
          <a:bodyPr wrap="square">
            <a:spAutoFit/>
          </a:bodyPr>
          <a:lstStyle/>
          <a:p>
            <a:pPr algn="l"/>
            <a:r>
              <a:rPr sz="1300" b="0" i="0">
                <a:solidFill>
                  <a:srgbClr val="FFFFFF"/>
                </a:solidFill>
                <a:latin typeface="Instrument Serif"/>
              </a:rPr>
              <a:t>Anomaly
Flagged</a:t>
            </a:r>
          </a:p>
        </p:txBody>
      </p:sp>
      <p:sp>
        <p:nvSpPr>
          <p:cNvPr id="44" name="TextBox 43"/>
          <p:cNvSpPr txBox="1"/>
          <p:nvPr/>
        </p:nvSpPr>
        <p:spPr>
          <a:xfrm>
            <a:off x="9134856" y="4114800"/>
            <a:ext cx="1097280" cy="685800"/>
          </a:xfrm>
          <a:prstGeom prst="rect">
            <a:avLst/>
          </a:prstGeom>
          <a:noFill/>
        </p:spPr>
        <p:txBody>
          <a:bodyPr wrap="square">
            <a:spAutoFit/>
          </a:bodyPr>
          <a:lstStyle/>
          <a:p>
            <a:pPr algn="l"/>
            <a:r>
              <a:rPr sz="1000" b="0" i="0">
                <a:solidFill>
                  <a:srgbClr val="9D9D9F"/>
                </a:solidFill>
                <a:latin typeface="Satoshi"/>
              </a:rPr>
              <a:t>AI alerts team
before report draft</a:t>
            </a:r>
          </a:p>
        </p:txBody>
      </p:sp>
      <p:sp>
        <p:nvSpPr>
          <p:cNvPr id="45" name="TextBox 44"/>
          <p:cNvSpPr txBox="1"/>
          <p:nvPr/>
        </p:nvSpPr>
        <p:spPr>
          <a:xfrm>
            <a:off x="10323576" y="3840480"/>
            <a:ext cx="155448" cy="256032"/>
          </a:xfrm>
          <a:prstGeom prst="rect">
            <a:avLst/>
          </a:prstGeom>
          <a:noFill/>
        </p:spPr>
        <p:txBody>
          <a:bodyPr wrap="square">
            <a:spAutoFit/>
          </a:bodyPr>
          <a:lstStyle/>
          <a:p>
            <a:pPr algn="ctr"/>
            <a:r>
              <a:rPr sz="1400" b="0" i="0">
                <a:solidFill>
                  <a:srgbClr val="6B6B6E"/>
                </a:solidFill>
                <a:latin typeface="Satoshi"/>
              </a:rPr>
              <a:t>&gt;</a:t>
            </a:r>
          </a:p>
        </p:txBody>
      </p:sp>
      <p:sp>
        <p:nvSpPr>
          <p:cNvPr id="46" name="Rounded Rectangle 45"/>
          <p:cNvSpPr/>
          <p:nvPr/>
        </p:nvSpPr>
        <p:spPr>
          <a:xfrm>
            <a:off x="10415016" y="2834640"/>
            <a:ext cx="1280160" cy="320040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524744" y="2999232"/>
            <a:ext cx="1097280" cy="347472"/>
          </a:xfrm>
          <a:prstGeom prst="rect">
            <a:avLst/>
          </a:prstGeom>
          <a:noFill/>
        </p:spPr>
        <p:txBody>
          <a:bodyPr wrap="square">
            <a:spAutoFit/>
          </a:bodyPr>
          <a:lstStyle/>
          <a:p>
            <a:pPr algn="l"/>
            <a:r>
              <a:rPr sz="2000" b="0" i="0">
                <a:solidFill>
                  <a:srgbClr val="A78BFA"/>
                </a:solidFill>
                <a:latin typeface="Instrument Serif"/>
              </a:rPr>
              <a:t>08</a:t>
            </a:r>
          </a:p>
        </p:txBody>
      </p:sp>
      <p:sp>
        <p:nvSpPr>
          <p:cNvPr id="48" name="TextBox 47"/>
          <p:cNvSpPr txBox="1"/>
          <p:nvPr/>
        </p:nvSpPr>
        <p:spPr>
          <a:xfrm>
            <a:off x="10524744" y="3429000"/>
            <a:ext cx="1097280" cy="594360"/>
          </a:xfrm>
          <a:prstGeom prst="rect">
            <a:avLst/>
          </a:prstGeom>
          <a:noFill/>
        </p:spPr>
        <p:txBody>
          <a:bodyPr wrap="square">
            <a:spAutoFit/>
          </a:bodyPr>
          <a:lstStyle/>
          <a:p>
            <a:pPr algn="l"/>
            <a:r>
              <a:rPr sz="1300" b="0" i="0">
                <a:solidFill>
                  <a:srgbClr val="FFFFFF"/>
                </a:solidFill>
                <a:latin typeface="Instrument Serif"/>
              </a:rPr>
              <a:t>Donor
Report Sent</a:t>
            </a:r>
          </a:p>
        </p:txBody>
      </p:sp>
      <p:sp>
        <p:nvSpPr>
          <p:cNvPr id="49" name="TextBox 48"/>
          <p:cNvSpPr txBox="1"/>
          <p:nvPr/>
        </p:nvSpPr>
        <p:spPr>
          <a:xfrm>
            <a:off x="10524744" y="4114800"/>
            <a:ext cx="1097280" cy="685800"/>
          </a:xfrm>
          <a:prstGeom prst="rect">
            <a:avLst/>
          </a:prstGeom>
          <a:noFill/>
        </p:spPr>
        <p:txBody>
          <a:bodyPr wrap="square">
            <a:spAutoFit/>
          </a:bodyPr>
          <a:lstStyle/>
          <a:p>
            <a:pPr algn="l"/>
            <a:r>
              <a:rPr sz="1000" b="0" i="0">
                <a:solidFill>
                  <a:srgbClr val="9D9D9F"/>
                </a:solidFill>
                <a:latin typeface="Satoshi"/>
              </a:rPr>
              <a:t>AI draft reviewed
and dispatched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TextBox 1"/>
          <p:cNvSpPr txBox="1"/>
          <p:nvPr/>
        </p:nvSpPr>
        <p:spPr>
          <a:xfrm>
            <a:off x="685800" y="201168"/>
            <a:ext cx="5486400" cy="256032"/>
          </a:xfrm>
          <a:prstGeom prst="rect">
            <a:avLst/>
          </a:prstGeom>
          <a:noFill/>
        </p:spPr>
        <p:txBody>
          <a:bodyPr wrap="square">
            <a:spAutoFit/>
          </a:bodyPr>
          <a:lstStyle/>
          <a:p>
            <a:pPr algn="l"/>
            <a:r>
              <a:rPr sz="900" b="1" i="0">
                <a:solidFill>
                  <a:srgbClr val="6B6B6E"/>
                </a:solidFill>
                <a:latin typeface="Satoshi"/>
              </a:rPr>
              <a:t>GENOSAI  x  EDUCATION OUTCOMES FUND</a:t>
            </a:r>
          </a:p>
        </p:txBody>
      </p:sp>
      <p:sp>
        <p:nvSpPr>
          <p:cNvPr id="3" name="TextBox 2"/>
          <p:cNvSpPr txBox="1"/>
          <p:nvPr/>
        </p:nvSpPr>
        <p:spPr>
          <a:xfrm>
            <a:off x="6858000" y="201168"/>
            <a:ext cx="4645152" cy="256032"/>
          </a:xfrm>
          <a:prstGeom prst="rect">
            <a:avLst/>
          </a:prstGeom>
          <a:noFill/>
        </p:spPr>
        <p:txBody>
          <a:bodyPr wrap="square">
            <a:spAutoFit/>
          </a:bodyPr>
          <a:lstStyle/>
          <a:p>
            <a:pPr algn="r"/>
            <a:r>
              <a:rPr sz="900" b="1" i="0">
                <a:solidFill>
                  <a:srgbClr val="6B6B6E"/>
                </a:solidFill>
                <a:latin typeface="Satoshi"/>
              </a:rPr>
              <a:t>06  .  IMPLEMENTATION</a:t>
            </a:r>
          </a:p>
        </p:txBody>
      </p:sp>
      <p:sp>
        <p:nvSpPr>
          <p:cNvPr id="4" name="Rectangle 3"/>
          <p:cNvSpPr/>
          <p:nvPr/>
        </p:nvSpPr>
        <p:spPr>
          <a:xfrm>
            <a:off x="685800" y="530352"/>
            <a:ext cx="10817352" cy="9525"/>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473952"/>
            <a:ext cx="7315200" cy="256032"/>
          </a:xfrm>
          <a:prstGeom prst="rect">
            <a:avLst/>
          </a:prstGeom>
          <a:noFill/>
        </p:spPr>
        <p:txBody>
          <a:bodyPr wrap="square">
            <a:spAutoFit/>
          </a:bodyPr>
          <a:lstStyle/>
          <a:p>
            <a:pPr algn="l"/>
            <a:r>
              <a:rPr sz="800" b="0" i="0">
                <a:solidFill>
                  <a:srgbClr val="444447"/>
                </a:solidFill>
                <a:latin typeface="Satoshi"/>
              </a:rPr>
              <a:t>AI Audit &amp; Automation Proposal  .  Education Outcomes Fund  .  2026</a:t>
            </a:r>
          </a:p>
        </p:txBody>
      </p:sp>
      <p:sp>
        <p:nvSpPr>
          <p:cNvPr id="6" name="TextBox 5"/>
          <p:cNvSpPr txBox="1"/>
          <p:nvPr/>
        </p:nvSpPr>
        <p:spPr>
          <a:xfrm>
            <a:off x="8686800" y="6473952"/>
            <a:ext cx="2816352" cy="256032"/>
          </a:xfrm>
          <a:prstGeom prst="rect">
            <a:avLst/>
          </a:prstGeom>
          <a:noFill/>
        </p:spPr>
        <p:txBody>
          <a:bodyPr wrap="square">
            <a:spAutoFit/>
          </a:bodyPr>
          <a:lstStyle/>
          <a:p>
            <a:pPr algn="r"/>
            <a:r>
              <a:rPr sz="800" b="0" i="0">
                <a:solidFill>
                  <a:srgbClr val="444447"/>
                </a:solidFill>
                <a:latin typeface="Satoshi"/>
              </a:rPr>
              <a:t>11 / 12</a:t>
            </a:r>
          </a:p>
        </p:txBody>
      </p:sp>
      <p:sp>
        <p:nvSpPr>
          <p:cNvPr id="7" name="TextBox 6"/>
          <p:cNvSpPr txBox="1"/>
          <p:nvPr/>
        </p:nvSpPr>
        <p:spPr>
          <a:xfrm>
            <a:off x="685800" y="777240"/>
            <a:ext cx="5486400" cy="274320"/>
          </a:xfrm>
          <a:prstGeom prst="rect">
            <a:avLst/>
          </a:prstGeom>
          <a:noFill/>
        </p:spPr>
        <p:txBody>
          <a:bodyPr wrap="square">
            <a:spAutoFit/>
          </a:bodyPr>
          <a:lstStyle/>
          <a:p>
            <a:pPr algn="l"/>
            <a:r>
              <a:rPr sz="1000" b="1" i="0">
                <a:solidFill>
                  <a:srgbClr val="A78BFA"/>
                </a:solidFill>
                <a:latin typeface="Satoshi"/>
              </a:rPr>
              <a:t>THREE PHASES  --  HIGHEST IMPACT FIRST</a:t>
            </a:r>
          </a:p>
        </p:txBody>
      </p:sp>
      <p:sp>
        <p:nvSpPr>
          <p:cNvPr id="8" name="TextBox 7"/>
          <p:cNvSpPr txBox="1"/>
          <p:nvPr/>
        </p:nvSpPr>
        <p:spPr>
          <a:xfrm>
            <a:off x="685800" y="1078992"/>
            <a:ext cx="9144000" cy="1463040"/>
          </a:xfrm>
          <a:prstGeom prst="rect">
            <a:avLst/>
          </a:prstGeom>
          <a:noFill/>
        </p:spPr>
        <p:txBody>
          <a:bodyPr wrap="square">
            <a:spAutoFit/>
          </a:bodyPr>
          <a:lstStyle/>
          <a:p>
            <a:pPr algn="l"/>
            <a:r>
              <a:rPr sz="3600" b="0" i="0">
                <a:solidFill>
                  <a:srgbClr val="FFFFFF"/>
                </a:solidFill>
                <a:latin typeface="Instrument Serif"/>
              </a:rPr>
              <a:t>Implementation Roadmap</a:t>
            </a:r>
          </a:p>
        </p:txBody>
      </p:sp>
      <p:sp>
        <p:nvSpPr>
          <p:cNvPr id="9" name="TextBox 8"/>
          <p:cNvSpPr txBox="1"/>
          <p:nvPr/>
        </p:nvSpPr>
        <p:spPr>
          <a:xfrm>
            <a:off x="685800" y="2011680"/>
            <a:ext cx="9144000" cy="347472"/>
          </a:xfrm>
          <a:prstGeom prst="rect">
            <a:avLst/>
          </a:prstGeom>
          <a:noFill/>
        </p:spPr>
        <p:txBody>
          <a:bodyPr wrap="square">
            <a:spAutoFit/>
          </a:bodyPr>
          <a:lstStyle/>
          <a:p>
            <a:pPr algn="l"/>
            <a:r>
              <a:rPr sz="1300" b="0" i="0">
                <a:solidFill>
                  <a:srgbClr val="86868A"/>
                </a:solidFill>
                <a:latin typeface="Satoshi"/>
              </a:rPr>
              <a:t>Partner intake addressed first -- the highest daily time cost. Reporting and comms follow. Knowledge management last, running in parallel.</a:t>
            </a:r>
          </a:p>
        </p:txBody>
      </p:sp>
      <p:sp>
        <p:nvSpPr>
          <p:cNvPr id="10" name="Rectangle 9"/>
          <p:cNvSpPr/>
          <p:nvPr/>
        </p:nvSpPr>
        <p:spPr>
          <a:xfrm>
            <a:off x="685800" y="2487168"/>
            <a:ext cx="10817352" cy="9525"/>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85800" y="2743200"/>
            <a:ext cx="3474720" cy="342900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880360"/>
            <a:ext cx="3108960" cy="256032"/>
          </a:xfrm>
          <a:prstGeom prst="rect">
            <a:avLst/>
          </a:prstGeom>
          <a:noFill/>
        </p:spPr>
        <p:txBody>
          <a:bodyPr wrap="square">
            <a:spAutoFit/>
          </a:bodyPr>
          <a:lstStyle/>
          <a:p>
            <a:pPr algn="l"/>
            <a:r>
              <a:rPr sz="900" b="1" i="0">
                <a:solidFill>
                  <a:srgbClr val="A78BFA"/>
                </a:solidFill>
                <a:latin typeface="Satoshi"/>
              </a:rPr>
              <a:t>PHASE 01  .  Weeks 1-2</a:t>
            </a:r>
          </a:p>
        </p:txBody>
      </p:sp>
      <p:sp>
        <p:nvSpPr>
          <p:cNvPr id="13" name="TextBox 12"/>
          <p:cNvSpPr txBox="1"/>
          <p:nvPr/>
        </p:nvSpPr>
        <p:spPr>
          <a:xfrm>
            <a:off x="914400" y="3200400"/>
            <a:ext cx="3108960" cy="384048"/>
          </a:xfrm>
          <a:prstGeom prst="rect">
            <a:avLst/>
          </a:prstGeom>
          <a:noFill/>
        </p:spPr>
        <p:txBody>
          <a:bodyPr wrap="square">
            <a:spAutoFit/>
          </a:bodyPr>
          <a:lstStyle/>
          <a:p>
            <a:pPr algn="l"/>
            <a:r>
              <a:rPr sz="1500" b="0" i="0">
                <a:solidFill>
                  <a:srgbClr val="FFFFFF"/>
                </a:solidFill>
                <a:latin typeface="Instrument Serif"/>
              </a:rPr>
              <a:t>Partner Intake AI + Scheduling</a:t>
            </a:r>
          </a:p>
        </p:txBody>
      </p:sp>
      <p:sp>
        <p:nvSpPr>
          <p:cNvPr id="14" name="TextBox 13"/>
          <p:cNvSpPr txBox="1"/>
          <p:nvPr/>
        </p:nvSpPr>
        <p:spPr>
          <a:xfrm>
            <a:off x="914400" y="3657600"/>
            <a:ext cx="3108960" cy="475488"/>
          </a:xfrm>
          <a:prstGeom prst="rect">
            <a:avLst/>
          </a:prstGeom>
          <a:noFill/>
        </p:spPr>
        <p:txBody>
          <a:bodyPr wrap="square">
            <a:spAutoFit/>
          </a:bodyPr>
          <a:lstStyle/>
          <a:p>
            <a:pPr algn="l"/>
            <a:r>
              <a:rPr sz="1100" b="0" i="0">
                <a:solidFill>
                  <a:srgbClr val="9D9D9F"/>
                </a:solidFill>
                <a:latin typeface="Satoshi"/>
              </a:rPr>
              <a:t>Smart intake form replacing the generic Google Form, implementer scoring model, automated acknowledgement sequences, and meeting booking for qualified leads.</a:t>
            </a:r>
          </a:p>
        </p:txBody>
      </p:sp>
      <p:sp>
        <p:nvSpPr>
          <p:cNvPr id="15" name="TextBox 14"/>
          <p:cNvSpPr txBox="1"/>
          <p:nvPr/>
        </p:nvSpPr>
        <p:spPr>
          <a:xfrm>
            <a:off x="914400" y="4224528"/>
            <a:ext cx="3108960" cy="237744"/>
          </a:xfrm>
          <a:prstGeom prst="rect">
            <a:avLst/>
          </a:prstGeom>
          <a:noFill/>
        </p:spPr>
        <p:txBody>
          <a:bodyPr wrap="square">
            <a:spAutoFit/>
          </a:bodyPr>
          <a:lstStyle/>
          <a:p>
            <a:pPr algn="l"/>
            <a:r>
              <a:rPr sz="1000" b="0" i="0">
                <a:solidFill>
                  <a:srgbClr val="6B6B6E"/>
                </a:solidFill>
                <a:latin typeface="Satoshi"/>
              </a:rPr>
              <a:t>&gt;  Intake form and routing logic</a:t>
            </a:r>
          </a:p>
        </p:txBody>
      </p:sp>
      <p:sp>
        <p:nvSpPr>
          <p:cNvPr id="16" name="TextBox 15"/>
          <p:cNvSpPr txBox="1"/>
          <p:nvPr/>
        </p:nvSpPr>
        <p:spPr>
          <a:xfrm>
            <a:off x="914400" y="4498848"/>
            <a:ext cx="3108960" cy="237744"/>
          </a:xfrm>
          <a:prstGeom prst="rect">
            <a:avLst/>
          </a:prstGeom>
          <a:noFill/>
        </p:spPr>
        <p:txBody>
          <a:bodyPr wrap="square">
            <a:spAutoFit/>
          </a:bodyPr>
          <a:lstStyle/>
          <a:p>
            <a:pPr algn="l"/>
            <a:r>
              <a:rPr sz="1000" b="0" i="0">
                <a:solidFill>
                  <a:srgbClr val="6B6B6E"/>
                </a:solidFill>
                <a:latin typeface="Satoshi"/>
              </a:rPr>
              <a:t>&gt;  Implementer scoring model</a:t>
            </a:r>
          </a:p>
        </p:txBody>
      </p:sp>
      <p:sp>
        <p:nvSpPr>
          <p:cNvPr id="17" name="TextBox 16"/>
          <p:cNvSpPr txBox="1"/>
          <p:nvPr/>
        </p:nvSpPr>
        <p:spPr>
          <a:xfrm>
            <a:off x="914400" y="4773168"/>
            <a:ext cx="3108960" cy="237744"/>
          </a:xfrm>
          <a:prstGeom prst="rect">
            <a:avLst/>
          </a:prstGeom>
          <a:noFill/>
        </p:spPr>
        <p:txBody>
          <a:bodyPr wrap="square">
            <a:spAutoFit/>
          </a:bodyPr>
          <a:lstStyle/>
          <a:p>
            <a:pPr algn="l"/>
            <a:r>
              <a:rPr sz="1000" b="0" i="0">
                <a:solidFill>
                  <a:srgbClr val="6B6B6E"/>
                </a:solidFill>
                <a:latin typeface="Satoshi"/>
              </a:rPr>
              <a:t>&gt;  Automated acknowledgement sequences</a:t>
            </a:r>
          </a:p>
        </p:txBody>
      </p:sp>
      <p:sp>
        <p:nvSpPr>
          <p:cNvPr id="18" name="TextBox 17"/>
          <p:cNvSpPr txBox="1"/>
          <p:nvPr/>
        </p:nvSpPr>
        <p:spPr>
          <a:xfrm>
            <a:off x="914400" y="5047488"/>
            <a:ext cx="3108960" cy="237744"/>
          </a:xfrm>
          <a:prstGeom prst="rect">
            <a:avLst/>
          </a:prstGeom>
          <a:noFill/>
        </p:spPr>
        <p:txBody>
          <a:bodyPr wrap="square">
            <a:spAutoFit/>
          </a:bodyPr>
          <a:lstStyle/>
          <a:p>
            <a:pPr algn="l"/>
            <a:r>
              <a:rPr sz="1000" b="0" i="0">
                <a:solidFill>
                  <a:srgbClr val="6B6B6E"/>
                </a:solidFill>
                <a:latin typeface="Satoshi"/>
              </a:rPr>
              <a:t>&gt;  Calendly/scheduling integration</a:t>
            </a:r>
          </a:p>
        </p:txBody>
      </p:sp>
      <p:sp>
        <p:nvSpPr>
          <p:cNvPr id="19" name="Rounded Rectangle 18"/>
          <p:cNvSpPr/>
          <p:nvPr/>
        </p:nvSpPr>
        <p:spPr>
          <a:xfrm>
            <a:off x="4315968" y="2743200"/>
            <a:ext cx="3474720" cy="342900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44568" y="2880360"/>
            <a:ext cx="3108960" cy="256032"/>
          </a:xfrm>
          <a:prstGeom prst="rect">
            <a:avLst/>
          </a:prstGeom>
          <a:noFill/>
        </p:spPr>
        <p:txBody>
          <a:bodyPr wrap="square">
            <a:spAutoFit/>
          </a:bodyPr>
          <a:lstStyle/>
          <a:p>
            <a:pPr algn="l"/>
            <a:r>
              <a:rPr sz="900" b="1" i="0">
                <a:solidFill>
                  <a:srgbClr val="A78BFA"/>
                </a:solidFill>
                <a:latin typeface="Satoshi"/>
              </a:rPr>
              <a:t>PHASE 02  .  Weeks 3-4</a:t>
            </a:r>
          </a:p>
        </p:txBody>
      </p:sp>
      <p:sp>
        <p:nvSpPr>
          <p:cNvPr id="21" name="TextBox 20"/>
          <p:cNvSpPr txBox="1"/>
          <p:nvPr/>
        </p:nvSpPr>
        <p:spPr>
          <a:xfrm>
            <a:off x="4544568" y="3200400"/>
            <a:ext cx="3108960" cy="384048"/>
          </a:xfrm>
          <a:prstGeom prst="rect">
            <a:avLst/>
          </a:prstGeom>
          <a:noFill/>
        </p:spPr>
        <p:txBody>
          <a:bodyPr wrap="square">
            <a:spAutoFit/>
          </a:bodyPr>
          <a:lstStyle/>
          <a:p>
            <a:pPr algn="l"/>
            <a:r>
              <a:rPr sz="1500" b="0" i="0">
                <a:solidFill>
                  <a:srgbClr val="FFFFFF"/>
                </a:solidFill>
                <a:latin typeface="Instrument Serif"/>
              </a:rPr>
              <a:t>Donor Reporting + Comms AI</a:t>
            </a:r>
          </a:p>
        </p:txBody>
      </p:sp>
      <p:sp>
        <p:nvSpPr>
          <p:cNvPr id="22" name="TextBox 21"/>
          <p:cNvSpPr txBox="1"/>
          <p:nvPr/>
        </p:nvSpPr>
        <p:spPr>
          <a:xfrm>
            <a:off x="4544568" y="3657600"/>
            <a:ext cx="3108960" cy="475488"/>
          </a:xfrm>
          <a:prstGeom prst="rect">
            <a:avLst/>
          </a:prstGeom>
          <a:noFill/>
        </p:spPr>
        <p:txBody>
          <a:bodyPr wrap="square">
            <a:spAutoFit/>
          </a:bodyPr>
          <a:lstStyle/>
          <a:p>
            <a:pPr algn="l"/>
            <a:r>
              <a:rPr sz="1100" b="0" i="0">
                <a:solidFill>
                  <a:srgbClr val="9D9D9F"/>
                </a:solidFill>
                <a:latin typeface="Satoshi"/>
              </a:rPr>
              <a:t>Verified outcomes data aggregation pipeline, funder-specific report draft generation, and stakeholder comms segmentation with gated content for lead capture.</a:t>
            </a:r>
          </a:p>
        </p:txBody>
      </p:sp>
      <p:sp>
        <p:nvSpPr>
          <p:cNvPr id="23" name="TextBox 22"/>
          <p:cNvSpPr txBox="1"/>
          <p:nvPr/>
        </p:nvSpPr>
        <p:spPr>
          <a:xfrm>
            <a:off x="4544568" y="4224528"/>
            <a:ext cx="3108960" cy="237744"/>
          </a:xfrm>
          <a:prstGeom prst="rect">
            <a:avLst/>
          </a:prstGeom>
          <a:noFill/>
        </p:spPr>
        <p:txBody>
          <a:bodyPr wrap="square">
            <a:spAutoFit/>
          </a:bodyPr>
          <a:lstStyle/>
          <a:p>
            <a:pPr algn="l"/>
            <a:r>
              <a:rPr sz="1000" b="0" i="0">
                <a:solidFill>
                  <a:srgbClr val="6B6B6E"/>
                </a:solidFill>
                <a:latin typeface="Satoshi"/>
              </a:rPr>
              <a:t>&gt;  Outcomes data aggregation</a:t>
            </a:r>
          </a:p>
        </p:txBody>
      </p:sp>
      <p:sp>
        <p:nvSpPr>
          <p:cNvPr id="24" name="TextBox 23"/>
          <p:cNvSpPr txBox="1"/>
          <p:nvPr/>
        </p:nvSpPr>
        <p:spPr>
          <a:xfrm>
            <a:off x="4544568" y="4498848"/>
            <a:ext cx="3108960" cy="237744"/>
          </a:xfrm>
          <a:prstGeom prst="rect">
            <a:avLst/>
          </a:prstGeom>
          <a:noFill/>
        </p:spPr>
        <p:txBody>
          <a:bodyPr wrap="square">
            <a:spAutoFit/>
          </a:bodyPr>
          <a:lstStyle/>
          <a:p>
            <a:pPr algn="l"/>
            <a:r>
              <a:rPr sz="1000" b="0" i="0">
                <a:solidFill>
                  <a:srgbClr val="6B6B6E"/>
                </a:solidFill>
                <a:latin typeface="Satoshi"/>
              </a:rPr>
              <a:t>&gt;  Funder-specific report templates</a:t>
            </a:r>
          </a:p>
        </p:txBody>
      </p:sp>
      <p:sp>
        <p:nvSpPr>
          <p:cNvPr id="25" name="TextBox 24"/>
          <p:cNvSpPr txBox="1"/>
          <p:nvPr/>
        </p:nvSpPr>
        <p:spPr>
          <a:xfrm>
            <a:off x="4544568" y="4773168"/>
            <a:ext cx="3108960" cy="237744"/>
          </a:xfrm>
          <a:prstGeom prst="rect">
            <a:avLst/>
          </a:prstGeom>
          <a:noFill/>
        </p:spPr>
        <p:txBody>
          <a:bodyPr wrap="square">
            <a:spAutoFit/>
          </a:bodyPr>
          <a:lstStyle/>
          <a:p>
            <a:pPr algn="l"/>
            <a:r>
              <a:rPr sz="1000" b="0" i="0">
                <a:solidFill>
                  <a:srgbClr val="6B6B6E"/>
                </a:solidFill>
                <a:latin typeface="Satoshi"/>
              </a:rPr>
              <a:t>&gt;  Anomaly flagging logic</a:t>
            </a:r>
          </a:p>
        </p:txBody>
      </p:sp>
      <p:sp>
        <p:nvSpPr>
          <p:cNvPr id="26" name="TextBox 25"/>
          <p:cNvSpPr txBox="1"/>
          <p:nvPr/>
        </p:nvSpPr>
        <p:spPr>
          <a:xfrm>
            <a:off x="4544568" y="5047488"/>
            <a:ext cx="3108960" cy="237744"/>
          </a:xfrm>
          <a:prstGeom prst="rect">
            <a:avLst/>
          </a:prstGeom>
          <a:noFill/>
        </p:spPr>
        <p:txBody>
          <a:bodyPr wrap="square">
            <a:spAutoFit/>
          </a:bodyPr>
          <a:lstStyle/>
          <a:p>
            <a:pPr algn="l"/>
            <a:r>
              <a:rPr sz="1000" b="0" i="0">
                <a:solidFill>
                  <a:srgbClr val="6B6B6E"/>
                </a:solidFill>
                <a:latin typeface="Satoshi"/>
              </a:rPr>
              <a:t>&gt;  Audience segmentation model</a:t>
            </a:r>
          </a:p>
        </p:txBody>
      </p:sp>
      <p:sp>
        <p:nvSpPr>
          <p:cNvPr id="27" name="Rounded Rectangle 26"/>
          <p:cNvSpPr/>
          <p:nvPr/>
        </p:nvSpPr>
        <p:spPr>
          <a:xfrm>
            <a:off x="7946136" y="2743200"/>
            <a:ext cx="3474720" cy="342900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174736" y="2880360"/>
            <a:ext cx="3108960" cy="256032"/>
          </a:xfrm>
          <a:prstGeom prst="rect">
            <a:avLst/>
          </a:prstGeom>
          <a:noFill/>
        </p:spPr>
        <p:txBody>
          <a:bodyPr wrap="square">
            <a:spAutoFit/>
          </a:bodyPr>
          <a:lstStyle/>
          <a:p>
            <a:pPr algn="l"/>
            <a:r>
              <a:rPr sz="900" b="1" i="0">
                <a:solidFill>
                  <a:srgbClr val="A78BFA"/>
                </a:solidFill>
                <a:latin typeface="Satoshi"/>
              </a:rPr>
              <a:t>PHASE 03  .  Week 5</a:t>
            </a:r>
          </a:p>
        </p:txBody>
      </p:sp>
      <p:sp>
        <p:nvSpPr>
          <p:cNvPr id="29" name="TextBox 28"/>
          <p:cNvSpPr txBox="1"/>
          <p:nvPr/>
        </p:nvSpPr>
        <p:spPr>
          <a:xfrm>
            <a:off x="8174736" y="3200400"/>
            <a:ext cx="3108960" cy="384048"/>
          </a:xfrm>
          <a:prstGeom prst="rect">
            <a:avLst/>
          </a:prstGeom>
          <a:noFill/>
        </p:spPr>
        <p:txBody>
          <a:bodyPr wrap="square">
            <a:spAutoFit/>
          </a:bodyPr>
          <a:lstStyle/>
          <a:p>
            <a:pPr algn="l"/>
            <a:r>
              <a:rPr sz="1500" b="0" i="0">
                <a:solidFill>
                  <a:srgbClr val="FFFFFF"/>
                </a:solidFill>
                <a:latin typeface="Instrument Serif"/>
              </a:rPr>
              <a:t>Knowledge Management + Country Coordination</a:t>
            </a:r>
          </a:p>
        </p:txBody>
      </p:sp>
      <p:sp>
        <p:nvSpPr>
          <p:cNvPr id="30" name="TextBox 29"/>
          <p:cNvSpPr txBox="1"/>
          <p:nvPr/>
        </p:nvSpPr>
        <p:spPr>
          <a:xfrm>
            <a:off x="8174736" y="3657600"/>
            <a:ext cx="3108960" cy="475488"/>
          </a:xfrm>
          <a:prstGeom prst="rect">
            <a:avLst/>
          </a:prstGeom>
          <a:noFill/>
        </p:spPr>
        <p:txBody>
          <a:bodyPr wrap="square">
            <a:spAutoFit/>
          </a:bodyPr>
          <a:lstStyle/>
          <a:p>
            <a:pPr algn="l"/>
            <a:r>
              <a:rPr sz="1100" b="0" i="0">
                <a:solidFill>
                  <a:srgbClr val="9D9D9F"/>
                </a:solidFill>
                <a:latin typeface="Satoshi"/>
              </a:rPr>
              <a:t>RAG system over published knowledge base, meeting synthesis automation, weekly async status synthesis, and cross-programme learning alerts.</a:t>
            </a:r>
          </a:p>
        </p:txBody>
      </p:sp>
      <p:sp>
        <p:nvSpPr>
          <p:cNvPr id="31" name="TextBox 30"/>
          <p:cNvSpPr txBox="1"/>
          <p:nvPr/>
        </p:nvSpPr>
        <p:spPr>
          <a:xfrm>
            <a:off x="8174736" y="4224528"/>
            <a:ext cx="3108960" cy="237744"/>
          </a:xfrm>
          <a:prstGeom prst="rect">
            <a:avLst/>
          </a:prstGeom>
          <a:noFill/>
        </p:spPr>
        <p:txBody>
          <a:bodyPr wrap="square">
            <a:spAutoFit/>
          </a:bodyPr>
          <a:lstStyle/>
          <a:p>
            <a:pPr algn="l"/>
            <a:r>
              <a:rPr sz="1000" b="0" i="0">
                <a:solidFill>
                  <a:srgbClr val="6B6B6E"/>
                </a:solidFill>
                <a:latin typeface="Satoshi"/>
              </a:rPr>
              <a:t>&gt;  Knowledge base indexing</a:t>
            </a:r>
          </a:p>
        </p:txBody>
      </p:sp>
      <p:sp>
        <p:nvSpPr>
          <p:cNvPr id="32" name="TextBox 31"/>
          <p:cNvSpPr txBox="1"/>
          <p:nvPr/>
        </p:nvSpPr>
        <p:spPr>
          <a:xfrm>
            <a:off x="8174736" y="4498848"/>
            <a:ext cx="3108960" cy="237744"/>
          </a:xfrm>
          <a:prstGeom prst="rect">
            <a:avLst/>
          </a:prstGeom>
          <a:noFill/>
        </p:spPr>
        <p:txBody>
          <a:bodyPr wrap="square">
            <a:spAutoFit/>
          </a:bodyPr>
          <a:lstStyle/>
          <a:p>
            <a:pPr algn="l"/>
            <a:r>
              <a:rPr sz="1000" b="0" i="0">
                <a:solidFill>
                  <a:srgbClr val="6B6B6E"/>
                </a:solidFill>
                <a:latin typeface="Satoshi"/>
              </a:rPr>
              <a:t>&gt;  RAG query interface</a:t>
            </a:r>
          </a:p>
        </p:txBody>
      </p:sp>
      <p:sp>
        <p:nvSpPr>
          <p:cNvPr id="33" name="TextBox 32"/>
          <p:cNvSpPr txBox="1"/>
          <p:nvPr/>
        </p:nvSpPr>
        <p:spPr>
          <a:xfrm>
            <a:off x="8174736" y="4773168"/>
            <a:ext cx="3108960" cy="237744"/>
          </a:xfrm>
          <a:prstGeom prst="rect">
            <a:avLst/>
          </a:prstGeom>
          <a:noFill/>
        </p:spPr>
        <p:txBody>
          <a:bodyPr wrap="square">
            <a:spAutoFit/>
          </a:bodyPr>
          <a:lstStyle/>
          <a:p>
            <a:pPr algn="l"/>
            <a:r>
              <a:rPr sz="1000" b="0" i="0">
                <a:solidFill>
                  <a:srgbClr val="6B6B6E"/>
                </a:solidFill>
                <a:latin typeface="Satoshi"/>
              </a:rPr>
              <a:t>&gt;  Meeting synthesis pipeline</a:t>
            </a:r>
          </a:p>
        </p:txBody>
      </p:sp>
      <p:sp>
        <p:nvSpPr>
          <p:cNvPr id="34" name="TextBox 33"/>
          <p:cNvSpPr txBox="1"/>
          <p:nvPr/>
        </p:nvSpPr>
        <p:spPr>
          <a:xfrm>
            <a:off x="8174736" y="5047488"/>
            <a:ext cx="3108960" cy="237744"/>
          </a:xfrm>
          <a:prstGeom prst="rect">
            <a:avLst/>
          </a:prstGeom>
          <a:noFill/>
        </p:spPr>
        <p:txBody>
          <a:bodyPr wrap="square">
            <a:spAutoFit/>
          </a:bodyPr>
          <a:lstStyle/>
          <a:p>
            <a:pPr algn="l"/>
            <a:r>
              <a:rPr sz="1000" b="0" i="0">
                <a:solidFill>
                  <a:srgbClr val="6B6B6E"/>
                </a:solidFill>
                <a:latin typeface="Satoshi"/>
              </a:rPr>
              <a:t>&gt;  Weekly status synthesis flow</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Rectangle 1"/>
          <p:cNvSpPr/>
          <p:nvPr/>
        </p:nvSpPr>
        <p:spPr>
          <a:xfrm>
            <a:off x="0" y="0"/>
            <a:ext cx="12188952" cy="3810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777240"/>
            <a:ext cx="5486400" cy="274320"/>
          </a:xfrm>
          <a:prstGeom prst="rect">
            <a:avLst/>
          </a:prstGeom>
          <a:noFill/>
        </p:spPr>
        <p:txBody>
          <a:bodyPr wrap="square">
            <a:spAutoFit/>
          </a:bodyPr>
          <a:lstStyle/>
          <a:p>
            <a:pPr algn="l"/>
            <a:r>
              <a:rPr sz="1000" b="1" i="0">
                <a:solidFill>
                  <a:srgbClr val="A78BFA"/>
                </a:solidFill>
                <a:latin typeface="Satoshi"/>
              </a:rPr>
              <a:t>WHO IS BEHIND THIS</a:t>
            </a:r>
          </a:p>
        </p:txBody>
      </p:sp>
      <p:sp>
        <p:nvSpPr>
          <p:cNvPr id="4" name="TextBox 3"/>
          <p:cNvSpPr txBox="1"/>
          <p:nvPr/>
        </p:nvSpPr>
        <p:spPr>
          <a:xfrm>
            <a:off x="685800" y="1078992"/>
            <a:ext cx="9144000" cy="1463040"/>
          </a:xfrm>
          <a:prstGeom prst="rect">
            <a:avLst/>
          </a:prstGeom>
          <a:noFill/>
        </p:spPr>
        <p:txBody>
          <a:bodyPr wrap="square">
            <a:spAutoFit/>
          </a:bodyPr>
          <a:lstStyle/>
          <a:p>
            <a:pPr algn="l"/>
            <a:r>
              <a:rPr sz="4000" b="0" i="0">
                <a:solidFill>
                  <a:srgbClr val="FFFFFF"/>
                </a:solidFill>
                <a:latin typeface="Instrument Serif"/>
              </a:rPr>
              <a:t>GenosAI Tech</a:t>
            </a:r>
          </a:p>
        </p:txBody>
      </p:sp>
      <p:sp>
        <p:nvSpPr>
          <p:cNvPr id="5" name="TextBox 4"/>
          <p:cNvSpPr txBox="1"/>
          <p:nvPr/>
        </p:nvSpPr>
        <p:spPr>
          <a:xfrm>
            <a:off x="685800" y="2029968"/>
            <a:ext cx="5943600" cy="603504"/>
          </a:xfrm>
          <a:prstGeom prst="rect">
            <a:avLst/>
          </a:prstGeom>
          <a:noFill/>
        </p:spPr>
        <p:txBody>
          <a:bodyPr wrap="square">
            <a:spAutoFit/>
          </a:bodyPr>
          <a:lstStyle/>
          <a:p>
            <a:pPr algn="l"/>
            <a:r>
              <a:rPr sz="1300" b="0" i="0">
                <a:solidFill>
                  <a:srgbClr val="86868A"/>
                </a:solidFill>
                <a:latin typeface="Satoshi"/>
              </a:rPr>
              <a:t>GenosAI builds AI automation systems for mission-driven organisations, impact funds, and multi-country operations. We build partner intake flows, reporting automation, stakeholder communications AI, knowledge management systems, and coordination tools -- production-grade from week one, built to scale impact without scaling headcount.</a:t>
            </a:r>
          </a:p>
        </p:txBody>
      </p:sp>
      <p:sp>
        <p:nvSpPr>
          <p:cNvPr id="6" name="Rectangle 5"/>
          <p:cNvSpPr/>
          <p:nvPr/>
        </p:nvSpPr>
        <p:spPr>
          <a:xfrm>
            <a:off x="685800" y="2761488"/>
            <a:ext cx="5486400" cy="9525"/>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926080"/>
            <a:ext cx="3657600" cy="256032"/>
          </a:xfrm>
          <a:prstGeom prst="rect">
            <a:avLst/>
          </a:prstGeom>
          <a:noFill/>
        </p:spPr>
        <p:txBody>
          <a:bodyPr wrap="square">
            <a:spAutoFit/>
          </a:bodyPr>
          <a:lstStyle/>
          <a:p>
            <a:pPr algn="l"/>
            <a:r>
              <a:rPr sz="900" b="1" i="0">
                <a:solidFill>
                  <a:srgbClr val="6B6B6E"/>
                </a:solidFill>
                <a:latin typeface="Satoshi"/>
              </a:rPr>
              <a:t>WHAT WE BUILD</a:t>
            </a:r>
          </a:p>
        </p:txBody>
      </p:sp>
      <p:sp>
        <p:nvSpPr>
          <p:cNvPr id="8" name="TextBox 7"/>
          <p:cNvSpPr txBox="1"/>
          <p:nvPr/>
        </p:nvSpPr>
        <p:spPr>
          <a:xfrm>
            <a:off x="685800" y="3273552"/>
            <a:ext cx="228600" cy="237744"/>
          </a:xfrm>
          <a:prstGeom prst="rect">
            <a:avLst/>
          </a:prstGeom>
          <a:noFill/>
        </p:spPr>
        <p:txBody>
          <a:bodyPr wrap="square">
            <a:spAutoFit/>
          </a:bodyPr>
          <a:lstStyle/>
          <a:p>
            <a:pPr algn="l"/>
            <a:r>
              <a:rPr sz="1300" b="1" i="0">
                <a:solidFill>
                  <a:srgbClr val="A78BFA"/>
                </a:solidFill>
                <a:latin typeface="Satoshi"/>
              </a:rPr>
              <a:t>o</a:t>
            </a:r>
          </a:p>
        </p:txBody>
      </p:sp>
      <p:sp>
        <p:nvSpPr>
          <p:cNvPr id="9" name="TextBox 8"/>
          <p:cNvSpPr txBox="1"/>
          <p:nvPr/>
        </p:nvSpPr>
        <p:spPr>
          <a:xfrm>
            <a:off x="960120" y="3273552"/>
            <a:ext cx="4754880" cy="237744"/>
          </a:xfrm>
          <a:prstGeom prst="rect">
            <a:avLst/>
          </a:prstGeom>
          <a:noFill/>
        </p:spPr>
        <p:txBody>
          <a:bodyPr wrap="square">
            <a:spAutoFit/>
          </a:bodyPr>
          <a:lstStyle/>
          <a:p>
            <a:pPr algn="l"/>
            <a:r>
              <a:rPr sz="1200" b="1" i="0">
                <a:solidFill>
                  <a:srgbClr val="FFFFFF"/>
                </a:solidFill>
                <a:latin typeface="Satoshi"/>
              </a:rPr>
              <a:t>Partner Intake AI</a:t>
            </a:r>
          </a:p>
        </p:txBody>
      </p:sp>
      <p:sp>
        <p:nvSpPr>
          <p:cNvPr id="10" name="TextBox 9"/>
          <p:cNvSpPr txBox="1"/>
          <p:nvPr/>
        </p:nvSpPr>
        <p:spPr>
          <a:xfrm>
            <a:off x="960120" y="3520440"/>
            <a:ext cx="4754880" cy="347472"/>
          </a:xfrm>
          <a:prstGeom prst="rect">
            <a:avLst/>
          </a:prstGeom>
          <a:noFill/>
        </p:spPr>
        <p:txBody>
          <a:bodyPr wrap="square">
            <a:spAutoFit/>
          </a:bodyPr>
          <a:lstStyle/>
          <a:p>
            <a:pPr algn="l"/>
            <a:r>
              <a:rPr sz="1100" b="0" i="0">
                <a:solidFill>
                  <a:srgbClr val="9D9D9F"/>
                </a:solidFill>
                <a:latin typeface="Satoshi"/>
              </a:rPr>
              <a:t>Smart triage and routing for all inbound proposals.</a:t>
            </a:r>
          </a:p>
        </p:txBody>
      </p:sp>
      <p:sp>
        <p:nvSpPr>
          <p:cNvPr id="11" name="TextBox 10"/>
          <p:cNvSpPr txBox="1"/>
          <p:nvPr/>
        </p:nvSpPr>
        <p:spPr>
          <a:xfrm>
            <a:off x="685800" y="3931920"/>
            <a:ext cx="228600" cy="237744"/>
          </a:xfrm>
          <a:prstGeom prst="rect">
            <a:avLst/>
          </a:prstGeom>
          <a:noFill/>
        </p:spPr>
        <p:txBody>
          <a:bodyPr wrap="square">
            <a:spAutoFit/>
          </a:bodyPr>
          <a:lstStyle/>
          <a:p>
            <a:pPr algn="l"/>
            <a:r>
              <a:rPr sz="1300" b="1" i="0">
                <a:solidFill>
                  <a:srgbClr val="A78BFA"/>
                </a:solidFill>
                <a:latin typeface="Satoshi"/>
              </a:rPr>
              <a:t>o</a:t>
            </a:r>
          </a:p>
        </p:txBody>
      </p:sp>
      <p:sp>
        <p:nvSpPr>
          <p:cNvPr id="12" name="TextBox 11"/>
          <p:cNvSpPr txBox="1"/>
          <p:nvPr/>
        </p:nvSpPr>
        <p:spPr>
          <a:xfrm>
            <a:off x="960120" y="3931920"/>
            <a:ext cx="4754880" cy="237744"/>
          </a:xfrm>
          <a:prstGeom prst="rect">
            <a:avLst/>
          </a:prstGeom>
          <a:noFill/>
        </p:spPr>
        <p:txBody>
          <a:bodyPr wrap="square">
            <a:spAutoFit/>
          </a:bodyPr>
          <a:lstStyle/>
          <a:p>
            <a:pPr algn="l"/>
            <a:r>
              <a:rPr sz="1200" b="1" i="0">
                <a:solidFill>
                  <a:srgbClr val="FFFFFF"/>
                </a:solidFill>
                <a:latin typeface="Satoshi"/>
              </a:rPr>
              <a:t>Donor Reporting Automation</a:t>
            </a:r>
          </a:p>
        </p:txBody>
      </p:sp>
      <p:sp>
        <p:nvSpPr>
          <p:cNvPr id="13" name="TextBox 12"/>
          <p:cNvSpPr txBox="1"/>
          <p:nvPr/>
        </p:nvSpPr>
        <p:spPr>
          <a:xfrm>
            <a:off x="960120" y="4178808"/>
            <a:ext cx="4754880" cy="347472"/>
          </a:xfrm>
          <a:prstGeom prst="rect">
            <a:avLst/>
          </a:prstGeom>
          <a:noFill/>
        </p:spPr>
        <p:txBody>
          <a:bodyPr wrap="square">
            <a:spAutoFit/>
          </a:bodyPr>
          <a:lstStyle/>
          <a:p>
            <a:pPr algn="l"/>
            <a:r>
              <a:rPr sz="1100" b="0" i="0">
                <a:solidFill>
                  <a:srgbClr val="9D9D9F"/>
                </a:solidFill>
                <a:latin typeface="Satoshi"/>
              </a:rPr>
              <a:t>Verified outcomes data compiled into funder-specific drafts.</a:t>
            </a:r>
          </a:p>
        </p:txBody>
      </p:sp>
      <p:sp>
        <p:nvSpPr>
          <p:cNvPr id="14" name="TextBox 13"/>
          <p:cNvSpPr txBox="1"/>
          <p:nvPr/>
        </p:nvSpPr>
        <p:spPr>
          <a:xfrm>
            <a:off x="685800" y="4590288"/>
            <a:ext cx="228600" cy="237744"/>
          </a:xfrm>
          <a:prstGeom prst="rect">
            <a:avLst/>
          </a:prstGeom>
          <a:noFill/>
        </p:spPr>
        <p:txBody>
          <a:bodyPr wrap="square">
            <a:spAutoFit/>
          </a:bodyPr>
          <a:lstStyle/>
          <a:p>
            <a:pPr algn="l"/>
            <a:r>
              <a:rPr sz="1300" b="1" i="0">
                <a:solidFill>
                  <a:srgbClr val="A78BFA"/>
                </a:solidFill>
                <a:latin typeface="Satoshi"/>
              </a:rPr>
              <a:t>o</a:t>
            </a:r>
          </a:p>
        </p:txBody>
      </p:sp>
      <p:sp>
        <p:nvSpPr>
          <p:cNvPr id="15" name="TextBox 14"/>
          <p:cNvSpPr txBox="1"/>
          <p:nvPr/>
        </p:nvSpPr>
        <p:spPr>
          <a:xfrm>
            <a:off x="960120" y="4590288"/>
            <a:ext cx="4754880" cy="237744"/>
          </a:xfrm>
          <a:prstGeom prst="rect">
            <a:avLst/>
          </a:prstGeom>
          <a:noFill/>
        </p:spPr>
        <p:txBody>
          <a:bodyPr wrap="square">
            <a:spAutoFit/>
          </a:bodyPr>
          <a:lstStyle/>
          <a:p>
            <a:pPr algn="l"/>
            <a:r>
              <a:rPr sz="1200" b="1" i="0">
                <a:solidFill>
                  <a:srgbClr val="FFFFFF"/>
                </a:solidFill>
                <a:latin typeface="Satoshi"/>
              </a:rPr>
              <a:t>Stakeholder Comms AI</a:t>
            </a:r>
          </a:p>
        </p:txBody>
      </p:sp>
      <p:sp>
        <p:nvSpPr>
          <p:cNvPr id="16" name="TextBox 15"/>
          <p:cNvSpPr txBox="1"/>
          <p:nvPr/>
        </p:nvSpPr>
        <p:spPr>
          <a:xfrm>
            <a:off x="960120" y="4837176"/>
            <a:ext cx="4754880" cy="347472"/>
          </a:xfrm>
          <a:prstGeom prst="rect">
            <a:avLst/>
          </a:prstGeom>
          <a:noFill/>
        </p:spPr>
        <p:txBody>
          <a:bodyPr wrap="square">
            <a:spAutoFit/>
          </a:bodyPr>
          <a:lstStyle/>
          <a:p>
            <a:pPr algn="l"/>
            <a:r>
              <a:rPr sz="1100" b="0" i="0">
                <a:solidFill>
                  <a:srgbClr val="9D9D9F"/>
                </a:solidFill>
                <a:latin typeface="Satoshi"/>
              </a:rPr>
              <a:t>Segmented updates by audience, geography, and role.</a:t>
            </a:r>
          </a:p>
        </p:txBody>
      </p:sp>
      <p:sp>
        <p:nvSpPr>
          <p:cNvPr id="17" name="TextBox 16"/>
          <p:cNvSpPr txBox="1"/>
          <p:nvPr/>
        </p:nvSpPr>
        <p:spPr>
          <a:xfrm>
            <a:off x="685800" y="5248656"/>
            <a:ext cx="228600" cy="237744"/>
          </a:xfrm>
          <a:prstGeom prst="rect">
            <a:avLst/>
          </a:prstGeom>
          <a:noFill/>
        </p:spPr>
        <p:txBody>
          <a:bodyPr wrap="square">
            <a:spAutoFit/>
          </a:bodyPr>
          <a:lstStyle/>
          <a:p>
            <a:pPr algn="l"/>
            <a:r>
              <a:rPr sz="1300" b="1" i="0">
                <a:solidFill>
                  <a:srgbClr val="A78BFA"/>
                </a:solidFill>
                <a:latin typeface="Satoshi"/>
              </a:rPr>
              <a:t>o</a:t>
            </a:r>
          </a:p>
        </p:txBody>
      </p:sp>
      <p:sp>
        <p:nvSpPr>
          <p:cNvPr id="18" name="TextBox 17"/>
          <p:cNvSpPr txBox="1"/>
          <p:nvPr/>
        </p:nvSpPr>
        <p:spPr>
          <a:xfrm>
            <a:off x="960120" y="5248656"/>
            <a:ext cx="4754880" cy="237744"/>
          </a:xfrm>
          <a:prstGeom prst="rect">
            <a:avLst/>
          </a:prstGeom>
          <a:noFill/>
        </p:spPr>
        <p:txBody>
          <a:bodyPr wrap="square">
            <a:spAutoFit/>
          </a:bodyPr>
          <a:lstStyle/>
          <a:p>
            <a:pPr algn="l"/>
            <a:r>
              <a:rPr sz="1200" b="1" i="0">
                <a:solidFill>
                  <a:srgbClr val="FFFFFF"/>
                </a:solidFill>
                <a:latin typeface="Satoshi"/>
              </a:rPr>
              <a:t>Knowledge Management AI</a:t>
            </a:r>
          </a:p>
        </p:txBody>
      </p:sp>
      <p:sp>
        <p:nvSpPr>
          <p:cNvPr id="19" name="TextBox 18"/>
          <p:cNvSpPr txBox="1"/>
          <p:nvPr/>
        </p:nvSpPr>
        <p:spPr>
          <a:xfrm>
            <a:off x="960120" y="5495544"/>
            <a:ext cx="4754880" cy="347472"/>
          </a:xfrm>
          <a:prstGeom prst="rect">
            <a:avLst/>
          </a:prstGeom>
          <a:noFill/>
        </p:spPr>
        <p:txBody>
          <a:bodyPr wrap="square">
            <a:spAutoFit/>
          </a:bodyPr>
          <a:lstStyle/>
          <a:p>
            <a:pPr algn="l"/>
            <a:r>
              <a:rPr sz="1100" b="0" i="0">
                <a:solidFill>
                  <a:srgbClr val="9D9D9F"/>
                </a:solidFill>
                <a:latin typeface="Satoshi"/>
              </a:rPr>
              <a:t>RAG over institutional knowledge -- searchable by any team member.</a:t>
            </a:r>
          </a:p>
        </p:txBody>
      </p:sp>
      <p:sp>
        <p:nvSpPr>
          <p:cNvPr id="20" name="TextBox 19"/>
          <p:cNvSpPr txBox="1"/>
          <p:nvPr/>
        </p:nvSpPr>
        <p:spPr>
          <a:xfrm>
            <a:off x="685800" y="5907024"/>
            <a:ext cx="228600" cy="237744"/>
          </a:xfrm>
          <a:prstGeom prst="rect">
            <a:avLst/>
          </a:prstGeom>
          <a:noFill/>
        </p:spPr>
        <p:txBody>
          <a:bodyPr wrap="square">
            <a:spAutoFit/>
          </a:bodyPr>
          <a:lstStyle/>
          <a:p>
            <a:pPr algn="l"/>
            <a:r>
              <a:rPr sz="1300" b="1" i="0">
                <a:solidFill>
                  <a:srgbClr val="A78BFA"/>
                </a:solidFill>
                <a:latin typeface="Satoshi"/>
              </a:rPr>
              <a:t>o</a:t>
            </a:r>
          </a:p>
        </p:txBody>
      </p:sp>
      <p:sp>
        <p:nvSpPr>
          <p:cNvPr id="21" name="TextBox 20"/>
          <p:cNvSpPr txBox="1"/>
          <p:nvPr/>
        </p:nvSpPr>
        <p:spPr>
          <a:xfrm>
            <a:off x="960120" y="5907024"/>
            <a:ext cx="4754880" cy="237744"/>
          </a:xfrm>
          <a:prstGeom prst="rect">
            <a:avLst/>
          </a:prstGeom>
          <a:noFill/>
        </p:spPr>
        <p:txBody>
          <a:bodyPr wrap="square">
            <a:spAutoFit/>
          </a:bodyPr>
          <a:lstStyle/>
          <a:p>
            <a:pPr algn="l"/>
            <a:r>
              <a:rPr sz="1200" b="1" i="0">
                <a:solidFill>
                  <a:srgbClr val="FFFFFF"/>
                </a:solidFill>
                <a:latin typeface="Satoshi"/>
              </a:rPr>
              <a:t>Country Coordination AI</a:t>
            </a:r>
          </a:p>
        </p:txBody>
      </p:sp>
      <p:sp>
        <p:nvSpPr>
          <p:cNvPr id="22" name="TextBox 21"/>
          <p:cNvSpPr txBox="1"/>
          <p:nvPr/>
        </p:nvSpPr>
        <p:spPr>
          <a:xfrm>
            <a:off x="960120" y="6153912"/>
            <a:ext cx="4754880" cy="347472"/>
          </a:xfrm>
          <a:prstGeom prst="rect">
            <a:avLst/>
          </a:prstGeom>
          <a:noFill/>
        </p:spPr>
        <p:txBody>
          <a:bodyPr wrap="square">
            <a:spAutoFit/>
          </a:bodyPr>
          <a:lstStyle/>
          <a:p>
            <a:pPr algn="l"/>
            <a:r>
              <a:rPr sz="1100" b="0" i="0">
                <a:solidFill>
                  <a:srgbClr val="9D9D9F"/>
                </a:solidFill>
                <a:latin typeface="Satoshi"/>
              </a:rPr>
              <a:t>Async updates and scheduling for distributed teams.</a:t>
            </a:r>
          </a:p>
        </p:txBody>
      </p:sp>
      <p:sp>
        <p:nvSpPr>
          <p:cNvPr id="23" name="Rounded Rectangle 22"/>
          <p:cNvSpPr/>
          <p:nvPr/>
        </p:nvSpPr>
        <p:spPr>
          <a:xfrm>
            <a:off x="6858000" y="1005840"/>
            <a:ext cx="4617720" cy="525780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86600" y="1234440"/>
            <a:ext cx="4206240" cy="320040"/>
          </a:xfrm>
          <a:prstGeom prst="rect">
            <a:avLst/>
          </a:prstGeom>
          <a:noFill/>
        </p:spPr>
        <p:txBody>
          <a:bodyPr wrap="square">
            <a:spAutoFit/>
          </a:bodyPr>
          <a:lstStyle/>
          <a:p>
            <a:pPr algn="l"/>
            <a:r>
              <a:rPr sz="900" b="1" i="0">
                <a:solidFill>
                  <a:srgbClr val="6B6B6E"/>
                </a:solidFill>
                <a:latin typeface="Satoshi"/>
              </a:rPr>
              <a:t>CLOSING NOTE</a:t>
            </a:r>
          </a:p>
        </p:txBody>
      </p:sp>
      <p:sp>
        <p:nvSpPr>
          <p:cNvPr id="25" name="TextBox 24"/>
          <p:cNvSpPr txBox="1"/>
          <p:nvPr/>
        </p:nvSpPr>
        <p:spPr>
          <a:xfrm>
            <a:off x="6949440" y="1572768"/>
            <a:ext cx="365760" cy="502920"/>
          </a:xfrm>
          <a:prstGeom prst="rect">
            <a:avLst/>
          </a:prstGeom>
          <a:noFill/>
        </p:spPr>
        <p:txBody>
          <a:bodyPr wrap="square">
            <a:spAutoFit/>
          </a:bodyPr>
          <a:lstStyle/>
          <a:p>
            <a:pPr algn="l"/>
            <a:r>
              <a:rPr sz="2800" b="0" i="0">
                <a:solidFill>
                  <a:srgbClr val="A78BFA"/>
                </a:solidFill>
                <a:latin typeface="Instrument Serif"/>
              </a:rPr>
              <a:t>"</a:t>
            </a:r>
          </a:p>
        </p:txBody>
      </p:sp>
      <p:sp>
        <p:nvSpPr>
          <p:cNvPr id="26" name="TextBox 25"/>
          <p:cNvSpPr txBox="1"/>
          <p:nvPr/>
        </p:nvSpPr>
        <p:spPr>
          <a:xfrm>
            <a:off x="7269480" y="1627632"/>
            <a:ext cx="3931920" cy="960120"/>
          </a:xfrm>
          <a:prstGeom prst="rect">
            <a:avLst/>
          </a:prstGeom>
          <a:noFill/>
        </p:spPr>
        <p:txBody>
          <a:bodyPr wrap="square">
            <a:spAutoFit/>
          </a:bodyPr>
          <a:lstStyle/>
          <a:p>
            <a:pPr algn="l"/>
            <a:r>
              <a:rPr sz="1400" b="0" i="1">
                <a:solidFill>
                  <a:srgbClr val="FFFFFF"/>
                </a:solidFill>
                <a:latin typeface="Instrument Serif"/>
              </a:rPr>
              <a:t>EOF's 2030 goal is 15 active partnerships reaching 2 million children. That ambition requires an operational layer that scales with the programmes -- not one that adds a new hire for every new country.</a:t>
            </a:r>
          </a:p>
        </p:txBody>
      </p:sp>
      <p:sp>
        <p:nvSpPr>
          <p:cNvPr id="27" name="Rectangle 26"/>
          <p:cNvSpPr/>
          <p:nvPr/>
        </p:nvSpPr>
        <p:spPr>
          <a:xfrm>
            <a:off x="7086600" y="2670048"/>
            <a:ext cx="4069080" cy="9525"/>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086600" y="2852928"/>
            <a:ext cx="4114800" cy="256032"/>
          </a:xfrm>
          <a:prstGeom prst="rect">
            <a:avLst/>
          </a:prstGeom>
          <a:noFill/>
        </p:spPr>
        <p:txBody>
          <a:bodyPr wrap="square">
            <a:spAutoFit/>
          </a:bodyPr>
          <a:lstStyle/>
          <a:p>
            <a:pPr algn="l"/>
            <a:r>
              <a:rPr sz="900" b="1" i="0">
                <a:solidFill>
                  <a:srgbClr val="A78BFA"/>
                </a:solidFill>
                <a:latin typeface="Satoshi"/>
              </a:rPr>
              <a:t>NEXT STEPS</a:t>
            </a:r>
          </a:p>
        </p:txBody>
      </p:sp>
      <p:sp>
        <p:nvSpPr>
          <p:cNvPr id="29" name="TextBox 28"/>
          <p:cNvSpPr txBox="1"/>
          <p:nvPr/>
        </p:nvSpPr>
        <p:spPr>
          <a:xfrm>
            <a:off x="7086600" y="3200400"/>
            <a:ext cx="365760" cy="274320"/>
          </a:xfrm>
          <a:prstGeom prst="rect">
            <a:avLst/>
          </a:prstGeom>
          <a:noFill/>
        </p:spPr>
        <p:txBody>
          <a:bodyPr wrap="square">
            <a:spAutoFit/>
          </a:bodyPr>
          <a:lstStyle/>
          <a:p>
            <a:pPr algn="l"/>
            <a:r>
              <a:rPr sz="1400" b="0" i="0">
                <a:solidFill>
                  <a:srgbClr val="A78BFA"/>
                </a:solidFill>
                <a:latin typeface="Instrument Serif"/>
              </a:rPr>
              <a:t>01</a:t>
            </a:r>
          </a:p>
        </p:txBody>
      </p:sp>
      <p:sp>
        <p:nvSpPr>
          <p:cNvPr id="30" name="TextBox 29"/>
          <p:cNvSpPr txBox="1"/>
          <p:nvPr/>
        </p:nvSpPr>
        <p:spPr>
          <a:xfrm>
            <a:off x="7498079" y="3218688"/>
            <a:ext cx="3794760" cy="457200"/>
          </a:xfrm>
          <a:prstGeom prst="rect">
            <a:avLst/>
          </a:prstGeom>
          <a:noFill/>
        </p:spPr>
        <p:txBody>
          <a:bodyPr wrap="square">
            <a:spAutoFit/>
          </a:bodyPr>
          <a:lstStyle/>
          <a:p>
            <a:pPr algn="l"/>
            <a:r>
              <a:rPr sz="1200" b="0" i="0">
                <a:solidFill>
                  <a:srgbClr val="9D9D9F"/>
                </a:solidFill>
                <a:latin typeface="Satoshi"/>
              </a:rPr>
              <a:t>20-minute call to walk through the audit and confirm scope.</a:t>
            </a:r>
          </a:p>
        </p:txBody>
      </p:sp>
      <p:sp>
        <p:nvSpPr>
          <p:cNvPr id="31" name="TextBox 30"/>
          <p:cNvSpPr txBox="1"/>
          <p:nvPr/>
        </p:nvSpPr>
        <p:spPr>
          <a:xfrm>
            <a:off x="7086600" y="3767328"/>
            <a:ext cx="365760" cy="274320"/>
          </a:xfrm>
          <a:prstGeom prst="rect">
            <a:avLst/>
          </a:prstGeom>
          <a:noFill/>
        </p:spPr>
        <p:txBody>
          <a:bodyPr wrap="square">
            <a:spAutoFit/>
          </a:bodyPr>
          <a:lstStyle/>
          <a:p>
            <a:pPr algn="l"/>
            <a:r>
              <a:rPr sz="1400" b="0" i="0">
                <a:solidFill>
                  <a:srgbClr val="A78BFA"/>
                </a:solidFill>
                <a:latin typeface="Instrument Serif"/>
              </a:rPr>
              <a:t>02</a:t>
            </a:r>
          </a:p>
        </p:txBody>
      </p:sp>
      <p:sp>
        <p:nvSpPr>
          <p:cNvPr id="32" name="TextBox 31"/>
          <p:cNvSpPr txBox="1"/>
          <p:nvPr/>
        </p:nvSpPr>
        <p:spPr>
          <a:xfrm>
            <a:off x="7498079" y="3785616"/>
            <a:ext cx="3794760" cy="457200"/>
          </a:xfrm>
          <a:prstGeom prst="rect">
            <a:avLst/>
          </a:prstGeom>
          <a:noFill/>
        </p:spPr>
        <p:txBody>
          <a:bodyPr wrap="square">
            <a:spAutoFit/>
          </a:bodyPr>
          <a:lstStyle/>
          <a:p>
            <a:pPr algn="l"/>
            <a:r>
              <a:rPr sz="1200" b="0" i="0">
                <a:solidFill>
                  <a:srgbClr val="9D9D9F"/>
                </a:solidFill>
                <a:latin typeface="Satoshi"/>
              </a:rPr>
              <a:t>Phase 1 kick-off -- partner intake AI live within 7 days.</a:t>
            </a:r>
          </a:p>
        </p:txBody>
      </p:sp>
      <p:sp>
        <p:nvSpPr>
          <p:cNvPr id="33" name="TextBox 32"/>
          <p:cNvSpPr txBox="1"/>
          <p:nvPr/>
        </p:nvSpPr>
        <p:spPr>
          <a:xfrm>
            <a:off x="7086600" y="4334256"/>
            <a:ext cx="365760" cy="274320"/>
          </a:xfrm>
          <a:prstGeom prst="rect">
            <a:avLst/>
          </a:prstGeom>
          <a:noFill/>
        </p:spPr>
        <p:txBody>
          <a:bodyPr wrap="square">
            <a:spAutoFit/>
          </a:bodyPr>
          <a:lstStyle/>
          <a:p>
            <a:pPr algn="l"/>
            <a:r>
              <a:rPr sz="1400" b="0" i="0">
                <a:solidFill>
                  <a:srgbClr val="A78BFA"/>
                </a:solidFill>
                <a:latin typeface="Instrument Serif"/>
              </a:rPr>
              <a:t>03</a:t>
            </a:r>
          </a:p>
        </p:txBody>
      </p:sp>
      <p:sp>
        <p:nvSpPr>
          <p:cNvPr id="34" name="TextBox 33"/>
          <p:cNvSpPr txBox="1"/>
          <p:nvPr/>
        </p:nvSpPr>
        <p:spPr>
          <a:xfrm>
            <a:off x="7498079" y="4352544"/>
            <a:ext cx="3794760" cy="457200"/>
          </a:xfrm>
          <a:prstGeom prst="rect">
            <a:avLst/>
          </a:prstGeom>
          <a:noFill/>
        </p:spPr>
        <p:txBody>
          <a:bodyPr wrap="square">
            <a:spAutoFit/>
          </a:bodyPr>
          <a:lstStyle/>
          <a:p>
            <a:pPr algn="l"/>
            <a:r>
              <a:rPr sz="1200" b="0" i="0">
                <a:solidFill>
                  <a:srgbClr val="9D9D9F"/>
                </a:solidFill>
                <a:latin typeface="Satoshi"/>
              </a:rPr>
              <a:t>First qualified implementer routed automatically -- visible from week one.</a:t>
            </a:r>
          </a:p>
        </p:txBody>
      </p:sp>
      <p:sp>
        <p:nvSpPr>
          <p:cNvPr id="35" name="Rectangle 34"/>
          <p:cNvSpPr/>
          <p:nvPr/>
        </p:nvSpPr>
        <p:spPr>
          <a:xfrm>
            <a:off x="7086600" y="4983480"/>
            <a:ext cx="4069080" cy="9525"/>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086600" y="5166360"/>
            <a:ext cx="4114800" cy="256032"/>
          </a:xfrm>
          <a:prstGeom prst="rect">
            <a:avLst/>
          </a:prstGeom>
          <a:noFill/>
        </p:spPr>
        <p:txBody>
          <a:bodyPr wrap="square">
            <a:spAutoFit/>
          </a:bodyPr>
          <a:lstStyle/>
          <a:p>
            <a:pPr algn="l"/>
            <a:r>
              <a:rPr sz="1200" b="1" i="0">
                <a:solidFill>
                  <a:srgbClr val="FFFFFF"/>
                </a:solidFill>
                <a:latin typeface="Satoshi"/>
              </a:rPr>
              <a:t>Rohan Malik  .  CEO, Genos AI</a:t>
            </a:r>
          </a:p>
        </p:txBody>
      </p:sp>
      <p:sp>
        <p:nvSpPr>
          <p:cNvPr id="37" name="TextBox 36"/>
          <p:cNvSpPr txBox="1"/>
          <p:nvPr/>
        </p:nvSpPr>
        <p:spPr>
          <a:xfrm>
            <a:off x="7086600" y="5486400"/>
            <a:ext cx="4114800" cy="256032"/>
          </a:xfrm>
          <a:prstGeom prst="rect">
            <a:avLst/>
          </a:prstGeom>
          <a:noFill/>
        </p:spPr>
        <p:txBody>
          <a:bodyPr wrap="square">
            <a:spAutoFit/>
          </a:bodyPr>
          <a:lstStyle/>
          <a:p>
            <a:pPr algn="l"/>
            <a:r>
              <a:rPr sz="1100" b="0" i="0">
                <a:solidFill>
                  <a:srgbClr val="9D9D9F"/>
                </a:solidFill>
                <a:latin typeface="Satoshi"/>
              </a:rPr>
              <a:t>hello@genosai.tech  .  +91 638-714-2699</a:t>
            </a:r>
          </a:p>
        </p:txBody>
      </p:sp>
      <p:sp>
        <p:nvSpPr>
          <p:cNvPr id="38" name="TextBox 37"/>
          <p:cNvSpPr txBox="1"/>
          <p:nvPr/>
        </p:nvSpPr>
        <p:spPr>
          <a:xfrm>
            <a:off x="7086600" y="5779008"/>
            <a:ext cx="4114800" cy="256032"/>
          </a:xfrm>
          <a:prstGeom prst="rect">
            <a:avLst/>
          </a:prstGeom>
          <a:noFill/>
        </p:spPr>
        <p:txBody>
          <a:bodyPr wrap="square">
            <a:spAutoFit/>
          </a:bodyPr>
          <a:lstStyle/>
          <a:p>
            <a:pPr algn="l"/>
            <a:r>
              <a:rPr sz="1100" b="0" i="0">
                <a:solidFill>
                  <a:srgbClr val="6B6B6E"/>
                </a:solidFill>
                <a:latin typeface="Satoshi"/>
              </a:rPr>
              <a:t>www.genosai.tech</a:t>
            </a:r>
          </a:p>
        </p:txBody>
      </p:sp>
      <p:sp>
        <p:nvSpPr>
          <p:cNvPr id="39" name="TextBox 38"/>
          <p:cNvSpPr txBox="1"/>
          <p:nvPr/>
        </p:nvSpPr>
        <p:spPr>
          <a:xfrm>
            <a:off x="685800" y="6473952"/>
            <a:ext cx="7315200" cy="256032"/>
          </a:xfrm>
          <a:prstGeom prst="rect">
            <a:avLst/>
          </a:prstGeom>
          <a:noFill/>
        </p:spPr>
        <p:txBody>
          <a:bodyPr wrap="square">
            <a:spAutoFit/>
          </a:bodyPr>
          <a:lstStyle/>
          <a:p>
            <a:pPr algn="l"/>
            <a:r>
              <a:rPr sz="800" b="0" i="0">
                <a:solidFill>
                  <a:srgbClr val="444447"/>
                </a:solidFill>
                <a:latin typeface="Satoshi"/>
              </a:rPr>
              <a:t>Confidential  .  Education Outcomes Fund  .  2026</a:t>
            </a:r>
          </a:p>
        </p:txBody>
      </p:sp>
      <p:sp>
        <p:nvSpPr>
          <p:cNvPr id="40" name="TextBox 39"/>
          <p:cNvSpPr txBox="1"/>
          <p:nvPr/>
        </p:nvSpPr>
        <p:spPr>
          <a:xfrm>
            <a:off x="8686800" y="6473952"/>
            <a:ext cx="2816352" cy="256032"/>
          </a:xfrm>
          <a:prstGeom prst="rect">
            <a:avLst/>
          </a:prstGeom>
          <a:noFill/>
        </p:spPr>
        <p:txBody>
          <a:bodyPr wrap="square">
            <a:spAutoFit/>
          </a:bodyPr>
          <a:lstStyle/>
          <a:p>
            <a:pPr algn="r"/>
            <a:r>
              <a:rPr sz="800" b="0" i="0">
                <a:solidFill>
                  <a:srgbClr val="444447"/>
                </a:solidFill>
                <a:latin typeface="Satoshi"/>
              </a:rPr>
              <a:t>12 / 12</a:t>
            </a:r>
          </a:p>
        </p:txBody>
      </p:sp>
      <p:sp>
        <p:nvSpPr>
          <p:cNvPr id="41" name="TextBox 40"/>
          <p:cNvSpPr txBox="1"/>
          <p:nvPr/>
        </p:nvSpPr>
        <p:spPr>
          <a:xfrm>
            <a:off x="685800" y="6263640"/>
            <a:ext cx="2743200" cy="365760"/>
          </a:xfrm>
          <a:prstGeom prst="rect">
            <a:avLst/>
          </a:prstGeom>
          <a:noFill/>
        </p:spPr>
        <p:txBody>
          <a:bodyPr wrap="square">
            <a:spAutoFit/>
          </a:bodyPr>
          <a:lstStyle/>
          <a:p>
            <a:pPr algn="l"/>
            <a:r>
              <a:rPr sz="2000" b="0" i="0">
                <a:solidFill>
                  <a:srgbClr val="FFFFFF"/>
                </a:solidFill>
                <a:latin typeface="Instrument Serif"/>
              </a:rPr>
              <a:t>GenosAI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