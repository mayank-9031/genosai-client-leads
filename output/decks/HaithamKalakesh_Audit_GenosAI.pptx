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Rectangle 1"/>
          <p:cNvSpPr/>
          <p:nvPr/>
        </p:nvSpPr>
        <p:spPr>
          <a:xfrm>
            <a:off x="0" y="0"/>
            <a:ext cx="12188952"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14400"/>
            <a:ext cx="5486400" cy="320040"/>
          </a:xfrm>
          <a:prstGeom prst="rect">
            <a:avLst/>
          </a:prstGeom>
          <a:noFill/>
        </p:spPr>
        <p:txBody>
          <a:bodyPr wrap="square">
            <a:spAutoFit/>
          </a:bodyPr>
          <a:lstStyle/>
          <a:p>
            <a:pPr algn="l"/>
            <a:r>
              <a:rPr sz="1000" b="1" i="0">
                <a:solidFill>
                  <a:srgbClr val="6B6B6E"/>
                </a:solidFill>
                <a:latin typeface="Satoshi"/>
              </a:rPr>
              <a:t>PREPARED FOR</a:t>
            </a:r>
          </a:p>
        </p:txBody>
      </p:sp>
      <p:sp>
        <p:nvSpPr>
          <p:cNvPr id="4" name="Rectangle 3"/>
          <p:cNvSpPr/>
          <p:nvPr/>
        </p:nvSpPr>
        <p:spPr>
          <a:xfrm>
            <a:off x="685800" y="1298448"/>
            <a:ext cx="54864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63040"/>
            <a:ext cx="8229600" cy="1280160"/>
          </a:xfrm>
          <a:prstGeom prst="rect">
            <a:avLst/>
          </a:prstGeom>
          <a:noFill/>
        </p:spPr>
        <p:txBody>
          <a:bodyPr wrap="square">
            <a:spAutoFit/>
          </a:bodyPr>
          <a:lstStyle/>
          <a:p>
            <a:pPr algn="l"/>
            <a:r>
              <a:rPr sz="6000" b="0" i="0">
                <a:solidFill>
                  <a:srgbClr val="FFFFFF"/>
                </a:solidFill>
                <a:latin typeface="Instrument Serif"/>
              </a:rPr>
              <a:t>Haitham Kalakesh</a:t>
            </a:r>
          </a:p>
        </p:txBody>
      </p:sp>
      <p:sp>
        <p:nvSpPr>
          <p:cNvPr id="6" name="TextBox 5"/>
          <p:cNvSpPr txBox="1"/>
          <p:nvPr/>
        </p:nvSpPr>
        <p:spPr>
          <a:xfrm>
            <a:off x="685800" y="2697480"/>
            <a:ext cx="6858000" cy="292608"/>
          </a:xfrm>
          <a:prstGeom prst="rect">
            <a:avLst/>
          </a:prstGeom>
          <a:noFill/>
        </p:spPr>
        <p:txBody>
          <a:bodyPr wrap="square">
            <a:spAutoFit/>
          </a:bodyPr>
          <a:lstStyle/>
          <a:p>
            <a:pPr algn="l"/>
            <a:r>
              <a:rPr sz="1300" b="0" i="0">
                <a:solidFill>
                  <a:srgbClr val="9D9D9F"/>
                </a:solidFill>
                <a:latin typeface="Satoshi"/>
              </a:rPr>
              <a:t>Founder &amp; CEO  .  Reve Real Estate  .  Riversong Technology</a:t>
            </a:r>
          </a:p>
        </p:txBody>
      </p:sp>
      <p:sp>
        <p:nvSpPr>
          <p:cNvPr id="7" name="TextBox 6"/>
          <p:cNvSpPr txBox="1"/>
          <p:nvPr/>
        </p:nvSpPr>
        <p:spPr>
          <a:xfrm>
            <a:off x="685800" y="3127248"/>
            <a:ext cx="5486400" cy="256032"/>
          </a:xfrm>
          <a:prstGeom prst="rect">
            <a:avLst/>
          </a:prstGeom>
          <a:noFill/>
        </p:spPr>
        <p:txBody>
          <a:bodyPr wrap="square">
            <a:spAutoFit/>
          </a:bodyPr>
          <a:lstStyle/>
          <a:p>
            <a:pPr algn="l"/>
            <a:r>
              <a:rPr sz="1100" b="0" i="0">
                <a:solidFill>
                  <a:srgbClr val="6B6B6E"/>
                </a:solidFill>
                <a:latin typeface="Satoshi"/>
              </a:rPr>
              <a:t>Dubai, UAE  .  London  .  Beirut  .  Amman  .  Cairo</a:t>
            </a:r>
          </a:p>
        </p:txBody>
      </p:sp>
      <p:sp>
        <p:nvSpPr>
          <p:cNvPr id="8" name="Rectangle 7"/>
          <p:cNvSpPr/>
          <p:nvPr/>
        </p:nvSpPr>
        <p:spPr>
          <a:xfrm>
            <a:off x="685800" y="3547872"/>
            <a:ext cx="54864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730752"/>
            <a:ext cx="6400800" cy="256032"/>
          </a:xfrm>
          <a:prstGeom prst="rect">
            <a:avLst/>
          </a:prstGeom>
          <a:noFill/>
        </p:spPr>
        <p:txBody>
          <a:bodyPr wrap="square">
            <a:spAutoFit/>
          </a:bodyPr>
          <a:lstStyle/>
          <a:p>
            <a:pPr algn="l"/>
            <a:r>
              <a:rPr sz="1000" b="1" i="0">
                <a:solidFill>
                  <a:srgbClr val="A78BFA"/>
                </a:solidFill>
                <a:latin typeface="Satoshi"/>
              </a:rPr>
              <a:t>AI AUDIT &amp; AUTOMATION PROPOSAL</a:t>
            </a:r>
          </a:p>
        </p:txBody>
      </p:sp>
      <p:sp>
        <p:nvSpPr>
          <p:cNvPr id="10" name="TextBox 9"/>
          <p:cNvSpPr txBox="1"/>
          <p:nvPr/>
        </p:nvSpPr>
        <p:spPr>
          <a:xfrm>
            <a:off x="685800" y="4096512"/>
            <a:ext cx="5943600" cy="1280160"/>
          </a:xfrm>
          <a:prstGeom prst="rect">
            <a:avLst/>
          </a:prstGeom>
          <a:noFill/>
        </p:spPr>
        <p:txBody>
          <a:bodyPr wrap="square">
            <a:spAutoFit/>
          </a:bodyPr>
          <a:lstStyle/>
          <a:p>
            <a:pPr algn="l"/>
            <a:r>
              <a:rPr sz="1300" b="0">
                <a:solidFill>
                  <a:srgbClr val="86868A"/>
                </a:solidFill>
                <a:latin typeface="Satoshi"/>
              </a:rPr>
              <a:t>A full website audit and AI automation blueprint for</a:t>
            </a:r>
          </a:p>
          <a:p>
            <a:pPr algn="l"/>
            <a:r>
              <a:rPr sz="1300" b="0">
                <a:solidFill>
                  <a:srgbClr val="86868A"/>
                </a:solidFill>
                <a:latin typeface="Satoshi"/>
              </a:rPr>
              <a:t>two businesses -- Reve Real Estate and Riversong Technology --</a:t>
            </a:r>
          </a:p>
          <a:p>
            <a:pPr algn="l"/>
            <a:r>
              <a:rPr sz="1300" b="0">
                <a:solidFill>
                  <a:srgbClr val="86868A"/>
                </a:solidFill>
                <a:latin typeface="Satoshi"/>
              </a:rPr>
              <a:t>covering inquiry capture, lead nurture, support automation,</a:t>
            </a:r>
          </a:p>
          <a:p>
            <a:pPr algn="l"/>
            <a:r>
              <a:rPr sz="1300" b="0">
                <a:solidFill>
                  <a:srgbClr val="86868A"/>
                </a:solidFill>
                <a:latin typeface="Satoshi"/>
              </a:rPr>
              <a:t>and cross-business CRM unification.</a:t>
            </a:r>
          </a:p>
        </p:txBody>
      </p:sp>
      <p:sp>
        <p:nvSpPr>
          <p:cNvPr id="11" name="Rounded Rectangle 10"/>
          <p:cNvSpPr/>
          <p:nvPr/>
        </p:nvSpPr>
        <p:spPr>
          <a:xfrm>
            <a:off x="8412480" y="1097280"/>
            <a:ext cx="3090672" cy="2286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1371600"/>
            <a:ext cx="2560320" cy="256032"/>
          </a:xfrm>
          <a:prstGeom prst="rect">
            <a:avLst/>
          </a:prstGeom>
          <a:noFill/>
        </p:spPr>
        <p:txBody>
          <a:bodyPr wrap="square">
            <a:spAutoFit/>
          </a:bodyPr>
          <a:lstStyle/>
          <a:p>
            <a:pPr algn="l"/>
            <a:r>
              <a:rPr sz="900" b="1" i="0">
                <a:solidFill>
                  <a:srgbClr val="6B6B6E"/>
                </a:solidFill>
                <a:latin typeface="Satoshi"/>
              </a:rPr>
              <a:t>PREPARED BY</a:t>
            </a:r>
          </a:p>
        </p:txBody>
      </p:sp>
      <p:sp>
        <p:nvSpPr>
          <p:cNvPr id="13" name="TextBox 12"/>
          <p:cNvSpPr txBox="1"/>
          <p:nvPr/>
        </p:nvSpPr>
        <p:spPr>
          <a:xfrm>
            <a:off x="8641080" y="1719072"/>
            <a:ext cx="2560320" cy="292608"/>
          </a:xfrm>
          <a:prstGeom prst="rect">
            <a:avLst/>
          </a:prstGeom>
          <a:noFill/>
        </p:spPr>
        <p:txBody>
          <a:bodyPr wrap="square">
            <a:spAutoFit/>
          </a:bodyPr>
          <a:lstStyle/>
          <a:p>
            <a:pPr algn="l"/>
            <a:r>
              <a:rPr sz="2000" b="0" i="0">
                <a:solidFill>
                  <a:srgbClr val="FFFFFF"/>
                </a:solidFill>
                <a:latin typeface="Instrument Serif"/>
              </a:rPr>
              <a:t>GenosAI Tech</a:t>
            </a:r>
          </a:p>
        </p:txBody>
      </p:sp>
      <p:sp>
        <p:nvSpPr>
          <p:cNvPr id="14" name="TextBox 13"/>
          <p:cNvSpPr txBox="1"/>
          <p:nvPr/>
        </p:nvSpPr>
        <p:spPr>
          <a:xfrm>
            <a:off x="8641080" y="2103120"/>
            <a:ext cx="2560320" cy="237744"/>
          </a:xfrm>
          <a:prstGeom prst="rect">
            <a:avLst/>
          </a:prstGeom>
          <a:noFill/>
        </p:spPr>
        <p:txBody>
          <a:bodyPr wrap="square">
            <a:spAutoFit/>
          </a:bodyPr>
          <a:lstStyle/>
          <a:p>
            <a:pPr algn="l"/>
            <a:r>
              <a:rPr sz="1100" b="0" i="0">
                <a:solidFill>
                  <a:srgbClr val="9D9D9F"/>
                </a:solidFill>
                <a:latin typeface="Satoshi"/>
              </a:rPr>
              <a:t>Rohan Malik  .  Founder &amp; CEO</a:t>
            </a:r>
          </a:p>
        </p:txBody>
      </p:sp>
      <p:sp>
        <p:nvSpPr>
          <p:cNvPr id="15" name="TextBox 14"/>
          <p:cNvSpPr txBox="1"/>
          <p:nvPr/>
        </p:nvSpPr>
        <p:spPr>
          <a:xfrm>
            <a:off x="8641080" y="2423160"/>
            <a:ext cx="2560320" cy="237744"/>
          </a:xfrm>
          <a:prstGeom prst="rect">
            <a:avLst/>
          </a:prstGeom>
          <a:noFill/>
        </p:spPr>
        <p:txBody>
          <a:bodyPr wrap="square">
            <a:spAutoFit/>
          </a:bodyPr>
          <a:lstStyle/>
          <a:p>
            <a:pPr algn="l"/>
            <a:r>
              <a:rPr sz="1000" b="0" i="0">
                <a:solidFill>
                  <a:srgbClr val="6B6B6E"/>
                </a:solidFill>
                <a:latin typeface="Satoshi"/>
              </a:rPr>
              <a:t>hello@genosai.tech  .  www.genosai.tech</a:t>
            </a:r>
          </a:p>
        </p:txBody>
      </p:sp>
      <p:sp>
        <p:nvSpPr>
          <p:cNvPr id="16" name="TextBox 15"/>
          <p:cNvSpPr txBox="1"/>
          <p:nvPr/>
        </p:nvSpPr>
        <p:spPr>
          <a:xfrm>
            <a:off x="685800" y="6263640"/>
            <a:ext cx="3657600" cy="411480"/>
          </a:xfrm>
          <a:prstGeom prst="rect">
            <a:avLst/>
          </a:prstGeom>
          <a:noFill/>
        </p:spPr>
        <p:txBody>
          <a:bodyPr wrap="square">
            <a:spAutoFit/>
          </a:bodyPr>
          <a:lstStyle/>
          <a:p>
            <a:pPr algn="l"/>
            <a:r>
              <a:rPr sz="2200" b="0" i="0">
                <a:solidFill>
                  <a:srgbClr val="FFFFFF"/>
                </a:solidFill>
                <a:latin typeface="Instrument Serif"/>
              </a:rPr>
              <a:t>GenosAI</a:t>
            </a:r>
          </a:p>
        </p:txBody>
      </p:sp>
      <p:sp>
        <p:nvSpPr>
          <p:cNvPr id="17" name="TextBox 16"/>
          <p:cNvSpPr txBox="1"/>
          <p:nvPr/>
        </p:nvSpPr>
        <p:spPr>
          <a:xfrm>
            <a:off x="2194560" y="6291072"/>
            <a:ext cx="2743200" cy="274320"/>
          </a:xfrm>
          <a:prstGeom prst="rect">
            <a:avLst/>
          </a:prstGeom>
          <a:noFill/>
        </p:spPr>
        <p:txBody>
          <a:bodyPr wrap="square">
            <a:spAutoFit/>
          </a:bodyPr>
          <a:lstStyle/>
          <a:p>
            <a:pPr algn="l"/>
            <a:r>
              <a:rPr sz="900" b="0" i="0">
                <a:solidFill>
                  <a:srgbClr val="444447"/>
                </a:solidFill>
                <a:latin typeface="Satoshi"/>
              </a:rPr>
              <a:t>v1.0  .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01  .  REVE REAL ESTATE AUDIT</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02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WEBSITE AUDIT  --  REVE REAL ESTATE</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reverealestates.com  --  Score: 3 / 10</a:t>
            </a:r>
          </a:p>
        </p:txBody>
      </p:sp>
      <p:sp>
        <p:nvSpPr>
          <p:cNvPr id="9" name="TextBox 8"/>
          <p:cNvSpPr txBox="1"/>
          <p:nvPr/>
        </p:nvSpPr>
        <p:spPr>
          <a:xfrm>
            <a:off x="685800" y="2011680"/>
            <a:ext cx="8229600" cy="347472"/>
          </a:xfrm>
          <a:prstGeom prst="rect">
            <a:avLst/>
          </a:prstGeom>
          <a:noFill/>
        </p:spPr>
        <p:txBody>
          <a:bodyPr wrap="square">
            <a:spAutoFit/>
          </a:bodyPr>
          <a:lstStyle/>
          <a:p>
            <a:pPr algn="l"/>
            <a:r>
              <a:rPr sz="1300" b="0" i="0">
                <a:solidFill>
                  <a:srgbClr val="86868A"/>
                </a:solidFill>
                <a:latin typeface="Satoshi"/>
              </a:rPr>
              <a:t>Dubai luxury real estate portal with offices in London, Beirut, and Amman. Developer partners include Emaar, Damac, Meraas, and Ellington. The brand brings serious traffic -- but the website loses almost all of it.</a:t>
            </a:r>
          </a:p>
        </p:txBody>
      </p:sp>
      <p:sp>
        <p:nvSpPr>
          <p:cNvPr id="10" name="Rounded Rectangle 9"/>
          <p:cNvSpPr/>
          <p:nvPr/>
        </p:nvSpPr>
        <p:spPr>
          <a:xfrm>
            <a:off x="10607040" y="1097280"/>
            <a:ext cx="1005840" cy="100584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0" y="1243584"/>
            <a:ext cx="1005840" cy="411480"/>
          </a:xfrm>
          <a:prstGeom prst="rect">
            <a:avLst/>
          </a:prstGeom>
          <a:noFill/>
        </p:spPr>
        <p:txBody>
          <a:bodyPr wrap="square">
            <a:spAutoFit/>
          </a:bodyPr>
          <a:lstStyle/>
          <a:p>
            <a:pPr algn="ctr"/>
            <a:r>
              <a:rPr sz="2200" b="0" i="0">
                <a:solidFill>
                  <a:srgbClr val="0A0A0F"/>
                </a:solidFill>
                <a:latin typeface="Instrument Serif"/>
              </a:rPr>
              <a:t>3/10</a:t>
            </a:r>
          </a:p>
        </p:txBody>
      </p:sp>
      <p:sp>
        <p:nvSpPr>
          <p:cNvPr id="12" name="TextBox 11"/>
          <p:cNvSpPr txBox="1"/>
          <p:nvPr/>
        </p:nvSpPr>
        <p:spPr>
          <a:xfrm>
            <a:off x="10607040" y="1691640"/>
            <a:ext cx="1005840" cy="256032"/>
          </a:xfrm>
          <a:prstGeom prst="rect">
            <a:avLst/>
          </a:prstGeom>
          <a:noFill/>
        </p:spPr>
        <p:txBody>
          <a:bodyPr wrap="square">
            <a:spAutoFit/>
          </a:bodyPr>
          <a:lstStyle/>
          <a:p>
            <a:pPr algn="ctr"/>
            <a:r>
              <a:rPr sz="800" b="1" i="0">
                <a:solidFill>
                  <a:srgbClr val="0A0A0F"/>
                </a:solidFill>
                <a:latin typeface="Satoshi"/>
              </a:rPr>
              <a:t>SCORE</a:t>
            </a:r>
          </a:p>
        </p:txBody>
      </p:sp>
      <p:sp>
        <p:nvSpPr>
          <p:cNvPr id="13" name="Rectangle 12"/>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2697480"/>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70632"/>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16" name="TextBox 15"/>
          <p:cNvSpPr txBox="1"/>
          <p:nvPr/>
        </p:nvSpPr>
        <p:spPr>
          <a:xfrm>
            <a:off x="1234440" y="2761488"/>
            <a:ext cx="4480560" cy="274320"/>
          </a:xfrm>
          <a:prstGeom prst="rect">
            <a:avLst/>
          </a:prstGeom>
          <a:noFill/>
        </p:spPr>
        <p:txBody>
          <a:bodyPr wrap="square">
            <a:spAutoFit/>
          </a:bodyPr>
          <a:lstStyle/>
          <a:p>
            <a:pPr algn="l"/>
            <a:r>
              <a:rPr sz="1200" b="1" i="0">
                <a:solidFill>
                  <a:srgbClr val="FFFFFF"/>
                </a:solidFill>
                <a:latin typeface="Satoshi"/>
              </a:rPr>
              <a:t>No inquiry capture system</a:t>
            </a:r>
          </a:p>
        </p:txBody>
      </p:sp>
      <p:sp>
        <p:nvSpPr>
          <p:cNvPr id="17" name="TextBox 16"/>
          <p:cNvSpPr txBox="1"/>
          <p:nvPr/>
        </p:nvSpPr>
        <p:spPr>
          <a:xfrm>
            <a:off x="1234440" y="3063240"/>
            <a:ext cx="4480560" cy="384048"/>
          </a:xfrm>
          <a:prstGeom prst="rect">
            <a:avLst/>
          </a:prstGeom>
          <a:noFill/>
        </p:spPr>
        <p:txBody>
          <a:bodyPr wrap="square">
            <a:spAutoFit/>
          </a:bodyPr>
          <a:lstStyle/>
          <a:p>
            <a:pPr algn="l"/>
            <a:r>
              <a:rPr sz="1000" b="0" i="0">
                <a:solidFill>
                  <a:srgbClr val="9D9D9F"/>
                </a:solidFill>
                <a:latin typeface="Satoshi"/>
              </a:rPr>
              <a:t>No web chat, no WhatsApp button, no lead form above the fold. A buyer lands on the homepage and has no immediate way to engage.</a:t>
            </a:r>
          </a:p>
        </p:txBody>
      </p:sp>
      <p:sp>
        <p:nvSpPr>
          <p:cNvPr id="18" name="Rounded Rectangle 17"/>
          <p:cNvSpPr/>
          <p:nvPr/>
        </p:nvSpPr>
        <p:spPr>
          <a:xfrm>
            <a:off x="685800" y="3630168"/>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03320"/>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20" name="TextBox 19"/>
          <p:cNvSpPr txBox="1"/>
          <p:nvPr/>
        </p:nvSpPr>
        <p:spPr>
          <a:xfrm>
            <a:off x="1234440" y="3694176"/>
            <a:ext cx="4480560" cy="274320"/>
          </a:xfrm>
          <a:prstGeom prst="rect">
            <a:avLst/>
          </a:prstGeom>
          <a:noFill/>
        </p:spPr>
        <p:txBody>
          <a:bodyPr wrap="square">
            <a:spAutoFit/>
          </a:bodyPr>
          <a:lstStyle/>
          <a:p>
            <a:pPr algn="l"/>
            <a:r>
              <a:rPr sz="1200" b="1" i="0">
                <a:solidFill>
                  <a:srgbClr val="FFFFFF"/>
                </a:solidFill>
                <a:latin typeface="Satoshi"/>
              </a:rPr>
              <a:t>No appointment booking</a:t>
            </a:r>
          </a:p>
        </p:txBody>
      </p:sp>
      <p:sp>
        <p:nvSpPr>
          <p:cNvPr id="21" name="TextBox 20"/>
          <p:cNvSpPr txBox="1"/>
          <p:nvPr/>
        </p:nvSpPr>
        <p:spPr>
          <a:xfrm>
            <a:off x="1234440" y="3995928"/>
            <a:ext cx="4480560" cy="384048"/>
          </a:xfrm>
          <a:prstGeom prst="rect">
            <a:avLst/>
          </a:prstGeom>
          <a:noFill/>
        </p:spPr>
        <p:txBody>
          <a:bodyPr wrap="square">
            <a:spAutoFit/>
          </a:bodyPr>
          <a:lstStyle/>
          <a:p>
            <a:pPr algn="l"/>
            <a:r>
              <a:rPr sz="1000" b="0" i="0">
                <a:solidFill>
                  <a:srgbClr val="9D9D9F"/>
                </a:solidFill>
                <a:latin typeface="Satoshi"/>
              </a:rPr>
              <a:t>No online scheduling for property viewings or consultation calls. Prospective clients must find a phone number or send a blind email.</a:t>
            </a:r>
          </a:p>
        </p:txBody>
      </p:sp>
      <p:sp>
        <p:nvSpPr>
          <p:cNvPr id="22" name="Rounded Rectangle 21"/>
          <p:cNvSpPr/>
          <p:nvPr/>
        </p:nvSpPr>
        <p:spPr>
          <a:xfrm>
            <a:off x="685800" y="4562856"/>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636008"/>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24" name="TextBox 23"/>
          <p:cNvSpPr txBox="1"/>
          <p:nvPr/>
        </p:nvSpPr>
        <p:spPr>
          <a:xfrm>
            <a:off x="1234440" y="4626864"/>
            <a:ext cx="4480560" cy="274320"/>
          </a:xfrm>
          <a:prstGeom prst="rect">
            <a:avLst/>
          </a:prstGeom>
          <a:noFill/>
        </p:spPr>
        <p:txBody>
          <a:bodyPr wrap="square">
            <a:spAutoFit/>
          </a:bodyPr>
          <a:lstStyle/>
          <a:p>
            <a:pPr algn="l"/>
            <a:r>
              <a:rPr sz="1200" b="1" i="0">
                <a:solidFill>
                  <a:srgbClr val="FFFFFF"/>
                </a:solidFill>
                <a:latin typeface="Satoshi"/>
              </a:rPr>
              <a:t>No email capture or lead magnet</a:t>
            </a:r>
          </a:p>
        </p:txBody>
      </p:sp>
      <p:sp>
        <p:nvSpPr>
          <p:cNvPr id="25" name="TextBox 24"/>
          <p:cNvSpPr txBox="1"/>
          <p:nvPr/>
        </p:nvSpPr>
        <p:spPr>
          <a:xfrm>
            <a:off x="1234440" y="4928616"/>
            <a:ext cx="4480560" cy="384048"/>
          </a:xfrm>
          <a:prstGeom prst="rect">
            <a:avLst/>
          </a:prstGeom>
          <a:noFill/>
        </p:spPr>
        <p:txBody>
          <a:bodyPr wrap="square">
            <a:spAutoFit/>
          </a:bodyPr>
          <a:lstStyle/>
          <a:p>
            <a:pPr algn="l"/>
            <a:r>
              <a:rPr sz="1000" b="0" i="0">
                <a:solidFill>
                  <a:srgbClr val="9D9D9F"/>
                </a:solidFill>
                <a:latin typeface="Satoshi"/>
              </a:rPr>
              <a:t>No newsletter, no market report download, no Golden Visa guide. Every visitor who leaves is lost with no follow-up pathway.</a:t>
            </a:r>
          </a:p>
        </p:txBody>
      </p:sp>
      <p:sp>
        <p:nvSpPr>
          <p:cNvPr id="26" name="Rounded Rectangle 25"/>
          <p:cNvSpPr/>
          <p:nvPr/>
        </p:nvSpPr>
        <p:spPr>
          <a:xfrm>
            <a:off x="6492240" y="2697480"/>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770632"/>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28" name="TextBox 27"/>
          <p:cNvSpPr txBox="1"/>
          <p:nvPr/>
        </p:nvSpPr>
        <p:spPr>
          <a:xfrm>
            <a:off x="7040880" y="2761488"/>
            <a:ext cx="4480560" cy="274320"/>
          </a:xfrm>
          <a:prstGeom prst="rect">
            <a:avLst/>
          </a:prstGeom>
          <a:noFill/>
        </p:spPr>
        <p:txBody>
          <a:bodyPr wrap="square">
            <a:spAutoFit/>
          </a:bodyPr>
          <a:lstStyle/>
          <a:p>
            <a:pPr algn="l"/>
            <a:r>
              <a:rPr sz="1200" b="1" i="0">
                <a:solidFill>
                  <a:srgbClr val="FFFFFF"/>
                </a:solidFill>
                <a:latin typeface="Satoshi"/>
              </a:rPr>
              <a:t>No social proof or testimonials</a:t>
            </a:r>
          </a:p>
        </p:txBody>
      </p:sp>
      <p:sp>
        <p:nvSpPr>
          <p:cNvPr id="29" name="TextBox 28"/>
          <p:cNvSpPr txBox="1"/>
          <p:nvPr/>
        </p:nvSpPr>
        <p:spPr>
          <a:xfrm>
            <a:off x="7040880" y="3063240"/>
            <a:ext cx="4480560" cy="384048"/>
          </a:xfrm>
          <a:prstGeom prst="rect">
            <a:avLst/>
          </a:prstGeom>
          <a:noFill/>
        </p:spPr>
        <p:txBody>
          <a:bodyPr wrap="square">
            <a:spAutoFit/>
          </a:bodyPr>
          <a:lstStyle/>
          <a:p>
            <a:pPr algn="l"/>
            <a:r>
              <a:rPr sz="1000" b="0" i="0">
                <a:solidFill>
                  <a:srgbClr val="9D9D9F"/>
                </a:solidFill>
                <a:latin typeface="Satoshi"/>
              </a:rPr>
              <a:t>No client reviews, no transaction counts, no sold property showcases. International investors making $500K+ decisions need trust signals.</a:t>
            </a:r>
          </a:p>
        </p:txBody>
      </p:sp>
      <p:sp>
        <p:nvSpPr>
          <p:cNvPr id="30" name="Rounded Rectangle 29"/>
          <p:cNvSpPr/>
          <p:nvPr/>
        </p:nvSpPr>
        <p:spPr>
          <a:xfrm>
            <a:off x="6492240" y="3630168"/>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3703320"/>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32" name="TextBox 31"/>
          <p:cNvSpPr txBox="1"/>
          <p:nvPr/>
        </p:nvSpPr>
        <p:spPr>
          <a:xfrm>
            <a:off x="7040880" y="3694176"/>
            <a:ext cx="4480560" cy="274320"/>
          </a:xfrm>
          <a:prstGeom prst="rect">
            <a:avLst/>
          </a:prstGeom>
          <a:noFill/>
        </p:spPr>
        <p:txBody>
          <a:bodyPr wrap="square">
            <a:spAutoFit/>
          </a:bodyPr>
          <a:lstStyle/>
          <a:p>
            <a:pPr algn="l"/>
            <a:r>
              <a:rPr sz="1200" b="1" i="0">
                <a:solidFill>
                  <a:srgbClr val="FFFFFF"/>
                </a:solidFill>
                <a:latin typeface="Satoshi"/>
              </a:rPr>
              <a:t>No Golden Visa conversion pathway</a:t>
            </a:r>
          </a:p>
        </p:txBody>
      </p:sp>
      <p:sp>
        <p:nvSpPr>
          <p:cNvPr id="33" name="TextBox 32"/>
          <p:cNvSpPr txBox="1"/>
          <p:nvPr/>
        </p:nvSpPr>
        <p:spPr>
          <a:xfrm>
            <a:off x="7040880" y="3995928"/>
            <a:ext cx="4480560" cy="384048"/>
          </a:xfrm>
          <a:prstGeom prst="rect">
            <a:avLst/>
          </a:prstGeom>
          <a:noFill/>
        </p:spPr>
        <p:txBody>
          <a:bodyPr wrap="square">
            <a:spAutoFit/>
          </a:bodyPr>
          <a:lstStyle/>
          <a:p>
            <a:pPr algn="l"/>
            <a:r>
              <a:rPr sz="1000" b="0" i="0">
                <a:solidFill>
                  <a:srgbClr val="9D9D9F"/>
                </a:solidFill>
                <a:latin typeface="Satoshi"/>
              </a:rPr>
              <a:t>Golden Visa consultation is listed as a service but has no dedicated funnel, no qualifying form, and no automated education sequence.</a:t>
            </a:r>
          </a:p>
        </p:txBody>
      </p:sp>
      <p:sp>
        <p:nvSpPr>
          <p:cNvPr id="34" name="Rounded Rectangle 33"/>
          <p:cNvSpPr/>
          <p:nvPr/>
        </p:nvSpPr>
        <p:spPr>
          <a:xfrm>
            <a:off x="6492240" y="4562856"/>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4636008"/>
            <a:ext cx="320040" cy="274320"/>
          </a:xfrm>
          <a:prstGeom prst="rect">
            <a:avLst/>
          </a:prstGeom>
          <a:noFill/>
        </p:spPr>
        <p:txBody>
          <a:bodyPr wrap="square">
            <a:spAutoFit/>
          </a:bodyPr>
          <a:lstStyle/>
          <a:p>
            <a:pPr algn="l"/>
            <a:r>
              <a:rPr sz="1300" b="1" i="0">
                <a:solidFill>
                  <a:srgbClr val="F87171"/>
                </a:solidFill>
                <a:latin typeface="Satoshi"/>
              </a:rPr>
              <a:t>!</a:t>
            </a:r>
          </a:p>
        </p:txBody>
      </p:sp>
      <p:sp>
        <p:nvSpPr>
          <p:cNvPr id="36" name="TextBox 35"/>
          <p:cNvSpPr txBox="1"/>
          <p:nvPr/>
        </p:nvSpPr>
        <p:spPr>
          <a:xfrm>
            <a:off x="7040880" y="4626864"/>
            <a:ext cx="4480560" cy="274320"/>
          </a:xfrm>
          <a:prstGeom prst="rect">
            <a:avLst/>
          </a:prstGeom>
          <a:noFill/>
        </p:spPr>
        <p:txBody>
          <a:bodyPr wrap="square">
            <a:spAutoFit/>
          </a:bodyPr>
          <a:lstStyle/>
          <a:p>
            <a:pPr algn="l"/>
            <a:r>
              <a:rPr sz="1200" b="1" i="0">
                <a:solidFill>
                  <a:srgbClr val="FFFFFF"/>
                </a:solidFill>
                <a:latin typeface="Satoshi"/>
              </a:rPr>
              <a:t>Contact information not visible</a:t>
            </a:r>
          </a:p>
        </p:txBody>
      </p:sp>
      <p:sp>
        <p:nvSpPr>
          <p:cNvPr id="37" name="TextBox 36"/>
          <p:cNvSpPr txBox="1"/>
          <p:nvPr/>
        </p:nvSpPr>
        <p:spPr>
          <a:xfrm>
            <a:off x="7040880" y="4928616"/>
            <a:ext cx="4480560" cy="384048"/>
          </a:xfrm>
          <a:prstGeom prst="rect">
            <a:avLst/>
          </a:prstGeom>
          <a:noFill/>
        </p:spPr>
        <p:txBody>
          <a:bodyPr wrap="square">
            <a:spAutoFit/>
          </a:bodyPr>
          <a:lstStyle/>
          <a:p>
            <a:pPr algn="l"/>
            <a:r>
              <a:rPr sz="1000" b="0" i="0">
                <a:solidFill>
                  <a:srgbClr val="9D9D9F"/>
                </a:solidFill>
                <a:latin typeface="Satoshi"/>
              </a:rPr>
              <a:t>Phone numbers and office addresses require navigation to a separate page. High-intent visitors in London or Beirut have no instant contact point.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02  .  RIVERSONG TECHNOLOGY AUDIT</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03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WEBSITE AUDIT  --  RIVERSONG TECHNOLOGY</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riversongtechnology.com  --  Score: 6 / 10</a:t>
            </a:r>
          </a:p>
        </p:txBody>
      </p:sp>
      <p:sp>
        <p:nvSpPr>
          <p:cNvPr id="9" name="TextBox 8"/>
          <p:cNvSpPr txBox="1"/>
          <p:nvPr/>
        </p:nvSpPr>
        <p:spPr>
          <a:xfrm>
            <a:off x="685800" y="2011680"/>
            <a:ext cx="8229600" cy="347472"/>
          </a:xfrm>
          <a:prstGeom prst="rect">
            <a:avLst/>
          </a:prstGeom>
          <a:noFill/>
        </p:spPr>
        <p:txBody>
          <a:bodyPr wrap="square">
            <a:spAutoFit/>
          </a:bodyPr>
          <a:lstStyle/>
          <a:p>
            <a:pPr algn="l"/>
            <a:r>
              <a:rPr sz="1300" b="0" i="0">
                <a:solidFill>
                  <a:srgbClr val="86868A"/>
                </a:solidFill>
                <a:latin typeface="Satoshi"/>
              </a:rPr>
              <a:t>Consumer electronics brand (smart watches, earbuds, phones, TVs, ACs) with distribution across Dubai, London, and Cairo. A functional website -- but the B2B and support layers are missing entirely.</a:t>
            </a:r>
          </a:p>
        </p:txBody>
      </p:sp>
      <p:sp>
        <p:nvSpPr>
          <p:cNvPr id="10" name="Rounded Rectangle 9"/>
          <p:cNvSpPr/>
          <p:nvPr/>
        </p:nvSpPr>
        <p:spPr>
          <a:xfrm>
            <a:off x="10607040" y="1097280"/>
            <a:ext cx="1005840" cy="100584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0" y="1243584"/>
            <a:ext cx="1005840" cy="411480"/>
          </a:xfrm>
          <a:prstGeom prst="rect">
            <a:avLst/>
          </a:prstGeom>
          <a:noFill/>
        </p:spPr>
        <p:txBody>
          <a:bodyPr wrap="square">
            <a:spAutoFit/>
          </a:bodyPr>
          <a:lstStyle/>
          <a:p>
            <a:pPr algn="ctr"/>
            <a:r>
              <a:rPr sz="2200" b="0" i="0">
                <a:solidFill>
                  <a:srgbClr val="0A0A0F"/>
                </a:solidFill>
                <a:latin typeface="Instrument Serif"/>
              </a:rPr>
              <a:t>6/10</a:t>
            </a:r>
          </a:p>
        </p:txBody>
      </p:sp>
      <p:sp>
        <p:nvSpPr>
          <p:cNvPr id="12" name="TextBox 11"/>
          <p:cNvSpPr txBox="1"/>
          <p:nvPr/>
        </p:nvSpPr>
        <p:spPr>
          <a:xfrm>
            <a:off x="10607040" y="1691640"/>
            <a:ext cx="1005840" cy="256032"/>
          </a:xfrm>
          <a:prstGeom prst="rect">
            <a:avLst/>
          </a:prstGeom>
          <a:noFill/>
        </p:spPr>
        <p:txBody>
          <a:bodyPr wrap="square">
            <a:spAutoFit/>
          </a:bodyPr>
          <a:lstStyle/>
          <a:p>
            <a:pPr algn="ctr"/>
            <a:r>
              <a:rPr sz="800" b="1" i="0">
                <a:solidFill>
                  <a:srgbClr val="0A0A0F"/>
                </a:solidFill>
                <a:latin typeface="Satoshi"/>
              </a:rPr>
              <a:t>SCORE</a:t>
            </a:r>
          </a:p>
        </p:txBody>
      </p:sp>
      <p:sp>
        <p:nvSpPr>
          <p:cNvPr id="13" name="Rectangle 12"/>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2697480"/>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70632"/>
            <a:ext cx="320040" cy="274320"/>
          </a:xfrm>
          <a:prstGeom prst="rect">
            <a:avLst/>
          </a:prstGeom>
          <a:noFill/>
        </p:spPr>
        <p:txBody>
          <a:bodyPr wrap="square">
            <a:spAutoFit/>
          </a:bodyPr>
          <a:lstStyle/>
          <a:p>
            <a:pPr algn="l"/>
            <a:r>
              <a:rPr sz="1300" b="1" i="0">
                <a:solidFill>
                  <a:srgbClr val="FBBF24"/>
                </a:solidFill>
                <a:latin typeface="Satoshi"/>
              </a:rPr>
              <a:t>!</a:t>
            </a:r>
          </a:p>
        </p:txBody>
      </p:sp>
      <p:sp>
        <p:nvSpPr>
          <p:cNvPr id="16" name="TextBox 15"/>
          <p:cNvSpPr txBox="1"/>
          <p:nvPr/>
        </p:nvSpPr>
        <p:spPr>
          <a:xfrm>
            <a:off x="1234440" y="2761488"/>
            <a:ext cx="4480560" cy="274320"/>
          </a:xfrm>
          <a:prstGeom prst="rect">
            <a:avLst/>
          </a:prstGeom>
          <a:noFill/>
        </p:spPr>
        <p:txBody>
          <a:bodyPr wrap="square">
            <a:spAutoFit/>
          </a:bodyPr>
          <a:lstStyle/>
          <a:p>
            <a:pPr algn="l"/>
            <a:r>
              <a:rPr sz="1200" b="1" i="0">
                <a:solidFill>
                  <a:srgbClr val="FFFFFF"/>
                </a:solidFill>
                <a:latin typeface="Satoshi"/>
              </a:rPr>
              <a:t>No distributor or retailer inquiry flow</a:t>
            </a:r>
          </a:p>
        </p:txBody>
      </p:sp>
      <p:sp>
        <p:nvSpPr>
          <p:cNvPr id="17" name="TextBox 16"/>
          <p:cNvSpPr txBox="1"/>
          <p:nvPr/>
        </p:nvSpPr>
        <p:spPr>
          <a:xfrm>
            <a:off x="1234440" y="3063240"/>
            <a:ext cx="4480560" cy="384048"/>
          </a:xfrm>
          <a:prstGeom prst="rect">
            <a:avLst/>
          </a:prstGeom>
          <a:noFill/>
        </p:spPr>
        <p:txBody>
          <a:bodyPr wrap="square">
            <a:spAutoFit/>
          </a:bodyPr>
          <a:lstStyle/>
          <a:p>
            <a:pPr algn="l"/>
            <a:r>
              <a:rPr sz="1000" b="0" i="0">
                <a:solidFill>
                  <a:srgbClr val="9D9D9F"/>
                </a:solidFill>
                <a:latin typeface="Satoshi"/>
              </a:rPr>
              <a:t>No B2B partnership form, no trade inquiry pathway, no qualification for new market entry. Distribution enquiries arrive cold with no routing.</a:t>
            </a:r>
          </a:p>
        </p:txBody>
      </p:sp>
      <p:sp>
        <p:nvSpPr>
          <p:cNvPr id="18" name="Rounded Rectangle 17"/>
          <p:cNvSpPr/>
          <p:nvPr/>
        </p:nvSpPr>
        <p:spPr>
          <a:xfrm>
            <a:off x="685800" y="3630168"/>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03320"/>
            <a:ext cx="320040" cy="274320"/>
          </a:xfrm>
          <a:prstGeom prst="rect">
            <a:avLst/>
          </a:prstGeom>
          <a:noFill/>
        </p:spPr>
        <p:txBody>
          <a:bodyPr wrap="square">
            <a:spAutoFit/>
          </a:bodyPr>
          <a:lstStyle/>
          <a:p>
            <a:pPr algn="l"/>
            <a:r>
              <a:rPr sz="1300" b="1" i="0">
                <a:solidFill>
                  <a:srgbClr val="FBBF24"/>
                </a:solidFill>
                <a:latin typeface="Satoshi"/>
              </a:rPr>
              <a:t>!</a:t>
            </a:r>
          </a:p>
        </p:txBody>
      </p:sp>
      <p:sp>
        <p:nvSpPr>
          <p:cNvPr id="20" name="TextBox 19"/>
          <p:cNvSpPr txBox="1"/>
          <p:nvPr/>
        </p:nvSpPr>
        <p:spPr>
          <a:xfrm>
            <a:off x="1234440" y="3694176"/>
            <a:ext cx="4480560" cy="274320"/>
          </a:xfrm>
          <a:prstGeom prst="rect">
            <a:avLst/>
          </a:prstGeom>
          <a:noFill/>
        </p:spPr>
        <p:txBody>
          <a:bodyPr wrap="square">
            <a:spAutoFit/>
          </a:bodyPr>
          <a:lstStyle/>
          <a:p>
            <a:pPr algn="l"/>
            <a:r>
              <a:rPr sz="1200" b="1" i="0">
                <a:solidFill>
                  <a:srgbClr val="FFFFFF"/>
                </a:solidFill>
                <a:latin typeface="Satoshi"/>
              </a:rPr>
              <a:t>No live chat or WhatsApp support</a:t>
            </a:r>
          </a:p>
        </p:txBody>
      </p:sp>
      <p:sp>
        <p:nvSpPr>
          <p:cNvPr id="21" name="TextBox 20"/>
          <p:cNvSpPr txBox="1"/>
          <p:nvPr/>
        </p:nvSpPr>
        <p:spPr>
          <a:xfrm>
            <a:off x="1234440" y="3995928"/>
            <a:ext cx="4480560" cy="384048"/>
          </a:xfrm>
          <a:prstGeom prst="rect">
            <a:avLst/>
          </a:prstGeom>
          <a:noFill/>
        </p:spPr>
        <p:txBody>
          <a:bodyPr wrap="square">
            <a:spAutoFit/>
          </a:bodyPr>
          <a:lstStyle/>
          <a:p>
            <a:pPr algn="l"/>
            <a:r>
              <a:rPr sz="1000" b="0" i="0">
                <a:solidFill>
                  <a:srgbClr val="9D9D9F"/>
                </a:solidFill>
                <a:latin typeface="Satoshi"/>
              </a:rPr>
              <a:t>Consumer electronics buyers expect instant support access. No chat widget, no WhatsApp link, no FAQ bot on product pages.</a:t>
            </a:r>
          </a:p>
        </p:txBody>
      </p:sp>
      <p:sp>
        <p:nvSpPr>
          <p:cNvPr id="22" name="Rounded Rectangle 21"/>
          <p:cNvSpPr/>
          <p:nvPr/>
        </p:nvSpPr>
        <p:spPr>
          <a:xfrm>
            <a:off x="685800" y="4562856"/>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636008"/>
            <a:ext cx="320040" cy="274320"/>
          </a:xfrm>
          <a:prstGeom prst="rect">
            <a:avLst/>
          </a:prstGeom>
          <a:noFill/>
        </p:spPr>
        <p:txBody>
          <a:bodyPr wrap="square">
            <a:spAutoFit/>
          </a:bodyPr>
          <a:lstStyle/>
          <a:p>
            <a:pPr algn="l"/>
            <a:r>
              <a:rPr sz="1300" b="1" i="0">
                <a:solidFill>
                  <a:srgbClr val="FBBF24"/>
                </a:solidFill>
                <a:latin typeface="Satoshi"/>
              </a:rPr>
              <a:t>!</a:t>
            </a:r>
          </a:p>
        </p:txBody>
      </p:sp>
      <p:sp>
        <p:nvSpPr>
          <p:cNvPr id="24" name="TextBox 23"/>
          <p:cNvSpPr txBox="1"/>
          <p:nvPr/>
        </p:nvSpPr>
        <p:spPr>
          <a:xfrm>
            <a:off x="1234440" y="4626864"/>
            <a:ext cx="4480560" cy="274320"/>
          </a:xfrm>
          <a:prstGeom prst="rect">
            <a:avLst/>
          </a:prstGeom>
          <a:noFill/>
        </p:spPr>
        <p:txBody>
          <a:bodyPr wrap="square">
            <a:spAutoFit/>
          </a:bodyPr>
          <a:lstStyle/>
          <a:p>
            <a:pPr algn="l"/>
            <a:r>
              <a:rPr sz="1200" b="1" i="0">
                <a:solidFill>
                  <a:srgbClr val="FFFFFF"/>
                </a:solidFill>
                <a:latin typeface="Satoshi"/>
              </a:rPr>
              <a:t>No customer support automation</a:t>
            </a:r>
          </a:p>
        </p:txBody>
      </p:sp>
      <p:sp>
        <p:nvSpPr>
          <p:cNvPr id="25" name="TextBox 24"/>
          <p:cNvSpPr txBox="1"/>
          <p:nvPr/>
        </p:nvSpPr>
        <p:spPr>
          <a:xfrm>
            <a:off x="1234440" y="4928616"/>
            <a:ext cx="4480560" cy="384048"/>
          </a:xfrm>
          <a:prstGeom prst="rect">
            <a:avLst/>
          </a:prstGeom>
          <a:noFill/>
        </p:spPr>
        <p:txBody>
          <a:bodyPr wrap="square">
            <a:spAutoFit/>
          </a:bodyPr>
          <a:lstStyle/>
          <a:p>
            <a:pPr algn="l"/>
            <a:r>
              <a:rPr sz="1000" b="0" i="0">
                <a:solidFill>
                  <a:srgbClr val="9D9D9F"/>
                </a:solidFill>
                <a:latin typeface="Satoshi"/>
              </a:rPr>
              <a:t>Warranty queries, return requests, and product support handled manually. With a range spanning 5+ categories, the inbound volume is significant.</a:t>
            </a:r>
          </a:p>
        </p:txBody>
      </p:sp>
      <p:sp>
        <p:nvSpPr>
          <p:cNvPr id="26" name="Rounded Rectangle 25"/>
          <p:cNvSpPr/>
          <p:nvPr/>
        </p:nvSpPr>
        <p:spPr>
          <a:xfrm>
            <a:off x="6492240" y="2697480"/>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770632"/>
            <a:ext cx="320040" cy="274320"/>
          </a:xfrm>
          <a:prstGeom prst="rect">
            <a:avLst/>
          </a:prstGeom>
          <a:noFill/>
        </p:spPr>
        <p:txBody>
          <a:bodyPr wrap="square">
            <a:spAutoFit/>
          </a:bodyPr>
          <a:lstStyle/>
          <a:p>
            <a:pPr algn="l"/>
            <a:r>
              <a:rPr sz="1300" b="1" i="0">
                <a:solidFill>
                  <a:srgbClr val="FBBF24"/>
                </a:solidFill>
                <a:latin typeface="Satoshi"/>
              </a:rPr>
              <a:t>!</a:t>
            </a:r>
          </a:p>
        </p:txBody>
      </p:sp>
      <p:sp>
        <p:nvSpPr>
          <p:cNvPr id="28" name="TextBox 27"/>
          <p:cNvSpPr txBox="1"/>
          <p:nvPr/>
        </p:nvSpPr>
        <p:spPr>
          <a:xfrm>
            <a:off x="7040880" y="2761488"/>
            <a:ext cx="4480560" cy="274320"/>
          </a:xfrm>
          <a:prstGeom prst="rect">
            <a:avLst/>
          </a:prstGeom>
          <a:noFill/>
        </p:spPr>
        <p:txBody>
          <a:bodyPr wrap="square">
            <a:spAutoFit/>
          </a:bodyPr>
          <a:lstStyle/>
          <a:p>
            <a:pPr algn="l"/>
            <a:r>
              <a:rPr sz="1200" b="1" i="0">
                <a:solidFill>
                  <a:srgbClr val="FFFFFF"/>
                </a:solidFill>
                <a:latin typeface="Satoshi"/>
              </a:rPr>
              <a:t>No product review or social proof layer</a:t>
            </a:r>
          </a:p>
        </p:txBody>
      </p:sp>
      <p:sp>
        <p:nvSpPr>
          <p:cNvPr id="29" name="TextBox 28"/>
          <p:cNvSpPr txBox="1"/>
          <p:nvPr/>
        </p:nvSpPr>
        <p:spPr>
          <a:xfrm>
            <a:off x="7040880" y="3063240"/>
            <a:ext cx="4480560" cy="384048"/>
          </a:xfrm>
          <a:prstGeom prst="rect">
            <a:avLst/>
          </a:prstGeom>
          <a:noFill/>
        </p:spPr>
        <p:txBody>
          <a:bodyPr wrap="square">
            <a:spAutoFit/>
          </a:bodyPr>
          <a:lstStyle/>
          <a:p>
            <a:pPr algn="l"/>
            <a:r>
              <a:rPr sz="1000" b="0" i="0">
                <a:solidFill>
                  <a:srgbClr val="9D9D9F"/>
                </a:solidFill>
                <a:latin typeface="Satoshi"/>
              </a:rPr>
              <a:t>No customer reviews on product pages, no star ratings, no user-generated content. Buyers comparing against established brands need trust signals.</a:t>
            </a:r>
          </a:p>
        </p:txBody>
      </p:sp>
      <p:sp>
        <p:nvSpPr>
          <p:cNvPr id="30" name="Rounded Rectangle 29"/>
          <p:cNvSpPr/>
          <p:nvPr/>
        </p:nvSpPr>
        <p:spPr>
          <a:xfrm>
            <a:off x="6492240" y="3630168"/>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3703320"/>
            <a:ext cx="320040" cy="274320"/>
          </a:xfrm>
          <a:prstGeom prst="rect">
            <a:avLst/>
          </a:prstGeom>
          <a:noFill/>
        </p:spPr>
        <p:txBody>
          <a:bodyPr wrap="square">
            <a:spAutoFit/>
          </a:bodyPr>
          <a:lstStyle/>
          <a:p>
            <a:pPr algn="l"/>
            <a:r>
              <a:rPr sz="1300" b="1" i="0">
                <a:solidFill>
                  <a:srgbClr val="FBBF24"/>
                </a:solidFill>
                <a:latin typeface="Satoshi"/>
              </a:rPr>
              <a:t>!</a:t>
            </a:r>
          </a:p>
        </p:txBody>
      </p:sp>
      <p:sp>
        <p:nvSpPr>
          <p:cNvPr id="32" name="TextBox 31"/>
          <p:cNvSpPr txBox="1"/>
          <p:nvPr/>
        </p:nvSpPr>
        <p:spPr>
          <a:xfrm>
            <a:off x="7040880" y="3694176"/>
            <a:ext cx="4480560" cy="274320"/>
          </a:xfrm>
          <a:prstGeom prst="rect">
            <a:avLst/>
          </a:prstGeom>
          <a:noFill/>
        </p:spPr>
        <p:txBody>
          <a:bodyPr wrap="square">
            <a:spAutoFit/>
          </a:bodyPr>
          <a:lstStyle/>
          <a:p>
            <a:pPr algn="l"/>
            <a:r>
              <a:rPr sz="1200" b="1" i="0">
                <a:solidFill>
                  <a:srgbClr val="FFFFFF"/>
                </a:solidFill>
                <a:latin typeface="Satoshi"/>
              </a:rPr>
              <a:t>No post-purchase automation</a:t>
            </a:r>
          </a:p>
        </p:txBody>
      </p:sp>
      <p:sp>
        <p:nvSpPr>
          <p:cNvPr id="33" name="TextBox 32"/>
          <p:cNvSpPr txBox="1"/>
          <p:nvPr/>
        </p:nvSpPr>
        <p:spPr>
          <a:xfrm>
            <a:off x="7040880" y="3995928"/>
            <a:ext cx="4480560" cy="384048"/>
          </a:xfrm>
          <a:prstGeom prst="rect">
            <a:avLst/>
          </a:prstGeom>
          <a:noFill/>
        </p:spPr>
        <p:txBody>
          <a:bodyPr wrap="square">
            <a:spAutoFit/>
          </a:bodyPr>
          <a:lstStyle/>
          <a:p>
            <a:pPr algn="l"/>
            <a:r>
              <a:rPr sz="1000" b="0" i="0">
                <a:solidFill>
                  <a:srgbClr val="9D9D9F"/>
                </a:solidFill>
                <a:latin typeface="Satoshi"/>
              </a:rPr>
              <a:t>No automated warranty registration, no setup guide delivery, no review request. The customer relationship ends at purchase.</a:t>
            </a:r>
          </a:p>
        </p:txBody>
      </p:sp>
      <p:sp>
        <p:nvSpPr>
          <p:cNvPr id="34" name="Rounded Rectangle 33"/>
          <p:cNvSpPr/>
          <p:nvPr/>
        </p:nvSpPr>
        <p:spPr>
          <a:xfrm>
            <a:off x="6492240" y="4562856"/>
            <a:ext cx="5257800" cy="8229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4636008"/>
            <a:ext cx="320040" cy="274320"/>
          </a:xfrm>
          <a:prstGeom prst="rect">
            <a:avLst/>
          </a:prstGeom>
          <a:noFill/>
        </p:spPr>
        <p:txBody>
          <a:bodyPr wrap="square">
            <a:spAutoFit/>
          </a:bodyPr>
          <a:lstStyle/>
          <a:p>
            <a:pPr algn="l"/>
            <a:r>
              <a:rPr sz="1300" b="1" i="0">
                <a:solidFill>
                  <a:srgbClr val="FBBF24"/>
                </a:solidFill>
                <a:latin typeface="Satoshi"/>
              </a:rPr>
              <a:t>!</a:t>
            </a:r>
          </a:p>
        </p:txBody>
      </p:sp>
      <p:sp>
        <p:nvSpPr>
          <p:cNvPr id="36" name="TextBox 35"/>
          <p:cNvSpPr txBox="1"/>
          <p:nvPr/>
        </p:nvSpPr>
        <p:spPr>
          <a:xfrm>
            <a:off x="7040880" y="4626864"/>
            <a:ext cx="4480560" cy="274320"/>
          </a:xfrm>
          <a:prstGeom prst="rect">
            <a:avLst/>
          </a:prstGeom>
          <a:noFill/>
        </p:spPr>
        <p:txBody>
          <a:bodyPr wrap="square">
            <a:spAutoFit/>
          </a:bodyPr>
          <a:lstStyle/>
          <a:p>
            <a:pPr algn="l"/>
            <a:r>
              <a:rPr sz="1200" b="1" i="0">
                <a:solidFill>
                  <a:srgbClr val="FFFFFF"/>
                </a:solidFill>
                <a:latin typeface="Satoshi"/>
              </a:rPr>
              <a:t>Limited B2B market entry pathway</a:t>
            </a:r>
          </a:p>
        </p:txBody>
      </p:sp>
      <p:sp>
        <p:nvSpPr>
          <p:cNvPr id="37" name="TextBox 36"/>
          <p:cNvSpPr txBox="1"/>
          <p:nvPr/>
        </p:nvSpPr>
        <p:spPr>
          <a:xfrm>
            <a:off x="7040880" y="4928616"/>
            <a:ext cx="4480560" cy="384048"/>
          </a:xfrm>
          <a:prstGeom prst="rect">
            <a:avLst/>
          </a:prstGeom>
          <a:noFill/>
        </p:spPr>
        <p:txBody>
          <a:bodyPr wrap="square">
            <a:spAutoFit/>
          </a:bodyPr>
          <a:lstStyle/>
          <a:p>
            <a:pPr algn="l"/>
            <a:r>
              <a:rPr sz="1000" b="0" i="0">
                <a:solidFill>
                  <a:srgbClr val="9D9D9F"/>
                </a:solidFill>
                <a:latin typeface="Satoshi"/>
              </a:rPr>
              <a:t>Riversong is expanding into new markets (Levant, North Africa). No partner onboarding flow or territory qualification process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03  .  VISION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04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THE COMBINED OPPORTUNITY</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One Automation Layer.
Two Businesses. Every Inquiry Captured.</a:t>
            </a:r>
          </a:p>
        </p:txBody>
      </p:sp>
      <p:sp>
        <p:nvSpPr>
          <p:cNvPr id="9" name="Rounded Rectangle 8"/>
          <p:cNvSpPr/>
          <p:nvPr/>
        </p:nvSpPr>
        <p:spPr>
          <a:xfrm>
            <a:off x="685800" y="2606040"/>
            <a:ext cx="6858000" cy="1097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24912"/>
            <a:ext cx="6400800" cy="365760"/>
          </a:xfrm>
          <a:prstGeom prst="rect">
            <a:avLst/>
          </a:prstGeom>
          <a:noFill/>
        </p:spPr>
        <p:txBody>
          <a:bodyPr wrap="square">
            <a:spAutoFit/>
          </a:bodyPr>
          <a:lstStyle/>
          <a:p>
            <a:pPr algn="l"/>
            <a:r>
              <a:rPr sz="3200" b="0" i="0">
                <a:solidFill>
                  <a:srgbClr val="A78BFA"/>
                </a:solidFill>
                <a:latin typeface="Instrument Serif"/>
              </a:rPr>
              <a:t>"</a:t>
            </a:r>
          </a:p>
        </p:txBody>
      </p:sp>
      <p:sp>
        <p:nvSpPr>
          <p:cNvPr id="11" name="TextBox 10"/>
          <p:cNvSpPr txBox="1"/>
          <p:nvPr/>
        </p:nvSpPr>
        <p:spPr>
          <a:xfrm>
            <a:off x="1371600" y="2761488"/>
            <a:ext cx="5943600" cy="777240"/>
          </a:xfrm>
          <a:prstGeom prst="rect">
            <a:avLst/>
          </a:prstGeom>
          <a:noFill/>
        </p:spPr>
        <p:txBody>
          <a:bodyPr wrap="square">
            <a:spAutoFit/>
          </a:bodyPr>
          <a:lstStyle/>
          <a:p>
            <a:pPr algn="l"/>
            <a:r>
              <a:rPr sz="1500" b="0" i="1">
                <a:solidFill>
                  <a:srgbClr val="FFFFFF"/>
                </a:solidFill>
                <a:latin typeface="Instrument Serif"/>
              </a:rPr>
              <a:t>Both businesses share the same problem: serious buyers and partners arrive, find no structured intake, and leave. AI automation closes that gap -- in real estate, in consumer electronics, and across both simultaneously.</a:t>
            </a:r>
          </a:p>
        </p:txBody>
      </p:sp>
      <p:sp>
        <p:nvSpPr>
          <p:cNvPr id="12" name="Rounded Rectangle 11"/>
          <p:cNvSpPr/>
          <p:nvPr/>
        </p:nvSpPr>
        <p:spPr>
          <a:xfrm>
            <a:off x="68580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548640" cy="384048"/>
          </a:xfrm>
          <a:prstGeom prst="rect">
            <a:avLst/>
          </a:prstGeom>
          <a:noFill/>
        </p:spPr>
        <p:txBody>
          <a:bodyPr wrap="square">
            <a:spAutoFit/>
          </a:bodyPr>
          <a:lstStyle/>
          <a:p>
            <a:pPr algn="l"/>
            <a:r>
              <a:rPr sz="2200" b="0" i="0">
                <a:solidFill>
                  <a:srgbClr val="A78BFA"/>
                </a:solidFill>
                <a:latin typeface="Instrument Serif"/>
              </a:rPr>
              <a:t>01</a:t>
            </a:r>
          </a:p>
        </p:txBody>
      </p:sp>
      <p:sp>
        <p:nvSpPr>
          <p:cNvPr id="14" name="TextBox 13"/>
          <p:cNvSpPr txBox="1"/>
          <p:nvPr/>
        </p:nvSpPr>
        <p:spPr>
          <a:xfrm>
            <a:off x="914400" y="4617720"/>
            <a:ext cx="2194560" cy="594360"/>
          </a:xfrm>
          <a:prstGeom prst="rect">
            <a:avLst/>
          </a:prstGeom>
          <a:noFill/>
        </p:spPr>
        <p:txBody>
          <a:bodyPr wrap="square">
            <a:spAutoFit/>
          </a:bodyPr>
          <a:lstStyle/>
          <a:p>
            <a:pPr algn="l"/>
            <a:r>
              <a:rPr sz="1600" b="0" i="0">
                <a:solidFill>
                  <a:srgbClr val="FFFFFF"/>
                </a:solidFill>
                <a:latin typeface="Instrument Serif"/>
              </a:rPr>
              <a:t>Reve:
Inquiry Capture</a:t>
            </a:r>
          </a:p>
        </p:txBody>
      </p:sp>
      <p:sp>
        <p:nvSpPr>
          <p:cNvPr id="15" name="TextBox 14"/>
          <p:cNvSpPr txBox="1"/>
          <p:nvPr/>
        </p:nvSpPr>
        <p:spPr>
          <a:xfrm>
            <a:off x="914400" y="5285232"/>
            <a:ext cx="2194560" cy="804672"/>
          </a:xfrm>
          <a:prstGeom prst="rect">
            <a:avLst/>
          </a:prstGeom>
          <a:noFill/>
        </p:spPr>
        <p:txBody>
          <a:bodyPr wrap="square">
            <a:spAutoFit/>
          </a:bodyPr>
          <a:lstStyle/>
          <a:p>
            <a:pPr algn="l"/>
            <a:r>
              <a:rPr sz="1100" b="0" i="0">
                <a:solidFill>
                  <a:srgbClr val="9D9D9F"/>
                </a:solidFill>
                <a:latin typeface="Satoshi"/>
              </a:rPr>
              <a:t>Every property buyer and investor qualified before reaching an agent.</a:t>
            </a:r>
          </a:p>
        </p:txBody>
      </p:sp>
      <p:sp>
        <p:nvSpPr>
          <p:cNvPr id="16" name="Rounded Rectangle 15"/>
          <p:cNvSpPr/>
          <p:nvPr/>
        </p:nvSpPr>
        <p:spPr>
          <a:xfrm>
            <a:off x="338328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4160520"/>
            <a:ext cx="548640" cy="384048"/>
          </a:xfrm>
          <a:prstGeom prst="rect">
            <a:avLst/>
          </a:prstGeom>
          <a:noFill/>
        </p:spPr>
        <p:txBody>
          <a:bodyPr wrap="square">
            <a:spAutoFit/>
          </a:bodyPr>
          <a:lstStyle/>
          <a:p>
            <a:pPr algn="l"/>
            <a:r>
              <a:rPr sz="2200" b="0" i="0">
                <a:solidFill>
                  <a:srgbClr val="A78BFA"/>
                </a:solidFill>
                <a:latin typeface="Instrument Serif"/>
              </a:rPr>
              <a:t>02</a:t>
            </a:r>
          </a:p>
        </p:txBody>
      </p:sp>
      <p:sp>
        <p:nvSpPr>
          <p:cNvPr id="18" name="TextBox 17"/>
          <p:cNvSpPr txBox="1"/>
          <p:nvPr/>
        </p:nvSpPr>
        <p:spPr>
          <a:xfrm>
            <a:off x="3611880" y="4617720"/>
            <a:ext cx="2194560" cy="594360"/>
          </a:xfrm>
          <a:prstGeom prst="rect">
            <a:avLst/>
          </a:prstGeom>
          <a:noFill/>
        </p:spPr>
        <p:txBody>
          <a:bodyPr wrap="square">
            <a:spAutoFit/>
          </a:bodyPr>
          <a:lstStyle/>
          <a:p>
            <a:pPr algn="l"/>
            <a:r>
              <a:rPr sz="1600" b="0" i="0">
                <a:solidFill>
                  <a:srgbClr val="FFFFFF"/>
                </a:solidFill>
                <a:latin typeface="Instrument Serif"/>
              </a:rPr>
              <a:t>Reve:
Investor Nurture</a:t>
            </a:r>
          </a:p>
        </p:txBody>
      </p:sp>
      <p:sp>
        <p:nvSpPr>
          <p:cNvPr id="19" name="TextBox 18"/>
          <p:cNvSpPr txBox="1"/>
          <p:nvPr/>
        </p:nvSpPr>
        <p:spPr>
          <a:xfrm>
            <a:off x="3611880" y="5285232"/>
            <a:ext cx="2194560" cy="804672"/>
          </a:xfrm>
          <a:prstGeom prst="rect">
            <a:avLst/>
          </a:prstGeom>
          <a:noFill/>
        </p:spPr>
        <p:txBody>
          <a:bodyPr wrap="square">
            <a:spAutoFit/>
          </a:bodyPr>
          <a:lstStyle/>
          <a:p>
            <a:pPr algn="l"/>
            <a:r>
              <a:rPr sz="1100" b="0" i="0">
                <a:solidFill>
                  <a:srgbClr val="9D9D9F"/>
                </a:solidFill>
                <a:latin typeface="Satoshi"/>
              </a:rPr>
              <a:t>Leads who did not book a viewing followed up automatically for 6 weeks.</a:t>
            </a:r>
          </a:p>
        </p:txBody>
      </p:sp>
      <p:sp>
        <p:nvSpPr>
          <p:cNvPr id="20" name="Rounded Rectangle 19"/>
          <p:cNvSpPr/>
          <p:nvPr/>
        </p:nvSpPr>
        <p:spPr>
          <a:xfrm>
            <a:off x="608076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160520"/>
            <a:ext cx="548640" cy="384048"/>
          </a:xfrm>
          <a:prstGeom prst="rect">
            <a:avLst/>
          </a:prstGeom>
          <a:noFill/>
        </p:spPr>
        <p:txBody>
          <a:bodyPr wrap="square">
            <a:spAutoFit/>
          </a:bodyPr>
          <a:lstStyle/>
          <a:p>
            <a:pPr algn="l"/>
            <a:r>
              <a:rPr sz="2200" b="0" i="0">
                <a:solidFill>
                  <a:srgbClr val="A78BFA"/>
                </a:solidFill>
                <a:latin typeface="Instrument Serif"/>
              </a:rPr>
              <a:t>03</a:t>
            </a:r>
          </a:p>
        </p:txBody>
      </p:sp>
      <p:sp>
        <p:nvSpPr>
          <p:cNvPr id="22" name="TextBox 21"/>
          <p:cNvSpPr txBox="1"/>
          <p:nvPr/>
        </p:nvSpPr>
        <p:spPr>
          <a:xfrm>
            <a:off x="6309360" y="4617720"/>
            <a:ext cx="2194560" cy="594360"/>
          </a:xfrm>
          <a:prstGeom prst="rect">
            <a:avLst/>
          </a:prstGeom>
          <a:noFill/>
        </p:spPr>
        <p:txBody>
          <a:bodyPr wrap="square">
            <a:spAutoFit/>
          </a:bodyPr>
          <a:lstStyle/>
          <a:p>
            <a:pPr algn="l"/>
            <a:r>
              <a:rPr sz="1600" b="0" i="0">
                <a:solidFill>
                  <a:srgbClr val="FFFFFF"/>
                </a:solidFill>
                <a:latin typeface="Instrument Serif"/>
              </a:rPr>
              <a:t>Riversong:
B2B Routing</a:t>
            </a:r>
          </a:p>
        </p:txBody>
      </p:sp>
      <p:sp>
        <p:nvSpPr>
          <p:cNvPr id="23" name="TextBox 22"/>
          <p:cNvSpPr txBox="1"/>
          <p:nvPr/>
        </p:nvSpPr>
        <p:spPr>
          <a:xfrm>
            <a:off x="6309360" y="5285232"/>
            <a:ext cx="2194560" cy="804672"/>
          </a:xfrm>
          <a:prstGeom prst="rect">
            <a:avLst/>
          </a:prstGeom>
          <a:noFill/>
        </p:spPr>
        <p:txBody>
          <a:bodyPr wrap="square">
            <a:spAutoFit/>
          </a:bodyPr>
          <a:lstStyle/>
          <a:p>
            <a:pPr algn="l"/>
            <a:r>
              <a:rPr sz="1100" b="0" i="0">
                <a:solidFill>
                  <a:srgbClr val="9D9D9F"/>
                </a:solidFill>
                <a:latin typeface="Satoshi"/>
              </a:rPr>
              <a:t>Distributor and retailer enquiries qualified and routed without manual work.</a:t>
            </a:r>
          </a:p>
        </p:txBody>
      </p:sp>
      <p:sp>
        <p:nvSpPr>
          <p:cNvPr id="24" name="Rounded Rectangle 23"/>
          <p:cNvSpPr/>
          <p:nvPr/>
        </p:nvSpPr>
        <p:spPr>
          <a:xfrm>
            <a:off x="8778240" y="3977639"/>
            <a:ext cx="2560320" cy="242316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4160520"/>
            <a:ext cx="548640" cy="384048"/>
          </a:xfrm>
          <a:prstGeom prst="rect">
            <a:avLst/>
          </a:prstGeom>
          <a:noFill/>
        </p:spPr>
        <p:txBody>
          <a:bodyPr wrap="square">
            <a:spAutoFit/>
          </a:bodyPr>
          <a:lstStyle/>
          <a:p>
            <a:pPr algn="l"/>
            <a:r>
              <a:rPr sz="2200" b="0" i="0">
                <a:solidFill>
                  <a:srgbClr val="A78BFA"/>
                </a:solidFill>
                <a:latin typeface="Instrument Serif"/>
              </a:rPr>
              <a:t>04</a:t>
            </a:r>
          </a:p>
        </p:txBody>
      </p:sp>
      <p:sp>
        <p:nvSpPr>
          <p:cNvPr id="26" name="TextBox 25"/>
          <p:cNvSpPr txBox="1"/>
          <p:nvPr/>
        </p:nvSpPr>
        <p:spPr>
          <a:xfrm>
            <a:off x="9006840" y="4617720"/>
            <a:ext cx="2194560" cy="594360"/>
          </a:xfrm>
          <a:prstGeom prst="rect">
            <a:avLst/>
          </a:prstGeom>
          <a:noFill/>
        </p:spPr>
        <p:txBody>
          <a:bodyPr wrap="square">
            <a:spAutoFit/>
          </a:bodyPr>
          <a:lstStyle/>
          <a:p>
            <a:pPr algn="l"/>
            <a:r>
              <a:rPr sz="1600" b="0" i="0">
                <a:solidFill>
                  <a:srgbClr val="FFFFFF"/>
                </a:solidFill>
                <a:latin typeface="Instrument Serif"/>
              </a:rPr>
              <a:t>Riversong:
Support AI</a:t>
            </a:r>
          </a:p>
        </p:txBody>
      </p:sp>
      <p:sp>
        <p:nvSpPr>
          <p:cNvPr id="27" name="TextBox 26"/>
          <p:cNvSpPr txBox="1"/>
          <p:nvPr/>
        </p:nvSpPr>
        <p:spPr>
          <a:xfrm>
            <a:off x="9006840" y="5285232"/>
            <a:ext cx="2194560" cy="804672"/>
          </a:xfrm>
          <a:prstGeom prst="rect">
            <a:avLst/>
          </a:prstGeom>
          <a:noFill/>
        </p:spPr>
        <p:txBody>
          <a:bodyPr wrap="square">
            <a:spAutoFit/>
          </a:bodyPr>
          <a:lstStyle/>
          <a:p>
            <a:pPr algn="l"/>
            <a:r>
              <a:rPr sz="1100" b="0" i="0">
                <a:solidFill>
                  <a:srgbClr val="9D9D9F"/>
                </a:solidFill>
                <a:latin typeface="Satoshi"/>
              </a:rPr>
              <a:t>Product support and warranty queries resolved by AI across all categories.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  .  AUTOMATION SYSTEMS</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05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FIVE AI SYSTEMS ACROSS BOTH BUSINESSES</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The Automation Blueprint</a:t>
            </a:r>
          </a:p>
        </p:txBody>
      </p:sp>
      <p:sp>
        <p:nvSpPr>
          <p:cNvPr id="9" name="Rounded Rectangle 8"/>
          <p:cNvSpPr/>
          <p:nvPr/>
        </p:nvSpPr>
        <p:spPr>
          <a:xfrm>
            <a:off x="685800"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24328"/>
            <a:ext cx="502920" cy="438912"/>
          </a:xfrm>
          <a:prstGeom prst="rect">
            <a:avLst/>
          </a:prstGeom>
          <a:noFill/>
        </p:spPr>
        <p:txBody>
          <a:bodyPr wrap="square">
            <a:spAutoFit/>
          </a:bodyPr>
          <a:lstStyle/>
          <a:p>
            <a:pPr algn="ctr"/>
            <a:r>
              <a:rPr sz="1600" b="1" i="0">
                <a:solidFill>
                  <a:srgbClr val="0A0A0F"/>
                </a:solidFill>
                <a:latin typeface="Satoshi"/>
              </a:rPr>
              <a:t>A</a:t>
            </a:r>
          </a:p>
        </p:txBody>
      </p:sp>
      <p:sp>
        <p:nvSpPr>
          <p:cNvPr id="12" name="TextBox 11"/>
          <p:cNvSpPr txBox="1"/>
          <p:nvPr/>
        </p:nvSpPr>
        <p:spPr>
          <a:xfrm>
            <a:off x="868680" y="3246120"/>
            <a:ext cx="1691640" cy="685800"/>
          </a:xfrm>
          <a:prstGeom prst="rect">
            <a:avLst/>
          </a:prstGeom>
          <a:noFill/>
        </p:spPr>
        <p:txBody>
          <a:bodyPr wrap="square">
            <a:spAutoFit/>
          </a:bodyPr>
          <a:lstStyle/>
          <a:p>
            <a:pPr algn="l"/>
            <a:r>
              <a:rPr sz="1500" b="0" i="0">
                <a:solidFill>
                  <a:srgbClr val="FFFFFF"/>
                </a:solidFill>
                <a:latin typeface="Instrument Serif"/>
              </a:rPr>
              <a:t>Reve:
Inquiry AI</a:t>
            </a:r>
          </a:p>
        </p:txBody>
      </p:sp>
      <p:sp>
        <p:nvSpPr>
          <p:cNvPr id="13" name="TextBox 12"/>
          <p:cNvSpPr txBox="1"/>
          <p:nvPr/>
        </p:nvSpPr>
        <p:spPr>
          <a:xfrm>
            <a:off x="868680" y="4005072"/>
            <a:ext cx="1691640" cy="502920"/>
          </a:xfrm>
          <a:prstGeom prst="rect">
            <a:avLst/>
          </a:prstGeom>
          <a:noFill/>
        </p:spPr>
        <p:txBody>
          <a:bodyPr wrap="square">
            <a:spAutoFit/>
          </a:bodyPr>
          <a:lstStyle/>
          <a:p>
            <a:pPr algn="l"/>
            <a:r>
              <a:rPr sz="1200" b="0" i="0">
                <a:solidFill>
                  <a:srgbClr val="9D9D9F"/>
                </a:solidFill>
                <a:latin typeface="Satoshi"/>
              </a:rPr>
              <a:t>WhatsApp &amp; web chat lead capture.</a:t>
            </a:r>
          </a:p>
        </p:txBody>
      </p:sp>
      <p:sp>
        <p:nvSpPr>
          <p:cNvPr id="14" name="Rounded Rectangle 13"/>
          <p:cNvSpPr/>
          <p:nvPr/>
        </p:nvSpPr>
        <p:spPr>
          <a:xfrm>
            <a:off x="2898648"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7248"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27248" y="2624328"/>
            <a:ext cx="502920" cy="438912"/>
          </a:xfrm>
          <a:prstGeom prst="rect">
            <a:avLst/>
          </a:prstGeom>
          <a:noFill/>
        </p:spPr>
        <p:txBody>
          <a:bodyPr wrap="square">
            <a:spAutoFit/>
          </a:bodyPr>
          <a:lstStyle/>
          <a:p>
            <a:pPr algn="ctr"/>
            <a:r>
              <a:rPr sz="1600" b="1" i="0">
                <a:solidFill>
                  <a:srgbClr val="0A0A0F"/>
                </a:solidFill>
                <a:latin typeface="Satoshi"/>
              </a:rPr>
              <a:t>B</a:t>
            </a:r>
          </a:p>
        </p:txBody>
      </p:sp>
      <p:sp>
        <p:nvSpPr>
          <p:cNvPr id="17" name="TextBox 16"/>
          <p:cNvSpPr txBox="1"/>
          <p:nvPr/>
        </p:nvSpPr>
        <p:spPr>
          <a:xfrm>
            <a:off x="3081528" y="3246120"/>
            <a:ext cx="1691640" cy="685800"/>
          </a:xfrm>
          <a:prstGeom prst="rect">
            <a:avLst/>
          </a:prstGeom>
          <a:noFill/>
        </p:spPr>
        <p:txBody>
          <a:bodyPr wrap="square">
            <a:spAutoFit/>
          </a:bodyPr>
          <a:lstStyle/>
          <a:p>
            <a:pPr algn="l"/>
            <a:r>
              <a:rPr sz="1500" b="0" i="0">
                <a:solidFill>
                  <a:srgbClr val="FFFFFF"/>
                </a:solidFill>
                <a:latin typeface="Instrument Serif"/>
              </a:rPr>
              <a:t>Reve:
Nurture &amp; Visa AI</a:t>
            </a:r>
          </a:p>
        </p:txBody>
      </p:sp>
      <p:sp>
        <p:nvSpPr>
          <p:cNvPr id="18" name="TextBox 17"/>
          <p:cNvSpPr txBox="1"/>
          <p:nvPr/>
        </p:nvSpPr>
        <p:spPr>
          <a:xfrm>
            <a:off x="3081528" y="4005072"/>
            <a:ext cx="1691640" cy="502920"/>
          </a:xfrm>
          <a:prstGeom prst="rect">
            <a:avLst/>
          </a:prstGeom>
          <a:noFill/>
        </p:spPr>
        <p:txBody>
          <a:bodyPr wrap="square">
            <a:spAutoFit/>
          </a:bodyPr>
          <a:lstStyle/>
          <a:p>
            <a:pPr algn="l"/>
            <a:r>
              <a:rPr sz="1200" b="0" i="0">
                <a:solidFill>
                  <a:srgbClr val="9D9D9F"/>
                </a:solidFill>
                <a:latin typeface="Satoshi"/>
              </a:rPr>
              <a:t>Investor follow-up and Golden Visa funnel.</a:t>
            </a:r>
          </a:p>
        </p:txBody>
      </p:sp>
      <p:sp>
        <p:nvSpPr>
          <p:cNvPr id="19" name="Rounded Rectangle 18"/>
          <p:cNvSpPr/>
          <p:nvPr/>
        </p:nvSpPr>
        <p:spPr>
          <a:xfrm>
            <a:off x="5111496"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40096"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0096" y="2624328"/>
            <a:ext cx="502920" cy="438912"/>
          </a:xfrm>
          <a:prstGeom prst="rect">
            <a:avLst/>
          </a:prstGeom>
          <a:noFill/>
        </p:spPr>
        <p:txBody>
          <a:bodyPr wrap="square">
            <a:spAutoFit/>
          </a:bodyPr>
          <a:lstStyle/>
          <a:p>
            <a:pPr algn="ctr"/>
            <a:r>
              <a:rPr sz="1600" b="1" i="0">
                <a:solidFill>
                  <a:srgbClr val="0A0A0F"/>
                </a:solidFill>
                <a:latin typeface="Satoshi"/>
              </a:rPr>
              <a:t>C</a:t>
            </a:r>
          </a:p>
        </p:txBody>
      </p:sp>
      <p:sp>
        <p:nvSpPr>
          <p:cNvPr id="22" name="TextBox 21"/>
          <p:cNvSpPr txBox="1"/>
          <p:nvPr/>
        </p:nvSpPr>
        <p:spPr>
          <a:xfrm>
            <a:off x="5294376" y="3246120"/>
            <a:ext cx="1691640" cy="685800"/>
          </a:xfrm>
          <a:prstGeom prst="rect">
            <a:avLst/>
          </a:prstGeom>
          <a:noFill/>
        </p:spPr>
        <p:txBody>
          <a:bodyPr wrap="square">
            <a:spAutoFit/>
          </a:bodyPr>
          <a:lstStyle/>
          <a:p>
            <a:pPr algn="l"/>
            <a:r>
              <a:rPr sz="1500" b="0" i="0">
                <a:solidFill>
                  <a:srgbClr val="FFFFFF"/>
                </a:solidFill>
                <a:latin typeface="Instrument Serif"/>
              </a:rPr>
              <a:t>Riversong:
B2B Inquiry AI</a:t>
            </a:r>
          </a:p>
        </p:txBody>
      </p:sp>
      <p:sp>
        <p:nvSpPr>
          <p:cNvPr id="23" name="TextBox 22"/>
          <p:cNvSpPr txBox="1"/>
          <p:nvPr/>
        </p:nvSpPr>
        <p:spPr>
          <a:xfrm>
            <a:off x="5294376" y="4005072"/>
            <a:ext cx="1691640" cy="502920"/>
          </a:xfrm>
          <a:prstGeom prst="rect">
            <a:avLst/>
          </a:prstGeom>
          <a:noFill/>
        </p:spPr>
        <p:txBody>
          <a:bodyPr wrap="square">
            <a:spAutoFit/>
          </a:bodyPr>
          <a:lstStyle/>
          <a:p>
            <a:pPr algn="l"/>
            <a:r>
              <a:rPr sz="1200" b="0" i="0">
                <a:solidFill>
                  <a:srgbClr val="9D9D9F"/>
                </a:solidFill>
                <a:latin typeface="Satoshi"/>
              </a:rPr>
              <a:t>Distributor &amp; retailer qualification.</a:t>
            </a:r>
          </a:p>
        </p:txBody>
      </p:sp>
      <p:sp>
        <p:nvSpPr>
          <p:cNvPr id="24" name="Rounded Rectangle 23"/>
          <p:cNvSpPr/>
          <p:nvPr/>
        </p:nvSpPr>
        <p:spPr>
          <a:xfrm>
            <a:off x="7324344"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52944"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52944" y="2624328"/>
            <a:ext cx="502920" cy="438912"/>
          </a:xfrm>
          <a:prstGeom prst="rect">
            <a:avLst/>
          </a:prstGeom>
          <a:noFill/>
        </p:spPr>
        <p:txBody>
          <a:bodyPr wrap="square">
            <a:spAutoFit/>
          </a:bodyPr>
          <a:lstStyle/>
          <a:p>
            <a:pPr algn="ctr"/>
            <a:r>
              <a:rPr sz="1600" b="1" i="0">
                <a:solidFill>
                  <a:srgbClr val="0A0A0F"/>
                </a:solidFill>
                <a:latin typeface="Satoshi"/>
              </a:rPr>
              <a:t>D</a:t>
            </a:r>
          </a:p>
        </p:txBody>
      </p:sp>
      <p:sp>
        <p:nvSpPr>
          <p:cNvPr id="27" name="TextBox 26"/>
          <p:cNvSpPr txBox="1"/>
          <p:nvPr/>
        </p:nvSpPr>
        <p:spPr>
          <a:xfrm>
            <a:off x="7507224" y="3246120"/>
            <a:ext cx="1691640" cy="685800"/>
          </a:xfrm>
          <a:prstGeom prst="rect">
            <a:avLst/>
          </a:prstGeom>
          <a:noFill/>
        </p:spPr>
        <p:txBody>
          <a:bodyPr wrap="square">
            <a:spAutoFit/>
          </a:bodyPr>
          <a:lstStyle/>
          <a:p>
            <a:pPr algn="l"/>
            <a:r>
              <a:rPr sz="1500" b="0" i="0">
                <a:solidFill>
                  <a:srgbClr val="FFFFFF"/>
                </a:solidFill>
                <a:latin typeface="Instrument Serif"/>
              </a:rPr>
              <a:t>Riversong:
Support AI</a:t>
            </a:r>
          </a:p>
        </p:txBody>
      </p:sp>
      <p:sp>
        <p:nvSpPr>
          <p:cNvPr id="28" name="TextBox 27"/>
          <p:cNvSpPr txBox="1"/>
          <p:nvPr/>
        </p:nvSpPr>
        <p:spPr>
          <a:xfrm>
            <a:off x="7507224" y="4005072"/>
            <a:ext cx="1691640" cy="502920"/>
          </a:xfrm>
          <a:prstGeom prst="rect">
            <a:avLst/>
          </a:prstGeom>
          <a:noFill/>
        </p:spPr>
        <p:txBody>
          <a:bodyPr wrap="square">
            <a:spAutoFit/>
          </a:bodyPr>
          <a:lstStyle/>
          <a:p>
            <a:pPr algn="l"/>
            <a:r>
              <a:rPr sz="1200" b="0" i="0">
                <a:solidFill>
                  <a:srgbClr val="9D9D9F"/>
                </a:solidFill>
                <a:latin typeface="Satoshi"/>
              </a:rPr>
              <a:t>Product support and post-purchase.</a:t>
            </a:r>
          </a:p>
        </p:txBody>
      </p:sp>
      <p:sp>
        <p:nvSpPr>
          <p:cNvPr id="29" name="Rounded Rectangle 28"/>
          <p:cNvSpPr/>
          <p:nvPr/>
        </p:nvSpPr>
        <p:spPr>
          <a:xfrm>
            <a:off x="9537192" y="2377440"/>
            <a:ext cx="2057400" cy="3749039"/>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65792" y="2606040"/>
            <a:ext cx="502920" cy="502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65792" y="2624328"/>
            <a:ext cx="502920" cy="438912"/>
          </a:xfrm>
          <a:prstGeom prst="rect">
            <a:avLst/>
          </a:prstGeom>
          <a:noFill/>
        </p:spPr>
        <p:txBody>
          <a:bodyPr wrap="square">
            <a:spAutoFit/>
          </a:bodyPr>
          <a:lstStyle/>
          <a:p>
            <a:pPr algn="ctr"/>
            <a:r>
              <a:rPr sz="1600" b="1" i="0">
                <a:solidFill>
                  <a:srgbClr val="0A0A0F"/>
                </a:solidFill>
                <a:latin typeface="Satoshi"/>
              </a:rPr>
              <a:t>E</a:t>
            </a:r>
          </a:p>
        </p:txBody>
      </p:sp>
      <p:sp>
        <p:nvSpPr>
          <p:cNvPr id="32" name="TextBox 31"/>
          <p:cNvSpPr txBox="1"/>
          <p:nvPr/>
        </p:nvSpPr>
        <p:spPr>
          <a:xfrm>
            <a:off x="9720072" y="3246120"/>
            <a:ext cx="1691640" cy="685800"/>
          </a:xfrm>
          <a:prstGeom prst="rect">
            <a:avLst/>
          </a:prstGeom>
          <a:noFill/>
        </p:spPr>
        <p:txBody>
          <a:bodyPr wrap="square">
            <a:spAutoFit/>
          </a:bodyPr>
          <a:lstStyle/>
          <a:p>
            <a:pPr algn="l"/>
            <a:r>
              <a:rPr sz="1500" b="0" i="0">
                <a:solidFill>
                  <a:srgbClr val="FFFFFF"/>
                </a:solidFill>
                <a:latin typeface="Instrument Serif"/>
              </a:rPr>
              <a:t>Cross-Business:
CRM AI</a:t>
            </a:r>
          </a:p>
        </p:txBody>
      </p:sp>
      <p:sp>
        <p:nvSpPr>
          <p:cNvPr id="33" name="TextBox 32"/>
          <p:cNvSpPr txBox="1"/>
          <p:nvPr/>
        </p:nvSpPr>
        <p:spPr>
          <a:xfrm>
            <a:off x="9720072" y="4005072"/>
            <a:ext cx="1691640" cy="502920"/>
          </a:xfrm>
          <a:prstGeom prst="rect">
            <a:avLst/>
          </a:prstGeom>
          <a:noFill/>
        </p:spPr>
        <p:txBody>
          <a:bodyPr wrap="square">
            <a:spAutoFit/>
          </a:bodyPr>
          <a:lstStyle/>
          <a:p>
            <a:pPr algn="l"/>
            <a:r>
              <a:rPr sz="1200" b="0" i="0">
                <a:solidFill>
                  <a:srgbClr val="9D9D9F"/>
                </a:solidFill>
                <a:latin typeface="Satoshi"/>
              </a:rPr>
              <a:t>Unified pipeline and executive reporting.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04A  .  REVE INQUIRY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06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A  --  REVE REAL ESTATE</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Property Inquiry AI</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400" b="0" i="0">
                <a:solidFill>
                  <a:srgbClr val="86868A"/>
                </a:solidFill>
                <a:latin typeface="Satoshi"/>
              </a:rPr>
              <a:t>Every buyer or investor who lands on Reve Real Estate's website or WhatsApp enters a structured intake -- before a single agent is involved.</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WhatsApp inquiry agent</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A WhatsApp AI number displayed on the Reve website captures buyer intent: budget range, preferred developer (Emaar, Damac, Meraas), location, timeline.</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Web chat lead intake</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An AI chat widget on every property listing page captures visitor details and property interest before the visitor exits.</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Buyer qualification scoring</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Leads scored by budget, readiness, and property type. Qualified leads routed to an agent with full context; warm leads enter nurture.</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Developer launch alerts</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Buyers who expressed interest in Emaar or Damac launches receive automated alerts when new projects in their criteria are released.</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Multi-language intake</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Arabic, English, and French intake flows for the London, Beirut, and Dubai markets -- each routed to the appropriate regional team.</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REVE WEBSITE GAP</a:t>
            </a:r>
          </a:p>
        </p:txBody>
      </p:sp>
      <p:sp>
        <p:nvSpPr>
          <p:cNvPr id="28" name="TextBox 27"/>
          <p:cNvSpPr txBox="1"/>
          <p:nvPr/>
        </p:nvSpPr>
        <p:spPr>
          <a:xfrm>
            <a:off x="7132320" y="3291840"/>
            <a:ext cx="4114800" cy="502920"/>
          </a:xfrm>
          <a:prstGeom prst="rect">
            <a:avLst/>
          </a:prstGeom>
          <a:noFill/>
        </p:spPr>
        <p:txBody>
          <a:bodyPr wrap="square">
            <a:spAutoFit/>
          </a:bodyPr>
          <a:lstStyle/>
          <a:p>
            <a:pPr algn="l"/>
            <a:r>
              <a:rPr sz="1600" b="0" i="0">
                <a:solidFill>
                  <a:srgbClr val="FFFFFF"/>
                </a:solidFill>
                <a:latin typeface="Instrument Serif"/>
              </a:rPr>
              <a:t>A buyer landing on reverealestates.com</a:t>
            </a:r>
          </a:p>
        </p:txBody>
      </p:sp>
      <p:sp>
        <p:nvSpPr>
          <p:cNvPr id="29" name="TextBox 28"/>
          <p:cNvSpPr txBox="1"/>
          <p:nvPr/>
        </p:nvSpPr>
        <p:spPr>
          <a:xfrm>
            <a:off x="7132320" y="3822191"/>
            <a:ext cx="4114800" cy="502920"/>
          </a:xfrm>
          <a:prstGeom prst="rect">
            <a:avLst/>
          </a:prstGeom>
          <a:noFill/>
        </p:spPr>
        <p:txBody>
          <a:bodyPr wrap="square">
            <a:spAutoFit/>
          </a:bodyPr>
          <a:lstStyle/>
          <a:p>
            <a:pPr algn="l"/>
            <a:r>
              <a:rPr sz="1600" b="0" i="0">
                <a:solidFill>
                  <a:srgbClr val="F87171"/>
                </a:solidFill>
                <a:latin typeface="Instrument Serif"/>
              </a:rPr>
              <a:t>has no immediate way to inquire.</a:t>
            </a:r>
          </a:p>
        </p:txBody>
      </p:sp>
      <p:sp>
        <p:nvSpPr>
          <p:cNvPr id="30" name="TextBox 29"/>
          <p:cNvSpPr txBox="1"/>
          <p:nvPr/>
        </p:nvSpPr>
        <p:spPr>
          <a:xfrm>
            <a:off x="7132320" y="4434840"/>
            <a:ext cx="4114800" cy="685800"/>
          </a:xfrm>
          <a:prstGeom prst="rect">
            <a:avLst/>
          </a:prstGeom>
          <a:noFill/>
        </p:spPr>
        <p:txBody>
          <a:bodyPr wrap="square">
            <a:spAutoFit/>
          </a:bodyPr>
          <a:lstStyle/>
          <a:p>
            <a:pPr algn="l"/>
            <a:r>
              <a:rPr sz="1100" b="0" i="0">
                <a:solidFill>
                  <a:srgbClr val="9D9D9F"/>
                </a:solidFill>
                <a:latin typeface="Satoshi"/>
              </a:rPr>
              <a:t>No chat, no WhatsApp, no form above the fold. Every high-intent visitor who leaves is lost. The inquiry AI fixes this from week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04B  .  REVE NURTURE &amp; GOLDEN VISA</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07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B  --  REVE REAL ESTATE</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200" b="0" i="0">
                <a:solidFill>
                  <a:srgbClr val="FFFFFF"/>
                </a:solidFill>
                <a:latin typeface="Instrument Serif"/>
              </a:rPr>
              <a:t>Investor Nurture &amp; Golden Visa Funnel</a:t>
            </a:r>
          </a:p>
        </p:txBody>
      </p:sp>
      <p:sp>
        <p:nvSpPr>
          <p:cNvPr id="9" name="TextBox 8"/>
          <p:cNvSpPr txBox="1"/>
          <p:nvPr/>
        </p:nvSpPr>
        <p:spPr>
          <a:xfrm>
            <a:off x="685800" y="1965960"/>
            <a:ext cx="5943600" cy="384048"/>
          </a:xfrm>
          <a:prstGeom prst="rect">
            <a:avLst/>
          </a:prstGeom>
          <a:noFill/>
        </p:spPr>
        <p:txBody>
          <a:bodyPr wrap="square">
            <a:spAutoFit/>
          </a:bodyPr>
          <a:lstStyle/>
          <a:p>
            <a:pPr algn="l"/>
            <a:r>
              <a:rPr sz="1300" b="0" i="0">
                <a:solidFill>
                  <a:srgbClr val="86868A"/>
                </a:solidFill>
                <a:latin typeface="Satoshi"/>
              </a:rPr>
              <a:t>Most real estate deals close on the fourth or fifth follow-up. Most Golden Visa enquiries require education before conversion. Both need an automated system -- not a spreadsheet.</a:t>
            </a:r>
          </a:p>
        </p:txBody>
      </p:sp>
      <p:sp>
        <p:nvSpPr>
          <p:cNvPr id="10" name="Rectangle 9"/>
          <p:cNvSpPr/>
          <p:nvPr/>
        </p:nvSpPr>
        <p:spPr>
          <a:xfrm>
            <a:off x="685800" y="246888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651760"/>
            <a:ext cx="5486400" cy="274320"/>
          </a:xfrm>
          <a:prstGeom prst="rect">
            <a:avLst/>
          </a:prstGeom>
          <a:noFill/>
        </p:spPr>
        <p:txBody>
          <a:bodyPr wrap="square">
            <a:spAutoFit/>
          </a:bodyPr>
          <a:lstStyle/>
          <a:p>
            <a:pPr algn="l"/>
            <a:r>
              <a:rPr sz="1000" b="1" i="0">
                <a:solidFill>
                  <a:srgbClr val="A78BFA"/>
                </a:solidFill>
                <a:latin typeface="Satoshi"/>
              </a:rPr>
              <a:t>INVESTOR NURTURE SEQUENCES</a:t>
            </a:r>
          </a:p>
        </p:txBody>
      </p:sp>
      <p:sp>
        <p:nvSpPr>
          <p:cNvPr id="12" name="TextBox 11"/>
          <p:cNvSpPr txBox="1"/>
          <p:nvPr/>
        </p:nvSpPr>
        <p:spPr>
          <a:xfrm>
            <a:off x="685800" y="292608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3" name="TextBox 12"/>
          <p:cNvSpPr txBox="1"/>
          <p:nvPr/>
        </p:nvSpPr>
        <p:spPr>
          <a:xfrm>
            <a:off x="960120" y="2926080"/>
            <a:ext cx="4937760" cy="237744"/>
          </a:xfrm>
          <a:prstGeom prst="rect">
            <a:avLst/>
          </a:prstGeom>
          <a:noFill/>
        </p:spPr>
        <p:txBody>
          <a:bodyPr wrap="square">
            <a:spAutoFit/>
          </a:bodyPr>
          <a:lstStyle/>
          <a:p>
            <a:pPr algn="l"/>
            <a:r>
              <a:rPr sz="1200" b="1" i="0">
                <a:solidFill>
                  <a:srgbClr val="FFFFFF"/>
                </a:solidFill>
                <a:latin typeface="Satoshi"/>
              </a:rPr>
              <a:t>Viewing no-show recovery</a:t>
            </a:r>
          </a:p>
        </p:txBody>
      </p:sp>
      <p:sp>
        <p:nvSpPr>
          <p:cNvPr id="14" name="TextBox 13"/>
          <p:cNvSpPr txBox="1"/>
          <p:nvPr/>
        </p:nvSpPr>
        <p:spPr>
          <a:xfrm>
            <a:off x="960120" y="3172968"/>
            <a:ext cx="4937760" cy="347472"/>
          </a:xfrm>
          <a:prstGeom prst="rect">
            <a:avLst/>
          </a:prstGeom>
          <a:noFill/>
        </p:spPr>
        <p:txBody>
          <a:bodyPr wrap="square">
            <a:spAutoFit/>
          </a:bodyPr>
          <a:lstStyle/>
          <a:p>
            <a:pPr algn="l"/>
            <a:r>
              <a:rPr sz="1100" b="0" i="0">
                <a:solidFill>
                  <a:srgbClr val="9D9D9F"/>
                </a:solidFill>
                <a:latin typeface="Satoshi"/>
              </a:rPr>
              <a:t>Leads who booked a viewing but did not attend receive an automated re-engagement within 2 hours -- reschedule prompt with a different property.</a:t>
            </a:r>
          </a:p>
        </p:txBody>
      </p:sp>
      <p:sp>
        <p:nvSpPr>
          <p:cNvPr id="15" name="TextBox 14"/>
          <p:cNvSpPr txBox="1"/>
          <p:nvPr/>
        </p:nvSpPr>
        <p:spPr>
          <a:xfrm>
            <a:off x="685800" y="358444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6" name="TextBox 15"/>
          <p:cNvSpPr txBox="1"/>
          <p:nvPr/>
        </p:nvSpPr>
        <p:spPr>
          <a:xfrm>
            <a:off x="960120" y="3584448"/>
            <a:ext cx="4937760" cy="237744"/>
          </a:xfrm>
          <a:prstGeom prst="rect">
            <a:avLst/>
          </a:prstGeom>
          <a:noFill/>
        </p:spPr>
        <p:txBody>
          <a:bodyPr wrap="square">
            <a:spAutoFit/>
          </a:bodyPr>
          <a:lstStyle/>
          <a:p>
            <a:pPr algn="l"/>
            <a:r>
              <a:rPr sz="1200" b="1" i="0">
                <a:solidFill>
                  <a:srgbClr val="FFFFFF"/>
                </a:solidFill>
                <a:latin typeface="Satoshi"/>
              </a:rPr>
              <a:t>Cold lead reactivation</a:t>
            </a:r>
          </a:p>
        </p:txBody>
      </p:sp>
      <p:sp>
        <p:nvSpPr>
          <p:cNvPr id="17" name="TextBox 16"/>
          <p:cNvSpPr txBox="1"/>
          <p:nvPr/>
        </p:nvSpPr>
        <p:spPr>
          <a:xfrm>
            <a:off x="960120" y="3831336"/>
            <a:ext cx="4937760" cy="347472"/>
          </a:xfrm>
          <a:prstGeom prst="rect">
            <a:avLst/>
          </a:prstGeom>
          <a:noFill/>
        </p:spPr>
        <p:txBody>
          <a:bodyPr wrap="square">
            <a:spAutoFit/>
          </a:bodyPr>
          <a:lstStyle/>
          <a:p>
            <a:pPr algn="l"/>
            <a:r>
              <a:rPr sz="1100" b="0" i="0">
                <a:solidFill>
                  <a:srgbClr val="9D9D9F"/>
                </a:solidFill>
                <a:latin typeface="Satoshi"/>
              </a:rPr>
              <a:t>Enquiries older than 30 days with no response receive a new sequence: market update, price movement data, and a relevant project recommendation.</a:t>
            </a:r>
          </a:p>
        </p:txBody>
      </p:sp>
      <p:sp>
        <p:nvSpPr>
          <p:cNvPr id="18" name="TextBox 17"/>
          <p:cNvSpPr txBox="1"/>
          <p:nvPr/>
        </p:nvSpPr>
        <p:spPr>
          <a:xfrm>
            <a:off x="685800" y="424281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9" name="TextBox 18"/>
          <p:cNvSpPr txBox="1"/>
          <p:nvPr/>
        </p:nvSpPr>
        <p:spPr>
          <a:xfrm>
            <a:off x="960120" y="4242816"/>
            <a:ext cx="4937760" cy="237744"/>
          </a:xfrm>
          <a:prstGeom prst="rect">
            <a:avLst/>
          </a:prstGeom>
          <a:noFill/>
        </p:spPr>
        <p:txBody>
          <a:bodyPr wrap="square">
            <a:spAutoFit/>
          </a:bodyPr>
          <a:lstStyle/>
          <a:p>
            <a:pPr algn="l"/>
            <a:r>
              <a:rPr sz="1200" b="1" i="0">
                <a:solidFill>
                  <a:srgbClr val="FFFFFF"/>
                </a:solidFill>
                <a:latin typeface="Satoshi"/>
              </a:rPr>
              <a:t>Quarterly investor update</a:t>
            </a:r>
          </a:p>
        </p:txBody>
      </p:sp>
      <p:sp>
        <p:nvSpPr>
          <p:cNvPr id="20" name="TextBox 19"/>
          <p:cNvSpPr txBox="1"/>
          <p:nvPr/>
        </p:nvSpPr>
        <p:spPr>
          <a:xfrm>
            <a:off x="960120" y="4489704"/>
            <a:ext cx="4937760" cy="347472"/>
          </a:xfrm>
          <a:prstGeom prst="rect">
            <a:avLst/>
          </a:prstGeom>
          <a:noFill/>
        </p:spPr>
        <p:txBody>
          <a:bodyPr wrap="square">
            <a:spAutoFit/>
          </a:bodyPr>
          <a:lstStyle/>
          <a:p>
            <a:pPr algn="l"/>
            <a:r>
              <a:rPr sz="1100" b="0" i="0">
                <a:solidFill>
                  <a:srgbClr val="9D9D9F"/>
                </a:solidFill>
                <a:latin typeface="Satoshi"/>
              </a:rPr>
              <a:t>All leads in the pipeline receive a quarterly Dubai market data summary maintaining Reve's presence without agent effort.</a:t>
            </a:r>
          </a:p>
        </p:txBody>
      </p:sp>
      <p:sp>
        <p:nvSpPr>
          <p:cNvPr id="21" name="TextBox 20"/>
          <p:cNvSpPr txBox="1"/>
          <p:nvPr/>
        </p:nvSpPr>
        <p:spPr>
          <a:xfrm>
            <a:off x="685800" y="490118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2" name="TextBox 21"/>
          <p:cNvSpPr txBox="1"/>
          <p:nvPr/>
        </p:nvSpPr>
        <p:spPr>
          <a:xfrm>
            <a:off x="960120" y="4901184"/>
            <a:ext cx="4937760" cy="237744"/>
          </a:xfrm>
          <a:prstGeom prst="rect">
            <a:avLst/>
          </a:prstGeom>
          <a:noFill/>
        </p:spPr>
        <p:txBody>
          <a:bodyPr wrap="square">
            <a:spAutoFit/>
          </a:bodyPr>
          <a:lstStyle/>
          <a:p>
            <a:pPr algn="l"/>
            <a:r>
              <a:rPr sz="1200" b="1" i="0">
                <a:solidFill>
                  <a:srgbClr val="FFFFFF"/>
                </a:solidFill>
                <a:latin typeface="Satoshi"/>
              </a:rPr>
              <a:t>Referral trigger</a:t>
            </a:r>
          </a:p>
        </p:txBody>
      </p:sp>
      <p:sp>
        <p:nvSpPr>
          <p:cNvPr id="23" name="TextBox 22"/>
          <p:cNvSpPr txBox="1"/>
          <p:nvPr/>
        </p:nvSpPr>
        <p:spPr>
          <a:xfrm>
            <a:off x="960120" y="5148072"/>
            <a:ext cx="4937760" cy="347472"/>
          </a:xfrm>
          <a:prstGeom prst="rect">
            <a:avLst/>
          </a:prstGeom>
          <a:noFill/>
        </p:spPr>
        <p:txBody>
          <a:bodyPr wrap="square">
            <a:spAutoFit/>
          </a:bodyPr>
          <a:lstStyle/>
          <a:p>
            <a:pPr algn="l"/>
            <a:r>
              <a:rPr sz="1100" b="0" i="0">
                <a:solidFill>
                  <a:srgbClr val="9D9D9F"/>
                </a:solidFill>
                <a:latin typeface="Satoshi"/>
              </a:rPr>
              <a:t>Clients who completed a purchase receive an automated referral prompt at 60 days post-handover -- the highest NPS moment in the transaction.</a:t>
            </a:r>
          </a:p>
        </p:txBody>
      </p:sp>
      <p:sp>
        <p:nvSpPr>
          <p:cNvPr id="24" name="TextBox 23"/>
          <p:cNvSpPr txBox="1"/>
          <p:nvPr/>
        </p:nvSpPr>
        <p:spPr>
          <a:xfrm>
            <a:off x="6263640" y="2651760"/>
            <a:ext cx="5486400" cy="274320"/>
          </a:xfrm>
          <a:prstGeom prst="rect">
            <a:avLst/>
          </a:prstGeom>
          <a:noFill/>
        </p:spPr>
        <p:txBody>
          <a:bodyPr wrap="square">
            <a:spAutoFit/>
          </a:bodyPr>
          <a:lstStyle/>
          <a:p>
            <a:pPr algn="l"/>
            <a:r>
              <a:rPr sz="1000" b="1" i="0">
                <a:solidFill>
                  <a:srgbClr val="A78BFA"/>
                </a:solidFill>
                <a:latin typeface="Satoshi"/>
              </a:rPr>
              <a:t>GOLDEN VISA CONSULTATION FUNNEL</a:t>
            </a:r>
          </a:p>
        </p:txBody>
      </p:sp>
      <p:sp>
        <p:nvSpPr>
          <p:cNvPr id="25" name="TextBox 24"/>
          <p:cNvSpPr txBox="1"/>
          <p:nvPr/>
        </p:nvSpPr>
        <p:spPr>
          <a:xfrm>
            <a:off x="6263640" y="292608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6" name="TextBox 25"/>
          <p:cNvSpPr txBox="1"/>
          <p:nvPr/>
        </p:nvSpPr>
        <p:spPr>
          <a:xfrm>
            <a:off x="6537960" y="2926080"/>
            <a:ext cx="4937760" cy="237744"/>
          </a:xfrm>
          <a:prstGeom prst="rect">
            <a:avLst/>
          </a:prstGeom>
          <a:noFill/>
        </p:spPr>
        <p:txBody>
          <a:bodyPr wrap="square">
            <a:spAutoFit/>
          </a:bodyPr>
          <a:lstStyle/>
          <a:p>
            <a:pPr algn="l"/>
            <a:r>
              <a:rPr sz="1200" b="1" i="0">
                <a:solidFill>
                  <a:srgbClr val="FFFFFF"/>
                </a:solidFill>
                <a:latin typeface="Satoshi"/>
              </a:rPr>
              <a:t>Qualification intake</a:t>
            </a:r>
          </a:p>
        </p:txBody>
      </p:sp>
      <p:sp>
        <p:nvSpPr>
          <p:cNvPr id="27" name="TextBox 26"/>
          <p:cNvSpPr txBox="1"/>
          <p:nvPr/>
        </p:nvSpPr>
        <p:spPr>
          <a:xfrm>
            <a:off x="6537960" y="3172968"/>
            <a:ext cx="4937760" cy="347472"/>
          </a:xfrm>
          <a:prstGeom prst="rect">
            <a:avLst/>
          </a:prstGeom>
          <a:noFill/>
        </p:spPr>
        <p:txBody>
          <a:bodyPr wrap="square">
            <a:spAutoFit/>
          </a:bodyPr>
          <a:lstStyle/>
          <a:p>
            <a:pPr algn="l"/>
            <a:r>
              <a:rPr sz="1100" b="0" i="0">
                <a:solidFill>
                  <a:srgbClr val="9D9D9F"/>
                </a:solidFill>
                <a:latin typeface="Satoshi"/>
              </a:rPr>
              <a:t>AI chat or form captures investment level, property type interest, nationality, and timeline for UAE residency by investment.</a:t>
            </a:r>
          </a:p>
        </p:txBody>
      </p:sp>
      <p:sp>
        <p:nvSpPr>
          <p:cNvPr id="28" name="TextBox 27"/>
          <p:cNvSpPr txBox="1"/>
          <p:nvPr/>
        </p:nvSpPr>
        <p:spPr>
          <a:xfrm>
            <a:off x="6263640" y="358444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9" name="TextBox 28"/>
          <p:cNvSpPr txBox="1"/>
          <p:nvPr/>
        </p:nvSpPr>
        <p:spPr>
          <a:xfrm>
            <a:off x="6537960" y="3584448"/>
            <a:ext cx="4937760" cy="237744"/>
          </a:xfrm>
          <a:prstGeom prst="rect">
            <a:avLst/>
          </a:prstGeom>
          <a:noFill/>
        </p:spPr>
        <p:txBody>
          <a:bodyPr wrap="square">
            <a:spAutoFit/>
          </a:bodyPr>
          <a:lstStyle/>
          <a:p>
            <a:pPr algn="l"/>
            <a:r>
              <a:rPr sz="1200" b="1" i="0">
                <a:solidFill>
                  <a:srgbClr val="FFFFFF"/>
                </a:solidFill>
                <a:latin typeface="Satoshi"/>
              </a:rPr>
              <a:t>Automated education sequence</a:t>
            </a:r>
          </a:p>
        </p:txBody>
      </p:sp>
      <p:sp>
        <p:nvSpPr>
          <p:cNvPr id="30" name="TextBox 29"/>
          <p:cNvSpPr txBox="1"/>
          <p:nvPr/>
        </p:nvSpPr>
        <p:spPr>
          <a:xfrm>
            <a:off x="6537960" y="3831336"/>
            <a:ext cx="4937760" cy="347472"/>
          </a:xfrm>
          <a:prstGeom prst="rect">
            <a:avLst/>
          </a:prstGeom>
          <a:noFill/>
        </p:spPr>
        <p:txBody>
          <a:bodyPr wrap="square">
            <a:spAutoFit/>
          </a:bodyPr>
          <a:lstStyle/>
          <a:p>
            <a:pPr algn="l"/>
            <a:r>
              <a:rPr sz="1100" b="0" i="0">
                <a:solidFill>
                  <a:srgbClr val="9D9D9F"/>
                </a:solidFill>
                <a:latin typeface="Satoshi"/>
              </a:rPr>
              <a:t>Qualified leads receive a 4-step email sequence: eligibility, property threshold ($545K+), process timeline, and FAQs.</a:t>
            </a:r>
          </a:p>
        </p:txBody>
      </p:sp>
      <p:sp>
        <p:nvSpPr>
          <p:cNvPr id="31" name="TextBox 30"/>
          <p:cNvSpPr txBox="1"/>
          <p:nvPr/>
        </p:nvSpPr>
        <p:spPr>
          <a:xfrm>
            <a:off x="6263640" y="424281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2" name="TextBox 31"/>
          <p:cNvSpPr txBox="1"/>
          <p:nvPr/>
        </p:nvSpPr>
        <p:spPr>
          <a:xfrm>
            <a:off x="6537960" y="4242816"/>
            <a:ext cx="4937760" cy="237744"/>
          </a:xfrm>
          <a:prstGeom prst="rect">
            <a:avLst/>
          </a:prstGeom>
          <a:noFill/>
        </p:spPr>
        <p:txBody>
          <a:bodyPr wrap="square">
            <a:spAutoFit/>
          </a:bodyPr>
          <a:lstStyle/>
          <a:p>
            <a:pPr algn="l"/>
            <a:r>
              <a:rPr sz="1200" b="1" i="0">
                <a:solidFill>
                  <a:srgbClr val="FFFFFF"/>
                </a:solidFill>
                <a:latin typeface="Satoshi"/>
              </a:rPr>
              <a:t>Call booking trigger</a:t>
            </a:r>
          </a:p>
        </p:txBody>
      </p:sp>
      <p:sp>
        <p:nvSpPr>
          <p:cNvPr id="33" name="TextBox 32"/>
          <p:cNvSpPr txBox="1"/>
          <p:nvPr/>
        </p:nvSpPr>
        <p:spPr>
          <a:xfrm>
            <a:off x="6537960" y="4489704"/>
            <a:ext cx="4937760" cy="347472"/>
          </a:xfrm>
          <a:prstGeom prst="rect">
            <a:avLst/>
          </a:prstGeom>
          <a:noFill/>
        </p:spPr>
        <p:txBody>
          <a:bodyPr wrap="square">
            <a:spAutoFit/>
          </a:bodyPr>
          <a:lstStyle/>
          <a:p>
            <a:pPr algn="l"/>
            <a:r>
              <a:rPr sz="1100" b="0" i="0">
                <a:solidFill>
                  <a:srgbClr val="9D9D9F"/>
                </a:solidFill>
                <a:latin typeface="Satoshi"/>
              </a:rPr>
              <a:t>Leads who complete the education sequence receive an automated invitation to book a 30-minute Golden Visa consultation call.</a:t>
            </a:r>
          </a:p>
        </p:txBody>
      </p:sp>
      <p:sp>
        <p:nvSpPr>
          <p:cNvPr id="34" name="TextBox 33"/>
          <p:cNvSpPr txBox="1"/>
          <p:nvPr/>
        </p:nvSpPr>
        <p:spPr>
          <a:xfrm>
            <a:off x="6263640" y="490118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5" name="TextBox 34"/>
          <p:cNvSpPr txBox="1"/>
          <p:nvPr/>
        </p:nvSpPr>
        <p:spPr>
          <a:xfrm>
            <a:off x="6537960" y="4901184"/>
            <a:ext cx="4937760" cy="237744"/>
          </a:xfrm>
          <a:prstGeom prst="rect">
            <a:avLst/>
          </a:prstGeom>
          <a:noFill/>
        </p:spPr>
        <p:txBody>
          <a:bodyPr wrap="square">
            <a:spAutoFit/>
          </a:bodyPr>
          <a:lstStyle/>
          <a:p>
            <a:pPr algn="l"/>
            <a:r>
              <a:rPr sz="1200" b="1" i="0">
                <a:solidFill>
                  <a:srgbClr val="FFFFFF"/>
                </a:solidFill>
                <a:latin typeface="Satoshi"/>
              </a:rPr>
              <a:t>CRM handover</a:t>
            </a:r>
          </a:p>
        </p:txBody>
      </p:sp>
      <p:sp>
        <p:nvSpPr>
          <p:cNvPr id="36" name="TextBox 35"/>
          <p:cNvSpPr txBox="1"/>
          <p:nvPr/>
        </p:nvSpPr>
        <p:spPr>
          <a:xfrm>
            <a:off x="6537960" y="5148072"/>
            <a:ext cx="4937760" cy="347472"/>
          </a:xfrm>
          <a:prstGeom prst="rect">
            <a:avLst/>
          </a:prstGeom>
          <a:noFill/>
        </p:spPr>
        <p:txBody>
          <a:bodyPr wrap="square">
            <a:spAutoFit/>
          </a:bodyPr>
          <a:lstStyle/>
          <a:p>
            <a:pPr algn="l"/>
            <a:r>
              <a:rPr sz="1100" b="0" i="0">
                <a:solidFill>
                  <a:srgbClr val="9D9D9F"/>
                </a:solidFill>
                <a:latin typeface="Satoshi"/>
              </a:rPr>
              <a:t>Qualified leads transferred to the Reve team with full intake data, education sequence completion status, and investment readiness 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04C  .  RIVERSONG B2B INQUIRY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08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C  --  RIVERSONG TECHNOLOGY</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400" b="0" i="0">
                <a:solidFill>
                  <a:srgbClr val="FFFFFF"/>
                </a:solidFill>
                <a:latin typeface="Instrument Serif"/>
              </a:rPr>
              <a:t>Distributor &amp; B2B Inquiry AI</a:t>
            </a:r>
          </a:p>
        </p:txBody>
      </p:sp>
      <p:sp>
        <p:nvSpPr>
          <p:cNvPr id="9" name="TextBox 8"/>
          <p:cNvSpPr txBox="1"/>
          <p:nvPr/>
        </p:nvSpPr>
        <p:spPr>
          <a:xfrm>
            <a:off x="685800" y="2011680"/>
            <a:ext cx="5943600" cy="384048"/>
          </a:xfrm>
          <a:prstGeom prst="rect">
            <a:avLst/>
          </a:prstGeom>
          <a:noFill/>
        </p:spPr>
        <p:txBody>
          <a:bodyPr wrap="square">
            <a:spAutoFit/>
          </a:bodyPr>
          <a:lstStyle/>
          <a:p>
            <a:pPr algn="l"/>
            <a:r>
              <a:rPr sz="1300" b="0" i="0">
                <a:solidFill>
                  <a:srgbClr val="86868A"/>
                </a:solidFill>
                <a:latin typeface="Satoshi"/>
              </a:rPr>
              <a:t>Riversong is expanding into the Levant, North Africa, and beyond. Every new distribution or retail partnership enquiry currently arrives cold. The B2B inquiry AI qualifies and routes them before any human time is spent.</a:t>
            </a:r>
          </a:p>
        </p:txBody>
      </p:sp>
      <p:sp>
        <p:nvSpPr>
          <p:cNvPr id="10" name="Rectangle 9"/>
          <p:cNvSpPr/>
          <p:nvPr/>
        </p:nvSpPr>
        <p:spPr>
          <a:xfrm>
            <a:off x="685800" y="251460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743200"/>
            <a:ext cx="4754880" cy="237744"/>
          </a:xfrm>
          <a:prstGeom prst="rect">
            <a:avLst/>
          </a:prstGeom>
          <a:noFill/>
        </p:spPr>
        <p:txBody>
          <a:bodyPr wrap="square">
            <a:spAutoFit/>
          </a:bodyPr>
          <a:lstStyle/>
          <a:p>
            <a:pPr algn="l"/>
            <a:r>
              <a:rPr sz="1300" b="1" i="0">
                <a:solidFill>
                  <a:srgbClr val="FFFFFF"/>
                </a:solidFill>
                <a:latin typeface="Satoshi"/>
              </a:rPr>
              <a:t>Territory and category qualification</a:t>
            </a:r>
          </a:p>
        </p:txBody>
      </p:sp>
      <p:sp>
        <p:nvSpPr>
          <p:cNvPr id="13" name="TextBox 12"/>
          <p:cNvSpPr txBox="1"/>
          <p:nvPr/>
        </p:nvSpPr>
        <p:spPr>
          <a:xfrm>
            <a:off x="960120" y="2990088"/>
            <a:ext cx="4754880" cy="347472"/>
          </a:xfrm>
          <a:prstGeom prst="rect">
            <a:avLst/>
          </a:prstGeom>
          <a:noFill/>
        </p:spPr>
        <p:txBody>
          <a:bodyPr wrap="square">
            <a:spAutoFit/>
          </a:bodyPr>
          <a:lstStyle/>
          <a:p>
            <a:pPr algn="l"/>
            <a:r>
              <a:rPr sz="1200" b="0" i="0">
                <a:solidFill>
                  <a:srgbClr val="9D9D9F"/>
                </a:solidFill>
                <a:latin typeface="Satoshi"/>
              </a:rPr>
              <a:t>AI chat captures enquiring company type (distributor, retailer, e-commerce), target territory, relevant product categories, and estimated order volume.</a:t>
            </a:r>
          </a:p>
        </p:txBody>
      </p:sp>
      <p:sp>
        <p:nvSpPr>
          <p:cNvPr id="14" name="TextBox 13"/>
          <p:cNvSpPr txBox="1"/>
          <p:nvPr/>
        </p:nvSpPr>
        <p:spPr>
          <a:xfrm>
            <a:off x="685800" y="340156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401568"/>
            <a:ext cx="4754880" cy="237744"/>
          </a:xfrm>
          <a:prstGeom prst="rect">
            <a:avLst/>
          </a:prstGeom>
          <a:noFill/>
        </p:spPr>
        <p:txBody>
          <a:bodyPr wrap="square">
            <a:spAutoFit/>
          </a:bodyPr>
          <a:lstStyle/>
          <a:p>
            <a:pPr algn="l"/>
            <a:r>
              <a:rPr sz="1300" b="1" i="0">
                <a:solidFill>
                  <a:srgbClr val="FFFFFF"/>
                </a:solidFill>
                <a:latin typeface="Satoshi"/>
              </a:rPr>
              <a:t>Partnership tier routing</a:t>
            </a:r>
          </a:p>
        </p:txBody>
      </p:sp>
      <p:sp>
        <p:nvSpPr>
          <p:cNvPr id="16" name="TextBox 15"/>
          <p:cNvSpPr txBox="1"/>
          <p:nvPr/>
        </p:nvSpPr>
        <p:spPr>
          <a:xfrm>
            <a:off x="960120" y="3648456"/>
            <a:ext cx="4754880" cy="347472"/>
          </a:xfrm>
          <a:prstGeom prst="rect">
            <a:avLst/>
          </a:prstGeom>
          <a:noFill/>
        </p:spPr>
        <p:txBody>
          <a:bodyPr wrap="square">
            <a:spAutoFit/>
          </a:bodyPr>
          <a:lstStyle/>
          <a:p>
            <a:pPr algn="l"/>
            <a:r>
              <a:rPr sz="1200" b="0" i="0">
                <a:solidFill>
                  <a:srgbClr val="9D9D9F"/>
                </a:solidFill>
                <a:latin typeface="Satoshi"/>
              </a:rPr>
              <a:t>Qualified leads routed to the appropriate Riversong regional contact. Levant enquiries go to Mutasem Shehadeh's pipeline; others routed by region.</a:t>
            </a:r>
          </a:p>
        </p:txBody>
      </p:sp>
      <p:sp>
        <p:nvSpPr>
          <p:cNvPr id="17" name="TextBox 16"/>
          <p:cNvSpPr txBox="1"/>
          <p:nvPr/>
        </p:nvSpPr>
        <p:spPr>
          <a:xfrm>
            <a:off x="685800" y="405993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59936"/>
            <a:ext cx="4754880" cy="237744"/>
          </a:xfrm>
          <a:prstGeom prst="rect">
            <a:avLst/>
          </a:prstGeom>
          <a:noFill/>
        </p:spPr>
        <p:txBody>
          <a:bodyPr wrap="square">
            <a:spAutoFit/>
          </a:bodyPr>
          <a:lstStyle/>
          <a:p>
            <a:pPr algn="l"/>
            <a:r>
              <a:rPr sz="1300" b="1" i="0">
                <a:solidFill>
                  <a:srgbClr val="FFFFFF"/>
                </a:solidFill>
                <a:latin typeface="Satoshi"/>
              </a:rPr>
              <a:t>Onboarding automation</a:t>
            </a:r>
          </a:p>
        </p:txBody>
      </p:sp>
      <p:sp>
        <p:nvSpPr>
          <p:cNvPr id="19" name="TextBox 18"/>
          <p:cNvSpPr txBox="1"/>
          <p:nvPr/>
        </p:nvSpPr>
        <p:spPr>
          <a:xfrm>
            <a:off x="960120" y="4306824"/>
            <a:ext cx="4754880" cy="347472"/>
          </a:xfrm>
          <a:prstGeom prst="rect">
            <a:avLst/>
          </a:prstGeom>
          <a:noFill/>
        </p:spPr>
        <p:txBody>
          <a:bodyPr wrap="square">
            <a:spAutoFit/>
          </a:bodyPr>
          <a:lstStyle/>
          <a:p>
            <a:pPr algn="l"/>
            <a:r>
              <a:rPr sz="1200" b="0" i="0">
                <a:solidFill>
                  <a:srgbClr val="9D9D9F"/>
                </a:solidFill>
                <a:latin typeface="Satoshi"/>
              </a:rPr>
              <a:t>New approved partners receive a structured onboarding sequence: product catalogue, pricing tiers, marketing assets, and compliance documents.</a:t>
            </a:r>
          </a:p>
        </p:txBody>
      </p:sp>
      <p:sp>
        <p:nvSpPr>
          <p:cNvPr id="20" name="TextBox 19"/>
          <p:cNvSpPr txBox="1"/>
          <p:nvPr/>
        </p:nvSpPr>
        <p:spPr>
          <a:xfrm>
            <a:off x="685800" y="471830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718304"/>
            <a:ext cx="4754880" cy="237744"/>
          </a:xfrm>
          <a:prstGeom prst="rect">
            <a:avLst/>
          </a:prstGeom>
          <a:noFill/>
        </p:spPr>
        <p:txBody>
          <a:bodyPr wrap="square">
            <a:spAutoFit/>
          </a:bodyPr>
          <a:lstStyle/>
          <a:p>
            <a:pPr algn="l"/>
            <a:r>
              <a:rPr sz="1300" b="1" i="0">
                <a:solidFill>
                  <a:srgbClr val="FFFFFF"/>
                </a:solidFill>
                <a:latin typeface="Satoshi"/>
              </a:rPr>
              <a:t>Product training sequences</a:t>
            </a:r>
          </a:p>
        </p:txBody>
      </p:sp>
      <p:sp>
        <p:nvSpPr>
          <p:cNvPr id="22" name="TextBox 21"/>
          <p:cNvSpPr txBox="1"/>
          <p:nvPr/>
        </p:nvSpPr>
        <p:spPr>
          <a:xfrm>
            <a:off x="960120" y="4965192"/>
            <a:ext cx="4754880" cy="347472"/>
          </a:xfrm>
          <a:prstGeom prst="rect">
            <a:avLst/>
          </a:prstGeom>
          <a:noFill/>
        </p:spPr>
        <p:txBody>
          <a:bodyPr wrap="square">
            <a:spAutoFit/>
          </a:bodyPr>
          <a:lstStyle/>
          <a:p>
            <a:pPr algn="l"/>
            <a:r>
              <a:rPr sz="1200" b="0" i="0">
                <a:solidFill>
                  <a:srgbClr val="9D9D9F"/>
                </a:solidFill>
                <a:latin typeface="Satoshi"/>
              </a:rPr>
              <a:t>New distributors and retailers receive automated product knowledge sequences for each category they carry -- reducing sales team load.</a:t>
            </a:r>
          </a:p>
        </p:txBody>
      </p:sp>
      <p:sp>
        <p:nvSpPr>
          <p:cNvPr id="23" name="TextBox 22"/>
          <p:cNvSpPr txBox="1"/>
          <p:nvPr/>
        </p:nvSpPr>
        <p:spPr>
          <a:xfrm>
            <a:off x="685800" y="5376672"/>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960120" y="5376672"/>
            <a:ext cx="4754880" cy="237744"/>
          </a:xfrm>
          <a:prstGeom prst="rect">
            <a:avLst/>
          </a:prstGeom>
          <a:noFill/>
        </p:spPr>
        <p:txBody>
          <a:bodyPr wrap="square">
            <a:spAutoFit/>
          </a:bodyPr>
          <a:lstStyle/>
          <a:p>
            <a:pPr algn="l"/>
            <a:r>
              <a:rPr sz="1300" b="1" i="0">
                <a:solidFill>
                  <a:srgbClr val="FFFFFF"/>
                </a:solidFill>
                <a:latin typeface="Satoshi"/>
              </a:rPr>
              <a:t>Partner performance check-ins</a:t>
            </a:r>
          </a:p>
        </p:txBody>
      </p:sp>
      <p:sp>
        <p:nvSpPr>
          <p:cNvPr id="25" name="TextBox 24"/>
          <p:cNvSpPr txBox="1"/>
          <p:nvPr/>
        </p:nvSpPr>
        <p:spPr>
          <a:xfrm>
            <a:off x="960120" y="5623560"/>
            <a:ext cx="4754880" cy="347472"/>
          </a:xfrm>
          <a:prstGeom prst="rect">
            <a:avLst/>
          </a:prstGeom>
          <a:noFill/>
        </p:spPr>
        <p:txBody>
          <a:bodyPr wrap="square">
            <a:spAutoFit/>
          </a:bodyPr>
          <a:lstStyle/>
          <a:p>
            <a:pPr algn="l"/>
            <a:r>
              <a:rPr sz="1200" b="0" i="0">
                <a:solidFill>
                  <a:srgbClr val="9D9D9F"/>
                </a:solidFill>
                <a:latin typeface="Satoshi"/>
              </a:rPr>
              <a:t>Quarterly automated check-ins to active partners: sell-through data, new product announcements, co-marketing opportunities.</a:t>
            </a:r>
          </a:p>
        </p:txBody>
      </p:sp>
      <p:sp>
        <p:nvSpPr>
          <p:cNvPr id="26" name="Rounded Rectangle 25"/>
          <p:cNvSpPr/>
          <p:nvPr/>
        </p:nvSpPr>
        <p:spPr>
          <a:xfrm>
            <a:off x="6858000" y="2743200"/>
            <a:ext cx="4572000" cy="338328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926080"/>
            <a:ext cx="4114800" cy="256032"/>
          </a:xfrm>
          <a:prstGeom prst="rect">
            <a:avLst/>
          </a:prstGeom>
          <a:noFill/>
        </p:spPr>
        <p:txBody>
          <a:bodyPr wrap="square">
            <a:spAutoFit/>
          </a:bodyPr>
          <a:lstStyle/>
          <a:p>
            <a:pPr algn="l"/>
            <a:r>
              <a:rPr sz="900" b="1" i="0">
                <a:solidFill>
                  <a:srgbClr val="6B6B6E"/>
                </a:solidFill>
                <a:latin typeface="Satoshi"/>
              </a:rPr>
              <a:t>THE B2B GAP AT RIVERSONG</a:t>
            </a:r>
          </a:p>
        </p:txBody>
      </p:sp>
      <p:sp>
        <p:nvSpPr>
          <p:cNvPr id="28" name="TextBox 27"/>
          <p:cNvSpPr txBox="1"/>
          <p:nvPr/>
        </p:nvSpPr>
        <p:spPr>
          <a:xfrm>
            <a:off x="7132320" y="3291840"/>
            <a:ext cx="4114800" cy="502920"/>
          </a:xfrm>
          <a:prstGeom prst="rect">
            <a:avLst/>
          </a:prstGeom>
          <a:noFill/>
        </p:spPr>
        <p:txBody>
          <a:bodyPr wrap="square">
            <a:spAutoFit/>
          </a:bodyPr>
          <a:lstStyle/>
          <a:p>
            <a:pPr algn="l"/>
            <a:r>
              <a:rPr sz="1600" b="0" i="0">
                <a:solidFill>
                  <a:srgbClr val="FFFFFF"/>
                </a:solidFill>
                <a:latin typeface="Instrument Serif"/>
              </a:rPr>
              <a:t>Expanding into new markets requires</a:t>
            </a:r>
          </a:p>
        </p:txBody>
      </p:sp>
      <p:sp>
        <p:nvSpPr>
          <p:cNvPr id="29" name="TextBox 28"/>
          <p:cNvSpPr txBox="1"/>
          <p:nvPr/>
        </p:nvSpPr>
        <p:spPr>
          <a:xfrm>
            <a:off x="7132320" y="3822191"/>
            <a:ext cx="4114800" cy="502920"/>
          </a:xfrm>
          <a:prstGeom prst="rect">
            <a:avLst/>
          </a:prstGeom>
          <a:noFill/>
        </p:spPr>
        <p:txBody>
          <a:bodyPr wrap="square">
            <a:spAutoFit/>
          </a:bodyPr>
          <a:lstStyle/>
          <a:p>
            <a:pPr algn="l"/>
            <a:r>
              <a:rPr sz="1600" b="0" i="0">
                <a:solidFill>
                  <a:srgbClr val="FBBF24"/>
                </a:solidFill>
                <a:latin typeface="Instrument Serif"/>
              </a:rPr>
              <a:t>a structured partner intake.</a:t>
            </a:r>
          </a:p>
        </p:txBody>
      </p:sp>
      <p:sp>
        <p:nvSpPr>
          <p:cNvPr id="30" name="TextBox 29"/>
          <p:cNvSpPr txBox="1"/>
          <p:nvPr/>
        </p:nvSpPr>
        <p:spPr>
          <a:xfrm>
            <a:off x="7132320" y="4434840"/>
            <a:ext cx="4114800" cy="685800"/>
          </a:xfrm>
          <a:prstGeom prst="rect">
            <a:avLst/>
          </a:prstGeom>
          <a:noFill/>
        </p:spPr>
        <p:txBody>
          <a:bodyPr wrap="square">
            <a:spAutoFit/>
          </a:bodyPr>
          <a:lstStyle/>
          <a:p>
            <a:pPr algn="l"/>
            <a:r>
              <a:rPr sz="1100" b="0" i="0">
                <a:solidFill>
                  <a:srgbClr val="9D9D9F"/>
                </a:solidFill>
                <a:latin typeface="Satoshi"/>
              </a:rPr>
              <a:t>Without automation, every new territory enquiry depends on a sales rep picking it up manually. The B2B AI ensures nothing is missed and every partner is qualified.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04D  .  RIVERSONG SUPPORT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09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D  --  RIVERSONG TECHNOLOGY</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000" b="0" i="0">
                <a:solidFill>
                  <a:srgbClr val="FFFFFF"/>
                </a:solidFill>
                <a:latin typeface="Instrument Serif"/>
              </a:rPr>
              <a:t>Customer Support &amp; Post-Purchase Automation</a:t>
            </a:r>
          </a:p>
        </p:txBody>
      </p:sp>
      <p:sp>
        <p:nvSpPr>
          <p:cNvPr id="9" name="TextBox 8"/>
          <p:cNvSpPr txBox="1"/>
          <p:nvPr/>
        </p:nvSpPr>
        <p:spPr>
          <a:xfrm>
            <a:off x="685800" y="1965960"/>
            <a:ext cx="5943600" cy="384048"/>
          </a:xfrm>
          <a:prstGeom prst="rect">
            <a:avLst/>
          </a:prstGeom>
          <a:noFill/>
        </p:spPr>
        <p:txBody>
          <a:bodyPr wrap="square">
            <a:spAutoFit/>
          </a:bodyPr>
          <a:lstStyle/>
          <a:p>
            <a:pPr algn="l"/>
            <a:r>
              <a:rPr sz="1300" b="0" i="0">
                <a:solidFill>
                  <a:srgbClr val="86868A"/>
                </a:solidFill>
                <a:latin typeface="Satoshi"/>
              </a:rPr>
              <a:t>Smart watches, earbuds, phones, TVs, ACs -- five product categories each generate support queries that cannot be handled manually at scale.</a:t>
            </a:r>
          </a:p>
        </p:txBody>
      </p:sp>
      <p:sp>
        <p:nvSpPr>
          <p:cNvPr id="10" name="Rectangle 9"/>
          <p:cNvSpPr/>
          <p:nvPr/>
        </p:nvSpPr>
        <p:spPr>
          <a:xfrm>
            <a:off x="685800" y="2468880"/>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651760"/>
            <a:ext cx="5486400" cy="274320"/>
          </a:xfrm>
          <a:prstGeom prst="rect">
            <a:avLst/>
          </a:prstGeom>
          <a:noFill/>
        </p:spPr>
        <p:txBody>
          <a:bodyPr wrap="square">
            <a:spAutoFit/>
          </a:bodyPr>
          <a:lstStyle/>
          <a:p>
            <a:pPr algn="l"/>
            <a:r>
              <a:rPr sz="1000" b="1" i="0">
                <a:solidFill>
                  <a:srgbClr val="A78BFA"/>
                </a:solidFill>
                <a:latin typeface="Satoshi"/>
              </a:rPr>
              <a:t>CUSTOMER SUPPORT AUTOMATION</a:t>
            </a:r>
          </a:p>
        </p:txBody>
      </p:sp>
      <p:sp>
        <p:nvSpPr>
          <p:cNvPr id="12" name="TextBox 11"/>
          <p:cNvSpPr txBox="1"/>
          <p:nvPr/>
        </p:nvSpPr>
        <p:spPr>
          <a:xfrm>
            <a:off x="685800" y="292608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3" name="TextBox 12"/>
          <p:cNvSpPr txBox="1"/>
          <p:nvPr/>
        </p:nvSpPr>
        <p:spPr>
          <a:xfrm>
            <a:off x="960120" y="2926080"/>
            <a:ext cx="4937760" cy="237744"/>
          </a:xfrm>
          <a:prstGeom prst="rect">
            <a:avLst/>
          </a:prstGeom>
          <a:noFill/>
        </p:spPr>
        <p:txBody>
          <a:bodyPr wrap="square">
            <a:spAutoFit/>
          </a:bodyPr>
          <a:lstStyle/>
          <a:p>
            <a:pPr algn="l"/>
            <a:r>
              <a:rPr sz="1200" b="1" i="0">
                <a:solidFill>
                  <a:srgbClr val="FFFFFF"/>
                </a:solidFill>
                <a:latin typeface="Satoshi"/>
              </a:rPr>
              <a:t>AI support chat on product pages</a:t>
            </a:r>
          </a:p>
        </p:txBody>
      </p:sp>
      <p:sp>
        <p:nvSpPr>
          <p:cNvPr id="14" name="TextBox 13"/>
          <p:cNvSpPr txBox="1"/>
          <p:nvPr/>
        </p:nvSpPr>
        <p:spPr>
          <a:xfrm>
            <a:off x="960120" y="3172968"/>
            <a:ext cx="4937760" cy="347472"/>
          </a:xfrm>
          <a:prstGeom prst="rect">
            <a:avLst/>
          </a:prstGeom>
          <a:noFill/>
        </p:spPr>
        <p:txBody>
          <a:bodyPr wrap="square">
            <a:spAutoFit/>
          </a:bodyPr>
          <a:lstStyle/>
          <a:p>
            <a:pPr algn="l"/>
            <a:r>
              <a:rPr sz="1100" b="0" i="0">
                <a:solidFill>
                  <a:srgbClr val="9D9D9F"/>
                </a:solidFill>
                <a:latin typeface="Satoshi"/>
              </a:rPr>
              <a:t>A chat widget on each product page handles setup queries, compatibility questions, and feature explanations before escalation.</a:t>
            </a:r>
          </a:p>
        </p:txBody>
      </p:sp>
      <p:sp>
        <p:nvSpPr>
          <p:cNvPr id="15" name="TextBox 14"/>
          <p:cNvSpPr txBox="1"/>
          <p:nvPr/>
        </p:nvSpPr>
        <p:spPr>
          <a:xfrm>
            <a:off x="685800" y="358444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6" name="TextBox 15"/>
          <p:cNvSpPr txBox="1"/>
          <p:nvPr/>
        </p:nvSpPr>
        <p:spPr>
          <a:xfrm>
            <a:off x="960120" y="3584448"/>
            <a:ext cx="4937760" cy="237744"/>
          </a:xfrm>
          <a:prstGeom prst="rect">
            <a:avLst/>
          </a:prstGeom>
          <a:noFill/>
        </p:spPr>
        <p:txBody>
          <a:bodyPr wrap="square">
            <a:spAutoFit/>
          </a:bodyPr>
          <a:lstStyle/>
          <a:p>
            <a:pPr algn="l"/>
            <a:r>
              <a:rPr sz="1200" b="1" i="0">
                <a:solidFill>
                  <a:srgbClr val="FFFFFF"/>
                </a:solidFill>
                <a:latin typeface="Satoshi"/>
              </a:rPr>
              <a:t>Warranty claim routing</a:t>
            </a:r>
          </a:p>
        </p:txBody>
      </p:sp>
      <p:sp>
        <p:nvSpPr>
          <p:cNvPr id="17" name="TextBox 16"/>
          <p:cNvSpPr txBox="1"/>
          <p:nvPr/>
        </p:nvSpPr>
        <p:spPr>
          <a:xfrm>
            <a:off x="960120" y="3831336"/>
            <a:ext cx="4937760" cy="347472"/>
          </a:xfrm>
          <a:prstGeom prst="rect">
            <a:avLst/>
          </a:prstGeom>
          <a:noFill/>
        </p:spPr>
        <p:txBody>
          <a:bodyPr wrap="square">
            <a:spAutoFit/>
          </a:bodyPr>
          <a:lstStyle/>
          <a:p>
            <a:pPr algn="l"/>
            <a:r>
              <a:rPr sz="1100" b="0" i="0">
                <a:solidFill>
                  <a:srgbClr val="9D9D9F"/>
                </a:solidFill>
                <a:latin typeface="Satoshi"/>
              </a:rPr>
              <a:t>Customers submit warranty claims via AI chat. Serial number, purchase date, and fault description captured automatically.</a:t>
            </a:r>
          </a:p>
        </p:txBody>
      </p:sp>
      <p:sp>
        <p:nvSpPr>
          <p:cNvPr id="18" name="TextBox 17"/>
          <p:cNvSpPr txBox="1"/>
          <p:nvPr/>
        </p:nvSpPr>
        <p:spPr>
          <a:xfrm>
            <a:off x="685800" y="424281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9" name="TextBox 18"/>
          <p:cNvSpPr txBox="1"/>
          <p:nvPr/>
        </p:nvSpPr>
        <p:spPr>
          <a:xfrm>
            <a:off x="960120" y="4242816"/>
            <a:ext cx="4937760" cy="237744"/>
          </a:xfrm>
          <a:prstGeom prst="rect">
            <a:avLst/>
          </a:prstGeom>
          <a:noFill/>
        </p:spPr>
        <p:txBody>
          <a:bodyPr wrap="square">
            <a:spAutoFit/>
          </a:bodyPr>
          <a:lstStyle/>
          <a:p>
            <a:pPr algn="l"/>
            <a:r>
              <a:rPr sz="1200" b="1" i="0">
                <a:solidFill>
                  <a:srgbClr val="FFFFFF"/>
                </a:solidFill>
                <a:latin typeface="Satoshi"/>
              </a:rPr>
              <a:t>Return and exchange flow</a:t>
            </a:r>
          </a:p>
        </p:txBody>
      </p:sp>
      <p:sp>
        <p:nvSpPr>
          <p:cNvPr id="20" name="TextBox 19"/>
          <p:cNvSpPr txBox="1"/>
          <p:nvPr/>
        </p:nvSpPr>
        <p:spPr>
          <a:xfrm>
            <a:off x="960120" y="4489704"/>
            <a:ext cx="4937760" cy="347472"/>
          </a:xfrm>
          <a:prstGeom prst="rect">
            <a:avLst/>
          </a:prstGeom>
          <a:noFill/>
        </p:spPr>
        <p:txBody>
          <a:bodyPr wrap="square">
            <a:spAutoFit/>
          </a:bodyPr>
          <a:lstStyle/>
          <a:p>
            <a:pPr algn="l"/>
            <a:r>
              <a:rPr sz="1100" b="0" i="0">
                <a:solidFill>
                  <a:srgbClr val="9D9D9F"/>
                </a:solidFill>
                <a:latin typeface="Satoshi"/>
              </a:rPr>
              <a:t>AI guides customers through the return policy and initiates the exchange process without human intervention.</a:t>
            </a:r>
          </a:p>
        </p:txBody>
      </p:sp>
      <p:sp>
        <p:nvSpPr>
          <p:cNvPr id="21" name="TextBox 20"/>
          <p:cNvSpPr txBox="1"/>
          <p:nvPr/>
        </p:nvSpPr>
        <p:spPr>
          <a:xfrm>
            <a:off x="685800" y="490118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2" name="TextBox 21"/>
          <p:cNvSpPr txBox="1"/>
          <p:nvPr/>
        </p:nvSpPr>
        <p:spPr>
          <a:xfrm>
            <a:off x="960120" y="4901184"/>
            <a:ext cx="4937760" cy="237744"/>
          </a:xfrm>
          <a:prstGeom prst="rect">
            <a:avLst/>
          </a:prstGeom>
          <a:noFill/>
        </p:spPr>
        <p:txBody>
          <a:bodyPr wrap="square">
            <a:spAutoFit/>
          </a:bodyPr>
          <a:lstStyle/>
          <a:p>
            <a:pPr algn="l"/>
            <a:r>
              <a:rPr sz="1200" b="1" i="0">
                <a:solidFill>
                  <a:srgbClr val="FFFFFF"/>
                </a:solidFill>
                <a:latin typeface="Satoshi"/>
              </a:rPr>
              <a:t>Escalation with context</a:t>
            </a:r>
          </a:p>
        </p:txBody>
      </p:sp>
      <p:sp>
        <p:nvSpPr>
          <p:cNvPr id="23" name="TextBox 22"/>
          <p:cNvSpPr txBox="1"/>
          <p:nvPr/>
        </p:nvSpPr>
        <p:spPr>
          <a:xfrm>
            <a:off x="960120" y="5148072"/>
            <a:ext cx="4937760" cy="347472"/>
          </a:xfrm>
          <a:prstGeom prst="rect">
            <a:avLst/>
          </a:prstGeom>
          <a:noFill/>
        </p:spPr>
        <p:txBody>
          <a:bodyPr wrap="square">
            <a:spAutoFit/>
          </a:bodyPr>
          <a:lstStyle/>
          <a:p>
            <a:pPr algn="l"/>
            <a:r>
              <a:rPr sz="1100" b="0" i="0">
                <a:solidFill>
                  <a:srgbClr val="9D9D9F"/>
                </a:solidFill>
                <a:latin typeface="Satoshi"/>
              </a:rPr>
              <a:t>Complex queries escalated to the support team with full conversation history, product details, and purchase record attached.</a:t>
            </a:r>
          </a:p>
        </p:txBody>
      </p:sp>
      <p:sp>
        <p:nvSpPr>
          <p:cNvPr id="24" name="TextBox 23"/>
          <p:cNvSpPr txBox="1"/>
          <p:nvPr/>
        </p:nvSpPr>
        <p:spPr>
          <a:xfrm>
            <a:off x="6263640" y="2651760"/>
            <a:ext cx="5486400" cy="274320"/>
          </a:xfrm>
          <a:prstGeom prst="rect">
            <a:avLst/>
          </a:prstGeom>
          <a:noFill/>
        </p:spPr>
        <p:txBody>
          <a:bodyPr wrap="square">
            <a:spAutoFit/>
          </a:bodyPr>
          <a:lstStyle/>
          <a:p>
            <a:pPr algn="l"/>
            <a:r>
              <a:rPr sz="1000" b="1" i="0">
                <a:solidFill>
                  <a:srgbClr val="A78BFA"/>
                </a:solidFill>
                <a:latin typeface="Satoshi"/>
              </a:rPr>
              <a:t>POST-PURCHASE AUTOMATION</a:t>
            </a:r>
          </a:p>
        </p:txBody>
      </p:sp>
      <p:sp>
        <p:nvSpPr>
          <p:cNvPr id="25" name="TextBox 24"/>
          <p:cNvSpPr txBox="1"/>
          <p:nvPr/>
        </p:nvSpPr>
        <p:spPr>
          <a:xfrm>
            <a:off x="6263640" y="292608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6" name="TextBox 25"/>
          <p:cNvSpPr txBox="1"/>
          <p:nvPr/>
        </p:nvSpPr>
        <p:spPr>
          <a:xfrm>
            <a:off x="6537960" y="2926080"/>
            <a:ext cx="4937760" cy="237744"/>
          </a:xfrm>
          <a:prstGeom prst="rect">
            <a:avLst/>
          </a:prstGeom>
          <a:noFill/>
        </p:spPr>
        <p:txBody>
          <a:bodyPr wrap="square">
            <a:spAutoFit/>
          </a:bodyPr>
          <a:lstStyle/>
          <a:p>
            <a:pPr algn="l"/>
            <a:r>
              <a:rPr sz="1200" b="1" i="0">
                <a:solidFill>
                  <a:srgbClr val="FFFFFF"/>
                </a:solidFill>
                <a:latin typeface="Satoshi"/>
              </a:rPr>
              <a:t>Setup guide delivery</a:t>
            </a:r>
          </a:p>
        </p:txBody>
      </p:sp>
      <p:sp>
        <p:nvSpPr>
          <p:cNvPr id="27" name="TextBox 26"/>
          <p:cNvSpPr txBox="1"/>
          <p:nvPr/>
        </p:nvSpPr>
        <p:spPr>
          <a:xfrm>
            <a:off x="6537960" y="3172968"/>
            <a:ext cx="4937760" cy="347472"/>
          </a:xfrm>
          <a:prstGeom prst="rect">
            <a:avLst/>
          </a:prstGeom>
          <a:noFill/>
        </p:spPr>
        <p:txBody>
          <a:bodyPr wrap="square">
            <a:spAutoFit/>
          </a:bodyPr>
          <a:lstStyle/>
          <a:p>
            <a:pPr algn="l"/>
            <a:r>
              <a:rPr sz="1100" b="0" i="0">
                <a:solidFill>
                  <a:srgbClr val="9D9D9F"/>
                </a:solidFill>
                <a:latin typeface="Satoshi"/>
              </a:rPr>
              <a:t>Immediately after purchase, customers receive an automated setup guide specific to the product they bought -- reducing support queries by category.</a:t>
            </a:r>
          </a:p>
        </p:txBody>
      </p:sp>
      <p:sp>
        <p:nvSpPr>
          <p:cNvPr id="28" name="TextBox 27"/>
          <p:cNvSpPr txBox="1"/>
          <p:nvPr/>
        </p:nvSpPr>
        <p:spPr>
          <a:xfrm>
            <a:off x="6263640" y="358444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9" name="TextBox 28"/>
          <p:cNvSpPr txBox="1"/>
          <p:nvPr/>
        </p:nvSpPr>
        <p:spPr>
          <a:xfrm>
            <a:off x="6537960" y="3584448"/>
            <a:ext cx="4937760" cy="237744"/>
          </a:xfrm>
          <a:prstGeom prst="rect">
            <a:avLst/>
          </a:prstGeom>
          <a:noFill/>
        </p:spPr>
        <p:txBody>
          <a:bodyPr wrap="square">
            <a:spAutoFit/>
          </a:bodyPr>
          <a:lstStyle/>
          <a:p>
            <a:pPr algn="l"/>
            <a:r>
              <a:rPr sz="1200" b="1" i="0">
                <a:solidFill>
                  <a:srgbClr val="FFFFFF"/>
                </a:solidFill>
                <a:latin typeface="Satoshi"/>
              </a:rPr>
              <a:t>Warranty registration</a:t>
            </a:r>
          </a:p>
        </p:txBody>
      </p:sp>
      <p:sp>
        <p:nvSpPr>
          <p:cNvPr id="30" name="TextBox 29"/>
          <p:cNvSpPr txBox="1"/>
          <p:nvPr/>
        </p:nvSpPr>
        <p:spPr>
          <a:xfrm>
            <a:off x="6537960" y="3831336"/>
            <a:ext cx="4937760" cy="347472"/>
          </a:xfrm>
          <a:prstGeom prst="rect">
            <a:avLst/>
          </a:prstGeom>
          <a:noFill/>
        </p:spPr>
        <p:txBody>
          <a:bodyPr wrap="square">
            <a:spAutoFit/>
          </a:bodyPr>
          <a:lstStyle/>
          <a:p>
            <a:pPr algn="l"/>
            <a:r>
              <a:rPr sz="1100" b="0" i="0">
                <a:solidFill>
                  <a:srgbClr val="9D9D9F"/>
                </a:solidFill>
                <a:latin typeface="Satoshi"/>
              </a:rPr>
              <a:t>Automated warranty registration prompt at 48 hours post-purchase. Captures customer data and extends the relationship.</a:t>
            </a:r>
          </a:p>
        </p:txBody>
      </p:sp>
      <p:sp>
        <p:nvSpPr>
          <p:cNvPr id="31" name="TextBox 30"/>
          <p:cNvSpPr txBox="1"/>
          <p:nvPr/>
        </p:nvSpPr>
        <p:spPr>
          <a:xfrm>
            <a:off x="6263640" y="424281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2" name="TextBox 31"/>
          <p:cNvSpPr txBox="1"/>
          <p:nvPr/>
        </p:nvSpPr>
        <p:spPr>
          <a:xfrm>
            <a:off x="6537960" y="4242816"/>
            <a:ext cx="4937760" cy="237744"/>
          </a:xfrm>
          <a:prstGeom prst="rect">
            <a:avLst/>
          </a:prstGeom>
          <a:noFill/>
        </p:spPr>
        <p:txBody>
          <a:bodyPr wrap="square">
            <a:spAutoFit/>
          </a:bodyPr>
          <a:lstStyle/>
          <a:p>
            <a:pPr algn="l"/>
            <a:r>
              <a:rPr sz="1200" b="1" i="0">
                <a:solidFill>
                  <a:srgbClr val="FFFFFF"/>
                </a:solidFill>
                <a:latin typeface="Satoshi"/>
              </a:rPr>
              <a:t>Review request sequence</a:t>
            </a:r>
          </a:p>
        </p:txBody>
      </p:sp>
      <p:sp>
        <p:nvSpPr>
          <p:cNvPr id="33" name="TextBox 32"/>
          <p:cNvSpPr txBox="1"/>
          <p:nvPr/>
        </p:nvSpPr>
        <p:spPr>
          <a:xfrm>
            <a:off x="6537960" y="4489704"/>
            <a:ext cx="4937760" cy="347472"/>
          </a:xfrm>
          <a:prstGeom prst="rect">
            <a:avLst/>
          </a:prstGeom>
          <a:noFill/>
        </p:spPr>
        <p:txBody>
          <a:bodyPr wrap="square">
            <a:spAutoFit/>
          </a:bodyPr>
          <a:lstStyle/>
          <a:p>
            <a:pPr algn="l"/>
            <a:r>
              <a:rPr sz="1100" b="0" i="0">
                <a:solidFill>
                  <a:srgbClr val="9D9D9F"/>
                </a:solidFill>
                <a:latin typeface="Satoshi"/>
              </a:rPr>
              <a:t>At day 14 post-purchase, automated review request sent to the platform where the purchase was made (Amazon, noon, website).</a:t>
            </a:r>
          </a:p>
        </p:txBody>
      </p:sp>
      <p:sp>
        <p:nvSpPr>
          <p:cNvPr id="34" name="TextBox 33"/>
          <p:cNvSpPr txBox="1"/>
          <p:nvPr/>
        </p:nvSpPr>
        <p:spPr>
          <a:xfrm>
            <a:off x="6263640" y="490118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5" name="TextBox 34"/>
          <p:cNvSpPr txBox="1"/>
          <p:nvPr/>
        </p:nvSpPr>
        <p:spPr>
          <a:xfrm>
            <a:off x="6537960" y="4901184"/>
            <a:ext cx="4937760" cy="237744"/>
          </a:xfrm>
          <a:prstGeom prst="rect">
            <a:avLst/>
          </a:prstGeom>
          <a:noFill/>
        </p:spPr>
        <p:txBody>
          <a:bodyPr wrap="square">
            <a:spAutoFit/>
          </a:bodyPr>
          <a:lstStyle/>
          <a:p>
            <a:pPr algn="l"/>
            <a:r>
              <a:rPr sz="1200" b="1" i="0">
                <a:solidFill>
                  <a:srgbClr val="FFFFFF"/>
                </a:solidFill>
                <a:latin typeface="Satoshi"/>
              </a:rPr>
              <a:t>Reorder and accessory prompts</a:t>
            </a:r>
          </a:p>
        </p:txBody>
      </p:sp>
      <p:sp>
        <p:nvSpPr>
          <p:cNvPr id="36" name="TextBox 35"/>
          <p:cNvSpPr txBox="1"/>
          <p:nvPr/>
        </p:nvSpPr>
        <p:spPr>
          <a:xfrm>
            <a:off x="6537960" y="5148072"/>
            <a:ext cx="4937760" cy="347472"/>
          </a:xfrm>
          <a:prstGeom prst="rect">
            <a:avLst/>
          </a:prstGeom>
          <a:noFill/>
        </p:spPr>
        <p:txBody>
          <a:bodyPr wrap="square">
            <a:spAutoFit/>
          </a:bodyPr>
          <a:lstStyle/>
          <a:p>
            <a:pPr algn="l"/>
            <a:r>
              <a:rPr sz="1100" b="0" i="0">
                <a:solidFill>
                  <a:srgbClr val="9D9D9F"/>
                </a:solidFill>
                <a:latin typeface="Satoshi"/>
              </a:rPr>
              <a:t>Earbuds buyers prompted for replacement tips at 6 months. Smart watch buyers prompted for straps and chargers at 3 months.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04E  .  CROSS-BUSINESS CRM AI</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10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MODULE E  --  BOTH BUSINESSES</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200" b="0" i="0">
                <a:solidFill>
                  <a:srgbClr val="FFFFFF"/>
                </a:solidFill>
                <a:latin typeface="Instrument Serif"/>
              </a:rPr>
              <a:t>Unified CRM &amp; Executive Reporting AI</a:t>
            </a:r>
          </a:p>
        </p:txBody>
      </p:sp>
      <p:sp>
        <p:nvSpPr>
          <p:cNvPr id="9" name="TextBox 8"/>
          <p:cNvSpPr txBox="1"/>
          <p:nvPr/>
        </p:nvSpPr>
        <p:spPr>
          <a:xfrm>
            <a:off x="685800" y="2011680"/>
            <a:ext cx="9144000" cy="384048"/>
          </a:xfrm>
          <a:prstGeom prst="rect">
            <a:avLst/>
          </a:prstGeom>
          <a:noFill/>
        </p:spPr>
        <p:txBody>
          <a:bodyPr wrap="square">
            <a:spAutoFit/>
          </a:bodyPr>
          <a:lstStyle/>
          <a:p>
            <a:pPr algn="l"/>
            <a:r>
              <a:rPr sz="1300" b="0" i="0">
                <a:solidFill>
                  <a:srgbClr val="86868A"/>
                </a:solidFill>
                <a:latin typeface="Satoshi"/>
              </a:rPr>
              <a:t>Running two businesses across five markets from Dubai means two separate lead pipelines, two support queues, and zero unified visibility. The cross-business AI layer consolidates both into one operational view.</a:t>
            </a:r>
          </a:p>
        </p:txBody>
      </p:sp>
      <p:sp>
        <p:nvSpPr>
          <p:cNvPr id="10" name="Rectangle 9"/>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69748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2" name="TextBox 11"/>
          <p:cNvSpPr txBox="1"/>
          <p:nvPr/>
        </p:nvSpPr>
        <p:spPr>
          <a:xfrm>
            <a:off x="960120" y="2697480"/>
            <a:ext cx="4983480" cy="237744"/>
          </a:xfrm>
          <a:prstGeom prst="rect">
            <a:avLst/>
          </a:prstGeom>
          <a:noFill/>
        </p:spPr>
        <p:txBody>
          <a:bodyPr wrap="square">
            <a:spAutoFit/>
          </a:bodyPr>
          <a:lstStyle/>
          <a:p>
            <a:pPr algn="l"/>
            <a:r>
              <a:rPr sz="1300" b="1" i="0">
                <a:solidFill>
                  <a:srgbClr val="FFFFFF"/>
                </a:solidFill>
                <a:latin typeface="Satoshi"/>
              </a:rPr>
              <a:t>Unified CRM pipeline</a:t>
            </a:r>
          </a:p>
        </p:txBody>
      </p:sp>
      <p:sp>
        <p:nvSpPr>
          <p:cNvPr id="13" name="TextBox 12"/>
          <p:cNvSpPr txBox="1"/>
          <p:nvPr/>
        </p:nvSpPr>
        <p:spPr>
          <a:xfrm>
            <a:off x="960120" y="2944368"/>
            <a:ext cx="4983480" cy="347472"/>
          </a:xfrm>
          <a:prstGeom prst="rect">
            <a:avLst/>
          </a:prstGeom>
          <a:noFill/>
        </p:spPr>
        <p:txBody>
          <a:bodyPr wrap="square">
            <a:spAutoFit/>
          </a:bodyPr>
          <a:lstStyle/>
          <a:p>
            <a:pPr algn="l"/>
            <a:r>
              <a:rPr sz="1200" b="0" i="0">
                <a:solidFill>
                  <a:srgbClr val="9D9D9F"/>
                </a:solidFill>
                <a:latin typeface="Satoshi"/>
              </a:rPr>
              <a:t>Reve Real Estate and Riversong leads, deals, and support tickets consolidated in a single CRM view -- one login for both businesses.</a:t>
            </a:r>
          </a:p>
        </p:txBody>
      </p:sp>
      <p:sp>
        <p:nvSpPr>
          <p:cNvPr id="14" name="TextBox 13"/>
          <p:cNvSpPr txBox="1"/>
          <p:nvPr/>
        </p:nvSpPr>
        <p:spPr>
          <a:xfrm>
            <a:off x="685800" y="335584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5" name="TextBox 14"/>
          <p:cNvSpPr txBox="1"/>
          <p:nvPr/>
        </p:nvSpPr>
        <p:spPr>
          <a:xfrm>
            <a:off x="960120" y="3355848"/>
            <a:ext cx="4983480" cy="237744"/>
          </a:xfrm>
          <a:prstGeom prst="rect">
            <a:avLst/>
          </a:prstGeom>
          <a:noFill/>
        </p:spPr>
        <p:txBody>
          <a:bodyPr wrap="square">
            <a:spAutoFit/>
          </a:bodyPr>
          <a:lstStyle/>
          <a:p>
            <a:pPr algn="l"/>
            <a:r>
              <a:rPr sz="1300" b="1" i="0">
                <a:solidFill>
                  <a:srgbClr val="FFFFFF"/>
                </a:solidFill>
                <a:latin typeface="Satoshi"/>
              </a:rPr>
              <a:t>Weekly executive summary</a:t>
            </a:r>
          </a:p>
        </p:txBody>
      </p:sp>
      <p:sp>
        <p:nvSpPr>
          <p:cNvPr id="16" name="TextBox 15"/>
          <p:cNvSpPr txBox="1"/>
          <p:nvPr/>
        </p:nvSpPr>
        <p:spPr>
          <a:xfrm>
            <a:off x="960120" y="3602736"/>
            <a:ext cx="4983480" cy="347472"/>
          </a:xfrm>
          <a:prstGeom prst="rect">
            <a:avLst/>
          </a:prstGeom>
          <a:noFill/>
        </p:spPr>
        <p:txBody>
          <a:bodyPr wrap="square">
            <a:spAutoFit/>
          </a:bodyPr>
          <a:lstStyle/>
          <a:p>
            <a:pPr algn="l"/>
            <a:r>
              <a:rPr sz="1200" b="0" i="0">
                <a:solidFill>
                  <a:srgbClr val="9D9D9F"/>
                </a:solidFill>
                <a:latin typeface="Satoshi"/>
              </a:rPr>
              <a:t>Every Monday, an automated report delivers: new leads by source, pipeline movement, support volume, and follow-up actions due this week.</a:t>
            </a:r>
          </a:p>
        </p:txBody>
      </p:sp>
      <p:sp>
        <p:nvSpPr>
          <p:cNvPr id="17" name="TextBox 16"/>
          <p:cNvSpPr txBox="1"/>
          <p:nvPr/>
        </p:nvSpPr>
        <p:spPr>
          <a:xfrm>
            <a:off x="685800" y="401421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18" name="TextBox 17"/>
          <p:cNvSpPr txBox="1"/>
          <p:nvPr/>
        </p:nvSpPr>
        <p:spPr>
          <a:xfrm>
            <a:off x="960120" y="4014216"/>
            <a:ext cx="4983480" cy="237744"/>
          </a:xfrm>
          <a:prstGeom prst="rect">
            <a:avLst/>
          </a:prstGeom>
          <a:noFill/>
        </p:spPr>
        <p:txBody>
          <a:bodyPr wrap="square">
            <a:spAutoFit/>
          </a:bodyPr>
          <a:lstStyle/>
          <a:p>
            <a:pPr algn="l"/>
            <a:r>
              <a:rPr sz="1300" b="1" i="0">
                <a:solidFill>
                  <a:srgbClr val="FFFFFF"/>
                </a:solidFill>
                <a:latin typeface="Satoshi"/>
              </a:rPr>
              <a:t>Lead source attribution</a:t>
            </a:r>
          </a:p>
        </p:txBody>
      </p:sp>
      <p:sp>
        <p:nvSpPr>
          <p:cNvPr id="19" name="TextBox 18"/>
          <p:cNvSpPr txBox="1"/>
          <p:nvPr/>
        </p:nvSpPr>
        <p:spPr>
          <a:xfrm>
            <a:off x="960120" y="4261104"/>
            <a:ext cx="4983480" cy="347472"/>
          </a:xfrm>
          <a:prstGeom prst="rect">
            <a:avLst/>
          </a:prstGeom>
          <a:noFill/>
        </p:spPr>
        <p:txBody>
          <a:bodyPr wrap="square">
            <a:spAutoFit/>
          </a:bodyPr>
          <a:lstStyle/>
          <a:p>
            <a:pPr algn="l"/>
            <a:r>
              <a:rPr sz="1200" b="0" i="0">
                <a:solidFill>
                  <a:srgbClr val="9D9D9F"/>
                </a:solidFill>
                <a:latin typeface="Satoshi"/>
              </a:rPr>
              <a:t>Every inquiry traced to its source -- WhatsApp, website, referral, or developer event. Haitham sees which channel drives qualified leads for each business.</a:t>
            </a:r>
          </a:p>
        </p:txBody>
      </p:sp>
      <p:sp>
        <p:nvSpPr>
          <p:cNvPr id="20" name="TextBox 19"/>
          <p:cNvSpPr txBox="1"/>
          <p:nvPr/>
        </p:nvSpPr>
        <p:spPr>
          <a:xfrm>
            <a:off x="685800" y="467258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1" name="TextBox 20"/>
          <p:cNvSpPr txBox="1"/>
          <p:nvPr/>
        </p:nvSpPr>
        <p:spPr>
          <a:xfrm>
            <a:off x="960120" y="4672584"/>
            <a:ext cx="4983480" cy="237744"/>
          </a:xfrm>
          <a:prstGeom prst="rect">
            <a:avLst/>
          </a:prstGeom>
          <a:noFill/>
        </p:spPr>
        <p:txBody>
          <a:bodyPr wrap="square">
            <a:spAutoFit/>
          </a:bodyPr>
          <a:lstStyle/>
          <a:p>
            <a:pPr algn="l"/>
            <a:r>
              <a:rPr sz="1300" b="1" i="0">
                <a:solidFill>
                  <a:srgbClr val="FFFFFF"/>
                </a:solidFill>
                <a:latin typeface="Satoshi"/>
              </a:rPr>
              <a:t>Cross-business lead flagging</a:t>
            </a:r>
          </a:p>
        </p:txBody>
      </p:sp>
      <p:sp>
        <p:nvSpPr>
          <p:cNvPr id="22" name="TextBox 21"/>
          <p:cNvSpPr txBox="1"/>
          <p:nvPr/>
        </p:nvSpPr>
        <p:spPr>
          <a:xfrm>
            <a:off x="960120" y="4919472"/>
            <a:ext cx="4983480" cy="347472"/>
          </a:xfrm>
          <a:prstGeom prst="rect">
            <a:avLst/>
          </a:prstGeom>
          <a:noFill/>
        </p:spPr>
        <p:txBody>
          <a:bodyPr wrap="square">
            <a:spAutoFit/>
          </a:bodyPr>
          <a:lstStyle/>
          <a:p>
            <a:pPr algn="l"/>
            <a:r>
              <a:rPr sz="1200" b="0" i="0">
                <a:solidFill>
                  <a:srgbClr val="9D9D9F"/>
                </a:solidFill>
                <a:latin typeface="Satoshi"/>
              </a:rPr>
              <a:t>A real estate buyer with investment capital may also be a Riversong B2B partner. The AI flags overlap and routes the opportunity appropriately.</a:t>
            </a:r>
          </a:p>
        </p:txBody>
      </p:sp>
      <p:sp>
        <p:nvSpPr>
          <p:cNvPr id="23" name="TextBox 22"/>
          <p:cNvSpPr txBox="1"/>
          <p:nvPr/>
        </p:nvSpPr>
        <p:spPr>
          <a:xfrm>
            <a:off x="6492240" y="2697480"/>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4" name="TextBox 23"/>
          <p:cNvSpPr txBox="1"/>
          <p:nvPr/>
        </p:nvSpPr>
        <p:spPr>
          <a:xfrm>
            <a:off x="6766560" y="2697480"/>
            <a:ext cx="4983480" cy="237744"/>
          </a:xfrm>
          <a:prstGeom prst="rect">
            <a:avLst/>
          </a:prstGeom>
          <a:noFill/>
        </p:spPr>
        <p:txBody>
          <a:bodyPr wrap="square">
            <a:spAutoFit/>
          </a:bodyPr>
          <a:lstStyle/>
          <a:p>
            <a:pPr algn="l"/>
            <a:r>
              <a:rPr sz="1300" b="1" i="0">
                <a:solidFill>
                  <a:srgbClr val="FFFFFF"/>
                </a:solidFill>
                <a:latin typeface="Satoshi"/>
              </a:rPr>
              <a:t>Team performance reporting</a:t>
            </a:r>
          </a:p>
        </p:txBody>
      </p:sp>
      <p:sp>
        <p:nvSpPr>
          <p:cNvPr id="25" name="TextBox 24"/>
          <p:cNvSpPr txBox="1"/>
          <p:nvPr/>
        </p:nvSpPr>
        <p:spPr>
          <a:xfrm>
            <a:off x="6766560" y="2944368"/>
            <a:ext cx="4983480" cy="347472"/>
          </a:xfrm>
          <a:prstGeom prst="rect">
            <a:avLst/>
          </a:prstGeom>
          <a:noFill/>
        </p:spPr>
        <p:txBody>
          <a:bodyPr wrap="square">
            <a:spAutoFit/>
          </a:bodyPr>
          <a:lstStyle/>
          <a:p>
            <a:pPr algn="l"/>
            <a:r>
              <a:rPr sz="1200" b="0" i="0">
                <a:solidFill>
                  <a:srgbClr val="9D9D9F"/>
                </a:solidFill>
                <a:latin typeface="Satoshi"/>
              </a:rPr>
              <a:t>Agent and sales rep follow-up compliance tracked automatically -- no manual check-ins required to know who is active in the pipeline.</a:t>
            </a:r>
          </a:p>
        </p:txBody>
      </p:sp>
      <p:sp>
        <p:nvSpPr>
          <p:cNvPr id="26" name="TextBox 25"/>
          <p:cNvSpPr txBox="1"/>
          <p:nvPr/>
        </p:nvSpPr>
        <p:spPr>
          <a:xfrm>
            <a:off x="6492240" y="3355848"/>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27" name="TextBox 26"/>
          <p:cNvSpPr txBox="1"/>
          <p:nvPr/>
        </p:nvSpPr>
        <p:spPr>
          <a:xfrm>
            <a:off x="6766560" y="3355848"/>
            <a:ext cx="4983480" cy="237744"/>
          </a:xfrm>
          <a:prstGeom prst="rect">
            <a:avLst/>
          </a:prstGeom>
          <a:noFill/>
        </p:spPr>
        <p:txBody>
          <a:bodyPr wrap="square">
            <a:spAutoFit/>
          </a:bodyPr>
          <a:lstStyle/>
          <a:p>
            <a:pPr algn="l"/>
            <a:r>
              <a:rPr sz="1300" b="1" i="0">
                <a:solidFill>
                  <a:srgbClr val="FFFFFF"/>
                </a:solidFill>
                <a:latin typeface="Satoshi"/>
              </a:rPr>
              <a:t>Monthly investor report delivery</a:t>
            </a:r>
          </a:p>
        </p:txBody>
      </p:sp>
      <p:sp>
        <p:nvSpPr>
          <p:cNvPr id="28" name="TextBox 27"/>
          <p:cNvSpPr txBox="1"/>
          <p:nvPr/>
        </p:nvSpPr>
        <p:spPr>
          <a:xfrm>
            <a:off x="6766560" y="3602736"/>
            <a:ext cx="4983480" cy="347472"/>
          </a:xfrm>
          <a:prstGeom prst="rect">
            <a:avLst/>
          </a:prstGeom>
          <a:noFill/>
        </p:spPr>
        <p:txBody>
          <a:bodyPr wrap="square">
            <a:spAutoFit/>
          </a:bodyPr>
          <a:lstStyle/>
          <a:p>
            <a:pPr algn="l"/>
            <a:r>
              <a:rPr sz="1200" b="0" i="0">
                <a:solidFill>
                  <a:srgbClr val="9D9D9F"/>
                </a:solidFill>
                <a:latin typeface="Satoshi"/>
              </a:rPr>
              <a:t>For Reve Real Estate, an automated monthly market update delivered to the full buyer and investor database -- built from CRM and market data.</a:t>
            </a:r>
          </a:p>
        </p:txBody>
      </p:sp>
      <p:sp>
        <p:nvSpPr>
          <p:cNvPr id="29" name="TextBox 28"/>
          <p:cNvSpPr txBox="1"/>
          <p:nvPr/>
        </p:nvSpPr>
        <p:spPr>
          <a:xfrm>
            <a:off x="6492240" y="4014216"/>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0" name="TextBox 29"/>
          <p:cNvSpPr txBox="1"/>
          <p:nvPr/>
        </p:nvSpPr>
        <p:spPr>
          <a:xfrm>
            <a:off x="6766560" y="4014216"/>
            <a:ext cx="4983480" cy="237744"/>
          </a:xfrm>
          <a:prstGeom prst="rect">
            <a:avLst/>
          </a:prstGeom>
          <a:noFill/>
        </p:spPr>
        <p:txBody>
          <a:bodyPr wrap="square">
            <a:spAutoFit/>
          </a:bodyPr>
          <a:lstStyle/>
          <a:p>
            <a:pPr algn="l"/>
            <a:r>
              <a:rPr sz="1300" b="1" i="0">
                <a:solidFill>
                  <a:srgbClr val="FFFFFF"/>
                </a:solidFill>
                <a:latin typeface="Satoshi"/>
              </a:rPr>
              <a:t>Revenue forecasting</a:t>
            </a:r>
          </a:p>
        </p:txBody>
      </p:sp>
      <p:sp>
        <p:nvSpPr>
          <p:cNvPr id="31" name="TextBox 30"/>
          <p:cNvSpPr txBox="1"/>
          <p:nvPr/>
        </p:nvSpPr>
        <p:spPr>
          <a:xfrm>
            <a:off x="6766560" y="4261104"/>
            <a:ext cx="4983480" cy="347472"/>
          </a:xfrm>
          <a:prstGeom prst="rect">
            <a:avLst/>
          </a:prstGeom>
          <a:noFill/>
        </p:spPr>
        <p:txBody>
          <a:bodyPr wrap="square">
            <a:spAutoFit/>
          </a:bodyPr>
          <a:lstStyle/>
          <a:p>
            <a:pPr algn="l"/>
            <a:r>
              <a:rPr sz="1200" b="0" i="0">
                <a:solidFill>
                  <a:srgbClr val="9D9D9F"/>
                </a:solidFill>
                <a:latin typeface="Satoshi"/>
              </a:rPr>
              <a:t>Pipeline weighted by deal stage, deal size, and historical close rate -- a live revenue forecast for both businesses without manual spreadsheets.</a:t>
            </a:r>
          </a:p>
        </p:txBody>
      </p:sp>
      <p:sp>
        <p:nvSpPr>
          <p:cNvPr id="32" name="TextBox 31"/>
          <p:cNvSpPr txBox="1"/>
          <p:nvPr/>
        </p:nvSpPr>
        <p:spPr>
          <a:xfrm>
            <a:off x="6492240" y="4672584"/>
            <a:ext cx="228600" cy="237744"/>
          </a:xfrm>
          <a:prstGeom prst="rect">
            <a:avLst/>
          </a:prstGeom>
          <a:noFill/>
        </p:spPr>
        <p:txBody>
          <a:bodyPr wrap="square">
            <a:spAutoFit/>
          </a:bodyPr>
          <a:lstStyle/>
          <a:p>
            <a:pPr algn="l"/>
            <a:r>
              <a:rPr sz="1300" b="1" i="0">
                <a:solidFill>
                  <a:srgbClr val="A78BFA"/>
                </a:solidFill>
                <a:latin typeface="Satoshi"/>
              </a:rPr>
              <a:t>.</a:t>
            </a:r>
          </a:p>
        </p:txBody>
      </p:sp>
      <p:sp>
        <p:nvSpPr>
          <p:cNvPr id="33" name="TextBox 32"/>
          <p:cNvSpPr txBox="1"/>
          <p:nvPr/>
        </p:nvSpPr>
        <p:spPr>
          <a:xfrm>
            <a:off x="6766560" y="4672584"/>
            <a:ext cx="4983480" cy="237744"/>
          </a:xfrm>
          <a:prstGeom prst="rect">
            <a:avLst/>
          </a:prstGeom>
          <a:noFill/>
        </p:spPr>
        <p:txBody>
          <a:bodyPr wrap="square">
            <a:spAutoFit/>
          </a:bodyPr>
          <a:lstStyle/>
          <a:p>
            <a:pPr algn="l"/>
            <a:r>
              <a:rPr sz="1300" b="1" i="0">
                <a:solidFill>
                  <a:srgbClr val="FFFFFF"/>
                </a:solidFill>
                <a:latin typeface="Satoshi"/>
              </a:rPr>
              <a:t>Alerts and anomaly detection</a:t>
            </a:r>
          </a:p>
        </p:txBody>
      </p:sp>
      <p:sp>
        <p:nvSpPr>
          <p:cNvPr id="34" name="TextBox 33"/>
          <p:cNvSpPr txBox="1"/>
          <p:nvPr/>
        </p:nvSpPr>
        <p:spPr>
          <a:xfrm>
            <a:off x="6766560" y="4919472"/>
            <a:ext cx="4983480" cy="347472"/>
          </a:xfrm>
          <a:prstGeom prst="rect">
            <a:avLst/>
          </a:prstGeom>
          <a:noFill/>
        </p:spPr>
        <p:txBody>
          <a:bodyPr wrap="square">
            <a:spAutoFit/>
          </a:bodyPr>
          <a:lstStyle/>
          <a:p>
            <a:pPr algn="l"/>
            <a:r>
              <a:rPr sz="1200" b="0" i="0">
                <a:solidFill>
                  <a:srgbClr val="9D9D9F"/>
                </a:solidFill>
                <a:latin typeface="Satoshi"/>
              </a:rPr>
              <a:t>AI flags when lead volume drops sharply, when a deal stalls past its expected close date, or when a VIP contact has not been followed 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685800" y="201168"/>
            <a:ext cx="5486400" cy="256032"/>
          </a:xfrm>
          <a:prstGeom prst="rect">
            <a:avLst/>
          </a:prstGeom>
          <a:noFill/>
        </p:spPr>
        <p:txBody>
          <a:bodyPr wrap="square">
            <a:spAutoFit/>
          </a:bodyPr>
          <a:lstStyle/>
          <a:p>
            <a:pPr algn="l"/>
            <a:r>
              <a:rPr sz="900" b="1" i="0">
                <a:solidFill>
                  <a:srgbClr val="6B6B6E"/>
                </a:solidFill>
                <a:latin typeface="Satoshi"/>
              </a:rPr>
              <a:t>GENOSAI  x  HAITHAM KALAKESH</a:t>
            </a:r>
          </a:p>
        </p:txBody>
      </p:sp>
      <p:sp>
        <p:nvSpPr>
          <p:cNvPr id="3" name="TextBox 2"/>
          <p:cNvSpPr txBox="1"/>
          <p:nvPr/>
        </p:nvSpPr>
        <p:spPr>
          <a:xfrm>
            <a:off x="6858000" y="201168"/>
            <a:ext cx="4645152" cy="256032"/>
          </a:xfrm>
          <a:prstGeom prst="rect">
            <a:avLst/>
          </a:prstGeom>
          <a:noFill/>
        </p:spPr>
        <p:txBody>
          <a:bodyPr wrap="square">
            <a:spAutoFit/>
          </a:bodyPr>
          <a:lstStyle/>
          <a:p>
            <a:pPr algn="r"/>
            <a:r>
              <a:rPr sz="900" b="1" i="0">
                <a:solidFill>
                  <a:srgbClr val="6B6B6E"/>
                </a:solidFill>
                <a:latin typeface="Satoshi"/>
              </a:rPr>
              <a:t>05  .  IMPLEMENTATION</a:t>
            </a:r>
          </a:p>
        </p:txBody>
      </p:sp>
      <p:sp>
        <p:nvSpPr>
          <p:cNvPr id="4" name="Rectangle 3"/>
          <p:cNvSpPr/>
          <p:nvPr/>
        </p:nvSpPr>
        <p:spPr>
          <a:xfrm>
            <a:off x="685800" y="530352"/>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AI Audit &amp; Automation Proposal  .  Reve Real Estate &amp; Riversong Technology  .  2026</a:t>
            </a:r>
          </a:p>
        </p:txBody>
      </p:sp>
      <p:sp>
        <p:nvSpPr>
          <p:cNvPr id="6" name="TextBox 5"/>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11 / 12</a:t>
            </a:r>
          </a:p>
        </p:txBody>
      </p:sp>
      <p:sp>
        <p:nvSpPr>
          <p:cNvPr id="7" name="TextBox 6"/>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THREE PHASES ACROSS BOTH BUSINESSES</a:t>
            </a:r>
          </a:p>
        </p:txBody>
      </p:sp>
      <p:sp>
        <p:nvSpPr>
          <p:cNvPr id="8" name="TextBox 7"/>
          <p:cNvSpPr txBox="1"/>
          <p:nvPr/>
        </p:nvSpPr>
        <p:spPr>
          <a:xfrm>
            <a:off x="685800" y="1078992"/>
            <a:ext cx="9144000" cy="1463040"/>
          </a:xfrm>
          <a:prstGeom prst="rect">
            <a:avLst/>
          </a:prstGeom>
          <a:noFill/>
        </p:spPr>
        <p:txBody>
          <a:bodyPr wrap="square">
            <a:spAutoFit/>
          </a:bodyPr>
          <a:lstStyle/>
          <a:p>
            <a:pPr algn="l"/>
            <a:r>
              <a:rPr sz="3600" b="0" i="0">
                <a:solidFill>
                  <a:srgbClr val="FFFFFF"/>
                </a:solidFill>
                <a:latin typeface="Instrument Serif"/>
              </a:rPr>
              <a:t>Implementation Roadmap</a:t>
            </a:r>
          </a:p>
        </p:txBody>
      </p:sp>
      <p:sp>
        <p:nvSpPr>
          <p:cNvPr id="9" name="TextBox 8"/>
          <p:cNvSpPr txBox="1"/>
          <p:nvPr/>
        </p:nvSpPr>
        <p:spPr>
          <a:xfrm>
            <a:off x="685800" y="2011680"/>
            <a:ext cx="9144000" cy="347472"/>
          </a:xfrm>
          <a:prstGeom prst="rect">
            <a:avLst/>
          </a:prstGeom>
          <a:noFill/>
        </p:spPr>
        <p:txBody>
          <a:bodyPr wrap="square">
            <a:spAutoFit/>
          </a:bodyPr>
          <a:lstStyle/>
          <a:p>
            <a:pPr algn="l"/>
            <a:r>
              <a:rPr sz="1300" b="0" i="0">
                <a:solidFill>
                  <a:srgbClr val="86868A"/>
                </a:solidFill>
                <a:latin typeface="Satoshi"/>
              </a:rPr>
              <a:t>Reve Real Estate addressed first -- highest urgency (score 3/10). Riversong and cross-business systems follow in parallel.</a:t>
            </a:r>
          </a:p>
        </p:txBody>
      </p:sp>
      <p:sp>
        <p:nvSpPr>
          <p:cNvPr id="10" name="Rectangle 9"/>
          <p:cNvSpPr/>
          <p:nvPr/>
        </p:nvSpPr>
        <p:spPr>
          <a:xfrm>
            <a:off x="685800" y="2487168"/>
            <a:ext cx="10817352"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3108960" cy="256032"/>
          </a:xfrm>
          <a:prstGeom prst="rect">
            <a:avLst/>
          </a:prstGeom>
          <a:noFill/>
        </p:spPr>
        <p:txBody>
          <a:bodyPr wrap="square">
            <a:spAutoFit/>
          </a:bodyPr>
          <a:lstStyle/>
          <a:p>
            <a:pPr algn="l"/>
            <a:r>
              <a:rPr sz="900" b="1" i="0">
                <a:solidFill>
                  <a:srgbClr val="A78BFA"/>
                </a:solidFill>
                <a:latin typeface="Satoshi"/>
              </a:rPr>
              <a:t>PHASE 01  .  Weeks 1-2</a:t>
            </a:r>
          </a:p>
        </p:txBody>
      </p:sp>
      <p:sp>
        <p:nvSpPr>
          <p:cNvPr id="13" name="TextBox 12"/>
          <p:cNvSpPr txBox="1"/>
          <p:nvPr/>
        </p:nvSpPr>
        <p:spPr>
          <a:xfrm>
            <a:off x="914400" y="3200400"/>
            <a:ext cx="3108960" cy="384048"/>
          </a:xfrm>
          <a:prstGeom prst="rect">
            <a:avLst/>
          </a:prstGeom>
          <a:noFill/>
        </p:spPr>
        <p:txBody>
          <a:bodyPr wrap="square">
            <a:spAutoFit/>
          </a:bodyPr>
          <a:lstStyle/>
          <a:p>
            <a:pPr algn="l"/>
            <a:r>
              <a:rPr sz="1500" b="0" i="0">
                <a:solidFill>
                  <a:srgbClr val="FFFFFF"/>
                </a:solidFill>
                <a:latin typeface="Instrument Serif"/>
              </a:rPr>
              <a:t>Reve: Inquiry &amp; Lead Capture</a:t>
            </a:r>
          </a:p>
        </p:txBody>
      </p:sp>
      <p:sp>
        <p:nvSpPr>
          <p:cNvPr id="14" name="TextBox 13"/>
          <p:cNvSpPr txBox="1"/>
          <p:nvPr/>
        </p:nvSpPr>
        <p:spPr>
          <a:xfrm>
            <a:off x="914400" y="3657600"/>
            <a:ext cx="3108960" cy="475488"/>
          </a:xfrm>
          <a:prstGeom prst="rect">
            <a:avLst/>
          </a:prstGeom>
          <a:noFill/>
        </p:spPr>
        <p:txBody>
          <a:bodyPr wrap="square">
            <a:spAutoFit/>
          </a:bodyPr>
          <a:lstStyle/>
          <a:p>
            <a:pPr algn="l"/>
            <a:r>
              <a:rPr sz="1100" b="0" i="0">
                <a:solidFill>
                  <a:srgbClr val="9D9D9F"/>
                </a:solidFill>
                <a:latin typeface="Satoshi"/>
              </a:rPr>
              <a:t>WhatsApp inquiry AI, web chat lead intake, buyer qualification scoring, and developer launch alert system live on reverealestates.com.</a:t>
            </a:r>
          </a:p>
        </p:txBody>
      </p:sp>
      <p:sp>
        <p:nvSpPr>
          <p:cNvPr id="15" name="TextBox 14"/>
          <p:cNvSpPr txBox="1"/>
          <p:nvPr/>
        </p:nvSpPr>
        <p:spPr>
          <a:xfrm>
            <a:off x="914400" y="4224528"/>
            <a:ext cx="3108960" cy="237744"/>
          </a:xfrm>
          <a:prstGeom prst="rect">
            <a:avLst/>
          </a:prstGeom>
          <a:noFill/>
        </p:spPr>
        <p:txBody>
          <a:bodyPr wrap="square">
            <a:spAutoFit/>
          </a:bodyPr>
          <a:lstStyle/>
          <a:p>
            <a:pPr algn="l"/>
            <a:r>
              <a:rPr sz="1000" b="0" i="0">
                <a:solidFill>
                  <a:srgbClr val="6B6B6E"/>
                </a:solidFill>
                <a:latin typeface="Satoshi"/>
              </a:rPr>
              <a:t>&gt;  WhatsApp AI number setup</a:t>
            </a:r>
          </a:p>
        </p:txBody>
      </p:sp>
      <p:sp>
        <p:nvSpPr>
          <p:cNvPr id="16" name="TextBox 15"/>
          <p:cNvSpPr txBox="1"/>
          <p:nvPr/>
        </p:nvSpPr>
        <p:spPr>
          <a:xfrm>
            <a:off x="914400" y="4498848"/>
            <a:ext cx="3108960" cy="237744"/>
          </a:xfrm>
          <a:prstGeom prst="rect">
            <a:avLst/>
          </a:prstGeom>
          <a:noFill/>
        </p:spPr>
        <p:txBody>
          <a:bodyPr wrap="square">
            <a:spAutoFit/>
          </a:bodyPr>
          <a:lstStyle/>
          <a:p>
            <a:pPr algn="l"/>
            <a:r>
              <a:rPr sz="1000" b="0" i="0">
                <a:solidFill>
                  <a:srgbClr val="6B6B6E"/>
                </a:solidFill>
                <a:latin typeface="Satoshi"/>
              </a:rPr>
              <a:t>&gt;  Web chat widget deployment</a:t>
            </a:r>
          </a:p>
        </p:txBody>
      </p:sp>
      <p:sp>
        <p:nvSpPr>
          <p:cNvPr id="17" name="TextBox 16"/>
          <p:cNvSpPr txBox="1"/>
          <p:nvPr/>
        </p:nvSpPr>
        <p:spPr>
          <a:xfrm>
            <a:off x="914400" y="4773168"/>
            <a:ext cx="3108960" cy="237744"/>
          </a:xfrm>
          <a:prstGeom prst="rect">
            <a:avLst/>
          </a:prstGeom>
          <a:noFill/>
        </p:spPr>
        <p:txBody>
          <a:bodyPr wrap="square">
            <a:spAutoFit/>
          </a:bodyPr>
          <a:lstStyle/>
          <a:p>
            <a:pPr algn="l"/>
            <a:r>
              <a:rPr sz="1000" b="0" i="0">
                <a:solidFill>
                  <a:srgbClr val="6B6B6E"/>
                </a:solidFill>
                <a:latin typeface="Satoshi"/>
              </a:rPr>
              <a:t>&gt;  Buyer qualification scoring model</a:t>
            </a:r>
          </a:p>
        </p:txBody>
      </p:sp>
      <p:sp>
        <p:nvSpPr>
          <p:cNvPr id="18" name="TextBox 17"/>
          <p:cNvSpPr txBox="1"/>
          <p:nvPr/>
        </p:nvSpPr>
        <p:spPr>
          <a:xfrm>
            <a:off x="914400" y="5047488"/>
            <a:ext cx="3108960" cy="237744"/>
          </a:xfrm>
          <a:prstGeom prst="rect">
            <a:avLst/>
          </a:prstGeom>
          <a:noFill/>
        </p:spPr>
        <p:txBody>
          <a:bodyPr wrap="square">
            <a:spAutoFit/>
          </a:bodyPr>
          <a:lstStyle/>
          <a:p>
            <a:pPr algn="l"/>
            <a:r>
              <a:rPr sz="1000" b="0" i="0">
                <a:solidFill>
                  <a:srgbClr val="6B6B6E"/>
                </a:solidFill>
                <a:latin typeface="Satoshi"/>
              </a:rPr>
              <a:t>&gt;  Developer alert sequence</a:t>
            </a:r>
          </a:p>
        </p:txBody>
      </p:sp>
      <p:sp>
        <p:nvSpPr>
          <p:cNvPr id="19" name="Rounded Rectangle 18"/>
          <p:cNvSpPr/>
          <p:nvPr/>
        </p:nvSpPr>
        <p:spPr>
          <a:xfrm>
            <a:off x="4315968"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4568" y="2880360"/>
            <a:ext cx="3108960" cy="256032"/>
          </a:xfrm>
          <a:prstGeom prst="rect">
            <a:avLst/>
          </a:prstGeom>
          <a:noFill/>
        </p:spPr>
        <p:txBody>
          <a:bodyPr wrap="square">
            <a:spAutoFit/>
          </a:bodyPr>
          <a:lstStyle/>
          <a:p>
            <a:pPr algn="l"/>
            <a:r>
              <a:rPr sz="900" b="1" i="0">
                <a:solidFill>
                  <a:srgbClr val="A78BFA"/>
                </a:solidFill>
                <a:latin typeface="Satoshi"/>
              </a:rPr>
              <a:t>PHASE 02  .  Weeks 3-4</a:t>
            </a:r>
          </a:p>
        </p:txBody>
      </p:sp>
      <p:sp>
        <p:nvSpPr>
          <p:cNvPr id="21" name="TextBox 20"/>
          <p:cNvSpPr txBox="1"/>
          <p:nvPr/>
        </p:nvSpPr>
        <p:spPr>
          <a:xfrm>
            <a:off x="4544568" y="3200400"/>
            <a:ext cx="3108960" cy="384048"/>
          </a:xfrm>
          <a:prstGeom prst="rect">
            <a:avLst/>
          </a:prstGeom>
          <a:noFill/>
        </p:spPr>
        <p:txBody>
          <a:bodyPr wrap="square">
            <a:spAutoFit/>
          </a:bodyPr>
          <a:lstStyle/>
          <a:p>
            <a:pPr algn="l"/>
            <a:r>
              <a:rPr sz="1500" b="0" i="0">
                <a:solidFill>
                  <a:srgbClr val="FFFFFF"/>
                </a:solidFill>
                <a:latin typeface="Instrument Serif"/>
              </a:rPr>
              <a:t>Reve: Nurture + Riversong: Support AI</a:t>
            </a:r>
          </a:p>
        </p:txBody>
      </p:sp>
      <p:sp>
        <p:nvSpPr>
          <p:cNvPr id="22" name="TextBox 21"/>
          <p:cNvSpPr txBox="1"/>
          <p:nvPr/>
        </p:nvSpPr>
        <p:spPr>
          <a:xfrm>
            <a:off x="4544568" y="3657600"/>
            <a:ext cx="3108960" cy="475488"/>
          </a:xfrm>
          <a:prstGeom prst="rect">
            <a:avLst/>
          </a:prstGeom>
          <a:noFill/>
        </p:spPr>
        <p:txBody>
          <a:bodyPr wrap="square">
            <a:spAutoFit/>
          </a:bodyPr>
          <a:lstStyle/>
          <a:p>
            <a:pPr algn="l"/>
            <a:r>
              <a:rPr sz="1100" b="0" i="0">
                <a:solidFill>
                  <a:srgbClr val="9D9D9F"/>
                </a:solidFill>
                <a:latin typeface="Satoshi"/>
              </a:rPr>
              <a:t>Investor nurture sequences and Golden Visa funnel for Reve; customer support AI, warranty routing, and post-purchase automation for Riversong.</a:t>
            </a:r>
          </a:p>
        </p:txBody>
      </p:sp>
      <p:sp>
        <p:nvSpPr>
          <p:cNvPr id="23" name="TextBox 22"/>
          <p:cNvSpPr txBox="1"/>
          <p:nvPr/>
        </p:nvSpPr>
        <p:spPr>
          <a:xfrm>
            <a:off x="4544568" y="4224528"/>
            <a:ext cx="3108960" cy="237744"/>
          </a:xfrm>
          <a:prstGeom prst="rect">
            <a:avLst/>
          </a:prstGeom>
          <a:noFill/>
        </p:spPr>
        <p:txBody>
          <a:bodyPr wrap="square">
            <a:spAutoFit/>
          </a:bodyPr>
          <a:lstStyle/>
          <a:p>
            <a:pPr algn="l"/>
            <a:r>
              <a:rPr sz="1000" b="0" i="0">
                <a:solidFill>
                  <a:srgbClr val="6B6B6E"/>
                </a:solidFill>
                <a:latin typeface="Satoshi"/>
              </a:rPr>
              <a:t>&gt;  Investor nurture sequence</a:t>
            </a:r>
          </a:p>
        </p:txBody>
      </p:sp>
      <p:sp>
        <p:nvSpPr>
          <p:cNvPr id="24" name="TextBox 23"/>
          <p:cNvSpPr txBox="1"/>
          <p:nvPr/>
        </p:nvSpPr>
        <p:spPr>
          <a:xfrm>
            <a:off x="4544568" y="4498848"/>
            <a:ext cx="3108960" cy="237744"/>
          </a:xfrm>
          <a:prstGeom prst="rect">
            <a:avLst/>
          </a:prstGeom>
          <a:noFill/>
        </p:spPr>
        <p:txBody>
          <a:bodyPr wrap="square">
            <a:spAutoFit/>
          </a:bodyPr>
          <a:lstStyle/>
          <a:p>
            <a:pPr algn="l"/>
            <a:r>
              <a:rPr sz="1000" b="0" i="0">
                <a:solidFill>
                  <a:srgbClr val="6B6B6E"/>
                </a:solidFill>
                <a:latin typeface="Satoshi"/>
              </a:rPr>
              <a:t>&gt;  Golden Visa funnel build</a:t>
            </a:r>
          </a:p>
        </p:txBody>
      </p:sp>
      <p:sp>
        <p:nvSpPr>
          <p:cNvPr id="25" name="TextBox 24"/>
          <p:cNvSpPr txBox="1"/>
          <p:nvPr/>
        </p:nvSpPr>
        <p:spPr>
          <a:xfrm>
            <a:off x="4544568" y="4773168"/>
            <a:ext cx="3108960" cy="237744"/>
          </a:xfrm>
          <a:prstGeom prst="rect">
            <a:avLst/>
          </a:prstGeom>
          <a:noFill/>
        </p:spPr>
        <p:txBody>
          <a:bodyPr wrap="square">
            <a:spAutoFit/>
          </a:bodyPr>
          <a:lstStyle/>
          <a:p>
            <a:pPr algn="l"/>
            <a:r>
              <a:rPr sz="1000" b="0" i="0">
                <a:solidFill>
                  <a:srgbClr val="6B6B6E"/>
                </a:solidFill>
                <a:latin typeface="Satoshi"/>
              </a:rPr>
              <a:t>&gt;  Riversong support chat widget</a:t>
            </a:r>
          </a:p>
        </p:txBody>
      </p:sp>
      <p:sp>
        <p:nvSpPr>
          <p:cNvPr id="26" name="TextBox 25"/>
          <p:cNvSpPr txBox="1"/>
          <p:nvPr/>
        </p:nvSpPr>
        <p:spPr>
          <a:xfrm>
            <a:off x="4544568" y="5047488"/>
            <a:ext cx="3108960" cy="237744"/>
          </a:xfrm>
          <a:prstGeom prst="rect">
            <a:avLst/>
          </a:prstGeom>
          <a:noFill/>
        </p:spPr>
        <p:txBody>
          <a:bodyPr wrap="square">
            <a:spAutoFit/>
          </a:bodyPr>
          <a:lstStyle/>
          <a:p>
            <a:pPr algn="l"/>
            <a:r>
              <a:rPr sz="1000" b="0" i="0">
                <a:solidFill>
                  <a:srgbClr val="6B6B6E"/>
                </a:solidFill>
                <a:latin typeface="Satoshi"/>
              </a:rPr>
              <a:t>&gt;  Warranty and return flow</a:t>
            </a:r>
          </a:p>
        </p:txBody>
      </p:sp>
      <p:sp>
        <p:nvSpPr>
          <p:cNvPr id="27" name="Rounded Rectangle 26"/>
          <p:cNvSpPr/>
          <p:nvPr/>
        </p:nvSpPr>
        <p:spPr>
          <a:xfrm>
            <a:off x="7946136" y="2743200"/>
            <a:ext cx="3474720" cy="34290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4736" y="2880360"/>
            <a:ext cx="3108960" cy="256032"/>
          </a:xfrm>
          <a:prstGeom prst="rect">
            <a:avLst/>
          </a:prstGeom>
          <a:noFill/>
        </p:spPr>
        <p:txBody>
          <a:bodyPr wrap="square">
            <a:spAutoFit/>
          </a:bodyPr>
          <a:lstStyle/>
          <a:p>
            <a:pPr algn="l"/>
            <a:r>
              <a:rPr sz="900" b="1" i="0">
                <a:solidFill>
                  <a:srgbClr val="A78BFA"/>
                </a:solidFill>
                <a:latin typeface="Satoshi"/>
              </a:rPr>
              <a:t>PHASE 03  .  Week 5</a:t>
            </a:r>
          </a:p>
        </p:txBody>
      </p:sp>
      <p:sp>
        <p:nvSpPr>
          <p:cNvPr id="29" name="TextBox 28"/>
          <p:cNvSpPr txBox="1"/>
          <p:nvPr/>
        </p:nvSpPr>
        <p:spPr>
          <a:xfrm>
            <a:off x="8174736" y="3200400"/>
            <a:ext cx="3108960" cy="384048"/>
          </a:xfrm>
          <a:prstGeom prst="rect">
            <a:avLst/>
          </a:prstGeom>
          <a:noFill/>
        </p:spPr>
        <p:txBody>
          <a:bodyPr wrap="square">
            <a:spAutoFit/>
          </a:bodyPr>
          <a:lstStyle/>
          <a:p>
            <a:pPr algn="l"/>
            <a:r>
              <a:rPr sz="1500" b="0" i="0">
                <a:solidFill>
                  <a:srgbClr val="FFFFFF"/>
                </a:solidFill>
                <a:latin typeface="Instrument Serif"/>
              </a:rPr>
              <a:t>Riversong B2B + Cross-Business CRM</a:t>
            </a:r>
          </a:p>
        </p:txBody>
      </p:sp>
      <p:sp>
        <p:nvSpPr>
          <p:cNvPr id="30" name="TextBox 29"/>
          <p:cNvSpPr txBox="1"/>
          <p:nvPr/>
        </p:nvSpPr>
        <p:spPr>
          <a:xfrm>
            <a:off x="8174736" y="3657600"/>
            <a:ext cx="3108960" cy="475488"/>
          </a:xfrm>
          <a:prstGeom prst="rect">
            <a:avLst/>
          </a:prstGeom>
          <a:noFill/>
        </p:spPr>
        <p:txBody>
          <a:bodyPr wrap="square">
            <a:spAutoFit/>
          </a:bodyPr>
          <a:lstStyle/>
          <a:p>
            <a:pPr algn="l"/>
            <a:r>
              <a:rPr sz="1100" b="0" i="0">
                <a:solidFill>
                  <a:srgbClr val="9D9D9F"/>
                </a:solidFill>
                <a:latin typeface="Satoshi"/>
              </a:rPr>
              <a:t>B2B distributor inquiry AI, partner onboarding sequences, and unified CRM with executive reporting across both businesses.</a:t>
            </a:r>
          </a:p>
        </p:txBody>
      </p:sp>
      <p:sp>
        <p:nvSpPr>
          <p:cNvPr id="31" name="TextBox 30"/>
          <p:cNvSpPr txBox="1"/>
          <p:nvPr/>
        </p:nvSpPr>
        <p:spPr>
          <a:xfrm>
            <a:off x="8174736" y="4224528"/>
            <a:ext cx="3108960" cy="237744"/>
          </a:xfrm>
          <a:prstGeom prst="rect">
            <a:avLst/>
          </a:prstGeom>
          <a:noFill/>
        </p:spPr>
        <p:txBody>
          <a:bodyPr wrap="square">
            <a:spAutoFit/>
          </a:bodyPr>
          <a:lstStyle/>
          <a:p>
            <a:pPr algn="l"/>
            <a:r>
              <a:rPr sz="1000" b="0" i="0">
                <a:solidFill>
                  <a:srgbClr val="6B6B6E"/>
                </a:solidFill>
                <a:latin typeface="Satoshi"/>
              </a:rPr>
              <a:t>&gt;  B2B inquiry qualification flow</a:t>
            </a:r>
          </a:p>
        </p:txBody>
      </p:sp>
      <p:sp>
        <p:nvSpPr>
          <p:cNvPr id="32" name="TextBox 31"/>
          <p:cNvSpPr txBox="1"/>
          <p:nvPr/>
        </p:nvSpPr>
        <p:spPr>
          <a:xfrm>
            <a:off x="8174736" y="4498848"/>
            <a:ext cx="3108960" cy="237744"/>
          </a:xfrm>
          <a:prstGeom prst="rect">
            <a:avLst/>
          </a:prstGeom>
          <a:noFill/>
        </p:spPr>
        <p:txBody>
          <a:bodyPr wrap="square">
            <a:spAutoFit/>
          </a:bodyPr>
          <a:lstStyle/>
          <a:p>
            <a:pPr algn="l"/>
            <a:r>
              <a:rPr sz="1000" b="0" i="0">
                <a:solidFill>
                  <a:srgbClr val="6B6B6E"/>
                </a:solidFill>
                <a:latin typeface="Satoshi"/>
              </a:rPr>
              <a:t>&gt;  Partner onboarding sequence</a:t>
            </a:r>
          </a:p>
        </p:txBody>
      </p:sp>
      <p:sp>
        <p:nvSpPr>
          <p:cNvPr id="33" name="TextBox 32"/>
          <p:cNvSpPr txBox="1"/>
          <p:nvPr/>
        </p:nvSpPr>
        <p:spPr>
          <a:xfrm>
            <a:off x="8174736" y="4773168"/>
            <a:ext cx="3108960" cy="237744"/>
          </a:xfrm>
          <a:prstGeom prst="rect">
            <a:avLst/>
          </a:prstGeom>
          <a:noFill/>
        </p:spPr>
        <p:txBody>
          <a:bodyPr wrap="square">
            <a:spAutoFit/>
          </a:bodyPr>
          <a:lstStyle/>
          <a:p>
            <a:pPr algn="l"/>
            <a:r>
              <a:rPr sz="1000" b="0" i="0">
                <a:solidFill>
                  <a:srgbClr val="6B6B6E"/>
                </a:solidFill>
                <a:latin typeface="Satoshi"/>
              </a:rPr>
              <a:t>&gt;  Unified CRM pipeline setup</a:t>
            </a:r>
          </a:p>
        </p:txBody>
      </p:sp>
      <p:sp>
        <p:nvSpPr>
          <p:cNvPr id="34" name="TextBox 33"/>
          <p:cNvSpPr txBox="1"/>
          <p:nvPr/>
        </p:nvSpPr>
        <p:spPr>
          <a:xfrm>
            <a:off x="8174736" y="5047488"/>
            <a:ext cx="3108960" cy="237744"/>
          </a:xfrm>
          <a:prstGeom prst="rect">
            <a:avLst/>
          </a:prstGeom>
          <a:noFill/>
        </p:spPr>
        <p:txBody>
          <a:bodyPr wrap="square">
            <a:spAutoFit/>
          </a:bodyPr>
          <a:lstStyle/>
          <a:p>
            <a:pPr algn="l"/>
            <a:r>
              <a:rPr sz="1000" b="0" i="0">
                <a:solidFill>
                  <a:srgbClr val="6B6B6E"/>
                </a:solidFill>
                <a:latin typeface="Satoshi"/>
              </a:rPr>
              <a:t>&gt;  Weekly executive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Rectangle 1"/>
          <p:cNvSpPr/>
          <p:nvPr/>
        </p:nvSpPr>
        <p:spPr>
          <a:xfrm>
            <a:off x="0" y="0"/>
            <a:ext cx="12188952"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5486400" cy="274320"/>
          </a:xfrm>
          <a:prstGeom prst="rect">
            <a:avLst/>
          </a:prstGeom>
          <a:noFill/>
        </p:spPr>
        <p:txBody>
          <a:bodyPr wrap="square">
            <a:spAutoFit/>
          </a:bodyPr>
          <a:lstStyle/>
          <a:p>
            <a:pPr algn="l"/>
            <a:r>
              <a:rPr sz="1000" b="1" i="0">
                <a:solidFill>
                  <a:srgbClr val="A78BFA"/>
                </a:solidFill>
                <a:latin typeface="Satoshi"/>
              </a:rPr>
              <a:t>WHO IS BEHIND THIS</a:t>
            </a:r>
          </a:p>
        </p:txBody>
      </p:sp>
      <p:sp>
        <p:nvSpPr>
          <p:cNvPr id="4" name="TextBox 3"/>
          <p:cNvSpPr txBox="1"/>
          <p:nvPr/>
        </p:nvSpPr>
        <p:spPr>
          <a:xfrm>
            <a:off x="685800" y="1078992"/>
            <a:ext cx="9144000" cy="1463040"/>
          </a:xfrm>
          <a:prstGeom prst="rect">
            <a:avLst/>
          </a:prstGeom>
          <a:noFill/>
        </p:spPr>
        <p:txBody>
          <a:bodyPr wrap="square">
            <a:spAutoFit/>
          </a:bodyPr>
          <a:lstStyle/>
          <a:p>
            <a:pPr algn="l"/>
            <a:r>
              <a:rPr sz="4000" b="0" i="0">
                <a:solidFill>
                  <a:srgbClr val="FFFFFF"/>
                </a:solidFill>
                <a:latin typeface="Instrument Serif"/>
              </a:rPr>
              <a:t>GenosAI Tech</a:t>
            </a:r>
          </a:p>
        </p:txBody>
      </p:sp>
      <p:sp>
        <p:nvSpPr>
          <p:cNvPr id="5" name="TextBox 4"/>
          <p:cNvSpPr txBox="1"/>
          <p:nvPr/>
        </p:nvSpPr>
        <p:spPr>
          <a:xfrm>
            <a:off x="685800" y="2029968"/>
            <a:ext cx="5943600" cy="603504"/>
          </a:xfrm>
          <a:prstGeom prst="rect">
            <a:avLst/>
          </a:prstGeom>
          <a:noFill/>
        </p:spPr>
        <p:txBody>
          <a:bodyPr wrap="square">
            <a:spAutoFit/>
          </a:bodyPr>
          <a:lstStyle/>
          <a:p>
            <a:pPr algn="l"/>
            <a:r>
              <a:rPr sz="1300" b="0" i="0">
                <a:solidFill>
                  <a:srgbClr val="86868A"/>
                </a:solidFill>
                <a:latin typeface="Satoshi"/>
              </a:rPr>
              <a:t>GenosAI builds AI automation systems for real estate groups, consumer electronics brands, and multi-market businesses. We build inquiry capture flows, investor nurture systems, B2B qualification AI, support automation, and executive reporting -- production-grade from week one.</a:t>
            </a:r>
          </a:p>
        </p:txBody>
      </p:sp>
      <p:sp>
        <p:nvSpPr>
          <p:cNvPr id="6" name="Rectangle 5"/>
          <p:cNvSpPr/>
          <p:nvPr/>
        </p:nvSpPr>
        <p:spPr>
          <a:xfrm>
            <a:off x="685800" y="2761488"/>
            <a:ext cx="548640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926080"/>
            <a:ext cx="3657600" cy="256032"/>
          </a:xfrm>
          <a:prstGeom prst="rect">
            <a:avLst/>
          </a:prstGeom>
          <a:noFill/>
        </p:spPr>
        <p:txBody>
          <a:bodyPr wrap="square">
            <a:spAutoFit/>
          </a:bodyPr>
          <a:lstStyle/>
          <a:p>
            <a:pPr algn="l"/>
            <a:r>
              <a:rPr sz="900" b="1" i="0">
                <a:solidFill>
                  <a:srgbClr val="6B6B6E"/>
                </a:solidFill>
                <a:latin typeface="Satoshi"/>
              </a:rPr>
              <a:t>WHAT WE BUILD</a:t>
            </a:r>
          </a:p>
        </p:txBody>
      </p:sp>
      <p:sp>
        <p:nvSpPr>
          <p:cNvPr id="8" name="TextBox 7"/>
          <p:cNvSpPr txBox="1"/>
          <p:nvPr/>
        </p:nvSpPr>
        <p:spPr>
          <a:xfrm>
            <a:off x="685800" y="3273552"/>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9" name="TextBox 8"/>
          <p:cNvSpPr txBox="1"/>
          <p:nvPr/>
        </p:nvSpPr>
        <p:spPr>
          <a:xfrm>
            <a:off x="960120" y="3273552"/>
            <a:ext cx="4754880" cy="237744"/>
          </a:xfrm>
          <a:prstGeom prst="rect">
            <a:avLst/>
          </a:prstGeom>
          <a:noFill/>
        </p:spPr>
        <p:txBody>
          <a:bodyPr wrap="square">
            <a:spAutoFit/>
          </a:bodyPr>
          <a:lstStyle/>
          <a:p>
            <a:pPr algn="l"/>
            <a:r>
              <a:rPr sz="1200" b="1" i="0">
                <a:solidFill>
                  <a:srgbClr val="FFFFFF"/>
                </a:solidFill>
                <a:latin typeface="Satoshi"/>
              </a:rPr>
              <a:t>Property Inquiry AI</a:t>
            </a:r>
          </a:p>
        </p:txBody>
      </p:sp>
      <p:sp>
        <p:nvSpPr>
          <p:cNvPr id="10" name="TextBox 9"/>
          <p:cNvSpPr txBox="1"/>
          <p:nvPr/>
        </p:nvSpPr>
        <p:spPr>
          <a:xfrm>
            <a:off x="960120" y="3520440"/>
            <a:ext cx="4754880" cy="347472"/>
          </a:xfrm>
          <a:prstGeom prst="rect">
            <a:avLst/>
          </a:prstGeom>
          <a:noFill/>
        </p:spPr>
        <p:txBody>
          <a:bodyPr wrap="square">
            <a:spAutoFit/>
          </a:bodyPr>
          <a:lstStyle/>
          <a:p>
            <a:pPr algn="l"/>
            <a:r>
              <a:rPr sz="1100" b="0" i="0">
                <a:solidFill>
                  <a:srgbClr val="9D9D9F"/>
                </a:solidFill>
                <a:latin typeface="Satoshi"/>
              </a:rPr>
              <a:t>WhatsApp and web chat intake for every buyer and investor.</a:t>
            </a:r>
          </a:p>
        </p:txBody>
      </p:sp>
      <p:sp>
        <p:nvSpPr>
          <p:cNvPr id="11" name="TextBox 10"/>
          <p:cNvSpPr txBox="1"/>
          <p:nvPr/>
        </p:nvSpPr>
        <p:spPr>
          <a:xfrm>
            <a:off x="685800" y="3931920"/>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2" name="TextBox 11"/>
          <p:cNvSpPr txBox="1"/>
          <p:nvPr/>
        </p:nvSpPr>
        <p:spPr>
          <a:xfrm>
            <a:off x="960120" y="3931920"/>
            <a:ext cx="4754880" cy="237744"/>
          </a:xfrm>
          <a:prstGeom prst="rect">
            <a:avLst/>
          </a:prstGeom>
          <a:noFill/>
        </p:spPr>
        <p:txBody>
          <a:bodyPr wrap="square">
            <a:spAutoFit/>
          </a:bodyPr>
          <a:lstStyle/>
          <a:p>
            <a:pPr algn="l"/>
            <a:r>
              <a:rPr sz="1200" b="1" i="0">
                <a:solidFill>
                  <a:srgbClr val="FFFFFF"/>
                </a:solidFill>
                <a:latin typeface="Satoshi"/>
              </a:rPr>
              <a:t>Investor Nurture Systems</a:t>
            </a:r>
          </a:p>
        </p:txBody>
      </p:sp>
      <p:sp>
        <p:nvSpPr>
          <p:cNvPr id="13" name="TextBox 12"/>
          <p:cNvSpPr txBox="1"/>
          <p:nvPr/>
        </p:nvSpPr>
        <p:spPr>
          <a:xfrm>
            <a:off x="960120" y="4178808"/>
            <a:ext cx="4754880" cy="347472"/>
          </a:xfrm>
          <a:prstGeom prst="rect">
            <a:avLst/>
          </a:prstGeom>
          <a:noFill/>
        </p:spPr>
        <p:txBody>
          <a:bodyPr wrap="square">
            <a:spAutoFit/>
          </a:bodyPr>
          <a:lstStyle/>
          <a:p>
            <a:pPr algn="l"/>
            <a:r>
              <a:rPr sz="1100" b="0" i="0">
                <a:solidFill>
                  <a:srgbClr val="9D9D9F"/>
                </a:solidFill>
                <a:latin typeface="Satoshi"/>
              </a:rPr>
              <a:t>Automated follow-up sequences that close deals on the 4th touch.</a:t>
            </a:r>
          </a:p>
        </p:txBody>
      </p:sp>
      <p:sp>
        <p:nvSpPr>
          <p:cNvPr id="14" name="TextBox 13"/>
          <p:cNvSpPr txBox="1"/>
          <p:nvPr/>
        </p:nvSpPr>
        <p:spPr>
          <a:xfrm>
            <a:off x="685800" y="4590288"/>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5" name="TextBox 14"/>
          <p:cNvSpPr txBox="1"/>
          <p:nvPr/>
        </p:nvSpPr>
        <p:spPr>
          <a:xfrm>
            <a:off x="960120" y="4590288"/>
            <a:ext cx="4754880" cy="237744"/>
          </a:xfrm>
          <a:prstGeom prst="rect">
            <a:avLst/>
          </a:prstGeom>
          <a:noFill/>
        </p:spPr>
        <p:txBody>
          <a:bodyPr wrap="square">
            <a:spAutoFit/>
          </a:bodyPr>
          <a:lstStyle/>
          <a:p>
            <a:pPr algn="l"/>
            <a:r>
              <a:rPr sz="1200" b="1" i="0">
                <a:solidFill>
                  <a:srgbClr val="FFFFFF"/>
                </a:solidFill>
                <a:latin typeface="Satoshi"/>
              </a:rPr>
              <a:t>B2B Qualification AI</a:t>
            </a:r>
          </a:p>
        </p:txBody>
      </p:sp>
      <p:sp>
        <p:nvSpPr>
          <p:cNvPr id="16" name="TextBox 15"/>
          <p:cNvSpPr txBox="1"/>
          <p:nvPr/>
        </p:nvSpPr>
        <p:spPr>
          <a:xfrm>
            <a:off x="960120" y="4837176"/>
            <a:ext cx="4754880" cy="347472"/>
          </a:xfrm>
          <a:prstGeom prst="rect">
            <a:avLst/>
          </a:prstGeom>
          <a:noFill/>
        </p:spPr>
        <p:txBody>
          <a:bodyPr wrap="square">
            <a:spAutoFit/>
          </a:bodyPr>
          <a:lstStyle/>
          <a:p>
            <a:pPr algn="l"/>
            <a:r>
              <a:rPr sz="1100" b="0" i="0">
                <a:solidFill>
                  <a:srgbClr val="9D9D9F"/>
                </a:solidFill>
                <a:latin typeface="Satoshi"/>
              </a:rPr>
              <a:t>Distributor and retailer enquiries routed without manual work.</a:t>
            </a:r>
          </a:p>
        </p:txBody>
      </p:sp>
      <p:sp>
        <p:nvSpPr>
          <p:cNvPr id="17" name="TextBox 16"/>
          <p:cNvSpPr txBox="1"/>
          <p:nvPr/>
        </p:nvSpPr>
        <p:spPr>
          <a:xfrm>
            <a:off x="685800" y="5248656"/>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18" name="TextBox 17"/>
          <p:cNvSpPr txBox="1"/>
          <p:nvPr/>
        </p:nvSpPr>
        <p:spPr>
          <a:xfrm>
            <a:off x="960120" y="5248656"/>
            <a:ext cx="4754880" cy="237744"/>
          </a:xfrm>
          <a:prstGeom prst="rect">
            <a:avLst/>
          </a:prstGeom>
          <a:noFill/>
        </p:spPr>
        <p:txBody>
          <a:bodyPr wrap="square">
            <a:spAutoFit/>
          </a:bodyPr>
          <a:lstStyle/>
          <a:p>
            <a:pPr algn="l"/>
            <a:r>
              <a:rPr sz="1200" b="1" i="0">
                <a:solidFill>
                  <a:srgbClr val="FFFFFF"/>
                </a:solidFill>
                <a:latin typeface="Satoshi"/>
              </a:rPr>
              <a:t>Support Automation</a:t>
            </a:r>
          </a:p>
        </p:txBody>
      </p:sp>
      <p:sp>
        <p:nvSpPr>
          <p:cNvPr id="19" name="TextBox 18"/>
          <p:cNvSpPr txBox="1"/>
          <p:nvPr/>
        </p:nvSpPr>
        <p:spPr>
          <a:xfrm>
            <a:off x="960120" y="5495544"/>
            <a:ext cx="4754880" cy="347472"/>
          </a:xfrm>
          <a:prstGeom prst="rect">
            <a:avLst/>
          </a:prstGeom>
          <a:noFill/>
        </p:spPr>
        <p:txBody>
          <a:bodyPr wrap="square">
            <a:spAutoFit/>
          </a:bodyPr>
          <a:lstStyle/>
          <a:p>
            <a:pPr algn="l"/>
            <a:r>
              <a:rPr sz="1100" b="0" i="0">
                <a:solidFill>
                  <a:srgbClr val="9D9D9F"/>
                </a:solidFill>
                <a:latin typeface="Satoshi"/>
              </a:rPr>
              <a:t>Product support, warranty, and post-purchase handled by AI.</a:t>
            </a:r>
          </a:p>
        </p:txBody>
      </p:sp>
      <p:sp>
        <p:nvSpPr>
          <p:cNvPr id="20" name="TextBox 19"/>
          <p:cNvSpPr txBox="1"/>
          <p:nvPr/>
        </p:nvSpPr>
        <p:spPr>
          <a:xfrm>
            <a:off x="685800" y="5907024"/>
            <a:ext cx="228600" cy="237744"/>
          </a:xfrm>
          <a:prstGeom prst="rect">
            <a:avLst/>
          </a:prstGeom>
          <a:noFill/>
        </p:spPr>
        <p:txBody>
          <a:bodyPr wrap="square">
            <a:spAutoFit/>
          </a:bodyPr>
          <a:lstStyle/>
          <a:p>
            <a:pPr algn="l"/>
            <a:r>
              <a:rPr sz="1300" b="1" i="0">
                <a:solidFill>
                  <a:srgbClr val="A78BFA"/>
                </a:solidFill>
                <a:latin typeface="Satoshi"/>
              </a:rPr>
              <a:t>o</a:t>
            </a:r>
          </a:p>
        </p:txBody>
      </p:sp>
      <p:sp>
        <p:nvSpPr>
          <p:cNvPr id="21" name="TextBox 20"/>
          <p:cNvSpPr txBox="1"/>
          <p:nvPr/>
        </p:nvSpPr>
        <p:spPr>
          <a:xfrm>
            <a:off x="960120" y="5907024"/>
            <a:ext cx="4754880" cy="237744"/>
          </a:xfrm>
          <a:prstGeom prst="rect">
            <a:avLst/>
          </a:prstGeom>
          <a:noFill/>
        </p:spPr>
        <p:txBody>
          <a:bodyPr wrap="square">
            <a:spAutoFit/>
          </a:bodyPr>
          <a:lstStyle/>
          <a:p>
            <a:pPr algn="l"/>
            <a:r>
              <a:rPr sz="1200" b="1" i="0">
                <a:solidFill>
                  <a:srgbClr val="FFFFFF"/>
                </a:solidFill>
                <a:latin typeface="Satoshi"/>
              </a:rPr>
              <a:t>Unified CRM &amp; Reporting</a:t>
            </a:r>
          </a:p>
        </p:txBody>
      </p:sp>
      <p:sp>
        <p:nvSpPr>
          <p:cNvPr id="22" name="TextBox 21"/>
          <p:cNvSpPr txBox="1"/>
          <p:nvPr/>
        </p:nvSpPr>
        <p:spPr>
          <a:xfrm>
            <a:off x="960120" y="6153912"/>
            <a:ext cx="4754880" cy="347472"/>
          </a:xfrm>
          <a:prstGeom prst="rect">
            <a:avLst/>
          </a:prstGeom>
          <a:noFill/>
        </p:spPr>
        <p:txBody>
          <a:bodyPr wrap="square">
            <a:spAutoFit/>
          </a:bodyPr>
          <a:lstStyle/>
          <a:p>
            <a:pPr algn="l"/>
            <a:r>
              <a:rPr sz="1100" b="0" i="0">
                <a:solidFill>
                  <a:srgbClr val="9D9D9F"/>
                </a:solidFill>
                <a:latin typeface="Satoshi"/>
              </a:rPr>
              <a:t>One pipeline view across both businesses for Haitham.</a:t>
            </a:r>
          </a:p>
        </p:txBody>
      </p:sp>
      <p:sp>
        <p:nvSpPr>
          <p:cNvPr id="23" name="Rounded Rectangle 22"/>
          <p:cNvSpPr/>
          <p:nvPr/>
        </p:nvSpPr>
        <p:spPr>
          <a:xfrm>
            <a:off x="6858000" y="1005840"/>
            <a:ext cx="4617720" cy="5257800"/>
          </a:xfrm>
          <a:prstGeom prst="roundRect">
            <a:avLst/>
          </a:prstGeom>
          <a:solidFill>
            <a:srgbClr val="111118"/>
          </a:solidFill>
          <a:ln w="9525">
            <a:solidFill>
              <a:srgbClr val="222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6600" y="1234440"/>
            <a:ext cx="4206240" cy="320040"/>
          </a:xfrm>
          <a:prstGeom prst="rect">
            <a:avLst/>
          </a:prstGeom>
          <a:noFill/>
        </p:spPr>
        <p:txBody>
          <a:bodyPr wrap="square">
            <a:spAutoFit/>
          </a:bodyPr>
          <a:lstStyle/>
          <a:p>
            <a:pPr algn="l"/>
            <a:r>
              <a:rPr sz="900" b="1" i="0">
                <a:solidFill>
                  <a:srgbClr val="6B6B6E"/>
                </a:solidFill>
                <a:latin typeface="Satoshi"/>
              </a:rPr>
              <a:t>CLOSING NOTE</a:t>
            </a:r>
          </a:p>
        </p:txBody>
      </p:sp>
      <p:sp>
        <p:nvSpPr>
          <p:cNvPr id="25" name="TextBox 24"/>
          <p:cNvSpPr txBox="1"/>
          <p:nvPr/>
        </p:nvSpPr>
        <p:spPr>
          <a:xfrm>
            <a:off x="6949440" y="1572768"/>
            <a:ext cx="365760" cy="502920"/>
          </a:xfrm>
          <a:prstGeom prst="rect">
            <a:avLst/>
          </a:prstGeom>
          <a:noFill/>
        </p:spPr>
        <p:txBody>
          <a:bodyPr wrap="square">
            <a:spAutoFit/>
          </a:bodyPr>
          <a:lstStyle/>
          <a:p>
            <a:pPr algn="l"/>
            <a:r>
              <a:rPr sz="2800" b="0" i="0">
                <a:solidFill>
                  <a:srgbClr val="A78BFA"/>
                </a:solidFill>
                <a:latin typeface="Instrument Serif"/>
              </a:rPr>
              <a:t>"</a:t>
            </a:r>
          </a:p>
        </p:txBody>
      </p:sp>
      <p:sp>
        <p:nvSpPr>
          <p:cNvPr id="26" name="TextBox 25"/>
          <p:cNvSpPr txBox="1"/>
          <p:nvPr/>
        </p:nvSpPr>
        <p:spPr>
          <a:xfrm>
            <a:off x="7269480" y="1627632"/>
            <a:ext cx="3931920" cy="914400"/>
          </a:xfrm>
          <a:prstGeom prst="rect">
            <a:avLst/>
          </a:prstGeom>
          <a:noFill/>
        </p:spPr>
        <p:txBody>
          <a:bodyPr wrap="square">
            <a:spAutoFit/>
          </a:bodyPr>
          <a:lstStyle/>
          <a:p>
            <a:pPr algn="l"/>
            <a:r>
              <a:rPr sz="1400" b="0" i="1">
                <a:solidFill>
                  <a:srgbClr val="FFFFFF"/>
                </a:solidFill>
                <a:latin typeface="Instrument Serif"/>
              </a:rPr>
              <a:t>Two businesses, five markets, one automation layer -- every inquiry captured, every investor followed up, every partner qualified, without adding headcount.</a:t>
            </a:r>
          </a:p>
        </p:txBody>
      </p:sp>
      <p:sp>
        <p:nvSpPr>
          <p:cNvPr id="27" name="Rectangle 26"/>
          <p:cNvSpPr/>
          <p:nvPr/>
        </p:nvSpPr>
        <p:spPr>
          <a:xfrm>
            <a:off x="7086600" y="2633472"/>
            <a:ext cx="406908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86600" y="2816352"/>
            <a:ext cx="4114800" cy="256032"/>
          </a:xfrm>
          <a:prstGeom prst="rect">
            <a:avLst/>
          </a:prstGeom>
          <a:noFill/>
        </p:spPr>
        <p:txBody>
          <a:bodyPr wrap="square">
            <a:spAutoFit/>
          </a:bodyPr>
          <a:lstStyle/>
          <a:p>
            <a:pPr algn="l"/>
            <a:r>
              <a:rPr sz="900" b="1" i="0">
                <a:solidFill>
                  <a:srgbClr val="A78BFA"/>
                </a:solidFill>
                <a:latin typeface="Satoshi"/>
              </a:rPr>
              <a:t>NEXT STEPS</a:t>
            </a:r>
          </a:p>
        </p:txBody>
      </p:sp>
      <p:sp>
        <p:nvSpPr>
          <p:cNvPr id="29" name="TextBox 28"/>
          <p:cNvSpPr txBox="1"/>
          <p:nvPr/>
        </p:nvSpPr>
        <p:spPr>
          <a:xfrm>
            <a:off x="7086600" y="3154680"/>
            <a:ext cx="365760" cy="274320"/>
          </a:xfrm>
          <a:prstGeom prst="rect">
            <a:avLst/>
          </a:prstGeom>
          <a:noFill/>
        </p:spPr>
        <p:txBody>
          <a:bodyPr wrap="square">
            <a:spAutoFit/>
          </a:bodyPr>
          <a:lstStyle/>
          <a:p>
            <a:pPr algn="l"/>
            <a:r>
              <a:rPr sz="1400" b="0" i="0">
                <a:solidFill>
                  <a:srgbClr val="A78BFA"/>
                </a:solidFill>
                <a:latin typeface="Instrument Serif"/>
              </a:rPr>
              <a:t>01</a:t>
            </a:r>
          </a:p>
        </p:txBody>
      </p:sp>
      <p:sp>
        <p:nvSpPr>
          <p:cNvPr id="30" name="TextBox 29"/>
          <p:cNvSpPr txBox="1"/>
          <p:nvPr/>
        </p:nvSpPr>
        <p:spPr>
          <a:xfrm>
            <a:off x="7498079" y="3172968"/>
            <a:ext cx="3794760" cy="457200"/>
          </a:xfrm>
          <a:prstGeom prst="rect">
            <a:avLst/>
          </a:prstGeom>
          <a:noFill/>
        </p:spPr>
        <p:txBody>
          <a:bodyPr wrap="square">
            <a:spAutoFit/>
          </a:bodyPr>
          <a:lstStyle/>
          <a:p>
            <a:pPr algn="l"/>
            <a:r>
              <a:rPr sz="1200" b="0" i="0">
                <a:solidFill>
                  <a:srgbClr val="9D9D9F"/>
                </a:solidFill>
                <a:latin typeface="Satoshi"/>
              </a:rPr>
              <a:t>20-minute call to walk through both audits and confirm scope.</a:t>
            </a:r>
          </a:p>
        </p:txBody>
      </p:sp>
      <p:sp>
        <p:nvSpPr>
          <p:cNvPr id="31" name="TextBox 30"/>
          <p:cNvSpPr txBox="1"/>
          <p:nvPr/>
        </p:nvSpPr>
        <p:spPr>
          <a:xfrm>
            <a:off x="7086600" y="3721608"/>
            <a:ext cx="365760" cy="274320"/>
          </a:xfrm>
          <a:prstGeom prst="rect">
            <a:avLst/>
          </a:prstGeom>
          <a:noFill/>
        </p:spPr>
        <p:txBody>
          <a:bodyPr wrap="square">
            <a:spAutoFit/>
          </a:bodyPr>
          <a:lstStyle/>
          <a:p>
            <a:pPr algn="l"/>
            <a:r>
              <a:rPr sz="1400" b="0" i="0">
                <a:solidFill>
                  <a:srgbClr val="A78BFA"/>
                </a:solidFill>
                <a:latin typeface="Instrument Serif"/>
              </a:rPr>
              <a:t>02</a:t>
            </a:r>
          </a:p>
        </p:txBody>
      </p:sp>
      <p:sp>
        <p:nvSpPr>
          <p:cNvPr id="32" name="TextBox 31"/>
          <p:cNvSpPr txBox="1"/>
          <p:nvPr/>
        </p:nvSpPr>
        <p:spPr>
          <a:xfrm>
            <a:off x="7498079" y="3739896"/>
            <a:ext cx="3794760" cy="457200"/>
          </a:xfrm>
          <a:prstGeom prst="rect">
            <a:avLst/>
          </a:prstGeom>
          <a:noFill/>
        </p:spPr>
        <p:txBody>
          <a:bodyPr wrap="square">
            <a:spAutoFit/>
          </a:bodyPr>
          <a:lstStyle/>
          <a:p>
            <a:pPr algn="l"/>
            <a:r>
              <a:rPr sz="1200" b="0" i="0">
                <a:solidFill>
                  <a:srgbClr val="9D9D9F"/>
                </a:solidFill>
                <a:latin typeface="Satoshi"/>
              </a:rPr>
              <a:t>Phase 1 kick-off -- Reve inquiry AI live within 7 days.</a:t>
            </a:r>
          </a:p>
        </p:txBody>
      </p:sp>
      <p:sp>
        <p:nvSpPr>
          <p:cNvPr id="33" name="TextBox 32"/>
          <p:cNvSpPr txBox="1"/>
          <p:nvPr/>
        </p:nvSpPr>
        <p:spPr>
          <a:xfrm>
            <a:off x="7086600" y="4288536"/>
            <a:ext cx="365760" cy="274320"/>
          </a:xfrm>
          <a:prstGeom prst="rect">
            <a:avLst/>
          </a:prstGeom>
          <a:noFill/>
        </p:spPr>
        <p:txBody>
          <a:bodyPr wrap="square">
            <a:spAutoFit/>
          </a:bodyPr>
          <a:lstStyle/>
          <a:p>
            <a:pPr algn="l"/>
            <a:r>
              <a:rPr sz="1400" b="0" i="0">
                <a:solidFill>
                  <a:srgbClr val="A78BFA"/>
                </a:solidFill>
                <a:latin typeface="Instrument Serif"/>
              </a:rPr>
              <a:t>03</a:t>
            </a:r>
          </a:p>
        </p:txBody>
      </p:sp>
      <p:sp>
        <p:nvSpPr>
          <p:cNvPr id="34" name="TextBox 33"/>
          <p:cNvSpPr txBox="1"/>
          <p:nvPr/>
        </p:nvSpPr>
        <p:spPr>
          <a:xfrm>
            <a:off x="7498079" y="4306824"/>
            <a:ext cx="3794760" cy="457200"/>
          </a:xfrm>
          <a:prstGeom prst="rect">
            <a:avLst/>
          </a:prstGeom>
          <a:noFill/>
        </p:spPr>
        <p:txBody>
          <a:bodyPr wrap="square">
            <a:spAutoFit/>
          </a:bodyPr>
          <a:lstStyle/>
          <a:p>
            <a:pPr algn="l"/>
            <a:r>
              <a:rPr sz="1200" b="0" i="0">
                <a:solidFill>
                  <a:srgbClr val="9D9D9F"/>
                </a:solidFill>
                <a:latin typeface="Satoshi"/>
              </a:rPr>
              <a:t>First captured inquiry routed to Reve agent -- visible from day one.</a:t>
            </a:r>
          </a:p>
        </p:txBody>
      </p:sp>
      <p:sp>
        <p:nvSpPr>
          <p:cNvPr id="35" name="Rectangle 34"/>
          <p:cNvSpPr/>
          <p:nvPr/>
        </p:nvSpPr>
        <p:spPr>
          <a:xfrm>
            <a:off x="7086600" y="4983480"/>
            <a:ext cx="4069080" cy="9525"/>
          </a:xfrm>
          <a:prstGeom prst="rect">
            <a:avLst/>
          </a:prstGeom>
          <a:solidFill>
            <a:srgbClr val="222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5166360"/>
            <a:ext cx="4114800" cy="256032"/>
          </a:xfrm>
          <a:prstGeom prst="rect">
            <a:avLst/>
          </a:prstGeom>
          <a:noFill/>
        </p:spPr>
        <p:txBody>
          <a:bodyPr wrap="square">
            <a:spAutoFit/>
          </a:bodyPr>
          <a:lstStyle/>
          <a:p>
            <a:pPr algn="l"/>
            <a:r>
              <a:rPr sz="1200" b="1" i="0">
                <a:solidFill>
                  <a:srgbClr val="FFFFFF"/>
                </a:solidFill>
                <a:latin typeface="Satoshi"/>
              </a:rPr>
              <a:t>Rohan Malik  .  CEO, Genos AI</a:t>
            </a:r>
          </a:p>
        </p:txBody>
      </p:sp>
      <p:sp>
        <p:nvSpPr>
          <p:cNvPr id="37" name="TextBox 36"/>
          <p:cNvSpPr txBox="1"/>
          <p:nvPr/>
        </p:nvSpPr>
        <p:spPr>
          <a:xfrm>
            <a:off x="7086600" y="5486400"/>
            <a:ext cx="4114800" cy="256032"/>
          </a:xfrm>
          <a:prstGeom prst="rect">
            <a:avLst/>
          </a:prstGeom>
          <a:noFill/>
        </p:spPr>
        <p:txBody>
          <a:bodyPr wrap="square">
            <a:spAutoFit/>
          </a:bodyPr>
          <a:lstStyle/>
          <a:p>
            <a:pPr algn="l"/>
            <a:r>
              <a:rPr sz="1100" b="0" i="0">
                <a:solidFill>
                  <a:srgbClr val="9D9D9F"/>
                </a:solidFill>
                <a:latin typeface="Satoshi"/>
              </a:rPr>
              <a:t>hello@genosai.tech  .  +91 638-714-2699</a:t>
            </a:r>
          </a:p>
        </p:txBody>
      </p:sp>
      <p:sp>
        <p:nvSpPr>
          <p:cNvPr id="38" name="TextBox 37"/>
          <p:cNvSpPr txBox="1"/>
          <p:nvPr/>
        </p:nvSpPr>
        <p:spPr>
          <a:xfrm>
            <a:off x="7086600" y="5779008"/>
            <a:ext cx="4114800" cy="256032"/>
          </a:xfrm>
          <a:prstGeom prst="rect">
            <a:avLst/>
          </a:prstGeom>
          <a:noFill/>
        </p:spPr>
        <p:txBody>
          <a:bodyPr wrap="square">
            <a:spAutoFit/>
          </a:bodyPr>
          <a:lstStyle/>
          <a:p>
            <a:pPr algn="l"/>
            <a:r>
              <a:rPr sz="1100" b="0" i="0">
                <a:solidFill>
                  <a:srgbClr val="6B6B6E"/>
                </a:solidFill>
                <a:latin typeface="Satoshi"/>
              </a:rPr>
              <a:t>www.genosai.tech</a:t>
            </a:r>
          </a:p>
        </p:txBody>
      </p:sp>
      <p:sp>
        <p:nvSpPr>
          <p:cNvPr id="39" name="TextBox 38"/>
          <p:cNvSpPr txBox="1"/>
          <p:nvPr/>
        </p:nvSpPr>
        <p:spPr>
          <a:xfrm>
            <a:off x="685800" y="6473952"/>
            <a:ext cx="7315200" cy="256032"/>
          </a:xfrm>
          <a:prstGeom prst="rect">
            <a:avLst/>
          </a:prstGeom>
          <a:noFill/>
        </p:spPr>
        <p:txBody>
          <a:bodyPr wrap="square">
            <a:spAutoFit/>
          </a:bodyPr>
          <a:lstStyle/>
          <a:p>
            <a:pPr algn="l"/>
            <a:r>
              <a:rPr sz="800" b="0" i="0">
                <a:solidFill>
                  <a:srgbClr val="444447"/>
                </a:solidFill>
                <a:latin typeface="Satoshi"/>
              </a:rPr>
              <a:t>Confidential  .  Reve Real Estate &amp; Riversong Technology  .  2026</a:t>
            </a:r>
          </a:p>
        </p:txBody>
      </p:sp>
      <p:sp>
        <p:nvSpPr>
          <p:cNvPr id="40" name="TextBox 39"/>
          <p:cNvSpPr txBox="1"/>
          <p:nvPr/>
        </p:nvSpPr>
        <p:spPr>
          <a:xfrm>
            <a:off x="8686800" y="6473952"/>
            <a:ext cx="2816352" cy="256032"/>
          </a:xfrm>
          <a:prstGeom prst="rect">
            <a:avLst/>
          </a:prstGeom>
          <a:noFill/>
        </p:spPr>
        <p:txBody>
          <a:bodyPr wrap="square">
            <a:spAutoFit/>
          </a:bodyPr>
          <a:lstStyle/>
          <a:p>
            <a:pPr algn="r"/>
            <a:r>
              <a:rPr sz="800" b="0" i="0">
                <a:solidFill>
                  <a:srgbClr val="444447"/>
                </a:solidFill>
                <a:latin typeface="Satoshi"/>
              </a:rPr>
              <a:t>12 / 12</a:t>
            </a:r>
          </a:p>
        </p:txBody>
      </p:sp>
      <p:sp>
        <p:nvSpPr>
          <p:cNvPr id="41" name="TextBox 40"/>
          <p:cNvSpPr txBox="1"/>
          <p:nvPr/>
        </p:nvSpPr>
        <p:spPr>
          <a:xfrm>
            <a:off x="685800" y="6263640"/>
            <a:ext cx="2743200" cy="365760"/>
          </a:xfrm>
          <a:prstGeom prst="rect">
            <a:avLst/>
          </a:prstGeom>
          <a:noFill/>
        </p:spPr>
        <p:txBody>
          <a:bodyPr wrap="square">
            <a:spAutoFit/>
          </a:bodyPr>
          <a:lstStyle/>
          <a:p>
            <a:pPr algn="l"/>
            <a:r>
              <a:rPr sz="2000" b="0" i="0">
                <a:solidFill>
                  <a:srgbClr val="FFFFFF"/>
                </a:solidFill>
                <a:latin typeface="Instrument Serif"/>
              </a:rPr>
              <a:t>GenosAI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