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6B6E"/>
                </a:solidFill>
                <a:latin typeface="Satoshi"/>
              </a:rPr>
              <a:t>PREPARED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98448"/>
            <a:ext cx="50292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868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Instrument Serif"/>
              </a:rPr>
              <a:t>Oliver Wyman Forum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D9D9F"/>
                </a:solidFill>
                <a:latin typeface="Satoshi"/>
              </a:rPr>
              <a:t>Executive Leadership Communities  ·  Think Tank  ·  Global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New York  ·  Global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712463"/>
            <a:ext cx="50292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895344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AI AUTOMATION PROPOSAL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61104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An AI automation layer for the Forum —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built to manage executive community relationships,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distribute research, and coordinate convenings</a:t>
            </a:r>
          </a:p>
          <a:p>
            <a:pPr algn="l"/>
            <a:r>
              <a:rPr sz="1300" b="0">
                <a:solidFill>
                  <a:srgbClr val="86868A"/>
                </a:solidFill>
                <a:latin typeface="Satoshi"/>
              </a:rPr>
              <a:t>at the scale of global market capitalization.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097280"/>
            <a:ext cx="3273552" cy="2286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3716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1907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10312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Rohan Malik  ·  Founder &amp; CEO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42316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hello@genosai.tech  ·  www.genosai.tech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263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6291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7"/>
                </a:solidFill>
                <a:latin typeface="Satoshi"/>
              </a:rPr>
              <a:t>v1.0  · 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OLIVER WYMAN FORUM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01  ·  THE FORUM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Oliver Wyman Forum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THE ORGANIZATION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Instrument Serif"/>
              </a:rPr>
              <a:t>Scale, Mandate, and Programs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Oliver Wyman Forum convenes the most senior leadership communities in business. The programs span CEO and CFO agendas representing double-digit percentages of global market capitalization — and the operational complexity behind managing those relationships is significant.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7860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CEO AGENDA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Instrument Serif"/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of global market cap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9856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8456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CFO AGENDA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8456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Instrument Serif"/>
              </a:rPr>
              <a:t>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8456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of global market cap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CONSUMER SURVEY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Instrument Serif"/>
              </a:rPr>
              <a:t>300K+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respondents annually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2834640"/>
            <a:ext cx="2560320" cy="1828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6568" y="299923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UNCHARTED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33375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Instrument Serif"/>
              </a:rPr>
              <a:t>Weekly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8" y="400507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data-driven insights series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937760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KEY PROGRAMS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52303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21808"/>
            <a:ext cx="10817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Leadership Reimagined  ·  CEO Agenda  ·  CFO Agenda  ·  Performance Reimagined  ·  Equal Societies  ·  Business in Society  ·  Markets &amp; Mobility  ·  Global Economic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OLIVER WYMAN FORUM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02  · 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Oliver Wyman Forum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FFFFFF"/>
                </a:solidFill>
                <a:latin typeface="Instrument Serif"/>
              </a:rPr>
              <a:t>An AI Automation Layer
for the Forum's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6858000" cy="1143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61488"/>
            <a:ext cx="5943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Instrument Serif"/>
              </a:rPr>
              <a:t>The Forum publishes on AI’s transformative impact on business. The automation layer for managing the relationships and research distribution behind that work is the natural next step.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Community
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touchpoints for every CEO and CFO community member.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Research
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Reports and insights delivered to the right audience,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Event
coordination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Convenings managed end-to-end without manual admin overhead.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40" y="3977639"/>
            <a:ext cx="2560320" cy="242316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160520"/>
            <a:ext cx="548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461772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Relationship
continuity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5285232"/>
            <a:ext cx="2194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 C-suite relationship goes cold because someone missed a follow-up.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OLIVER WYMAN FORUM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  ·  AUTOMATION SYSTEMS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Oliver Wyman Forum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WHAT THE AUTOMATION LAYER BRINGS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Five AI Systems for the Forum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Community
Management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CEO/CFO relationship automation.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27248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27248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Research
Distribution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Segmented delivery at scale.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1496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0096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0096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Event &amp;
Convening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4376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End-to-end convening ops.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24344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52944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07224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Member
Qualification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4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Leadership Reimagined intake.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37192" y="2377440"/>
            <a:ext cx="2057400" cy="3749039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65792" y="2606040"/>
            <a:ext cx="502920" cy="5029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262432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F"/>
                </a:solidFill>
                <a:latin typeface="Satoshi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72" y="3246120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CRM &amp;
Nurture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0072" y="4005072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No C-suite relationship goes cold.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OLIVER WYMAN FORUM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03A  ·  COMMUNITY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Oliver Wyman Forum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Instrument Serif"/>
              </a:rPr>
              <a:t>Executive Community Management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6868A"/>
                </a:solidFill>
                <a:latin typeface="Satoshi"/>
              </a:rPr>
              <a:t>Every CEO and CFO community member receives timely, personalized touchpoints — without anyone tracking a spreadsheet to make it happen.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514600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Onboarding sequences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New community members receive a structured welcome flow with program context and next steps.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0156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Event invitation 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484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Invitations triggered by calendar — personalized to each member's focus area and region.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5993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5993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Pre-event briefing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30682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Relevant research, agenda, and attendee context delivered automatically before each convening.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71830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71830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Post-event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651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Personalized follow-up within 48 hours of each convening — no manual drafting.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37667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37667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Renewal and re-engagement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6235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Members approaching inactivity receive a tailored re-engagement sequence before lapse.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0350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60350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Engagement 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62819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 tracks open rates, event attendance, and content downloads to identify the most active members.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743200"/>
            <a:ext cx="4572000" cy="338328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2926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COMMUNITY  ·  AT A GLANCE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291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CEO + CFO community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7307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managed at scale.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45720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CEO AGENDA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48646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10% mktcap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77072" y="45720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CFO AGENDA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77072" y="48646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12% mktcap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21824" y="45720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6B6E"/>
                </a:solidFill>
                <a:latin typeface="Satoshi"/>
              </a:rPr>
              <a:t>PROGRAMS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21824" y="48646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Instrument Serif"/>
              </a:rPr>
              <a:t>10+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OLIVER WYMAN FORUM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03B / 03C  ·  RESEARCH &amp; EVENTS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Oliver Wyman Forum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Research Distribution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Every report and insight reaches the right audience — automatically, every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Audience 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Subscribers segmented by industry, region, and stated interests — automated.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Uncharted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826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Weekly insights distributed to segmented lists; open-rate triggers follow-up content.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9417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Report download follow-up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Executives who download a report receive a relevant follow-on piece 7 days later.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525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Inactive subscriber re-engagement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Subscribers who haven't opened in 60 days receive a curated re-engagement sequence.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Cross-program content bridging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matches research topics to the right community program for amplification.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2698" y="777240"/>
            <a:ext cx="127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Event &amp; Convening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Every executive convening coordinated end-to-end — no manual admin.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3774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Registration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RSVP management, dietary requirements, and confirmation — fully automated.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03580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Speaker briefing 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Speaker bios, run-of-show, and prep materials sent on a set schedule.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69417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Attendee reminder sequences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Tiered reminders at 2 weeks, 3 days, and day-of — including practical logistics.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3525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Post-event summary distribution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Key insights and next steps from each convening delivered to attendees within 24h.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0109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Feedback collection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37960" y="5257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post-event survey with structured follow-up for qualitative 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OLIVER WYMAN FORUM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03D / 03E  ·  QUALIFICATION &amp; CRM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Oliver Wyman Forum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Member Qualification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Every Leadership Reimagined application handled with the same quality —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7744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Application intake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24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Executives who express interest enter a structured AI qualification sequence.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Profile qualification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8269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assesses organization size, role seniority, industry, and program fit.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69417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Fit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Qualified applicants routed to CEO community, CFO community, or research-only track.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35254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Nurture for borderline applicants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994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Not-yet-ready applicants receive a content sequence to develop program fit.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01091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Application status 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2578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Applicants receive timely, personalized updates — no one left waiting in silence.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MODULE 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Instrument Serif"/>
              </a:rPr>
              <a:t>CRM &amp; Relationship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No C-suite relationship goes cold because someone missed a follow-up.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37744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77440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Relationship health scoring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flags members who haven't engaged in 30+ days for proactive outreach.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03580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03580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Milestone-triggered outreach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2826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Leadership changes, company news, or research publication trigger relevant touchpoints.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69417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694176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Cross-program referral automation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39410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Members in one program recommended to adjacent programs based on engagement history.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35254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352544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Advisory and speaker pipeline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5994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High-engagement members identified and nurtured toward advisory or speaker roles.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01091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010912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Annual review sequences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257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annual relationship review prompt — keeps high-value connections active.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OLIVER WYMAN FORUM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04  ·  EXECUTIVE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Oliver Wyman Forum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INTEREST  →  MEMBER  →  ENGAGED  →  ADVOCATE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Automated Executive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From first contact to a fully engaged, renewing community member — every step automated.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Interest
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Newsletter / report
download / referral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8541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541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Qualification
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541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AI assesses fit
for program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4136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557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Community
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530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Welcome sequence
and program brief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55464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5192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First
Convening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65192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Invitation, prep
materials, logistics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352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Research
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Segmented reports
matched to interests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44968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4968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Engagement
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8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Opens, attendance,
content downloads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688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25128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4856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4856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Re-engagement
or Upsell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856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Quiet members
or program upgrade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23576" y="3840480"/>
            <a:ext cx="155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B6B6E"/>
                </a:solidFill>
                <a:latin typeface="Satoshi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415016" y="2834640"/>
            <a:ext cx="1280160" cy="32004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24744" y="29992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78BFA"/>
                </a:solidFill>
                <a:latin typeface="Instrument Serif"/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24744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Instrument Serif"/>
              </a:rPr>
              <a:t>Renewal &amp;
Advocacy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24744" y="4114800"/>
            <a:ext cx="1097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D9D9F"/>
                </a:solidFill>
                <a:latin typeface="Satoshi"/>
              </a:rPr>
              <a:t>Annual renewal
and referral ask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OLIVER WYMAN FORUM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05  · 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Oliver Wyman Forum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WHY THIS WORKS FOR THE FORUM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What Changes After Launch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No missed follow-ups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post-event and post-download touchpoint triggered automatically.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Consistent member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Every community member receives the same quality of engagement — regardless of team bandwidth.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Research reaches the right desk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Reports delivered to executives whose interests and roles match the topic.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Events run without admin drag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Registration, reminders, and post-event distribution handled end-to-end.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69748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2788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27706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Community health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0632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Engagement scores surface which relationships need attention before they lapse.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56616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36576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86600" y="363931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Scales with program growth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39319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New programs and new members don’t add linear admin overhead.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443484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526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50799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Leadership pipeline automation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48006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High-engagement members identified and moved toward advisory and speaker roles.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5303520"/>
            <a:ext cx="5257800" cy="749808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394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Satosh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53766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Institutional memory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86600" y="56692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AI logs every touchpoint, so no relationship context is lost when team members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OLIVER WYMAN FORUM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06  · 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Oliver Wyman Forum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BEYOND THE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Future Scalability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The same automation infrastructure scales as the Forum expands programs and geographies.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Voice AI for executive outreach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AI-assisted outbound calls for high-priority relationship touchpoints.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Survey data processing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300K+ Consumer Sentiment responses processed and personalized at scale.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AI-generated research briefings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Custom executive briefings auto-generated from survey and report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Multilingual distribution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Research delivered in executive’s preferred language — automated translation and delivery.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69748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97480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Regional program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944368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Separate community management flows for EMEA, APAC, and Americas programs.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35584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355848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Sponsor and partner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602736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Sponsor relationship management and deliverables tracking — automated.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1421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014216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Social media distribution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261104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LinkedIn and X research distribution scheduled and sequenced automatically.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67258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672584"/>
            <a:ext cx="4983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atoshi"/>
              </a:rPr>
              <a:t>AI-powered policy advisory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919472"/>
            <a:ext cx="4983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Structured briefing generation for government and policy advisory programs.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GENOSAI  ×  OLIVER WYMAN FORUM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01168"/>
            <a:ext cx="46451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6B6E"/>
                </a:solidFill>
                <a:latin typeface="Satoshi"/>
              </a:rPr>
              <a:t>07  · 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30352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AI Automation Proposal  ·  Oliver Wyman Forum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BUILT IN THREE CLEAN PHASES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FFFFFF"/>
                </a:solidFill>
                <a:latin typeface="Instrument Serif"/>
              </a:rPr>
              <a:t>Implementation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Each phase ships visible value before the next begins — no months of silence.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487168"/>
            <a:ext cx="10817352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01  ·  Week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Community Management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Executive community management sequences for CEO and CFO Agenda members: onboarding, event invitations, post-event follow-ups, and renewal triggers live.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AI trained on Forum programs and member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Onboarding sequence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Event invitation and follow-up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Member engagement scoring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5968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02  ·  Weeks 2-3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Research Distribution &amp; Events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Automated research distribution with audience segmentation, and full event coordination flows for upcoming convenings.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Subscriber segmentation by interest/region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Uncharted delivery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Report download follow-up sequences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Convening registration 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6136" y="2743200"/>
            <a:ext cx="3474720" cy="34290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4736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PHASE 03  ·  Weeks 4-5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200400"/>
            <a:ext cx="3108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Instrument Serif"/>
              </a:rPr>
              <a:t>Qualification &amp; CRM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4736" y="3657600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Member qualification flow for Leadership Reimagined, and CRM automation for ongoing relationship health and cross-program referrals.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422452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Leadership Reimagined intake 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449884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Profile qualification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4736" y="4773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Relationship health scoring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5047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E"/>
                </a:solidFill>
                <a:latin typeface="Satoshi"/>
              </a:rPr>
              <a:t>›  Cross-program referral automation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Satoshi"/>
              </a:rPr>
              <a:t>WHO IS BEHIND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Instrument Serif"/>
              </a:rPr>
              <a:t>GenosAI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9968"/>
            <a:ext cx="59436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6868A"/>
                </a:solidFill>
                <a:latin typeface="Satoshi"/>
              </a:rPr>
              <a:t>GenosAI builds AI automation systems for research-led organizations, executive communities, and professional services firms. We specialise in community management AI, research distribution automation, event coordination, and CRM flows — production-grade from week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61488"/>
            <a:ext cx="548640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WHAT WE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73552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735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Community Management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5204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Onboarding, events, follow-ups, renewals — automated.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31920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Research Distribution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7880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Segmented delivery to the right executive, every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590288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9028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Event &amp; Convening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3717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End-to-end event coordination without admin overhead.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48656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48656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Member Qualification 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4955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Leadership community intake, routed and nurtured.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907024"/>
            <a:ext cx="228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  <a:latin typeface="Satoshi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907024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CRM &amp; Relationship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1539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No senior relationship goes cold between convenings.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005840"/>
            <a:ext cx="4617720" cy="5257800"/>
          </a:xfrm>
          <a:prstGeom prst="roundRect">
            <a:avLst/>
          </a:prstGeom>
          <a:solidFill>
            <a:srgbClr val="111118"/>
          </a:solidFill>
          <a:ln w="9525">
            <a:solidFill>
              <a:srgbClr val="222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12344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6B6E"/>
                </a:solidFill>
                <a:latin typeface="Satoshi"/>
              </a:rPr>
              <a:t>CLOSING NOTE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57276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78BFA"/>
                </a:solidFill>
                <a:latin typeface="Instrument Serif"/>
              </a:rPr>
              <a:t>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627632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Instrument Serif"/>
              </a:rPr>
              <a:t>Built to ensure every executive who engages with the Forum receives a response, a follow-up, and a reason to stay engaged — without anyone managing it manually.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2633472"/>
            <a:ext cx="406908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8163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  <a:latin typeface="Satoshi"/>
              </a:rPr>
              <a:t>NEXT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317296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15-minute call to confirm scope and integration points.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372160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73989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Phase 1 kick-off — community management sequences live within 7 days.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42885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78BFA"/>
                </a:solidFill>
                <a:latin typeface="Instrument Serif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306824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D9D9F"/>
                </a:solidFill>
                <a:latin typeface="Satoshi"/>
              </a:rPr>
              <a:t>First executive touchpoint automated — results visible from day one.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86600" y="4983480"/>
            <a:ext cx="4069080" cy="9525"/>
          </a:xfrm>
          <a:prstGeom prst="rect">
            <a:avLst/>
          </a:prstGeom>
          <a:solidFill>
            <a:srgbClr val="22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6600" y="51663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atoshi"/>
              </a:rPr>
              <a:t>Rohan Malik  ·  CEO, Genos 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48640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D9D9F"/>
                </a:solidFill>
                <a:latin typeface="Satoshi"/>
              </a:rPr>
              <a:t>hello@genosai.tech  ·  +91 638-714-2699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600" y="577900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E"/>
                </a:solidFill>
                <a:latin typeface="Satoshi"/>
              </a:rPr>
              <a:t>www.genosai.tech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47395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4447"/>
                </a:solidFill>
                <a:latin typeface="Satoshi"/>
              </a:rPr>
              <a:t>Confidential  ·  Oliver Wyman Forum  · 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4739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444447"/>
                </a:solidFill>
                <a:latin typeface="Satoshi"/>
              </a:rPr>
              <a:t>12 / 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263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Instrument Serif"/>
              </a:rPr>
              <a:t>GenosAI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