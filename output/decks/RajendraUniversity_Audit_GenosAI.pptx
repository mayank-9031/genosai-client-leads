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0609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9728" cy="6858000"/>
          </a:xfrm>
          <a:prstGeom prst="rect">
            <a:avLst/>
          </a:prstGeom>
          <a:solidFill>
            <a:srgbClr val="FF4D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0" y="0"/>
            <a:ext cx="4416552" cy="2011680"/>
          </a:xfrm>
          <a:prstGeom prst="rect">
            <a:avLst/>
          </a:prstGeom>
          <a:solidFill>
            <a:srgbClr val="101B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0" y="365760"/>
            <a:ext cx="3200400" cy="731520"/>
          </a:xfrm>
          <a:prstGeom prst="rect">
            <a:avLst/>
          </a:prstGeom>
          <a:noFill/>
        </p:spPr>
        <p:txBody>
          <a:bodyPr wrap="square">
            <a:spAutoFit/>
          </a:bodyPr>
          <a:lstStyle/>
          <a:p>
            <a:pPr algn="r"/>
            <a:r>
              <a:rPr sz="2800" b="1" i="0">
                <a:solidFill>
                  <a:srgbClr val="4F8EFF"/>
                </a:solidFill>
              </a:rPr>
              <a:t>GENOS AI</a:t>
            </a:r>
          </a:p>
        </p:txBody>
      </p:sp>
      <p:sp>
        <p:nvSpPr>
          <p:cNvPr id="6" name="TextBox 5"/>
          <p:cNvSpPr txBox="1"/>
          <p:nvPr/>
        </p:nvSpPr>
        <p:spPr>
          <a:xfrm>
            <a:off x="8412480" y="960120"/>
            <a:ext cx="3200400" cy="457200"/>
          </a:xfrm>
          <a:prstGeom prst="rect">
            <a:avLst/>
          </a:prstGeom>
          <a:noFill/>
        </p:spPr>
        <p:txBody>
          <a:bodyPr wrap="square">
            <a:spAutoFit/>
          </a:bodyPr>
          <a:lstStyle/>
          <a:p>
            <a:pPr algn="r"/>
            <a:r>
              <a:rPr sz="1200" b="0" i="0">
                <a:solidFill>
                  <a:srgbClr val="8A9BBB"/>
                </a:solidFill>
              </a:rPr>
              <a:t>www.genosai.tech</a:t>
            </a:r>
          </a:p>
        </p:txBody>
      </p:sp>
      <p:sp>
        <p:nvSpPr>
          <p:cNvPr id="7" name="TextBox 6"/>
          <p:cNvSpPr txBox="1"/>
          <p:nvPr/>
        </p:nvSpPr>
        <p:spPr>
          <a:xfrm>
            <a:off x="502920" y="1261872"/>
            <a:ext cx="8229600" cy="548640"/>
          </a:xfrm>
          <a:prstGeom prst="rect">
            <a:avLst/>
          </a:prstGeom>
          <a:noFill/>
        </p:spPr>
        <p:txBody>
          <a:bodyPr wrap="square">
            <a:spAutoFit/>
          </a:bodyPr>
          <a:lstStyle/>
          <a:p>
            <a:pPr algn="l"/>
            <a:r>
              <a:rPr sz="1300" b="0" i="0">
                <a:solidFill>
                  <a:srgbClr val="FF4D4D"/>
                </a:solidFill>
              </a:rPr>
              <a:t>RAJENDRA UNIVERSITY, BALANGIR  |  ODISHA</a:t>
            </a:r>
          </a:p>
        </p:txBody>
      </p:sp>
      <p:sp>
        <p:nvSpPr>
          <p:cNvPr id="8" name="TextBox 7"/>
          <p:cNvSpPr txBox="1"/>
          <p:nvPr/>
        </p:nvSpPr>
        <p:spPr>
          <a:xfrm>
            <a:off x="502920" y="1719072"/>
            <a:ext cx="8229600" cy="1645920"/>
          </a:xfrm>
          <a:prstGeom prst="rect">
            <a:avLst/>
          </a:prstGeom>
          <a:noFill/>
        </p:spPr>
        <p:txBody>
          <a:bodyPr wrap="square">
            <a:spAutoFit/>
          </a:bodyPr>
          <a:lstStyle/>
          <a:p>
            <a:pPr algn="l"/>
            <a:r>
              <a:rPr sz="4000" b="1" i="0">
                <a:solidFill>
                  <a:srgbClr val="FFFFFF"/>
                </a:solidFill>
              </a:rPr>
              <a:t>Website Audit Report
— An Honest Assessment</a:t>
            </a:r>
          </a:p>
        </p:txBody>
      </p:sp>
      <p:sp>
        <p:nvSpPr>
          <p:cNvPr id="9" name="Rectangle 8"/>
          <p:cNvSpPr/>
          <p:nvPr/>
        </p:nvSpPr>
        <p:spPr>
          <a:xfrm>
            <a:off x="502920" y="3310128"/>
            <a:ext cx="2743200" cy="36576"/>
          </a:xfrm>
          <a:prstGeom prst="rect">
            <a:avLst/>
          </a:prstGeom>
          <a:solidFill>
            <a:srgbClr val="FF4D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2920" y="3584448"/>
            <a:ext cx="8229600" cy="457200"/>
          </a:xfrm>
          <a:prstGeom prst="rect">
            <a:avLst/>
          </a:prstGeom>
          <a:noFill/>
        </p:spPr>
        <p:txBody>
          <a:bodyPr wrap="square">
            <a:spAutoFit/>
          </a:bodyPr>
          <a:lstStyle/>
          <a:p>
            <a:pPr algn="l"/>
            <a:r>
              <a:rPr sz="1400" b="0" i="0">
                <a:solidFill>
                  <a:srgbClr val="C8D4EE"/>
                </a:solidFill>
              </a:rPr>
              <a:t>Prepared exclusively for the Administration of Rajendra University</a:t>
            </a:r>
          </a:p>
        </p:txBody>
      </p:sp>
      <p:sp>
        <p:nvSpPr>
          <p:cNvPr id="11" name="Rectangle 10"/>
          <p:cNvSpPr/>
          <p:nvPr/>
        </p:nvSpPr>
        <p:spPr>
          <a:xfrm>
            <a:off x="0" y="5943600"/>
            <a:ext cx="12188952" cy="914400"/>
          </a:xfrm>
          <a:prstGeom prst="rect">
            <a:avLst/>
          </a:prstGeom>
          <a:solidFill>
            <a:srgbClr val="101B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02920" y="6035040"/>
            <a:ext cx="8229600" cy="457200"/>
          </a:xfrm>
          <a:prstGeom prst="rect">
            <a:avLst/>
          </a:prstGeom>
          <a:noFill/>
        </p:spPr>
        <p:txBody>
          <a:bodyPr wrap="square">
            <a:spAutoFit/>
          </a:bodyPr>
          <a:lstStyle/>
          <a:p>
            <a:pPr algn="l"/>
            <a:r>
              <a:rPr sz="1200" b="0" i="0">
                <a:solidFill>
                  <a:srgbClr val="8A9BBB"/>
                </a:solidFill>
              </a:rPr>
              <a:t>Rohan Malik  |  CEO, Genos AI  |  hello@genosai.tech  |  +91 638-714-2699</a:t>
            </a:r>
          </a:p>
        </p:txBody>
      </p:sp>
      <p:sp>
        <p:nvSpPr>
          <p:cNvPr id="13" name="TextBox 12"/>
          <p:cNvSpPr txBox="1"/>
          <p:nvPr/>
        </p:nvSpPr>
        <p:spPr>
          <a:xfrm>
            <a:off x="8686800" y="6035040"/>
            <a:ext cx="3017520" cy="457200"/>
          </a:xfrm>
          <a:prstGeom prst="rect">
            <a:avLst/>
          </a:prstGeom>
          <a:noFill/>
        </p:spPr>
        <p:txBody>
          <a:bodyPr wrap="square">
            <a:spAutoFit/>
          </a:bodyPr>
          <a:lstStyle/>
          <a:p>
            <a:pPr algn="r"/>
            <a:r>
              <a:rPr sz="1200" b="0" i="0">
                <a:solidFill>
                  <a:srgbClr val="8A9BBB"/>
                </a:solidFill>
              </a:rPr>
              <a:t>May 2026  |  CONFIDENTIAL</a:t>
            </a:r>
          </a:p>
        </p:txBody>
      </p:sp>
      <p:sp>
        <p:nvSpPr>
          <p:cNvPr id="14" name="Rectangle 13"/>
          <p:cNvSpPr/>
          <p:nvPr/>
        </p:nvSpPr>
        <p:spPr>
          <a:xfrm>
            <a:off x="9601200" y="3017520"/>
            <a:ext cx="2103120" cy="2286000"/>
          </a:xfrm>
          <a:prstGeom prst="rect">
            <a:avLst/>
          </a:prstGeom>
          <a:solidFill>
            <a:srgbClr val="101B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646920" y="3108960"/>
            <a:ext cx="2011680" cy="457200"/>
          </a:xfrm>
          <a:prstGeom prst="rect">
            <a:avLst/>
          </a:prstGeom>
          <a:noFill/>
        </p:spPr>
        <p:txBody>
          <a:bodyPr wrap="square">
            <a:spAutoFit/>
          </a:bodyPr>
          <a:lstStyle/>
          <a:p>
            <a:pPr algn="ctr"/>
            <a:r>
              <a:rPr sz="1100" b="1" i="0">
                <a:solidFill>
                  <a:srgbClr val="8A9BBB"/>
                </a:solidFill>
              </a:rPr>
              <a:t>AUDIT SCORE</a:t>
            </a:r>
          </a:p>
        </p:txBody>
      </p:sp>
      <p:sp>
        <p:nvSpPr>
          <p:cNvPr id="16" name="TextBox 15"/>
          <p:cNvSpPr txBox="1"/>
          <p:nvPr/>
        </p:nvSpPr>
        <p:spPr>
          <a:xfrm>
            <a:off x="9646920" y="3429000"/>
            <a:ext cx="2011680" cy="1005840"/>
          </a:xfrm>
          <a:prstGeom prst="rect">
            <a:avLst/>
          </a:prstGeom>
          <a:noFill/>
        </p:spPr>
        <p:txBody>
          <a:bodyPr wrap="square">
            <a:spAutoFit/>
          </a:bodyPr>
          <a:lstStyle/>
          <a:p>
            <a:pPr algn="ctr"/>
            <a:r>
              <a:rPr sz="7200" b="1" i="0">
                <a:solidFill>
                  <a:srgbClr val="FF4D4D"/>
                </a:solidFill>
              </a:rPr>
              <a:t>2</a:t>
            </a:r>
          </a:p>
        </p:txBody>
      </p:sp>
      <p:sp>
        <p:nvSpPr>
          <p:cNvPr id="17" name="TextBox 16"/>
          <p:cNvSpPr txBox="1"/>
          <p:nvPr/>
        </p:nvSpPr>
        <p:spPr>
          <a:xfrm>
            <a:off x="9646920" y="4297680"/>
            <a:ext cx="2011680" cy="365760"/>
          </a:xfrm>
          <a:prstGeom prst="rect">
            <a:avLst/>
          </a:prstGeom>
          <a:noFill/>
        </p:spPr>
        <p:txBody>
          <a:bodyPr wrap="square">
            <a:spAutoFit/>
          </a:bodyPr>
          <a:lstStyle/>
          <a:p>
            <a:pPr algn="ctr"/>
            <a:r>
              <a:rPr sz="1800" b="0" i="0">
                <a:solidFill>
                  <a:srgbClr val="C8D4EE"/>
                </a:solidFill>
              </a:rPr>
              <a:t>/ 10</a:t>
            </a:r>
          </a:p>
        </p:txBody>
      </p:sp>
      <p:sp>
        <p:nvSpPr>
          <p:cNvPr id="18" name="Oval 17"/>
          <p:cNvSpPr/>
          <p:nvPr/>
        </p:nvSpPr>
        <p:spPr>
          <a:xfrm>
            <a:off x="9326880" y="4663440"/>
            <a:ext cx="2766060" cy="274320"/>
          </a:xfrm>
          <a:prstGeom prst="ellipse">
            <a:avLst/>
          </a:prstGeom>
          <a:solidFill>
            <a:srgbClr val="FF4D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900" b="1">
                <a:solidFill>
                  <a:srgbClr val="FFFFFF"/>
                </a:solidFill>
              </a:rPr>
              <a:t>CRITICAL — REBUILD NEEDED</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0609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9728" cy="6858000"/>
          </a:xfrm>
          <a:prstGeom prst="rect">
            <a:avLst/>
          </a:prstGeom>
          <a:solidFill>
            <a:srgbClr val="4F8E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74320"/>
            <a:ext cx="10972800" cy="457200"/>
          </a:xfrm>
          <a:prstGeom prst="rect">
            <a:avLst/>
          </a:prstGeom>
          <a:noFill/>
        </p:spPr>
        <p:txBody>
          <a:bodyPr wrap="square">
            <a:spAutoFit/>
          </a:bodyPr>
          <a:lstStyle/>
          <a:p>
            <a:pPr algn="l"/>
            <a:r>
              <a:rPr sz="1100" b="1" i="0">
                <a:solidFill>
                  <a:srgbClr val="4F8EFF"/>
                </a:solidFill>
              </a:rPr>
              <a:t>UNIVERSITY SNAPSHOT</a:t>
            </a:r>
          </a:p>
        </p:txBody>
      </p:sp>
      <p:sp>
        <p:nvSpPr>
          <p:cNvPr id="5" name="TextBox 4"/>
          <p:cNvSpPr txBox="1"/>
          <p:nvPr/>
        </p:nvSpPr>
        <p:spPr>
          <a:xfrm>
            <a:off x="502920" y="640080"/>
            <a:ext cx="10972800" cy="640080"/>
          </a:xfrm>
          <a:prstGeom prst="rect">
            <a:avLst/>
          </a:prstGeom>
          <a:noFill/>
        </p:spPr>
        <p:txBody>
          <a:bodyPr wrap="square">
            <a:spAutoFit/>
          </a:bodyPr>
          <a:lstStyle/>
          <a:p>
            <a:pPr algn="l"/>
            <a:r>
              <a:rPr sz="3200" b="1" i="0">
                <a:solidFill>
                  <a:srgbClr val="FFFFFF"/>
                </a:solidFill>
              </a:rPr>
              <a:t>Rajendra University — Who They Are</a:t>
            </a:r>
          </a:p>
        </p:txBody>
      </p:sp>
      <p:sp>
        <p:nvSpPr>
          <p:cNvPr id="6" name="Rectangle 5"/>
          <p:cNvSpPr/>
          <p:nvPr/>
        </p:nvSpPr>
        <p:spPr>
          <a:xfrm>
            <a:off x="502920" y="1234440"/>
            <a:ext cx="1097280" cy="36576"/>
          </a:xfrm>
          <a:prstGeom prst="rect">
            <a:avLst/>
          </a:prstGeom>
          <a:solidFill>
            <a:srgbClr val="4F8E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02920" y="1645920"/>
            <a:ext cx="2103120" cy="2011680"/>
          </a:xfrm>
          <a:prstGeom prst="rect">
            <a:avLst/>
          </a:prstGeom>
          <a:solidFill>
            <a:srgbClr val="101B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94360" y="1783080"/>
            <a:ext cx="1920240" cy="777240"/>
          </a:xfrm>
          <a:prstGeom prst="rect">
            <a:avLst/>
          </a:prstGeom>
          <a:noFill/>
        </p:spPr>
        <p:txBody>
          <a:bodyPr wrap="square">
            <a:spAutoFit/>
          </a:bodyPr>
          <a:lstStyle/>
          <a:p>
            <a:pPr algn="ctr"/>
            <a:r>
              <a:rPr sz="2600" b="1" i="0">
                <a:solidFill>
                  <a:srgbClr val="FFC030"/>
                </a:solidFill>
              </a:rPr>
              <a:t>1944</a:t>
            </a:r>
          </a:p>
        </p:txBody>
      </p:sp>
      <p:sp>
        <p:nvSpPr>
          <p:cNvPr id="9" name="TextBox 8"/>
          <p:cNvSpPr txBox="1"/>
          <p:nvPr/>
        </p:nvSpPr>
        <p:spPr>
          <a:xfrm>
            <a:off x="594360" y="2578608"/>
            <a:ext cx="1920240" cy="822960"/>
          </a:xfrm>
          <a:prstGeom prst="rect">
            <a:avLst/>
          </a:prstGeom>
          <a:noFill/>
        </p:spPr>
        <p:txBody>
          <a:bodyPr wrap="square">
            <a:spAutoFit/>
          </a:bodyPr>
          <a:lstStyle/>
          <a:p>
            <a:pPr algn="ctr"/>
            <a:r>
              <a:rPr sz="1050" b="0" i="0">
                <a:solidFill>
                  <a:srgbClr val="C8D4EE"/>
                </a:solidFill>
              </a:rPr>
              <a:t>Established
(Origin as
Intermediate College)</a:t>
            </a:r>
          </a:p>
        </p:txBody>
      </p:sp>
      <p:sp>
        <p:nvSpPr>
          <p:cNvPr id="10" name="Rectangle 9"/>
          <p:cNvSpPr/>
          <p:nvPr/>
        </p:nvSpPr>
        <p:spPr>
          <a:xfrm>
            <a:off x="2770632" y="1645920"/>
            <a:ext cx="2103120" cy="2011680"/>
          </a:xfrm>
          <a:prstGeom prst="rect">
            <a:avLst/>
          </a:prstGeom>
          <a:solidFill>
            <a:srgbClr val="101B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862072" y="1783080"/>
            <a:ext cx="1920240" cy="777240"/>
          </a:xfrm>
          <a:prstGeom prst="rect">
            <a:avLst/>
          </a:prstGeom>
          <a:noFill/>
        </p:spPr>
        <p:txBody>
          <a:bodyPr wrap="square">
            <a:spAutoFit/>
          </a:bodyPr>
          <a:lstStyle/>
          <a:p>
            <a:pPr algn="ctr"/>
            <a:r>
              <a:rPr sz="2600" b="1" i="0">
                <a:solidFill>
                  <a:srgbClr val="FFC030"/>
                </a:solidFill>
              </a:rPr>
              <a:t>2015</a:t>
            </a:r>
          </a:p>
        </p:txBody>
      </p:sp>
      <p:sp>
        <p:nvSpPr>
          <p:cNvPr id="12" name="TextBox 11"/>
          <p:cNvSpPr txBox="1"/>
          <p:nvPr/>
        </p:nvSpPr>
        <p:spPr>
          <a:xfrm>
            <a:off x="2862072" y="2578608"/>
            <a:ext cx="1920240" cy="822960"/>
          </a:xfrm>
          <a:prstGeom prst="rect">
            <a:avLst/>
          </a:prstGeom>
          <a:noFill/>
        </p:spPr>
        <p:txBody>
          <a:bodyPr wrap="square">
            <a:spAutoFit/>
          </a:bodyPr>
          <a:lstStyle/>
          <a:p>
            <a:pPr algn="ctr"/>
            <a:r>
              <a:rPr sz="1050" b="0" i="0">
                <a:solidFill>
                  <a:srgbClr val="C8D4EE"/>
                </a:solidFill>
              </a:rPr>
              <a:t>Upgraded to
University
Status</a:t>
            </a:r>
          </a:p>
        </p:txBody>
      </p:sp>
      <p:sp>
        <p:nvSpPr>
          <p:cNvPr id="13" name="Rectangle 12"/>
          <p:cNvSpPr/>
          <p:nvPr/>
        </p:nvSpPr>
        <p:spPr>
          <a:xfrm>
            <a:off x="5038344" y="1645920"/>
            <a:ext cx="2103120" cy="2011680"/>
          </a:xfrm>
          <a:prstGeom prst="rect">
            <a:avLst/>
          </a:prstGeom>
          <a:solidFill>
            <a:srgbClr val="101B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129784" y="1783080"/>
            <a:ext cx="1920240" cy="777240"/>
          </a:xfrm>
          <a:prstGeom prst="rect">
            <a:avLst/>
          </a:prstGeom>
          <a:noFill/>
        </p:spPr>
        <p:txBody>
          <a:bodyPr wrap="square">
            <a:spAutoFit/>
          </a:bodyPr>
          <a:lstStyle/>
          <a:p>
            <a:pPr algn="ctr"/>
            <a:r>
              <a:rPr sz="2600" b="1" i="0">
                <a:solidFill>
                  <a:srgbClr val="FFC030"/>
                </a:solidFill>
              </a:rPr>
              <a:t>UGC</a:t>
            </a:r>
          </a:p>
        </p:txBody>
      </p:sp>
      <p:sp>
        <p:nvSpPr>
          <p:cNvPr id="15" name="TextBox 14"/>
          <p:cNvSpPr txBox="1"/>
          <p:nvPr/>
        </p:nvSpPr>
        <p:spPr>
          <a:xfrm>
            <a:off x="5129784" y="2578608"/>
            <a:ext cx="1920240" cy="822960"/>
          </a:xfrm>
          <a:prstGeom prst="rect">
            <a:avLst/>
          </a:prstGeom>
          <a:noFill/>
        </p:spPr>
        <p:txBody>
          <a:bodyPr wrap="square">
            <a:spAutoFit/>
          </a:bodyPr>
          <a:lstStyle/>
          <a:p>
            <a:pPr algn="ctr"/>
            <a:r>
              <a:rPr sz="1050" b="0" i="0">
                <a:solidFill>
                  <a:srgbClr val="C8D4EE"/>
                </a:solidFill>
              </a:rPr>
              <a:t>Recognised
State Public
University</a:t>
            </a:r>
          </a:p>
        </p:txBody>
      </p:sp>
      <p:sp>
        <p:nvSpPr>
          <p:cNvPr id="16" name="Rectangle 15"/>
          <p:cNvSpPr/>
          <p:nvPr/>
        </p:nvSpPr>
        <p:spPr>
          <a:xfrm>
            <a:off x="7306056" y="1645920"/>
            <a:ext cx="2103120" cy="2011680"/>
          </a:xfrm>
          <a:prstGeom prst="rect">
            <a:avLst/>
          </a:prstGeom>
          <a:solidFill>
            <a:srgbClr val="101B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397496" y="1783080"/>
            <a:ext cx="1920240" cy="777240"/>
          </a:xfrm>
          <a:prstGeom prst="rect">
            <a:avLst/>
          </a:prstGeom>
          <a:noFill/>
        </p:spPr>
        <p:txBody>
          <a:bodyPr wrap="square">
            <a:spAutoFit/>
          </a:bodyPr>
          <a:lstStyle/>
          <a:p>
            <a:pPr algn="ctr"/>
            <a:r>
              <a:rPr sz="2600" b="1" i="0">
                <a:solidFill>
                  <a:srgbClr val="FFC030"/>
                </a:solidFill>
              </a:rPr>
              <a:t>Balangir</a:t>
            </a:r>
          </a:p>
        </p:txBody>
      </p:sp>
      <p:sp>
        <p:nvSpPr>
          <p:cNvPr id="18" name="TextBox 17"/>
          <p:cNvSpPr txBox="1"/>
          <p:nvPr/>
        </p:nvSpPr>
        <p:spPr>
          <a:xfrm>
            <a:off x="7397496" y="2578608"/>
            <a:ext cx="1920240" cy="822960"/>
          </a:xfrm>
          <a:prstGeom prst="rect">
            <a:avLst/>
          </a:prstGeom>
          <a:noFill/>
        </p:spPr>
        <p:txBody>
          <a:bodyPr wrap="square">
            <a:spAutoFit/>
          </a:bodyPr>
          <a:lstStyle/>
          <a:p>
            <a:pPr algn="ctr"/>
            <a:r>
              <a:rPr sz="1050" b="0" i="0">
                <a:solidFill>
                  <a:srgbClr val="C8D4EE"/>
                </a:solidFill>
              </a:rPr>
              <a:t>Western
Odisha —
Regional Hub</a:t>
            </a:r>
          </a:p>
        </p:txBody>
      </p:sp>
      <p:sp>
        <p:nvSpPr>
          <p:cNvPr id="19" name="Rectangle 18"/>
          <p:cNvSpPr/>
          <p:nvPr/>
        </p:nvSpPr>
        <p:spPr>
          <a:xfrm>
            <a:off x="9573768" y="1645920"/>
            <a:ext cx="2103120" cy="2011680"/>
          </a:xfrm>
          <a:prstGeom prst="rect">
            <a:avLst/>
          </a:prstGeom>
          <a:solidFill>
            <a:srgbClr val="101B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665208" y="1783080"/>
            <a:ext cx="1920240" cy="777240"/>
          </a:xfrm>
          <a:prstGeom prst="rect">
            <a:avLst/>
          </a:prstGeom>
          <a:noFill/>
        </p:spPr>
        <p:txBody>
          <a:bodyPr wrap="square">
            <a:spAutoFit/>
          </a:bodyPr>
          <a:lstStyle/>
          <a:p>
            <a:pPr algn="ctr"/>
            <a:r>
              <a:rPr sz="2600" b="1" i="0">
                <a:solidFill>
                  <a:srgbClr val="FFC030"/>
                </a:solidFill>
              </a:rPr>
              <a:t>NAAC</a:t>
            </a:r>
          </a:p>
        </p:txBody>
      </p:sp>
      <p:sp>
        <p:nvSpPr>
          <p:cNvPr id="21" name="TextBox 20"/>
          <p:cNvSpPr txBox="1"/>
          <p:nvPr/>
        </p:nvSpPr>
        <p:spPr>
          <a:xfrm>
            <a:off x="9665208" y="2578608"/>
            <a:ext cx="1920240" cy="822960"/>
          </a:xfrm>
          <a:prstGeom prst="rect">
            <a:avLst/>
          </a:prstGeom>
          <a:noFill/>
        </p:spPr>
        <p:txBody>
          <a:bodyPr wrap="square">
            <a:spAutoFit/>
          </a:bodyPr>
          <a:lstStyle/>
          <a:p>
            <a:pPr algn="ctr"/>
            <a:r>
              <a:rPr sz="1050" b="0" i="0">
                <a:solidFill>
                  <a:srgbClr val="C8D4EE"/>
                </a:solidFill>
              </a:rPr>
              <a:t>Accredited
(Quality
Recognition)</a:t>
            </a:r>
          </a:p>
        </p:txBody>
      </p:sp>
      <p:sp>
        <p:nvSpPr>
          <p:cNvPr id="22" name="Rectangle 21"/>
          <p:cNvSpPr/>
          <p:nvPr/>
        </p:nvSpPr>
        <p:spPr>
          <a:xfrm>
            <a:off x="502920" y="3840480"/>
            <a:ext cx="11183112" cy="548640"/>
          </a:xfrm>
          <a:prstGeom prst="rect">
            <a:avLst/>
          </a:prstGeom>
          <a:solidFill>
            <a:srgbClr val="101B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94360" y="3913632"/>
            <a:ext cx="10972800" cy="411480"/>
          </a:xfrm>
          <a:prstGeom prst="rect">
            <a:avLst/>
          </a:prstGeom>
          <a:noFill/>
        </p:spPr>
        <p:txBody>
          <a:bodyPr wrap="square">
            <a:spAutoFit/>
          </a:bodyPr>
          <a:lstStyle/>
          <a:p>
            <a:pPr algn="ctr"/>
            <a:r>
              <a:rPr sz="1100" b="0" i="0">
                <a:solidFill>
                  <a:srgbClr val="C8D4EE"/>
                </a:solidFill>
              </a:rPr>
              <a:t>Departments include Commerce, Political Science, Physics, Education, Statistics, Computer Science, Journalism &amp; Mass Communication, and more</a:t>
            </a:r>
          </a:p>
        </p:txBody>
      </p:sp>
      <p:sp>
        <p:nvSpPr>
          <p:cNvPr id="24" name="Rectangle 23"/>
          <p:cNvSpPr/>
          <p:nvPr/>
        </p:nvSpPr>
        <p:spPr>
          <a:xfrm>
            <a:off x="502920" y="4572000"/>
            <a:ext cx="11183112" cy="1572768"/>
          </a:xfrm>
          <a:prstGeom prst="rect">
            <a:avLst/>
          </a:prstGeom>
          <a:solidFill>
            <a:srgbClr val="2A050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0080" y="4645152"/>
            <a:ext cx="3657600" cy="347472"/>
          </a:xfrm>
          <a:prstGeom prst="rect">
            <a:avLst/>
          </a:prstGeom>
          <a:noFill/>
        </p:spPr>
        <p:txBody>
          <a:bodyPr wrap="square">
            <a:spAutoFit/>
          </a:bodyPr>
          <a:lstStyle/>
          <a:p>
            <a:pPr algn="l"/>
            <a:r>
              <a:rPr sz="1200" b="1" i="0">
                <a:solidFill>
                  <a:srgbClr val="FF4D4D"/>
                </a:solidFill>
              </a:rPr>
              <a:t>THE FUNDAMENTAL PROBLEM:</a:t>
            </a:r>
          </a:p>
        </p:txBody>
      </p:sp>
      <p:sp>
        <p:nvSpPr>
          <p:cNvPr id="26" name="TextBox 25"/>
          <p:cNvSpPr txBox="1"/>
          <p:nvPr/>
        </p:nvSpPr>
        <p:spPr>
          <a:xfrm>
            <a:off x="640080" y="5010912"/>
            <a:ext cx="10881360" cy="1024128"/>
          </a:xfrm>
          <a:prstGeom prst="rect">
            <a:avLst/>
          </a:prstGeom>
          <a:noFill/>
        </p:spPr>
        <p:txBody>
          <a:bodyPr wrap="square">
            <a:spAutoFit/>
          </a:bodyPr>
          <a:lstStyle/>
          <a:p>
            <a:pPr algn="l"/>
            <a:r>
              <a:rPr sz="1150" b="0" i="0">
                <a:solidFill>
                  <a:srgbClr val="FFFFFF"/>
                </a:solidFill>
              </a:rPr>
              <a:t>The site being audited (scius.tech/link/rajendrauniversity) is a DEMO template built by Scius Solution — not the real university website (rajendrauniversity.ac.in). It is hosted on a third-party subdomain. It contains placeholder phone numbers, fake alumni who are Scius Solution employees, dummy research scholars, broken navigation on every page, and blank sub-pages. A UGC-recognised state public university with a 80-year history does not have a functioning digital presence. That is what this audit addresses.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0609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9728" cy="6858000"/>
          </a:xfrm>
          <a:prstGeom prst="rect">
            <a:avLst/>
          </a:prstGeom>
          <a:solidFill>
            <a:srgbClr val="FF4D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74320"/>
            <a:ext cx="10972800" cy="457200"/>
          </a:xfrm>
          <a:prstGeom prst="rect">
            <a:avLst/>
          </a:prstGeom>
          <a:noFill/>
        </p:spPr>
        <p:txBody>
          <a:bodyPr wrap="square">
            <a:spAutoFit/>
          </a:bodyPr>
          <a:lstStyle/>
          <a:p>
            <a:pPr algn="l"/>
            <a:r>
              <a:rPr sz="1100" b="1" i="0">
                <a:solidFill>
                  <a:srgbClr val="FF4D4D"/>
                </a:solidFill>
              </a:rPr>
              <a:t>CRITICAL ERRORS — FOUND IN AUDIT</a:t>
            </a:r>
          </a:p>
        </p:txBody>
      </p:sp>
      <p:sp>
        <p:nvSpPr>
          <p:cNvPr id="5" name="TextBox 4"/>
          <p:cNvSpPr txBox="1"/>
          <p:nvPr/>
        </p:nvSpPr>
        <p:spPr>
          <a:xfrm>
            <a:off x="502920" y="640080"/>
            <a:ext cx="10972800" cy="640080"/>
          </a:xfrm>
          <a:prstGeom prst="rect">
            <a:avLst/>
          </a:prstGeom>
          <a:noFill/>
        </p:spPr>
        <p:txBody>
          <a:bodyPr wrap="square">
            <a:spAutoFit/>
          </a:bodyPr>
          <a:lstStyle/>
          <a:p>
            <a:pPr algn="l"/>
            <a:r>
              <a:rPr sz="3200" b="1" i="0">
                <a:solidFill>
                  <a:srgbClr val="FFFFFF"/>
                </a:solidFill>
              </a:rPr>
              <a:t>Issues That Cannot Be Left As-Is</a:t>
            </a:r>
          </a:p>
        </p:txBody>
      </p:sp>
      <p:sp>
        <p:nvSpPr>
          <p:cNvPr id="6" name="Rectangle 5"/>
          <p:cNvSpPr/>
          <p:nvPr/>
        </p:nvSpPr>
        <p:spPr>
          <a:xfrm>
            <a:off x="502920" y="1234440"/>
            <a:ext cx="1097280" cy="36576"/>
          </a:xfrm>
          <a:prstGeom prst="rect">
            <a:avLst/>
          </a:prstGeom>
          <a:solidFill>
            <a:srgbClr val="FF4D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02920" y="1481328"/>
            <a:ext cx="54864" cy="658368"/>
          </a:xfrm>
          <a:prstGeom prst="rect">
            <a:avLst/>
          </a:prstGeom>
          <a:solidFill>
            <a:srgbClr val="FF4D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85800" y="1481328"/>
            <a:ext cx="8686800" cy="320040"/>
          </a:xfrm>
          <a:prstGeom prst="rect">
            <a:avLst/>
          </a:prstGeom>
          <a:noFill/>
        </p:spPr>
        <p:txBody>
          <a:bodyPr wrap="square">
            <a:spAutoFit/>
          </a:bodyPr>
          <a:lstStyle/>
          <a:p>
            <a:pPr algn="l"/>
            <a:r>
              <a:rPr sz="1300" b="1" i="0">
                <a:solidFill>
                  <a:srgbClr val="FFFFFF"/>
                </a:solidFill>
              </a:rPr>
              <a:t>Header Shows an OMAN Phone Number</a:t>
            </a:r>
          </a:p>
        </p:txBody>
      </p:sp>
      <p:sp>
        <p:nvSpPr>
          <p:cNvPr id="9" name="Oval 8"/>
          <p:cNvSpPr/>
          <p:nvPr/>
        </p:nvSpPr>
        <p:spPr>
          <a:xfrm>
            <a:off x="9829800" y="1517904"/>
            <a:ext cx="1133856" cy="274320"/>
          </a:xfrm>
          <a:prstGeom prst="ellipse">
            <a:avLst/>
          </a:prstGeom>
          <a:solidFill>
            <a:srgbClr val="FF4D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900" b="1">
                <a:solidFill>
                  <a:srgbClr val="FFFFFF"/>
                </a:solidFill>
              </a:rPr>
              <a:t>CRITICAL</a:t>
            </a:r>
          </a:p>
        </p:txBody>
      </p:sp>
      <p:sp>
        <p:nvSpPr>
          <p:cNvPr id="10" name="TextBox 9"/>
          <p:cNvSpPr txBox="1"/>
          <p:nvPr/>
        </p:nvSpPr>
        <p:spPr>
          <a:xfrm>
            <a:off x="685800" y="1810512"/>
            <a:ext cx="10789920" cy="502920"/>
          </a:xfrm>
          <a:prstGeom prst="rect">
            <a:avLst/>
          </a:prstGeom>
          <a:noFill/>
        </p:spPr>
        <p:txBody>
          <a:bodyPr wrap="square">
            <a:spAutoFit/>
          </a:bodyPr>
          <a:lstStyle/>
          <a:p>
            <a:pPr algn="l"/>
            <a:r>
              <a:rPr sz="1100" b="0" i="0">
                <a:solidFill>
                  <a:srgbClr val="C8D4EE"/>
                </a:solidFill>
              </a:rPr>
              <a:t>The very first line on the site reads "Have any question? +968547856254". +968 is Oman's country code. This is a placeholder that was never replaced. A prospective student, parent, or faculty member calling this number reaches Oman. This is the most visible element of the entire website and it is factually wrong.</a:t>
            </a:r>
          </a:p>
        </p:txBody>
      </p:sp>
      <p:sp>
        <p:nvSpPr>
          <p:cNvPr id="11" name="Rectangle 10"/>
          <p:cNvSpPr/>
          <p:nvPr/>
        </p:nvSpPr>
        <p:spPr>
          <a:xfrm>
            <a:off x="502920" y="2414016"/>
            <a:ext cx="54864" cy="658368"/>
          </a:xfrm>
          <a:prstGeom prst="rect">
            <a:avLst/>
          </a:prstGeom>
          <a:solidFill>
            <a:srgbClr val="FF4D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5800" y="2414016"/>
            <a:ext cx="8686800" cy="320040"/>
          </a:xfrm>
          <a:prstGeom prst="rect">
            <a:avLst/>
          </a:prstGeom>
          <a:noFill/>
        </p:spPr>
        <p:txBody>
          <a:bodyPr wrap="square">
            <a:spAutoFit/>
          </a:bodyPr>
          <a:lstStyle/>
          <a:p>
            <a:pPr algn="l"/>
            <a:r>
              <a:rPr sz="1300" b="1" i="0">
                <a:solidFill>
                  <a:srgbClr val="FFFFFF"/>
                </a:solidFill>
              </a:rPr>
              <a:t>'Notable Alumni' Are Scius Solution Employees</a:t>
            </a:r>
          </a:p>
        </p:txBody>
      </p:sp>
      <p:sp>
        <p:nvSpPr>
          <p:cNvPr id="13" name="Oval 12"/>
          <p:cNvSpPr/>
          <p:nvPr/>
        </p:nvSpPr>
        <p:spPr>
          <a:xfrm>
            <a:off x="9829800" y="2450592"/>
            <a:ext cx="1133856" cy="274320"/>
          </a:xfrm>
          <a:prstGeom prst="ellipse">
            <a:avLst/>
          </a:prstGeom>
          <a:solidFill>
            <a:srgbClr val="FF4D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900" b="1">
                <a:solidFill>
                  <a:srgbClr val="FFFFFF"/>
                </a:solidFill>
              </a:rPr>
              <a:t>CRITICAL</a:t>
            </a:r>
          </a:p>
        </p:txBody>
      </p:sp>
      <p:sp>
        <p:nvSpPr>
          <p:cNvPr id="14" name="TextBox 13"/>
          <p:cNvSpPr txBox="1"/>
          <p:nvPr/>
        </p:nvSpPr>
        <p:spPr>
          <a:xfrm>
            <a:off x="685800" y="2743200"/>
            <a:ext cx="10789920" cy="502920"/>
          </a:xfrm>
          <a:prstGeom prst="rect">
            <a:avLst/>
          </a:prstGeom>
          <a:noFill/>
        </p:spPr>
        <p:txBody>
          <a:bodyPr wrap="square">
            <a:spAutoFit/>
          </a:bodyPr>
          <a:lstStyle/>
          <a:p>
            <a:pPr algn="l"/>
            <a:r>
              <a:rPr sz="1100" b="0" i="0">
                <a:solidFill>
                  <a:srgbClr val="C8D4EE"/>
                </a:solidFill>
              </a:rPr>
              <a:t>The Notable Alumni section showcases two people: Kshirod Biswal (Developer at Scius Solution, 2018) and Abinash Choudhury (Frontend Developer at Scius Solution, 2020). These are employees of the website vendor — not university alumni. Placeholder data was shipped to production and presented as real graduates of the institution.</a:t>
            </a:r>
          </a:p>
        </p:txBody>
      </p:sp>
      <p:sp>
        <p:nvSpPr>
          <p:cNvPr id="15" name="Rectangle 14"/>
          <p:cNvSpPr/>
          <p:nvPr/>
        </p:nvSpPr>
        <p:spPr>
          <a:xfrm>
            <a:off x="502920" y="3346704"/>
            <a:ext cx="54864" cy="658368"/>
          </a:xfrm>
          <a:prstGeom prst="rect">
            <a:avLst/>
          </a:prstGeom>
          <a:solidFill>
            <a:srgbClr val="FF4D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85800" y="3346704"/>
            <a:ext cx="8686800" cy="320040"/>
          </a:xfrm>
          <a:prstGeom prst="rect">
            <a:avLst/>
          </a:prstGeom>
          <a:noFill/>
        </p:spPr>
        <p:txBody>
          <a:bodyPr wrap="square">
            <a:spAutoFit/>
          </a:bodyPr>
          <a:lstStyle/>
          <a:p>
            <a:pPr algn="l"/>
            <a:r>
              <a:rPr sz="1300" b="1" i="0">
                <a:solidFill>
                  <a:srgbClr val="FFFFFF"/>
                </a:solidFill>
              </a:rPr>
              <a:t>Every Navigation Link Shows the Homepage</a:t>
            </a:r>
          </a:p>
        </p:txBody>
      </p:sp>
      <p:sp>
        <p:nvSpPr>
          <p:cNvPr id="17" name="Oval 16"/>
          <p:cNvSpPr/>
          <p:nvPr/>
        </p:nvSpPr>
        <p:spPr>
          <a:xfrm>
            <a:off x="9829800" y="3383280"/>
            <a:ext cx="1133856" cy="274320"/>
          </a:xfrm>
          <a:prstGeom prst="ellipse">
            <a:avLst/>
          </a:prstGeom>
          <a:solidFill>
            <a:srgbClr val="FF4D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900" b="1">
                <a:solidFill>
                  <a:srgbClr val="FFFFFF"/>
                </a:solidFill>
              </a:rPr>
              <a:t>CRITICAL</a:t>
            </a:r>
          </a:p>
        </p:txBody>
      </p:sp>
      <p:sp>
        <p:nvSpPr>
          <p:cNvPr id="18" name="TextBox 17"/>
          <p:cNvSpPr txBox="1"/>
          <p:nvPr/>
        </p:nvSpPr>
        <p:spPr>
          <a:xfrm>
            <a:off x="685800" y="3675888"/>
            <a:ext cx="10789920" cy="502920"/>
          </a:xfrm>
          <a:prstGeom prst="rect">
            <a:avLst/>
          </a:prstGeom>
          <a:noFill/>
        </p:spPr>
        <p:txBody>
          <a:bodyPr wrap="square">
            <a:spAutoFit/>
          </a:bodyPr>
          <a:lstStyle/>
          <a:p>
            <a:pPr algn="l"/>
            <a:r>
              <a:rPr sz="1100" b="0" i="0">
                <a:solidFill>
                  <a:srgbClr val="C8D4EE"/>
                </a:solidFill>
              </a:rPr>
              <a:t>Clicking Administration, Academics, Admission &amp; Fee, Examination, Faculty, Departments, Placements, International — every single one loads identical homepage content (TEXT_LEN: 6075 across all). Not one sub-section works. The navigation is decorative. There is effectively one page on the entire site.</a:t>
            </a:r>
          </a:p>
        </p:txBody>
      </p:sp>
      <p:sp>
        <p:nvSpPr>
          <p:cNvPr id="19" name="Rectangle 18"/>
          <p:cNvSpPr/>
          <p:nvPr/>
        </p:nvSpPr>
        <p:spPr>
          <a:xfrm>
            <a:off x="502920" y="4279392"/>
            <a:ext cx="54864" cy="658368"/>
          </a:xfrm>
          <a:prstGeom prst="rect">
            <a:avLst/>
          </a:prstGeom>
          <a:solidFill>
            <a:srgbClr val="FFA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85800" y="4279392"/>
            <a:ext cx="8686800" cy="320040"/>
          </a:xfrm>
          <a:prstGeom prst="rect">
            <a:avLst/>
          </a:prstGeom>
          <a:noFill/>
        </p:spPr>
        <p:txBody>
          <a:bodyPr wrap="square">
            <a:spAutoFit/>
          </a:bodyPr>
          <a:lstStyle/>
          <a:p>
            <a:pPr algn="l"/>
            <a:r>
              <a:rPr sz="1300" b="1" i="0">
                <a:solidFill>
                  <a:srgbClr val="FFFFFF"/>
                </a:solidFill>
              </a:rPr>
              <a:t>9 Pages Render Completely Blank</a:t>
            </a:r>
          </a:p>
        </p:txBody>
      </p:sp>
      <p:sp>
        <p:nvSpPr>
          <p:cNvPr id="21" name="Oval 20"/>
          <p:cNvSpPr/>
          <p:nvPr/>
        </p:nvSpPr>
        <p:spPr>
          <a:xfrm>
            <a:off x="9829800" y="4315968"/>
            <a:ext cx="749808" cy="274320"/>
          </a:xfrm>
          <a:prstGeom prst="ellipse">
            <a:avLst/>
          </a:prstGeom>
          <a:solidFill>
            <a:srgbClr val="FFA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900" b="1">
                <a:solidFill>
                  <a:srgbClr val="FFFFFF"/>
                </a:solidFill>
              </a:rPr>
              <a:t>HIGH</a:t>
            </a:r>
          </a:p>
        </p:txBody>
      </p:sp>
      <p:sp>
        <p:nvSpPr>
          <p:cNvPr id="22" name="TextBox 21"/>
          <p:cNvSpPr txBox="1"/>
          <p:nvPr/>
        </p:nvSpPr>
        <p:spPr>
          <a:xfrm>
            <a:off x="685800" y="4608576"/>
            <a:ext cx="10789920" cy="502920"/>
          </a:xfrm>
          <a:prstGeom prst="rect">
            <a:avLst/>
          </a:prstGeom>
          <a:noFill/>
        </p:spPr>
        <p:txBody>
          <a:bodyPr wrap="square">
            <a:spAutoFit/>
          </a:bodyPr>
          <a:lstStyle/>
          <a:p>
            <a:pPr algn="l"/>
            <a:r>
              <a:rPr sz="1100" b="0" i="0">
                <a:solidFill>
                  <a:srgbClr val="C8D4EE"/>
                </a:solidFill>
              </a:rPr>
              <a:t>The following routes return near-zero content: /research (241 chars), /campus (146), /alumni (146), /news (146), /gallery (146), /hostel (146), /contact (611 — just footer). These routes exist in the navigation but deliver nothing. Visitors who click them see an empty shell.</a:t>
            </a:r>
          </a:p>
        </p:txBody>
      </p:sp>
      <p:sp>
        <p:nvSpPr>
          <p:cNvPr id="23" name="Rectangle 22"/>
          <p:cNvSpPr/>
          <p:nvPr/>
        </p:nvSpPr>
        <p:spPr>
          <a:xfrm>
            <a:off x="502920" y="5212080"/>
            <a:ext cx="54864" cy="658368"/>
          </a:xfrm>
          <a:prstGeom prst="rect">
            <a:avLst/>
          </a:prstGeom>
          <a:solidFill>
            <a:srgbClr val="FFA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85800" y="5212080"/>
            <a:ext cx="8686800" cy="320040"/>
          </a:xfrm>
          <a:prstGeom prst="rect">
            <a:avLst/>
          </a:prstGeom>
          <a:noFill/>
        </p:spPr>
        <p:txBody>
          <a:bodyPr wrap="square">
            <a:spAutoFit/>
          </a:bodyPr>
          <a:lstStyle/>
          <a:p>
            <a:pPr algn="l"/>
            <a:r>
              <a:rPr sz="1300" b="1" i="0">
                <a:solidFill>
                  <a:srgbClr val="FFFFFF"/>
                </a:solidFill>
              </a:rPr>
              <a:t>Site Hosted on a Vendor Subdomain — Not the University Domain</a:t>
            </a:r>
          </a:p>
        </p:txBody>
      </p:sp>
      <p:sp>
        <p:nvSpPr>
          <p:cNvPr id="25" name="Oval 24"/>
          <p:cNvSpPr/>
          <p:nvPr/>
        </p:nvSpPr>
        <p:spPr>
          <a:xfrm>
            <a:off x="9829800" y="5248656"/>
            <a:ext cx="749808" cy="274320"/>
          </a:xfrm>
          <a:prstGeom prst="ellipse">
            <a:avLst/>
          </a:prstGeom>
          <a:solidFill>
            <a:srgbClr val="FFA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900" b="1">
                <a:solidFill>
                  <a:srgbClr val="FFFFFF"/>
                </a:solidFill>
              </a:rPr>
              <a:t>HIGH</a:t>
            </a:r>
          </a:p>
        </p:txBody>
      </p:sp>
      <p:sp>
        <p:nvSpPr>
          <p:cNvPr id="26" name="TextBox 25"/>
          <p:cNvSpPr txBox="1"/>
          <p:nvPr/>
        </p:nvSpPr>
        <p:spPr>
          <a:xfrm>
            <a:off x="685800" y="5541264"/>
            <a:ext cx="10789920" cy="502920"/>
          </a:xfrm>
          <a:prstGeom prst="rect">
            <a:avLst/>
          </a:prstGeom>
          <a:noFill/>
        </p:spPr>
        <p:txBody>
          <a:bodyPr wrap="square">
            <a:spAutoFit/>
          </a:bodyPr>
          <a:lstStyle/>
          <a:p>
            <a:pPr algn="l"/>
            <a:r>
              <a:rPr sz="1100" b="0" i="0">
                <a:solidFill>
                  <a:srgbClr val="C8D4EE"/>
                </a:solidFill>
              </a:rPr>
              <a:t>The URL is scius.tech/link/rajendrauniversity — not rajendrauniversity.ac.in. Hosting the official digital presence of a state public university on a third-party vendor's subdomain means the university has zero ownership, zero SEO control, and loses all content if the vendor relationship ends.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0609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9728" cy="6858000"/>
          </a:xfrm>
          <a:prstGeom prst="rect">
            <a:avLst/>
          </a:prstGeom>
          <a:solidFill>
            <a:srgbClr val="A055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74320"/>
            <a:ext cx="10972800" cy="457200"/>
          </a:xfrm>
          <a:prstGeom prst="rect">
            <a:avLst/>
          </a:prstGeom>
          <a:noFill/>
        </p:spPr>
        <p:txBody>
          <a:bodyPr wrap="square">
            <a:spAutoFit/>
          </a:bodyPr>
          <a:lstStyle/>
          <a:p>
            <a:pPr algn="l"/>
            <a:r>
              <a:rPr sz="1100" b="1" i="0">
                <a:solidFill>
                  <a:srgbClr val="A055FF"/>
                </a:solidFill>
              </a:rPr>
              <a:t>DESIGN HEAD-TO-HEAD</a:t>
            </a:r>
          </a:p>
        </p:txBody>
      </p:sp>
      <p:sp>
        <p:nvSpPr>
          <p:cNvPr id="5" name="TextBox 4"/>
          <p:cNvSpPr txBox="1"/>
          <p:nvPr/>
        </p:nvSpPr>
        <p:spPr>
          <a:xfrm>
            <a:off x="502920" y="640080"/>
            <a:ext cx="10972800" cy="640080"/>
          </a:xfrm>
          <a:prstGeom prst="rect">
            <a:avLst/>
          </a:prstGeom>
          <a:noFill/>
        </p:spPr>
        <p:txBody>
          <a:bodyPr wrap="square">
            <a:spAutoFit/>
          </a:bodyPr>
          <a:lstStyle/>
          <a:p>
            <a:pPr algn="l"/>
            <a:r>
              <a:rPr sz="2800" b="1" i="0">
                <a:solidFill>
                  <a:srgbClr val="FFFFFF"/>
                </a:solidFill>
              </a:rPr>
              <a:t>Rajendra University vs IIT Kanpur — Element by Element</a:t>
            </a:r>
          </a:p>
        </p:txBody>
      </p:sp>
      <p:sp>
        <p:nvSpPr>
          <p:cNvPr id="6" name="Rectangle 5"/>
          <p:cNvSpPr/>
          <p:nvPr/>
        </p:nvSpPr>
        <p:spPr>
          <a:xfrm>
            <a:off x="502920" y="1234440"/>
            <a:ext cx="1371600" cy="36576"/>
          </a:xfrm>
          <a:prstGeom prst="rect">
            <a:avLst/>
          </a:prstGeom>
          <a:solidFill>
            <a:srgbClr val="A055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02920" y="1325880"/>
            <a:ext cx="2743200" cy="347472"/>
          </a:xfrm>
          <a:prstGeom prst="rect">
            <a:avLst/>
          </a:prstGeom>
          <a:solidFill>
            <a:srgbClr val="101B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2920" y="1344168"/>
            <a:ext cx="2743200" cy="310896"/>
          </a:xfrm>
          <a:prstGeom prst="rect">
            <a:avLst/>
          </a:prstGeom>
          <a:noFill/>
        </p:spPr>
        <p:txBody>
          <a:bodyPr wrap="square">
            <a:spAutoFit/>
          </a:bodyPr>
          <a:lstStyle/>
          <a:p>
            <a:pPr algn="ctr"/>
            <a:r>
              <a:rPr sz="1000" b="1" i="0">
                <a:solidFill>
                  <a:srgbClr val="8A9BBB"/>
                </a:solidFill>
              </a:rPr>
              <a:t>DESIGN ELEMENT</a:t>
            </a:r>
          </a:p>
        </p:txBody>
      </p:sp>
      <p:sp>
        <p:nvSpPr>
          <p:cNvPr id="9" name="Rectangle 8"/>
          <p:cNvSpPr/>
          <p:nvPr/>
        </p:nvSpPr>
        <p:spPr>
          <a:xfrm>
            <a:off x="3291840" y="1325880"/>
            <a:ext cx="4434840" cy="347472"/>
          </a:xfrm>
          <a:prstGeom prst="rect">
            <a:avLst/>
          </a:prstGeom>
          <a:solidFill>
            <a:srgbClr val="FF4D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291840" y="1344168"/>
            <a:ext cx="4434840" cy="310896"/>
          </a:xfrm>
          <a:prstGeom prst="rect">
            <a:avLst/>
          </a:prstGeom>
          <a:noFill/>
        </p:spPr>
        <p:txBody>
          <a:bodyPr wrap="square">
            <a:spAutoFit/>
          </a:bodyPr>
          <a:lstStyle/>
          <a:p>
            <a:pPr algn="ctr"/>
            <a:r>
              <a:rPr sz="1000" b="1" i="0">
                <a:solidFill>
                  <a:srgbClr val="FFFFFF"/>
                </a:solidFill>
              </a:rPr>
              <a:t>RAJENDRA UNIVERSITY (Today)</a:t>
            </a:r>
          </a:p>
        </p:txBody>
      </p:sp>
      <p:sp>
        <p:nvSpPr>
          <p:cNvPr id="11" name="Rectangle 10"/>
          <p:cNvSpPr/>
          <p:nvPr/>
        </p:nvSpPr>
        <p:spPr>
          <a:xfrm>
            <a:off x="7772400" y="1325880"/>
            <a:ext cx="3913632" cy="347472"/>
          </a:xfrm>
          <a:prstGeom prst="rect">
            <a:avLst/>
          </a:prstGeom>
          <a:solidFill>
            <a:srgbClr val="2ECC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772400" y="1344168"/>
            <a:ext cx="3913632" cy="310896"/>
          </a:xfrm>
          <a:prstGeom prst="rect">
            <a:avLst/>
          </a:prstGeom>
          <a:noFill/>
        </p:spPr>
        <p:txBody>
          <a:bodyPr wrap="square">
            <a:spAutoFit/>
          </a:bodyPr>
          <a:lstStyle/>
          <a:p>
            <a:pPr algn="ctr"/>
            <a:r>
              <a:rPr sz="1000" b="1" i="0">
                <a:solidFill>
                  <a:srgbClr val="FFFFFF"/>
                </a:solidFill>
              </a:rPr>
              <a:t>IIT KANPUR (Benchmark)</a:t>
            </a:r>
          </a:p>
        </p:txBody>
      </p:sp>
      <p:sp>
        <p:nvSpPr>
          <p:cNvPr id="13" name="Rectangle 12"/>
          <p:cNvSpPr/>
          <p:nvPr/>
        </p:nvSpPr>
        <p:spPr>
          <a:xfrm>
            <a:off x="502920" y="1673352"/>
            <a:ext cx="11183112" cy="457200"/>
          </a:xfrm>
          <a:prstGeom prst="rect">
            <a:avLst/>
          </a:prstGeom>
          <a:solidFill>
            <a:srgbClr val="101B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66928" y="1746504"/>
            <a:ext cx="2651760" cy="320040"/>
          </a:xfrm>
          <a:prstGeom prst="rect">
            <a:avLst/>
          </a:prstGeom>
          <a:noFill/>
        </p:spPr>
        <p:txBody>
          <a:bodyPr wrap="square">
            <a:spAutoFit/>
          </a:bodyPr>
          <a:lstStyle/>
          <a:p>
            <a:pPr algn="l"/>
            <a:r>
              <a:rPr sz="1050" b="1" i="0">
                <a:solidFill>
                  <a:srgbClr val="A055FF"/>
                </a:solidFill>
              </a:rPr>
              <a:t>Header</a:t>
            </a:r>
          </a:p>
        </p:txBody>
      </p:sp>
      <p:sp>
        <p:nvSpPr>
          <p:cNvPr id="15" name="TextBox 14"/>
          <p:cNvSpPr txBox="1"/>
          <p:nvPr/>
        </p:nvSpPr>
        <p:spPr>
          <a:xfrm>
            <a:off x="3310128" y="1719072"/>
            <a:ext cx="4389120" cy="384048"/>
          </a:xfrm>
          <a:prstGeom prst="rect">
            <a:avLst/>
          </a:prstGeom>
          <a:noFill/>
        </p:spPr>
        <p:txBody>
          <a:bodyPr wrap="square">
            <a:spAutoFit/>
          </a:bodyPr>
          <a:lstStyle/>
          <a:p>
            <a:pPr algn="l"/>
            <a:r>
              <a:rPr sz="950" b="0" i="0">
                <a:solidFill>
                  <a:srgbClr val="C8D4EE"/>
                </a:solidFill>
              </a:rPr>
              <a:t>Wrong Oman phone (+968 547856254). Cosmetic +/- accessibility buttons. Broken Odia toggle.</a:t>
            </a:r>
          </a:p>
        </p:txBody>
      </p:sp>
      <p:sp>
        <p:nvSpPr>
          <p:cNvPr id="16" name="TextBox 15"/>
          <p:cNvSpPr txBox="1"/>
          <p:nvPr/>
        </p:nvSpPr>
        <p:spPr>
          <a:xfrm>
            <a:off x="7790688" y="1719072"/>
            <a:ext cx="3858768" cy="384048"/>
          </a:xfrm>
          <a:prstGeom prst="rect">
            <a:avLst/>
          </a:prstGeom>
          <a:noFill/>
        </p:spPr>
        <p:txBody>
          <a:bodyPr wrap="square">
            <a:spAutoFit/>
          </a:bodyPr>
          <a:lstStyle/>
          <a:p>
            <a:pPr algn="l"/>
            <a:r>
              <a:rPr sz="950" b="0" i="0">
                <a:solidFill>
                  <a:srgbClr val="C8D4EE"/>
                </a:solidFill>
              </a:rPr>
              <a:t>Persistent search bar. Working English/हिन्दी toggle. 'Plan Your Visit' link prominent.</a:t>
            </a:r>
          </a:p>
        </p:txBody>
      </p:sp>
      <p:sp>
        <p:nvSpPr>
          <p:cNvPr id="17" name="Rectangle 16"/>
          <p:cNvSpPr/>
          <p:nvPr/>
        </p:nvSpPr>
        <p:spPr>
          <a:xfrm>
            <a:off x="502920" y="2130552"/>
            <a:ext cx="11183112" cy="457200"/>
          </a:xfrm>
          <a:prstGeom prst="rect">
            <a:avLst/>
          </a:prstGeom>
          <a:solidFill>
            <a:srgbClr val="1621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66928" y="2203704"/>
            <a:ext cx="2651760" cy="320040"/>
          </a:xfrm>
          <a:prstGeom prst="rect">
            <a:avLst/>
          </a:prstGeom>
          <a:noFill/>
        </p:spPr>
        <p:txBody>
          <a:bodyPr wrap="square">
            <a:spAutoFit/>
          </a:bodyPr>
          <a:lstStyle/>
          <a:p>
            <a:pPr algn="l"/>
            <a:r>
              <a:rPr sz="1050" b="1" i="0">
                <a:solidFill>
                  <a:srgbClr val="A055FF"/>
                </a:solidFill>
              </a:rPr>
              <a:t>Hero Section</a:t>
            </a:r>
          </a:p>
        </p:txBody>
      </p:sp>
      <p:sp>
        <p:nvSpPr>
          <p:cNvPr id="19" name="TextBox 18"/>
          <p:cNvSpPr txBox="1"/>
          <p:nvPr/>
        </p:nvSpPr>
        <p:spPr>
          <a:xfrm>
            <a:off x="3310128" y="2176272"/>
            <a:ext cx="4389120" cy="384048"/>
          </a:xfrm>
          <a:prstGeom prst="rect">
            <a:avLst/>
          </a:prstGeom>
          <a:noFill/>
        </p:spPr>
        <p:txBody>
          <a:bodyPr wrap="square">
            <a:spAutoFit/>
          </a:bodyPr>
          <a:lstStyle/>
          <a:p>
            <a:pPr algn="l"/>
            <a:r>
              <a:rPr sz="950" b="0" i="0">
                <a:solidFill>
                  <a:srgbClr val="C8D4EE"/>
                </a:solidFill>
              </a:rPr>
              <a:t>Generic welcome text. Truncated Chancellor/VC messages ending '..more' (link broken).</a:t>
            </a:r>
          </a:p>
        </p:txBody>
      </p:sp>
      <p:sp>
        <p:nvSpPr>
          <p:cNvPr id="20" name="TextBox 19"/>
          <p:cNvSpPr txBox="1"/>
          <p:nvPr/>
        </p:nvSpPr>
        <p:spPr>
          <a:xfrm>
            <a:off x="7790688" y="2176272"/>
            <a:ext cx="3858768" cy="384048"/>
          </a:xfrm>
          <a:prstGeom prst="rect">
            <a:avLst/>
          </a:prstGeom>
          <a:noFill/>
        </p:spPr>
        <p:txBody>
          <a:bodyPr wrap="square">
            <a:spAutoFit/>
          </a:bodyPr>
          <a:lstStyle/>
          <a:p>
            <a:pPr algn="l"/>
            <a:r>
              <a:rPr sz="950" b="0" i="0">
                <a:solidFill>
                  <a:srgbClr val="C8D4EE"/>
                </a:solidFill>
              </a:rPr>
              <a:t>Welcome statement + 5 institutional stats: 9500+ Students, 570 Faculty, ₹1540+ Cr funding.</a:t>
            </a:r>
          </a:p>
        </p:txBody>
      </p:sp>
      <p:sp>
        <p:nvSpPr>
          <p:cNvPr id="21" name="Rectangle 20"/>
          <p:cNvSpPr/>
          <p:nvPr/>
        </p:nvSpPr>
        <p:spPr>
          <a:xfrm>
            <a:off x="502920" y="2587752"/>
            <a:ext cx="11183112" cy="457200"/>
          </a:xfrm>
          <a:prstGeom prst="rect">
            <a:avLst/>
          </a:prstGeom>
          <a:solidFill>
            <a:srgbClr val="101B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66928" y="2660904"/>
            <a:ext cx="2651760" cy="320040"/>
          </a:xfrm>
          <a:prstGeom prst="rect">
            <a:avLst/>
          </a:prstGeom>
          <a:noFill/>
        </p:spPr>
        <p:txBody>
          <a:bodyPr wrap="square">
            <a:spAutoFit/>
          </a:bodyPr>
          <a:lstStyle/>
          <a:p>
            <a:pPr algn="l"/>
            <a:r>
              <a:rPr sz="1050" b="1" i="0">
                <a:solidFill>
                  <a:srgbClr val="A055FF"/>
                </a:solidFill>
              </a:rPr>
              <a:t>Institutional Stats</a:t>
            </a:r>
          </a:p>
        </p:txBody>
      </p:sp>
      <p:sp>
        <p:nvSpPr>
          <p:cNvPr id="23" name="TextBox 22"/>
          <p:cNvSpPr txBox="1"/>
          <p:nvPr/>
        </p:nvSpPr>
        <p:spPr>
          <a:xfrm>
            <a:off x="3310128" y="2633472"/>
            <a:ext cx="4389120" cy="384048"/>
          </a:xfrm>
          <a:prstGeom prst="rect">
            <a:avLst/>
          </a:prstGeom>
          <a:noFill/>
        </p:spPr>
        <p:txBody>
          <a:bodyPr wrap="square">
            <a:spAutoFit/>
          </a:bodyPr>
          <a:lstStyle/>
          <a:p>
            <a:pPr algn="l"/>
            <a:r>
              <a:rPr sz="950" b="0" i="0">
                <a:solidFill>
                  <a:srgbClr val="C8D4EE"/>
                </a:solidFill>
              </a:rPr>
              <a:t>ZERO metrics visible anywhere. No student count, no funding figures, no ranking.</a:t>
            </a:r>
          </a:p>
        </p:txBody>
      </p:sp>
      <p:sp>
        <p:nvSpPr>
          <p:cNvPr id="24" name="TextBox 23"/>
          <p:cNvSpPr txBox="1"/>
          <p:nvPr/>
        </p:nvSpPr>
        <p:spPr>
          <a:xfrm>
            <a:off x="7790688" y="2633472"/>
            <a:ext cx="3858768" cy="384048"/>
          </a:xfrm>
          <a:prstGeom prst="rect">
            <a:avLst/>
          </a:prstGeom>
          <a:noFill/>
        </p:spPr>
        <p:txBody>
          <a:bodyPr wrap="square">
            <a:spAutoFit/>
          </a:bodyPr>
          <a:lstStyle/>
          <a:p>
            <a:pPr algn="l"/>
            <a:r>
              <a:rPr sz="950" b="0" i="0">
                <a:solidFill>
                  <a:srgbClr val="C8D4EE"/>
                </a:solidFill>
              </a:rPr>
              <a:t>Dedicated 'Key Statistics': 2000+ publications/yr, 1000+ patents filed, 150+ companies incubated.</a:t>
            </a:r>
          </a:p>
        </p:txBody>
      </p:sp>
      <p:sp>
        <p:nvSpPr>
          <p:cNvPr id="25" name="Rectangle 24"/>
          <p:cNvSpPr/>
          <p:nvPr/>
        </p:nvSpPr>
        <p:spPr>
          <a:xfrm>
            <a:off x="502920" y="3044952"/>
            <a:ext cx="11183112" cy="457200"/>
          </a:xfrm>
          <a:prstGeom prst="rect">
            <a:avLst/>
          </a:prstGeom>
          <a:solidFill>
            <a:srgbClr val="1621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566928" y="3118104"/>
            <a:ext cx="2651760" cy="320040"/>
          </a:xfrm>
          <a:prstGeom prst="rect">
            <a:avLst/>
          </a:prstGeom>
          <a:noFill/>
        </p:spPr>
        <p:txBody>
          <a:bodyPr wrap="square">
            <a:spAutoFit/>
          </a:bodyPr>
          <a:lstStyle/>
          <a:p>
            <a:pPr algn="l"/>
            <a:r>
              <a:rPr sz="1050" b="1" i="0">
                <a:solidFill>
                  <a:srgbClr val="A055FF"/>
                </a:solidFill>
              </a:rPr>
              <a:t>Research Display</a:t>
            </a:r>
          </a:p>
        </p:txBody>
      </p:sp>
      <p:sp>
        <p:nvSpPr>
          <p:cNvPr id="27" name="TextBox 26"/>
          <p:cNvSpPr txBox="1"/>
          <p:nvPr/>
        </p:nvSpPr>
        <p:spPr>
          <a:xfrm>
            <a:off x="3310128" y="3090672"/>
            <a:ext cx="4389120" cy="384048"/>
          </a:xfrm>
          <a:prstGeom prst="rect">
            <a:avLst/>
          </a:prstGeom>
          <a:noFill/>
        </p:spPr>
        <p:txBody>
          <a:bodyPr wrap="square">
            <a:spAutoFit/>
          </a:bodyPr>
          <a:lstStyle/>
          <a:p>
            <a:pPr algn="l"/>
            <a:r>
              <a:rPr sz="950" b="0" i="0">
                <a:solidFill>
                  <a:srgbClr val="C8D4EE"/>
                </a:solidFill>
              </a:rPr>
              <a:t>Names + department only: 'Dr. Kunal Mishra — Commerce'. No titles, no journals.</a:t>
            </a:r>
          </a:p>
        </p:txBody>
      </p:sp>
      <p:sp>
        <p:nvSpPr>
          <p:cNvPr id="28" name="TextBox 27"/>
          <p:cNvSpPr txBox="1"/>
          <p:nvPr/>
        </p:nvSpPr>
        <p:spPr>
          <a:xfrm>
            <a:off x="7790688" y="3090672"/>
            <a:ext cx="3858768" cy="384048"/>
          </a:xfrm>
          <a:prstGeom prst="rect">
            <a:avLst/>
          </a:prstGeom>
          <a:noFill/>
        </p:spPr>
        <p:txBody>
          <a:bodyPr wrap="square">
            <a:spAutoFit/>
          </a:bodyPr>
          <a:lstStyle/>
          <a:p>
            <a:pPr algn="l"/>
            <a:r>
              <a:rPr sz="950" b="0" i="0">
                <a:solidFill>
                  <a:srgbClr val="C8D4EE"/>
                </a:solidFill>
              </a:rPr>
              <a:t>Real project showcase: 'Svan M2 Quadruped Robot' (Mech), 'VTOL UAVs' (Aero) with Learn More.</a:t>
            </a:r>
          </a:p>
        </p:txBody>
      </p:sp>
      <p:sp>
        <p:nvSpPr>
          <p:cNvPr id="29" name="Rectangle 28"/>
          <p:cNvSpPr/>
          <p:nvPr/>
        </p:nvSpPr>
        <p:spPr>
          <a:xfrm>
            <a:off x="502920" y="3502152"/>
            <a:ext cx="11183112" cy="457200"/>
          </a:xfrm>
          <a:prstGeom prst="rect">
            <a:avLst/>
          </a:prstGeom>
          <a:solidFill>
            <a:srgbClr val="101B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566928" y="3575304"/>
            <a:ext cx="2651760" cy="320040"/>
          </a:xfrm>
          <a:prstGeom prst="rect">
            <a:avLst/>
          </a:prstGeom>
          <a:noFill/>
        </p:spPr>
        <p:txBody>
          <a:bodyPr wrap="square">
            <a:spAutoFit/>
          </a:bodyPr>
          <a:lstStyle/>
          <a:p>
            <a:pPr algn="l"/>
            <a:r>
              <a:rPr sz="1050" b="1" i="0">
                <a:solidFill>
                  <a:srgbClr val="A055FF"/>
                </a:solidFill>
              </a:rPr>
              <a:t>News Pattern</a:t>
            </a:r>
          </a:p>
        </p:txBody>
      </p:sp>
      <p:sp>
        <p:nvSpPr>
          <p:cNvPr id="31" name="TextBox 30"/>
          <p:cNvSpPr txBox="1"/>
          <p:nvPr/>
        </p:nvSpPr>
        <p:spPr>
          <a:xfrm>
            <a:off x="3310128" y="3547872"/>
            <a:ext cx="4389120" cy="384048"/>
          </a:xfrm>
          <a:prstGeom prst="rect">
            <a:avLst/>
          </a:prstGeom>
          <a:noFill/>
        </p:spPr>
        <p:txBody>
          <a:bodyPr wrap="square">
            <a:spAutoFit/>
          </a:bodyPr>
          <a:lstStyle/>
          <a:p>
            <a:pPr algn="l"/>
            <a:r>
              <a:rPr sz="950" b="0" i="0">
                <a:solidFill>
                  <a:srgbClr val="C8D4EE"/>
                </a:solidFill>
              </a:rPr>
              <a:t>Scrolling marquee ticker (2005-era). Carousel duplicates same 6 items including 2021 events.</a:t>
            </a:r>
          </a:p>
        </p:txBody>
      </p:sp>
      <p:sp>
        <p:nvSpPr>
          <p:cNvPr id="32" name="TextBox 31"/>
          <p:cNvSpPr txBox="1"/>
          <p:nvPr/>
        </p:nvSpPr>
        <p:spPr>
          <a:xfrm>
            <a:off x="7790688" y="3547872"/>
            <a:ext cx="3858768" cy="384048"/>
          </a:xfrm>
          <a:prstGeom prst="rect">
            <a:avLst/>
          </a:prstGeom>
          <a:noFill/>
        </p:spPr>
        <p:txBody>
          <a:bodyPr wrap="square">
            <a:spAutoFit/>
          </a:bodyPr>
          <a:lstStyle/>
          <a:p>
            <a:pPr algn="l"/>
            <a:r>
              <a:rPr sz="950" b="0" i="0">
                <a:solidFill>
                  <a:srgbClr val="C8D4EE"/>
                </a:solidFill>
              </a:rPr>
              <a:t>Static card list, latest-first. Real headlines: 672 job offers, ₹100 Cr alumni pledge, MoUs.</a:t>
            </a:r>
          </a:p>
        </p:txBody>
      </p:sp>
      <p:sp>
        <p:nvSpPr>
          <p:cNvPr id="33" name="Rectangle 32"/>
          <p:cNvSpPr/>
          <p:nvPr/>
        </p:nvSpPr>
        <p:spPr>
          <a:xfrm>
            <a:off x="502920" y="3959352"/>
            <a:ext cx="11183112" cy="457200"/>
          </a:xfrm>
          <a:prstGeom prst="rect">
            <a:avLst/>
          </a:prstGeom>
          <a:solidFill>
            <a:srgbClr val="1621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566928" y="4032504"/>
            <a:ext cx="2651760" cy="320040"/>
          </a:xfrm>
          <a:prstGeom prst="rect">
            <a:avLst/>
          </a:prstGeom>
          <a:noFill/>
        </p:spPr>
        <p:txBody>
          <a:bodyPr wrap="square">
            <a:spAutoFit/>
          </a:bodyPr>
          <a:lstStyle/>
          <a:p>
            <a:pPr algn="l"/>
            <a:r>
              <a:rPr sz="1050" b="1" i="0">
                <a:solidFill>
                  <a:srgbClr val="A055FF"/>
                </a:solidFill>
              </a:rPr>
              <a:t>Navigation</a:t>
            </a:r>
          </a:p>
        </p:txBody>
      </p:sp>
      <p:sp>
        <p:nvSpPr>
          <p:cNvPr id="35" name="TextBox 34"/>
          <p:cNvSpPr txBox="1"/>
          <p:nvPr/>
        </p:nvSpPr>
        <p:spPr>
          <a:xfrm>
            <a:off x="3310128" y="4005072"/>
            <a:ext cx="4389120" cy="384048"/>
          </a:xfrm>
          <a:prstGeom prst="rect">
            <a:avLst/>
          </a:prstGeom>
          <a:noFill/>
        </p:spPr>
        <p:txBody>
          <a:bodyPr wrap="square">
            <a:spAutoFit/>
          </a:bodyPr>
          <a:lstStyle/>
          <a:p>
            <a:pPr algn="l"/>
            <a:r>
              <a:rPr sz="950" b="0" i="0">
                <a:solidFill>
                  <a:srgbClr val="C8D4EE"/>
                </a:solidFill>
              </a:rPr>
              <a:t>9 top-level menus — ALL load homepage. Navigation is decorative, not functional.</a:t>
            </a:r>
          </a:p>
        </p:txBody>
      </p:sp>
      <p:sp>
        <p:nvSpPr>
          <p:cNvPr id="36" name="TextBox 35"/>
          <p:cNvSpPr txBox="1"/>
          <p:nvPr/>
        </p:nvSpPr>
        <p:spPr>
          <a:xfrm>
            <a:off x="7790688" y="4005072"/>
            <a:ext cx="3858768" cy="384048"/>
          </a:xfrm>
          <a:prstGeom prst="rect">
            <a:avLst/>
          </a:prstGeom>
          <a:noFill/>
        </p:spPr>
        <p:txBody>
          <a:bodyPr wrap="square">
            <a:spAutoFit/>
          </a:bodyPr>
          <a:lstStyle/>
          <a:p>
            <a:pPr algn="l"/>
            <a:r>
              <a:rPr sz="950" b="0" i="0">
                <a:solidFill>
                  <a:srgbClr val="C8D4EE"/>
                </a:solidFill>
              </a:rPr>
              <a:t>8 top-level menus — every single one leads to a fully built-out section.</a:t>
            </a:r>
          </a:p>
        </p:txBody>
      </p:sp>
      <p:sp>
        <p:nvSpPr>
          <p:cNvPr id="37" name="Rectangle 36"/>
          <p:cNvSpPr/>
          <p:nvPr/>
        </p:nvSpPr>
        <p:spPr>
          <a:xfrm>
            <a:off x="502920" y="4416552"/>
            <a:ext cx="11183112" cy="457200"/>
          </a:xfrm>
          <a:prstGeom prst="rect">
            <a:avLst/>
          </a:prstGeom>
          <a:solidFill>
            <a:srgbClr val="101B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566928" y="4489704"/>
            <a:ext cx="2651760" cy="320040"/>
          </a:xfrm>
          <a:prstGeom prst="rect">
            <a:avLst/>
          </a:prstGeom>
          <a:noFill/>
        </p:spPr>
        <p:txBody>
          <a:bodyPr wrap="square">
            <a:spAutoFit/>
          </a:bodyPr>
          <a:lstStyle/>
          <a:p>
            <a:pPr algn="l"/>
            <a:r>
              <a:rPr sz="1050" b="1" i="0">
                <a:solidFill>
                  <a:srgbClr val="A055FF"/>
                </a:solidFill>
              </a:rPr>
              <a:t>Department Discovery</a:t>
            </a:r>
          </a:p>
        </p:txBody>
      </p:sp>
      <p:sp>
        <p:nvSpPr>
          <p:cNvPr id="39" name="TextBox 38"/>
          <p:cNvSpPr txBox="1"/>
          <p:nvPr/>
        </p:nvSpPr>
        <p:spPr>
          <a:xfrm>
            <a:off x="3310128" y="4462272"/>
            <a:ext cx="4389120" cy="384048"/>
          </a:xfrm>
          <a:prstGeom prst="rect">
            <a:avLst/>
          </a:prstGeom>
          <a:noFill/>
        </p:spPr>
        <p:txBody>
          <a:bodyPr wrap="square">
            <a:spAutoFit/>
          </a:bodyPr>
          <a:lstStyle/>
          <a:p>
            <a:pPr algn="l"/>
            <a:r>
              <a:rPr sz="950" b="0" i="0">
                <a:solidFill>
                  <a:srgbClr val="C8D4EE"/>
                </a:solidFill>
              </a:rPr>
              <a:t>No department pages exist. Cannot find a single faculty profile or course syllabus.</a:t>
            </a:r>
          </a:p>
        </p:txBody>
      </p:sp>
      <p:sp>
        <p:nvSpPr>
          <p:cNvPr id="40" name="TextBox 39"/>
          <p:cNvSpPr txBox="1"/>
          <p:nvPr/>
        </p:nvSpPr>
        <p:spPr>
          <a:xfrm>
            <a:off x="7790688" y="4462272"/>
            <a:ext cx="3858768" cy="384048"/>
          </a:xfrm>
          <a:prstGeom prst="rect">
            <a:avLst/>
          </a:prstGeom>
          <a:noFill/>
        </p:spPr>
        <p:txBody>
          <a:bodyPr wrap="square">
            <a:spAutoFit/>
          </a:bodyPr>
          <a:lstStyle/>
          <a:p>
            <a:pPr algn="l"/>
            <a:r>
              <a:rPr sz="950" b="0" i="0">
                <a:solidFill>
                  <a:srgbClr val="C8D4EE"/>
                </a:solidFill>
              </a:rPr>
              <a:t>7 visual 'Explore' cards: Engineering, Humanities, Economics, Sciences, Management, Schools.</a:t>
            </a:r>
          </a:p>
        </p:txBody>
      </p:sp>
      <p:sp>
        <p:nvSpPr>
          <p:cNvPr id="41" name="Rectangle 40"/>
          <p:cNvSpPr/>
          <p:nvPr/>
        </p:nvSpPr>
        <p:spPr>
          <a:xfrm>
            <a:off x="502920" y="4873752"/>
            <a:ext cx="11183112" cy="457200"/>
          </a:xfrm>
          <a:prstGeom prst="rect">
            <a:avLst/>
          </a:prstGeom>
          <a:solidFill>
            <a:srgbClr val="1621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566928" y="4946904"/>
            <a:ext cx="2651760" cy="320040"/>
          </a:xfrm>
          <a:prstGeom prst="rect">
            <a:avLst/>
          </a:prstGeom>
          <a:noFill/>
        </p:spPr>
        <p:txBody>
          <a:bodyPr wrap="square">
            <a:spAutoFit/>
          </a:bodyPr>
          <a:lstStyle/>
          <a:p>
            <a:pPr algn="l"/>
            <a:r>
              <a:rPr sz="1050" b="1" i="0">
                <a:solidFill>
                  <a:srgbClr val="A055FF"/>
                </a:solidFill>
              </a:rPr>
              <a:t>Admission Section</a:t>
            </a:r>
          </a:p>
        </p:txBody>
      </p:sp>
      <p:sp>
        <p:nvSpPr>
          <p:cNvPr id="43" name="TextBox 42"/>
          <p:cNvSpPr txBox="1"/>
          <p:nvPr/>
        </p:nvSpPr>
        <p:spPr>
          <a:xfrm>
            <a:off x="3310128" y="4919472"/>
            <a:ext cx="4389120" cy="384048"/>
          </a:xfrm>
          <a:prstGeom prst="rect">
            <a:avLst/>
          </a:prstGeom>
          <a:noFill/>
        </p:spPr>
        <p:txBody>
          <a:bodyPr wrap="square">
            <a:spAutoFit/>
          </a:bodyPr>
          <a:lstStyle/>
          <a:p>
            <a:pPr algn="l"/>
            <a:r>
              <a:rPr sz="950" b="0" i="0">
                <a:solidFill>
                  <a:srgbClr val="C8D4EE"/>
                </a:solidFill>
              </a:rPr>
              <a:t>Buried inside cluttered notice board. No dates calendar, no application process.</a:t>
            </a:r>
          </a:p>
        </p:txBody>
      </p:sp>
      <p:sp>
        <p:nvSpPr>
          <p:cNvPr id="44" name="TextBox 43"/>
          <p:cNvSpPr txBox="1"/>
          <p:nvPr/>
        </p:nvSpPr>
        <p:spPr>
          <a:xfrm>
            <a:off x="7790688" y="4919472"/>
            <a:ext cx="3858768" cy="384048"/>
          </a:xfrm>
          <a:prstGeom prst="rect">
            <a:avLst/>
          </a:prstGeom>
          <a:noFill/>
        </p:spPr>
        <p:txBody>
          <a:bodyPr wrap="square">
            <a:spAutoFit/>
          </a:bodyPr>
          <a:lstStyle/>
          <a:p>
            <a:pPr algn="l"/>
            <a:r>
              <a:rPr sz="950" b="0" i="0">
                <a:solidFill>
                  <a:srgbClr val="C8D4EE"/>
                </a:solidFill>
              </a:rPr>
              <a:t>Active admission notices: 'PhD/MTech/MDes/MS 2026-27', GATE-JAM, Online PGP — each clickable.</a:t>
            </a:r>
          </a:p>
        </p:txBody>
      </p:sp>
      <p:sp>
        <p:nvSpPr>
          <p:cNvPr id="45" name="Rectangle 44"/>
          <p:cNvSpPr/>
          <p:nvPr/>
        </p:nvSpPr>
        <p:spPr>
          <a:xfrm>
            <a:off x="502920" y="5330952"/>
            <a:ext cx="11183112" cy="457200"/>
          </a:xfrm>
          <a:prstGeom prst="rect">
            <a:avLst/>
          </a:prstGeom>
          <a:solidFill>
            <a:srgbClr val="101B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566928" y="5404104"/>
            <a:ext cx="2651760" cy="320040"/>
          </a:xfrm>
          <a:prstGeom prst="rect">
            <a:avLst/>
          </a:prstGeom>
          <a:noFill/>
        </p:spPr>
        <p:txBody>
          <a:bodyPr wrap="square">
            <a:spAutoFit/>
          </a:bodyPr>
          <a:lstStyle/>
          <a:p>
            <a:pPr algn="l"/>
            <a:r>
              <a:rPr sz="1050" b="1" i="0">
                <a:solidFill>
                  <a:srgbClr val="A055FF"/>
                </a:solidFill>
              </a:rPr>
              <a:t>Visual Hierarchy</a:t>
            </a:r>
          </a:p>
        </p:txBody>
      </p:sp>
      <p:sp>
        <p:nvSpPr>
          <p:cNvPr id="47" name="TextBox 46"/>
          <p:cNvSpPr txBox="1"/>
          <p:nvPr/>
        </p:nvSpPr>
        <p:spPr>
          <a:xfrm>
            <a:off x="3310128" y="5376672"/>
            <a:ext cx="4389120" cy="384048"/>
          </a:xfrm>
          <a:prstGeom prst="rect">
            <a:avLst/>
          </a:prstGeom>
          <a:noFill/>
        </p:spPr>
        <p:txBody>
          <a:bodyPr wrap="square">
            <a:spAutoFit/>
          </a:bodyPr>
          <a:lstStyle/>
          <a:p>
            <a:pPr algn="l"/>
            <a:r>
              <a:rPr sz="950" b="0" i="0">
                <a:solidFill>
                  <a:srgbClr val="C8D4EE"/>
                </a:solidFill>
              </a:rPr>
              <a:t>Marquee + ticker + carousel all competing. No whitespace. Everything on one page.</a:t>
            </a:r>
          </a:p>
        </p:txBody>
      </p:sp>
      <p:sp>
        <p:nvSpPr>
          <p:cNvPr id="48" name="TextBox 47"/>
          <p:cNvSpPr txBox="1"/>
          <p:nvPr/>
        </p:nvSpPr>
        <p:spPr>
          <a:xfrm>
            <a:off x="7790688" y="5376672"/>
            <a:ext cx="3858768" cy="384048"/>
          </a:xfrm>
          <a:prstGeom prst="rect">
            <a:avLst/>
          </a:prstGeom>
          <a:noFill/>
        </p:spPr>
        <p:txBody>
          <a:bodyPr wrap="square">
            <a:spAutoFit/>
          </a:bodyPr>
          <a:lstStyle/>
          <a:p>
            <a:pPr algn="l"/>
            <a:r>
              <a:rPr sz="950" b="0" i="0">
                <a:solidFill>
                  <a:srgbClr val="C8D4EE"/>
                </a:solidFill>
              </a:rPr>
              <a:t>Clear section breaks. Generous whitespace. One focus per scroll-view. H1→H2→body rhythm.</a:t>
            </a:r>
          </a:p>
        </p:txBody>
      </p:sp>
      <p:sp>
        <p:nvSpPr>
          <p:cNvPr id="49" name="Rectangle 48"/>
          <p:cNvSpPr/>
          <p:nvPr/>
        </p:nvSpPr>
        <p:spPr>
          <a:xfrm>
            <a:off x="502920" y="5788152"/>
            <a:ext cx="11183112" cy="457200"/>
          </a:xfrm>
          <a:prstGeom prst="rect">
            <a:avLst/>
          </a:prstGeom>
          <a:solidFill>
            <a:srgbClr val="1621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566928" y="5861304"/>
            <a:ext cx="2651760" cy="320040"/>
          </a:xfrm>
          <a:prstGeom prst="rect">
            <a:avLst/>
          </a:prstGeom>
          <a:noFill/>
        </p:spPr>
        <p:txBody>
          <a:bodyPr wrap="square">
            <a:spAutoFit/>
          </a:bodyPr>
          <a:lstStyle/>
          <a:p>
            <a:pPr algn="l"/>
            <a:r>
              <a:rPr sz="1050" b="1" i="0">
                <a:solidFill>
                  <a:srgbClr val="A055FF"/>
                </a:solidFill>
              </a:rPr>
              <a:t>Domain Ownership</a:t>
            </a:r>
          </a:p>
        </p:txBody>
      </p:sp>
      <p:sp>
        <p:nvSpPr>
          <p:cNvPr id="51" name="TextBox 50"/>
          <p:cNvSpPr txBox="1"/>
          <p:nvPr/>
        </p:nvSpPr>
        <p:spPr>
          <a:xfrm>
            <a:off x="3310128" y="5833872"/>
            <a:ext cx="4389120" cy="384048"/>
          </a:xfrm>
          <a:prstGeom prst="rect">
            <a:avLst/>
          </a:prstGeom>
          <a:noFill/>
        </p:spPr>
        <p:txBody>
          <a:bodyPr wrap="square">
            <a:spAutoFit/>
          </a:bodyPr>
          <a:lstStyle/>
          <a:p>
            <a:pPr algn="l"/>
            <a:r>
              <a:rPr sz="950" b="0" i="0">
                <a:solidFill>
                  <a:srgbClr val="C8D4EE"/>
                </a:solidFill>
              </a:rPr>
              <a:t>scius.tech/link/rajendrauniversity — hosted on the website vendor's subdomain.</a:t>
            </a:r>
          </a:p>
        </p:txBody>
      </p:sp>
      <p:sp>
        <p:nvSpPr>
          <p:cNvPr id="52" name="TextBox 51"/>
          <p:cNvSpPr txBox="1"/>
          <p:nvPr/>
        </p:nvSpPr>
        <p:spPr>
          <a:xfrm>
            <a:off x="7790688" y="5833872"/>
            <a:ext cx="3858768" cy="384048"/>
          </a:xfrm>
          <a:prstGeom prst="rect">
            <a:avLst/>
          </a:prstGeom>
          <a:noFill/>
        </p:spPr>
        <p:txBody>
          <a:bodyPr wrap="square">
            <a:spAutoFit/>
          </a:bodyPr>
          <a:lstStyle/>
          <a:p>
            <a:pPr algn="l"/>
            <a:r>
              <a:rPr sz="950" b="0" i="0">
                <a:solidFill>
                  <a:srgbClr val="C8D4EE"/>
                </a:solidFill>
              </a:rPr>
              <a:t>iitk.ac.in — institutional ownership, .ac.in trust, full SEO control.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0609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9728" cy="6858000"/>
          </a:xfrm>
          <a:prstGeom prst="rect">
            <a:avLst/>
          </a:prstGeom>
          <a:solidFill>
            <a:srgbClr val="A055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74320"/>
            <a:ext cx="10972800" cy="457200"/>
          </a:xfrm>
          <a:prstGeom prst="rect">
            <a:avLst/>
          </a:prstGeom>
          <a:noFill/>
        </p:spPr>
        <p:txBody>
          <a:bodyPr wrap="square">
            <a:spAutoFit/>
          </a:bodyPr>
          <a:lstStyle/>
          <a:p>
            <a:pPr algn="l"/>
            <a:r>
              <a:rPr sz="1100" b="1" i="0">
                <a:solidFill>
                  <a:srgbClr val="A055FF"/>
                </a:solidFill>
              </a:rPr>
              <a:t>VISUAL &amp; UX DESIGN BREAKDOWN</a:t>
            </a:r>
          </a:p>
        </p:txBody>
      </p:sp>
      <p:sp>
        <p:nvSpPr>
          <p:cNvPr id="5" name="TextBox 4"/>
          <p:cNvSpPr txBox="1"/>
          <p:nvPr/>
        </p:nvSpPr>
        <p:spPr>
          <a:xfrm>
            <a:off x="502920" y="640080"/>
            <a:ext cx="10972800" cy="640080"/>
          </a:xfrm>
          <a:prstGeom prst="rect">
            <a:avLst/>
          </a:prstGeom>
          <a:noFill/>
        </p:spPr>
        <p:txBody>
          <a:bodyPr wrap="square">
            <a:spAutoFit/>
          </a:bodyPr>
          <a:lstStyle/>
          <a:p>
            <a:pPr algn="l"/>
            <a:r>
              <a:rPr sz="3000" b="1" i="0">
                <a:solidFill>
                  <a:srgbClr val="FFFFFF"/>
                </a:solidFill>
              </a:rPr>
              <a:t>Specific Design Failures, Element by Element</a:t>
            </a:r>
          </a:p>
        </p:txBody>
      </p:sp>
      <p:sp>
        <p:nvSpPr>
          <p:cNvPr id="6" name="Rectangle 5"/>
          <p:cNvSpPr/>
          <p:nvPr/>
        </p:nvSpPr>
        <p:spPr>
          <a:xfrm>
            <a:off x="502920" y="1234440"/>
            <a:ext cx="1097280" cy="36576"/>
          </a:xfrm>
          <a:prstGeom prst="rect">
            <a:avLst/>
          </a:prstGeom>
          <a:solidFill>
            <a:srgbClr val="A055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02920" y="1417320"/>
            <a:ext cx="5577840" cy="1188720"/>
          </a:xfrm>
          <a:prstGeom prst="rect">
            <a:avLst/>
          </a:prstGeom>
          <a:solidFill>
            <a:srgbClr val="101B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02920" y="1417320"/>
            <a:ext cx="54864" cy="1188720"/>
          </a:xfrm>
          <a:prstGeom prst="rect">
            <a:avLst/>
          </a:prstGeom>
          <a:solidFill>
            <a:srgbClr val="A055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9224" y="1490472"/>
            <a:ext cx="5349240" cy="365760"/>
          </a:xfrm>
          <a:prstGeom prst="rect">
            <a:avLst/>
          </a:prstGeom>
          <a:noFill/>
        </p:spPr>
        <p:txBody>
          <a:bodyPr wrap="square">
            <a:spAutoFit/>
          </a:bodyPr>
          <a:lstStyle/>
          <a:p>
            <a:pPr algn="l"/>
            <a:r>
              <a:rPr sz="1200" b="1" i="0">
                <a:solidFill>
                  <a:srgbClr val="A055FF"/>
                </a:solidFill>
              </a:rPr>
              <a:t>Marquee Ticker for 'Latest News'</a:t>
            </a:r>
          </a:p>
        </p:txBody>
      </p:sp>
      <p:sp>
        <p:nvSpPr>
          <p:cNvPr id="10" name="TextBox 9"/>
          <p:cNvSpPr txBox="1"/>
          <p:nvPr/>
        </p:nvSpPr>
        <p:spPr>
          <a:xfrm>
            <a:off x="649224" y="1856232"/>
            <a:ext cx="5349240" cy="731520"/>
          </a:xfrm>
          <a:prstGeom prst="rect">
            <a:avLst/>
          </a:prstGeom>
          <a:noFill/>
        </p:spPr>
        <p:txBody>
          <a:bodyPr wrap="square">
            <a:spAutoFit/>
          </a:bodyPr>
          <a:lstStyle/>
          <a:p>
            <a:pPr algn="l"/>
            <a:r>
              <a:rPr sz="950" b="0" i="0">
                <a:solidFill>
                  <a:srgbClr val="C8D4EE"/>
                </a:solidFill>
              </a:rPr>
              <a:t>The homepage uses a horizontally scrolling marquee text ticker for news headlines — a pattern abandoned by serious websites around 2008. It is hard to read, accessibility-hostile, cannot be paused, and competes with the static notice board directly below it. IIT Kanpur uses a clean static card list — each headline gets its own row with proper typography.</a:t>
            </a:r>
          </a:p>
        </p:txBody>
      </p:sp>
      <p:sp>
        <p:nvSpPr>
          <p:cNvPr id="11" name="Rectangle 10"/>
          <p:cNvSpPr/>
          <p:nvPr/>
        </p:nvSpPr>
        <p:spPr>
          <a:xfrm>
            <a:off x="6355080" y="1417320"/>
            <a:ext cx="5577840" cy="1188720"/>
          </a:xfrm>
          <a:prstGeom prst="rect">
            <a:avLst/>
          </a:prstGeom>
          <a:solidFill>
            <a:srgbClr val="101B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355080" y="1417320"/>
            <a:ext cx="54864" cy="1188720"/>
          </a:xfrm>
          <a:prstGeom prst="rect">
            <a:avLst/>
          </a:prstGeom>
          <a:solidFill>
            <a:srgbClr val="A055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501384" y="1490472"/>
            <a:ext cx="5349240" cy="365760"/>
          </a:xfrm>
          <a:prstGeom prst="rect">
            <a:avLst/>
          </a:prstGeom>
          <a:noFill/>
        </p:spPr>
        <p:txBody>
          <a:bodyPr wrap="square">
            <a:spAutoFit/>
          </a:bodyPr>
          <a:lstStyle/>
          <a:p>
            <a:pPr algn="l"/>
            <a:r>
              <a:rPr sz="1200" b="1" i="0">
                <a:solidFill>
                  <a:srgbClr val="A055FF"/>
                </a:solidFill>
              </a:rPr>
              <a:t>Three Carousels Stacked Above the Fold</a:t>
            </a:r>
          </a:p>
        </p:txBody>
      </p:sp>
      <p:sp>
        <p:nvSpPr>
          <p:cNvPr id="14" name="TextBox 13"/>
          <p:cNvSpPr txBox="1"/>
          <p:nvPr/>
        </p:nvSpPr>
        <p:spPr>
          <a:xfrm>
            <a:off x="6501384" y="1856232"/>
            <a:ext cx="5349240" cy="731520"/>
          </a:xfrm>
          <a:prstGeom prst="rect">
            <a:avLst/>
          </a:prstGeom>
          <a:noFill/>
        </p:spPr>
        <p:txBody>
          <a:bodyPr wrap="square">
            <a:spAutoFit/>
          </a:bodyPr>
          <a:lstStyle/>
          <a:p>
            <a:pPr algn="l"/>
            <a:r>
              <a:rPr sz="950" b="0" i="0">
                <a:solidFill>
                  <a:srgbClr val="C8D4EE"/>
                </a:solidFill>
              </a:rPr>
              <a:t>Rajendra University stacks: (1) news ticker, (2) events carousel, (3) research scholars carousel — all auto-rotating on the same screen. The eye cannot settle. IIT Kanpur uses zero auto-rotating carousels — every piece of content is statically laid out and discoverable on scroll.</a:t>
            </a:r>
          </a:p>
        </p:txBody>
      </p:sp>
      <p:sp>
        <p:nvSpPr>
          <p:cNvPr id="15" name="Rectangle 14"/>
          <p:cNvSpPr/>
          <p:nvPr/>
        </p:nvSpPr>
        <p:spPr>
          <a:xfrm>
            <a:off x="502920" y="2715768"/>
            <a:ext cx="5577840" cy="1188720"/>
          </a:xfrm>
          <a:prstGeom prst="rect">
            <a:avLst/>
          </a:prstGeom>
          <a:solidFill>
            <a:srgbClr val="101B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02920" y="2715768"/>
            <a:ext cx="54864" cy="1188720"/>
          </a:xfrm>
          <a:prstGeom prst="rect">
            <a:avLst/>
          </a:prstGeom>
          <a:solidFill>
            <a:srgbClr val="A055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9224" y="2788920"/>
            <a:ext cx="5349240" cy="365760"/>
          </a:xfrm>
          <a:prstGeom prst="rect">
            <a:avLst/>
          </a:prstGeom>
          <a:noFill/>
        </p:spPr>
        <p:txBody>
          <a:bodyPr wrap="square">
            <a:spAutoFit/>
          </a:bodyPr>
          <a:lstStyle/>
          <a:p>
            <a:pPr algn="l"/>
            <a:r>
              <a:rPr sz="1200" b="1" i="0">
                <a:solidFill>
                  <a:srgbClr val="A055FF"/>
                </a:solidFill>
              </a:rPr>
              <a:t>No Whitespace — Everything Is Squeezed</a:t>
            </a:r>
          </a:p>
        </p:txBody>
      </p:sp>
      <p:sp>
        <p:nvSpPr>
          <p:cNvPr id="18" name="TextBox 17"/>
          <p:cNvSpPr txBox="1"/>
          <p:nvPr/>
        </p:nvSpPr>
        <p:spPr>
          <a:xfrm>
            <a:off x="649224" y="3154680"/>
            <a:ext cx="5349240" cy="731520"/>
          </a:xfrm>
          <a:prstGeom prst="rect">
            <a:avLst/>
          </a:prstGeom>
          <a:noFill/>
        </p:spPr>
        <p:txBody>
          <a:bodyPr wrap="square">
            <a:spAutoFit/>
          </a:bodyPr>
          <a:lstStyle/>
          <a:p>
            <a:pPr algn="l"/>
            <a:r>
              <a:rPr sz="950" b="0" i="0">
                <a:solidFill>
                  <a:srgbClr val="C8D4EE"/>
                </a:solidFill>
              </a:rPr>
              <a:t>Sections butt against each other with no breathing room. Cards have minimal padding. Headings sit on top of body text. The result is a wall of information with no visual hierarchy. IIT Kanpur uses generous whitespace between sections — each block gets room to be read.</a:t>
            </a:r>
          </a:p>
        </p:txBody>
      </p:sp>
      <p:sp>
        <p:nvSpPr>
          <p:cNvPr id="19" name="Rectangle 18"/>
          <p:cNvSpPr/>
          <p:nvPr/>
        </p:nvSpPr>
        <p:spPr>
          <a:xfrm>
            <a:off x="6355080" y="2715768"/>
            <a:ext cx="5577840" cy="1188720"/>
          </a:xfrm>
          <a:prstGeom prst="rect">
            <a:avLst/>
          </a:prstGeom>
          <a:solidFill>
            <a:srgbClr val="101B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355080" y="2715768"/>
            <a:ext cx="54864" cy="1188720"/>
          </a:xfrm>
          <a:prstGeom prst="rect">
            <a:avLst/>
          </a:prstGeom>
          <a:solidFill>
            <a:srgbClr val="A055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501384" y="2788920"/>
            <a:ext cx="5349240" cy="365760"/>
          </a:xfrm>
          <a:prstGeom prst="rect">
            <a:avLst/>
          </a:prstGeom>
          <a:noFill/>
        </p:spPr>
        <p:txBody>
          <a:bodyPr wrap="square">
            <a:spAutoFit/>
          </a:bodyPr>
          <a:lstStyle/>
          <a:p>
            <a:pPr algn="l"/>
            <a:r>
              <a:rPr sz="1200" b="1" i="0">
                <a:solidFill>
                  <a:srgbClr val="A055FF"/>
                </a:solidFill>
              </a:rPr>
              <a:t>Identical Card Treatment Everywhere</a:t>
            </a:r>
          </a:p>
        </p:txBody>
      </p:sp>
      <p:sp>
        <p:nvSpPr>
          <p:cNvPr id="22" name="TextBox 21"/>
          <p:cNvSpPr txBox="1"/>
          <p:nvPr/>
        </p:nvSpPr>
        <p:spPr>
          <a:xfrm>
            <a:off x="6501384" y="3154680"/>
            <a:ext cx="5349240" cy="731520"/>
          </a:xfrm>
          <a:prstGeom prst="rect">
            <a:avLst/>
          </a:prstGeom>
          <a:noFill/>
        </p:spPr>
        <p:txBody>
          <a:bodyPr wrap="square">
            <a:spAutoFit/>
          </a:bodyPr>
          <a:lstStyle/>
          <a:p>
            <a:pPr algn="l"/>
            <a:r>
              <a:rPr sz="950" b="0" i="0">
                <a:solidFill>
                  <a:srgbClr val="C8D4EE"/>
                </a:solidFill>
              </a:rPr>
              <a:t>Every card on the site looks the same: same border, same fill, same size, same shadow. There is no visual distinction between a Notice, an Event, a Research highlight, or an Alumnus. IIT Kanpur uses themed cards — research has imagery, news has dates, departments have icons.</a:t>
            </a:r>
          </a:p>
        </p:txBody>
      </p:sp>
      <p:sp>
        <p:nvSpPr>
          <p:cNvPr id="23" name="Rectangle 22"/>
          <p:cNvSpPr/>
          <p:nvPr/>
        </p:nvSpPr>
        <p:spPr>
          <a:xfrm>
            <a:off x="502920" y="4014216"/>
            <a:ext cx="5577840" cy="1188720"/>
          </a:xfrm>
          <a:prstGeom prst="rect">
            <a:avLst/>
          </a:prstGeom>
          <a:solidFill>
            <a:srgbClr val="101B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02920" y="4014216"/>
            <a:ext cx="54864" cy="1188720"/>
          </a:xfrm>
          <a:prstGeom prst="rect">
            <a:avLst/>
          </a:prstGeom>
          <a:solidFill>
            <a:srgbClr val="A055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9224" y="4087368"/>
            <a:ext cx="5349240" cy="365760"/>
          </a:xfrm>
          <a:prstGeom prst="rect">
            <a:avLst/>
          </a:prstGeom>
          <a:noFill/>
        </p:spPr>
        <p:txBody>
          <a:bodyPr wrap="square">
            <a:spAutoFit/>
          </a:bodyPr>
          <a:lstStyle/>
          <a:p>
            <a:pPr algn="l"/>
            <a:r>
              <a:rPr sz="1200" b="1" i="0">
                <a:solidFill>
                  <a:srgbClr val="A055FF"/>
                </a:solidFill>
              </a:rPr>
              <a:t>Broken Typography Rhythm</a:t>
            </a:r>
          </a:p>
        </p:txBody>
      </p:sp>
      <p:sp>
        <p:nvSpPr>
          <p:cNvPr id="26" name="TextBox 25"/>
          <p:cNvSpPr txBox="1"/>
          <p:nvPr/>
        </p:nvSpPr>
        <p:spPr>
          <a:xfrm>
            <a:off x="649224" y="4453128"/>
            <a:ext cx="5349240" cy="731520"/>
          </a:xfrm>
          <a:prstGeom prst="rect">
            <a:avLst/>
          </a:prstGeom>
          <a:noFill/>
        </p:spPr>
        <p:txBody>
          <a:bodyPr wrap="square">
            <a:spAutoFit/>
          </a:bodyPr>
          <a:lstStyle/>
          <a:p>
            <a:pPr algn="l"/>
            <a:r>
              <a:rPr sz="950" b="0" i="0">
                <a:solidFill>
                  <a:srgbClr val="C8D4EE"/>
                </a:solidFill>
              </a:rPr>
              <a:t>Headings, sub-headings, and body text are all visually similar weight and size. There is no clear H1 → H2 → H3 → body scale. Visitors cannot scan the page — they have to read line by line. IIT Kanpur uses a clear 4-level type scale with consistent weight and spacing.</a:t>
            </a:r>
          </a:p>
        </p:txBody>
      </p:sp>
      <p:sp>
        <p:nvSpPr>
          <p:cNvPr id="27" name="Rectangle 26"/>
          <p:cNvSpPr/>
          <p:nvPr/>
        </p:nvSpPr>
        <p:spPr>
          <a:xfrm>
            <a:off x="6355080" y="4014216"/>
            <a:ext cx="5577840" cy="1188720"/>
          </a:xfrm>
          <a:prstGeom prst="rect">
            <a:avLst/>
          </a:prstGeom>
          <a:solidFill>
            <a:srgbClr val="101B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6355080" y="4014216"/>
            <a:ext cx="54864" cy="1188720"/>
          </a:xfrm>
          <a:prstGeom prst="rect">
            <a:avLst/>
          </a:prstGeom>
          <a:solidFill>
            <a:srgbClr val="A055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501384" y="4087368"/>
            <a:ext cx="5349240" cy="365760"/>
          </a:xfrm>
          <a:prstGeom prst="rect">
            <a:avLst/>
          </a:prstGeom>
          <a:noFill/>
        </p:spPr>
        <p:txBody>
          <a:bodyPr wrap="square">
            <a:spAutoFit/>
          </a:bodyPr>
          <a:lstStyle/>
          <a:p>
            <a:pPr algn="l"/>
            <a:r>
              <a:rPr sz="1200" b="1" i="0">
                <a:solidFill>
                  <a:srgbClr val="A055FF"/>
                </a:solidFill>
              </a:rPr>
              <a:t>No Photography — Just Stock-Feel Graphics</a:t>
            </a:r>
          </a:p>
        </p:txBody>
      </p:sp>
      <p:sp>
        <p:nvSpPr>
          <p:cNvPr id="30" name="TextBox 29"/>
          <p:cNvSpPr txBox="1"/>
          <p:nvPr/>
        </p:nvSpPr>
        <p:spPr>
          <a:xfrm>
            <a:off x="6501384" y="4453128"/>
            <a:ext cx="5349240" cy="731520"/>
          </a:xfrm>
          <a:prstGeom prst="rect">
            <a:avLst/>
          </a:prstGeom>
          <a:noFill/>
        </p:spPr>
        <p:txBody>
          <a:bodyPr wrap="square">
            <a:spAutoFit/>
          </a:bodyPr>
          <a:lstStyle/>
          <a:p>
            <a:pPr algn="l"/>
            <a:r>
              <a:rPr sz="950" b="0" i="0">
                <a:solidFill>
                  <a:srgbClr val="C8D4EE"/>
                </a:solidFill>
              </a:rPr>
              <a:t>There is no actual campus imagery on the homepage — no aerial shots, no building photographs, no faculty portraits, no student life. The 'Gallery' page returns 146 characters. IIT Kanpur leads with campus and research photography in every major section.</a:t>
            </a:r>
          </a:p>
        </p:txBody>
      </p:sp>
      <p:sp>
        <p:nvSpPr>
          <p:cNvPr id="31" name="Rectangle 30"/>
          <p:cNvSpPr/>
          <p:nvPr/>
        </p:nvSpPr>
        <p:spPr>
          <a:xfrm>
            <a:off x="502920" y="5312664"/>
            <a:ext cx="5577840" cy="1188720"/>
          </a:xfrm>
          <a:prstGeom prst="rect">
            <a:avLst/>
          </a:prstGeom>
          <a:solidFill>
            <a:srgbClr val="101B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502920" y="5312664"/>
            <a:ext cx="54864" cy="1188720"/>
          </a:xfrm>
          <a:prstGeom prst="rect">
            <a:avLst/>
          </a:prstGeom>
          <a:solidFill>
            <a:srgbClr val="A055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49224" y="5385816"/>
            <a:ext cx="5349240" cy="365760"/>
          </a:xfrm>
          <a:prstGeom prst="rect">
            <a:avLst/>
          </a:prstGeom>
          <a:noFill/>
        </p:spPr>
        <p:txBody>
          <a:bodyPr wrap="square">
            <a:spAutoFit/>
          </a:bodyPr>
          <a:lstStyle/>
          <a:p>
            <a:pPr algn="l"/>
            <a:r>
              <a:rPr sz="1200" b="1" i="0">
                <a:solidFill>
                  <a:srgbClr val="A055FF"/>
                </a:solidFill>
              </a:rPr>
              <a:t>Accessibility Theatre</a:t>
            </a:r>
          </a:p>
        </p:txBody>
      </p:sp>
      <p:sp>
        <p:nvSpPr>
          <p:cNvPr id="34" name="TextBox 33"/>
          <p:cNvSpPr txBox="1"/>
          <p:nvPr/>
        </p:nvSpPr>
        <p:spPr>
          <a:xfrm>
            <a:off x="649224" y="5751576"/>
            <a:ext cx="5349240" cy="731520"/>
          </a:xfrm>
          <a:prstGeom prst="rect">
            <a:avLst/>
          </a:prstGeom>
          <a:noFill/>
        </p:spPr>
        <p:txBody>
          <a:bodyPr wrap="square">
            <a:spAutoFit/>
          </a:bodyPr>
          <a:lstStyle/>
          <a:p>
            <a:pPr algn="l"/>
            <a:r>
              <a:rPr sz="950" b="0" i="0">
                <a:solidFill>
                  <a:srgbClr val="C8D4EE"/>
                </a:solidFill>
              </a:rPr>
              <a:t>The site shows a 'Skip To Content | Screen Reader Access +  -  Switch to ଓଡିଆ' bar at the top — but the +/- buttons do not work, screen reader markup is incomplete, and the Odia toggle is broken. This is performative accessibility, not real WCAG compliance.</a:t>
            </a:r>
          </a:p>
        </p:txBody>
      </p:sp>
      <p:sp>
        <p:nvSpPr>
          <p:cNvPr id="35" name="Rectangle 34"/>
          <p:cNvSpPr/>
          <p:nvPr/>
        </p:nvSpPr>
        <p:spPr>
          <a:xfrm>
            <a:off x="6355080" y="5312664"/>
            <a:ext cx="5577840" cy="1188720"/>
          </a:xfrm>
          <a:prstGeom prst="rect">
            <a:avLst/>
          </a:prstGeom>
          <a:solidFill>
            <a:srgbClr val="101B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6355080" y="5312664"/>
            <a:ext cx="54864" cy="1188720"/>
          </a:xfrm>
          <a:prstGeom prst="rect">
            <a:avLst/>
          </a:prstGeom>
          <a:solidFill>
            <a:srgbClr val="A055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6501384" y="5385816"/>
            <a:ext cx="5349240" cy="365760"/>
          </a:xfrm>
          <a:prstGeom prst="rect">
            <a:avLst/>
          </a:prstGeom>
          <a:noFill/>
        </p:spPr>
        <p:txBody>
          <a:bodyPr wrap="square">
            <a:spAutoFit/>
          </a:bodyPr>
          <a:lstStyle/>
          <a:p>
            <a:pPr algn="l"/>
            <a:r>
              <a:rPr sz="1200" b="1" i="0">
                <a:solidFill>
                  <a:srgbClr val="A055FF"/>
                </a:solidFill>
              </a:rPr>
              <a:t>Footer Is a Link Dump</a:t>
            </a:r>
          </a:p>
        </p:txBody>
      </p:sp>
      <p:sp>
        <p:nvSpPr>
          <p:cNvPr id="38" name="TextBox 37"/>
          <p:cNvSpPr txBox="1"/>
          <p:nvPr/>
        </p:nvSpPr>
        <p:spPr>
          <a:xfrm>
            <a:off x="6501384" y="5751576"/>
            <a:ext cx="5349240" cy="731520"/>
          </a:xfrm>
          <a:prstGeom prst="rect">
            <a:avLst/>
          </a:prstGeom>
          <a:noFill/>
        </p:spPr>
        <p:txBody>
          <a:bodyPr wrap="square">
            <a:spAutoFit/>
          </a:bodyPr>
          <a:lstStyle/>
          <a:p>
            <a:pPr algn="l"/>
            <a:r>
              <a:rPr sz="950" b="0" i="0">
                <a:solidFill>
                  <a:srgbClr val="C8D4EE"/>
                </a:solidFill>
              </a:rPr>
              <a:t>The footer contains 14+ external links (UGC, NAAC, RUSA, AISHE, etc.) but the internal navigation it should provide — site map, key pages, search — is missing. IIT Kanpur's footer is an organisational map: Board of Governors, Directorate, Statutes, Acts, Ordinances, Annual Reports, RTI — all linked.</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0609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9728" cy="6858000"/>
          </a:xfrm>
          <a:prstGeom prst="rect">
            <a:avLst/>
          </a:prstGeom>
          <a:solidFill>
            <a:srgbClr val="FFA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74320"/>
            <a:ext cx="10972800" cy="457200"/>
          </a:xfrm>
          <a:prstGeom prst="rect">
            <a:avLst/>
          </a:prstGeom>
          <a:noFill/>
        </p:spPr>
        <p:txBody>
          <a:bodyPr wrap="square">
            <a:spAutoFit/>
          </a:bodyPr>
          <a:lstStyle/>
          <a:p>
            <a:pPr algn="l"/>
            <a:r>
              <a:rPr sz="1100" b="1" i="0">
                <a:solidFill>
                  <a:srgbClr val="FFA000"/>
                </a:solidFill>
              </a:rPr>
              <a:t>CONTENT GAP ANALYSIS</a:t>
            </a:r>
          </a:p>
        </p:txBody>
      </p:sp>
      <p:sp>
        <p:nvSpPr>
          <p:cNvPr id="5" name="TextBox 4"/>
          <p:cNvSpPr txBox="1"/>
          <p:nvPr/>
        </p:nvSpPr>
        <p:spPr>
          <a:xfrm>
            <a:off x="502920" y="640080"/>
            <a:ext cx="10972800" cy="640080"/>
          </a:xfrm>
          <a:prstGeom prst="rect">
            <a:avLst/>
          </a:prstGeom>
          <a:noFill/>
        </p:spPr>
        <p:txBody>
          <a:bodyPr wrap="square">
            <a:spAutoFit/>
          </a:bodyPr>
          <a:lstStyle/>
          <a:p>
            <a:pPr algn="l"/>
            <a:r>
              <a:rPr sz="2800" b="1" i="0">
                <a:solidFill>
                  <a:srgbClr val="FFFFFF"/>
                </a:solidFill>
              </a:rPr>
              <a:t>Every Major Section — What Exists vs. What Must Exist</a:t>
            </a:r>
          </a:p>
        </p:txBody>
      </p:sp>
      <p:sp>
        <p:nvSpPr>
          <p:cNvPr id="6" name="Rectangle 5"/>
          <p:cNvSpPr/>
          <p:nvPr/>
        </p:nvSpPr>
        <p:spPr>
          <a:xfrm>
            <a:off x="502920" y="1234440"/>
            <a:ext cx="1097280" cy="36576"/>
          </a:xfrm>
          <a:prstGeom prst="rect">
            <a:avLst/>
          </a:prstGeom>
          <a:solidFill>
            <a:srgbClr val="FFA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02920" y="1481328"/>
            <a:ext cx="5532120" cy="1572768"/>
          </a:xfrm>
          <a:prstGeom prst="rect">
            <a:avLst/>
          </a:prstGeom>
          <a:solidFill>
            <a:srgbClr val="101B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594360" y="1572768"/>
            <a:ext cx="1133856" cy="274320"/>
          </a:xfrm>
          <a:prstGeom prst="ellipse">
            <a:avLst/>
          </a:prstGeom>
          <a:solidFill>
            <a:srgbClr val="FFA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900" b="1">
                <a:solidFill>
                  <a:srgbClr val="FFFFFF"/>
                </a:solidFill>
              </a:rPr>
              <a:t>HOMEPAGE</a:t>
            </a:r>
          </a:p>
        </p:txBody>
      </p:sp>
      <p:sp>
        <p:nvSpPr>
          <p:cNvPr id="9" name="TextBox 8"/>
          <p:cNvSpPr txBox="1"/>
          <p:nvPr/>
        </p:nvSpPr>
        <p:spPr>
          <a:xfrm>
            <a:off x="612648" y="1920240"/>
            <a:ext cx="5330952" cy="530352"/>
          </a:xfrm>
          <a:prstGeom prst="rect">
            <a:avLst/>
          </a:prstGeom>
          <a:noFill/>
        </p:spPr>
        <p:txBody>
          <a:bodyPr wrap="square">
            <a:spAutoFit/>
          </a:bodyPr>
          <a:lstStyle/>
          <a:p>
            <a:pPr algn="l"/>
            <a:r>
              <a:rPr sz="950" b="0" i="0">
                <a:solidFill>
                  <a:srgbClr val="C8D4EE"/>
                </a:solidFill>
              </a:rPr>
              <a:t>Has: What exists: Welcome text, Chancellor/VC messages (cut off with '..more'), Notice Board, Events carousel (incl...</a:t>
            </a:r>
          </a:p>
        </p:txBody>
      </p:sp>
      <p:sp>
        <p:nvSpPr>
          <p:cNvPr id="10" name="TextBox 9"/>
          <p:cNvSpPr txBox="1"/>
          <p:nvPr/>
        </p:nvSpPr>
        <p:spPr>
          <a:xfrm>
            <a:off x="612648" y="2487168"/>
            <a:ext cx="5330952" cy="502920"/>
          </a:xfrm>
          <a:prstGeom prst="rect">
            <a:avLst/>
          </a:prstGeom>
          <a:noFill/>
        </p:spPr>
        <p:txBody>
          <a:bodyPr wrap="square">
            <a:spAutoFit/>
          </a:bodyPr>
          <a:lstStyle/>
          <a:p>
            <a:pPr algn="l"/>
            <a:r>
              <a:rPr sz="950" b="0" i="0">
                <a:solidFill>
                  <a:srgbClr val="FFA000"/>
                </a:solidFill>
              </a:rPr>
              <a:t>Needs: What's missing: Real photography, program highlights, NAAC score, NIRF ranking, student count, placement stats...</a:t>
            </a:r>
          </a:p>
        </p:txBody>
      </p:sp>
      <p:sp>
        <p:nvSpPr>
          <p:cNvPr id="11" name="Rectangle 10"/>
          <p:cNvSpPr/>
          <p:nvPr/>
        </p:nvSpPr>
        <p:spPr>
          <a:xfrm>
            <a:off x="6355080" y="1481328"/>
            <a:ext cx="5532120" cy="1572768"/>
          </a:xfrm>
          <a:prstGeom prst="rect">
            <a:avLst/>
          </a:prstGeom>
          <a:solidFill>
            <a:srgbClr val="101B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6446520" y="1572768"/>
            <a:ext cx="2574036" cy="274320"/>
          </a:xfrm>
          <a:prstGeom prst="ellipse">
            <a:avLst/>
          </a:prstGeom>
          <a:solidFill>
            <a:srgbClr val="FF4D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900" b="1">
                <a:solidFill>
                  <a:srgbClr val="FFFFFF"/>
                </a:solidFill>
              </a:rPr>
              <a:t>ACADEMICS / DEPARTMENTS</a:t>
            </a:r>
          </a:p>
        </p:txBody>
      </p:sp>
      <p:sp>
        <p:nvSpPr>
          <p:cNvPr id="13" name="TextBox 12"/>
          <p:cNvSpPr txBox="1"/>
          <p:nvPr/>
        </p:nvSpPr>
        <p:spPr>
          <a:xfrm>
            <a:off x="6464808" y="1920240"/>
            <a:ext cx="5330952" cy="530352"/>
          </a:xfrm>
          <a:prstGeom prst="rect">
            <a:avLst/>
          </a:prstGeom>
          <a:noFill/>
        </p:spPr>
        <p:txBody>
          <a:bodyPr wrap="square">
            <a:spAutoFit/>
          </a:bodyPr>
          <a:lstStyle/>
          <a:p>
            <a:pPr algn="l"/>
            <a:r>
              <a:rPr sz="950" b="0" i="0">
                <a:solidFill>
                  <a:srgbClr val="C8D4EE"/>
                </a:solidFill>
              </a:rPr>
              <a:t>Has: What exists: Nothing. Clicking Academics in the nav loads the homepage. There are no department pages, no cour...</a:t>
            </a:r>
          </a:p>
        </p:txBody>
      </p:sp>
      <p:sp>
        <p:nvSpPr>
          <p:cNvPr id="14" name="TextBox 13"/>
          <p:cNvSpPr txBox="1"/>
          <p:nvPr/>
        </p:nvSpPr>
        <p:spPr>
          <a:xfrm>
            <a:off x="6464808" y="2487168"/>
            <a:ext cx="5330952" cy="502920"/>
          </a:xfrm>
          <a:prstGeom prst="rect">
            <a:avLst/>
          </a:prstGeom>
          <a:noFill/>
        </p:spPr>
        <p:txBody>
          <a:bodyPr wrap="square">
            <a:spAutoFit/>
          </a:bodyPr>
          <a:lstStyle/>
          <a:p>
            <a:pPr algn="l"/>
            <a:r>
              <a:rPr sz="950" b="0" i="0">
                <a:solidFill>
                  <a:srgbClr val="FFA000"/>
                </a:solidFill>
              </a:rPr>
              <a:t>Needs: What's missing: Every department needs its own page — faculty profiles with qualifications, courses offered wi...</a:t>
            </a:r>
          </a:p>
        </p:txBody>
      </p:sp>
      <p:sp>
        <p:nvSpPr>
          <p:cNvPr id="15" name="Rectangle 14"/>
          <p:cNvSpPr/>
          <p:nvPr/>
        </p:nvSpPr>
        <p:spPr>
          <a:xfrm>
            <a:off x="502920" y="3145536"/>
            <a:ext cx="5532120" cy="1572768"/>
          </a:xfrm>
          <a:prstGeom prst="rect">
            <a:avLst/>
          </a:prstGeom>
          <a:solidFill>
            <a:srgbClr val="101B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594360" y="3236976"/>
            <a:ext cx="1805940" cy="274320"/>
          </a:xfrm>
          <a:prstGeom prst="ellipse">
            <a:avLst/>
          </a:prstGeom>
          <a:solidFill>
            <a:srgbClr val="FF4D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900" b="1">
                <a:solidFill>
                  <a:srgbClr val="FFFFFF"/>
                </a:solidFill>
              </a:rPr>
              <a:t>ADMISSION &amp; FEE</a:t>
            </a:r>
          </a:p>
        </p:txBody>
      </p:sp>
      <p:sp>
        <p:nvSpPr>
          <p:cNvPr id="17" name="TextBox 16"/>
          <p:cNvSpPr txBox="1"/>
          <p:nvPr/>
        </p:nvSpPr>
        <p:spPr>
          <a:xfrm>
            <a:off x="612648" y="3584448"/>
            <a:ext cx="5330952" cy="530352"/>
          </a:xfrm>
          <a:prstGeom prst="rect">
            <a:avLst/>
          </a:prstGeom>
          <a:noFill/>
        </p:spPr>
        <p:txBody>
          <a:bodyPr wrap="square">
            <a:spAutoFit/>
          </a:bodyPr>
          <a:lstStyle/>
          <a:p>
            <a:pPr algn="l"/>
            <a:r>
              <a:rPr sz="950" b="0" i="0">
                <a:solidFill>
                  <a:srgbClr val="C8D4EE"/>
                </a:solidFill>
              </a:rPr>
              <a:t>Has: What exists: Nothing. The Admission &amp; Fee nav item loads the homepage. No admission procedure, no eligibility ...</a:t>
            </a:r>
          </a:p>
        </p:txBody>
      </p:sp>
      <p:sp>
        <p:nvSpPr>
          <p:cNvPr id="18" name="TextBox 17"/>
          <p:cNvSpPr txBox="1"/>
          <p:nvPr/>
        </p:nvSpPr>
        <p:spPr>
          <a:xfrm>
            <a:off x="612648" y="4151376"/>
            <a:ext cx="5330952" cy="502920"/>
          </a:xfrm>
          <a:prstGeom prst="rect">
            <a:avLst/>
          </a:prstGeom>
          <a:noFill/>
        </p:spPr>
        <p:txBody>
          <a:bodyPr wrap="square">
            <a:spAutoFit/>
          </a:bodyPr>
          <a:lstStyle/>
          <a:p>
            <a:pPr algn="l"/>
            <a:r>
              <a:rPr sz="950" b="0" i="0">
                <a:solidFill>
                  <a:srgbClr val="FFA000"/>
                </a:solidFill>
              </a:rPr>
              <a:t>Needs: What's missing: Online application portal, eligibility criteria per program, fee structure table, important da...</a:t>
            </a:r>
          </a:p>
        </p:txBody>
      </p:sp>
      <p:sp>
        <p:nvSpPr>
          <p:cNvPr id="19" name="Rectangle 18"/>
          <p:cNvSpPr/>
          <p:nvPr/>
        </p:nvSpPr>
        <p:spPr>
          <a:xfrm>
            <a:off x="6355080" y="3145536"/>
            <a:ext cx="5532120" cy="1572768"/>
          </a:xfrm>
          <a:prstGeom prst="rect">
            <a:avLst/>
          </a:prstGeom>
          <a:solidFill>
            <a:srgbClr val="101B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6446520" y="3236976"/>
            <a:ext cx="1421892" cy="274320"/>
          </a:xfrm>
          <a:prstGeom prst="ellipse">
            <a:avLst/>
          </a:prstGeom>
          <a:solidFill>
            <a:srgbClr val="FF4D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900" b="1">
                <a:solidFill>
                  <a:srgbClr val="FFFFFF"/>
                </a:solidFill>
              </a:rPr>
              <a:t>EXAMINATION</a:t>
            </a:r>
          </a:p>
        </p:txBody>
      </p:sp>
      <p:sp>
        <p:nvSpPr>
          <p:cNvPr id="21" name="TextBox 20"/>
          <p:cNvSpPr txBox="1"/>
          <p:nvPr/>
        </p:nvSpPr>
        <p:spPr>
          <a:xfrm>
            <a:off x="6464808" y="3584448"/>
            <a:ext cx="5330952" cy="530352"/>
          </a:xfrm>
          <a:prstGeom prst="rect">
            <a:avLst/>
          </a:prstGeom>
          <a:noFill/>
        </p:spPr>
        <p:txBody>
          <a:bodyPr wrap="square">
            <a:spAutoFit/>
          </a:bodyPr>
          <a:lstStyle/>
          <a:p>
            <a:pPr algn="l"/>
            <a:r>
              <a:rPr sz="950" b="0" i="0">
                <a:solidFill>
                  <a:srgbClr val="C8D4EE"/>
                </a:solidFill>
              </a:rPr>
              <a:t>Has: What exists: The Examination nav loads the homepage. However, the Notice Board on the homepage DOES show exam ...</a:t>
            </a:r>
          </a:p>
        </p:txBody>
      </p:sp>
      <p:sp>
        <p:nvSpPr>
          <p:cNvPr id="22" name="TextBox 21"/>
          <p:cNvSpPr txBox="1"/>
          <p:nvPr/>
        </p:nvSpPr>
        <p:spPr>
          <a:xfrm>
            <a:off x="6464808" y="4151376"/>
            <a:ext cx="5330952" cy="502920"/>
          </a:xfrm>
          <a:prstGeom prst="rect">
            <a:avLst/>
          </a:prstGeom>
          <a:noFill/>
        </p:spPr>
        <p:txBody>
          <a:bodyPr wrap="square">
            <a:spAutoFit/>
          </a:bodyPr>
          <a:lstStyle/>
          <a:p>
            <a:pPr algn="l"/>
            <a:r>
              <a:rPr sz="950" b="0" i="0">
                <a:solidFill>
                  <a:srgbClr val="FFA000"/>
                </a:solidFill>
              </a:rPr>
              <a:t>Needs: What's missing: Dedicated exam portal with date-wise schedule, hall ticket download, result check, re-evaluati...</a:t>
            </a:r>
          </a:p>
        </p:txBody>
      </p:sp>
      <p:sp>
        <p:nvSpPr>
          <p:cNvPr id="23" name="Rectangle 22"/>
          <p:cNvSpPr/>
          <p:nvPr/>
        </p:nvSpPr>
        <p:spPr>
          <a:xfrm>
            <a:off x="502920" y="4809744"/>
            <a:ext cx="5532120" cy="1572768"/>
          </a:xfrm>
          <a:prstGeom prst="rect">
            <a:avLst/>
          </a:prstGeom>
          <a:solidFill>
            <a:srgbClr val="101B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594360" y="4901184"/>
            <a:ext cx="1133856" cy="274320"/>
          </a:xfrm>
          <a:prstGeom prst="ellipse">
            <a:avLst/>
          </a:prstGeom>
          <a:solidFill>
            <a:srgbClr val="FF4D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900" b="1">
                <a:solidFill>
                  <a:srgbClr val="FFFFFF"/>
                </a:solidFill>
              </a:rPr>
              <a:t>RESEARCH</a:t>
            </a:r>
          </a:p>
        </p:txBody>
      </p:sp>
      <p:sp>
        <p:nvSpPr>
          <p:cNvPr id="25" name="TextBox 24"/>
          <p:cNvSpPr txBox="1"/>
          <p:nvPr/>
        </p:nvSpPr>
        <p:spPr>
          <a:xfrm>
            <a:off x="612648" y="5248656"/>
            <a:ext cx="5330952" cy="530352"/>
          </a:xfrm>
          <a:prstGeom prst="rect">
            <a:avLst/>
          </a:prstGeom>
          <a:noFill/>
        </p:spPr>
        <p:txBody>
          <a:bodyPr wrap="square">
            <a:spAutoFit/>
          </a:bodyPr>
          <a:lstStyle/>
          <a:p>
            <a:pPr algn="l"/>
            <a:r>
              <a:rPr sz="950" b="0" i="0">
                <a:solidFill>
                  <a:srgbClr val="C8D4EE"/>
                </a:solidFill>
              </a:rPr>
              <a:t>Has: What exists: A section showing 10 faculty names + department labels. No paper titles, no journal names, no pub...</a:t>
            </a:r>
          </a:p>
        </p:txBody>
      </p:sp>
      <p:sp>
        <p:nvSpPr>
          <p:cNvPr id="26" name="TextBox 25"/>
          <p:cNvSpPr txBox="1"/>
          <p:nvPr/>
        </p:nvSpPr>
        <p:spPr>
          <a:xfrm>
            <a:off x="612648" y="5815584"/>
            <a:ext cx="5330952" cy="502920"/>
          </a:xfrm>
          <a:prstGeom prst="rect">
            <a:avLst/>
          </a:prstGeom>
          <a:noFill/>
        </p:spPr>
        <p:txBody>
          <a:bodyPr wrap="square">
            <a:spAutoFit/>
          </a:bodyPr>
          <a:lstStyle/>
          <a:p>
            <a:pPr algn="l"/>
            <a:r>
              <a:rPr sz="950" b="0" i="0">
                <a:solidFill>
                  <a:srgbClr val="FFA000"/>
                </a:solidFill>
              </a:rPr>
              <a:t>Needs: What's missing: Searchable research database, faculty-wise publication lists with citations, ongoing projects,...</a:t>
            </a:r>
          </a:p>
        </p:txBody>
      </p:sp>
      <p:sp>
        <p:nvSpPr>
          <p:cNvPr id="27" name="Rectangle 26"/>
          <p:cNvSpPr/>
          <p:nvPr/>
        </p:nvSpPr>
        <p:spPr>
          <a:xfrm>
            <a:off x="6355080" y="4809744"/>
            <a:ext cx="5532120" cy="1572768"/>
          </a:xfrm>
          <a:prstGeom prst="rect">
            <a:avLst/>
          </a:prstGeom>
          <a:solidFill>
            <a:srgbClr val="101B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6446520" y="4901184"/>
            <a:ext cx="941832" cy="274320"/>
          </a:xfrm>
          <a:prstGeom prst="ellipse">
            <a:avLst/>
          </a:prstGeom>
          <a:solidFill>
            <a:srgbClr val="FF4D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900" b="1">
                <a:solidFill>
                  <a:srgbClr val="FFFFFF"/>
                </a:solidFill>
              </a:rPr>
              <a:t>ALUMNI</a:t>
            </a:r>
          </a:p>
        </p:txBody>
      </p:sp>
      <p:sp>
        <p:nvSpPr>
          <p:cNvPr id="29" name="TextBox 28"/>
          <p:cNvSpPr txBox="1"/>
          <p:nvPr/>
        </p:nvSpPr>
        <p:spPr>
          <a:xfrm>
            <a:off x="6464808" y="5248656"/>
            <a:ext cx="5330952" cy="530352"/>
          </a:xfrm>
          <a:prstGeom prst="rect">
            <a:avLst/>
          </a:prstGeom>
          <a:noFill/>
        </p:spPr>
        <p:txBody>
          <a:bodyPr wrap="square">
            <a:spAutoFit/>
          </a:bodyPr>
          <a:lstStyle/>
          <a:p>
            <a:pPr algn="l"/>
            <a:r>
              <a:rPr sz="950" b="0" i="0">
                <a:solidFill>
                  <a:srgbClr val="C8D4EE"/>
                </a:solidFill>
              </a:rPr>
              <a:t>Has: What exists: Two cards — both Scius Solution employees listed as 'Notable Alumni'. No real alumni. No alumni d...</a:t>
            </a:r>
          </a:p>
        </p:txBody>
      </p:sp>
      <p:sp>
        <p:nvSpPr>
          <p:cNvPr id="30" name="TextBox 29"/>
          <p:cNvSpPr txBox="1"/>
          <p:nvPr/>
        </p:nvSpPr>
        <p:spPr>
          <a:xfrm>
            <a:off x="6464808" y="5815584"/>
            <a:ext cx="5330952" cy="502920"/>
          </a:xfrm>
          <a:prstGeom prst="rect">
            <a:avLst/>
          </a:prstGeom>
          <a:noFill/>
        </p:spPr>
        <p:txBody>
          <a:bodyPr wrap="square">
            <a:spAutoFit/>
          </a:bodyPr>
          <a:lstStyle/>
          <a:p>
            <a:pPr algn="l"/>
            <a:r>
              <a:rPr sz="950" b="0" i="0">
                <a:solidFill>
                  <a:srgbClr val="FFA000"/>
                </a:solidFill>
              </a:rPr>
              <a:t>Needs: What's missing: Alumni registration form, searchable directory, achievement gallery, alumni chapter contacts, ...</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0609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9728" cy="6858000"/>
          </a:xfrm>
          <a:prstGeom prst="rect">
            <a:avLst/>
          </a:prstGeom>
          <a:solidFill>
            <a:srgbClr val="1ABC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74320"/>
            <a:ext cx="10972800" cy="457200"/>
          </a:xfrm>
          <a:prstGeom prst="rect">
            <a:avLst/>
          </a:prstGeom>
          <a:noFill/>
        </p:spPr>
        <p:txBody>
          <a:bodyPr wrap="square">
            <a:spAutoFit/>
          </a:bodyPr>
          <a:lstStyle/>
          <a:p>
            <a:pPr algn="l"/>
            <a:r>
              <a:rPr sz="1100" b="1" i="0">
                <a:solidFill>
                  <a:srgbClr val="1ABC9C"/>
                </a:solidFill>
              </a:rPr>
              <a:t>INTERNATIONAL BENCHMARK</a:t>
            </a:r>
          </a:p>
        </p:txBody>
      </p:sp>
      <p:sp>
        <p:nvSpPr>
          <p:cNvPr id="5" name="TextBox 4"/>
          <p:cNvSpPr txBox="1"/>
          <p:nvPr/>
        </p:nvSpPr>
        <p:spPr>
          <a:xfrm>
            <a:off x="502920" y="640080"/>
            <a:ext cx="10972800" cy="640080"/>
          </a:xfrm>
          <a:prstGeom prst="rect">
            <a:avLst/>
          </a:prstGeom>
          <a:noFill/>
        </p:spPr>
        <p:txBody>
          <a:bodyPr wrap="square">
            <a:spAutoFit/>
          </a:bodyPr>
          <a:lstStyle/>
          <a:p>
            <a:pPr algn="l"/>
            <a:r>
              <a:rPr sz="3000" b="1" i="0">
                <a:solidFill>
                  <a:srgbClr val="FFFFFF"/>
                </a:solidFill>
              </a:rPr>
              <a:t>What Foreign Universities Put on Their Websites</a:t>
            </a:r>
          </a:p>
        </p:txBody>
      </p:sp>
      <p:sp>
        <p:nvSpPr>
          <p:cNvPr id="6" name="Rectangle 5"/>
          <p:cNvSpPr/>
          <p:nvPr/>
        </p:nvSpPr>
        <p:spPr>
          <a:xfrm>
            <a:off x="502920" y="1234440"/>
            <a:ext cx="1097280" cy="36576"/>
          </a:xfrm>
          <a:prstGeom prst="rect">
            <a:avLst/>
          </a:prstGeom>
          <a:solidFill>
            <a:srgbClr val="1ABC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1371600"/>
            <a:ext cx="11183112" cy="475488"/>
          </a:xfrm>
          <a:prstGeom prst="rect">
            <a:avLst/>
          </a:prstGeom>
          <a:noFill/>
        </p:spPr>
        <p:txBody>
          <a:bodyPr wrap="square">
            <a:spAutoFit/>
          </a:bodyPr>
          <a:lstStyle/>
          <a:p>
            <a:pPr algn="l"/>
            <a:r>
              <a:rPr sz="1200" b="0" i="0">
                <a:solidFill>
                  <a:srgbClr val="C8D4EE"/>
                </a:solidFill>
              </a:rPr>
              <a:t>Universities like University of Edinburgh, NUS Singapore, University of Melbourne and their peers treat their website as the university's primary interface with the world. Here is what they mandate:</a:t>
            </a:r>
          </a:p>
        </p:txBody>
      </p:sp>
      <p:sp>
        <p:nvSpPr>
          <p:cNvPr id="8" name="Rectangle 7"/>
          <p:cNvSpPr/>
          <p:nvPr/>
        </p:nvSpPr>
        <p:spPr>
          <a:xfrm>
            <a:off x="502920" y="2029968"/>
            <a:ext cx="3657600" cy="1993392"/>
          </a:xfrm>
          <a:prstGeom prst="rect">
            <a:avLst/>
          </a:prstGeom>
          <a:solidFill>
            <a:srgbClr val="101B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612648" y="2121408"/>
            <a:ext cx="1229868" cy="274320"/>
          </a:xfrm>
          <a:prstGeom prst="ellipse">
            <a:avLst/>
          </a:prstGeom>
          <a:solidFill>
            <a:srgbClr val="1ABC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900" b="1">
                <a:solidFill>
                  <a:srgbClr val="FFFFFF"/>
                </a:solidFill>
              </a:rPr>
              <a:t>ACADEMICS</a:t>
            </a:r>
          </a:p>
        </p:txBody>
      </p:sp>
      <p:sp>
        <p:nvSpPr>
          <p:cNvPr id="10" name="TextBox 9"/>
          <p:cNvSpPr txBox="1"/>
          <p:nvPr/>
        </p:nvSpPr>
        <p:spPr>
          <a:xfrm>
            <a:off x="612648" y="2487168"/>
            <a:ext cx="3474720" cy="1463040"/>
          </a:xfrm>
          <a:prstGeom prst="rect">
            <a:avLst/>
          </a:prstGeom>
          <a:noFill/>
        </p:spPr>
        <p:txBody>
          <a:bodyPr wrap="square">
            <a:spAutoFit/>
          </a:bodyPr>
          <a:lstStyle/>
          <a:p>
            <a:pPr algn="l">
              <a:spcAft>
                <a:spcPts val="400"/>
              </a:spcAft>
            </a:pPr>
            <a:r>
              <a:rPr sz="850" b="1">
                <a:solidFill>
                  <a:srgbClr val="1ABC9C"/>
                </a:solidFill>
              </a:rPr>
              <a:t>• </a:t>
            </a:r>
            <a:r>
              <a:rPr sz="950">
                <a:solidFill>
                  <a:srgbClr val="C8D4EE"/>
                </a:solidFill>
              </a:rPr>
              <a:t>Every programme has its own page: entry requirements, learning outcomes, assessment methods, career pathways, fee schedule</a:t>
            </a:r>
          </a:p>
          <a:p>
            <a:pPr algn="l">
              <a:spcAft>
                <a:spcPts val="400"/>
              </a:spcAft>
            </a:pPr>
            <a:r>
              <a:rPr sz="850" b="1">
                <a:solidFill>
                  <a:srgbClr val="1ABC9C"/>
                </a:solidFill>
              </a:rPr>
              <a:t>• </a:t>
            </a:r>
            <a:r>
              <a:rPr sz="950">
                <a:solidFill>
                  <a:srgbClr val="C8D4EE"/>
                </a:solidFill>
              </a:rPr>
              <a:t>Faculty directory searchable by name, department, research interest — each with full bio, photo, publications, office hours</a:t>
            </a:r>
          </a:p>
          <a:p>
            <a:pPr algn="l">
              <a:spcAft>
                <a:spcPts val="400"/>
              </a:spcAft>
            </a:pPr>
            <a:r>
              <a:rPr sz="850" b="1">
                <a:solidFill>
                  <a:srgbClr val="1ABC9C"/>
                </a:solidFill>
              </a:rPr>
              <a:t>• </a:t>
            </a:r>
            <a:r>
              <a:rPr sz="950">
                <a:solidFill>
                  <a:srgbClr val="C8D4EE"/>
                </a:solidFill>
              </a:rPr>
              <a:t>Course catalogue with unit/module descriptions, credit hours, prerequisites — downloadable as PDF</a:t>
            </a:r>
          </a:p>
          <a:p>
            <a:pPr algn="l"/>
            <a:r>
              <a:rPr sz="850" b="1">
                <a:solidFill>
                  <a:srgbClr val="1ABC9C"/>
                </a:solidFill>
              </a:rPr>
              <a:t>• </a:t>
            </a:r>
            <a:r>
              <a:rPr sz="950">
                <a:solidFill>
                  <a:srgbClr val="C8D4EE"/>
                </a:solidFill>
              </a:rPr>
              <a:t>Academic calendar (term dates, exam periods, holiday schedule) updated annually</a:t>
            </a:r>
          </a:p>
        </p:txBody>
      </p:sp>
      <p:sp>
        <p:nvSpPr>
          <p:cNvPr id="11" name="Rectangle 10"/>
          <p:cNvSpPr/>
          <p:nvPr/>
        </p:nvSpPr>
        <p:spPr>
          <a:xfrm>
            <a:off x="4416552" y="2029968"/>
            <a:ext cx="3657600" cy="1993392"/>
          </a:xfrm>
          <a:prstGeom prst="rect">
            <a:avLst/>
          </a:prstGeom>
          <a:solidFill>
            <a:srgbClr val="101B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4526280" y="2121408"/>
            <a:ext cx="1325880" cy="274320"/>
          </a:xfrm>
          <a:prstGeom prst="ellipse">
            <a:avLst/>
          </a:prstGeom>
          <a:solidFill>
            <a:srgbClr val="FFC0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900" b="1">
                <a:solidFill>
                  <a:srgbClr val="FFFFFF"/>
                </a:solidFill>
              </a:rPr>
              <a:t>ADMISSIONS</a:t>
            </a:r>
          </a:p>
        </p:txBody>
      </p:sp>
      <p:sp>
        <p:nvSpPr>
          <p:cNvPr id="13" name="TextBox 12"/>
          <p:cNvSpPr txBox="1"/>
          <p:nvPr/>
        </p:nvSpPr>
        <p:spPr>
          <a:xfrm>
            <a:off x="4526280" y="2487168"/>
            <a:ext cx="3474720" cy="1463040"/>
          </a:xfrm>
          <a:prstGeom prst="rect">
            <a:avLst/>
          </a:prstGeom>
          <a:noFill/>
        </p:spPr>
        <p:txBody>
          <a:bodyPr wrap="square">
            <a:spAutoFit/>
          </a:bodyPr>
          <a:lstStyle/>
          <a:p>
            <a:pPr algn="l">
              <a:spcAft>
                <a:spcPts val="400"/>
              </a:spcAft>
            </a:pPr>
            <a:r>
              <a:rPr sz="850" b="1">
                <a:solidFill>
                  <a:srgbClr val="FFC030"/>
                </a:solidFill>
              </a:rPr>
              <a:t>• </a:t>
            </a:r>
            <a:r>
              <a:rPr sz="950">
                <a:solidFill>
                  <a:srgbClr val="C8D4EE"/>
                </a:solidFill>
              </a:rPr>
              <a:t>Step-by-step application guide — what to submit, when, to whom, and what happens next</a:t>
            </a:r>
          </a:p>
          <a:p>
            <a:pPr algn="l">
              <a:spcAft>
                <a:spcPts val="400"/>
              </a:spcAft>
            </a:pPr>
            <a:r>
              <a:rPr sz="850" b="1">
                <a:solidFill>
                  <a:srgbClr val="FFC030"/>
                </a:solidFill>
              </a:rPr>
              <a:t>• </a:t>
            </a:r>
            <a:r>
              <a:rPr sz="950">
                <a:solidFill>
                  <a:srgbClr val="C8D4EE"/>
                </a:solidFill>
              </a:rPr>
              <a:t>Eligibility matrices by nationality, category, programme — no ambiguity</a:t>
            </a:r>
          </a:p>
          <a:p>
            <a:pPr algn="l">
              <a:spcAft>
                <a:spcPts val="400"/>
              </a:spcAft>
            </a:pPr>
            <a:r>
              <a:rPr sz="850" b="1">
                <a:solidFill>
                  <a:srgbClr val="FFC030"/>
                </a:solidFill>
              </a:rPr>
              <a:t>• </a:t>
            </a:r>
            <a:r>
              <a:rPr sz="950">
                <a:solidFill>
                  <a:srgbClr val="C8D4EE"/>
                </a:solidFill>
              </a:rPr>
              <a:t>Fee structure broken down: tuition, hostel, examination, miscellaneous — updated every year</a:t>
            </a:r>
          </a:p>
          <a:p>
            <a:pPr algn="l"/>
            <a:r>
              <a:rPr sz="850" b="1">
                <a:solidFill>
                  <a:srgbClr val="FFC030"/>
                </a:solidFill>
              </a:rPr>
              <a:t>• </a:t>
            </a:r>
            <a:r>
              <a:rPr sz="950">
                <a:solidFill>
                  <a:srgbClr val="C8D4EE"/>
                </a:solidFill>
              </a:rPr>
              <a:t>Scholarship and financial aid search tool with eligibility criteria and application deadlines</a:t>
            </a:r>
          </a:p>
        </p:txBody>
      </p:sp>
      <p:sp>
        <p:nvSpPr>
          <p:cNvPr id="14" name="Rectangle 13"/>
          <p:cNvSpPr/>
          <p:nvPr/>
        </p:nvSpPr>
        <p:spPr>
          <a:xfrm>
            <a:off x="8330184" y="2029968"/>
            <a:ext cx="3657600" cy="1993392"/>
          </a:xfrm>
          <a:prstGeom prst="rect">
            <a:avLst/>
          </a:prstGeom>
          <a:solidFill>
            <a:srgbClr val="101B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8439912" y="2121408"/>
            <a:ext cx="1133856" cy="274320"/>
          </a:xfrm>
          <a:prstGeom prst="ellipse">
            <a:avLst/>
          </a:prstGeom>
          <a:solidFill>
            <a:srgbClr val="A055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900" b="1">
                <a:solidFill>
                  <a:srgbClr val="FFFFFF"/>
                </a:solidFill>
              </a:rPr>
              <a:t>RESEARCH</a:t>
            </a:r>
          </a:p>
        </p:txBody>
      </p:sp>
      <p:sp>
        <p:nvSpPr>
          <p:cNvPr id="16" name="TextBox 15"/>
          <p:cNvSpPr txBox="1"/>
          <p:nvPr/>
        </p:nvSpPr>
        <p:spPr>
          <a:xfrm>
            <a:off x="8439912" y="2487168"/>
            <a:ext cx="3474720" cy="1463040"/>
          </a:xfrm>
          <a:prstGeom prst="rect">
            <a:avLst/>
          </a:prstGeom>
          <a:noFill/>
        </p:spPr>
        <p:txBody>
          <a:bodyPr wrap="square">
            <a:spAutoFit/>
          </a:bodyPr>
          <a:lstStyle/>
          <a:p>
            <a:pPr algn="l">
              <a:spcAft>
                <a:spcPts val="400"/>
              </a:spcAft>
            </a:pPr>
            <a:r>
              <a:rPr sz="850" b="1">
                <a:solidFill>
                  <a:srgbClr val="A055FF"/>
                </a:solidFill>
              </a:rPr>
              <a:t>• </a:t>
            </a:r>
            <a:r>
              <a:rPr sz="950">
                <a:solidFill>
                  <a:srgbClr val="C8D4EE"/>
                </a:solidFill>
              </a:rPr>
              <a:t>Research centres and labs listed with active projects, funding sources, and team members</a:t>
            </a:r>
          </a:p>
          <a:p>
            <a:pPr algn="l">
              <a:spcAft>
                <a:spcPts val="400"/>
              </a:spcAft>
            </a:pPr>
            <a:r>
              <a:rPr sz="850" b="1">
                <a:solidFill>
                  <a:srgbClr val="A055FF"/>
                </a:solidFill>
              </a:rPr>
              <a:t>• </a:t>
            </a:r>
            <a:r>
              <a:rPr sz="950">
                <a:solidFill>
                  <a:srgbClr val="C8D4EE"/>
                </a:solidFill>
              </a:rPr>
              <a:t>Faculty publications auto-synced from Scopus/ORCID — with paper titles, journal names, year, DOI</a:t>
            </a:r>
          </a:p>
          <a:p>
            <a:pPr algn="l">
              <a:spcAft>
                <a:spcPts val="400"/>
              </a:spcAft>
            </a:pPr>
            <a:r>
              <a:rPr sz="850" b="1">
                <a:solidFill>
                  <a:srgbClr val="A055FF"/>
                </a:solidFill>
              </a:rPr>
              <a:t>• </a:t>
            </a:r>
            <a:r>
              <a:rPr sz="950">
                <a:solidFill>
                  <a:srgbClr val="C8D4EE"/>
                </a:solidFill>
              </a:rPr>
              <a:t>PhD programme page: how to apply, supervisors available, current scholars, completion stats</a:t>
            </a:r>
          </a:p>
          <a:p>
            <a:pPr algn="l"/>
            <a:r>
              <a:rPr sz="850" b="1">
                <a:solidFill>
                  <a:srgbClr val="A055FF"/>
                </a:solidFill>
              </a:rPr>
              <a:t>• </a:t>
            </a:r>
            <a:r>
              <a:rPr sz="950">
                <a:solidFill>
                  <a:srgbClr val="C8D4EE"/>
                </a:solidFill>
              </a:rPr>
              <a:t>Industry partnerships, patents, and technology transfer disclosures</a:t>
            </a:r>
          </a:p>
        </p:txBody>
      </p:sp>
      <p:sp>
        <p:nvSpPr>
          <p:cNvPr id="17" name="Rectangle 16"/>
          <p:cNvSpPr/>
          <p:nvPr/>
        </p:nvSpPr>
        <p:spPr>
          <a:xfrm>
            <a:off x="502920" y="4178808"/>
            <a:ext cx="3657600" cy="1993392"/>
          </a:xfrm>
          <a:prstGeom prst="rect">
            <a:avLst/>
          </a:prstGeom>
          <a:solidFill>
            <a:srgbClr val="101B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612648" y="4270248"/>
            <a:ext cx="1517904" cy="274320"/>
          </a:xfrm>
          <a:prstGeom prst="ellipse">
            <a:avLst/>
          </a:prstGeom>
          <a:solidFill>
            <a:srgbClr val="4F8E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900" b="1">
                <a:solidFill>
                  <a:srgbClr val="FFFFFF"/>
                </a:solidFill>
              </a:rPr>
              <a:t>STUDENT LIFE</a:t>
            </a:r>
          </a:p>
        </p:txBody>
      </p:sp>
      <p:sp>
        <p:nvSpPr>
          <p:cNvPr id="19" name="TextBox 18"/>
          <p:cNvSpPr txBox="1"/>
          <p:nvPr/>
        </p:nvSpPr>
        <p:spPr>
          <a:xfrm>
            <a:off x="612648" y="4636008"/>
            <a:ext cx="3474720" cy="1463040"/>
          </a:xfrm>
          <a:prstGeom prst="rect">
            <a:avLst/>
          </a:prstGeom>
          <a:noFill/>
        </p:spPr>
        <p:txBody>
          <a:bodyPr wrap="square">
            <a:spAutoFit/>
          </a:bodyPr>
          <a:lstStyle/>
          <a:p>
            <a:pPr algn="l">
              <a:spcAft>
                <a:spcPts val="400"/>
              </a:spcAft>
            </a:pPr>
            <a:r>
              <a:rPr sz="850" b="1">
                <a:solidFill>
                  <a:srgbClr val="4F8EFF"/>
                </a:solidFill>
              </a:rPr>
              <a:t>• </a:t>
            </a:r>
            <a:r>
              <a:rPr sz="950">
                <a:solidFill>
                  <a:srgbClr val="C8D4EE"/>
                </a:solidFill>
              </a:rPr>
              <a:t>Virtual campus tour — either 360° photography or video walkthrough of key buildings</a:t>
            </a:r>
          </a:p>
          <a:p>
            <a:pPr algn="l">
              <a:spcAft>
                <a:spcPts val="400"/>
              </a:spcAft>
            </a:pPr>
            <a:r>
              <a:rPr sz="850" b="1">
                <a:solidFill>
                  <a:srgbClr val="4F8EFF"/>
                </a:solidFill>
              </a:rPr>
              <a:t>• </a:t>
            </a:r>
            <a:r>
              <a:rPr sz="950">
                <a:solidFill>
                  <a:srgbClr val="C8D4EE"/>
                </a:solidFill>
              </a:rPr>
              <a:t>Hostel: room types, facilities, rules, fee, warden contact, application process</a:t>
            </a:r>
          </a:p>
          <a:p>
            <a:pPr algn="l">
              <a:spcAft>
                <a:spcPts val="400"/>
              </a:spcAft>
            </a:pPr>
            <a:r>
              <a:rPr sz="850" b="1">
                <a:solidFill>
                  <a:srgbClr val="4F8EFF"/>
                </a:solidFill>
              </a:rPr>
              <a:t>• </a:t>
            </a:r>
            <a:r>
              <a:rPr sz="950">
                <a:solidFill>
                  <a:srgbClr val="C8D4EE"/>
                </a:solidFill>
              </a:rPr>
              <a:t>Student clubs and societies directory — with contact person for each</a:t>
            </a:r>
          </a:p>
          <a:p>
            <a:pPr algn="l"/>
            <a:r>
              <a:rPr sz="850" b="1">
                <a:solidFill>
                  <a:srgbClr val="4F8EFF"/>
                </a:solidFill>
              </a:rPr>
              <a:t>• </a:t>
            </a:r>
            <a:r>
              <a:rPr sz="950">
                <a:solidFill>
                  <a:srgbClr val="C8D4EE"/>
                </a:solidFill>
              </a:rPr>
              <a:t>Sports, cultural events calendar with registration links — not just past events</a:t>
            </a:r>
          </a:p>
        </p:txBody>
      </p:sp>
      <p:sp>
        <p:nvSpPr>
          <p:cNvPr id="20" name="Rectangle 19"/>
          <p:cNvSpPr/>
          <p:nvPr/>
        </p:nvSpPr>
        <p:spPr>
          <a:xfrm>
            <a:off x="4416552" y="4178808"/>
            <a:ext cx="3657600" cy="1993392"/>
          </a:xfrm>
          <a:prstGeom prst="rect">
            <a:avLst/>
          </a:prstGeom>
          <a:solidFill>
            <a:srgbClr val="101B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4526280" y="4270248"/>
            <a:ext cx="1517904" cy="274320"/>
          </a:xfrm>
          <a:prstGeom prst="ellipse">
            <a:avLst/>
          </a:prstGeom>
          <a:solidFill>
            <a:srgbClr val="2ECC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900" b="1">
                <a:solidFill>
                  <a:srgbClr val="FFFFFF"/>
                </a:solidFill>
              </a:rPr>
              <a:t>TRANSPARENCY</a:t>
            </a:r>
          </a:p>
        </p:txBody>
      </p:sp>
      <p:sp>
        <p:nvSpPr>
          <p:cNvPr id="22" name="TextBox 21"/>
          <p:cNvSpPr txBox="1"/>
          <p:nvPr/>
        </p:nvSpPr>
        <p:spPr>
          <a:xfrm>
            <a:off x="4526280" y="4636008"/>
            <a:ext cx="3474720" cy="1463040"/>
          </a:xfrm>
          <a:prstGeom prst="rect">
            <a:avLst/>
          </a:prstGeom>
          <a:noFill/>
        </p:spPr>
        <p:txBody>
          <a:bodyPr wrap="square">
            <a:spAutoFit/>
          </a:bodyPr>
          <a:lstStyle/>
          <a:p>
            <a:pPr algn="l">
              <a:spcAft>
                <a:spcPts val="400"/>
              </a:spcAft>
            </a:pPr>
            <a:r>
              <a:rPr sz="850" b="1">
                <a:solidFill>
                  <a:srgbClr val="2ECC71"/>
                </a:solidFill>
              </a:rPr>
              <a:t>• </a:t>
            </a:r>
            <a:r>
              <a:rPr sz="950">
                <a:solidFill>
                  <a:srgbClr val="C8D4EE"/>
                </a:solidFill>
              </a:rPr>
              <a:t>NAAC/NIRF scores and accreditation documents — prominently displayed, not buried</a:t>
            </a:r>
          </a:p>
          <a:p>
            <a:pPr algn="l">
              <a:spcAft>
                <a:spcPts val="400"/>
              </a:spcAft>
            </a:pPr>
            <a:r>
              <a:rPr sz="850" b="1">
                <a:solidFill>
                  <a:srgbClr val="2ECC71"/>
                </a:solidFill>
              </a:rPr>
              <a:t>• </a:t>
            </a:r>
            <a:r>
              <a:rPr sz="950">
                <a:solidFill>
                  <a:srgbClr val="C8D4EE"/>
                </a:solidFill>
              </a:rPr>
              <a:t>Annual reports, audit reports, RTI compliance disclosures — downloadable</a:t>
            </a:r>
          </a:p>
          <a:p>
            <a:pPr algn="l">
              <a:spcAft>
                <a:spcPts val="400"/>
              </a:spcAft>
            </a:pPr>
            <a:r>
              <a:rPr sz="850" b="1">
                <a:solidFill>
                  <a:srgbClr val="2ECC71"/>
                </a:solidFill>
              </a:rPr>
              <a:t>• </a:t>
            </a:r>
            <a:r>
              <a:rPr sz="950">
                <a:solidFill>
                  <a:srgbClr val="C8D4EE"/>
                </a:solidFill>
              </a:rPr>
              <a:t>Grievance redressal portal with ticket tracking — not just an email address</a:t>
            </a:r>
          </a:p>
          <a:p>
            <a:pPr algn="l"/>
            <a:r>
              <a:rPr sz="850" b="1">
                <a:solidFill>
                  <a:srgbClr val="2ECC71"/>
                </a:solidFill>
              </a:rPr>
              <a:t>• </a:t>
            </a:r>
            <a:r>
              <a:rPr sz="950">
                <a:solidFill>
                  <a:srgbClr val="C8D4EE"/>
                </a:solidFill>
              </a:rPr>
              <a:t>Anti-ragging committee, ICC (Internal Complaints Committee) contact — legally required</a:t>
            </a:r>
          </a:p>
        </p:txBody>
      </p:sp>
      <p:sp>
        <p:nvSpPr>
          <p:cNvPr id="23" name="Rectangle 22"/>
          <p:cNvSpPr/>
          <p:nvPr/>
        </p:nvSpPr>
        <p:spPr>
          <a:xfrm>
            <a:off x="8330184" y="4178808"/>
            <a:ext cx="3657600" cy="1993392"/>
          </a:xfrm>
          <a:prstGeom prst="rect">
            <a:avLst/>
          </a:prstGeom>
          <a:solidFill>
            <a:srgbClr val="101B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8439912" y="4270248"/>
            <a:ext cx="1229868" cy="274320"/>
          </a:xfrm>
          <a:prstGeom prst="ellipse">
            <a:avLst/>
          </a:prstGeom>
          <a:solidFill>
            <a:srgbClr val="FF4D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900" b="1">
                <a:solidFill>
                  <a:srgbClr val="FFFFFF"/>
                </a:solidFill>
              </a:rPr>
              <a:t>TECHNICAL</a:t>
            </a:r>
          </a:p>
        </p:txBody>
      </p:sp>
      <p:sp>
        <p:nvSpPr>
          <p:cNvPr id="25" name="TextBox 24"/>
          <p:cNvSpPr txBox="1"/>
          <p:nvPr/>
        </p:nvSpPr>
        <p:spPr>
          <a:xfrm>
            <a:off x="8439912" y="4636008"/>
            <a:ext cx="3474720" cy="1463040"/>
          </a:xfrm>
          <a:prstGeom prst="rect">
            <a:avLst/>
          </a:prstGeom>
          <a:noFill/>
        </p:spPr>
        <p:txBody>
          <a:bodyPr wrap="square">
            <a:spAutoFit/>
          </a:bodyPr>
          <a:lstStyle/>
          <a:p>
            <a:pPr algn="l">
              <a:spcAft>
                <a:spcPts val="400"/>
              </a:spcAft>
            </a:pPr>
            <a:r>
              <a:rPr sz="850" b="1">
                <a:solidFill>
                  <a:srgbClr val="FF4D4D"/>
                </a:solidFill>
              </a:rPr>
              <a:t>• </a:t>
            </a:r>
            <a:r>
              <a:rPr sz="950">
                <a:solidFill>
                  <a:srgbClr val="C8D4EE"/>
                </a:solidFill>
              </a:rPr>
              <a:t>Mobile-first, WCAG 2.1 AA accessible — tested on actual assistive technology</a:t>
            </a:r>
          </a:p>
          <a:p>
            <a:pPr algn="l">
              <a:spcAft>
                <a:spcPts val="400"/>
              </a:spcAft>
            </a:pPr>
            <a:r>
              <a:rPr sz="850" b="1">
                <a:solidFill>
                  <a:srgbClr val="FF4D4D"/>
                </a:solidFill>
              </a:rPr>
              <a:t>• </a:t>
            </a:r>
            <a:r>
              <a:rPr sz="950">
                <a:solidFill>
                  <a:srgbClr val="C8D4EE"/>
                </a:solidFill>
              </a:rPr>
              <a:t>SSL, proper domain (not a vendor subdomain), fast CDN-backed loading</a:t>
            </a:r>
          </a:p>
          <a:p>
            <a:pPr algn="l">
              <a:spcAft>
                <a:spcPts val="400"/>
              </a:spcAft>
            </a:pPr>
            <a:r>
              <a:rPr sz="850" b="1">
                <a:solidFill>
                  <a:srgbClr val="FF4D4D"/>
                </a:solidFill>
              </a:rPr>
              <a:t>• </a:t>
            </a:r>
            <a:r>
              <a:rPr sz="950">
                <a:solidFill>
                  <a:srgbClr val="C8D4EE"/>
                </a:solidFill>
              </a:rPr>
              <a:t>CMS backend so admin staff can update notices, events, and results without a developer</a:t>
            </a:r>
          </a:p>
          <a:p>
            <a:pPr algn="l"/>
            <a:r>
              <a:rPr sz="850" b="1">
                <a:solidFill>
                  <a:srgbClr val="FF4D4D"/>
                </a:solidFill>
              </a:rPr>
              <a:t>• </a:t>
            </a:r>
            <a:r>
              <a:rPr sz="950">
                <a:solidFill>
                  <a:srgbClr val="C8D4EE"/>
                </a:solidFill>
              </a:rPr>
              <a:t>SEO: each department page ranks for its own name + location + courses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0609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9728" cy="6858000"/>
          </a:xfrm>
          <a:prstGeom prst="rect">
            <a:avLst/>
          </a:prstGeom>
          <a:solidFill>
            <a:srgbClr val="FF4D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74320"/>
            <a:ext cx="10972800" cy="457200"/>
          </a:xfrm>
          <a:prstGeom prst="rect">
            <a:avLst/>
          </a:prstGeom>
          <a:noFill/>
        </p:spPr>
        <p:txBody>
          <a:bodyPr wrap="square">
            <a:spAutoFit/>
          </a:bodyPr>
          <a:lstStyle/>
          <a:p>
            <a:pPr algn="l"/>
            <a:r>
              <a:rPr sz="1100" b="1" i="0">
                <a:solidFill>
                  <a:srgbClr val="FF4D4D"/>
                </a:solidFill>
              </a:rPr>
              <a:t>PAGE-BY-PAGE FAILURE AUDIT</a:t>
            </a:r>
          </a:p>
        </p:txBody>
      </p:sp>
      <p:sp>
        <p:nvSpPr>
          <p:cNvPr id="5" name="TextBox 4"/>
          <p:cNvSpPr txBox="1"/>
          <p:nvPr/>
        </p:nvSpPr>
        <p:spPr>
          <a:xfrm>
            <a:off x="502920" y="640080"/>
            <a:ext cx="10972800" cy="640080"/>
          </a:xfrm>
          <a:prstGeom prst="rect">
            <a:avLst/>
          </a:prstGeom>
          <a:noFill/>
        </p:spPr>
        <p:txBody>
          <a:bodyPr wrap="square">
            <a:spAutoFit/>
          </a:bodyPr>
          <a:lstStyle/>
          <a:p>
            <a:pPr algn="l"/>
            <a:r>
              <a:rPr sz="3200" b="1" i="0">
                <a:solidFill>
                  <a:srgbClr val="FFFFFF"/>
                </a:solidFill>
              </a:rPr>
              <a:t>Navigation Exists. Content Does Not.</a:t>
            </a:r>
          </a:p>
        </p:txBody>
      </p:sp>
      <p:sp>
        <p:nvSpPr>
          <p:cNvPr id="6" name="Rectangle 5"/>
          <p:cNvSpPr/>
          <p:nvPr/>
        </p:nvSpPr>
        <p:spPr>
          <a:xfrm>
            <a:off x="502920" y="1234440"/>
            <a:ext cx="1097280" cy="36576"/>
          </a:xfrm>
          <a:prstGeom prst="rect">
            <a:avLst/>
          </a:prstGeom>
          <a:solidFill>
            <a:srgbClr val="FF4D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02920" y="1444752"/>
            <a:ext cx="11183112" cy="457200"/>
          </a:xfrm>
          <a:prstGeom prst="rect">
            <a:avLst/>
          </a:prstGeom>
          <a:solidFill>
            <a:srgbClr val="101B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566928" y="1536192"/>
            <a:ext cx="1037844" cy="274320"/>
          </a:xfrm>
          <a:prstGeom prst="ellipse">
            <a:avLst/>
          </a:prstGeom>
          <a:solidFill>
            <a:srgbClr val="FFA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800" b="1">
                <a:solidFill>
                  <a:srgbClr val="FFFFFF"/>
                </a:solidFill>
              </a:rPr>
              <a:t>PARTIAL</a:t>
            </a:r>
          </a:p>
        </p:txBody>
      </p:sp>
      <p:sp>
        <p:nvSpPr>
          <p:cNvPr id="9" name="TextBox 8"/>
          <p:cNvSpPr txBox="1"/>
          <p:nvPr/>
        </p:nvSpPr>
        <p:spPr>
          <a:xfrm>
            <a:off x="1755648" y="1499616"/>
            <a:ext cx="2286000" cy="320040"/>
          </a:xfrm>
          <a:prstGeom prst="rect">
            <a:avLst/>
          </a:prstGeom>
          <a:noFill/>
        </p:spPr>
        <p:txBody>
          <a:bodyPr wrap="square">
            <a:spAutoFit/>
          </a:bodyPr>
          <a:lstStyle/>
          <a:p>
            <a:pPr algn="l"/>
            <a:r>
              <a:rPr sz="1100" b="1" i="0">
                <a:solidFill>
                  <a:srgbClr val="FFFFFF"/>
                </a:solidFill>
              </a:rPr>
              <a:t>/home (Homepage)</a:t>
            </a:r>
          </a:p>
        </p:txBody>
      </p:sp>
      <p:sp>
        <p:nvSpPr>
          <p:cNvPr id="10" name="TextBox 9"/>
          <p:cNvSpPr txBox="1"/>
          <p:nvPr/>
        </p:nvSpPr>
        <p:spPr>
          <a:xfrm>
            <a:off x="4160520" y="1499616"/>
            <a:ext cx="7406640" cy="347472"/>
          </a:xfrm>
          <a:prstGeom prst="rect">
            <a:avLst/>
          </a:prstGeom>
          <a:noFill/>
        </p:spPr>
        <p:txBody>
          <a:bodyPr wrap="square">
            <a:spAutoFit/>
          </a:bodyPr>
          <a:lstStyle/>
          <a:p>
            <a:pPr algn="l"/>
            <a:r>
              <a:rPr sz="1000" b="0" i="0">
                <a:solidFill>
                  <a:srgbClr val="C8D4EE"/>
                </a:solidFill>
              </a:rPr>
              <a:t>Only working page. Contains: welcome text, VC/Chancellor messages (truncated), notice board, events (stale), research (names only), 2 fake alumni. Missing: programs, stats, campus photos.</a:t>
            </a:r>
          </a:p>
        </p:txBody>
      </p:sp>
      <p:sp>
        <p:nvSpPr>
          <p:cNvPr id="11" name="Rectangle 10"/>
          <p:cNvSpPr/>
          <p:nvPr/>
        </p:nvSpPr>
        <p:spPr>
          <a:xfrm>
            <a:off x="502920" y="1975104"/>
            <a:ext cx="11183112" cy="457200"/>
          </a:xfrm>
          <a:prstGeom prst="rect">
            <a:avLst/>
          </a:prstGeom>
          <a:solidFill>
            <a:srgbClr val="101B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566928" y="2066544"/>
            <a:ext cx="941832" cy="274320"/>
          </a:xfrm>
          <a:prstGeom prst="ellipse">
            <a:avLst/>
          </a:prstGeom>
          <a:solidFill>
            <a:srgbClr val="FF4D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800" b="1">
                <a:solidFill>
                  <a:srgbClr val="FFFFFF"/>
                </a:solidFill>
              </a:rPr>
              <a:t>BROKEN</a:t>
            </a:r>
          </a:p>
        </p:txBody>
      </p:sp>
      <p:sp>
        <p:nvSpPr>
          <p:cNvPr id="13" name="TextBox 12"/>
          <p:cNvSpPr txBox="1"/>
          <p:nvPr/>
        </p:nvSpPr>
        <p:spPr>
          <a:xfrm>
            <a:off x="1755648" y="2029968"/>
            <a:ext cx="2286000" cy="320040"/>
          </a:xfrm>
          <a:prstGeom prst="rect">
            <a:avLst/>
          </a:prstGeom>
          <a:noFill/>
        </p:spPr>
        <p:txBody>
          <a:bodyPr wrap="square">
            <a:spAutoFit/>
          </a:bodyPr>
          <a:lstStyle/>
          <a:p>
            <a:pPr algn="l"/>
            <a:r>
              <a:rPr sz="1100" b="1" i="0">
                <a:solidFill>
                  <a:srgbClr val="FFFFFF"/>
                </a:solidFill>
              </a:rPr>
              <a:t>/administration and all sub-items</a:t>
            </a:r>
          </a:p>
        </p:txBody>
      </p:sp>
      <p:sp>
        <p:nvSpPr>
          <p:cNvPr id="14" name="TextBox 13"/>
          <p:cNvSpPr txBox="1"/>
          <p:nvPr/>
        </p:nvSpPr>
        <p:spPr>
          <a:xfrm>
            <a:off x="4160520" y="2029968"/>
            <a:ext cx="7406640" cy="347472"/>
          </a:xfrm>
          <a:prstGeom prst="rect">
            <a:avLst/>
          </a:prstGeom>
          <a:noFill/>
        </p:spPr>
        <p:txBody>
          <a:bodyPr wrap="square">
            <a:spAutoFit/>
          </a:bodyPr>
          <a:lstStyle/>
          <a:p>
            <a:pPr algn="l"/>
            <a:r>
              <a:rPr sz="1000" b="0" i="0">
                <a:solidFill>
                  <a:srgbClr val="C8D4EE"/>
                </a:solidFill>
              </a:rPr>
              <a:t>Loads homepage. No Registrar info, no Statutes, no Governance structure, no Finance committee details, no Senate/Syndicate composition — all expected on a public university site.</a:t>
            </a:r>
          </a:p>
        </p:txBody>
      </p:sp>
      <p:sp>
        <p:nvSpPr>
          <p:cNvPr id="15" name="Rectangle 14"/>
          <p:cNvSpPr/>
          <p:nvPr/>
        </p:nvSpPr>
        <p:spPr>
          <a:xfrm>
            <a:off x="502920" y="2505456"/>
            <a:ext cx="11183112" cy="457200"/>
          </a:xfrm>
          <a:prstGeom prst="rect">
            <a:avLst/>
          </a:prstGeom>
          <a:solidFill>
            <a:srgbClr val="101B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566928" y="2596896"/>
            <a:ext cx="941832" cy="274320"/>
          </a:xfrm>
          <a:prstGeom prst="ellipse">
            <a:avLst/>
          </a:prstGeom>
          <a:solidFill>
            <a:srgbClr val="FF4D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800" b="1">
                <a:solidFill>
                  <a:srgbClr val="FFFFFF"/>
                </a:solidFill>
              </a:rPr>
              <a:t>BROKEN</a:t>
            </a:r>
          </a:p>
        </p:txBody>
      </p:sp>
      <p:sp>
        <p:nvSpPr>
          <p:cNvPr id="17" name="TextBox 16"/>
          <p:cNvSpPr txBox="1"/>
          <p:nvPr/>
        </p:nvSpPr>
        <p:spPr>
          <a:xfrm>
            <a:off x="1755648" y="2560320"/>
            <a:ext cx="2286000" cy="320040"/>
          </a:xfrm>
          <a:prstGeom prst="rect">
            <a:avLst/>
          </a:prstGeom>
          <a:noFill/>
        </p:spPr>
        <p:txBody>
          <a:bodyPr wrap="square">
            <a:spAutoFit/>
          </a:bodyPr>
          <a:lstStyle/>
          <a:p>
            <a:pPr algn="l"/>
            <a:r>
              <a:rPr sz="1100" b="1" i="0">
                <a:solidFill>
                  <a:srgbClr val="FFFFFF"/>
                </a:solidFill>
              </a:rPr>
              <a:t>/academics and all sub-items</a:t>
            </a:r>
          </a:p>
        </p:txBody>
      </p:sp>
      <p:sp>
        <p:nvSpPr>
          <p:cNvPr id="18" name="TextBox 17"/>
          <p:cNvSpPr txBox="1"/>
          <p:nvPr/>
        </p:nvSpPr>
        <p:spPr>
          <a:xfrm>
            <a:off x="4160520" y="2560320"/>
            <a:ext cx="7406640" cy="347472"/>
          </a:xfrm>
          <a:prstGeom prst="rect">
            <a:avLst/>
          </a:prstGeom>
          <a:noFill/>
        </p:spPr>
        <p:txBody>
          <a:bodyPr wrap="square">
            <a:spAutoFit/>
          </a:bodyPr>
          <a:lstStyle/>
          <a:p>
            <a:pPr algn="l"/>
            <a:r>
              <a:rPr sz="1000" b="0" i="0">
                <a:solidFill>
                  <a:srgbClr val="C8D4EE"/>
                </a:solidFill>
              </a:rPr>
              <a:t>Loads homepage. No departments, no courses, no faculty, no syllabus, no academic calendar. A student choosing this university has zero information about what they would study.</a:t>
            </a:r>
          </a:p>
        </p:txBody>
      </p:sp>
      <p:sp>
        <p:nvSpPr>
          <p:cNvPr id="19" name="Rectangle 18"/>
          <p:cNvSpPr/>
          <p:nvPr/>
        </p:nvSpPr>
        <p:spPr>
          <a:xfrm>
            <a:off x="502920" y="3035808"/>
            <a:ext cx="11183112" cy="457200"/>
          </a:xfrm>
          <a:prstGeom prst="rect">
            <a:avLst/>
          </a:prstGeom>
          <a:solidFill>
            <a:srgbClr val="101B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566928" y="3127248"/>
            <a:ext cx="941832" cy="274320"/>
          </a:xfrm>
          <a:prstGeom prst="ellipse">
            <a:avLst/>
          </a:prstGeom>
          <a:solidFill>
            <a:srgbClr val="FF4D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800" b="1">
                <a:solidFill>
                  <a:srgbClr val="FFFFFF"/>
                </a:solidFill>
              </a:rPr>
              <a:t>BROKEN</a:t>
            </a:r>
          </a:p>
        </p:txBody>
      </p:sp>
      <p:sp>
        <p:nvSpPr>
          <p:cNvPr id="21" name="TextBox 20"/>
          <p:cNvSpPr txBox="1"/>
          <p:nvPr/>
        </p:nvSpPr>
        <p:spPr>
          <a:xfrm>
            <a:off x="1755648" y="3090672"/>
            <a:ext cx="2286000" cy="320040"/>
          </a:xfrm>
          <a:prstGeom prst="rect">
            <a:avLst/>
          </a:prstGeom>
          <a:noFill/>
        </p:spPr>
        <p:txBody>
          <a:bodyPr wrap="square">
            <a:spAutoFit/>
          </a:bodyPr>
          <a:lstStyle/>
          <a:p>
            <a:pPr algn="l"/>
            <a:r>
              <a:rPr sz="1100" b="1" i="0">
                <a:solidFill>
                  <a:srgbClr val="FFFFFF"/>
                </a:solidFill>
              </a:rPr>
              <a:t>/admission-and-fee and all sub-items</a:t>
            </a:r>
          </a:p>
        </p:txBody>
      </p:sp>
      <p:sp>
        <p:nvSpPr>
          <p:cNvPr id="22" name="TextBox 21"/>
          <p:cNvSpPr txBox="1"/>
          <p:nvPr/>
        </p:nvSpPr>
        <p:spPr>
          <a:xfrm>
            <a:off x="4160520" y="3090672"/>
            <a:ext cx="7406640" cy="347472"/>
          </a:xfrm>
          <a:prstGeom prst="rect">
            <a:avLst/>
          </a:prstGeom>
          <a:noFill/>
        </p:spPr>
        <p:txBody>
          <a:bodyPr wrap="square">
            <a:spAutoFit/>
          </a:bodyPr>
          <a:lstStyle/>
          <a:p>
            <a:pPr algn="l"/>
            <a:r>
              <a:rPr sz="1000" b="0" i="0">
                <a:solidFill>
                  <a:srgbClr val="C8D4EE"/>
                </a:solidFill>
              </a:rPr>
              <a:t>Loads homepage. Prospective students cannot find: eligibility, fee structure, application process, cut-offs, or important dates. This is the most critical journey on any university site.</a:t>
            </a:r>
          </a:p>
        </p:txBody>
      </p:sp>
      <p:sp>
        <p:nvSpPr>
          <p:cNvPr id="23" name="Rectangle 22"/>
          <p:cNvSpPr/>
          <p:nvPr/>
        </p:nvSpPr>
        <p:spPr>
          <a:xfrm>
            <a:off x="502920" y="3566160"/>
            <a:ext cx="11183112" cy="457200"/>
          </a:xfrm>
          <a:prstGeom prst="rect">
            <a:avLst/>
          </a:prstGeom>
          <a:solidFill>
            <a:srgbClr val="101B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566928" y="3657600"/>
            <a:ext cx="941832" cy="274320"/>
          </a:xfrm>
          <a:prstGeom prst="ellipse">
            <a:avLst/>
          </a:prstGeom>
          <a:solidFill>
            <a:srgbClr val="FF4D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800" b="1">
                <a:solidFill>
                  <a:srgbClr val="FFFFFF"/>
                </a:solidFill>
              </a:rPr>
              <a:t>BROKEN</a:t>
            </a:r>
          </a:p>
        </p:txBody>
      </p:sp>
      <p:sp>
        <p:nvSpPr>
          <p:cNvPr id="25" name="TextBox 24"/>
          <p:cNvSpPr txBox="1"/>
          <p:nvPr/>
        </p:nvSpPr>
        <p:spPr>
          <a:xfrm>
            <a:off x="1755648" y="3621024"/>
            <a:ext cx="2286000" cy="320040"/>
          </a:xfrm>
          <a:prstGeom prst="rect">
            <a:avLst/>
          </a:prstGeom>
          <a:noFill/>
        </p:spPr>
        <p:txBody>
          <a:bodyPr wrap="square">
            <a:spAutoFit/>
          </a:bodyPr>
          <a:lstStyle/>
          <a:p>
            <a:pPr algn="l"/>
            <a:r>
              <a:rPr sz="1100" b="1" i="0">
                <a:solidFill>
                  <a:srgbClr val="FFFFFF"/>
                </a:solidFill>
              </a:rPr>
              <a:t>/examination and all sub-items</a:t>
            </a:r>
          </a:p>
        </p:txBody>
      </p:sp>
      <p:sp>
        <p:nvSpPr>
          <p:cNvPr id="26" name="TextBox 25"/>
          <p:cNvSpPr txBox="1"/>
          <p:nvPr/>
        </p:nvSpPr>
        <p:spPr>
          <a:xfrm>
            <a:off x="4160520" y="3621024"/>
            <a:ext cx="7406640" cy="347472"/>
          </a:xfrm>
          <a:prstGeom prst="rect">
            <a:avLst/>
          </a:prstGeom>
          <a:noFill/>
        </p:spPr>
        <p:txBody>
          <a:bodyPr wrap="square">
            <a:spAutoFit/>
          </a:bodyPr>
          <a:lstStyle/>
          <a:p>
            <a:pPr algn="l"/>
            <a:r>
              <a:rPr sz="1000" b="0" i="0">
                <a:solidFill>
                  <a:srgbClr val="C8D4EE"/>
                </a:solidFill>
              </a:rPr>
              <a:t>Loads homepage. Exam schedules, hall ticket downloads, result checking, re-evaluation forms — all missing. Students must rely on physical notice boards or WhatsApp groups.</a:t>
            </a:r>
          </a:p>
        </p:txBody>
      </p:sp>
      <p:sp>
        <p:nvSpPr>
          <p:cNvPr id="27" name="Rectangle 26"/>
          <p:cNvSpPr/>
          <p:nvPr/>
        </p:nvSpPr>
        <p:spPr>
          <a:xfrm>
            <a:off x="502920" y="4096512"/>
            <a:ext cx="11183112" cy="457200"/>
          </a:xfrm>
          <a:prstGeom prst="rect">
            <a:avLst/>
          </a:prstGeom>
          <a:solidFill>
            <a:srgbClr val="101B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566928" y="4187952"/>
            <a:ext cx="845820" cy="274320"/>
          </a:xfrm>
          <a:prstGeom prst="ellipse">
            <a:avLst/>
          </a:prstGeom>
          <a:solidFill>
            <a:srgbClr val="FF4D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800" b="1">
                <a:solidFill>
                  <a:srgbClr val="FFFFFF"/>
                </a:solidFill>
              </a:rPr>
              <a:t>BLANK</a:t>
            </a:r>
          </a:p>
        </p:txBody>
      </p:sp>
      <p:sp>
        <p:nvSpPr>
          <p:cNvPr id="29" name="TextBox 28"/>
          <p:cNvSpPr txBox="1"/>
          <p:nvPr/>
        </p:nvSpPr>
        <p:spPr>
          <a:xfrm>
            <a:off x="1755648" y="4151376"/>
            <a:ext cx="2286000" cy="320040"/>
          </a:xfrm>
          <a:prstGeom prst="rect">
            <a:avLst/>
          </a:prstGeom>
          <a:noFill/>
        </p:spPr>
        <p:txBody>
          <a:bodyPr wrap="square">
            <a:spAutoFit/>
          </a:bodyPr>
          <a:lstStyle/>
          <a:p>
            <a:pPr algn="l"/>
            <a:r>
              <a:rPr sz="1100" b="1" i="0">
                <a:solidFill>
                  <a:srgbClr val="FFFFFF"/>
                </a:solidFill>
              </a:rPr>
              <a:t>/research and sub-items</a:t>
            </a:r>
          </a:p>
        </p:txBody>
      </p:sp>
      <p:sp>
        <p:nvSpPr>
          <p:cNvPr id="30" name="TextBox 29"/>
          <p:cNvSpPr txBox="1"/>
          <p:nvPr/>
        </p:nvSpPr>
        <p:spPr>
          <a:xfrm>
            <a:off x="4160520" y="4151376"/>
            <a:ext cx="7406640" cy="347472"/>
          </a:xfrm>
          <a:prstGeom prst="rect">
            <a:avLst/>
          </a:prstGeom>
          <a:noFill/>
        </p:spPr>
        <p:txBody>
          <a:bodyPr wrap="square">
            <a:spAutoFit/>
          </a:bodyPr>
          <a:lstStyle/>
          <a:p>
            <a:pPr algn="l"/>
            <a:r>
              <a:rPr sz="1000" b="0" i="0">
                <a:solidFill>
                  <a:srgbClr val="C8D4EE"/>
                </a:solidFill>
              </a:rPr>
              <a:t>Near-zero content (241 characters). No projects, no publications with actual titles, no PhD programme details, no research centres listed. The homepage research section is names-only.</a:t>
            </a:r>
          </a:p>
        </p:txBody>
      </p:sp>
      <p:sp>
        <p:nvSpPr>
          <p:cNvPr id="31" name="Rectangle 30"/>
          <p:cNvSpPr/>
          <p:nvPr/>
        </p:nvSpPr>
        <p:spPr>
          <a:xfrm>
            <a:off x="502920" y="4626864"/>
            <a:ext cx="11183112" cy="457200"/>
          </a:xfrm>
          <a:prstGeom prst="rect">
            <a:avLst/>
          </a:prstGeom>
          <a:solidFill>
            <a:srgbClr val="101B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566928" y="4718304"/>
            <a:ext cx="941832" cy="274320"/>
          </a:xfrm>
          <a:prstGeom prst="ellipse">
            <a:avLst/>
          </a:prstGeom>
          <a:solidFill>
            <a:srgbClr val="FF4D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800" b="1">
                <a:solidFill>
                  <a:srgbClr val="FFFFFF"/>
                </a:solidFill>
              </a:rPr>
              <a:t>BROKEN</a:t>
            </a:r>
          </a:p>
        </p:txBody>
      </p:sp>
      <p:sp>
        <p:nvSpPr>
          <p:cNvPr id="33" name="TextBox 32"/>
          <p:cNvSpPr txBox="1"/>
          <p:nvPr/>
        </p:nvSpPr>
        <p:spPr>
          <a:xfrm>
            <a:off x="1755648" y="4681728"/>
            <a:ext cx="2286000" cy="320040"/>
          </a:xfrm>
          <a:prstGeom prst="rect">
            <a:avLst/>
          </a:prstGeom>
          <a:noFill/>
        </p:spPr>
        <p:txBody>
          <a:bodyPr wrap="square">
            <a:spAutoFit/>
          </a:bodyPr>
          <a:lstStyle/>
          <a:p>
            <a:pPr algn="l"/>
            <a:r>
              <a:rPr sz="1100" b="1" i="0">
                <a:solidFill>
                  <a:srgbClr val="FFFFFF"/>
                </a:solidFill>
              </a:rPr>
              <a:t>/student-corner and all sub-items</a:t>
            </a:r>
          </a:p>
        </p:txBody>
      </p:sp>
      <p:sp>
        <p:nvSpPr>
          <p:cNvPr id="34" name="TextBox 33"/>
          <p:cNvSpPr txBox="1"/>
          <p:nvPr/>
        </p:nvSpPr>
        <p:spPr>
          <a:xfrm>
            <a:off x="4160520" y="4681728"/>
            <a:ext cx="7406640" cy="347472"/>
          </a:xfrm>
          <a:prstGeom prst="rect">
            <a:avLst/>
          </a:prstGeom>
          <a:noFill/>
        </p:spPr>
        <p:txBody>
          <a:bodyPr wrap="square">
            <a:spAutoFit/>
          </a:bodyPr>
          <a:lstStyle/>
          <a:p>
            <a:pPr algn="l"/>
            <a:r>
              <a:rPr sz="1000" b="0" i="0">
                <a:solidFill>
                  <a:srgbClr val="C8D4EE"/>
                </a:solidFill>
              </a:rPr>
              <a:t>Loads homepage. NSS, NCC, YRC activities have zero dedicated pages. Student clubs, cultural events, sports — all absent. No student grievance portal despite being mandatory.</a:t>
            </a:r>
          </a:p>
        </p:txBody>
      </p:sp>
      <p:sp>
        <p:nvSpPr>
          <p:cNvPr id="35" name="Rectangle 34"/>
          <p:cNvSpPr/>
          <p:nvPr/>
        </p:nvSpPr>
        <p:spPr>
          <a:xfrm>
            <a:off x="502920" y="5157216"/>
            <a:ext cx="11183112" cy="457200"/>
          </a:xfrm>
          <a:prstGeom prst="rect">
            <a:avLst/>
          </a:prstGeom>
          <a:solidFill>
            <a:srgbClr val="101B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Oval 35"/>
          <p:cNvSpPr/>
          <p:nvPr/>
        </p:nvSpPr>
        <p:spPr>
          <a:xfrm>
            <a:off x="566928" y="5248656"/>
            <a:ext cx="845820" cy="274320"/>
          </a:xfrm>
          <a:prstGeom prst="ellipse">
            <a:avLst/>
          </a:prstGeom>
          <a:solidFill>
            <a:srgbClr val="FF4D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800" b="1">
                <a:solidFill>
                  <a:srgbClr val="FFFFFF"/>
                </a:solidFill>
              </a:rPr>
              <a:t>BLANK</a:t>
            </a:r>
          </a:p>
        </p:txBody>
      </p:sp>
      <p:sp>
        <p:nvSpPr>
          <p:cNvPr id="37" name="TextBox 36"/>
          <p:cNvSpPr txBox="1"/>
          <p:nvPr/>
        </p:nvSpPr>
        <p:spPr>
          <a:xfrm>
            <a:off x="1755648" y="5212080"/>
            <a:ext cx="2286000" cy="320040"/>
          </a:xfrm>
          <a:prstGeom prst="rect">
            <a:avLst/>
          </a:prstGeom>
          <a:noFill/>
        </p:spPr>
        <p:txBody>
          <a:bodyPr wrap="square">
            <a:spAutoFit/>
          </a:bodyPr>
          <a:lstStyle/>
          <a:p>
            <a:pPr algn="l"/>
            <a:r>
              <a:rPr sz="1100" b="1" i="0">
                <a:solidFill>
                  <a:srgbClr val="FFFFFF"/>
                </a:solidFill>
              </a:rPr>
              <a:t>/campus-harmony and sub-items</a:t>
            </a:r>
          </a:p>
        </p:txBody>
      </p:sp>
      <p:sp>
        <p:nvSpPr>
          <p:cNvPr id="38" name="TextBox 37"/>
          <p:cNvSpPr txBox="1"/>
          <p:nvPr/>
        </p:nvSpPr>
        <p:spPr>
          <a:xfrm>
            <a:off x="4160520" y="5212080"/>
            <a:ext cx="7406640" cy="347472"/>
          </a:xfrm>
          <a:prstGeom prst="rect">
            <a:avLst/>
          </a:prstGeom>
          <a:noFill/>
        </p:spPr>
        <p:txBody>
          <a:bodyPr wrap="square">
            <a:spAutoFit/>
          </a:bodyPr>
          <a:lstStyle/>
          <a:p>
            <a:pPr algn="l"/>
            <a:r>
              <a:rPr sz="1000" b="0" i="0">
                <a:solidFill>
                  <a:srgbClr val="C8D4EE"/>
                </a:solidFill>
              </a:rPr>
              <a:t>Near-zero content. Campus infrastructure, sports facilities, labs, canteen, medical centre — none described. A student deciding where to spend 3–5 years cannot assess campus life.</a:t>
            </a:r>
          </a:p>
        </p:txBody>
      </p:sp>
      <p:sp>
        <p:nvSpPr>
          <p:cNvPr id="39" name="Rectangle 38"/>
          <p:cNvSpPr/>
          <p:nvPr/>
        </p:nvSpPr>
        <p:spPr>
          <a:xfrm>
            <a:off x="502920" y="5687568"/>
            <a:ext cx="11183112" cy="457200"/>
          </a:xfrm>
          <a:prstGeom prst="rect">
            <a:avLst/>
          </a:prstGeom>
          <a:solidFill>
            <a:srgbClr val="101B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Oval 39"/>
          <p:cNvSpPr/>
          <p:nvPr/>
        </p:nvSpPr>
        <p:spPr>
          <a:xfrm>
            <a:off x="566928" y="5779008"/>
            <a:ext cx="845820" cy="274320"/>
          </a:xfrm>
          <a:prstGeom prst="ellipse">
            <a:avLst/>
          </a:prstGeom>
          <a:solidFill>
            <a:srgbClr val="FF4D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800" b="1">
                <a:solidFill>
                  <a:srgbClr val="FFFFFF"/>
                </a:solidFill>
              </a:rPr>
              <a:t>BLANK</a:t>
            </a:r>
          </a:p>
        </p:txBody>
      </p:sp>
      <p:sp>
        <p:nvSpPr>
          <p:cNvPr id="41" name="TextBox 40"/>
          <p:cNvSpPr txBox="1"/>
          <p:nvPr/>
        </p:nvSpPr>
        <p:spPr>
          <a:xfrm>
            <a:off x="1755648" y="5742432"/>
            <a:ext cx="2286000" cy="320040"/>
          </a:xfrm>
          <a:prstGeom prst="rect">
            <a:avLst/>
          </a:prstGeom>
          <a:noFill/>
        </p:spPr>
        <p:txBody>
          <a:bodyPr wrap="square">
            <a:spAutoFit/>
          </a:bodyPr>
          <a:lstStyle/>
          <a:p>
            <a:pPr algn="l"/>
            <a:r>
              <a:rPr sz="1100" b="1" i="0">
                <a:solidFill>
                  <a:srgbClr val="FFFFFF"/>
                </a:solidFill>
              </a:rPr>
              <a:t>/alumni and sub-items</a:t>
            </a:r>
          </a:p>
        </p:txBody>
      </p:sp>
      <p:sp>
        <p:nvSpPr>
          <p:cNvPr id="42" name="TextBox 41"/>
          <p:cNvSpPr txBox="1"/>
          <p:nvPr/>
        </p:nvSpPr>
        <p:spPr>
          <a:xfrm>
            <a:off x="4160520" y="5742432"/>
            <a:ext cx="7406640" cy="347472"/>
          </a:xfrm>
          <a:prstGeom prst="rect">
            <a:avLst/>
          </a:prstGeom>
          <a:noFill/>
        </p:spPr>
        <p:txBody>
          <a:bodyPr wrap="square">
            <a:spAutoFit/>
          </a:bodyPr>
          <a:lstStyle/>
          <a:p>
            <a:pPr algn="l"/>
            <a:r>
              <a:rPr sz="1000" b="0" i="0">
                <a:solidFill>
                  <a:srgbClr val="C8D4EE"/>
                </a:solidFill>
              </a:rPr>
              <a:t>Near-zero content (146 chars). Two 'notable alumni' are Scius Solution employees. No real graduates listed. No alumni network, no achievement gallery, no mentorship programme.</a:t>
            </a:r>
          </a:p>
        </p:txBody>
      </p:sp>
      <p:sp>
        <p:nvSpPr>
          <p:cNvPr id="43" name="Rectangle 42"/>
          <p:cNvSpPr/>
          <p:nvPr/>
        </p:nvSpPr>
        <p:spPr>
          <a:xfrm>
            <a:off x="502920" y="6217920"/>
            <a:ext cx="11183112" cy="457200"/>
          </a:xfrm>
          <a:prstGeom prst="rect">
            <a:avLst/>
          </a:prstGeom>
          <a:solidFill>
            <a:srgbClr val="101B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Oval 43"/>
          <p:cNvSpPr/>
          <p:nvPr/>
        </p:nvSpPr>
        <p:spPr>
          <a:xfrm>
            <a:off x="566928" y="6309360"/>
            <a:ext cx="941832" cy="274320"/>
          </a:xfrm>
          <a:prstGeom prst="ellipse">
            <a:avLst/>
          </a:prstGeom>
          <a:solidFill>
            <a:srgbClr val="FF4D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800" b="1">
                <a:solidFill>
                  <a:srgbClr val="FFFFFF"/>
                </a:solidFill>
              </a:rPr>
              <a:t>BROKEN</a:t>
            </a:r>
          </a:p>
        </p:txBody>
      </p:sp>
      <p:sp>
        <p:nvSpPr>
          <p:cNvPr id="45" name="TextBox 44"/>
          <p:cNvSpPr txBox="1"/>
          <p:nvPr/>
        </p:nvSpPr>
        <p:spPr>
          <a:xfrm>
            <a:off x="1755648" y="6272784"/>
            <a:ext cx="2286000" cy="320040"/>
          </a:xfrm>
          <a:prstGeom prst="rect">
            <a:avLst/>
          </a:prstGeom>
          <a:noFill/>
        </p:spPr>
        <p:txBody>
          <a:bodyPr wrap="square">
            <a:spAutoFit/>
          </a:bodyPr>
          <a:lstStyle/>
          <a:p>
            <a:pPr algn="l"/>
            <a:r>
              <a:rPr sz="1100" b="1" i="0">
                <a:solidFill>
                  <a:srgbClr val="FFFFFF"/>
                </a:solidFill>
              </a:rPr>
              <a:t>/information and sub-items</a:t>
            </a:r>
          </a:p>
        </p:txBody>
      </p:sp>
      <p:sp>
        <p:nvSpPr>
          <p:cNvPr id="46" name="TextBox 45"/>
          <p:cNvSpPr txBox="1"/>
          <p:nvPr/>
        </p:nvSpPr>
        <p:spPr>
          <a:xfrm>
            <a:off x="4160520" y="6272784"/>
            <a:ext cx="7406640" cy="347472"/>
          </a:xfrm>
          <a:prstGeom prst="rect">
            <a:avLst/>
          </a:prstGeom>
          <a:noFill/>
        </p:spPr>
        <p:txBody>
          <a:bodyPr wrap="square">
            <a:spAutoFit/>
          </a:bodyPr>
          <a:lstStyle/>
          <a:p>
            <a:pPr algn="l"/>
            <a:r>
              <a:rPr sz="1000" b="0" i="0">
                <a:solidFill>
                  <a:srgbClr val="C8D4EE"/>
                </a:solidFill>
              </a:rPr>
              <a:t>Loads homepage. RTI disclosures, annual reports, audit reports, NAAC documentation, NIRF data — none available. These are legally required disclosures for a public institution.</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0609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9728" cy="6858000"/>
          </a:xfrm>
          <a:prstGeom prst="rect">
            <a:avLst/>
          </a:prstGeom>
          <a:solidFill>
            <a:srgbClr val="FFA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74320"/>
            <a:ext cx="10972800" cy="457200"/>
          </a:xfrm>
          <a:prstGeom prst="rect">
            <a:avLst/>
          </a:prstGeom>
          <a:noFill/>
        </p:spPr>
        <p:txBody>
          <a:bodyPr wrap="square">
            <a:spAutoFit/>
          </a:bodyPr>
          <a:lstStyle/>
          <a:p>
            <a:pPr algn="l"/>
            <a:r>
              <a:rPr sz="1100" b="1" i="0">
                <a:solidFill>
                  <a:srgbClr val="FFA000"/>
                </a:solidFill>
              </a:rPr>
              <a:t>DATA INTEGRITY FAILURES</a:t>
            </a:r>
          </a:p>
        </p:txBody>
      </p:sp>
      <p:sp>
        <p:nvSpPr>
          <p:cNvPr id="5" name="TextBox 4"/>
          <p:cNvSpPr txBox="1"/>
          <p:nvPr/>
        </p:nvSpPr>
        <p:spPr>
          <a:xfrm>
            <a:off x="502920" y="640080"/>
            <a:ext cx="10972800" cy="640080"/>
          </a:xfrm>
          <a:prstGeom prst="rect">
            <a:avLst/>
          </a:prstGeom>
          <a:noFill/>
        </p:spPr>
        <p:txBody>
          <a:bodyPr wrap="square">
            <a:spAutoFit/>
          </a:bodyPr>
          <a:lstStyle/>
          <a:p>
            <a:pPr algn="l"/>
            <a:r>
              <a:rPr sz="3000" b="1" i="0">
                <a:solidFill>
                  <a:srgbClr val="FFFFFF"/>
                </a:solidFill>
              </a:rPr>
              <a:t>Placeholder Data Published as Real Content</a:t>
            </a:r>
          </a:p>
        </p:txBody>
      </p:sp>
      <p:sp>
        <p:nvSpPr>
          <p:cNvPr id="6" name="Rectangle 5"/>
          <p:cNvSpPr/>
          <p:nvPr/>
        </p:nvSpPr>
        <p:spPr>
          <a:xfrm>
            <a:off x="502920" y="1234440"/>
            <a:ext cx="1097280" cy="36576"/>
          </a:xfrm>
          <a:prstGeom prst="rect">
            <a:avLst/>
          </a:prstGeom>
          <a:solidFill>
            <a:srgbClr val="FFA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02920" y="1508760"/>
            <a:ext cx="11183112" cy="777240"/>
          </a:xfrm>
          <a:prstGeom prst="rect">
            <a:avLst/>
          </a:prstGeom>
          <a:solidFill>
            <a:srgbClr val="101B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1581912"/>
            <a:ext cx="5029200" cy="320040"/>
          </a:xfrm>
          <a:prstGeom prst="rect">
            <a:avLst/>
          </a:prstGeom>
          <a:noFill/>
        </p:spPr>
        <p:txBody>
          <a:bodyPr wrap="square">
            <a:spAutoFit/>
          </a:bodyPr>
          <a:lstStyle/>
          <a:p>
            <a:pPr algn="l"/>
            <a:r>
              <a:rPr sz="1300" b="1" i="0">
                <a:solidFill>
                  <a:srgbClr val="FFA000"/>
                </a:solidFill>
              </a:rPr>
              <a:t>!  Oman Phone Number in Site Header</a:t>
            </a:r>
          </a:p>
        </p:txBody>
      </p:sp>
      <p:sp>
        <p:nvSpPr>
          <p:cNvPr id="9" name="TextBox 8"/>
          <p:cNvSpPr txBox="1"/>
          <p:nvPr/>
        </p:nvSpPr>
        <p:spPr>
          <a:xfrm>
            <a:off x="640080" y="1920240"/>
            <a:ext cx="10789920" cy="320040"/>
          </a:xfrm>
          <a:prstGeom prst="rect">
            <a:avLst/>
          </a:prstGeom>
          <a:noFill/>
        </p:spPr>
        <p:txBody>
          <a:bodyPr wrap="square">
            <a:spAutoFit/>
          </a:bodyPr>
          <a:lstStyle/>
          <a:p>
            <a:pPr algn="l"/>
            <a:r>
              <a:rPr sz="1100" b="0" i="0">
                <a:solidFill>
                  <a:srgbClr val="C8D4EE"/>
                </a:solidFill>
              </a:rPr>
              <a:t>The header reads: 'Have any question? +968547856254'. Country code +968 = Oman. The university's actual number (06652 250 307) is in the footer. Anyone calling the header number reaches Oman. This is the first thing every visitor reads.</a:t>
            </a:r>
          </a:p>
        </p:txBody>
      </p:sp>
      <p:sp>
        <p:nvSpPr>
          <p:cNvPr id="10" name="Rectangle 9"/>
          <p:cNvSpPr/>
          <p:nvPr/>
        </p:nvSpPr>
        <p:spPr>
          <a:xfrm>
            <a:off x="502920" y="2395728"/>
            <a:ext cx="11183112" cy="777240"/>
          </a:xfrm>
          <a:prstGeom prst="rect">
            <a:avLst/>
          </a:prstGeom>
          <a:solidFill>
            <a:srgbClr val="101B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0080" y="2468880"/>
            <a:ext cx="5029200" cy="320040"/>
          </a:xfrm>
          <a:prstGeom prst="rect">
            <a:avLst/>
          </a:prstGeom>
          <a:noFill/>
        </p:spPr>
        <p:txBody>
          <a:bodyPr wrap="square">
            <a:spAutoFit/>
          </a:bodyPr>
          <a:lstStyle/>
          <a:p>
            <a:pPr algn="l"/>
            <a:r>
              <a:rPr sz="1300" b="1" i="0">
                <a:solidFill>
                  <a:srgbClr val="FFA000"/>
                </a:solidFill>
              </a:rPr>
              <a:t>!  Vendor Employees Listed as University Alumni</a:t>
            </a:r>
          </a:p>
        </p:txBody>
      </p:sp>
      <p:sp>
        <p:nvSpPr>
          <p:cNvPr id="12" name="TextBox 11"/>
          <p:cNvSpPr txBox="1"/>
          <p:nvPr/>
        </p:nvSpPr>
        <p:spPr>
          <a:xfrm>
            <a:off x="640080" y="2807208"/>
            <a:ext cx="10789920" cy="320040"/>
          </a:xfrm>
          <a:prstGeom prst="rect">
            <a:avLst/>
          </a:prstGeom>
          <a:noFill/>
        </p:spPr>
        <p:txBody>
          <a:bodyPr wrap="square">
            <a:spAutoFit/>
          </a:bodyPr>
          <a:lstStyle/>
          <a:p>
            <a:pPr algn="l"/>
            <a:r>
              <a:rPr sz="1100" b="0" i="0">
                <a:solidFill>
                  <a:srgbClr val="C8D4EE"/>
                </a:solidFill>
              </a:rPr>
              <a:t>The 'Notable Alumni' section lists: Kshirod Biswal (Developer, Scius Solution, 2018) and Abinash Choudhury (Frontend Developer, Scius Solution, 2020). These are the web development team's employees, not graduates. This content was left in from the demo build.</a:t>
            </a:r>
          </a:p>
        </p:txBody>
      </p:sp>
      <p:sp>
        <p:nvSpPr>
          <p:cNvPr id="13" name="Rectangle 12"/>
          <p:cNvSpPr/>
          <p:nvPr/>
        </p:nvSpPr>
        <p:spPr>
          <a:xfrm>
            <a:off x="502920" y="3282696"/>
            <a:ext cx="11183112" cy="777240"/>
          </a:xfrm>
          <a:prstGeom prst="rect">
            <a:avLst/>
          </a:prstGeom>
          <a:solidFill>
            <a:srgbClr val="101B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0080" y="3355848"/>
            <a:ext cx="5029200" cy="320040"/>
          </a:xfrm>
          <a:prstGeom prst="rect">
            <a:avLst/>
          </a:prstGeom>
          <a:noFill/>
        </p:spPr>
        <p:txBody>
          <a:bodyPr wrap="square">
            <a:spAutoFit/>
          </a:bodyPr>
          <a:lstStyle/>
          <a:p>
            <a:pPr algn="l"/>
            <a:r>
              <a:rPr sz="1300" b="1" i="0">
                <a:solidFill>
                  <a:srgbClr val="FFA000"/>
                </a:solidFill>
              </a:rPr>
              <a:t>!  Research Scholars Are Generic Placeholders</a:t>
            </a:r>
          </a:p>
        </p:txBody>
      </p:sp>
      <p:sp>
        <p:nvSpPr>
          <p:cNvPr id="15" name="TextBox 14"/>
          <p:cNvSpPr txBox="1"/>
          <p:nvPr/>
        </p:nvSpPr>
        <p:spPr>
          <a:xfrm>
            <a:off x="640080" y="3694176"/>
            <a:ext cx="10789920" cy="320040"/>
          </a:xfrm>
          <a:prstGeom prst="rect">
            <a:avLst/>
          </a:prstGeom>
          <a:noFill/>
        </p:spPr>
        <p:txBody>
          <a:bodyPr wrap="square">
            <a:spAutoFit/>
          </a:bodyPr>
          <a:lstStyle/>
          <a:p>
            <a:pPr algn="l"/>
            <a:r>
              <a:rPr sz="1100" b="0" i="0">
                <a:solidFill>
                  <a:srgbClr val="C8D4EE"/>
                </a:solidFill>
              </a:rPr>
              <a:t>'Scholars In Focus' shows: Ananya Sen (Statistics), Abhisek Das (Statistics), Arjun Nair (Statistics), Rohan Mehta (Statistics) — all with identical-sounding descriptions like 'Research scholar focusing on Bayesian statistics and data modeling.' These are dummy names cycling in a carousel.</a:t>
            </a:r>
          </a:p>
        </p:txBody>
      </p:sp>
      <p:sp>
        <p:nvSpPr>
          <p:cNvPr id="16" name="Rectangle 15"/>
          <p:cNvSpPr/>
          <p:nvPr/>
        </p:nvSpPr>
        <p:spPr>
          <a:xfrm>
            <a:off x="502920" y="4169664"/>
            <a:ext cx="11183112" cy="777240"/>
          </a:xfrm>
          <a:prstGeom prst="rect">
            <a:avLst/>
          </a:prstGeom>
          <a:solidFill>
            <a:srgbClr val="101B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0080" y="4242816"/>
            <a:ext cx="5029200" cy="320040"/>
          </a:xfrm>
          <a:prstGeom prst="rect">
            <a:avLst/>
          </a:prstGeom>
          <a:noFill/>
        </p:spPr>
        <p:txBody>
          <a:bodyPr wrap="square">
            <a:spAutoFit/>
          </a:bodyPr>
          <a:lstStyle/>
          <a:p>
            <a:pPr algn="l"/>
            <a:r>
              <a:rPr sz="1300" b="1" i="0">
                <a:solidFill>
                  <a:srgbClr val="FFA000"/>
                </a:solidFill>
              </a:rPr>
              <a:t>!  Events From 2021 Shown as Current</a:t>
            </a:r>
          </a:p>
        </p:txBody>
      </p:sp>
      <p:sp>
        <p:nvSpPr>
          <p:cNvPr id="18" name="TextBox 17"/>
          <p:cNvSpPr txBox="1"/>
          <p:nvPr/>
        </p:nvSpPr>
        <p:spPr>
          <a:xfrm>
            <a:off x="640080" y="4581144"/>
            <a:ext cx="10789920" cy="320040"/>
          </a:xfrm>
          <a:prstGeom prst="rect">
            <a:avLst/>
          </a:prstGeom>
          <a:noFill/>
        </p:spPr>
        <p:txBody>
          <a:bodyPr wrap="square">
            <a:spAutoFit/>
          </a:bodyPr>
          <a:lstStyle/>
          <a:p>
            <a:pPr algn="l"/>
            <a:r>
              <a:rPr sz="1100" b="0" i="0">
                <a:solidFill>
                  <a:srgbClr val="C8D4EE"/>
                </a:solidFill>
              </a:rPr>
              <a:t>The Events section in 2026 still prominently features: 'One Day National Webinar — 03-02-2021', 'One Day National Seminar — 06-06-2021', 'First Foundation Day — 01-09-2021'. Stale 5-year-old events sit alongside 2026 entries because there is no content moderation system.</a:t>
            </a:r>
          </a:p>
        </p:txBody>
      </p:sp>
      <p:sp>
        <p:nvSpPr>
          <p:cNvPr id="19" name="Rectangle 18"/>
          <p:cNvSpPr/>
          <p:nvPr/>
        </p:nvSpPr>
        <p:spPr>
          <a:xfrm>
            <a:off x="502920" y="5056632"/>
            <a:ext cx="11183112" cy="777240"/>
          </a:xfrm>
          <a:prstGeom prst="rect">
            <a:avLst/>
          </a:prstGeom>
          <a:solidFill>
            <a:srgbClr val="101B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40080" y="5129784"/>
            <a:ext cx="5029200" cy="320040"/>
          </a:xfrm>
          <a:prstGeom prst="rect">
            <a:avLst/>
          </a:prstGeom>
          <a:noFill/>
        </p:spPr>
        <p:txBody>
          <a:bodyPr wrap="square">
            <a:spAutoFit/>
          </a:bodyPr>
          <a:lstStyle/>
          <a:p>
            <a:pPr algn="l"/>
            <a:r>
              <a:rPr sz="1300" b="1" i="0">
                <a:solidFill>
                  <a:srgbClr val="FFA000"/>
                </a:solidFill>
              </a:rPr>
              <a:t>!  Chancellor/VC Messages Cut Off Mid-Sentence</a:t>
            </a:r>
          </a:p>
        </p:txBody>
      </p:sp>
      <p:sp>
        <p:nvSpPr>
          <p:cNvPr id="21" name="TextBox 20"/>
          <p:cNvSpPr txBox="1"/>
          <p:nvPr/>
        </p:nvSpPr>
        <p:spPr>
          <a:xfrm>
            <a:off x="640080" y="5468112"/>
            <a:ext cx="10789920" cy="320040"/>
          </a:xfrm>
          <a:prstGeom prst="rect">
            <a:avLst/>
          </a:prstGeom>
          <a:noFill/>
        </p:spPr>
        <p:txBody>
          <a:bodyPr wrap="square">
            <a:spAutoFit/>
          </a:bodyPr>
          <a:lstStyle/>
          <a:p>
            <a:pPr algn="l"/>
            <a:r>
              <a:rPr sz="1100" b="0" i="0">
                <a:solidFill>
                  <a:srgbClr val="C8D4EE"/>
                </a:solidFill>
              </a:rPr>
              <a:t>The Chancellor message ends with '...more' and the VC message ends with '...more'. Neither link works — both lead to the homepage. Visitors who want to read leadership messages are left with incomplete paragraphs. Standard university protocol requires full published statements.</a:t>
            </a:r>
          </a:p>
        </p:txBody>
      </p:sp>
      <p:sp>
        <p:nvSpPr>
          <p:cNvPr id="22" name="Rectangle 21"/>
          <p:cNvSpPr/>
          <p:nvPr/>
        </p:nvSpPr>
        <p:spPr>
          <a:xfrm>
            <a:off x="502920" y="5943600"/>
            <a:ext cx="11183112" cy="777240"/>
          </a:xfrm>
          <a:prstGeom prst="rect">
            <a:avLst/>
          </a:prstGeom>
          <a:solidFill>
            <a:srgbClr val="101B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40080" y="6016752"/>
            <a:ext cx="5029200" cy="320040"/>
          </a:xfrm>
          <a:prstGeom prst="rect">
            <a:avLst/>
          </a:prstGeom>
          <a:noFill/>
        </p:spPr>
        <p:txBody>
          <a:bodyPr wrap="square">
            <a:spAutoFit/>
          </a:bodyPr>
          <a:lstStyle/>
          <a:p>
            <a:pPr algn="l"/>
            <a:r>
              <a:rPr sz="1300" b="1" i="0">
                <a:solidFill>
                  <a:srgbClr val="FFA000"/>
                </a:solidFill>
              </a:rPr>
              <a:t>!  Recent Publications Show No Publication Titles</a:t>
            </a:r>
          </a:p>
        </p:txBody>
      </p:sp>
      <p:sp>
        <p:nvSpPr>
          <p:cNvPr id="24" name="TextBox 23"/>
          <p:cNvSpPr txBox="1"/>
          <p:nvPr/>
        </p:nvSpPr>
        <p:spPr>
          <a:xfrm>
            <a:off x="640080" y="6355080"/>
            <a:ext cx="10789920" cy="320040"/>
          </a:xfrm>
          <a:prstGeom prst="rect">
            <a:avLst/>
          </a:prstGeom>
          <a:noFill/>
        </p:spPr>
        <p:txBody>
          <a:bodyPr wrap="square">
            <a:spAutoFit/>
          </a:bodyPr>
          <a:lstStyle/>
          <a:p>
            <a:pPr algn="l"/>
            <a:r>
              <a:rPr sz="1100" b="0" i="0">
                <a:solidFill>
                  <a:srgbClr val="C8D4EE"/>
                </a:solidFill>
              </a:rPr>
              <a:t>The 'Recent Publications' section lists: Dr. Kunal Mishra (Commerce), Miss Manisha Meher (Commerce), and 8 others — with only name and department. No paper title, no journal, no year, no DOI. This section communicates nothing about the university's research output.</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0609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9728" cy="6858000"/>
          </a:xfrm>
          <a:prstGeom prst="rect">
            <a:avLst/>
          </a:prstGeom>
          <a:solidFill>
            <a:srgbClr val="4F8E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74320"/>
            <a:ext cx="10972800" cy="457200"/>
          </a:xfrm>
          <a:prstGeom prst="rect">
            <a:avLst/>
          </a:prstGeom>
          <a:noFill/>
        </p:spPr>
        <p:txBody>
          <a:bodyPr wrap="square">
            <a:spAutoFit/>
          </a:bodyPr>
          <a:lstStyle/>
          <a:p>
            <a:pPr algn="l"/>
            <a:r>
              <a:rPr sz="1100" b="1" i="0">
                <a:solidFill>
                  <a:srgbClr val="4F8EFF"/>
                </a:solidFill>
              </a:rPr>
              <a:t>STUDENT-FACING DIGITAL FUNCTIONS</a:t>
            </a:r>
          </a:p>
        </p:txBody>
      </p:sp>
      <p:sp>
        <p:nvSpPr>
          <p:cNvPr id="5" name="TextBox 4"/>
          <p:cNvSpPr txBox="1"/>
          <p:nvPr/>
        </p:nvSpPr>
        <p:spPr>
          <a:xfrm>
            <a:off x="502920" y="640080"/>
            <a:ext cx="10972800" cy="640080"/>
          </a:xfrm>
          <a:prstGeom prst="rect">
            <a:avLst/>
          </a:prstGeom>
          <a:noFill/>
        </p:spPr>
        <p:txBody>
          <a:bodyPr wrap="square">
            <a:spAutoFit/>
          </a:bodyPr>
          <a:lstStyle/>
          <a:p>
            <a:pPr algn="l"/>
            <a:r>
              <a:rPr sz="3000" b="1" i="0">
                <a:solidFill>
                  <a:srgbClr val="FFFFFF"/>
                </a:solidFill>
              </a:rPr>
              <a:t>What Students Need from a University Website</a:t>
            </a:r>
          </a:p>
        </p:txBody>
      </p:sp>
      <p:sp>
        <p:nvSpPr>
          <p:cNvPr id="6" name="Rectangle 5"/>
          <p:cNvSpPr/>
          <p:nvPr/>
        </p:nvSpPr>
        <p:spPr>
          <a:xfrm>
            <a:off x="502920" y="1234440"/>
            <a:ext cx="1097280" cy="36576"/>
          </a:xfrm>
          <a:prstGeom prst="rect">
            <a:avLst/>
          </a:prstGeom>
          <a:solidFill>
            <a:srgbClr val="4F8E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1389888"/>
            <a:ext cx="11183112" cy="457200"/>
          </a:xfrm>
          <a:prstGeom prst="rect">
            <a:avLst/>
          </a:prstGeom>
          <a:noFill/>
        </p:spPr>
        <p:txBody>
          <a:bodyPr wrap="square">
            <a:spAutoFit/>
          </a:bodyPr>
          <a:lstStyle/>
          <a:p>
            <a:pPr algn="l"/>
            <a:r>
              <a:rPr sz="1200" b="0" i="0">
                <a:solidFill>
                  <a:srgbClr val="C8D4EE"/>
                </a:solidFill>
              </a:rPr>
              <a:t>The primary users of a university website are students — prospective, current, and alumni. Below is a checklist of what they need and what Rajendra University currently provides:</a:t>
            </a:r>
          </a:p>
        </p:txBody>
      </p:sp>
      <p:sp>
        <p:nvSpPr>
          <p:cNvPr id="8" name="Rectangle 7"/>
          <p:cNvSpPr/>
          <p:nvPr/>
        </p:nvSpPr>
        <p:spPr>
          <a:xfrm>
            <a:off x="502920" y="1993392"/>
            <a:ext cx="5577840" cy="475488"/>
          </a:xfrm>
          <a:prstGeom prst="rect">
            <a:avLst/>
          </a:prstGeom>
          <a:solidFill>
            <a:srgbClr val="101B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594360" y="2093976"/>
            <a:ext cx="941832" cy="274320"/>
          </a:xfrm>
          <a:prstGeom prst="ellipse">
            <a:avLst/>
          </a:prstGeom>
          <a:solidFill>
            <a:srgbClr val="FF4D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900" b="1">
                <a:solidFill>
                  <a:srgbClr val="FFFFFF"/>
                </a:solidFill>
              </a:rPr>
              <a:t>ABSENT</a:t>
            </a:r>
          </a:p>
        </p:txBody>
      </p:sp>
      <p:sp>
        <p:nvSpPr>
          <p:cNvPr id="10" name="TextBox 9"/>
          <p:cNvSpPr txBox="1"/>
          <p:nvPr/>
        </p:nvSpPr>
        <p:spPr>
          <a:xfrm>
            <a:off x="1691640" y="2066544"/>
            <a:ext cx="2286000" cy="292608"/>
          </a:xfrm>
          <a:prstGeom prst="rect">
            <a:avLst/>
          </a:prstGeom>
          <a:noFill/>
        </p:spPr>
        <p:txBody>
          <a:bodyPr wrap="square">
            <a:spAutoFit/>
          </a:bodyPr>
          <a:lstStyle/>
          <a:p>
            <a:pPr algn="l"/>
            <a:r>
              <a:rPr sz="1200" b="1" i="0">
                <a:solidFill>
                  <a:srgbClr val="FFFFFF"/>
                </a:solidFill>
              </a:rPr>
              <a:t>Online Admission Application</a:t>
            </a:r>
          </a:p>
        </p:txBody>
      </p:sp>
      <p:sp>
        <p:nvSpPr>
          <p:cNvPr id="11" name="TextBox 10"/>
          <p:cNvSpPr txBox="1"/>
          <p:nvPr/>
        </p:nvSpPr>
        <p:spPr>
          <a:xfrm>
            <a:off x="4023360" y="2084832"/>
            <a:ext cx="2011680" cy="292608"/>
          </a:xfrm>
          <a:prstGeom prst="rect">
            <a:avLst/>
          </a:prstGeom>
          <a:noFill/>
        </p:spPr>
        <p:txBody>
          <a:bodyPr wrap="square">
            <a:spAutoFit/>
          </a:bodyPr>
          <a:lstStyle/>
          <a:p>
            <a:pPr algn="l"/>
            <a:r>
              <a:rPr sz="1000" b="0" i="0">
                <a:solidFill>
                  <a:srgbClr val="8A9BBB"/>
                </a:solidFill>
              </a:rPr>
              <a:t>Apply for programmes online, track application status</a:t>
            </a:r>
          </a:p>
        </p:txBody>
      </p:sp>
      <p:sp>
        <p:nvSpPr>
          <p:cNvPr id="12" name="Rectangle 11"/>
          <p:cNvSpPr/>
          <p:nvPr/>
        </p:nvSpPr>
        <p:spPr>
          <a:xfrm>
            <a:off x="6355080" y="1993392"/>
            <a:ext cx="5577840" cy="475488"/>
          </a:xfrm>
          <a:prstGeom prst="rect">
            <a:avLst/>
          </a:prstGeom>
          <a:solidFill>
            <a:srgbClr val="101B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446520" y="2093976"/>
            <a:ext cx="941832" cy="274320"/>
          </a:xfrm>
          <a:prstGeom prst="ellipse">
            <a:avLst/>
          </a:prstGeom>
          <a:solidFill>
            <a:srgbClr val="FF4D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900" b="1">
                <a:solidFill>
                  <a:srgbClr val="FFFFFF"/>
                </a:solidFill>
              </a:rPr>
              <a:t>ABSENT</a:t>
            </a:r>
          </a:p>
        </p:txBody>
      </p:sp>
      <p:sp>
        <p:nvSpPr>
          <p:cNvPr id="14" name="TextBox 13"/>
          <p:cNvSpPr txBox="1"/>
          <p:nvPr/>
        </p:nvSpPr>
        <p:spPr>
          <a:xfrm>
            <a:off x="7543800" y="2066544"/>
            <a:ext cx="2286000" cy="292608"/>
          </a:xfrm>
          <a:prstGeom prst="rect">
            <a:avLst/>
          </a:prstGeom>
          <a:noFill/>
        </p:spPr>
        <p:txBody>
          <a:bodyPr wrap="square">
            <a:spAutoFit/>
          </a:bodyPr>
          <a:lstStyle/>
          <a:p>
            <a:pPr algn="l"/>
            <a:r>
              <a:rPr sz="1200" b="1" i="0">
                <a:solidFill>
                  <a:srgbClr val="FFFFFF"/>
                </a:solidFill>
              </a:rPr>
              <a:t>Fee Payment Portal</a:t>
            </a:r>
          </a:p>
        </p:txBody>
      </p:sp>
      <p:sp>
        <p:nvSpPr>
          <p:cNvPr id="15" name="TextBox 14"/>
          <p:cNvSpPr txBox="1"/>
          <p:nvPr/>
        </p:nvSpPr>
        <p:spPr>
          <a:xfrm>
            <a:off x="9875520" y="2084832"/>
            <a:ext cx="2011680" cy="292608"/>
          </a:xfrm>
          <a:prstGeom prst="rect">
            <a:avLst/>
          </a:prstGeom>
          <a:noFill/>
        </p:spPr>
        <p:txBody>
          <a:bodyPr wrap="square">
            <a:spAutoFit/>
          </a:bodyPr>
          <a:lstStyle/>
          <a:p>
            <a:pPr algn="l"/>
            <a:r>
              <a:rPr sz="1000" b="0" i="0">
                <a:solidFill>
                  <a:srgbClr val="8A9BBB"/>
                </a:solidFill>
              </a:rPr>
              <a:t>Pay tuition, hostel, exam fees online — receipt download</a:t>
            </a:r>
          </a:p>
        </p:txBody>
      </p:sp>
      <p:sp>
        <p:nvSpPr>
          <p:cNvPr id="16" name="Rectangle 15"/>
          <p:cNvSpPr/>
          <p:nvPr/>
        </p:nvSpPr>
        <p:spPr>
          <a:xfrm>
            <a:off x="502920" y="2560320"/>
            <a:ext cx="5577840" cy="475488"/>
          </a:xfrm>
          <a:prstGeom prst="rect">
            <a:avLst/>
          </a:prstGeom>
          <a:solidFill>
            <a:srgbClr val="101B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594360" y="2660904"/>
            <a:ext cx="941832" cy="274320"/>
          </a:xfrm>
          <a:prstGeom prst="ellipse">
            <a:avLst/>
          </a:prstGeom>
          <a:solidFill>
            <a:srgbClr val="FF4D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900" b="1">
                <a:solidFill>
                  <a:srgbClr val="FFFFFF"/>
                </a:solidFill>
              </a:rPr>
              <a:t>ABSENT</a:t>
            </a:r>
          </a:p>
        </p:txBody>
      </p:sp>
      <p:sp>
        <p:nvSpPr>
          <p:cNvPr id="18" name="TextBox 17"/>
          <p:cNvSpPr txBox="1"/>
          <p:nvPr/>
        </p:nvSpPr>
        <p:spPr>
          <a:xfrm>
            <a:off x="1691640" y="2633472"/>
            <a:ext cx="2286000" cy="292608"/>
          </a:xfrm>
          <a:prstGeom prst="rect">
            <a:avLst/>
          </a:prstGeom>
          <a:noFill/>
        </p:spPr>
        <p:txBody>
          <a:bodyPr wrap="square">
            <a:spAutoFit/>
          </a:bodyPr>
          <a:lstStyle/>
          <a:p>
            <a:pPr algn="l"/>
            <a:r>
              <a:rPr sz="1200" b="1" i="0">
                <a:solidFill>
                  <a:srgbClr val="FFFFFF"/>
                </a:solidFill>
              </a:rPr>
              <a:t>Exam Schedule &amp; Hall Tickets</a:t>
            </a:r>
          </a:p>
        </p:txBody>
      </p:sp>
      <p:sp>
        <p:nvSpPr>
          <p:cNvPr id="19" name="TextBox 18"/>
          <p:cNvSpPr txBox="1"/>
          <p:nvPr/>
        </p:nvSpPr>
        <p:spPr>
          <a:xfrm>
            <a:off x="4023360" y="2651760"/>
            <a:ext cx="2011680" cy="292608"/>
          </a:xfrm>
          <a:prstGeom prst="rect">
            <a:avLst/>
          </a:prstGeom>
          <a:noFill/>
        </p:spPr>
        <p:txBody>
          <a:bodyPr wrap="square">
            <a:spAutoFit/>
          </a:bodyPr>
          <a:lstStyle/>
          <a:p>
            <a:pPr algn="l"/>
            <a:r>
              <a:rPr sz="1000" b="0" i="0">
                <a:solidFill>
                  <a:srgbClr val="8A9BBB"/>
                </a:solidFill>
              </a:rPr>
              <a:t>Download admit cards, check exam timetable by programme</a:t>
            </a:r>
          </a:p>
        </p:txBody>
      </p:sp>
      <p:sp>
        <p:nvSpPr>
          <p:cNvPr id="20" name="Rectangle 19"/>
          <p:cNvSpPr/>
          <p:nvPr/>
        </p:nvSpPr>
        <p:spPr>
          <a:xfrm>
            <a:off x="6355080" y="2560320"/>
            <a:ext cx="5577840" cy="475488"/>
          </a:xfrm>
          <a:prstGeom prst="rect">
            <a:avLst/>
          </a:prstGeom>
          <a:solidFill>
            <a:srgbClr val="101B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6446520" y="2660904"/>
            <a:ext cx="941832" cy="274320"/>
          </a:xfrm>
          <a:prstGeom prst="ellipse">
            <a:avLst/>
          </a:prstGeom>
          <a:solidFill>
            <a:srgbClr val="FF4D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900" b="1">
                <a:solidFill>
                  <a:srgbClr val="FFFFFF"/>
                </a:solidFill>
              </a:rPr>
              <a:t>ABSENT</a:t>
            </a:r>
          </a:p>
        </p:txBody>
      </p:sp>
      <p:sp>
        <p:nvSpPr>
          <p:cNvPr id="22" name="TextBox 21"/>
          <p:cNvSpPr txBox="1"/>
          <p:nvPr/>
        </p:nvSpPr>
        <p:spPr>
          <a:xfrm>
            <a:off x="7543800" y="2633472"/>
            <a:ext cx="2286000" cy="292608"/>
          </a:xfrm>
          <a:prstGeom prst="rect">
            <a:avLst/>
          </a:prstGeom>
          <a:noFill/>
        </p:spPr>
        <p:txBody>
          <a:bodyPr wrap="square">
            <a:spAutoFit/>
          </a:bodyPr>
          <a:lstStyle/>
          <a:p>
            <a:pPr algn="l"/>
            <a:r>
              <a:rPr sz="1200" b="1" i="0">
                <a:solidFill>
                  <a:srgbClr val="FFFFFF"/>
                </a:solidFill>
              </a:rPr>
              <a:t>Result / Marks Portal</a:t>
            </a:r>
          </a:p>
        </p:txBody>
      </p:sp>
      <p:sp>
        <p:nvSpPr>
          <p:cNvPr id="23" name="TextBox 22"/>
          <p:cNvSpPr txBox="1"/>
          <p:nvPr/>
        </p:nvSpPr>
        <p:spPr>
          <a:xfrm>
            <a:off x="9875520" y="2651760"/>
            <a:ext cx="2011680" cy="292608"/>
          </a:xfrm>
          <a:prstGeom prst="rect">
            <a:avLst/>
          </a:prstGeom>
          <a:noFill/>
        </p:spPr>
        <p:txBody>
          <a:bodyPr wrap="square">
            <a:spAutoFit/>
          </a:bodyPr>
          <a:lstStyle/>
          <a:p>
            <a:pPr algn="l"/>
            <a:r>
              <a:rPr sz="1000" b="0" i="0">
                <a:solidFill>
                  <a:srgbClr val="8A9BBB"/>
                </a:solidFill>
              </a:rPr>
              <a:t>Check semester results, marksheets, revaluation apply</a:t>
            </a:r>
          </a:p>
        </p:txBody>
      </p:sp>
      <p:sp>
        <p:nvSpPr>
          <p:cNvPr id="24" name="Rectangle 23"/>
          <p:cNvSpPr/>
          <p:nvPr/>
        </p:nvSpPr>
        <p:spPr>
          <a:xfrm>
            <a:off x="502920" y="3127248"/>
            <a:ext cx="5577840" cy="475488"/>
          </a:xfrm>
          <a:prstGeom prst="rect">
            <a:avLst/>
          </a:prstGeom>
          <a:solidFill>
            <a:srgbClr val="101B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594360" y="3227832"/>
            <a:ext cx="941832" cy="274320"/>
          </a:xfrm>
          <a:prstGeom prst="ellipse">
            <a:avLst/>
          </a:prstGeom>
          <a:solidFill>
            <a:srgbClr val="FF4D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900" b="1">
                <a:solidFill>
                  <a:srgbClr val="FFFFFF"/>
                </a:solidFill>
              </a:rPr>
              <a:t>ABSENT</a:t>
            </a:r>
          </a:p>
        </p:txBody>
      </p:sp>
      <p:sp>
        <p:nvSpPr>
          <p:cNvPr id="26" name="TextBox 25"/>
          <p:cNvSpPr txBox="1"/>
          <p:nvPr/>
        </p:nvSpPr>
        <p:spPr>
          <a:xfrm>
            <a:off x="1691640" y="3200400"/>
            <a:ext cx="2286000" cy="292608"/>
          </a:xfrm>
          <a:prstGeom prst="rect">
            <a:avLst/>
          </a:prstGeom>
          <a:noFill/>
        </p:spPr>
        <p:txBody>
          <a:bodyPr wrap="square">
            <a:spAutoFit/>
          </a:bodyPr>
          <a:lstStyle/>
          <a:p>
            <a:pPr algn="l"/>
            <a:r>
              <a:rPr sz="1200" b="1" i="0">
                <a:solidFill>
                  <a:srgbClr val="FFFFFF"/>
                </a:solidFill>
              </a:rPr>
              <a:t>Course &amp; Syllabus Download</a:t>
            </a:r>
          </a:p>
        </p:txBody>
      </p:sp>
      <p:sp>
        <p:nvSpPr>
          <p:cNvPr id="27" name="TextBox 26"/>
          <p:cNvSpPr txBox="1"/>
          <p:nvPr/>
        </p:nvSpPr>
        <p:spPr>
          <a:xfrm>
            <a:off x="4023360" y="3218688"/>
            <a:ext cx="2011680" cy="292608"/>
          </a:xfrm>
          <a:prstGeom prst="rect">
            <a:avLst/>
          </a:prstGeom>
          <a:noFill/>
        </p:spPr>
        <p:txBody>
          <a:bodyPr wrap="square">
            <a:spAutoFit/>
          </a:bodyPr>
          <a:lstStyle/>
          <a:p>
            <a:pPr algn="l"/>
            <a:r>
              <a:rPr sz="1000" b="0" i="0">
                <a:solidFill>
                  <a:srgbClr val="8A9BBB"/>
                </a:solidFill>
              </a:rPr>
              <a:t>Download semester syllabus PDFs per programme</a:t>
            </a:r>
          </a:p>
        </p:txBody>
      </p:sp>
      <p:sp>
        <p:nvSpPr>
          <p:cNvPr id="28" name="Rectangle 27"/>
          <p:cNvSpPr/>
          <p:nvPr/>
        </p:nvSpPr>
        <p:spPr>
          <a:xfrm>
            <a:off x="6355080" y="3127248"/>
            <a:ext cx="5577840" cy="475488"/>
          </a:xfrm>
          <a:prstGeom prst="rect">
            <a:avLst/>
          </a:prstGeom>
          <a:solidFill>
            <a:srgbClr val="101B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6446520" y="3227832"/>
            <a:ext cx="941832" cy="274320"/>
          </a:xfrm>
          <a:prstGeom prst="ellipse">
            <a:avLst/>
          </a:prstGeom>
          <a:solidFill>
            <a:srgbClr val="FF4D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900" b="1">
                <a:solidFill>
                  <a:srgbClr val="FFFFFF"/>
                </a:solidFill>
              </a:rPr>
              <a:t>ABSENT</a:t>
            </a:r>
          </a:p>
        </p:txBody>
      </p:sp>
      <p:sp>
        <p:nvSpPr>
          <p:cNvPr id="30" name="TextBox 29"/>
          <p:cNvSpPr txBox="1"/>
          <p:nvPr/>
        </p:nvSpPr>
        <p:spPr>
          <a:xfrm>
            <a:off x="7543800" y="3200400"/>
            <a:ext cx="2286000" cy="292608"/>
          </a:xfrm>
          <a:prstGeom prst="rect">
            <a:avLst/>
          </a:prstGeom>
          <a:noFill/>
        </p:spPr>
        <p:txBody>
          <a:bodyPr wrap="square">
            <a:spAutoFit/>
          </a:bodyPr>
          <a:lstStyle/>
          <a:p>
            <a:pPr algn="l"/>
            <a:r>
              <a:rPr sz="1200" b="1" i="0">
                <a:solidFill>
                  <a:srgbClr val="FFFFFF"/>
                </a:solidFill>
              </a:rPr>
              <a:t>Faculty Directory</a:t>
            </a:r>
          </a:p>
        </p:txBody>
      </p:sp>
      <p:sp>
        <p:nvSpPr>
          <p:cNvPr id="31" name="TextBox 30"/>
          <p:cNvSpPr txBox="1"/>
          <p:nvPr/>
        </p:nvSpPr>
        <p:spPr>
          <a:xfrm>
            <a:off x="9875520" y="3218688"/>
            <a:ext cx="2011680" cy="292608"/>
          </a:xfrm>
          <a:prstGeom prst="rect">
            <a:avLst/>
          </a:prstGeom>
          <a:noFill/>
        </p:spPr>
        <p:txBody>
          <a:bodyPr wrap="square">
            <a:spAutoFit/>
          </a:bodyPr>
          <a:lstStyle/>
          <a:p>
            <a:pPr algn="l"/>
            <a:r>
              <a:rPr sz="1000" b="0" i="0">
                <a:solidFill>
                  <a:srgbClr val="8A9BBB"/>
                </a:solidFill>
              </a:rPr>
              <a:t>Find faculty member contact, office hours, research area</a:t>
            </a:r>
          </a:p>
        </p:txBody>
      </p:sp>
      <p:sp>
        <p:nvSpPr>
          <p:cNvPr id="32" name="Rectangle 31"/>
          <p:cNvSpPr/>
          <p:nvPr/>
        </p:nvSpPr>
        <p:spPr>
          <a:xfrm>
            <a:off x="502920" y="3694176"/>
            <a:ext cx="5577840" cy="475488"/>
          </a:xfrm>
          <a:prstGeom prst="rect">
            <a:avLst/>
          </a:prstGeom>
          <a:solidFill>
            <a:srgbClr val="101B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594360" y="3794760"/>
            <a:ext cx="1037844" cy="274320"/>
          </a:xfrm>
          <a:prstGeom prst="ellipse">
            <a:avLst/>
          </a:prstGeom>
          <a:solidFill>
            <a:srgbClr val="FFA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900" b="1">
                <a:solidFill>
                  <a:srgbClr val="FFFFFF"/>
                </a:solidFill>
              </a:rPr>
              <a:t>PARTIAL</a:t>
            </a:r>
          </a:p>
        </p:txBody>
      </p:sp>
      <p:sp>
        <p:nvSpPr>
          <p:cNvPr id="34" name="TextBox 33"/>
          <p:cNvSpPr txBox="1"/>
          <p:nvPr/>
        </p:nvSpPr>
        <p:spPr>
          <a:xfrm>
            <a:off x="1691640" y="3767328"/>
            <a:ext cx="2286000" cy="292608"/>
          </a:xfrm>
          <a:prstGeom prst="rect">
            <a:avLst/>
          </a:prstGeom>
          <a:noFill/>
        </p:spPr>
        <p:txBody>
          <a:bodyPr wrap="square">
            <a:spAutoFit/>
          </a:bodyPr>
          <a:lstStyle/>
          <a:p>
            <a:pPr algn="l"/>
            <a:r>
              <a:rPr sz="1200" b="1" i="0">
                <a:solidFill>
                  <a:srgbClr val="FFFFFF"/>
                </a:solidFill>
              </a:rPr>
              <a:t>Notice Board Search</a:t>
            </a:r>
          </a:p>
        </p:txBody>
      </p:sp>
      <p:sp>
        <p:nvSpPr>
          <p:cNvPr id="35" name="TextBox 34"/>
          <p:cNvSpPr txBox="1"/>
          <p:nvPr/>
        </p:nvSpPr>
        <p:spPr>
          <a:xfrm>
            <a:off x="4023360" y="3785616"/>
            <a:ext cx="2011680" cy="292608"/>
          </a:xfrm>
          <a:prstGeom prst="rect">
            <a:avLst/>
          </a:prstGeom>
          <a:noFill/>
        </p:spPr>
        <p:txBody>
          <a:bodyPr wrap="square">
            <a:spAutoFit/>
          </a:bodyPr>
          <a:lstStyle/>
          <a:p>
            <a:pPr algn="l"/>
            <a:r>
              <a:rPr sz="1000" b="0" i="0">
                <a:solidFill>
                  <a:srgbClr val="8A9BBB"/>
                </a:solidFill>
              </a:rPr>
              <a:t>Filter notices by category, department, date range</a:t>
            </a:r>
          </a:p>
        </p:txBody>
      </p:sp>
      <p:sp>
        <p:nvSpPr>
          <p:cNvPr id="36" name="Rectangle 35"/>
          <p:cNvSpPr/>
          <p:nvPr/>
        </p:nvSpPr>
        <p:spPr>
          <a:xfrm>
            <a:off x="6355080" y="3694176"/>
            <a:ext cx="5577840" cy="475488"/>
          </a:xfrm>
          <a:prstGeom prst="rect">
            <a:avLst/>
          </a:prstGeom>
          <a:solidFill>
            <a:srgbClr val="101B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6446520" y="3794760"/>
            <a:ext cx="941832" cy="274320"/>
          </a:xfrm>
          <a:prstGeom prst="ellipse">
            <a:avLst/>
          </a:prstGeom>
          <a:solidFill>
            <a:srgbClr val="FF4D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900" b="1">
                <a:solidFill>
                  <a:srgbClr val="FFFFFF"/>
                </a:solidFill>
              </a:rPr>
              <a:t>ABSENT</a:t>
            </a:r>
          </a:p>
        </p:txBody>
      </p:sp>
      <p:sp>
        <p:nvSpPr>
          <p:cNvPr id="38" name="TextBox 37"/>
          <p:cNvSpPr txBox="1"/>
          <p:nvPr/>
        </p:nvSpPr>
        <p:spPr>
          <a:xfrm>
            <a:off x="7543800" y="3767328"/>
            <a:ext cx="2286000" cy="292608"/>
          </a:xfrm>
          <a:prstGeom prst="rect">
            <a:avLst/>
          </a:prstGeom>
          <a:noFill/>
        </p:spPr>
        <p:txBody>
          <a:bodyPr wrap="square">
            <a:spAutoFit/>
          </a:bodyPr>
          <a:lstStyle/>
          <a:p>
            <a:pPr algn="l"/>
            <a:r>
              <a:rPr sz="1200" b="1" i="0">
                <a:solidFill>
                  <a:srgbClr val="FFFFFF"/>
                </a:solidFill>
              </a:rPr>
              <a:t>Library Catalogue (OPAC)</a:t>
            </a:r>
          </a:p>
        </p:txBody>
      </p:sp>
      <p:sp>
        <p:nvSpPr>
          <p:cNvPr id="39" name="TextBox 38"/>
          <p:cNvSpPr txBox="1"/>
          <p:nvPr/>
        </p:nvSpPr>
        <p:spPr>
          <a:xfrm>
            <a:off x="9875520" y="3785616"/>
            <a:ext cx="2011680" cy="292608"/>
          </a:xfrm>
          <a:prstGeom prst="rect">
            <a:avLst/>
          </a:prstGeom>
          <a:noFill/>
        </p:spPr>
        <p:txBody>
          <a:bodyPr wrap="square">
            <a:spAutoFit/>
          </a:bodyPr>
          <a:lstStyle/>
          <a:p>
            <a:pPr algn="l"/>
            <a:r>
              <a:rPr sz="1000" b="0" i="0">
                <a:solidFill>
                  <a:srgbClr val="8A9BBB"/>
                </a:solidFill>
              </a:rPr>
              <a:t>Search books, journals, e-resources online</a:t>
            </a:r>
          </a:p>
        </p:txBody>
      </p:sp>
      <p:sp>
        <p:nvSpPr>
          <p:cNvPr id="40" name="Rectangle 39"/>
          <p:cNvSpPr/>
          <p:nvPr/>
        </p:nvSpPr>
        <p:spPr>
          <a:xfrm>
            <a:off x="502920" y="4261104"/>
            <a:ext cx="5577840" cy="475488"/>
          </a:xfrm>
          <a:prstGeom prst="rect">
            <a:avLst/>
          </a:prstGeom>
          <a:solidFill>
            <a:srgbClr val="101B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Oval 40"/>
          <p:cNvSpPr/>
          <p:nvPr/>
        </p:nvSpPr>
        <p:spPr>
          <a:xfrm>
            <a:off x="594360" y="4361688"/>
            <a:ext cx="941832" cy="274320"/>
          </a:xfrm>
          <a:prstGeom prst="ellipse">
            <a:avLst/>
          </a:prstGeom>
          <a:solidFill>
            <a:srgbClr val="FF4D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900" b="1">
                <a:solidFill>
                  <a:srgbClr val="FFFFFF"/>
                </a:solidFill>
              </a:rPr>
              <a:t>ABSENT</a:t>
            </a:r>
          </a:p>
        </p:txBody>
      </p:sp>
      <p:sp>
        <p:nvSpPr>
          <p:cNvPr id="42" name="TextBox 41"/>
          <p:cNvSpPr txBox="1"/>
          <p:nvPr/>
        </p:nvSpPr>
        <p:spPr>
          <a:xfrm>
            <a:off x="1691640" y="4334256"/>
            <a:ext cx="2286000" cy="292608"/>
          </a:xfrm>
          <a:prstGeom prst="rect">
            <a:avLst/>
          </a:prstGeom>
          <a:noFill/>
        </p:spPr>
        <p:txBody>
          <a:bodyPr wrap="square">
            <a:spAutoFit/>
          </a:bodyPr>
          <a:lstStyle/>
          <a:p>
            <a:pPr algn="l"/>
            <a:r>
              <a:rPr sz="1200" b="1" i="0">
                <a:solidFill>
                  <a:srgbClr val="FFFFFF"/>
                </a:solidFill>
              </a:rPr>
              <a:t>Grievance Portal</a:t>
            </a:r>
          </a:p>
        </p:txBody>
      </p:sp>
      <p:sp>
        <p:nvSpPr>
          <p:cNvPr id="43" name="TextBox 42"/>
          <p:cNvSpPr txBox="1"/>
          <p:nvPr/>
        </p:nvSpPr>
        <p:spPr>
          <a:xfrm>
            <a:off x="4023360" y="4352544"/>
            <a:ext cx="2011680" cy="292608"/>
          </a:xfrm>
          <a:prstGeom prst="rect">
            <a:avLst/>
          </a:prstGeom>
          <a:noFill/>
        </p:spPr>
        <p:txBody>
          <a:bodyPr wrap="square">
            <a:spAutoFit/>
          </a:bodyPr>
          <a:lstStyle/>
          <a:p>
            <a:pPr algn="l"/>
            <a:r>
              <a:rPr sz="1000" b="0" i="0">
                <a:solidFill>
                  <a:srgbClr val="8A9BBB"/>
                </a:solidFill>
              </a:rPr>
              <a:t>Submit complaints, track resolution status online</a:t>
            </a:r>
          </a:p>
        </p:txBody>
      </p:sp>
      <p:sp>
        <p:nvSpPr>
          <p:cNvPr id="44" name="Rectangle 43"/>
          <p:cNvSpPr/>
          <p:nvPr/>
        </p:nvSpPr>
        <p:spPr>
          <a:xfrm>
            <a:off x="6355080" y="4261104"/>
            <a:ext cx="5577840" cy="475488"/>
          </a:xfrm>
          <a:prstGeom prst="rect">
            <a:avLst/>
          </a:prstGeom>
          <a:solidFill>
            <a:srgbClr val="101B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Oval 44"/>
          <p:cNvSpPr/>
          <p:nvPr/>
        </p:nvSpPr>
        <p:spPr>
          <a:xfrm>
            <a:off x="6446520" y="4361688"/>
            <a:ext cx="941832" cy="274320"/>
          </a:xfrm>
          <a:prstGeom prst="ellipse">
            <a:avLst/>
          </a:prstGeom>
          <a:solidFill>
            <a:srgbClr val="FF4D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900" b="1">
                <a:solidFill>
                  <a:srgbClr val="FFFFFF"/>
                </a:solidFill>
              </a:rPr>
              <a:t>ABSENT</a:t>
            </a:r>
          </a:p>
        </p:txBody>
      </p:sp>
      <p:sp>
        <p:nvSpPr>
          <p:cNvPr id="46" name="TextBox 45"/>
          <p:cNvSpPr txBox="1"/>
          <p:nvPr/>
        </p:nvSpPr>
        <p:spPr>
          <a:xfrm>
            <a:off x="7543800" y="4334256"/>
            <a:ext cx="2286000" cy="292608"/>
          </a:xfrm>
          <a:prstGeom prst="rect">
            <a:avLst/>
          </a:prstGeom>
          <a:noFill/>
        </p:spPr>
        <p:txBody>
          <a:bodyPr wrap="square">
            <a:spAutoFit/>
          </a:bodyPr>
          <a:lstStyle/>
          <a:p>
            <a:pPr algn="l"/>
            <a:r>
              <a:rPr sz="1200" b="1" i="0">
                <a:solidFill>
                  <a:srgbClr val="FFFFFF"/>
                </a:solidFill>
              </a:rPr>
              <a:t>Hostel Application &amp; Info</a:t>
            </a:r>
          </a:p>
        </p:txBody>
      </p:sp>
      <p:sp>
        <p:nvSpPr>
          <p:cNvPr id="47" name="TextBox 46"/>
          <p:cNvSpPr txBox="1"/>
          <p:nvPr/>
        </p:nvSpPr>
        <p:spPr>
          <a:xfrm>
            <a:off x="9875520" y="4352544"/>
            <a:ext cx="2011680" cy="292608"/>
          </a:xfrm>
          <a:prstGeom prst="rect">
            <a:avLst/>
          </a:prstGeom>
          <a:noFill/>
        </p:spPr>
        <p:txBody>
          <a:bodyPr wrap="square">
            <a:spAutoFit/>
          </a:bodyPr>
          <a:lstStyle/>
          <a:p>
            <a:pPr algn="l"/>
            <a:r>
              <a:rPr sz="1000" b="0" i="0">
                <a:solidFill>
                  <a:srgbClr val="8A9BBB"/>
                </a:solidFill>
              </a:rPr>
              <a:t>Apply for hostel, view room availability, rules, fees</a:t>
            </a:r>
          </a:p>
        </p:txBody>
      </p:sp>
      <p:sp>
        <p:nvSpPr>
          <p:cNvPr id="48" name="Rectangle 47"/>
          <p:cNvSpPr/>
          <p:nvPr/>
        </p:nvSpPr>
        <p:spPr>
          <a:xfrm>
            <a:off x="502920" y="4828032"/>
            <a:ext cx="5577840" cy="475488"/>
          </a:xfrm>
          <a:prstGeom prst="rect">
            <a:avLst/>
          </a:prstGeom>
          <a:solidFill>
            <a:srgbClr val="101B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Oval 48"/>
          <p:cNvSpPr/>
          <p:nvPr/>
        </p:nvSpPr>
        <p:spPr>
          <a:xfrm>
            <a:off x="594360" y="4928616"/>
            <a:ext cx="941832" cy="274320"/>
          </a:xfrm>
          <a:prstGeom prst="ellipse">
            <a:avLst/>
          </a:prstGeom>
          <a:solidFill>
            <a:srgbClr val="FF4D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900" b="1">
                <a:solidFill>
                  <a:srgbClr val="FFFFFF"/>
                </a:solidFill>
              </a:rPr>
              <a:t>ABSENT</a:t>
            </a:r>
          </a:p>
        </p:txBody>
      </p:sp>
      <p:sp>
        <p:nvSpPr>
          <p:cNvPr id="50" name="TextBox 49"/>
          <p:cNvSpPr txBox="1"/>
          <p:nvPr/>
        </p:nvSpPr>
        <p:spPr>
          <a:xfrm>
            <a:off x="1691640" y="4901184"/>
            <a:ext cx="2286000" cy="292608"/>
          </a:xfrm>
          <a:prstGeom prst="rect">
            <a:avLst/>
          </a:prstGeom>
          <a:noFill/>
        </p:spPr>
        <p:txBody>
          <a:bodyPr wrap="square">
            <a:spAutoFit/>
          </a:bodyPr>
          <a:lstStyle/>
          <a:p>
            <a:pPr algn="l"/>
            <a:r>
              <a:rPr sz="1200" b="1" i="0">
                <a:solidFill>
                  <a:srgbClr val="FFFFFF"/>
                </a:solidFill>
              </a:rPr>
              <a:t>Scholarship Information</a:t>
            </a:r>
          </a:p>
        </p:txBody>
      </p:sp>
      <p:sp>
        <p:nvSpPr>
          <p:cNvPr id="51" name="TextBox 50"/>
          <p:cNvSpPr txBox="1"/>
          <p:nvPr/>
        </p:nvSpPr>
        <p:spPr>
          <a:xfrm>
            <a:off x="4023360" y="4919472"/>
            <a:ext cx="2011680" cy="292608"/>
          </a:xfrm>
          <a:prstGeom prst="rect">
            <a:avLst/>
          </a:prstGeom>
          <a:noFill/>
        </p:spPr>
        <p:txBody>
          <a:bodyPr wrap="square">
            <a:spAutoFit/>
          </a:bodyPr>
          <a:lstStyle/>
          <a:p>
            <a:pPr algn="l"/>
            <a:r>
              <a:rPr sz="1000" b="0" i="0">
                <a:solidFill>
                  <a:srgbClr val="8A9BBB"/>
                </a:solidFill>
              </a:rPr>
              <a:t>Eligibility, amount, application process per scheme</a:t>
            </a:r>
          </a:p>
        </p:txBody>
      </p:sp>
      <p:sp>
        <p:nvSpPr>
          <p:cNvPr id="52" name="Rectangle 51"/>
          <p:cNvSpPr/>
          <p:nvPr/>
        </p:nvSpPr>
        <p:spPr>
          <a:xfrm>
            <a:off x="6355080" y="4828032"/>
            <a:ext cx="5577840" cy="475488"/>
          </a:xfrm>
          <a:prstGeom prst="rect">
            <a:avLst/>
          </a:prstGeom>
          <a:solidFill>
            <a:srgbClr val="101B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Oval 52"/>
          <p:cNvSpPr/>
          <p:nvPr/>
        </p:nvSpPr>
        <p:spPr>
          <a:xfrm>
            <a:off x="6446520" y="4928616"/>
            <a:ext cx="941832" cy="274320"/>
          </a:xfrm>
          <a:prstGeom prst="ellipse">
            <a:avLst/>
          </a:prstGeom>
          <a:solidFill>
            <a:srgbClr val="FF4D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900" b="1">
                <a:solidFill>
                  <a:srgbClr val="FFFFFF"/>
                </a:solidFill>
              </a:rPr>
              <a:t>ABSENT</a:t>
            </a:r>
          </a:p>
        </p:txBody>
      </p:sp>
      <p:sp>
        <p:nvSpPr>
          <p:cNvPr id="54" name="TextBox 53"/>
          <p:cNvSpPr txBox="1"/>
          <p:nvPr/>
        </p:nvSpPr>
        <p:spPr>
          <a:xfrm>
            <a:off x="7543800" y="4901184"/>
            <a:ext cx="2286000" cy="292608"/>
          </a:xfrm>
          <a:prstGeom prst="rect">
            <a:avLst/>
          </a:prstGeom>
          <a:noFill/>
        </p:spPr>
        <p:txBody>
          <a:bodyPr wrap="square">
            <a:spAutoFit/>
          </a:bodyPr>
          <a:lstStyle/>
          <a:p>
            <a:pPr algn="l"/>
            <a:r>
              <a:rPr sz="1200" b="1" i="0">
                <a:solidFill>
                  <a:srgbClr val="FFFFFF"/>
                </a:solidFill>
              </a:rPr>
              <a:t>Placement Statistics</a:t>
            </a:r>
          </a:p>
        </p:txBody>
      </p:sp>
      <p:sp>
        <p:nvSpPr>
          <p:cNvPr id="55" name="TextBox 54"/>
          <p:cNvSpPr txBox="1"/>
          <p:nvPr/>
        </p:nvSpPr>
        <p:spPr>
          <a:xfrm>
            <a:off x="9875520" y="4919472"/>
            <a:ext cx="2011680" cy="292608"/>
          </a:xfrm>
          <a:prstGeom prst="rect">
            <a:avLst/>
          </a:prstGeom>
          <a:noFill/>
        </p:spPr>
        <p:txBody>
          <a:bodyPr wrap="square">
            <a:spAutoFit/>
          </a:bodyPr>
          <a:lstStyle/>
          <a:p>
            <a:pPr algn="l"/>
            <a:r>
              <a:rPr sz="1000" b="0" i="0">
                <a:solidFill>
                  <a:srgbClr val="8A9BBB"/>
                </a:solidFill>
              </a:rPr>
              <a:t>Company-wise placements, packages, sector breakdown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0609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9728" cy="6858000"/>
          </a:xfrm>
          <a:prstGeom prst="rect">
            <a:avLst/>
          </a:prstGeom>
          <a:solidFill>
            <a:srgbClr val="2ECC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74320"/>
            <a:ext cx="10972800" cy="457200"/>
          </a:xfrm>
          <a:prstGeom prst="rect">
            <a:avLst/>
          </a:prstGeom>
          <a:noFill/>
        </p:spPr>
        <p:txBody>
          <a:bodyPr wrap="square">
            <a:spAutoFit/>
          </a:bodyPr>
          <a:lstStyle/>
          <a:p>
            <a:pPr algn="l"/>
            <a:r>
              <a:rPr sz="1100" b="1" i="0">
                <a:solidFill>
                  <a:srgbClr val="2ECC71"/>
                </a:solidFill>
              </a:rPr>
              <a:t>WHAT A PROPER REBUILD LOOKS LIKE</a:t>
            </a:r>
          </a:p>
        </p:txBody>
      </p:sp>
      <p:sp>
        <p:nvSpPr>
          <p:cNvPr id="5" name="TextBox 4"/>
          <p:cNvSpPr txBox="1"/>
          <p:nvPr/>
        </p:nvSpPr>
        <p:spPr>
          <a:xfrm>
            <a:off x="502920" y="640080"/>
            <a:ext cx="10972800" cy="640080"/>
          </a:xfrm>
          <a:prstGeom prst="rect">
            <a:avLst/>
          </a:prstGeom>
          <a:noFill/>
        </p:spPr>
        <p:txBody>
          <a:bodyPr wrap="square">
            <a:spAutoFit/>
          </a:bodyPr>
          <a:lstStyle/>
          <a:p>
            <a:pPr algn="l"/>
            <a:r>
              <a:rPr sz="3000" b="1" i="0">
                <a:solidFill>
                  <a:srgbClr val="FFFFFF"/>
                </a:solidFill>
              </a:rPr>
              <a:t>The Standard Rajendra University Deserves</a:t>
            </a:r>
          </a:p>
        </p:txBody>
      </p:sp>
      <p:sp>
        <p:nvSpPr>
          <p:cNvPr id="6" name="Rectangle 5"/>
          <p:cNvSpPr/>
          <p:nvPr/>
        </p:nvSpPr>
        <p:spPr>
          <a:xfrm>
            <a:off x="502920" y="1234440"/>
            <a:ext cx="1097280" cy="36576"/>
          </a:xfrm>
          <a:prstGeom prst="rect">
            <a:avLst/>
          </a:prstGeom>
          <a:solidFill>
            <a:srgbClr val="2ECC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02920" y="1481328"/>
            <a:ext cx="3657600" cy="5010912"/>
          </a:xfrm>
          <a:prstGeom prst="rect">
            <a:avLst/>
          </a:prstGeom>
          <a:solidFill>
            <a:srgbClr val="101B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02920" y="1481328"/>
            <a:ext cx="3657600" cy="457200"/>
          </a:xfrm>
          <a:prstGeom prst="rect">
            <a:avLst/>
          </a:prstGeom>
          <a:solidFill>
            <a:srgbClr val="2ECC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02920" y="1481328"/>
            <a:ext cx="3657600" cy="457200"/>
          </a:xfrm>
          <a:prstGeom prst="rect">
            <a:avLst/>
          </a:prstGeom>
          <a:noFill/>
        </p:spPr>
        <p:txBody>
          <a:bodyPr wrap="square">
            <a:spAutoFit/>
          </a:bodyPr>
          <a:lstStyle/>
          <a:p>
            <a:pPr algn="ctr"/>
            <a:r>
              <a:rPr sz="1200" b="1" i="0">
                <a:solidFill>
                  <a:srgbClr val="06091F"/>
                </a:solidFill>
              </a:rPr>
              <a:t>PHASE 1
Foundation</a:t>
            </a:r>
          </a:p>
        </p:txBody>
      </p:sp>
      <p:sp>
        <p:nvSpPr>
          <p:cNvPr id="10" name="TextBox 9"/>
          <p:cNvSpPr txBox="1"/>
          <p:nvPr/>
        </p:nvSpPr>
        <p:spPr>
          <a:xfrm>
            <a:off x="640080" y="2084831"/>
            <a:ext cx="3401568" cy="4206240"/>
          </a:xfrm>
          <a:prstGeom prst="rect">
            <a:avLst/>
          </a:prstGeom>
          <a:noFill/>
        </p:spPr>
        <p:txBody>
          <a:bodyPr wrap="square">
            <a:spAutoFit/>
          </a:bodyPr>
          <a:lstStyle/>
          <a:p>
            <a:pPr algn="l">
              <a:spcAft>
                <a:spcPts val="400"/>
              </a:spcAft>
            </a:pPr>
            <a:r>
              <a:rPr sz="1100" b="1">
                <a:solidFill>
                  <a:srgbClr val="2ECC71"/>
                </a:solidFill>
              </a:rPr>
              <a:t>• </a:t>
            </a:r>
            <a:r>
              <a:rPr sz="1200">
                <a:solidFill>
                  <a:srgbClr val="C8D4EE"/>
                </a:solidFill>
              </a:rPr>
              <a:t>University-owned domain: rajendrauniversity.ac.in (not a vendor subdomain)</a:t>
            </a:r>
          </a:p>
          <a:p>
            <a:pPr algn="l">
              <a:spcAft>
                <a:spcPts val="400"/>
              </a:spcAft>
            </a:pPr>
            <a:r>
              <a:rPr sz="1100" b="1">
                <a:solidFill>
                  <a:srgbClr val="2ECC71"/>
                </a:solidFill>
              </a:rPr>
              <a:t>• </a:t>
            </a:r>
            <a:r>
              <a:rPr sz="1200">
                <a:solidFill>
                  <a:srgbClr val="C8D4EE"/>
                </a:solidFill>
              </a:rPr>
              <a:t>CMS (WordPress/Drupal) so admin staff update content without a developer</a:t>
            </a:r>
          </a:p>
          <a:p>
            <a:pPr algn="l">
              <a:spcAft>
                <a:spcPts val="400"/>
              </a:spcAft>
            </a:pPr>
            <a:r>
              <a:rPr sz="1100" b="1">
                <a:solidFill>
                  <a:srgbClr val="2ECC71"/>
                </a:solidFill>
              </a:rPr>
              <a:t>• </a:t>
            </a:r>
            <a:r>
              <a:rPr sz="1200">
                <a:solidFill>
                  <a:srgbClr val="C8D4EE"/>
                </a:solidFill>
              </a:rPr>
              <a:t>Correct all placeholder data: real phone, real alumni, real scholars</a:t>
            </a:r>
          </a:p>
          <a:p>
            <a:pPr algn="l">
              <a:spcAft>
                <a:spcPts val="400"/>
              </a:spcAft>
            </a:pPr>
            <a:r>
              <a:rPr sz="1100" b="1">
                <a:solidFill>
                  <a:srgbClr val="2ECC71"/>
                </a:solidFill>
              </a:rPr>
              <a:t>• </a:t>
            </a:r>
            <a:r>
              <a:rPr sz="1200">
                <a:solidFill>
                  <a:srgbClr val="C8D4EE"/>
                </a:solidFill>
              </a:rPr>
              <a:t>Homepage redesign: campus photography, NAAC score, programme highlights</a:t>
            </a:r>
          </a:p>
          <a:p>
            <a:pPr algn="l"/>
            <a:r>
              <a:rPr sz="1100" b="1">
                <a:solidFill>
                  <a:srgbClr val="2ECC71"/>
                </a:solidFill>
              </a:rPr>
              <a:t>• </a:t>
            </a:r>
            <a:r>
              <a:rPr sz="1200">
                <a:solidFill>
                  <a:srgbClr val="C8D4EE"/>
                </a:solidFill>
              </a:rPr>
              <a:t>Functional navigation with all 9 top-level sections properly built out</a:t>
            </a:r>
          </a:p>
        </p:txBody>
      </p:sp>
      <p:sp>
        <p:nvSpPr>
          <p:cNvPr id="11" name="Rectangle 10"/>
          <p:cNvSpPr/>
          <p:nvPr/>
        </p:nvSpPr>
        <p:spPr>
          <a:xfrm>
            <a:off x="4389120" y="1481328"/>
            <a:ext cx="3657600" cy="5010912"/>
          </a:xfrm>
          <a:prstGeom prst="rect">
            <a:avLst/>
          </a:prstGeom>
          <a:solidFill>
            <a:srgbClr val="101B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389120" y="1481328"/>
            <a:ext cx="3657600" cy="457200"/>
          </a:xfrm>
          <a:prstGeom prst="rect">
            <a:avLst/>
          </a:prstGeom>
          <a:solidFill>
            <a:srgbClr val="FFC0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389120" y="1481328"/>
            <a:ext cx="3657600" cy="457200"/>
          </a:xfrm>
          <a:prstGeom prst="rect">
            <a:avLst/>
          </a:prstGeom>
          <a:noFill/>
        </p:spPr>
        <p:txBody>
          <a:bodyPr wrap="square">
            <a:spAutoFit/>
          </a:bodyPr>
          <a:lstStyle/>
          <a:p>
            <a:pPr algn="ctr"/>
            <a:r>
              <a:rPr sz="1200" b="1" i="0">
                <a:solidFill>
                  <a:srgbClr val="06091F"/>
                </a:solidFill>
              </a:rPr>
              <a:t>PHASE 2
Core Pages</a:t>
            </a:r>
          </a:p>
        </p:txBody>
      </p:sp>
      <p:sp>
        <p:nvSpPr>
          <p:cNvPr id="14" name="TextBox 13"/>
          <p:cNvSpPr txBox="1"/>
          <p:nvPr/>
        </p:nvSpPr>
        <p:spPr>
          <a:xfrm>
            <a:off x="4526280" y="2084831"/>
            <a:ext cx="3401568" cy="4206240"/>
          </a:xfrm>
          <a:prstGeom prst="rect">
            <a:avLst/>
          </a:prstGeom>
          <a:noFill/>
        </p:spPr>
        <p:txBody>
          <a:bodyPr wrap="square">
            <a:spAutoFit/>
          </a:bodyPr>
          <a:lstStyle/>
          <a:p>
            <a:pPr algn="l">
              <a:spcAft>
                <a:spcPts val="400"/>
              </a:spcAft>
            </a:pPr>
            <a:r>
              <a:rPr sz="1100" b="1">
                <a:solidFill>
                  <a:srgbClr val="FFC030"/>
                </a:solidFill>
              </a:rPr>
              <a:t>• </a:t>
            </a:r>
            <a:r>
              <a:rPr sz="1200">
                <a:solidFill>
                  <a:srgbClr val="C8D4EE"/>
                </a:solidFill>
              </a:rPr>
              <a:t>Department pages: all departments with faculty profiles, courses, research</a:t>
            </a:r>
          </a:p>
          <a:p>
            <a:pPr algn="l">
              <a:spcAft>
                <a:spcPts val="400"/>
              </a:spcAft>
            </a:pPr>
            <a:r>
              <a:rPr sz="1100" b="1">
                <a:solidFill>
                  <a:srgbClr val="FFC030"/>
                </a:solidFill>
              </a:rPr>
              <a:t>• </a:t>
            </a:r>
            <a:r>
              <a:rPr sz="1200">
                <a:solidFill>
                  <a:srgbClr val="C8D4EE"/>
                </a:solidFill>
              </a:rPr>
              <a:t>Admission hub: eligibility, fee structure, application process, dates</a:t>
            </a:r>
          </a:p>
          <a:p>
            <a:pPr algn="l">
              <a:spcAft>
                <a:spcPts val="400"/>
              </a:spcAft>
            </a:pPr>
            <a:r>
              <a:rPr sz="1100" b="1">
                <a:solidFill>
                  <a:srgbClr val="FFC030"/>
                </a:solidFill>
              </a:rPr>
              <a:t>• </a:t>
            </a:r>
            <a:r>
              <a:rPr sz="1200">
                <a:solidFill>
                  <a:srgbClr val="C8D4EE"/>
                </a:solidFill>
              </a:rPr>
              <a:t>Examination portal: schedule download, hall ticket, result link</a:t>
            </a:r>
          </a:p>
          <a:p>
            <a:pPr algn="l">
              <a:spcAft>
                <a:spcPts val="400"/>
              </a:spcAft>
            </a:pPr>
            <a:r>
              <a:rPr sz="1100" b="1">
                <a:solidFill>
                  <a:srgbClr val="FFC030"/>
                </a:solidFill>
              </a:rPr>
              <a:t>• </a:t>
            </a:r>
            <a:r>
              <a:rPr sz="1200">
                <a:solidFill>
                  <a:srgbClr val="C8D4EE"/>
                </a:solidFill>
              </a:rPr>
              <a:t>Research section: actual publications with titles, journals, DOIs</a:t>
            </a:r>
          </a:p>
          <a:p>
            <a:pPr algn="l"/>
            <a:r>
              <a:rPr sz="1100" b="1">
                <a:solidFill>
                  <a:srgbClr val="FFC030"/>
                </a:solidFill>
              </a:rPr>
              <a:t>• </a:t>
            </a:r>
            <a:r>
              <a:rPr sz="1200">
                <a:solidFill>
                  <a:srgbClr val="C8D4EE"/>
                </a:solidFill>
              </a:rPr>
              <a:t>News &amp; Events: date-filtered, searchable, with full articles and registration</a:t>
            </a:r>
          </a:p>
        </p:txBody>
      </p:sp>
      <p:sp>
        <p:nvSpPr>
          <p:cNvPr id="15" name="Rectangle 14"/>
          <p:cNvSpPr/>
          <p:nvPr/>
        </p:nvSpPr>
        <p:spPr>
          <a:xfrm>
            <a:off x="8275320" y="1481328"/>
            <a:ext cx="3657600" cy="5010912"/>
          </a:xfrm>
          <a:prstGeom prst="rect">
            <a:avLst/>
          </a:prstGeom>
          <a:solidFill>
            <a:srgbClr val="101B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275320" y="1481328"/>
            <a:ext cx="3657600" cy="457200"/>
          </a:xfrm>
          <a:prstGeom prst="rect">
            <a:avLst/>
          </a:prstGeom>
          <a:solidFill>
            <a:srgbClr val="4F8E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275320" y="1481328"/>
            <a:ext cx="3657600" cy="457200"/>
          </a:xfrm>
          <a:prstGeom prst="rect">
            <a:avLst/>
          </a:prstGeom>
          <a:noFill/>
        </p:spPr>
        <p:txBody>
          <a:bodyPr wrap="square">
            <a:spAutoFit/>
          </a:bodyPr>
          <a:lstStyle/>
          <a:p>
            <a:pPr algn="ctr"/>
            <a:r>
              <a:rPr sz="1200" b="1" i="0">
                <a:solidFill>
                  <a:srgbClr val="06091F"/>
                </a:solidFill>
              </a:rPr>
              <a:t>PHASE 3
Student Portal</a:t>
            </a:r>
          </a:p>
        </p:txBody>
      </p:sp>
      <p:sp>
        <p:nvSpPr>
          <p:cNvPr id="18" name="TextBox 17"/>
          <p:cNvSpPr txBox="1"/>
          <p:nvPr/>
        </p:nvSpPr>
        <p:spPr>
          <a:xfrm>
            <a:off x="8412480" y="2084831"/>
            <a:ext cx="3401568" cy="4206240"/>
          </a:xfrm>
          <a:prstGeom prst="rect">
            <a:avLst/>
          </a:prstGeom>
          <a:noFill/>
        </p:spPr>
        <p:txBody>
          <a:bodyPr wrap="square">
            <a:spAutoFit/>
          </a:bodyPr>
          <a:lstStyle/>
          <a:p>
            <a:pPr algn="l">
              <a:spcAft>
                <a:spcPts val="400"/>
              </a:spcAft>
            </a:pPr>
            <a:r>
              <a:rPr sz="1100" b="1">
                <a:solidFill>
                  <a:srgbClr val="4F8EFF"/>
                </a:solidFill>
              </a:rPr>
              <a:t>• </a:t>
            </a:r>
            <a:r>
              <a:rPr sz="1200">
                <a:solidFill>
                  <a:srgbClr val="C8D4EE"/>
                </a:solidFill>
              </a:rPr>
              <a:t>Student self-service: fee payment, marksheets, admit card, grievance form</a:t>
            </a:r>
          </a:p>
          <a:p>
            <a:pPr algn="l">
              <a:spcAft>
                <a:spcPts val="400"/>
              </a:spcAft>
            </a:pPr>
            <a:r>
              <a:rPr sz="1100" b="1">
                <a:solidFill>
                  <a:srgbClr val="4F8EFF"/>
                </a:solidFill>
              </a:rPr>
              <a:t>• </a:t>
            </a:r>
            <a:r>
              <a:rPr sz="1200">
                <a:solidFill>
                  <a:srgbClr val="C8D4EE"/>
                </a:solidFill>
              </a:rPr>
              <a:t>Library OPAC integration or link to catalogue</a:t>
            </a:r>
          </a:p>
          <a:p>
            <a:pPr algn="l">
              <a:spcAft>
                <a:spcPts val="400"/>
              </a:spcAft>
            </a:pPr>
            <a:r>
              <a:rPr sz="1100" b="1">
                <a:solidFill>
                  <a:srgbClr val="4F8EFF"/>
                </a:solidFill>
              </a:rPr>
              <a:t>• </a:t>
            </a:r>
            <a:r>
              <a:rPr sz="1200">
                <a:solidFill>
                  <a:srgbClr val="C8D4EE"/>
                </a:solidFill>
              </a:rPr>
              <a:t>Hostel application and information page</a:t>
            </a:r>
          </a:p>
          <a:p>
            <a:pPr algn="l">
              <a:spcAft>
                <a:spcPts val="400"/>
              </a:spcAft>
            </a:pPr>
            <a:r>
              <a:rPr sz="1100" b="1">
                <a:solidFill>
                  <a:srgbClr val="4F8EFF"/>
                </a:solidFill>
              </a:rPr>
              <a:t>• </a:t>
            </a:r>
            <a:r>
              <a:rPr sz="1200">
                <a:solidFill>
                  <a:srgbClr val="C8D4EE"/>
                </a:solidFill>
              </a:rPr>
              <a:t>Placement statistics with company names and packages</a:t>
            </a:r>
          </a:p>
          <a:p>
            <a:pPr algn="l"/>
            <a:r>
              <a:rPr sz="1100" b="1">
                <a:solidFill>
                  <a:srgbClr val="4F8EFF"/>
                </a:solidFill>
              </a:rPr>
              <a:t>• </a:t>
            </a:r>
            <a:r>
              <a:rPr sz="1200">
                <a:solidFill>
                  <a:srgbClr val="C8D4EE"/>
                </a:solidFill>
              </a:rPr>
              <a:t>Alumni directory with registration and batch-wise search</a:t>
            </a:r>
          </a:p>
        </p:txBody>
      </p:sp>
      <p:sp>
        <p:nvSpPr>
          <p:cNvPr id="19" name="Rectangle 18"/>
          <p:cNvSpPr/>
          <p:nvPr/>
        </p:nvSpPr>
        <p:spPr>
          <a:xfrm>
            <a:off x="502920" y="6492240"/>
            <a:ext cx="11183112" cy="256032"/>
          </a:xfrm>
          <a:prstGeom prst="rect">
            <a:avLst/>
          </a:prstGeom>
          <a:solidFill>
            <a:srgbClr val="101B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40080" y="6510528"/>
            <a:ext cx="10972800" cy="201168"/>
          </a:xfrm>
          <a:prstGeom prst="rect">
            <a:avLst/>
          </a:prstGeom>
          <a:noFill/>
        </p:spPr>
        <p:txBody>
          <a:bodyPr wrap="none">
            <a:spAutoFit/>
          </a:bodyPr>
          <a:lstStyle/>
          <a:p>
            <a:pPr algn="l"/>
            <a:r>
              <a:rPr sz="1000" b="0" i="0">
                <a:solidFill>
                  <a:srgbClr val="8A9BBB"/>
                </a:solidFill>
              </a:rPr>
              <a:t>Timeline: Phase 1 — 4 weeks  |  Phase 2 — 6–8 weeks  |  Phase 3 — 4–6 weeks  |  Total: 14–18 weeks for a complete, functional university digital presence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0609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9728" cy="6858000"/>
          </a:xfrm>
          <a:prstGeom prst="rect">
            <a:avLst/>
          </a:prstGeom>
          <a:solidFill>
            <a:srgbClr val="FFC0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74320"/>
            <a:ext cx="10972800" cy="457200"/>
          </a:xfrm>
          <a:prstGeom prst="rect">
            <a:avLst/>
          </a:prstGeom>
          <a:noFill/>
        </p:spPr>
        <p:txBody>
          <a:bodyPr wrap="square">
            <a:spAutoFit/>
          </a:bodyPr>
          <a:lstStyle/>
          <a:p>
            <a:pPr algn="l"/>
            <a:r>
              <a:rPr sz="1100" b="1" i="0">
                <a:solidFill>
                  <a:srgbClr val="FFC030"/>
                </a:solidFill>
              </a:rPr>
              <a:t>NEXT STEPS</a:t>
            </a:r>
          </a:p>
        </p:txBody>
      </p:sp>
      <p:sp>
        <p:nvSpPr>
          <p:cNvPr id="5" name="TextBox 4"/>
          <p:cNvSpPr txBox="1"/>
          <p:nvPr/>
        </p:nvSpPr>
        <p:spPr>
          <a:xfrm>
            <a:off x="502920" y="640080"/>
            <a:ext cx="10972800" cy="640080"/>
          </a:xfrm>
          <a:prstGeom prst="rect">
            <a:avLst/>
          </a:prstGeom>
          <a:noFill/>
        </p:spPr>
        <p:txBody>
          <a:bodyPr wrap="square">
            <a:spAutoFit/>
          </a:bodyPr>
          <a:lstStyle/>
          <a:p>
            <a:pPr algn="l"/>
            <a:r>
              <a:rPr sz="3000" b="1" i="0">
                <a:solidFill>
                  <a:srgbClr val="FFFFFF"/>
                </a:solidFill>
              </a:rPr>
              <a:t>From a Vendor Demo to a Real University Website</a:t>
            </a:r>
          </a:p>
        </p:txBody>
      </p:sp>
      <p:sp>
        <p:nvSpPr>
          <p:cNvPr id="6" name="Rectangle 5"/>
          <p:cNvSpPr/>
          <p:nvPr/>
        </p:nvSpPr>
        <p:spPr>
          <a:xfrm>
            <a:off x="502920" y="1234440"/>
            <a:ext cx="1097280" cy="36576"/>
          </a:xfrm>
          <a:prstGeom prst="rect">
            <a:avLst/>
          </a:prstGeom>
          <a:solidFill>
            <a:srgbClr val="FFC0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02920" y="1828800"/>
            <a:ext cx="11183112" cy="1188720"/>
          </a:xfrm>
          <a:prstGeom prst="rect">
            <a:avLst/>
          </a:prstGeom>
          <a:solidFill>
            <a:srgbClr val="101B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02920" y="1828800"/>
            <a:ext cx="914400" cy="1188720"/>
          </a:xfrm>
          <a:prstGeom prst="rect">
            <a:avLst/>
          </a:prstGeom>
          <a:solidFill>
            <a:srgbClr val="FFC0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02920" y="2011680"/>
            <a:ext cx="914400" cy="640080"/>
          </a:xfrm>
          <a:prstGeom prst="rect">
            <a:avLst/>
          </a:prstGeom>
          <a:noFill/>
        </p:spPr>
        <p:txBody>
          <a:bodyPr wrap="square">
            <a:spAutoFit/>
          </a:bodyPr>
          <a:lstStyle/>
          <a:p>
            <a:pPr algn="ctr"/>
            <a:r>
              <a:rPr sz="3600" b="1" i="0">
                <a:solidFill>
                  <a:srgbClr val="06091F"/>
                </a:solidFill>
              </a:rPr>
              <a:t>1</a:t>
            </a:r>
          </a:p>
        </p:txBody>
      </p:sp>
      <p:sp>
        <p:nvSpPr>
          <p:cNvPr id="10" name="TextBox 9"/>
          <p:cNvSpPr txBox="1"/>
          <p:nvPr/>
        </p:nvSpPr>
        <p:spPr>
          <a:xfrm>
            <a:off x="1554480" y="1965960"/>
            <a:ext cx="9144000" cy="411480"/>
          </a:xfrm>
          <a:prstGeom prst="rect">
            <a:avLst/>
          </a:prstGeom>
          <a:noFill/>
        </p:spPr>
        <p:txBody>
          <a:bodyPr wrap="square">
            <a:spAutoFit/>
          </a:bodyPr>
          <a:lstStyle/>
          <a:p>
            <a:pPr algn="l"/>
            <a:r>
              <a:rPr sz="1600" b="1" i="0">
                <a:solidFill>
                  <a:srgbClr val="FFFFFF"/>
                </a:solidFill>
              </a:rPr>
              <a:t>Discovery Call — 30 Minutes</a:t>
            </a:r>
          </a:p>
        </p:txBody>
      </p:sp>
      <p:sp>
        <p:nvSpPr>
          <p:cNvPr id="11" name="TextBox 10"/>
          <p:cNvSpPr txBox="1"/>
          <p:nvPr/>
        </p:nvSpPr>
        <p:spPr>
          <a:xfrm>
            <a:off x="1554480" y="2377440"/>
            <a:ext cx="9601200" cy="502920"/>
          </a:xfrm>
          <a:prstGeom prst="rect">
            <a:avLst/>
          </a:prstGeom>
          <a:noFill/>
        </p:spPr>
        <p:txBody>
          <a:bodyPr wrap="square">
            <a:spAutoFit/>
          </a:bodyPr>
          <a:lstStyle/>
          <a:p>
            <a:pPr algn="l"/>
            <a:r>
              <a:rPr sz="1250" b="0" i="0">
                <a:solidFill>
                  <a:srgbClr val="C8D4EE"/>
                </a:solidFill>
              </a:rPr>
              <a:t>We walk the Administration team through every specific finding in this audit with screen recordings — so there is no ambiguity about what is broken and why. No pitch, no commitment.</a:t>
            </a:r>
          </a:p>
        </p:txBody>
      </p:sp>
      <p:sp>
        <p:nvSpPr>
          <p:cNvPr id="12" name="Rectangle 11"/>
          <p:cNvSpPr/>
          <p:nvPr/>
        </p:nvSpPr>
        <p:spPr>
          <a:xfrm>
            <a:off x="502920" y="3200400"/>
            <a:ext cx="11183112" cy="1188720"/>
          </a:xfrm>
          <a:prstGeom prst="rect">
            <a:avLst/>
          </a:prstGeom>
          <a:solidFill>
            <a:srgbClr val="101B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02920" y="3200400"/>
            <a:ext cx="914400" cy="1188720"/>
          </a:xfrm>
          <a:prstGeom prst="rect">
            <a:avLst/>
          </a:prstGeom>
          <a:solidFill>
            <a:srgbClr val="FFC0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02920" y="3383280"/>
            <a:ext cx="914400" cy="640080"/>
          </a:xfrm>
          <a:prstGeom prst="rect">
            <a:avLst/>
          </a:prstGeom>
          <a:noFill/>
        </p:spPr>
        <p:txBody>
          <a:bodyPr wrap="square">
            <a:spAutoFit/>
          </a:bodyPr>
          <a:lstStyle/>
          <a:p>
            <a:pPr algn="ctr"/>
            <a:r>
              <a:rPr sz="3600" b="1" i="0">
                <a:solidFill>
                  <a:srgbClr val="06091F"/>
                </a:solidFill>
              </a:rPr>
              <a:t>2</a:t>
            </a:r>
          </a:p>
        </p:txBody>
      </p:sp>
      <p:sp>
        <p:nvSpPr>
          <p:cNvPr id="15" name="TextBox 14"/>
          <p:cNvSpPr txBox="1"/>
          <p:nvPr/>
        </p:nvSpPr>
        <p:spPr>
          <a:xfrm>
            <a:off x="1554480" y="3337560"/>
            <a:ext cx="9144000" cy="411480"/>
          </a:xfrm>
          <a:prstGeom prst="rect">
            <a:avLst/>
          </a:prstGeom>
          <a:noFill/>
        </p:spPr>
        <p:txBody>
          <a:bodyPr wrap="square">
            <a:spAutoFit/>
          </a:bodyPr>
          <a:lstStyle/>
          <a:p>
            <a:pPr algn="l"/>
            <a:r>
              <a:rPr sz="1600" b="1" i="0">
                <a:solidFill>
                  <a:srgbClr val="FFFFFF"/>
                </a:solidFill>
              </a:rPr>
              <a:t>Design Brief &amp; Sitemap Review</a:t>
            </a:r>
          </a:p>
        </p:txBody>
      </p:sp>
      <p:sp>
        <p:nvSpPr>
          <p:cNvPr id="16" name="TextBox 15"/>
          <p:cNvSpPr txBox="1"/>
          <p:nvPr/>
        </p:nvSpPr>
        <p:spPr>
          <a:xfrm>
            <a:off x="1554480" y="3749040"/>
            <a:ext cx="9601200" cy="502920"/>
          </a:xfrm>
          <a:prstGeom prst="rect">
            <a:avLst/>
          </a:prstGeom>
          <a:noFill/>
        </p:spPr>
        <p:txBody>
          <a:bodyPr wrap="square">
            <a:spAutoFit/>
          </a:bodyPr>
          <a:lstStyle/>
          <a:p>
            <a:pPr algn="l"/>
            <a:r>
              <a:rPr sz="1250" b="0" i="0">
                <a:solidFill>
                  <a:srgbClr val="C8D4EE"/>
                </a:solidFill>
              </a:rPr>
              <a:t>We produce a full sitemap covering all required pages, their content structure, and user journeys for the 4 primary audiences: prospective students, current students, faculty, and administrative bodies.</a:t>
            </a:r>
          </a:p>
        </p:txBody>
      </p:sp>
      <p:sp>
        <p:nvSpPr>
          <p:cNvPr id="17" name="Rectangle 16"/>
          <p:cNvSpPr/>
          <p:nvPr/>
        </p:nvSpPr>
        <p:spPr>
          <a:xfrm>
            <a:off x="502920" y="4572000"/>
            <a:ext cx="11183112" cy="1188720"/>
          </a:xfrm>
          <a:prstGeom prst="rect">
            <a:avLst/>
          </a:prstGeom>
          <a:solidFill>
            <a:srgbClr val="101B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02920" y="4572000"/>
            <a:ext cx="914400" cy="1188720"/>
          </a:xfrm>
          <a:prstGeom prst="rect">
            <a:avLst/>
          </a:prstGeom>
          <a:solidFill>
            <a:srgbClr val="FFC0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02920" y="4754880"/>
            <a:ext cx="914400" cy="640080"/>
          </a:xfrm>
          <a:prstGeom prst="rect">
            <a:avLst/>
          </a:prstGeom>
          <a:noFill/>
        </p:spPr>
        <p:txBody>
          <a:bodyPr wrap="square">
            <a:spAutoFit/>
          </a:bodyPr>
          <a:lstStyle/>
          <a:p>
            <a:pPr algn="ctr"/>
            <a:r>
              <a:rPr sz="3600" b="1" i="0">
                <a:solidFill>
                  <a:srgbClr val="06091F"/>
                </a:solidFill>
              </a:rPr>
              <a:t>3</a:t>
            </a:r>
          </a:p>
        </p:txBody>
      </p:sp>
      <p:sp>
        <p:nvSpPr>
          <p:cNvPr id="20" name="TextBox 19"/>
          <p:cNvSpPr txBox="1"/>
          <p:nvPr/>
        </p:nvSpPr>
        <p:spPr>
          <a:xfrm>
            <a:off x="1554480" y="4709160"/>
            <a:ext cx="9144000" cy="411480"/>
          </a:xfrm>
          <a:prstGeom prst="rect">
            <a:avLst/>
          </a:prstGeom>
          <a:noFill/>
        </p:spPr>
        <p:txBody>
          <a:bodyPr wrap="square">
            <a:spAutoFit/>
          </a:bodyPr>
          <a:lstStyle/>
          <a:p>
            <a:pPr algn="l"/>
            <a:r>
              <a:rPr sz="1600" b="1" i="0">
                <a:solidFill>
                  <a:srgbClr val="FFFFFF"/>
                </a:solidFill>
              </a:rPr>
              <a:t>Phased Rebuild with Handover Training</a:t>
            </a:r>
          </a:p>
        </p:txBody>
      </p:sp>
      <p:sp>
        <p:nvSpPr>
          <p:cNvPr id="21" name="TextBox 20"/>
          <p:cNvSpPr txBox="1"/>
          <p:nvPr/>
        </p:nvSpPr>
        <p:spPr>
          <a:xfrm>
            <a:off x="1554480" y="5120640"/>
            <a:ext cx="9601200" cy="502920"/>
          </a:xfrm>
          <a:prstGeom prst="rect">
            <a:avLst/>
          </a:prstGeom>
          <a:noFill/>
        </p:spPr>
        <p:txBody>
          <a:bodyPr wrap="square">
            <a:spAutoFit/>
          </a:bodyPr>
          <a:lstStyle/>
          <a:p>
            <a:pPr algn="l"/>
            <a:r>
              <a:rPr sz="1250" b="0" i="0">
                <a:solidFill>
                  <a:srgbClr val="C8D4EE"/>
                </a:solidFill>
              </a:rPr>
              <a:t>We build on a proper CMS with full documentation and staff training so the university team can update notices, results, events, and news independently without requiring the vendor for every change.</a:t>
            </a:r>
          </a:p>
        </p:txBody>
      </p:sp>
      <p:sp>
        <p:nvSpPr>
          <p:cNvPr id="22" name="Rectangle 21"/>
          <p:cNvSpPr/>
          <p:nvPr/>
        </p:nvSpPr>
        <p:spPr>
          <a:xfrm>
            <a:off x="0" y="5943600"/>
            <a:ext cx="12188952" cy="914400"/>
          </a:xfrm>
          <a:prstGeom prst="rect">
            <a:avLst/>
          </a:prstGeom>
          <a:solidFill>
            <a:srgbClr val="4F8E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02920" y="6035040"/>
            <a:ext cx="11183112" cy="502920"/>
          </a:xfrm>
          <a:prstGeom prst="rect">
            <a:avLst/>
          </a:prstGeom>
          <a:noFill/>
        </p:spPr>
        <p:txBody>
          <a:bodyPr wrap="square">
            <a:spAutoFit/>
          </a:bodyPr>
          <a:lstStyle/>
          <a:p>
            <a:pPr algn="ctr"/>
            <a:r>
              <a:rPr sz="1400" b="1" i="0">
                <a:solidFill>
                  <a:srgbClr val="FFFFFF"/>
                </a:solidFill>
              </a:rPr>
              <a:t>Rohan Malik  ·  CEO, Genos AI  ·  hello@genosai.tech  ·  +91 638-714-2699  ·  www.genosai.tech</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