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00B4D8"/>
                </a:solidFill>
              </a:rPr>
              <a:t>HOUSING FOR COMMUNITIES, INC.</a:t>
            </a:r>
          </a:p>
        </p:txBody>
      </p:sp>
      <p:sp>
        <p:nvSpPr>
          <p:cNvPr id="8" name="TextBox 7"/>
          <p:cNvSpPr txBox="1"/>
          <p:nvPr/>
        </p:nvSpPr>
        <p:spPr>
          <a:xfrm>
            <a:off x="502920" y="1874519"/>
            <a:ext cx="8229600" cy="1645920"/>
          </a:xfrm>
          <a:prstGeom prst="rect">
            <a:avLst/>
          </a:prstGeom>
          <a:noFill/>
        </p:spPr>
        <p:txBody>
          <a:bodyPr wrap="square">
            <a:spAutoFit/>
          </a:bodyPr>
          <a:lstStyle/>
          <a:p>
            <a:pPr algn="l"/>
            <a:r>
              <a:rPr sz="4400" b="1" i="0">
                <a:solidFill>
                  <a:srgbClr val="FFFFFF"/>
                </a:solidFill>
              </a:rPr>
              <a:t>Website &amp; AI Audit
for a 4-Person Mission</a:t>
            </a:r>
          </a:p>
        </p:txBody>
      </p:sp>
      <p:sp>
        <p:nvSpPr>
          <p:cNvPr id="9" name="Rectangle 8"/>
          <p:cNvSpPr/>
          <p:nvPr/>
        </p:nvSpPr>
        <p:spPr>
          <a:xfrm>
            <a:off x="502920" y="3520440"/>
            <a:ext cx="27432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Andrea N. Frymire, CCIM - President &amp; CEO</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11,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00B4D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Andrea Frymire and Housing for Communities</a:t>
            </a:r>
          </a:p>
        </p:txBody>
      </p:sp>
      <p:sp>
        <p:nvSpPr>
          <p:cNvPr id="6" name="Rectangle 5"/>
          <p:cNvSpPr/>
          <p:nvPr/>
        </p:nvSpPr>
        <p:spPr>
          <a:xfrm>
            <a:off x="502920" y="1234440"/>
            <a:ext cx="109728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000" b="1" i="0">
                <a:solidFill>
                  <a:srgbClr val="00B4D8"/>
                </a:solidFill>
              </a:rPr>
              <a:t>25+ yrs</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100" b="0" i="0">
                <a:solidFill>
                  <a:srgbClr val="C8D4EE"/>
                </a:solidFill>
              </a:rPr>
              <a:t>In commercial real estate
&amp; affordable housing</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000" b="1" i="0">
                <a:solidFill>
                  <a:srgbClr val="00B4D8"/>
                </a:solidFill>
              </a:rPr>
              <a:t>4 people</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100" b="0" i="0">
                <a:solidFill>
                  <a:srgbClr val="C8D4EE"/>
                </a:solidFill>
              </a:rPr>
              <a:t>Running training,
consulting, development</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000" b="1" i="0">
                <a:solidFill>
                  <a:srgbClr val="00B4D8"/>
                </a:solidFill>
              </a:rPr>
              <a:t>3 pillars</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100" b="0" i="0">
                <a:solidFill>
                  <a:srgbClr val="C8D4EE"/>
                </a:solidFill>
              </a:rPr>
              <a:t>Training | Consulting
| Development</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000" b="1" i="0">
                <a:solidFill>
                  <a:srgbClr val="00B4D8"/>
                </a:solidFill>
              </a:rPr>
              <a:t>8 days</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100" b="0" i="0">
                <a:solidFill>
                  <a:srgbClr val="C8D4EE"/>
                </a:solidFill>
              </a:rPr>
              <a:t>Until Senior Housing
Conference (May 19)</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000" b="1" i="0">
                <a:solidFill>
                  <a:srgbClr val="00B4D8"/>
                </a:solidFill>
              </a:rPr>
              <a:t>CCIM</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100" b="0" i="0">
                <a:solidFill>
                  <a:srgbClr val="C8D4EE"/>
                </a:solidFill>
              </a:rPr>
              <a:t>+ 2021 CRE Advocate
of the Year</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100" b="0" i="0">
                <a:solidFill>
                  <a:srgbClr val="C8D4EE"/>
                </a:solidFill>
              </a:rPr>
              <a:t>501(c)(3) non-profit  |  Founded 2023, OKC  |  Walmart &amp; Sam's Club Spark Good Local Grants  |  Partners: Earthly Dwelling, Housing Forward, NCOA</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00B4D8"/>
                </a:solidFill>
              </a:rPr>
              <a:t>ANDREA'S BACKGROUND</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President &amp; CEO since 2023 - 25+ years CRE &amp; affordable housing</a:t>
            </a:r>
          </a:p>
          <a:p>
            <a:pPr algn="l">
              <a:spcAft>
                <a:spcPts val="600"/>
              </a:spcAft>
            </a:pPr>
            <a:r>
              <a:rPr sz="1000"/>
              <a:t>  </a:t>
            </a:r>
            <a:r>
              <a:rPr sz="1000" b="1">
                <a:solidFill>
                  <a:srgbClr val="4F8EFF"/>
                </a:solidFill>
              </a:rPr>
              <a:t>* </a:t>
            </a:r>
            <a:r>
              <a:rPr sz="1200">
                <a:solidFill>
                  <a:srgbClr val="C8D4EE"/>
                </a:solidFill>
              </a:rPr>
              <a:t>BS Finance Radford U; Master's Real Estate; CCIM designation</a:t>
            </a:r>
          </a:p>
          <a:p>
            <a:pPr algn="l">
              <a:spcAft>
                <a:spcPts val="600"/>
              </a:spcAft>
            </a:pPr>
            <a:r>
              <a:rPr sz="1000"/>
              <a:t>  </a:t>
            </a:r>
            <a:r>
              <a:rPr sz="1000" b="1">
                <a:solidFill>
                  <a:srgbClr val="4F8EFF"/>
                </a:solidFill>
              </a:rPr>
              <a:t>* </a:t>
            </a:r>
            <a:r>
              <a:rPr sz="1200">
                <a:solidFill>
                  <a:srgbClr val="C8D4EE"/>
                </a:solidFill>
              </a:rPr>
              <a:t>Founder &amp; Inaugural Board President, Oklahoma Coalition for Affordable Housing</a:t>
            </a:r>
          </a:p>
          <a:p>
            <a:pPr algn="l"/>
            <a:r>
              <a:rPr sz="1000"/>
              <a:t>  </a:t>
            </a:r>
            <a:r>
              <a:rPr sz="1000" b="1">
                <a:solidFill>
                  <a:srgbClr val="4F8EFF"/>
                </a:solidFill>
              </a:rPr>
              <a:t>* </a:t>
            </a:r>
            <a:r>
              <a:rPr sz="1200">
                <a:solidFill>
                  <a:srgbClr val="C8D4EE"/>
                </a:solidFill>
              </a:rPr>
              <a:t>Board President again 2025 for Coalition's 10-year anniversary</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00B4D8"/>
                </a:solidFill>
              </a:rPr>
              <a:t>WHAT HOUSING FOR COMMUNITIES DOES</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Training: workshops, CEUs for housing professionals</a:t>
            </a:r>
          </a:p>
          <a:p>
            <a:pPr algn="l">
              <a:spcAft>
                <a:spcPts val="600"/>
              </a:spcAft>
            </a:pPr>
            <a:r>
              <a:rPr sz="1000"/>
              <a:t>  </a:t>
            </a:r>
            <a:r>
              <a:rPr sz="1000" b="1">
                <a:solidFill>
                  <a:srgbClr val="4F8EFF"/>
                </a:solidFill>
              </a:rPr>
              <a:t>* </a:t>
            </a:r>
            <a:r>
              <a:rPr sz="1200">
                <a:solidFill>
                  <a:srgbClr val="C8D4EE"/>
                </a:solidFill>
              </a:rPr>
              <a:t>Consulting: affordable housing strategy &amp; development</a:t>
            </a:r>
          </a:p>
          <a:p>
            <a:pPr algn="l">
              <a:spcAft>
                <a:spcPts val="600"/>
              </a:spcAft>
            </a:pPr>
            <a:r>
              <a:rPr sz="1000"/>
              <a:t>  </a:t>
            </a:r>
            <a:r>
              <a:rPr sz="1000" b="1">
                <a:solidFill>
                  <a:srgbClr val="4F8EFF"/>
                </a:solidFill>
              </a:rPr>
              <a:t>* </a:t>
            </a:r>
            <a:r>
              <a:rPr sz="1200">
                <a:solidFill>
                  <a:srgbClr val="C8D4EE"/>
                </a:solidFill>
              </a:rPr>
              <a:t>Development: production &amp; preservation of affordable units</a:t>
            </a:r>
          </a:p>
          <a:p>
            <a:pPr algn="l"/>
            <a:r>
              <a:rPr sz="1000"/>
              <a:t>  </a:t>
            </a:r>
            <a:r>
              <a:rPr sz="1000" b="1">
                <a:solidFill>
                  <a:srgbClr val="4F8EFF"/>
                </a:solidFill>
              </a:rPr>
              <a:t>* </a:t>
            </a:r>
            <a:r>
              <a:rPr sz="1200">
                <a:solidFill>
                  <a:srgbClr val="C8D4EE"/>
                </a:solidFill>
              </a:rPr>
              <a:t>Senior Housing Conference May 19, 2026 - Metro Tech OKC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2400" b="1" i="0">
                <a:solidFill>
                  <a:srgbClr val="FFFFFF"/>
                </a:solidFill>
              </a:rPr>
              <a:t>A Mission-Driven Organization with Real Credibility - and a Conference in 8 Days</a:t>
            </a:r>
          </a:p>
        </p:txBody>
      </p:sp>
      <p:sp>
        <p:nvSpPr>
          <p:cNvPr id="6" name="Rectangle 5"/>
          <p:cNvSpPr/>
          <p:nvPr/>
        </p:nvSpPr>
        <p:spPr>
          <a:xfrm>
            <a:off x="502920" y="132588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300" b="1" i="0">
                <a:solidFill>
                  <a:srgbClr val="FFFFFF"/>
                </a:solidFill>
              </a:rPr>
              <a:t>Andrea's Credibility Opens Doors That Small Non-Profits Cannot</a:t>
            </a:r>
          </a:p>
        </p:txBody>
      </p:sp>
      <p:sp>
        <p:nvSpPr>
          <p:cNvPr id="9" name="TextBox 8"/>
          <p:cNvSpPr txBox="1"/>
          <p:nvPr/>
        </p:nvSpPr>
        <p:spPr>
          <a:xfrm>
            <a:off x="685800" y="1874520"/>
            <a:ext cx="10789920" cy="548640"/>
          </a:xfrm>
          <a:prstGeom prst="rect">
            <a:avLst/>
          </a:prstGeom>
          <a:noFill/>
        </p:spPr>
        <p:txBody>
          <a:bodyPr wrap="square">
            <a:spAutoFit/>
          </a:bodyPr>
          <a:lstStyle/>
          <a:p>
            <a:pPr algn="l"/>
            <a:r>
              <a:rPr sz="1100" b="0" i="0">
                <a:solidFill>
                  <a:srgbClr val="C8D4EE"/>
                </a:solidFill>
              </a:rPr>
              <a:t>25 years in commercial real estate, CCIM designation, Master's in Real Estate, Broker/Owner of Oklahoma Investment Realty, Founder and Board President of the Oklahoma Coalition for Affordable Housing - now in its 10-year anniversary year. 2021 Commercial Real Estate Advocate of the Year. Andrea has helped form 8+ real estate non-profits. The credibility ceiling for Housing for Communities is much higher than the current website signals - the website is the bottleneck, not the brand.</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300" b="1" i="0">
                <a:solidFill>
                  <a:srgbClr val="FFFFFF"/>
                </a:solidFill>
              </a:rPr>
              <a:t>The Senior Housing Conference Is a Real Asset, Not a One-Off</a:t>
            </a:r>
          </a:p>
        </p:txBody>
      </p:sp>
      <p:sp>
        <p:nvSpPr>
          <p:cNvPr id="12" name="TextBox 11"/>
          <p:cNvSpPr txBox="1"/>
          <p:nvPr/>
        </p:nvSpPr>
        <p:spPr>
          <a:xfrm>
            <a:off x="685800" y="2834640"/>
            <a:ext cx="10789920" cy="548640"/>
          </a:xfrm>
          <a:prstGeom prst="rect">
            <a:avLst/>
          </a:prstGeom>
          <a:noFill/>
        </p:spPr>
        <p:txBody>
          <a:bodyPr wrap="square">
            <a:spAutoFit/>
          </a:bodyPr>
          <a:lstStyle/>
          <a:p>
            <a:pPr algn="l"/>
            <a:r>
              <a:rPr sz="1100" b="0" i="0">
                <a:solidFill>
                  <a:srgbClr val="C8D4EE"/>
                </a:solidFill>
              </a:rPr>
              <a:t>Safe, Stable &amp; Supported on May 19 at Metro Tech OKC brings together housing professionals, service providers, advocates, developers, and community leaders for one day with CEUs, networking, and policy content. The AGING20 promo, the early-bird ladder, and the speaker line-up all show operational discipline. This is a platform that should pay back into Training and Consulting pipeline year-round - if the website infrastructure captures and nurtures attendees afterward.</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300" b="1" i="0">
                <a:solidFill>
                  <a:srgbClr val="FFFFFF"/>
                </a:solidFill>
              </a:rPr>
              <a:t>Walmart &amp; Sam's Club Spark Good Grant Recognition Validates the Mission</a:t>
            </a:r>
          </a:p>
        </p:txBody>
      </p:sp>
      <p:sp>
        <p:nvSpPr>
          <p:cNvPr id="15" name="TextBox 14"/>
          <p:cNvSpPr txBox="1"/>
          <p:nvPr/>
        </p:nvSpPr>
        <p:spPr>
          <a:xfrm>
            <a:off x="685800" y="3794760"/>
            <a:ext cx="10789920" cy="548640"/>
          </a:xfrm>
          <a:prstGeom prst="rect">
            <a:avLst/>
          </a:prstGeom>
          <a:noFill/>
        </p:spPr>
        <p:txBody>
          <a:bodyPr wrap="square">
            <a:spAutoFit/>
          </a:bodyPr>
          <a:lstStyle/>
          <a:p>
            <a:pPr algn="l"/>
            <a:r>
              <a:rPr sz="1100" b="0" i="0">
                <a:solidFill>
                  <a:srgbClr val="C8D4EE"/>
                </a:solidFill>
              </a:rPr>
              <a:t>Receiving Spark Good Local Grants from both Walmart Neighborhood Market Midwest City and Sam's Club Distribution Center in the same year is not a coincidence - it is corporate validation of the work. Most 2-year-old non-profits do not have this kind of credibility from major corporate funders. This is a fundraising story the website is currently not telling.</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300" b="1" i="0">
                <a:solidFill>
                  <a:srgbClr val="FFFFFF"/>
                </a:solidFill>
              </a:rPr>
              <a:t>Three Service Pillars Are Clearly Defined</a:t>
            </a:r>
          </a:p>
        </p:txBody>
      </p:sp>
      <p:sp>
        <p:nvSpPr>
          <p:cNvPr id="18" name="TextBox 17"/>
          <p:cNvSpPr txBox="1"/>
          <p:nvPr/>
        </p:nvSpPr>
        <p:spPr>
          <a:xfrm>
            <a:off x="685800" y="4754880"/>
            <a:ext cx="10789920" cy="548640"/>
          </a:xfrm>
          <a:prstGeom prst="rect">
            <a:avLst/>
          </a:prstGeom>
          <a:noFill/>
        </p:spPr>
        <p:txBody>
          <a:bodyPr wrap="square">
            <a:spAutoFit/>
          </a:bodyPr>
          <a:lstStyle/>
          <a:p>
            <a:pPr algn="l"/>
            <a:r>
              <a:rPr sz="1100" b="0" i="0">
                <a:solidFill>
                  <a:srgbClr val="C8D4EE"/>
                </a:solidFill>
              </a:rPr>
              <a:t>Training, Consulting, Development. Most non-profits struggle to articulate even one of these. Having three with clear scope is a strategic strength - and it makes the website automation work much more straightforward. Each pillar has a different prospect, a different qualifying question, a different routing path. The structure exists; it just is not surfaced through the form layer.</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300" b="1" i="0">
                <a:solidFill>
                  <a:srgbClr val="FFFFFF"/>
                </a:solidFill>
              </a:rPr>
              <a:t>Cross-Organization Reach via the OK Coalition Multiplier</a:t>
            </a:r>
          </a:p>
        </p:txBody>
      </p:sp>
      <p:sp>
        <p:nvSpPr>
          <p:cNvPr id="21" name="TextBox 20"/>
          <p:cNvSpPr txBox="1"/>
          <p:nvPr/>
        </p:nvSpPr>
        <p:spPr>
          <a:xfrm>
            <a:off x="685800" y="5715000"/>
            <a:ext cx="10789920" cy="548640"/>
          </a:xfrm>
          <a:prstGeom prst="rect">
            <a:avLst/>
          </a:prstGeom>
          <a:noFill/>
        </p:spPr>
        <p:txBody>
          <a:bodyPr wrap="square">
            <a:spAutoFit/>
          </a:bodyPr>
          <a:lstStyle/>
          <a:p>
            <a:pPr algn="l"/>
            <a:r>
              <a:rPr sz="1100" b="0" i="0">
                <a:solidFill>
                  <a:srgbClr val="C8D4EE"/>
                </a:solidFill>
              </a:rPr>
              <a:t>Andrea is simultaneously CEO of Housing for Communities AND Board President of the Oklahoma Coalition for Affordable Housing during its 10-year anniversary year. That is two organizations of audience reach for one website upgrade. Coalition events, members, and policy momentum can be cross-promoted through Housing for Communities' digital channels with no incremental marketing spend.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THREE GAPS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A 4-Person Team. Three Service Lines. One Generic Inbox.</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611880" cy="4572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91640"/>
            <a:ext cx="3392424" cy="384048"/>
          </a:xfrm>
          <a:prstGeom prst="rect">
            <a:avLst/>
          </a:prstGeom>
          <a:noFill/>
        </p:spPr>
        <p:txBody>
          <a:bodyPr wrap="square">
            <a:spAutoFit/>
          </a:bodyPr>
          <a:lstStyle/>
          <a:p>
            <a:pPr algn="ctr"/>
            <a:r>
              <a:rPr sz="1100" b="1" i="0">
                <a:solidFill>
                  <a:srgbClr val="0A0F2E"/>
                </a:solidFill>
              </a:rPr>
              <a:t>GAP 1
INBOX BOTTLENECK
(EVENT URGENCY)</a:t>
            </a:r>
          </a:p>
        </p:txBody>
      </p:sp>
      <p:sp>
        <p:nvSpPr>
          <p:cNvPr id="9" name="Rectangle 8"/>
          <p:cNvSpPr/>
          <p:nvPr/>
        </p:nvSpPr>
        <p:spPr>
          <a:xfrm>
            <a:off x="502920"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176272"/>
            <a:ext cx="3392424" cy="320040"/>
          </a:xfrm>
          <a:prstGeom prst="rect">
            <a:avLst/>
          </a:prstGeom>
          <a:noFill/>
        </p:spPr>
        <p:txBody>
          <a:bodyPr wrap="square">
            <a:spAutoFit/>
          </a:bodyPr>
          <a:lstStyle/>
          <a:p>
            <a:pPr algn="l"/>
            <a:r>
              <a:rPr sz="1000" b="0" i="1">
                <a:solidFill>
                  <a:srgbClr val="FF4D4D"/>
                </a:solidFill>
              </a:rPr>
              <a:t>Where the May 19 conference inquiries land</a:t>
            </a:r>
          </a:p>
        </p:txBody>
      </p:sp>
      <p:sp>
        <p:nvSpPr>
          <p:cNvPr id="11" name="TextBox 10"/>
          <p:cNvSpPr txBox="1"/>
          <p:nvPr/>
        </p:nvSpPr>
        <p:spPr>
          <a:xfrm>
            <a:off x="612648" y="2542032"/>
            <a:ext cx="3392424" cy="35661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8 days from this audit, a major event - questions about AGING20, CEU paperwork, parking, agenda all hit info@</a:t>
            </a:r>
          </a:p>
          <a:p>
            <a:pPr algn="l">
              <a:spcAft>
                <a:spcPts val="600"/>
              </a:spcAft>
            </a:pPr>
            <a:r>
              <a:rPr sz="900"/>
              <a:t>  </a:t>
            </a:r>
            <a:r>
              <a:rPr sz="900" b="1">
                <a:solidFill>
                  <a:srgbClr val="FF4D4D"/>
                </a:solidFill>
              </a:rPr>
              <a:t>* </a:t>
            </a:r>
            <a:r>
              <a:rPr sz="1100">
                <a:solidFill>
                  <a:srgbClr val="C8D4EE"/>
                </a:solidFill>
              </a:rPr>
              <a:t>No chatbot, no FAQ, no self-service - every question requires Madeline or Bailey to type a reply</a:t>
            </a:r>
          </a:p>
          <a:p>
            <a:pPr algn="l">
              <a:spcAft>
                <a:spcPts val="600"/>
              </a:spcAft>
            </a:pPr>
            <a:r>
              <a:rPr sz="900"/>
              <a:t>  </a:t>
            </a:r>
            <a:r>
              <a:rPr sz="900" b="1">
                <a:solidFill>
                  <a:srgbClr val="FF4D4D"/>
                </a:solidFill>
              </a:rPr>
              <a:t>* </a:t>
            </a:r>
            <a:r>
              <a:rPr sz="1100">
                <a:solidFill>
                  <a:srgbClr val="C8D4EE"/>
                </a:solidFill>
              </a:rPr>
              <a:t>Routine conference questions absorb hours of team capacity that should go to attendee experience and content</a:t>
            </a:r>
          </a:p>
          <a:p>
            <a:pPr algn="l"/>
            <a:r>
              <a:rPr sz="900"/>
              <a:t>  </a:t>
            </a:r>
            <a:r>
              <a:rPr sz="900" b="1">
                <a:solidFill>
                  <a:srgbClr val="FF4D4D"/>
                </a:solidFill>
              </a:rPr>
              <a:t>* </a:t>
            </a:r>
            <a:r>
              <a:rPr sz="1100">
                <a:solidFill>
                  <a:srgbClr val="C8D4EE"/>
                </a:solidFill>
              </a:rPr>
              <a:t>Same gap will repeat at every future conference - and there's a 2027 to plan</a:t>
            </a:r>
          </a:p>
        </p:txBody>
      </p:sp>
      <p:sp>
        <p:nvSpPr>
          <p:cNvPr id="12" name="Rectangle 11"/>
          <p:cNvSpPr/>
          <p:nvPr/>
        </p:nvSpPr>
        <p:spPr>
          <a:xfrm>
            <a:off x="4279392" y="1645920"/>
            <a:ext cx="3611880" cy="4572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691640"/>
            <a:ext cx="3392424" cy="384048"/>
          </a:xfrm>
          <a:prstGeom prst="rect">
            <a:avLst/>
          </a:prstGeom>
          <a:noFill/>
        </p:spPr>
        <p:txBody>
          <a:bodyPr wrap="square">
            <a:spAutoFit/>
          </a:bodyPr>
          <a:lstStyle/>
          <a:p>
            <a:pPr algn="ctr"/>
            <a:r>
              <a:rPr sz="1100" b="1" i="0">
                <a:solidFill>
                  <a:srgbClr val="0A0F2E"/>
                </a:solidFill>
              </a:rPr>
              <a:t>GAP 2
ONE FORM FOR
THREE BUSINESSES</a:t>
            </a:r>
          </a:p>
        </p:txBody>
      </p:sp>
      <p:sp>
        <p:nvSpPr>
          <p:cNvPr id="14" name="Rectangle 13"/>
          <p:cNvSpPr/>
          <p:nvPr/>
        </p:nvSpPr>
        <p:spPr>
          <a:xfrm>
            <a:off x="4279392"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176272"/>
            <a:ext cx="3392424" cy="320040"/>
          </a:xfrm>
          <a:prstGeom prst="rect">
            <a:avLst/>
          </a:prstGeom>
          <a:noFill/>
        </p:spPr>
        <p:txBody>
          <a:bodyPr wrap="square">
            <a:spAutoFit/>
          </a:bodyPr>
          <a:lstStyle/>
          <a:p>
            <a:pPr algn="l"/>
            <a:r>
              <a:rPr sz="1000" b="0" i="1">
                <a:solidFill>
                  <a:srgbClr val="F5C518"/>
                </a:solidFill>
              </a:rPr>
              <a:t>Training, Consulting, Development - all the same intake</a:t>
            </a:r>
          </a:p>
        </p:txBody>
      </p:sp>
      <p:sp>
        <p:nvSpPr>
          <p:cNvPr id="16" name="TextBox 15"/>
          <p:cNvSpPr txBox="1"/>
          <p:nvPr/>
        </p:nvSpPr>
        <p:spPr>
          <a:xfrm>
            <a:off x="4389120" y="2542032"/>
            <a:ext cx="3392424" cy="35661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4-field contact form (first, last, email, message) handles training enrollment, consulting RFPs, and development partnerships identically</a:t>
            </a:r>
          </a:p>
          <a:p>
            <a:pPr algn="l">
              <a:spcAft>
                <a:spcPts val="600"/>
              </a:spcAft>
            </a:pPr>
            <a:r>
              <a:rPr sz="900"/>
              <a:t>  </a:t>
            </a:r>
            <a:r>
              <a:rPr sz="900" b="1">
                <a:solidFill>
                  <a:srgbClr val="F5C518"/>
                </a:solidFill>
              </a:rPr>
              <a:t>* </a:t>
            </a:r>
            <a:r>
              <a:rPr sz="1100">
                <a:solidFill>
                  <a:srgbClr val="C8D4EE"/>
                </a:solidFill>
              </a:rPr>
              <a:t>No qualifying detail captured - every inquiry needs a back-and-forth before it can be routed</a:t>
            </a:r>
          </a:p>
          <a:p>
            <a:pPr algn="l">
              <a:spcAft>
                <a:spcPts val="600"/>
              </a:spcAft>
            </a:pPr>
            <a:r>
              <a:rPr sz="900"/>
              <a:t>  </a:t>
            </a:r>
            <a:r>
              <a:rPr sz="900" b="1">
                <a:solidFill>
                  <a:srgbClr val="F5C518"/>
                </a:solidFill>
              </a:rPr>
              <a:t>* </a:t>
            </a:r>
            <a:r>
              <a:rPr sz="1100">
                <a:solidFill>
                  <a:srgbClr val="C8D4EE"/>
                </a:solidFill>
              </a:rPr>
              <a:t>Bailey (Development) and Andrea (Consulting) get inquiries with no project type, timeline, geography, or budget signal</a:t>
            </a:r>
          </a:p>
          <a:p>
            <a:pPr algn="l"/>
            <a:r>
              <a:rPr sz="900"/>
              <a:t>  </a:t>
            </a:r>
            <a:r>
              <a:rPr sz="900" b="1">
                <a:solidFill>
                  <a:srgbClr val="F5C518"/>
                </a:solidFill>
              </a:rPr>
              <a:t>* </a:t>
            </a:r>
            <a:r>
              <a:rPr sz="1100">
                <a:solidFill>
                  <a:srgbClr val="C8D4EE"/>
                </a:solidFill>
              </a:rPr>
              <a:t>Qualified consulting leads get the same treatment as a CEU question</a:t>
            </a:r>
          </a:p>
        </p:txBody>
      </p:sp>
      <p:sp>
        <p:nvSpPr>
          <p:cNvPr id="17" name="Rectangle 16"/>
          <p:cNvSpPr/>
          <p:nvPr/>
        </p:nvSpPr>
        <p:spPr>
          <a:xfrm>
            <a:off x="8055864" y="1645920"/>
            <a:ext cx="3611880" cy="4572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691640"/>
            <a:ext cx="3392424" cy="384048"/>
          </a:xfrm>
          <a:prstGeom prst="rect">
            <a:avLst/>
          </a:prstGeom>
          <a:noFill/>
        </p:spPr>
        <p:txBody>
          <a:bodyPr wrap="square">
            <a:spAutoFit/>
          </a:bodyPr>
          <a:lstStyle/>
          <a:p>
            <a:pPr algn="ctr"/>
            <a:r>
              <a:rPr sz="1100" b="1" i="0">
                <a:solidFill>
                  <a:srgbClr val="0A0F2E"/>
                </a:solidFill>
              </a:rPr>
              <a:t>GAP 3
MISSION CREDIBILITY
UNDERLEVERAGED</a:t>
            </a:r>
          </a:p>
        </p:txBody>
      </p:sp>
      <p:sp>
        <p:nvSpPr>
          <p:cNvPr id="19" name="Rectangle 18"/>
          <p:cNvSpPr/>
          <p:nvPr/>
        </p:nvSpPr>
        <p:spPr>
          <a:xfrm>
            <a:off x="8055864"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176272"/>
            <a:ext cx="3392424" cy="320040"/>
          </a:xfrm>
          <a:prstGeom prst="rect">
            <a:avLst/>
          </a:prstGeom>
          <a:noFill/>
        </p:spPr>
        <p:txBody>
          <a:bodyPr wrap="square">
            <a:spAutoFit/>
          </a:bodyPr>
          <a:lstStyle/>
          <a:p>
            <a:pPr algn="l"/>
            <a:r>
              <a:rPr sz="1000" b="0" i="1">
                <a:solidFill>
                  <a:srgbClr val="4F8EFF"/>
                </a:solidFill>
              </a:rPr>
              <a:t>Andrea's voice and the donor story off the site</a:t>
            </a:r>
          </a:p>
        </p:txBody>
      </p:sp>
      <p:sp>
        <p:nvSpPr>
          <p:cNvPr id="21" name="TextBox 20"/>
          <p:cNvSpPr txBox="1"/>
          <p:nvPr/>
        </p:nvSpPr>
        <p:spPr>
          <a:xfrm>
            <a:off x="8165592" y="2542032"/>
            <a:ext cx="3392424" cy="3566160"/>
          </a:xfrm>
          <a:prstGeom prst="rect">
            <a:avLst/>
          </a:prstGeom>
          <a:noFill/>
        </p:spPr>
        <p:txBody>
          <a:bodyPr wrap="square">
            <a:spAutoFit/>
          </a:bodyPr>
          <a:lstStyle/>
          <a:p>
            <a:pPr algn="l">
              <a:spcAft>
                <a:spcPts val="600"/>
              </a:spcAft>
            </a:pPr>
            <a:r>
              <a:rPr sz="900"/>
              <a:t>  </a:t>
            </a:r>
            <a:r>
              <a:rPr sz="900" b="1">
                <a:solidFill>
                  <a:srgbClr val="4F8EFF"/>
                </a:solidFill>
              </a:rPr>
              <a:t>* </a:t>
            </a:r>
            <a:r>
              <a:rPr sz="1100">
                <a:solidFill>
                  <a:srgbClr val="C8D4EE"/>
                </a:solidFill>
              </a:rPr>
              <a:t>Spark Good grants from Walmart and Sam's Club - no donor CTA, no recurring giving flow, no donor wall on the site</a:t>
            </a:r>
          </a:p>
          <a:p>
            <a:pPr algn="l">
              <a:spcAft>
                <a:spcPts val="600"/>
              </a:spcAft>
            </a:pPr>
            <a:r>
              <a:rPr sz="900"/>
              <a:t>  </a:t>
            </a:r>
            <a:r>
              <a:rPr sz="900" b="1">
                <a:solidFill>
                  <a:srgbClr val="4F8EFF"/>
                </a:solidFill>
              </a:rPr>
              <a:t>* </a:t>
            </a:r>
            <a:r>
              <a:rPr sz="1100">
                <a:solidFill>
                  <a:srgbClr val="C8D4EE"/>
                </a:solidFill>
              </a:rPr>
              <a:t>Andrea's CCIM expertise, founding role, and 2021 Advocate award - barely visible as web content beyond a board page</a:t>
            </a:r>
          </a:p>
          <a:p>
            <a:pPr algn="l">
              <a:spcAft>
                <a:spcPts val="600"/>
              </a:spcAft>
            </a:pPr>
            <a:r>
              <a:rPr sz="900"/>
              <a:t>  </a:t>
            </a:r>
            <a:r>
              <a:rPr sz="900" b="1">
                <a:solidFill>
                  <a:srgbClr val="4F8EFF"/>
                </a:solidFill>
              </a:rPr>
              <a:t>* </a:t>
            </a:r>
            <a:r>
              <a:rPr sz="1100">
                <a:solidFill>
                  <a:srgbClr val="C8D4EE"/>
                </a:solidFill>
              </a:rPr>
              <a:t>No newsletter capture, no policy alert signup - email list compounds across years if started today</a:t>
            </a:r>
          </a:p>
          <a:p>
            <a:pPr algn="l"/>
            <a:r>
              <a:rPr sz="900"/>
              <a:t>  </a:t>
            </a:r>
            <a:r>
              <a:rPr sz="900" b="1">
                <a:solidFill>
                  <a:srgbClr val="4F8EFF"/>
                </a:solidFill>
              </a:rPr>
              <a:t>* </a:t>
            </a:r>
            <a:r>
              <a:rPr sz="1100">
                <a:solidFill>
                  <a:srgbClr val="C8D4EE"/>
                </a:solidFill>
              </a:rPr>
              <a:t>Coalition anniversary year provides cross-promotion fuel that the site cannot currently deploy</a:t>
            </a:r>
          </a:p>
        </p:txBody>
      </p:sp>
      <p:sp>
        <p:nvSpPr>
          <p:cNvPr id="22" name="Rectangle 21"/>
          <p:cNvSpPr/>
          <p:nvPr/>
        </p:nvSpPr>
        <p:spPr>
          <a:xfrm>
            <a:off x="502920" y="6446520"/>
            <a:ext cx="11183112" cy="274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10972800" cy="228600"/>
          </a:xfrm>
          <a:prstGeom prst="rect">
            <a:avLst/>
          </a:prstGeom>
          <a:noFill/>
        </p:spPr>
        <p:txBody>
          <a:bodyPr wrap="square">
            <a:spAutoFit/>
          </a:bodyPr>
          <a:lstStyle/>
          <a:p>
            <a:pPr algn="l"/>
            <a:r>
              <a:rPr sz="1100" b="0" i="1">
                <a:solidFill>
                  <a:srgbClr val="F5C518"/>
                </a:solidFill>
              </a:rPr>
              <a:t>The team isn't small for the size of the mission. The website is small for the size of the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From Brochure Site to Operational Front Door.</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900" b="1" i="0">
                <a:solidFill>
                  <a:srgbClr val="FFFFFF"/>
                </a:solidFill>
              </a:rPr>
              <a:t>HOUSINGFORCOMMUNITIES.ORG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4-field contact form, no qualification, no routing</a:t>
            </a:r>
          </a:p>
          <a:p>
            <a:pPr algn="l">
              <a:spcAft>
                <a:spcPts val="600"/>
              </a:spcAft>
            </a:pPr>
            <a:r>
              <a:rPr sz="900"/>
              <a:t>  </a:t>
            </a:r>
            <a:r>
              <a:rPr sz="900" b="1">
                <a:solidFill>
                  <a:srgbClr val="FF4D4D"/>
                </a:solidFill>
              </a:rPr>
              <a:t>* </a:t>
            </a:r>
            <a:r>
              <a:rPr sz="1100">
                <a:solidFill>
                  <a:srgbClr val="C8D4EE"/>
                </a:solidFill>
              </a:rPr>
              <a:t>No AI chatbot or live chat - all inquiries hit info@</a:t>
            </a:r>
          </a:p>
          <a:p>
            <a:pPr algn="l">
              <a:spcAft>
                <a:spcPts val="600"/>
              </a:spcAft>
            </a:pPr>
            <a:r>
              <a:rPr sz="900"/>
              <a:t>  </a:t>
            </a:r>
            <a:r>
              <a:rPr sz="900" b="1">
                <a:solidFill>
                  <a:srgbClr val="FF4D4D"/>
                </a:solidFill>
              </a:rPr>
              <a:t>* </a:t>
            </a:r>
            <a:r>
              <a:rPr sz="1100">
                <a:solidFill>
                  <a:srgbClr val="C8D4EE"/>
                </a:solidFill>
              </a:rPr>
              <a:t>No FAQ or self-service knowledge base</a:t>
            </a:r>
          </a:p>
          <a:p>
            <a:pPr algn="l">
              <a:spcAft>
                <a:spcPts val="600"/>
              </a:spcAft>
            </a:pPr>
            <a:r>
              <a:rPr sz="900"/>
              <a:t>  </a:t>
            </a:r>
            <a:r>
              <a:rPr sz="900" b="1">
                <a:solidFill>
                  <a:srgbClr val="FF4D4D"/>
                </a:solidFill>
              </a:rPr>
              <a:t>* </a:t>
            </a:r>
            <a:r>
              <a:rPr sz="1100">
                <a:solidFill>
                  <a:srgbClr val="C8D4EE"/>
                </a:solidFill>
              </a:rPr>
              <a:t>No conference registration self-service on-site</a:t>
            </a:r>
          </a:p>
          <a:p>
            <a:pPr algn="l">
              <a:spcAft>
                <a:spcPts val="600"/>
              </a:spcAft>
            </a:pPr>
            <a:r>
              <a:rPr sz="900"/>
              <a:t>  </a:t>
            </a:r>
            <a:r>
              <a:rPr sz="900" b="1">
                <a:solidFill>
                  <a:srgbClr val="FF4D4D"/>
                </a:solidFill>
              </a:rPr>
              <a:t>* </a:t>
            </a:r>
            <a:r>
              <a:rPr sz="1100">
                <a:solidFill>
                  <a:srgbClr val="C8D4EE"/>
                </a:solidFill>
              </a:rPr>
              <a:t>No donor CTA, no recurring giving flow</a:t>
            </a:r>
          </a:p>
          <a:p>
            <a:pPr algn="l">
              <a:spcAft>
                <a:spcPts val="600"/>
              </a:spcAft>
            </a:pPr>
            <a:r>
              <a:rPr sz="900"/>
              <a:t>  </a:t>
            </a:r>
            <a:r>
              <a:rPr sz="900" b="1">
                <a:solidFill>
                  <a:srgbClr val="FF4D4D"/>
                </a:solidFill>
              </a:rPr>
              <a:t>* </a:t>
            </a:r>
            <a:r>
              <a:rPr sz="1100">
                <a:solidFill>
                  <a:srgbClr val="C8D4EE"/>
                </a:solidFill>
              </a:rPr>
              <a:t>No newsletter signup, no policy alerts</a:t>
            </a:r>
          </a:p>
          <a:p>
            <a:pPr algn="l">
              <a:spcAft>
                <a:spcPts val="600"/>
              </a:spcAft>
            </a:pPr>
            <a:r>
              <a:rPr sz="900"/>
              <a:t>  </a:t>
            </a:r>
            <a:r>
              <a:rPr sz="900" b="1">
                <a:solidFill>
                  <a:srgbClr val="FF4D4D"/>
                </a:solidFill>
              </a:rPr>
              <a:t>* </a:t>
            </a:r>
            <a:r>
              <a:rPr sz="1100">
                <a:solidFill>
                  <a:srgbClr val="C8D4EE"/>
                </a:solidFill>
              </a:rPr>
              <a:t>No automated CEU certificate delivery</a:t>
            </a:r>
          </a:p>
          <a:p>
            <a:pPr algn="l"/>
            <a:r>
              <a:rPr sz="900"/>
              <a:t>  </a:t>
            </a:r>
            <a:r>
              <a:rPr sz="900" b="1">
                <a:solidFill>
                  <a:srgbClr val="FF4D4D"/>
                </a:solidFill>
              </a:rPr>
              <a:t>* </a:t>
            </a:r>
            <a:r>
              <a:rPr sz="1100">
                <a:solidFill>
                  <a:srgbClr val="C8D4EE"/>
                </a:solidFill>
              </a:rPr>
              <a:t>Andrea's thought leadership barely surfaced</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MISSION-DRIVEN SITES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AI agent answers FAQ + service questions 24/7</a:t>
            </a:r>
          </a:p>
          <a:p>
            <a:pPr algn="l">
              <a:spcAft>
                <a:spcPts val="600"/>
              </a:spcAft>
            </a:pPr>
            <a:r>
              <a:rPr sz="900"/>
              <a:t>  </a:t>
            </a:r>
            <a:r>
              <a:rPr sz="900" b="1">
                <a:solidFill>
                  <a:srgbClr val="F5C518"/>
                </a:solidFill>
              </a:rPr>
              <a:t>* </a:t>
            </a:r>
            <a:r>
              <a:rPr sz="1100">
                <a:solidFill>
                  <a:srgbClr val="C8D4EE"/>
                </a:solidFill>
              </a:rPr>
              <a:t>Service-specific intake forms with qualifying detail</a:t>
            </a:r>
          </a:p>
          <a:p>
            <a:pPr algn="l">
              <a:spcAft>
                <a:spcPts val="600"/>
              </a:spcAft>
            </a:pPr>
            <a:r>
              <a:rPr sz="900"/>
              <a:t>  </a:t>
            </a:r>
            <a:r>
              <a:rPr sz="900" b="1">
                <a:solidFill>
                  <a:srgbClr val="F5C518"/>
                </a:solidFill>
              </a:rPr>
              <a:t>* </a:t>
            </a:r>
            <a:r>
              <a:rPr sz="1100">
                <a:solidFill>
                  <a:srgbClr val="C8D4EE"/>
                </a:solidFill>
              </a:rPr>
              <a:t>Donor flow with one-time + recurring giving</a:t>
            </a:r>
          </a:p>
          <a:p>
            <a:pPr algn="l">
              <a:spcAft>
                <a:spcPts val="600"/>
              </a:spcAft>
            </a:pPr>
            <a:r>
              <a:rPr sz="900"/>
              <a:t>  </a:t>
            </a:r>
            <a:r>
              <a:rPr sz="900" b="1">
                <a:solidFill>
                  <a:srgbClr val="F5C518"/>
                </a:solidFill>
              </a:rPr>
              <a:t>* </a:t>
            </a:r>
            <a:r>
              <a:rPr sz="1100">
                <a:solidFill>
                  <a:srgbClr val="C8D4EE"/>
                </a:solidFill>
              </a:rPr>
              <a:t>Event registration &amp; post-event automation</a:t>
            </a:r>
          </a:p>
          <a:p>
            <a:pPr algn="l">
              <a:spcAft>
                <a:spcPts val="600"/>
              </a:spcAft>
            </a:pPr>
            <a:r>
              <a:rPr sz="900"/>
              <a:t>  </a:t>
            </a:r>
            <a:r>
              <a:rPr sz="900" b="1">
                <a:solidFill>
                  <a:srgbClr val="F5C518"/>
                </a:solidFill>
              </a:rPr>
              <a:t>* </a:t>
            </a:r>
            <a:r>
              <a:rPr sz="1100">
                <a:solidFill>
                  <a:srgbClr val="C8D4EE"/>
                </a:solidFill>
              </a:rPr>
              <a:t>Newsletter capture with welcome sequence</a:t>
            </a:r>
          </a:p>
          <a:p>
            <a:pPr algn="l">
              <a:spcAft>
                <a:spcPts val="600"/>
              </a:spcAft>
            </a:pPr>
            <a:r>
              <a:rPr sz="900"/>
              <a:t>  </a:t>
            </a:r>
            <a:r>
              <a:rPr sz="900" b="1">
                <a:solidFill>
                  <a:srgbClr val="F5C518"/>
                </a:solidFill>
              </a:rPr>
              <a:t>* </a:t>
            </a:r>
            <a:r>
              <a:rPr sz="1100">
                <a:solidFill>
                  <a:srgbClr val="C8D4EE"/>
                </a:solidFill>
              </a:rPr>
              <a:t>Automated CEU + certificate delivery</a:t>
            </a:r>
          </a:p>
          <a:p>
            <a:pPr algn="l">
              <a:spcAft>
                <a:spcPts val="600"/>
              </a:spcAft>
            </a:pPr>
            <a:r>
              <a:rPr sz="900"/>
              <a:t>  </a:t>
            </a:r>
            <a:r>
              <a:rPr sz="900" b="1">
                <a:solidFill>
                  <a:srgbClr val="F5C518"/>
                </a:solidFill>
              </a:rPr>
              <a:t>* </a:t>
            </a:r>
            <a:r>
              <a:rPr sz="1100">
                <a:solidFill>
                  <a:srgbClr val="C8D4EE"/>
                </a:solidFill>
              </a:rPr>
              <a:t>Thought leadership content engine indexed for SEO</a:t>
            </a:r>
          </a:p>
          <a:p>
            <a:pPr algn="l"/>
            <a:r>
              <a:rPr sz="900"/>
              <a:t>  </a:t>
            </a:r>
            <a:r>
              <a:rPr sz="900" b="1">
                <a:solidFill>
                  <a:srgbClr val="F5C518"/>
                </a:solidFill>
              </a:rPr>
              <a:t>* </a:t>
            </a:r>
            <a:r>
              <a:rPr sz="1100">
                <a:solidFill>
                  <a:srgbClr val="C8D4EE"/>
                </a:solidFill>
              </a:rPr>
              <a:t>Multilingual access where the population requires it</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Conference AI agent live before May 19 (rapid deploy)</a:t>
            </a:r>
          </a:p>
          <a:p>
            <a:pPr algn="l">
              <a:spcAft>
                <a:spcPts val="600"/>
              </a:spcAft>
            </a:pPr>
            <a:r>
              <a:rPr sz="900"/>
              <a:t>  </a:t>
            </a:r>
            <a:r>
              <a:rPr sz="900" b="1">
                <a:solidFill>
                  <a:srgbClr val="2ECC71"/>
                </a:solidFill>
              </a:rPr>
              <a:t>* </a:t>
            </a:r>
            <a:r>
              <a:rPr sz="1100">
                <a:solidFill>
                  <a:srgbClr val="C8D4EE"/>
                </a:solidFill>
              </a:rPr>
              <a:t>3-track intake: Training, Consulting, Development</a:t>
            </a:r>
          </a:p>
          <a:p>
            <a:pPr algn="l">
              <a:spcAft>
                <a:spcPts val="600"/>
              </a:spcAft>
            </a:pPr>
            <a:r>
              <a:rPr sz="900"/>
              <a:t>  </a:t>
            </a:r>
            <a:r>
              <a:rPr sz="900" b="1">
                <a:solidFill>
                  <a:srgbClr val="2ECC71"/>
                </a:solidFill>
              </a:rPr>
              <a:t>* </a:t>
            </a:r>
            <a:r>
              <a:rPr sz="1100">
                <a:solidFill>
                  <a:srgbClr val="C8D4EE"/>
                </a:solidFill>
              </a:rPr>
              <a:t>Donor + recurring giving flow with Spark Good story</a:t>
            </a:r>
          </a:p>
          <a:p>
            <a:pPr algn="l">
              <a:spcAft>
                <a:spcPts val="600"/>
              </a:spcAft>
            </a:pPr>
            <a:r>
              <a:rPr sz="900"/>
              <a:t>  </a:t>
            </a:r>
            <a:r>
              <a:rPr sz="900" b="1">
                <a:solidFill>
                  <a:srgbClr val="2ECC71"/>
                </a:solidFill>
              </a:rPr>
              <a:t>* </a:t>
            </a:r>
            <a:r>
              <a:rPr sz="1100">
                <a:solidFill>
                  <a:srgbClr val="C8D4EE"/>
                </a:solidFill>
              </a:rPr>
              <a:t>Newsletter automation: OK housing policy welcome series</a:t>
            </a:r>
          </a:p>
          <a:p>
            <a:pPr algn="l">
              <a:spcAft>
                <a:spcPts val="600"/>
              </a:spcAft>
            </a:pPr>
            <a:r>
              <a:rPr sz="900"/>
              <a:t>  </a:t>
            </a:r>
            <a:r>
              <a:rPr sz="900" b="1">
                <a:solidFill>
                  <a:srgbClr val="2ECC71"/>
                </a:solidFill>
              </a:rPr>
              <a:t>* </a:t>
            </a:r>
            <a:r>
              <a:rPr sz="1100">
                <a:solidFill>
                  <a:srgbClr val="C8D4EE"/>
                </a:solidFill>
              </a:rPr>
              <a:t>Automated CEU certificate delivery to attendees</a:t>
            </a:r>
          </a:p>
          <a:p>
            <a:pPr algn="l">
              <a:spcAft>
                <a:spcPts val="600"/>
              </a:spcAft>
            </a:pPr>
            <a:r>
              <a:rPr sz="900"/>
              <a:t>  </a:t>
            </a:r>
            <a:r>
              <a:rPr sz="900" b="1">
                <a:solidFill>
                  <a:srgbClr val="2ECC71"/>
                </a:solidFill>
              </a:rPr>
              <a:t>* </a:t>
            </a:r>
            <a:r>
              <a:rPr sz="1100">
                <a:solidFill>
                  <a:srgbClr val="C8D4EE"/>
                </a:solidFill>
              </a:rPr>
              <a:t>Andrea voice-aligned thought leadership engine</a:t>
            </a:r>
          </a:p>
          <a:p>
            <a:pPr algn="l">
              <a:spcAft>
                <a:spcPts val="600"/>
              </a:spcAft>
            </a:pPr>
            <a:r>
              <a:rPr sz="900"/>
              <a:t>  </a:t>
            </a:r>
            <a:r>
              <a:rPr sz="900" b="1">
                <a:solidFill>
                  <a:srgbClr val="2ECC71"/>
                </a:solidFill>
              </a:rPr>
              <a:t>* </a:t>
            </a:r>
            <a:r>
              <a:rPr sz="1100">
                <a:solidFill>
                  <a:srgbClr val="C8D4EE"/>
                </a:solidFill>
              </a:rPr>
              <a:t>Spanish-language site version via AI translation</a:t>
            </a:r>
          </a:p>
          <a:p>
            <a:pPr algn="l"/>
            <a:r>
              <a:rPr sz="900"/>
              <a:t>  </a:t>
            </a:r>
            <a:r>
              <a:rPr sz="900" b="1">
                <a:solidFill>
                  <a:srgbClr val="2ECC71"/>
                </a:solidFill>
              </a:rPr>
              <a:t>* </a:t>
            </a:r>
            <a:r>
              <a:rPr sz="1100">
                <a:solidFill>
                  <a:srgbClr val="C8D4EE"/>
                </a:solidFill>
              </a:rPr>
              <a:t>Coalition cross-promotion module for anniversary year</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3200400" cy="347472"/>
          </a:xfrm>
          <a:prstGeom prst="rect">
            <a:avLst/>
          </a:prstGeom>
          <a:noFill/>
        </p:spPr>
        <p:txBody>
          <a:bodyPr wrap="square">
            <a:spAutoFit/>
          </a:bodyPr>
          <a:lstStyle/>
          <a:p>
            <a:pPr algn="l"/>
            <a:r>
              <a:rPr sz="1100" b="1" i="0">
                <a:solidFill>
                  <a:srgbClr val="A055FF"/>
                </a:solidFill>
              </a:rPr>
              <a:t>MISSION OPERATIONS BENCHMARK:</a:t>
            </a:r>
          </a:p>
        </p:txBody>
      </p:sp>
      <p:sp>
        <p:nvSpPr>
          <p:cNvPr id="23" name="TextBox 22"/>
          <p:cNvSpPr txBox="1"/>
          <p:nvPr/>
        </p:nvSpPr>
        <p:spPr>
          <a:xfrm>
            <a:off x="3520440" y="5257800"/>
            <a:ext cx="2286000" cy="502920"/>
          </a:xfrm>
          <a:prstGeom prst="rect">
            <a:avLst/>
          </a:prstGeom>
          <a:noFill/>
        </p:spPr>
        <p:txBody>
          <a:bodyPr wrap="square">
            <a:spAutoFit/>
          </a:bodyPr>
          <a:lstStyle/>
          <a:p>
            <a:pPr algn="ctr"/>
            <a:r>
              <a:rPr sz="2200" b="1" i="0">
                <a:solidFill>
                  <a:srgbClr val="F5C518"/>
                </a:solidFill>
              </a:rPr>
              <a:t>70-80%</a:t>
            </a:r>
          </a:p>
        </p:txBody>
      </p:sp>
      <p:sp>
        <p:nvSpPr>
          <p:cNvPr id="24" name="TextBox 23"/>
          <p:cNvSpPr txBox="1"/>
          <p:nvPr/>
        </p:nvSpPr>
        <p:spPr>
          <a:xfrm>
            <a:off x="3520440" y="5687568"/>
            <a:ext cx="2286000" cy="640080"/>
          </a:xfrm>
          <a:prstGeom prst="rect">
            <a:avLst/>
          </a:prstGeom>
          <a:noFill/>
        </p:spPr>
        <p:txBody>
          <a:bodyPr wrap="square">
            <a:spAutoFit/>
          </a:bodyPr>
          <a:lstStyle/>
          <a:p>
            <a:pPr algn="ctr"/>
            <a:r>
              <a:rPr sz="1000" b="0" i="0">
                <a:solidFill>
                  <a:srgbClr val="C8D4EE"/>
                </a:solidFill>
              </a:rPr>
              <a:t>of routine inquiries
absorbed by AI agent</a:t>
            </a:r>
          </a:p>
        </p:txBody>
      </p:sp>
      <p:sp>
        <p:nvSpPr>
          <p:cNvPr id="25" name="TextBox 24"/>
          <p:cNvSpPr txBox="1"/>
          <p:nvPr/>
        </p:nvSpPr>
        <p:spPr>
          <a:xfrm>
            <a:off x="5865876" y="5257800"/>
            <a:ext cx="2286000" cy="502920"/>
          </a:xfrm>
          <a:prstGeom prst="rect">
            <a:avLst/>
          </a:prstGeom>
          <a:noFill/>
        </p:spPr>
        <p:txBody>
          <a:bodyPr wrap="square">
            <a:spAutoFit/>
          </a:bodyPr>
          <a:lstStyle/>
          <a:p>
            <a:pPr algn="ctr"/>
            <a:r>
              <a:rPr sz="2200" b="1" i="0">
                <a:solidFill>
                  <a:srgbClr val="F5C518"/>
                </a:solidFill>
              </a:rPr>
              <a:t>3 tracks</a:t>
            </a:r>
          </a:p>
        </p:txBody>
      </p:sp>
      <p:sp>
        <p:nvSpPr>
          <p:cNvPr id="26" name="TextBox 25"/>
          <p:cNvSpPr txBox="1"/>
          <p:nvPr/>
        </p:nvSpPr>
        <p:spPr>
          <a:xfrm>
            <a:off x="5865876" y="5687568"/>
            <a:ext cx="2286000" cy="640080"/>
          </a:xfrm>
          <a:prstGeom prst="rect">
            <a:avLst/>
          </a:prstGeom>
          <a:noFill/>
        </p:spPr>
        <p:txBody>
          <a:bodyPr wrap="square">
            <a:spAutoFit/>
          </a:bodyPr>
          <a:lstStyle/>
          <a:p>
            <a:pPr algn="ctr"/>
            <a:r>
              <a:rPr sz="1000" b="0" i="0">
                <a:solidFill>
                  <a:srgbClr val="C8D4EE"/>
                </a:solidFill>
              </a:rPr>
              <a:t>Training | Consulting
| Development intake</a:t>
            </a:r>
          </a:p>
        </p:txBody>
      </p:sp>
      <p:sp>
        <p:nvSpPr>
          <p:cNvPr id="27" name="TextBox 26"/>
          <p:cNvSpPr txBox="1"/>
          <p:nvPr/>
        </p:nvSpPr>
        <p:spPr>
          <a:xfrm>
            <a:off x="8211312" y="5257800"/>
            <a:ext cx="2286000" cy="502920"/>
          </a:xfrm>
          <a:prstGeom prst="rect">
            <a:avLst/>
          </a:prstGeom>
          <a:noFill/>
        </p:spPr>
        <p:txBody>
          <a:bodyPr wrap="square">
            <a:spAutoFit/>
          </a:bodyPr>
          <a:lstStyle/>
          <a:p>
            <a:pPr algn="ctr"/>
            <a:r>
              <a:rPr sz="2200" b="1" i="0">
                <a:solidFill>
                  <a:srgbClr val="F5C518"/>
                </a:solidFill>
              </a:rPr>
              <a:t>8 days</a:t>
            </a:r>
          </a:p>
        </p:txBody>
      </p:sp>
      <p:sp>
        <p:nvSpPr>
          <p:cNvPr id="28" name="TextBox 27"/>
          <p:cNvSpPr txBox="1"/>
          <p:nvPr/>
        </p:nvSpPr>
        <p:spPr>
          <a:xfrm>
            <a:off x="8211312" y="5687568"/>
            <a:ext cx="2286000" cy="640080"/>
          </a:xfrm>
          <a:prstGeom prst="rect">
            <a:avLst/>
          </a:prstGeom>
          <a:noFill/>
        </p:spPr>
        <p:txBody>
          <a:bodyPr wrap="square">
            <a:spAutoFit/>
          </a:bodyPr>
          <a:lstStyle/>
          <a:p>
            <a:pPr algn="ctr"/>
            <a:r>
              <a:rPr sz="1000" b="0" i="0">
                <a:solidFill>
                  <a:srgbClr val="C8D4EE"/>
                </a:solidFill>
              </a:rPr>
              <a:t>until conference -
agent live in week 1</a:t>
            </a:r>
          </a:p>
        </p:txBody>
      </p:sp>
      <p:sp>
        <p:nvSpPr>
          <p:cNvPr id="29" name="TextBox 28"/>
          <p:cNvSpPr txBox="1"/>
          <p:nvPr/>
        </p:nvSpPr>
        <p:spPr>
          <a:xfrm>
            <a:off x="10556748" y="5257800"/>
            <a:ext cx="2286000" cy="502920"/>
          </a:xfrm>
          <a:prstGeom prst="rect">
            <a:avLst/>
          </a:prstGeom>
          <a:noFill/>
        </p:spPr>
        <p:txBody>
          <a:bodyPr wrap="square">
            <a:spAutoFit/>
          </a:bodyPr>
          <a:lstStyle/>
          <a:p>
            <a:pPr algn="ctr"/>
            <a:r>
              <a:rPr sz="2200" b="1" i="0">
                <a:solidFill>
                  <a:srgbClr val="F5C518"/>
                </a:solidFill>
              </a:rPr>
              <a:t>4 people</a:t>
            </a:r>
          </a:p>
        </p:txBody>
      </p:sp>
      <p:sp>
        <p:nvSpPr>
          <p:cNvPr id="30" name="TextBox 29"/>
          <p:cNvSpPr txBox="1"/>
          <p:nvPr/>
        </p:nvSpPr>
        <p:spPr>
          <a:xfrm>
            <a:off x="10556748" y="5687568"/>
            <a:ext cx="2286000" cy="640080"/>
          </a:xfrm>
          <a:prstGeom prst="rect">
            <a:avLst/>
          </a:prstGeom>
          <a:noFill/>
        </p:spPr>
        <p:txBody>
          <a:bodyPr wrap="square">
            <a:spAutoFit/>
          </a:bodyPr>
          <a:lstStyle/>
          <a:p>
            <a:pPr algn="ctr"/>
            <a:r>
              <a:rPr sz="1000" b="0" i="0">
                <a:solidFill>
                  <a:srgbClr val="C8D4EE"/>
                </a:solidFill>
              </a:rPr>
              <a:t>team capacity preserved
for mission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STACK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Four Layers That Buy Andrea's Team Their Time Back.</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69748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2478024" cy="594360"/>
          </a:xfrm>
          <a:prstGeom prst="rect">
            <a:avLst/>
          </a:prstGeom>
          <a:noFill/>
        </p:spPr>
        <p:txBody>
          <a:bodyPr wrap="square">
            <a:spAutoFit/>
          </a:bodyPr>
          <a:lstStyle/>
          <a:p>
            <a:pPr algn="l"/>
            <a:r>
              <a:rPr sz="1300" b="1" i="0">
                <a:solidFill>
                  <a:srgbClr val="00B4D8"/>
                </a:solidFill>
              </a:rPr>
              <a:t>Conference &amp; Service
AI Agent</a:t>
            </a:r>
          </a:p>
        </p:txBody>
      </p:sp>
      <p:sp>
        <p:nvSpPr>
          <p:cNvPr id="10" name="TextBox 9"/>
          <p:cNvSpPr txBox="1"/>
          <p:nvPr/>
        </p:nvSpPr>
        <p:spPr>
          <a:xfrm>
            <a:off x="612648" y="2423160"/>
            <a:ext cx="2478024" cy="3337560"/>
          </a:xfrm>
          <a:prstGeom prst="rect">
            <a:avLst/>
          </a:prstGeom>
          <a:noFill/>
        </p:spPr>
        <p:txBody>
          <a:bodyPr wrap="square">
            <a:spAutoFit/>
          </a:bodyPr>
          <a:lstStyle/>
          <a:p>
            <a:pPr algn="l"/>
            <a:r>
              <a:rPr sz="1100" b="0" i="0">
                <a:solidFill>
                  <a:srgbClr val="C8D4EE"/>
                </a:solidFill>
              </a:rPr>
              <a:t>Trained on the Senior Housing conference (agenda, AGING20 promo, CEU paperwork, parking, registration link) and the three service lines. Absorbs 70-80% of routine questions in real time. Routes the 20% needing humans with full context already captured. Live before May 19. Then expanded to handle Training/Consulting/Development questions year-round. One agent. Every visitor. 24/7.</a:t>
            </a:r>
          </a:p>
        </p:txBody>
      </p:sp>
      <p:sp>
        <p:nvSpPr>
          <p:cNvPr id="11" name="Rectangle 10"/>
          <p:cNvSpPr/>
          <p:nvPr/>
        </p:nvSpPr>
        <p:spPr>
          <a:xfrm>
            <a:off x="3346704" y="1645920"/>
            <a:ext cx="26974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810512"/>
            <a:ext cx="2478024" cy="594360"/>
          </a:xfrm>
          <a:prstGeom prst="rect">
            <a:avLst/>
          </a:prstGeom>
          <a:noFill/>
        </p:spPr>
        <p:txBody>
          <a:bodyPr wrap="square">
            <a:spAutoFit/>
          </a:bodyPr>
          <a:lstStyle/>
          <a:p>
            <a:pPr algn="l"/>
            <a:r>
              <a:rPr sz="1300" b="1" i="0">
                <a:solidFill>
                  <a:srgbClr val="F5C518"/>
                </a:solidFill>
              </a:rPr>
              <a:t>Three-Track
Intake Forms</a:t>
            </a:r>
          </a:p>
        </p:txBody>
      </p:sp>
      <p:sp>
        <p:nvSpPr>
          <p:cNvPr id="14" name="TextBox 13"/>
          <p:cNvSpPr txBox="1"/>
          <p:nvPr/>
        </p:nvSpPr>
        <p:spPr>
          <a:xfrm>
            <a:off x="3456432" y="2423160"/>
            <a:ext cx="2478024" cy="3337560"/>
          </a:xfrm>
          <a:prstGeom prst="rect">
            <a:avLst/>
          </a:prstGeom>
          <a:noFill/>
        </p:spPr>
        <p:txBody>
          <a:bodyPr wrap="square">
            <a:spAutoFit/>
          </a:bodyPr>
          <a:lstStyle/>
          <a:p>
            <a:pPr algn="l"/>
            <a:r>
              <a:rPr sz="1100" b="0" i="0">
                <a:solidFill>
                  <a:srgbClr val="C8D4EE"/>
                </a:solidFill>
              </a:rPr>
              <a:t>Training: course interest, CEU need, organisation, role. Consulting: project type, geography, timeline, budget range. Development: partnership type, unit count, location, funding stage. Each form routes to Bailey (Development) or Andrea (Consulting) or Madeline (Training) with full qualifying detail. The first email back can be substantive instead of a triage question.</a:t>
            </a:r>
          </a:p>
        </p:txBody>
      </p:sp>
      <p:sp>
        <p:nvSpPr>
          <p:cNvPr id="15" name="Rectangle 14"/>
          <p:cNvSpPr/>
          <p:nvPr/>
        </p:nvSpPr>
        <p:spPr>
          <a:xfrm>
            <a:off x="6190488" y="1645920"/>
            <a:ext cx="269748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810512"/>
            <a:ext cx="2478024" cy="594360"/>
          </a:xfrm>
          <a:prstGeom prst="rect">
            <a:avLst/>
          </a:prstGeom>
          <a:noFill/>
        </p:spPr>
        <p:txBody>
          <a:bodyPr wrap="square">
            <a:spAutoFit/>
          </a:bodyPr>
          <a:lstStyle/>
          <a:p>
            <a:pPr algn="l"/>
            <a:r>
              <a:rPr sz="1300" b="1" i="0">
                <a:solidFill>
                  <a:srgbClr val="2ECC71"/>
                </a:solidFill>
              </a:rPr>
              <a:t>Donor &amp; Newsletter
Automation</a:t>
            </a:r>
          </a:p>
        </p:txBody>
      </p:sp>
      <p:sp>
        <p:nvSpPr>
          <p:cNvPr id="18" name="TextBox 17"/>
          <p:cNvSpPr txBox="1"/>
          <p:nvPr/>
        </p:nvSpPr>
        <p:spPr>
          <a:xfrm>
            <a:off x="6300216" y="2423160"/>
            <a:ext cx="2478024" cy="3337560"/>
          </a:xfrm>
          <a:prstGeom prst="rect">
            <a:avLst/>
          </a:prstGeom>
          <a:noFill/>
        </p:spPr>
        <p:txBody>
          <a:bodyPr wrap="square">
            <a:spAutoFit/>
          </a:bodyPr>
          <a:lstStyle/>
          <a:p>
            <a:pPr algn="l"/>
            <a:r>
              <a:rPr sz="1100" b="0" i="0">
                <a:solidFill>
                  <a:srgbClr val="C8D4EE"/>
                </a:solidFill>
              </a:rPr>
              <a:t>Spark Good Local Grants from Walmart and Sam's Club give credibility most 2-year-old non-profits cannot match. A donor CTA with one-time and recurring giving converts that credibility into capacity. Newsletter signup with an Oklahoma housing policy welcome sequence builds an email list that compounds: every visitor today is a year-round audience, not a one-time inquiry.</a:t>
            </a:r>
          </a:p>
        </p:txBody>
      </p:sp>
      <p:sp>
        <p:nvSpPr>
          <p:cNvPr id="19" name="Rectangle 18"/>
          <p:cNvSpPr/>
          <p:nvPr/>
        </p:nvSpPr>
        <p:spPr>
          <a:xfrm>
            <a:off x="9034272" y="1645920"/>
            <a:ext cx="269748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810512"/>
            <a:ext cx="2478024" cy="594360"/>
          </a:xfrm>
          <a:prstGeom prst="rect">
            <a:avLst/>
          </a:prstGeom>
          <a:noFill/>
        </p:spPr>
        <p:txBody>
          <a:bodyPr wrap="square">
            <a:spAutoFit/>
          </a:bodyPr>
          <a:lstStyle/>
          <a:p>
            <a:pPr algn="l"/>
            <a:r>
              <a:rPr sz="1300" b="1" i="0">
                <a:solidFill>
                  <a:srgbClr val="A055FF"/>
                </a:solidFill>
              </a:rPr>
              <a:t>Thought Leadership
Content Engine</a:t>
            </a:r>
          </a:p>
        </p:txBody>
      </p:sp>
      <p:sp>
        <p:nvSpPr>
          <p:cNvPr id="22" name="TextBox 21"/>
          <p:cNvSpPr txBox="1"/>
          <p:nvPr/>
        </p:nvSpPr>
        <p:spPr>
          <a:xfrm>
            <a:off x="9144000" y="2423160"/>
            <a:ext cx="2478024" cy="3337560"/>
          </a:xfrm>
          <a:prstGeom prst="rect">
            <a:avLst/>
          </a:prstGeom>
          <a:noFill/>
        </p:spPr>
        <p:txBody>
          <a:bodyPr wrap="square">
            <a:spAutoFit/>
          </a:bodyPr>
          <a:lstStyle/>
          <a:p>
            <a:pPr algn="l"/>
            <a:r>
              <a:rPr sz="1100" b="0" i="0">
                <a:solidFill>
                  <a:srgbClr val="C8D4EE"/>
                </a:solidFill>
              </a:rPr>
              <a:t>Andrea has 25 years of CRE expertise, a CCIM, founder credibility, and an Advocate-of-the-Year award. Almost none of that lives as indexed web content today. An AI-assisted content engine that takes Andrea's voice (extracted from her writing and speaking) and produces Oklahoma-housing-policy and senior-housing articles compounds her authority across years - and seeds the Coalition anniversary year with material.</a:t>
            </a:r>
          </a:p>
        </p:txBody>
      </p:sp>
      <p:sp>
        <p:nvSpPr>
          <p:cNvPr id="23" name="Rectangle 22"/>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The team's job is housing policy and consulting. The automation layer handles everything that doesn't require a human housing expert.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8C00"/>
                </a:solidFill>
              </a:rPr>
              <a:t>CONFERENCE TIMELINE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8 Days. What Could Be Live Before May 19.</a:t>
            </a:r>
          </a:p>
        </p:txBody>
      </p:sp>
      <p:sp>
        <p:nvSpPr>
          <p:cNvPr id="6" name="Rectangle 5"/>
          <p:cNvSpPr/>
          <p:nvPr/>
        </p:nvSpPr>
        <p:spPr>
          <a:xfrm>
            <a:off x="502920" y="1234440"/>
            <a:ext cx="164592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11183112" cy="1417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81912"/>
            <a:ext cx="2011680" cy="594360"/>
          </a:xfrm>
          <a:prstGeom prst="rect">
            <a:avLst/>
          </a:prstGeom>
          <a:noFill/>
        </p:spPr>
        <p:txBody>
          <a:bodyPr wrap="square">
            <a:spAutoFit/>
          </a:bodyPr>
          <a:lstStyle/>
          <a:p>
            <a:pPr algn="ctr"/>
            <a:r>
              <a:rPr sz="2000" b="1" i="0">
                <a:solidFill>
                  <a:srgbClr val="FF8C00"/>
                </a:solidFill>
              </a:rPr>
              <a:t>8 days</a:t>
            </a:r>
          </a:p>
        </p:txBody>
      </p:sp>
      <p:sp>
        <p:nvSpPr>
          <p:cNvPr id="9" name="TextBox 8"/>
          <p:cNvSpPr txBox="1"/>
          <p:nvPr/>
        </p:nvSpPr>
        <p:spPr>
          <a:xfrm>
            <a:off x="640080" y="2130552"/>
            <a:ext cx="2011680" cy="457200"/>
          </a:xfrm>
          <a:prstGeom prst="rect">
            <a:avLst/>
          </a:prstGeom>
          <a:noFill/>
        </p:spPr>
        <p:txBody>
          <a:bodyPr wrap="square">
            <a:spAutoFit/>
          </a:bodyPr>
          <a:lstStyle/>
          <a:p>
            <a:pPr algn="ctr"/>
            <a:r>
              <a:rPr sz="1000" b="0" i="0">
                <a:solidFill>
                  <a:srgbClr val="C8D4EE"/>
                </a:solidFill>
              </a:rPr>
              <a:t>Until conference
(May 11 -&gt; May 19)</a:t>
            </a:r>
          </a:p>
        </p:txBody>
      </p:sp>
      <p:sp>
        <p:nvSpPr>
          <p:cNvPr id="10" name="TextBox 9"/>
          <p:cNvSpPr txBox="1"/>
          <p:nvPr/>
        </p:nvSpPr>
        <p:spPr>
          <a:xfrm>
            <a:off x="2788920" y="1581912"/>
            <a:ext cx="2011680" cy="594360"/>
          </a:xfrm>
          <a:prstGeom prst="rect">
            <a:avLst/>
          </a:prstGeom>
          <a:noFill/>
        </p:spPr>
        <p:txBody>
          <a:bodyPr wrap="square">
            <a:spAutoFit/>
          </a:bodyPr>
          <a:lstStyle/>
          <a:p>
            <a:pPr algn="ctr"/>
            <a:r>
              <a:rPr sz="2000" b="1" i="0">
                <a:solidFill>
                  <a:srgbClr val="FF8C00"/>
                </a:solidFill>
              </a:rPr>
              <a:t>70-80%</a:t>
            </a:r>
          </a:p>
        </p:txBody>
      </p:sp>
      <p:sp>
        <p:nvSpPr>
          <p:cNvPr id="11" name="TextBox 10"/>
          <p:cNvSpPr txBox="1"/>
          <p:nvPr/>
        </p:nvSpPr>
        <p:spPr>
          <a:xfrm>
            <a:off x="2788920" y="2130552"/>
            <a:ext cx="2011680" cy="457200"/>
          </a:xfrm>
          <a:prstGeom prst="rect">
            <a:avLst/>
          </a:prstGeom>
          <a:noFill/>
        </p:spPr>
        <p:txBody>
          <a:bodyPr wrap="square">
            <a:spAutoFit/>
          </a:bodyPr>
          <a:lstStyle/>
          <a:p>
            <a:pPr algn="ctr"/>
            <a:r>
              <a:rPr sz="1000" b="0" i="0">
                <a:solidFill>
                  <a:srgbClr val="C8D4EE"/>
                </a:solidFill>
              </a:rPr>
              <a:t>Routine inquiries
absorbed by agent</a:t>
            </a:r>
          </a:p>
        </p:txBody>
      </p:sp>
      <p:sp>
        <p:nvSpPr>
          <p:cNvPr id="12" name="TextBox 11"/>
          <p:cNvSpPr txBox="1"/>
          <p:nvPr/>
        </p:nvSpPr>
        <p:spPr>
          <a:xfrm>
            <a:off x="4937760" y="1581912"/>
            <a:ext cx="2011680" cy="594360"/>
          </a:xfrm>
          <a:prstGeom prst="rect">
            <a:avLst/>
          </a:prstGeom>
          <a:noFill/>
        </p:spPr>
        <p:txBody>
          <a:bodyPr wrap="square">
            <a:spAutoFit/>
          </a:bodyPr>
          <a:lstStyle/>
          <a:p>
            <a:pPr algn="ctr"/>
            <a:r>
              <a:rPr sz="2000" b="1" i="0">
                <a:solidFill>
                  <a:srgbClr val="FF8C00"/>
                </a:solidFill>
              </a:rPr>
              <a:t>24/7</a:t>
            </a:r>
          </a:p>
        </p:txBody>
      </p:sp>
      <p:sp>
        <p:nvSpPr>
          <p:cNvPr id="13" name="TextBox 12"/>
          <p:cNvSpPr txBox="1"/>
          <p:nvPr/>
        </p:nvSpPr>
        <p:spPr>
          <a:xfrm>
            <a:off x="4937760" y="2130552"/>
            <a:ext cx="2011680" cy="457200"/>
          </a:xfrm>
          <a:prstGeom prst="rect">
            <a:avLst/>
          </a:prstGeom>
          <a:noFill/>
        </p:spPr>
        <p:txBody>
          <a:bodyPr wrap="square">
            <a:spAutoFit/>
          </a:bodyPr>
          <a:lstStyle/>
          <a:p>
            <a:pPr algn="ctr"/>
            <a:r>
              <a:rPr sz="1000" b="0" i="0">
                <a:solidFill>
                  <a:srgbClr val="C8D4EE"/>
                </a:solidFill>
              </a:rPr>
              <a:t>After-hours capture
including weekends</a:t>
            </a:r>
          </a:p>
        </p:txBody>
      </p:sp>
      <p:sp>
        <p:nvSpPr>
          <p:cNvPr id="14" name="TextBox 13"/>
          <p:cNvSpPr txBox="1"/>
          <p:nvPr/>
        </p:nvSpPr>
        <p:spPr>
          <a:xfrm>
            <a:off x="7086600" y="1581912"/>
            <a:ext cx="2011680" cy="594360"/>
          </a:xfrm>
          <a:prstGeom prst="rect">
            <a:avLst/>
          </a:prstGeom>
          <a:noFill/>
        </p:spPr>
        <p:txBody>
          <a:bodyPr wrap="square">
            <a:spAutoFit/>
          </a:bodyPr>
          <a:lstStyle/>
          <a:p>
            <a:pPr algn="ctr"/>
            <a:r>
              <a:rPr sz="2000" b="1" i="0">
                <a:solidFill>
                  <a:srgbClr val="FF8C00"/>
                </a:solidFill>
              </a:rPr>
              <a:t>0 hours</a:t>
            </a:r>
          </a:p>
        </p:txBody>
      </p:sp>
      <p:sp>
        <p:nvSpPr>
          <p:cNvPr id="15" name="TextBox 14"/>
          <p:cNvSpPr txBox="1"/>
          <p:nvPr/>
        </p:nvSpPr>
        <p:spPr>
          <a:xfrm>
            <a:off x="7086600" y="2130552"/>
            <a:ext cx="2011680" cy="457200"/>
          </a:xfrm>
          <a:prstGeom prst="rect">
            <a:avLst/>
          </a:prstGeom>
          <a:noFill/>
        </p:spPr>
        <p:txBody>
          <a:bodyPr wrap="square">
            <a:spAutoFit/>
          </a:bodyPr>
          <a:lstStyle/>
          <a:p>
            <a:pPr algn="ctr"/>
            <a:r>
              <a:rPr sz="1000" b="0" i="0">
                <a:solidFill>
                  <a:srgbClr val="C8D4EE"/>
                </a:solidFill>
              </a:rPr>
              <a:t>Of Madeline's time
on FAQ replies</a:t>
            </a:r>
          </a:p>
        </p:txBody>
      </p:sp>
      <p:sp>
        <p:nvSpPr>
          <p:cNvPr id="16" name="TextBox 15"/>
          <p:cNvSpPr txBox="1"/>
          <p:nvPr/>
        </p:nvSpPr>
        <p:spPr>
          <a:xfrm>
            <a:off x="9235440" y="1581912"/>
            <a:ext cx="2011680" cy="594360"/>
          </a:xfrm>
          <a:prstGeom prst="rect">
            <a:avLst/>
          </a:prstGeom>
          <a:noFill/>
        </p:spPr>
        <p:txBody>
          <a:bodyPr wrap="square">
            <a:spAutoFit/>
          </a:bodyPr>
          <a:lstStyle/>
          <a:p>
            <a:pPr algn="ctr"/>
            <a:r>
              <a:rPr sz="2000" b="1" i="0">
                <a:solidFill>
                  <a:srgbClr val="FF8C00"/>
                </a:solidFill>
              </a:rPr>
              <a:t>1 conf</a:t>
            </a:r>
          </a:p>
        </p:txBody>
      </p:sp>
      <p:sp>
        <p:nvSpPr>
          <p:cNvPr id="17" name="TextBox 16"/>
          <p:cNvSpPr txBox="1"/>
          <p:nvPr/>
        </p:nvSpPr>
        <p:spPr>
          <a:xfrm>
            <a:off x="9235440" y="2130552"/>
            <a:ext cx="2011680" cy="457200"/>
          </a:xfrm>
          <a:prstGeom prst="rect">
            <a:avLst/>
          </a:prstGeom>
          <a:noFill/>
        </p:spPr>
        <p:txBody>
          <a:bodyPr wrap="square">
            <a:spAutoFit/>
          </a:bodyPr>
          <a:lstStyle/>
          <a:p>
            <a:pPr algn="ctr"/>
            <a:r>
              <a:rPr sz="1000" b="0" i="0">
                <a:solidFill>
                  <a:srgbClr val="C8D4EE"/>
                </a:solidFill>
              </a:rPr>
              <a:t>Becomes a year-round
lead engine</a:t>
            </a:r>
          </a:p>
        </p:txBody>
      </p:sp>
      <p:sp>
        <p:nvSpPr>
          <p:cNvPr id="18" name="Rectangle 17"/>
          <p:cNvSpPr/>
          <p:nvPr/>
        </p:nvSpPr>
        <p:spPr>
          <a:xfrm>
            <a:off x="502920" y="3108960"/>
            <a:ext cx="5394960" cy="2971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72968"/>
            <a:ext cx="5120640" cy="320040"/>
          </a:xfrm>
          <a:prstGeom prst="rect">
            <a:avLst/>
          </a:prstGeom>
          <a:noFill/>
        </p:spPr>
        <p:txBody>
          <a:bodyPr wrap="square">
            <a:spAutoFit/>
          </a:bodyPr>
          <a:lstStyle/>
          <a:p>
            <a:pPr algn="l"/>
            <a:r>
              <a:rPr sz="1100" b="1" i="0">
                <a:solidFill>
                  <a:srgbClr val="FF8C00"/>
                </a:solidFill>
              </a:rPr>
              <a:t>WHAT THE AGENT HANDLES BY MAY 19</a:t>
            </a:r>
          </a:p>
        </p:txBody>
      </p:sp>
      <p:sp>
        <p:nvSpPr>
          <p:cNvPr id="20" name="TextBox 19"/>
          <p:cNvSpPr txBox="1"/>
          <p:nvPr/>
        </p:nvSpPr>
        <p:spPr>
          <a:xfrm>
            <a:off x="640080" y="3520440"/>
            <a:ext cx="5120640" cy="2331720"/>
          </a:xfrm>
          <a:prstGeom prst="rect">
            <a:avLst/>
          </a:prstGeom>
          <a:noFill/>
        </p:spPr>
        <p:txBody>
          <a:bodyPr wrap="square">
            <a:spAutoFit/>
          </a:bodyPr>
          <a:lstStyle/>
          <a:p>
            <a:pPr algn="l">
              <a:spcAft>
                <a:spcPts val="600"/>
              </a:spcAft>
            </a:pPr>
            <a:r>
              <a:rPr sz="900"/>
              <a:t>  </a:t>
            </a:r>
            <a:r>
              <a:rPr sz="900" b="1">
                <a:solidFill>
                  <a:srgbClr val="FF8C00"/>
                </a:solidFill>
              </a:rPr>
              <a:t>* </a:t>
            </a:r>
            <a:r>
              <a:rPr sz="1100">
                <a:solidFill>
                  <a:srgbClr val="C8D4EE"/>
                </a:solidFill>
              </a:rPr>
              <a:t>Is there still space available for the May 19 conference?</a:t>
            </a:r>
          </a:p>
          <a:p>
            <a:pPr algn="l">
              <a:spcAft>
                <a:spcPts val="600"/>
              </a:spcAft>
            </a:pPr>
            <a:r>
              <a:rPr sz="900"/>
              <a:t>  </a:t>
            </a:r>
            <a:r>
              <a:rPr sz="900" b="1">
                <a:solidFill>
                  <a:srgbClr val="FF8C00"/>
                </a:solidFill>
              </a:rPr>
              <a:t>* </a:t>
            </a:r>
            <a:r>
              <a:rPr sz="1100">
                <a:solidFill>
                  <a:srgbClr val="C8D4EE"/>
                </a:solidFill>
              </a:rPr>
              <a:t>What's the registration link / where do I pay?</a:t>
            </a:r>
          </a:p>
          <a:p>
            <a:pPr algn="l">
              <a:spcAft>
                <a:spcPts val="600"/>
              </a:spcAft>
            </a:pPr>
            <a:r>
              <a:rPr sz="900"/>
              <a:t>  </a:t>
            </a:r>
            <a:r>
              <a:rPr sz="900" b="1">
                <a:solidFill>
                  <a:srgbClr val="FF8C00"/>
                </a:solidFill>
              </a:rPr>
              <a:t>* </a:t>
            </a:r>
            <a:r>
              <a:rPr sz="1100">
                <a:solidFill>
                  <a:srgbClr val="C8D4EE"/>
                </a:solidFill>
              </a:rPr>
              <a:t>AGING20 promo code - how do I apply it?</a:t>
            </a:r>
          </a:p>
          <a:p>
            <a:pPr algn="l">
              <a:spcAft>
                <a:spcPts val="600"/>
              </a:spcAft>
            </a:pPr>
            <a:r>
              <a:rPr sz="900"/>
              <a:t>  </a:t>
            </a:r>
            <a:r>
              <a:rPr sz="900" b="1">
                <a:solidFill>
                  <a:srgbClr val="FF8C00"/>
                </a:solidFill>
              </a:rPr>
              <a:t>* </a:t>
            </a:r>
            <a:r>
              <a:rPr sz="1100">
                <a:solidFill>
                  <a:srgbClr val="C8D4EE"/>
                </a:solidFill>
              </a:rPr>
              <a:t>Does the conference offer continuing education credits?</a:t>
            </a:r>
          </a:p>
          <a:p>
            <a:pPr algn="l">
              <a:spcAft>
                <a:spcPts val="600"/>
              </a:spcAft>
            </a:pPr>
            <a:r>
              <a:rPr sz="900"/>
              <a:t>  </a:t>
            </a:r>
            <a:r>
              <a:rPr sz="900" b="1">
                <a:solidFill>
                  <a:srgbClr val="FF8C00"/>
                </a:solidFill>
              </a:rPr>
              <a:t>* </a:t>
            </a:r>
            <a:r>
              <a:rPr sz="1100">
                <a:solidFill>
                  <a:srgbClr val="C8D4EE"/>
                </a:solidFill>
              </a:rPr>
              <a:t>Where is Metro Tech / what's the parking situation?</a:t>
            </a:r>
          </a:p>
          <a:p>
            <a:pPr algn="l">
              <a:spcAft>
                <a:spcPts val="600"/>
              </a:spcAft>
            </a:pPr>
            <a:r>
              <a:rPr sz="900"/>
              <a:t>  </a:t>
            </a:r>
            <a:r>
              <a:rPr sz="900" b="1">
                <a:solidFill>
                  <a:srgbClr val="FF8C00"/>
                </a:solidFill>
              </a:rPr>
              <a:t>* </a:t>
            </a:r>
            <a:r>
              <a:rPr sz="1100">
                <a:solidFill>
                  <a:srgbClr val="C8D4EE"/>
                </a:solidFill>
              </a:rPr>
              <a:t>Who are the speakers / what's the agenda?</a:t>
            </a:r>
          </a:p>
          <a:p>
            <a:pPr algn="l"/>
            <a:r>
              <a:rPr sz="900"/>
              <a:t>  </a:t>
            </a:r>
            <a:r>
              <a:rPr sz="900" b="1">
                <a:solidFill>
                  <a:srgbClr val="FF8C00"/>
                </a:solidFill>
              </a:rPr>
              <a:t>* </a:t>
            </a:r>
            <a:r>
              <a:rPr sz="1100">
                <a:solidFill>
                  <a:srgbClr val="C8D4EE"/>
                </a:solidFill>
              </a:rPr>
              <a:t>Can I get a group rate for my organization?</a:t>
            </a:r>
          </a:p>
        </p:txBody>
      </p:sp>
      <p:sp>
        <p:nvSpPr>
          <p:cNvPr id="21" name="Rectangle 20"/>
          <p:cNvSpPr/>
          <p:nvPr/>
        </p:nvSpPr>
        <p:spPr>
          <a:xfrm>
            <a:off x="6080760" y="3108960"/>
            <a:ext cx="5605272" cy="2971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172968"/>
            <a:ext cx="5303520" cy="320040"/>
          </a:xfrm>
          <a:prstGeom prst="rect">
            <a:avLst/>
          </a:prstGeom>
          <a:noFill/>
        </p:spPr>
        <p:txBody>
          <a:bodyPr wrap="square">
            <a:spAutoFit/>
          </a:bodyPr>
          <a:lstStyle/>
          <a:p>
            <a:pPr algn="l"/>
            <a:r>
              <a:rPr sz="1100" b="1" i="0">
                <a:solidFill>
                  <a:srgbClr val="2ECC71"/>
                </a:solidFill>
              </a:rPr>
              <a:t>WHAT THE AGENT ROUTES TO HUMANS</a:t>
            </a:r>
          </a:p>
        </p:txBody>
      </p:sp>
      <p:sp>
        <p:nvSpPr>
          <p:cNvPr id="23" name="TextBox 22"/>
          <p:cNvSpPr txBox="1"/>
          <p:nvPr/>
        </p:nvSpPr>
        <p:spPr>
          <a:xfrm>
            <a:off x="6217920" y="3520440"/>
            <a:ext cx="5303520" cy="233172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Sponsorship inquiries - routed to Andrea with sponsor profile captured</a:t>
            </a:r>
          </a:p>
          <a:p>
            <a:pPr algn="l">
              <a:spcAft>
                <a:spcPts val="600"/>
              </a:spcAft>
            </a:pPr>
            <a:r>
              <a:rPr sz="900"/>
              <a:t>  </a:t>
            </a:r>
            <a:r>
              <a:rPr sz="900" b="1">
                <a:solidFill>
                  <a:srgbClr val="2ECC71"/>
                </a:solidFill>
              </a:rPr>
              <a:t>* </a:t>
            </a:r>
            <a:r>
              <a:rPr sz="1100">
                <a:solidFill>
                  <a:srgbClr val="C8D4EE"/>
                </a:solidFill>
              </a:rPr>
              <a:t>Press / media questions - routed to Madeline with publication context</a:t>
            </a:r>
          </a:p>
          <a:p>
            <a:pPr algn="l">
              <a:spcAft>
                <a:spcPts val="600"/>
              </a:spcAft>
            </a:pPr>
            <a:r>
              <a:rPr sz="900"/>
              <a:t>  </a:t>
            </a:r>
            <a:r>
              <a:rPr sz="900" b="1">
                <a:solidFill>
                  <a:srgbClr val="2ECC71"/>
                </a:solidFill>
              </a:rPr>
              <a:t>* </a:t>
            </a:r>
            <a:r>
              <a:rPr sz="1100">
                <a:solidFill>
                  <a:srgbClr val="C8D4EE"/>
                </a:solidFill>
              </a:rPr>
              <a:t>Speaker requests for future events - routed with topic &amp; credentials</a:t>
            </a:r>
          </a:p>
          <a:p>
            <a:pPr algn="l">
              <a:spcAft>
                <a:spcPts val="600"/>
              </a:spcAft>
            </a:pPr>
            <a:r>
              <a:rPr sz="900"/>
              <a:t>  </a:t>
            </a:r>
            <a:r>
              <a:rPr sz="900" b="1">
                <a:solidFill>
                  <a:srgbClr val="2ECC71"/>
                </a:solidFill>
              </a:rPr>
              <a:t>* </a:t>
            </a:r>
            <a:r>
              <a:rPr sz="1100">
                <a:solidFill>
                  <a:srgbClr val="C8D4EE"/>
                </a:solidFill>
              </a:rPr>
              <a:t>Consulting RFPs that come in via conference traffic - routed to Andrea</a:t>
            </a:r>
          </a:p>
          <a:p>
            <a:pPr algn="l">
              <a:spcAft>
                <a:spcPts val="600"/>
              </a:spcAft>
            </a:pPr>
            <a:r>
              <a:rPr sz="900"/>
              <a:t>  </a:t>
            </a:r>
            <a:r>
              <a:rPr sz="900" b="1">
                <a:solidFill>
                  <a:srgbClr val="2ECC71"/>
                </a:solidFill>
              </a:rPr>
              <a:t>* </a:t>
            </a:r>
            <a:r>
              <a:rPr sz="1100">
                <a:solidFill>
                  <a:srgbClr val="C8D4EE"/>
                </a:solidFill>
              </a:rPr>
              <a:t>Development partnership pitches - routed to Bailey with project detail</a:t>
            </a:r>
          </a:p>
          <a:p>
            <a:pPr algn="l">
              <a:spcAft>
                <a:spcPts val="600"/>
              </a:spcAft>
            </a:pPr>
            <a:r>
              <a:rPr sz="900"/>
              <a:t>  </a:t>
            </a:r>
            <a:r>
              <a:rPr sz="900" b="1">
                <a:solidFill>
                  <a:srgbClr val="2ECC71"/>
                </a:solidFill>
              </a:rPr>
              <a:t>* </a:t>
            </a:r>
            <a:r>
              <a:rPr sz="1100">
                <a:solidFill>
                  <a:srgbClr val="C8D4EE"/>
                </a:solidFill>
              </a:rPr>
              <a:t>Custom training requests for organizations - routed to Madeline</a:t>
            </a:r>
          </a:p>
          <a:p>
            <a:pPr algn="l"/>
            <a:r>
              <a:rPr sz="900"/>
              <a:t>  </a:t>
            </a:r>
            <a:r>
              <a:rPr sz="900" b="1">
                <a:solidFill>
                  <a:srgbClr val="2ECC71"/>
                </a:solidFill>
              </a:rPr>
              <a:t>* </a:t>
            </a:r>
            <a:r>
              <a:rPr sz="1100">
                <a:solidFill>
                  <a:srgbClr val="C8D4EE"/>
                </a:solidFill>
              </a:rPr>
              <a:t>Anything not covered by the agent's knowledge - escalated with summary</a:t>
            </a:r>
          </a:p>
        </p:txBody>
      </p:sp>
      <p:sp>
        <p:nvSpPr>
          <p:cNvPr id="24" name="Rectangle 23"/>
          <p:cNvSpPr/>
          <p:nvPr/>
        </p:nvSpPr>
        <p:spPr>
          <a:xfrm>
            <a:off x="502920" y="6217920"/>
            <a:ext cx="11183112" cy="34747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263640"/>
            <a:ext cx="10972800" cy="256032"/>
          </a:xfrm>
          <a:prstGeom prst="rect">
            <a:avLst/>
          </a:prstGeom>
          <a:noFill/>
        </p:spPr>
        <p:txBody>
          <a:bodyPr wrap="square">
            <a:spAutoFit/>
          </a:bodyPr>
          <a:lstStyle/>
          <a:p>
            <a:pPr algn="l"/>
            <a:r>
              <a:rPr sz="1100" b="0" i="1">
                <a:solidFill>
                  <a:srgbClr val="FF8C00"/>
                </a:solidFill>
              </a:rPr>
              <a:t>Most non-profits regret the conference inbox 48 hours before the event. The fix takes a week, not a month.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IMPLEMENTATION PLAN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Conference First. Then Year-Round Pipeline. Then Scale.</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82496"/>
            <a:ext cx="1673352" cy="384048"/>
          </a:xfrm>
          <a:prstGeom prst="rect">
            <a:avLst/>
          </a:prstGeom>
          <a:noFill/>
        </p:spPr>
        <p:txBody>
          <a:bodyPr wrap="square">
            <a:spAutoFit/>
          </a:bodyPr>
          <a:lstStyle/>
          <a:p>
            <a:pPr algn="l"/>
            <a:r>
              <a:rPr sz="1300" b="1" i="0">
                <a:solidFill>
                  <a:srgbClr val="0A0F2E"/>
                </a:solidFill>
              </a:rPr>
              <a:t>PHASE 1</a:t>
            </a:r>
          </a:p>
        </p:txBody>
      </p:sp>
      <p:sp>
        <p:nvSpPr>
          <p:cNvPr id="9" name="TextBox 8"/>
          <p:cNvSpPr txBox="1"/>
          <p:nvPr/>
        </p:nvSpPr>
        <p:spPr>
          <a:xfrm>
            <a:off x="2107692" y="1719072"/>
            <a:ext cx="1824228" cy="347472"/>
          </a:xfrm>
          <a:prstGeom prst="rect">
            <a:avLst/>
          </a:prstGeom>
          <a:noFill/>
        </p:spPr>
        <p:txBody>
          <a:bodyPr wrap="square">
            <a:spAutoFit/>
          </a:bodyPr>
          <a:lstStyle/>
          <a:p>
            <a:pPr algn="r"/>
            <a:r>
              <a:rPr sz="1100" b="0" i="0">
                <a:solidFill>
                  <a:srgbClr val="0A0F2E"/>
                </a:solidFill>
              </a:rPr>
              <a:t>Week 1 (Pre-Conf)</a:t>
            </a:r>
          </a:p>
        </p:txBody>
      </p:sp>
      <p:sp>
        <p:nvSpPr>
          <p:cNvPr id="10" name="Rectangle 9"/>
          <p:cNvSpPr/>
          <p:nvPr/>
        </p:nvSpPr>
        <p:spPr>
          <a:xfrm>
            <a:off x="502920"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6771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12848"/>
            <a:ext cx="3218688" cy="292608"/>
          </a:xfrm>
          <a:prstGeom prst="rect">
            <a:avLst/>
          </a:prstGeom>
          <a:noFill/>
        </p:spPr>
        <p:txBody>
          <a:bodyPr wrap="square">
            <a:spAutoFit/>
          </a:bodyPr>
          <a:lstStyle/>
          <a:p>
            <a:pPr algn="l"/>
            <a:r>
              <a:rPr sz="1200" b="1" i="0">
                <a:solidFill>
                  <a:srgbClr val="F5C518"/>
                </a:solidFill>
              </a:rPr>
              <a:t>Conference Agent Live</a:t>
            </a:r>
          </a:p>
        </p:txBody>
      </p:sp>
      <p:sp>
        <p:nvSpPr>
          <p:cNvPr id="13" name="TextBox 12"/>
          <p:cNvSpPr txBox="1"/>
          <p:nvPr/>
        </p:nvSpPr>
        <p:spPr>
          <a:xfrm>
            <a:off x="731520" y="2487168"/>
            <a:ext cx="3218688" cy="411480"/>
          </a:xfrm>
          <a:prstGeom prst="rect">
            <a:avLst/>
          </a:prstGeom>
          <a:noFill/>
        </p:spPr>
        <p:txBody>
          <a:bodyPr wrap="square">
            <a:spAutoFit/>
          </a:bodyPr>
          <a:lstStyle/>
          <a:p>
            <a:pPr algn="l"/>
            <a:r>
              <a:rPr sz="1100" b="0" i="0">
                <a:solidFill>
                  <a:srgbClr val="C8D4EE"/>
                </a:solidFill>
              </a:rPr>
              <a:t>AI agent deployed on homepage trained on May 19 conference details, AGING20 promo, CEU info, registration, parking, agenda. Absorbs majority of inquiries in the 8 days before the event.</a:t>
            </a:r>
          </a:p>
        </p:txBody>
      </p:sp>
      <p:sp>
        <p:nvSpPr>
          <p:cNvPr id="14" name="Rectangle 13"/>
          <p:cNvSpPr/>
          <p:nvPr/>
        </p:nvSpPr>
        <p:spPr>
          <a:xfrm>
            <a:off x="612648" y="313639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218688" cy="292608"/>
          </a:xfrm>
          <a:prstGeom prst="rect">
            <a:avLst/>
          </a:prstGeom>
          <a:noFill/>
        </p:spPr>
        <p:txBody>
          <a:bodyPr wrap="square">
            <a:spAutoFit/>
          </a:bodyPr>
          <a:lstStyle/>
          <a:p>
            <a:pPr algn="l"/>
            <a:r>
              <a:rPr sz="1200" b="1" i="0">
                <a:solidFill>
                  <a:srgbClr val="F5C518"/>
                </a:solidFill>
              </a:rPr>
              <a:t>Routing Logic Configured</a:t>
            </a:r>
          </a:p>
        </p:txBody>
      </p:sp>
      <p:sp>
        <p:nvSpPr>
          <p:cNvPr id="16" name="TextBox 15"/>
          <p:cNvSpPr txBox="1"/>
          <p:nvPr/>
        </p:nvSpPr>
        <p:spPr>
          <a:xfrm>
            <a:off x="731520" y="3355848"/>
            <a:ext cx="3218688" cy="411480"/>
          </a:xfrm>
          <a:prstGeom prst="rect">
            <a:avLst/>
          </a:prstGeom>
          <a:noFill/>
        </p:spPr>
        <p:txBody>
          <a:bodyPr wrap="square">
            <a:spAutoFit/>
          </a:bodyPr>
          <a:lstStyle/>
          <a:p>
            <a:pPr algn="l"/>
            <a:r>
              <a:rPr sz="1100" b="0" i="0">
                <a:solidFill>
                  <a:srgbClr val="C8D4EE"/>
                </a:solidFill>
              </a:rPr>
              <a:t>Sponsorship, press, custom training routes set up. Madeline, Bailey, Andrea each receive only inquiries that need them - with full context already captured.</a:t>
            </a:r>
          </a:p>
        </p:txBody>
      </p:sp>
      <p:sp>
        <p:nvSpPr>
          <p:cNvPr id="17" name="Rectangle 16"/>
          <p:cNvSpPr/>
          <p:nvPr/>
        </p:nvSpPr>
        <p:spPr>
          <a:xfrm>
            <a:off x="612648" y="400507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50208"/>
            <a:ext cx="3218688" cy="292608"/>
          </a:xfrm>
          <a:prstGeom prst="rect">
            <a:avLst/>
          </a:prstGeom>
          <a:noFill/>
        </p:spPr>
        <p:txBody>
          <a:bodyPr wrap="square">
            <a:spAutoFit/>
          </a:bodyPr>
          <a:lstStyle/>
          <a:p>
            <a:pPr algn="l"/>
            <a:r>
              <a:rPr sz="1200" b="1" i="0">
                <a:solidFill>
                  <a:srgbClr val="F5C518"/>
                </a:solidFill>
              </a:rPr>
              <a:t>Team Training &amp; Refinement</a:t>
            </a:r>
          </a:p>
        </p:txBody>
      </p:sp>
      <p:sp>
        <p:nvSpPr>
          <p:cNvPr id="19" name="TextBox 18"/>
          <p:cNvSpPr txBox="1"/>
          <p:nvPr/>
        </p:nvSpPr>
        <p:spPr>
          <a:xfrm>
            <a:off x="731520" y="4224528"/>
            <a:ext cx="3218688" cy="411480"/>
          </a:xfrm>
          <a:prstGeom prst="rect">
            <a:avLst/>
          </a:prstGeom>
          <a:noFill/>
        </p:spPr>
        <p:txBody>
          <a:bodyPr wrap="square">
            <a:spAutoFit/>
          </a:bodyPr>
          <a:lstStyle/>
          <a:p>
            <a:pPr algn="l"/>
            <a:r>
              <a:rPr sz="1100" b="0" i="0">
                <a:solidFill>
                  <a:srgbClr val="C8D4EE"/>
                </a:solidFill>
              </a:rPr>
              <a:t>Team monitors agent responses for first 48 hours. Refines knowledge base. By Day 3, agent runs autonomously through conference week.</a:t>
            </a:r>
          </a:p>
        </p:txBody>
      </p:sp>
      <p:sp>
        <p:nvSpPr>
          <p:cNvPr id="20" name="Rectangle 19"/>
          <p:cNvSpPr/>
          <p:nvPr/>
        </p:nvSpPr>
        <p:spPr>
          <a:xfrm>
            <a:off x="4233672" y="1645920"/>
            <a:ext cx="356616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682496"/>
            <a:ext cx="1673352" cy="384048"/>
          </a:xfrm>
          <a:prstGeom prst="rect">
            <a:avLst/>
          </a:prstGeom>
          <a:noFill/>
        </p:spPr>
        <p:txBody>
          <a:bodyPr wrap="square">
            <a:spAutoFit/>
          </a:bodyPr>
          <a:lstStyle/>
          <a:p>
            <a:pPr algn="l"/>
            <a:r>
              <a:rPr sz="1300" b="1" i="0">
                <a:solidFill>
                  <a:srgbClr val="0A0F2E"/>
                </a:solidFill>
              </a:rPr>
              <a:t>PHASE 2</a:t>
            </a:r>
          </a:p>
        </p:txBody>
      </p:sp>
      <p:sp>
        <p:nvSpPr>
          <p:cNvPr id="22" name="TextBox 21"/>
          <p:cNvSpPr txBox="1"/>
          <p:nvPr/>
        </p:nvSpPr>
        <p:spPr>
          <a:xfrm>
            <a:off x="5838444" y="1719072"/>
            <a:ext cx="1824228" cy="347472"/>
          </a:xfrm>
          <a:prstGeom prst="rect">
            <a:avLst/>
          </a:prstGeom>
          <a:noFill/>
        </p:spPr>
        <p:txBody>
          <a:bodyPr wrap="square">
            <a:spAutoFit/>
          </a:bodyPr>
          <a:lstStyle/>
          <a:p>
            <a:pPr algn="r"/>
            <a:r>
              <a:rPr sz="1100" b="0" i="0">
                <a:solidFill>
                  <a:srgbClr val="0A0F2E"/>
                </a:solidFill>
              </a:rPr>
              <a:t>Weeks 2-4 (Post-Conf)</a:t>
            </a:r>
          </a:p>
        </p:txBody>
      </p:sp>
      <p:sp>
        <p:nvSpPr>
          <p:cNvPr id="23" name="Rectangle 22"/>
          <p:cNvSpPr/>
          <p:nvPr/>
        </p:nvSpPr>
        <p:spPr>
          <a:xfrm>
            <a:off x="4233672"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226771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2212848"/>
            <a:ext cx="3218688" cy="292608"/>
          </a:xfrm>
          <a:prstGeom prst="rect">
            <a:avLst/>
          </a:prstGeom>
          <a:noFill/>
        </p:spPr>
        <p:txBody>
          <a:bodyPr wrap="square">
            <a:spAutoFit/>
          </a:bodyPr>
          <a:lstStyle/>
          <a:p>
            <a:pPr algn="l"/>
            <a:r>
              <a:rPr sz="1200" b="1" i="0">
                <a:solidFill>
                  <a:srgbClr val="4F8EFF"/>
                </a:solidFill>
              </a:rPr>
              <a:t>Three-Track Intake Forms</a:t>
            </a:r>
          </a:p>
        </p:txBody>
      </p:sp>
      <p:sp>
        <p:nvSpPr>
          <p:cNvPr id="26" name="TextBox 25"/>
          <p:cNvSpPr txBox="1"/>
          <p:nvPr/>
        </p:nvSpPr>
        <p:spPr>
          <a:xfrm>
            <a:off x="4462272" y="2487168"/>
            <a:ext cx="3218688" cy="411480"/>
          </a:xfrm>
          <a:prstGeom prst="rect">
            <a:avLst/>
          </a:prstGeom>
          <a:noFill/>
        </p:spPr>
        <p:txBody>
          <a:bodyPr wrap="square">
            <a:spAutoFit/>
          </a:bodyPr>
          <a:lstStyle/>
          <a:p>
            <a:pPr algn="l"/>
            <a:r>
              <a:rPr sz="1100" b="0" i="0">
                <a:solidFill>
                  <a:srgbClr val="C8D4EE"/>
                </a:solidFill>
              </a:rPr>
              <a:t>Training, Consulting, Development each get a qualifying intake form. Conference attendees become year-round Training and Consulting prospects.</a:t>
            </a:r>
          </a:p>
        </p:txBody>
      </p:sp>
      <p:sp>
        <p:nvSpPr>
          <p:cNvPr id="27" name="Rectangle 26"/>
          <p:cNvSpPr/>
          <p:nvPr/>
        </p:nvSpPr>
        <p:spPr>
          <a:xfrm>
            <a:off x="4343400" y="313639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3081528"/>
            <a:ext cx="3218688" cy="292608"/>
          </a:xfrm>
          <a:prstGeom prst="rect">
            <a:avLst/>
          </a:prstGeom>
          <a:noFill/>
        </p:spPr>
        <p:txBody>
          <a:bodyPr wrap="square">
            <a:spAutoFit/>
          </a:bodyPr>
          <a:lstStyle/>
          <a:p>
            <a:pPr algn="l"/>
            <a:r>
              <a:rPr sz="1200" b="1" i="0">
                <a:solidFill>
                  <a:srgbClr val="4F8EFF"/>
                </a:solidFill>
              </a:rPr>
              <a:t>CEU Certificate Automation</a:t>
            </a:r>
          </a:p>
        </p:txBody>
      </p:sp>
      <p:sp>
        <p:nvSpPr>
          <p:cNvPr id="29" name="TextBox 28"/>
          <p:cNvSpPr txBox="1"/>
          <p:nvPr/>
        </p:nvSpPr>
        <p:spPr>
          <a:xfrm>
            <a:off x="4462272" y="3355848"/>
            <a:ext cx="3218688" cy="411480"/>
          </a:xfrm>
          <a:prstGeom prst="rect">
            <a:avLst/>
          </a:prstGeom>
          <a:noFill/>
        </p:spPr>
        <p:txBody>
          <a:bodyPr wrap="square">
            <a:spAutoFit/>
          </a:bodyPr>
          <a:lstStyle/>
          <a:p>
            <a:pPr algn="l"/>
            <a:r>
              <a:rPr sz="1100" b="0" i="0">
                <a:solidFill>
                  <a:srgbClr val="C8D4EE"/>
                </a:solidFill>
              </a:rPr>
              <a:t>Automated CEU certificate delivery to all conference attendees. Post-event satisfaction survey. Recording access link automation.</a:t>
            </a:r>
          </a:p>
        </p:txBody>
      </p:sp>
      <p:sp>
        <p:nvSpPr>
          <p:cNvPr id="30" name="Rectangle 29"/>
          <p:cNvSpPr/>
          <p:nvPr/>
        </p:nvSpPr>
        <p:spPr>
          <a:xfrm>
            <a:off x="4343400" y="400507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2272" y="3950208"/>
            <a:ext cx="3218688" cy="292608"/>
          </a:xfrm>
          <a:prstGeom prst="rect">
            <a:avLst/>
          </a:prstGeom>
          <a:noFill/>
        </p:spPr>
        <p:txBody>
          <a:bodyPr wrap="square">
            <a:spAutoFit/>
          </a:bodyPr>
          <a:lstStyle/>
          <a:p>
            <a:pPr algn="l"/>
            <a:r>
              <a:rPr sz="1200" b="1" i="0">
                <a:solidFill>
                  <a:srgbClr val="4F8EFF"/>
                </a:solidFill>
              </a:rPr>
              <a:t>Newsletter Welcome Series</a:t>
            </a:r>
          </a:p>
        </p:txBody>
      </p:sp>
      <p:sp>
        <p:nvSpPr>
          <p:cNvPr id="32" name="TextBox 31"/>
          <p:cNvSpPr txBox="1"/>
          <p:nvPr/>
        </p:nvSpPr>
        <p:spPr>
          <a:xfrm>
            <a:off x="4462272" y="4224528"/>
            <a:ext cx="3218688" cy="411480"/>
          </a:xfrm>
          <a:prstGeom prst="rect">
            <a:avLst/>
          </a:prstGeom>
          <a:noFill/>
        </p:spPr>
        <p:txBody>
          <a:bodyPr wrap="square">
            <a:spAutoFit/>
          </a:bodyPr>
          <a:lstStyle/>
          <a:p>
            <a:pPr algn="l"/>
            <a:r>
              <a:rPr sz="1100" b="0" i="0">
                <a:solidFill>
                  <a:srgbClr val="C8D4EE"/>
                </a:solidFill>
              </a:rPr>
              <a:t>OK housing policy welcome sequence live. Conference attendee email list seeds the year-round nurture engine.</a:t>
            </a:r>
          </a:p>
        </p:txBody>
      </p:sp>
      <p:sp>
        <p:nvSpPr>
          <p:cNvPr id="33" name="Rectangle 32"/>
          <p:cNvSpPr/>
          <p:nvPr/>
        </p:nvSpPr>
        <p:spPr>
          <a:xfrm>
            <a:off x="7964424" y="1645920"/>
            <a:ext cx="356616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74152" y="1682496"/>
            <a:ext cx="1673352" cy="384048"/>
          </a:xfrm>
          <a:prstGeom prst="rect">
            <a:avLst/>
          </a:prstGeom>
          <a:noFill/>
        </p:spPr>
        <p:txBody>
          <a:bodyPr wrap="square">
            <a:spAutoFit/>
          </a:bodyPr>
          <a:lstStyle/>
          <a:p>
            <a:pPr algn="l"/>
            <a:r>
              <a:rPr sz="1300" b="1" i="0">
                <a:solidFill>
                  <a:srgbClr val="0A0F2E"/>
                </a:solidFill>
              </a:rPr>
              <a:t>PHASE 3</a:t>
            </a:r>
          </a:p>
        </p:txBody>
      </p:sp>
      <p:sp>
        <p:nvSpPr>
          <p:cNvPr id="35" name="TextBox 34"/>
          <p:cNvSpPr txBox="1"/>
          <p:nvPr/>
        </p:nvSpPr>
        <p:spPr>
          <a:xfrm>
            <a:off x="9569196" y="1719072"/>
            <a:ext cx="1824228" cy="347472"/>
          </a:xfrm>
          <a:prstGeom prst="rect">
            <a:avLst/>
          </a:prstGeom>
          <a:noFill/>
        </p:spPr>
        <p:txBody>
          <a:bodyPr wrap="square">
            <a:spAutoFit/>
          </a:bodyPr>
          <a:lstStyle/>
          <a:p>
            <a:pPr algn="r"/>
            <a:r>
              <a:rPr sz="1100" b="0" i="0">
                <a:solidFill>
                  <a:srgbClr val="0A0F2E"/>
                </a:solidFill>
              </a:rPr>
              <a:t>Months 2-3</a:t>
            </a:r>
          </a:p>
        </p:txBody>
      </p:sp>
      <p:sp>
        <p:nvSpPr>
          <p:cNvPr id="36" name="Rectangle 35"/>
          <p:cNvSpPr/>
          <p:nvPr/>
        </p:nvSpPr>
        <p:spPr>
          <a:xfrm>
            <a:off x="7964424"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74152" y="226771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2212848"/>
            <a:ext cx="3218688" cy="292608"/>
          </a:xfrm>
          <a:prstGeom prst="rect">
            <a:avLst/>
          </a:prstGeom>
          <a:noFill/>
        </p:spPr>
        <p:txBody>
          <a:bodyPr wrap="square">
            <a:spAutoFit/>
          </a:bodyPr>
          <a:lstStyle/>
          <a:p>
            <a:pPr algn="l"/>
            <a:r>
              <a:rPr sz="1200" b="1" i="0">
                <a:solidFill>
                  <a:srgbClr val="2ECC71"/>
                </a:solidFill>
              </a:rPr>
              <a:t>Donor + Recurring Giving</a:t>
            </a:r>
          </a:p>
        </p:txBody>
      </p:sp>
      <p:sp>
        <p:nvSpPr>
          <p:cNvPr id="39" name="TextBox 38"/>
          <p:cNvSpPr txBox="1"/>
          <p:nvPr/>
        </p:nvSpPr>
        <p:spPr>
          <a:xfrm>
            <a:off x="8193024" y="2487168"/>
            <a:ext cx="3218688" cy="411480"/>
          </a:xfrm>
          <a:prstGeom prst="rect">
            <a:avLst/>
          </a:prstGeom>
          <a:noFill/>
        </p:spPr>
        <p:txBody>
          <a:bodyPr wrap="square">
            <a:spAutoFit/>
          </a:bodyPr>
          <a:lstStyle/>
          <a:p>
            <a:pPr algn="l"/>
            <a:r>
              <a:rPr sz="1100" b="0" i="0">
                <a:solidFill>
                  <a:srgbClr val="C8D4EE"/>
                </a:solidFill>
              </a:rPr>
              <a:t>Donor CTA live with Spark Good grant credibility woven into the story. Recurring monthly giving option active.</a:t>
            </a:r>
          </a:p>
        </p:txBody>
      </p:sp>
      <p:sp>
        <p:nvSpPr>
          <p:cNvPr id="40" name="Rectangle 39"/>
          <p:cNvSpPr/>
          <p:nvPr/>
        </p:nvSpPr>
        <p:spPr>
          <a:xfrm>
            <a:off x="8074152" y="313639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93024" y="3081528"/>
            <a:ext cx="3218688" cy="292608"/>
          </a:xfrm>
          <a:prstGeom prst="rect">
            <a:avLst/>
          </a:prstGeom>
          <a:noFill/>
        </p:spPr>
        <p:txBody>
          <a:bodyPr wrap="square">
            <a:spAutoFit/>
          </a:bodyPr>
          <a:lstStyle/>
          <a:p>
            <a:pPr algn="l"/>
            <a:r>
              <a:rPr sz="1200" b="1" i="0">
                <a:solidFill>
                  <a:srgbClr val="2ECC71"/>
                </a:solidFill>
              </a:rPr>
              <a:t>Thought Leadership Engine</a:t>
            </a:r>
          </a:p>
        </p:txBody>
      </p:sp>
      <p:sp>
        <p:nvSpPr>
          <p:cNvPr id="42" name="TextBox 41"/>
          <p:cNvSpPr txBox="1"/>
          <p:nvPr/>
        </p:nvSpPr>
        <p:spPr>
          <a:xfrm>
            <a:off x="8193024" y="3355848"/>
            <a:ext cx="3218688" cy="411480"/>
          </a:xfrm>
          <a:prstGeom prst="rect">
            <a:avLst/>
          </a:prstGeom>
          <a:noFill/>
        </p:spPr>
        <p:txBody>
          <a:bodyPr wrap="square">
            <a:spAutoFit/>
          </a:bodyPr>
          <a:lstStyle/>
          <a:p>
            <a:pPr algn="l"/>
            <a:r>
              <a:rPr sz="1100" b="0" i="0">
                <a:solidFill>
                  <a:srgbClr val="C8D4EE"/>
                </a:solidFill>
              </a:rPr>
              <a:t>First Andrea-voice articles on OK senior housing policy and affordable housing finance published and indexed. Coalition cross-promotion active.</a:t>
            </a:r>
          </a:p>
        </p:txBody>
      </p:sp>
      <p:sp>
        <p:nvSpPr>
          <p:cNvPr id="43" name="Rectangle 42"/>
          <p:cNvSpPr/>
          <p:nvPr/>
        </p:nvSpPr>
        <p:spPr>
          <a:xfrm>
            <a:off x="8074152" y="400507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3950208"/>
            <a:ext cx="3218688" cy="292608"/>
          </a:xfrm>
          <a:prstGeom prst="rect">
            <a:avLst/>
          </a:prstGeom>
          <a:noFill/>
        </p:spPr>
        <p:txBody>
          <a:bodyPr wrap="square">
            <a:spAutoFit/>
          </a:bodyPr>
          <a:lstStyle/>
          <a:p>
            <a:pPr algn="l"/>
            <a:r>
              <a:rPr sz="1200" b="1" i="0">
                <a:solidFill>
                  <a:srgbClr val="2ECC71"/>
                </a:solidFill>
              </a:rPr>
              <a:t>Spanish-Language Site</a:t>
            </a:r>
          </a:p>
        </p:txBody>
      </p:sp>
      <p:sp>
        <p:nvSpPr>
          <p:cNvPr id="45" name="TextBox 44"/>
          <p:cNvSpPr txBox="1"/>
          <p:nvPr/>
        </p:nvSpPr>
        <p:spPr>
          <a:xfrm>
            <a:off x="8193024" y="4224528"/>
            <a:ext cx="3218688" cy="411480"/>
          </a:xfrm>
          <a:prstGeom prst="rect">
            <a:avLst/>
          </a:prstGeom>
          <a:noFill/>
        </p:spPr>
        <p:txBody>
          <a:bodyPr wrap="square">
            <a:spAutoFit/>
          </a:bodyPr>
          <a:lstStyle/>
          <a:p>
            <a:pPr algn="l"/>
            <a:r>
              <a:rPr sz="1100" b="0" i="0">
                <a:solidFill>
                  <a:srgbClr val="C8D4EE"/>
                </a:solidFill>
              </a:rPr>
              <a:t>AI-translated Spanish version of core service pages live. Coalition anniversary year landing pages built. 2027 conference early-interest pipeline already capturing leads.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BEFORE vs AFTER</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What Actually Changes for Housing for Communities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4937760" cy="3200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4754880" cy="256032"/>
          </a:xfrm>
          <a:prstGeom prst="rect">
            <a:avLst/>
          </a:prstGeom>
          <a:noFill/>
        </p:spPr>
        <p:txBody>
          <a:bodyPr wrap="square">
            <a:spAutoFit/>
          </a:bodyPr>
          <a:lstStyle/>
          <a:p>
            <a:pPr algn="l"/>
            <a:r>
              <a:rPr sz="1100" b="1" i="0">
                <a:solidFill>
                  <a:srgbClr val="FFFFFF"/>
                </a:solidFill>
              </a:rPr>
              <a:t>TODAY</a:t>
            </a:r>
          </a:p>
        </p:txBody>
      </p:sp>
      <p:sp>
        <p:nvSpPr>
          <p:cNvPr id="9" name="Rectangle 8"/>
          <p:cNvSpPr/>
          <p:nvPr/>
        </p:nvSpPr>
        <p:spPr>
          <a:xfrm>
            <a:off x="5897880" y="1508760"/>
            <a:ext cx="5330952" cy="3200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536192"/>
            <a:ext cx="4937760" cy="256032"/>
          </a:xfrm>
          <a:prstGeom prst="rect">
            <a:avLst/>
          </a:prstGeom>
          <a:noFill/>
        </p:spPr>
        <p:txBody>
          <a:bodyPr wrap="square">
            <a:spAutoFit/>
          </a:bodyPr>
          <a:lstStyle/>
          <a:p>
            <a:pPr algn="l"/>
            <a:r>
              <a:rPr sz="1100" b="1" i="0">
                <a:solidFill>
                  <a:srgbClr val="FFFFFF"/>
                </a:solidFill>
              </a:rPr>
              <a:t>AFTER 90 DAYS</a:t>
            </a:r>
          </a:p>
        </p:txBody>
      </p:sp>
      <p:sp>
        <p:nvSpPr>
          <p:cNvPr id="11" name="Rectangle 10"/>
          <p:cNvSpPr/>
          <p:nvPr/>
        </p:nvSpPr>
        <p:spPr>
          <a:xfrm>
            <a:off x="502920" y="1920240"/>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38528"/>
            <a:ext cx="10972800" cy="182880"/>
          </a:xfrm>
          <a:prstGeom prst="rect">
            <a:avLst/>
          </a:prstGeom>
          <a:noFill/>
        </p:spPr>
        <p:txBody>
          <a:bodyPr wrap="square">
            <a:spAutoFit/>
          </a:bodyPr>
          <a:lstStyle/>
          <a:p>
            <a:pPr algn="l"/>
            <a:r>
              <a:rPr sz="900" b="1" i="0">
                <a:solidFill>
                  <a:srgbClr val="8A9BBB"/>
                </a:solidFill>
              </a:rPr>
              <a:t>CONFERENCE INQUIRIES</a:t>
            </a:r>
          </a:p>
        </p:txBody>
      </p:sp>
      <p:sp>
        <p:nvSpPr>
          <p:cNvPr id="13" name="TextBox 12"/>
          <p:cNvSpPr txBox="1"/>
          <p:nvPr/>
        </p:nvSpPr>
        <p:spPr>
          <a:xfrm>
            <a:off x="594360" y="2139696"/>
            <a:ext cx="4754880" cy="603504"/>
          </a:xfrm>
          <a:prstGeom prst="rect">
            <a:avLst/>
          </a:prstGeom>
          <a:noFill/>
        </p:spPr>
        <p:txBody>
          <a:bodyPr wrap="square">
            <a:spAutoFit/>
          </a:bodyPr>
          <a:lstStyle/>
          <a:p>
            <a:pPr algn="l"/>
            <a:r>
              <a:rPr sz="1100" b="0" i="0">
                <a:solidFill>
                  <a:srgbClr val="C8D4EE"/>
                </a:solidFill>
              </a:rPr>
              <a:t>Every question - registration, AGING20, CEU, parking, agenda - hits info@ and waits for Madeline or Bailey to type a reply. Capacity drains in the week before the event.</a:t>
            </a:r>
          </a:p>
        </p:txBody>
      </p:sp>
      <p:sp>
        <p:nvSpPr>
          <p:cNvPr id="14" name="TextBox 13"/>
          <p:cNvSpPr txBox="1"/>
          <p:nvPr/>
        </p:nvSpPr>
        <p:spPr>
          <a:xfrm>
            <a:off x="5989320" y="2139696"/>
            <a:ext cx="4937760" cy="603504"/>
          </a:xfrm>
          <a:prstGeom prst="rect">
            <a:avLst/>
          </a:prstGeom>
          <a:noFill/>
        </p:spPr>
        <p:txBody>
          <a:bodyPr wrap="square">
            <a:spAutoFit/>
          </a:bodyPr>
          <a:lstStyle/>
          <a:p>
            <a:pPr algn="l"/>
            <a:r>
              <a:rPr sz="1100" b="0" i="0">
                <a:solidFill>
                  <a:srgbClr val="FFFFFF"/>
                </a:solidFill>
              </a:rPr>
              <a:t>AI agent answers 70-80% in real time. Sponsorship and press routed to humans with context. Madeline focused on attendee experience, not inbox triage.</a:t>
            </a:r>
          </a:p>
        </p:txBody>
      </p:sp>
      <p:sp>
        <p:nvSpPr>
          <p:cNvPr id="15" name="Rectangle 14"/>
          <p:cNvSpPr/>
          <p:nvPr/>
        </p:nvSpPr>
        <p:spPr>
          <a:xfrm>
            <a:off x="502920" y="2852928"/>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71216"/>
            <a:ext cx="10972800" cy="182880"/>
          </a:xfrm>
          <a:prstGeom prst="rect">
            <a:avLst/>
          </a:prstGeom>
          <a:noFill/>
        </p:spPr>
        <p:txBody>
          <a:bodyPr wrap="square">
            <a:spAutoFit/>
          </a:bodyPr>
          <a:lstStyle/>
          <a:p>
            <a:pPr algn="l"/>
            <a:r>
              <a:rPr sz="900" b="1" i="0">
                <a:solidFill>
                  <a:srgbClr val="8A9BBB"/>
                </a:solidFill>
              </a:rPr>
              <a:t>SERVICE LINE ROUTING</a:t>
            </a:r>
          </a:p>
        </p:txBody>
      </p:sp>
      <p:sp>
        <p:nvSpPr>
          <p:cNvPr id="17" name="TextBox 16"/>
          <p:cNvSpPr txBox="1"/>
          <p:nvPr/>
        </p:nvSpPr>
        <p:spPr>
          <a:xfrm>
            <a:off x="594360" y="3072384"/>
            <a:ext cx="4754880" cy="603504"/>
          </a:xfrm>
          <a:prstGeom prst="rect">
            <a:avLst/>
          </a:prstGeom>
          <a:noFill/>
        </p:spPr>
        <p:txBody>
          <a:bodyPr wrap="square">
            <a:spAutoFit/>
          </a:bodyPr>
          <a:lstStyle/>
          <a:p>
            <a:pPr algn="l"/>
            <a:r>
              <a:rPr sz="1100" b="0" i="0">
                <a:solidFill>
                  <a:srgbClr val="C8D4EE"/>
                </a:solidFill>
              </a:rPr>
              <a:t>Training enrollment, consulting RFP, and development partnership all use the same 4-field form. Bailey and Andrea get inquiries with no qualifying detail.</a:t>
            </a:r>
          </a:p>
        </p:txBody>
      </p:sp>
      <p:sp>
        <p:nvSpPr>
          <p:cNvPr id="18" name="TextBox 17"/>
          <p:cNvSpPr txBox="1"/>
          <p:nvPr/>
        </p:nvSpPr>
        <p:spPr>
          <a:xfrm>
            <a:off x="5989320" y="3072384"/>
            <a:ext cx="4937760" cy="603504"/>
          </a:xfrm>
          <a:prstGeom prst="rect">
            <a:avLst/>
          </a:prstGeom>
          <a:noFill/>
        </p:spPr>
        <p:txBody>
          <a:bodyPr wrap="square">
            <a:spAutoFit/>
          </a:bodyPr>
          <a:lstStyle/>
          <a:p>
            <a:pPr algn="l"/>
            <a:r>
              <a:rPr sz="1100" b="0" i="0">
                <a:solidFill>
                  <a:srgbClr val="FFFFFF"/>
                </a:solidFill>
              </a:rPr>
              <a:t>Three-track intake captures project type, timeline, budget range, geography. First reply is substantive - no triage round trip.</a:t>
            </a:r>
          </a:p>
        </p:txBody>
      </p:sp>
      <p:sp>
        <p:nvSpPr>
          <p:cNvPr id="19" name="Rectangle 18"/>
          <p:cNvSpPr/>
          <p:nvPr/>
        </p:nvSpPr>
        <p:spPr>
          <a:xfrm>
            <a:off x="502920" y="3785616"/>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03904"/>
            <a:ext cx="10972800" cy="182880"/>
          </a:xfrm>
          <a:prstGeom prst="rect">
            <a:avLst/>
          </a:prstGeom>
          <a:noFill/>
        </p:spPr>
        <p:txBody>
          <a:bodyPr wrap="square">
            <a:spAutoFit/>
          </a:bodyPr>
          <a:lstStyle/>
          <a:p>
            <a:pPr algn="l"/>
            <a:r>
              <a:rPr sz="900" b="1" i="0">
                <a:solidFill>
                  <a:srgbClr val="8A9BBB"/>
                </a:solidFill>
              </a:rPr>
              <a:t>DONOR ENGAGEMENT</a:t>
            </a:r>
          </a:p>
        </p:txBody>
      </p:sp>
      <p:sp>
        <p:nvSpPr>
          <p:cNvPr id="21" name="TextBox 20"/>
          <p:cNvSpPr txBox="1"/>
          <p:nvPr/>
        </p:nvSpPr>
        <p:spPr>
          <a:xfrm>
            <a:off x="594360" y="4005072"/>
            <a:ext cx="4754880" cy="603504"/>
          </a:xfrm>
          <a:prstGeom prst="rect">
            <a:avLst/>
          </a:prstGeom>
          <a:noFill/>
        </p:spPr>
        <p:txBody>
          <a:bodyPr wrap="square">
            <a:spAutoFit/>
          </a:bodyPr>
          <a:lstStyle/>
          <a:p>
            <a:pPr algn="l"/>
            <a:r>
              <a:rPr sz="1100" b="0" i="0">
                <a:solidFill>
                  <a:srgbClr val="C8D4EE"/>
                </a:solidFill>
              </a:rPr>
              <a:t>Spark Good grants from Walmart and Sam's Club are credibility the website does not surface. No donor CTA, no recurring giving option, no donor wall.</a:t>
            </a:r>
          </a:p>
        </p:txBody>
      </p:sp>
      <p:sp>
        <p:nvSpPr>
          <p:cNvPr id="22" name="TextBox 21"/>
          <p:cNvSpPr txBox="1"/>
          <p:nvPr/>
        </p:nvSpPr>
        <p:spPr>
          <a:xfrm>
            <a:off x="5989320" y="4005072"/>
            <a:ext cx="4937760" cy="603504"/>
          </a:xfrm>
          <a:prstGeom prst="rect">
            <a:avLst/>
          </a:prstGeom>
          <a:noFill/>
        </p:spPr>
        <p:txBody>
          <a:bodyPr wrap="square">
            <a:spAutoFit/>
          </a:bodyPr>
          <a:lstStyle/>
          <a:p>
            <a:pPr algn="l"/>
            <a:r>
              <a:rPr sz="1100" b="0" i="0">
                <a:solidFill>
                  <a:srgbClr val="FFFFFF"/>
                </a:solidFill>
              </a:rPr>
              <a:t>Donor flow live with grant-credibility story. Recurring monthly giving option drives compounding revenue. Donor recognition surfaced on the site.</a:t>
            </a:r>
          </a:p>
        </p:txBody>
      </p:sp>
      <p:sp>
        <p:nvSpPr>
          <p:cNvPr id="23" name="Rectangle 22"/>
          <p:cNvSpPr/>
          <p:nvPr/>
        </p:nvSpPr>
        <p:spPr>
          <a:xfrm>
            <a:off x="502920" y="4718304"/>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736592"/>
            <a:ext cx="10972800" cy="182880"/>
          </a:xfrm>
          <a:prstGeom prst="rect">
            <a:avLst/>
          </a:prstGeom>
          <a:noFill/>
        </p:spPr>
        <p:txBody>
          <a:bodyPr wrap="square">
            <a:spAutoFit/>
          </a:bodyPr>
          <a:lstStyle/>
          <a:p>
            <a:pPr algn="l"/>
            <a:r>
              <a:rPr sz="900" b="1" i="0">
                <a:solidFill>
                  <a:srgbClr val="8A9BBB"/>
                </a:solidFill>
              </a:rPr>
              <a:t>THOUGHT LEADERSHIP</a:t>
            </a:r>
          </a:p>
        </p:txBody>
      </p:sp>
      <p:sp>
        <p:nvSpPr>
          <p:cNvPr id="25" name="TextBox 24"/>
          <p:cNvSpPr txBox="1"/>
          <p:nvPr/>
        </p:nvSpPr>
        <p:spPr>
          <a:xfrm>
            <a:off x="594360" y="4937760"/>
            <a:ext cx="4754880" cy="603504"/>
          </a:xfrm>
          <a:prstGeom prst="rect">
            <a:avLst/>
          </a:prstGeom>
          <a:noFill/>
        </p:spPr>
        <p:txBody>
          <a:bodyPr wrap="square">
            <a:spAutoFit/>
          </a:bodyPr>
          <a:lstStyle/>
          <a:p>
            <a:pPr algn="l"/>
            <a:r>
              <a:rPr sz="1100" b="0" i="0">
                <a:solidFill>
                  <a:srgbClr val="C8D4EE"/>
                </a:solidFill>
              </a:rPr>
              <a:t>Andrea's CCIM expertise, founder role, and Advocate-of-Year award barely surface as web content. Most expertise stays on her LinkedIn.</a:t>
            </a:r>
          </a:p>
        </p:txBody>
      </p:sp>
      <p:sp>
        <p:nvSpPr>
          <p:cNvPr id="26" name="TextBox 25"/>
          <p:cNvSpPr txBox="1"/>
          <p:nvPr/>
        </p:nvSpPr>
        <p:spPr>
          <a:xfrm>
            <a:off x="5989320" y="4937760"/>
            <a:ext cx="4937760" cy="603504"/>
          </a:xfrm>
          <a:prstGeom prst="rect">
            <a:avLst/>
          </a:prstGeom>
          <a:noFill/>
        </p:spPr>
        <p:txBody>
          <a:bodyPr wrap="square">
            <a:spAutoFit/>
          </a:bodyPr>
          <a:lstStyle/>
          <a:p>
            <a:pPr algn="l"/>
            <a:r>
              <a:rPr sz="1100" b="0" i="0">
                <a:solidFill>
                  <a:srgbClr val="FFFFFF"/>
                </a:solidFill>
              </a:rPr>
              <a:t>Andrea-voice content engine produces indexed articles on OK housing policy and senior housing. Coalition anniversary year cross-promoted. Authority compounds across years.</a:t>
            </a:r>
          </a:p>
        </p:txBody>
      </p:sp>
      <p:sp>
        <p:nvSpPr>
          <p:cNvPr id="27" name="Rectangle 26"/>
          <p:cNvSpPr/>
          <p:nvPr/>
        </p:nvSpPr>
        <p:spPr>
          <a:xfrm>
            <a:off x="502920" y="5650992"/>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669280"/>
            <a:ext cx="10972800" cy="182880"/>
          </a:xfrm>
          <a:prstGeom prst="rect">
            <a:avLst/>
          </a:prstGeom>
          <a:noFill/>
        </p:spPr>
        <p:txBody>
          <a:bodyPr wrap="square">
            <a:spAutoFit/>
          </a:bodyPr>
          <a:lstStyle/>
          <a:p>
            <a:pPr algn="l"/>
            <a:r>
              <a:rPr sz="900" b="1" i="0">
                <a:solidFill>
                  <a:srgbClr val="8A9BBB"/>
                </a:solidFill>
              </a:rPr>
              <a:t>YEAR-ROUND PIPELINE</a:t>
            </a:r>
          </a:p>
        </p:txBody>
      </p:sp>
      <p:sp>
        <p:nvSpPr>
          <p:cNvPr id="29" name="TextBox 28"/>
          <p:cNvSpPr txBox="1"/>
          <p:nvPr/>
        </p:nvSpPr>
        <p:spPr>
          <a:xfrm>
            <a:off x="594360" y="5870448"/>
            <a:ext cx="4754880" cy="603504"/>
          </a:xfrm>
          <a:prstGeom prst="rect">
            <a:avLst/>
          </a:prstGeom>
          <a:noFill/>
        </p:spPr>
        <p:txBody>
          <a:bodyPr wrap="square">
            <a:spAutoFit/>
          </a:bodyPr>
          <a:lstStyle/>
          <a:p>
            <a:pPr algn="l"/>
            <a:r>
              <a:rPr sz="1100" b="0" i="0">
                <a:solidFill>
                  <a:srgbClr val="C8D4EE"/>
                </a:solidFill>
              </a:rPr>
              <a:t>Conference is a one-time event. Attendee data sits in a registration export. No nurture, no list-building, no pathway to Training or Consulting.</a:t>
            </a:r>
          </a:p>
        </p:txBody>
      </p:sp>
      <p:sp>
        <p:nvSpPr>
          <p:cNvPr id="30" name="TextBox 29"/>
          <p:cNvSpPr txBox="1"/>
          <p:nvPr/>
        </p:nvSpPr>
        <p:spPr>
          <a:xfrm>
            <a:off x="5989320" y="5870448"/>
            <a:ext cx="4937760" cy="603504"/>
          </a:xfrm>
          <a:prstGeom prst="rect">
            <a:avLst/>
          </a:prstGeom>
          <a:noFill/>
        </p:spPr>
        <p:txBody>
          <a:bodyPr wrap="square">
            <a:spAutoFit/>
          </a:bodyPr>
          <a:lstStyle/>
          <a:p>
            <a:pPr algn="l"/>
            <a:r>
              <a:rPr sz="1100" b="0" i="0">
                <a:solidFill>
                  <a:srgbClr val="FFFFFF"/>
                </a:solidFill>
              </a:rPr>
              <a:t>Conference attendee list seeds newsletter, Training enrollment, and Consulting pipeline. One conference becomes a year-round lead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00B4D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Conference is May 19. We can have the agent live
before then. The rest can come after the dust settles.</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00B4D8"/>
                </a:solidFill>
              </a:rPr>
              <a:t>* </a:t>
            </a:r>
            <a:r>
              <a:rPr sz="1400">
                <a:solidFill>
                  <a:srgbClr val="FFFFFF"/>
                </a:solidFill>
              </a:rPr>
              <a:t>Reply to this email - we'll set up a time</a:t>
            </a:r>
          </a:p>
          <a:p>
            <a:pPr algn="l">
              <a:spcAft>
                <a:spcPts val="600"/>
              </a:spcAft>
            </a:pPr>
            <a:r>
              <a:rPr sz="1200"/>
              <a:t>  </a:t>
            </a:r>
            <a:r>
              <a:rPr sz="1200" b="1">
                <a:solidFill>
                  <a:srgbClr val="00B4D8"/>
                </a:solidFill>
              </a:rPr>
              <a:t>* </a:t>
            </a:r>
            <a:r>
              <a:rPr sz="1400">
                <a:solidFill>
                  <a:srgbClr val="FFFFFF"/>
                </a:solidFill>
              </a:rPr>
              <a:t>Pre-conference: ship the conference AI agent in week 1</a:t>
            </a:r>
          </a:p>
          <a:p>
            <a:pPr algn="l">
              <a:spcAft>
                <a:spcPts val="600"/>
              </a:spcAft>
            </a:pPr>
            <a:r>
              <a:rPr sz="1200"/>
              <a:t>  </a:t>
            </a:r>
            <a:r>
              <a:rPr sz="1200" b="1">
                <a:solidFill>
                  <a:srgbClr val="00B4D8"/>
                </a:solidFill>
              </a:rPr>
              <a:t>* </a:t>
            </a:r>
            <a:r>
              <a:rPr sz="1400">
                <a:solidFill>
                  <a:srgbClr val="FFFFFF"/>
                </a:solidFill>
              </a:rPr>
              <a:t>Post-conference: 3-track intake + CEU automation in weeks 2-4</a:t>
            </a:r>
          </a:p>
          <a:p>
            <a:pPr algn="l"/>
            <a:r>
              <a:rPr sz="1200"/>
              <a:t>  </a:t>
            </a:r>
            <a:r>
              <a:rPr sz="1200" b="1">
                <a:solidFill>
                  <a:srgbClr val="00B4D8"/>
                </a:solidFill>
              </a:rPr>
              <a:t>* </a:t>
            </a:r>
            <a:r>
              <a:rPr sz="1400">
                <a:solidFill>
                  <a:srgbClr val="FFFFFF"/>
                </a:solidFill>
              </a:rPr>
              <a:t>Months 2-3: donor flow, thought leadership, Spanish version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100" b="0" i="0">
                <a:solidFill>
                  <a:srgbClr val="8A9BBB"/>
                </a:solidFill>
              </a:rPr>
              <a:t>Rohan Malik  |  CEO, Genos AI  |  hello@genosai.tech  |  +91 638-714-2699  |  www.genosai.tech</a:t>
            </a:r>
          </a:p>
        </p:txBody>
      </p:sp>
      <p:sp>
        <p:nvSpPr>
          <p:cNvPr id="12" name="TextBox 11"/>
          <p:cNvSpPr txBox="1"/>
          <p:nvPr/>
        </p:nvSpPr>
        <p:spPr>
          <a:xfrm>
            <a:off x="7178040" y="548640"/>
            <a:ext cx="4572000" cy="1005840"/>
          </a:xfrm>
          <a:prstGeom prst="rect">
            <a:avLst/>
          </a:prstGeom>
          <a:noFill/>
        </p:spPr>
        <p:txBody>
          <a:bodyPr wrap="square">
            <a:spAutoFit/>
          </a:bodyPr>
          <a:lstStyle/>
          <a:p>
            <a:pPr algn="l"/>
            <a:r>
              <a:rPr sz="2200" b="1" i="0">
                <a:solidFill>
                  <a:srgbClr val="00B4D8"/>
                </a:solidFill>
              </a:rPr>
              <a:t>THREE GAPS.
THREE FIXES.</a:t>
            </a:r>
          </a:p>
        </p:txBody>
      </p:sp>
      <p:sp>
        <p:nvSpPr>
          <p:cNvPr id="13" name="Rectangle 12"/>
          <p:cNvSpPr/>
          <p:nvPr/>
        </p:nvSpPr>
        <p:spPr>
          <a:xfrm>
            <a:off x="502920" y="1508760"/>
            <a:ext cx="109728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6916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737360"/>
            <a:ext cx="1280160" cy="292608"/>
          </a:xfrm>
          <a:prstGeom prst="rect">
            <a:avLst/>
          </a:prstGeom>
          <a:noFill/>
        </p:spPr>
        <p:txBody>
          <a:bodyPr wrap="square">
            <a:spAutoFit/>
          </a:bodyPr>
          <a:lstStyle/>
          <a:p>
            <a:pPr algn="l"/>
            <a:r>
              <a:rPr sz="1000" b="1" i="0">
                <a:solidFill>
                  <a:srgbClr val="00B4D8"/>
                </a:solidFill>
              </a:rPr>
              <a:t>Inbox Bottleneck</a:t>
            </a:r>
          </a:p>
        </p:txBody>
      </p:sp>
      <p:sp>
        <p:nvSpPr>
          <p:cNvPr id="16" name="TextBox 15"/>
          <p:cNvSpPr txBox="1"/>
          <p:nvPr/>
        </p:nvSpPr>
        <p:spPr>
          <a:xfrm>
            <a:off x="8686800" y="1737360"/>
            <a:ext cx="3291840" cy="594360"/>
          </a:xfrm>
          <a:prstGeom prst="rect">
            <a:avLst/>
          </a:prstGeom>
          <a:noFill/>
        </p:spPr>
        <p:txBody>
          <a:bodyPr wrap="square">
            <a:spAutoFit/>
          </a:bodyPr>
          <a:lstStyle/>
          <a:p>
            <a:pPr algn="l"/>
            <a:r>
              <a:rPr sz="1100" b="0" i="0">
                <a:solidFill>
                  <a:srgbClr val="C8D4EE"/>
                </a:solidFill>
              </a:rPr>
              <a:t>AI agent absorbs 70-80% of routine inquiries in real time</a:t>
            </a:r>
          </a:p>
        </p:txBody>
      </p:sp>
      <p:sp>
        <p:nvSpPr>
          <p:cNvPr id="17" name="Rectangle 16"/>
          <p:cNvSpPr/>
          <p:nvPr/>
        </p:nvSpPr>
        <p:spPr>
          <a:xfrm>
            <a:off x="7178040" y="24963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542032"/>
            <a:ext cx="1280160" cy="292608"/>
          </a:xfrm>
          <a:prstGeom prst="rect">
            <a:avLst/>
          </a:prstGeom>
          <a:noFill/>
        </p:spPr>
        <p:txBody>
          <a:bodyPr wrap="square">
            <a:spAutoFit/>
          </a:bodyPr>
          <a:lstStyle/>
          <a:p>
            <a:pPr algn="l"/>
            <a:r>
              <a:rPr sz="1000" b="1" i="0">
                <a:solidFill>
                  <a:srgbClr val="00B4D8"/>
                </a:solidFill>
              </a:rPr>
              <a:t>One-Form Triage</a:t>
            </a:r>
          </a:p>
        </p:txBody>
      </p:sp>
      <p:sp>
        <p:nvSpPr>
          <p:cNvPr id="19" name="TextBox 18"/>
          <p:cNvSpPr txBox="1"/>
          <p:nvPr/>
        </p:nvSpPr>
        <p:spPr>
          <a:xfrm>
            <a:off x="8686800" y="2542032"/>
            <a:ext cx="3291840" cy="594360"/>
          </a:xfrm>
          <a:prstGeom prst="rect">
            <a:avLst/>
          </a:prstGeom>
          <a:noFill/>
        </p:spPr>
        <p:txBody>
          <a:bodyPr wrap="square">
            <a:spAutoFit/>
          </a:bodyPr>
          <a:lstStyle/>
          <a:p>
            <a:pPr algn="l"/>
            <a:r>
              <a:rPr sz="1100" b="0" i="0">
                <a:solidFill>
                  <a:srgbClr val="C8D4EE"/>
                </a:solidFill>
              </a:rPr>
              <a:t>3-track intake: Training, Consulting, Development with routing</a:t>
            </a:r>
          </a:p>
        </p:txBody>
      </p:sp>
      <p:sp>
        <p:nvSpPr>
          <p:cNvPr id="20" name="Rectangle 19"/>
          <p:cNvSpPr/>
          <p:nvPr/>
        </p:nvSpPr>
        <p:spPr>
          <a:xfrm>
            <a:off x="7178040" y="33009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346704"/>
            <a:ext cx="1280160" cy="292608"/>
          </a:xfrm>
          <a:prstGeom prst="rect">
            <a:avLst/>
          </a:prstGeom>
          <a:noFill/>
        </p:spPr>
        <p:txBody>
          <a:bodyPr wrap="square">
            <a:spAutoFit/>
          </a:bodyPr>
          <a:lstStyle/>
          <a:p>
            <a:pPr algn="l"/>
            <a:r>
              <a:rPr sz="1000" b="1" i="0">
                <a:solidFill>
                  <a:srgbClr val="00B4D8"/>
                </a:solidFill>
              </a:rPr>
              <a:t>Donor Story Off-Site</a:t>
            </a:r>
          </a:p>
        </p:txBody>
      </p:sp>
      <p:sp>
        <p:nvSpPr>
          <p:cNvPr id="22" name="TextBox 21"/>
          <p:cNvSpPr txBox="1"/>
          <p:nvPr/>
        </p:nvSpPr>
        <p:spPr>
          <a:xfrm>
            <a:off x="8686800" y="3346704"/>
            <a:ext cx="3291840" cy="594360"/>
          </a:xfrm>
          <a:prstGeom prst="rect">
            <a:avLst/>
          </a:prstGeom>
          <a:noFill/>
        </p:spPr>
        <p:txBody>
          <a:bodyPr wrap="square">
            <a:spAutoFit/>
          </a:bodyPr>
          <a:lstStyle/>
          <a:p>
            <a:pPr algn="l"/>
            <a:r>
              <a:rPr sz="1100" b="0" i="0">
                <a:solidFill>
                  <a:srgbClr val="C8D4EE"/>
                </a:solidFill>
              </a:rPr>
              <a:t>Donor CTA + recurring giving with Spark Good credibility</a:t>
            </a:r>
          </a:p>
        </p:txBody>
      </p:sp>
      <p:sp>
        <p:nvSpPr>
          <p:cNvPr id="23" name="Rectangle 22"/>
          <p:cNvSpPr/>
          <p:nvPr/>
        </p:nvSpPr>
        <p:spPr>
          <a:xfrm>
            <a:off x="7178040" y="41056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4151376"/>
            <a:ext cx="1280160" cy="292608"/>
          </a:xfrm>
          <a:prstGeom prst="rect">
            <a:avLst/>
          </a:prstGeom>
          <a:noFill/>
        </p:spPr>
        <p:txBody>
          <a:bodyPr wrap="square">
            <a:spAutoFit/>
          </a:bodyPr>
          <a:lstStyle/>
          <a:p>
            <a:pPr algn="l"/>
            <a:r>
              <a:rPr sz="1000" b="1" i="0">
                <a:solidFill>
                  <a:srgbClr val="00B4D8"/>
                </a:solidFill>
              </a:rPr>
              <a:t>Thought Leadership</a:t>
            </a:r>
          </a:p>
        </p:txBody>
      </p:sp>
      <p:sp>
        <p:nvSpPr>
          <p:cNvPr id="25" name="TextBox 24"/>
          <p:cNvSpPr txBox="1"/>
          <p:nvPr/>
        </p:nvSpPr>
        <p:spPr>
          <a:xfrm>
            <a:off x="8686800" y="4151376"/>
            <a:ext cx="3291840" cy="594360"/>
          </a:xfrm>
          <a:prstGeom prst="rect">
            <a:avLst/>
          </a:prstGeom>
          <a:noFill/>
        </p:spPr>
        <p:txBody>
          <a:bodyPr wrap="square">
            <a:spAutoFit/>
          </a:bodyPr>
          <a:lstStyle/>
          <a:p>
            <a:pPr algn="l"/>
            <a:r>
              <a:rPr sz="1100" b="0" i="0">
                <a:solidFill>
                  <a:srgbClr val="C8D4EE"/>
                </a:solidFill>
              </a:rPr>
              <a:t>Andrea-voice content engine indexed for OK housing keywords</a:t>
            </a:r>
          </a:p>
        </p:txBody>
      </p:sp>
      <p:sp>
        <p:nvSpPr>
          <p:cNvPr id="26" name="Rectangle 25"/>
          <p:cNvSpPr/>
          <p:nvPr/>
        </p:nvSpPr>
        <p:spPr>
          <a:xfrm>
            <a:off x="7178040" y="49103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956048"/>
            <a:ext cx="1280160" cy="292608"/>
          </a:xfrm>
          <a:prstGeom prst="rect">
            <a:avLst/>
          </a:prstGeom>
          <a:noFill/>
        </p:spPr>
        <p:txBody>
          <a:bodyPr wrap="square">
            <a:spAutoFit/>
          </a:bodyPr>
          <a:lstStyle/>
          <a:p>
            <a:pPr algn="l"/>
            <a:r>
              <a:rPr sz="1000" b="1" i="0">
                <a:solidFill>
                  <a:srgbClr val="00B4D8"/>
                </a:solidFill>
              </a:rPr>
              <a:t>Conference One-Off</a:t>
            </a:r>
          </a:p>
        </p:txBody>
      </p:sp>
      <p:sp>
        <p:nvSpPr>
          <p:cNvPr id="28" name="TextBox 27"/>
          <p:cNvSpPr txBox="1"/>
          <p:nvPr/>
        </p:nvSpPr>
        <p:spPr>
          <a:xfrm>
            <a:off x="8686800" y="4956048"/>
            <a:ext cx="3291840" cy="594360"/>
          </a:xfrm>
          <a:prstGeom prst="rect">
            <a:avLst/>
          </a:prstGeom>
          <a:noFill/>
        </p:spPr>
        <p:txBody>
          <a:bodyPr wrap="square">
            <a:spAutoFit/>
          </a:bodyPr>
          <a:lstStyle/>
          <a:p>
            <a:pPr algn="l"/>
            <a:r>
              <a:rPr sz="1100" b="0" i="0">
                <a:solidFill>
                  <a:srgbClr val="C8D4EE"/>
                </a:solidFill>
              </a:rPr>
              <a:t>Year-round nurture: attendee list seeds Training &amp; Consulting</a:t>
            </a:r>
          </a:p>
        </p:txBody>
      </p:sp>
      <p:sp>
        <p:nvSpPr>
          <p:cNvPr id="29" name="Rectangle 28"/>
          <p:cNvSpPr/>
          <p:nvPr/>
        </p:nvSpPr>
        <p:spPr>
          <a:xfrm>
            <a:off x="7178040" y="57150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760720"/>
            <a:ext cx="1280160" cy="292608"/>
          </a:xfrm>
          <a:prstGeom prst="rect">
            <a:avLst/>
          </a:prstGeom>
          <a:noFill/>
        </p:spPr>
        <p:txBody>
          <a:bodyPr wrap="square">
            <a:spAutoFit/>
          </a:bodyPr>
          <a:lstStyle/>
          <a:p>
            <a:pPr algn="l"/>
            <a:r>
              <a:rPr sz="1000" b="1" i="0">
                <a:solidFill>
                  <a:srgbClr val="00B4D8"/>
                </a:solidFill>
              </a:rPr>
              <a:t>Coalition Anniversary</a:t>
            </a:r>
          </a:p>
        </p:txBody>
      </p:sp>
      <p:sp>
        <p:nvSpPr>
          <p:cNvPr id="31" name="TextBox 30"/>
          <p:cNvSpPr txBox="1"/>
          <p:nvPr/>
        </p:nvSpPr>
        <p:spPr>
          <a:xfrm>
            <a:off x="8686800" y="5760720"/>
            <a:ext cx="3291840" cy="594360"/>
          </a:xfrm>
          <a:prstGeom prst="rect">
            <a:avLst/>
          </a:prstGeom>
          <a:noFill/>
        </p:spPr>
        <p:txBody>
          <a:bodyPr wrap="square">
            <a:spAutoFit/>
          </a:bodyPr>
          <a:lstStyle/>
          <a:p>
            <a:pPr algn="l"/>
            <a:r>
              <a:rPr sz="1100" b="0" i="0">
                <a:solidFill>
                  <a:srgbClr val="C8D4EE"/>
                </a:solidFill>
              </a:rPr>
              <a:t>Cross-promotion module for OK Coalition 10-year year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