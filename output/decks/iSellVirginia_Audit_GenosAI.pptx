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4F8EFF"/>
                </a:solidFill>
              </a:rPr>
              <a:t>ISELLVIRGINIA.COM / DIGIOVANNA REALTY GROUP</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Rich DiGiovanna, Associate Broker &amp; Team Leader</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Rich DiGiovanna — Who He Is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3000" b="1" i="0">
                <a:solidFill>
                  <a:srgbClr val="F5C518"/>
                </a:solidFill>
              </a:rPr>
              <a:t>39
Years</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In N. Virginia</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3000" b="1" i="0">
                <a:solidFill>
                  <a:srgbClr val="F5C518"/>
                </a:solidFill>
              </a:rPr>
              <a:t>2,000+</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Families Helped</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3000" b="1" i="0">
                <a:solidFill>
                  <a:srgbClr val="F5C518"/>
                </a:solidFill>
              </a:rPr>
              <a:t>$500M+</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Career Sales</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3000" b="1" i="0">
                <a:solidFill>
                  <a:srgbClr val="F5C518"/>
                </a:solidFill>
              </a:rPr>
              <a:t>14 Years</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U.S. Coast Guard</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3000" b="1" i="0">
                <a:solidFill>
                  <a:srgbClr val="F5C518"/>
                </a:solidFill>
              </a:rPr>
              <a:t>CRS / GRI
ABR</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Top 5% Certifications</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RE/MAX Allegiance  ·  Burke, VA &amp; Woodbridge, VA  ·  YouTube: @DiGiovanna_VA  ·  Property Mgmt: Superior RE Services</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4F8EFF"/>
                </a:solidFill>
              </a:rPr>
              <a:t>SERVICES</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Residential buying &amp; selling</a:t>
            </a:r>
          </a:p>
          <a:p>
            <a:pPr algn="l">
              <a:spcAft>
                <a:spcPts val="600"/>
              </a:spcAft>
            </a:pPr>
            <a:r>
              <a:rPr sz="1100"/>
              <a:t>  </a:t>
            </a:r>
            <a:r>
              <a:rPr sz="1100" b="1">
                <a:solidFill>
                  <a:srgbClr val="4F8EFF"/>
                </a:solidFill>
              </a:rPr>
              <a:t>• </a:t>
            </a:r>
            <a:r>
              <a:rPr sz="1300">
                <a:solidFill>
                  <a:srgbClr val="C8D4EE"/>
                </a:solidFill>
              </a:rPr>
              <a:t>Property management (Superior RE Services)</a:t>
            </a:r>
          </a:p>
          <a:p>
            <a:pPr algn="l"/>
            <a:r>
              <a:rPr sz="1100"/>
              <a:t>  </a:t>
            </a:r>
            <a:r>
              <a:rPr sz="1100" b="1">
                <a:solidFill>
                  <a:srgbClr val="4F8EFF"/>
                </a:solidFill>
              </a:rPr>
              <a:t>• </a:t>
            </a:r>
            <a:r>
              <a:rPr sz="1300">
                <a:solidFill>
                  <a:srgbClr val="C8D4EE"/>
                </a:solidFill>
              </a:rPr>
              <a:t>Mortgage (Intercoastal Mortgage partnership)</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4F8EFF"/>
                </a:solidFill>
              </a:rPr>
              <a:t>AREAS SERVED</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Prince William County</a:t>
            </a:r>
          </a:p>
          <a:p>
            <a:pPr algn="l">
              <a:spcAft>
                <a:spcPts val="600"/>
              </a:spcAft>
            </a:pPr>
            <a:r>
              <a:rPr sz="1100"/>
              <a:t>  </a:t>
            </a:r>
            <a:r>
              <a:rPr sz="1100" b="1">
                <a:solidFill>
                  <a:srgbClr val="4F8EFF"/>
                </a:solidFill>
              </a:rPr>
              <a:t>• </a:t>
            </a:r>
            <a:r>
              <a:rPr sz="1300">
                <a:solidFill>
                  <a:srgbClr val="C8D4EE"/>
                </a:solidFill>
              </a:rPr>
              <a:t>Fairfax County / Arlington County</a:t>
            </a:r>
          </a:p>
          <a:p>
            <a:pPr algn="l"/>
            <a:r>
              <a:rPr sz="1100"/>
              <a:t>  </a:t>
            </a:r>
            <a:r>
              <a:rPr sz="1100" b="1">
                <a:solidFill>
                  <a:srgbClr val="4F8EFF"/>
                </a:solidFill>
              </a:rPr>
              <a:t>• </a:t>
            </a:r>
            <a:r>
              <a:rPr sz="1300">
                <a:solidFill>
                  <a:srgbClr val="C8D4EE"/>
                </a:solidFill>
              </a:rPr>
              <a:t>Burke, Woodbridge, Alexandria, Springfield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39-Year Track Record in One Market</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Deep local roots in Northern Virginia are a moat. 39 years in the same market means relationships, referrals, and trust that new agents can't replicate.</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YouTube Channel Active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Rich is posting video content - a signal that he understands modern marketing. Most agents his age don't. The infrastructure is there to turn that into serious lead generation.</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Multiple Revenue Streams</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Brokerage, property management (Superior RE Services), and mortgage referrals through Intercoastal give the business diversified income that pure agents don't have.</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IDX + CloudFlare + CRM in Place</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IDXBroker, LeadConnectorHQ, and CloudFlare CDN show a team that's already invested in digital infrastructure. These are good foundations to build AI automation on top of.</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Military Background as Differentiator</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14 years in the Coast Guard is a real story. Precision, integrity, showing up when others don't. It's the kind of background that converts skeptical sellers into loyal clients.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LEADS ARE LEAKING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Critical Gaps Found in the Audit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300" b="1" i="0">
                <a:solidFill>
                  <a:srgbClr val="FFFFFF"/>
                </a:solidFill>
              </a:rPr>
              <a:t>TESTIMONIALS SECTION IS EMPTY</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There is a testimonials section on the site. It has no reviews in it. Sellers comparing agents will land here, see nothing, and move on. Every review from 2,000+ families should be here.</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300" b="1" i="0">
                <a:solidFill>
                  <a:srgbClr val="FFFFFF"/>
                </a:solidFill>
              </a:rPr>
              <a:t>YOUTUBE CONTENT NOT ON THE HOMEPAGE</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Rich is posting to YouTube. None of it is embedded on the homepage. That video content builds trust faster than any text, and right now it's siloed to a platform Rich doesn't control.</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300" b="1" i="0">
                <a:solidFill>
                  <a:srgbClr val="FFFFFF"/>
                </a:solidFill>
              </a:rPr>
              <a:t>NO LIVE CHAT OR AI BOT</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Zillow and Redfin run AI bots 24/7. When a buyer or seller visits iSellVirginia.com at 9pm on a Sunday and has a question, there's nothing there. That lead goes to whoever does respond.</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300" b="1" i="0">
                <a:solidFill>
                  <a:srgbClr val="FFFFFF"/>
                </a:solidFill>
              </a:rPr>
              <a:t>TEMPLATE DESIGN LACKS PERSONALITY</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The site is functional but generic. Nothing about it reflects 39 years, a Coast Guard background, or 2,000 families. A competitor with a newer template looks just as credible on screen.</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300" b="1" i="0">
                <a:solidFill>
                  <a:srgbClr val="FFFFFF"/>
                </a:solidFill>
              </a:rPr>
              <a:t>CTАС LACK URGENCY</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Multiple contact options with no clear hierarchy. No sticky header. No 'Get Your Free Home Valuation' or 'See What Your Home Is Worth Today' above the fold. Leads are leaking to friction.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400" b="1" i="0">
                <a:solidFill>
                  <a:srgbClr val="FFFFFF"/>
                </a:solidFill>
              </a:rPr>
              <a:t>The Site Doesn't Match the Agent.</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100" b="1" i="0">
                <a:solidFill>
                  <a:srgbClr val="FFFFFF"/>
                </a:solidFill>
              </a:rPr>
              <a:t>ISELLVIRGINIA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Generic template, no visual identity</a:t>
            </a:r>
          </a:p>
          <a:p>
            <a:pPr algn="l">
              <a:spcAft>
                <a:spcPts val="600"/>
              </a:spcAft>
            </a:pPr>
            <a:r>
              <a:rPr sz="900"/>
              <a:t>  </a:t>
            </a:r>
            <a:r>
              <a:rPr sz="900" b="1">
                <a:solidFill>
                  <a:srgbClr val="FF4D4D"/>
                </a:solidFill>
              </a:rPr>
              <a:t>• </a:t>
            </a:r>
            <a:r>
              <a:rPr sz="1100">
                <a:solidFill>
                  <a:srgbClr val="C8D4EE"/>
                </a:solidFill>
              </a:rPr>
              <a:t>No video on homepage despite YouTube</a:t>
            </a:r>
          </a:p>
          <a:p>
            <a:pPr algn="l">
              <a:spcAft>
                <a:spcPts val="600"/>
              </a:spcAft>
            </a:pPr>
            <a:r>
              <a:rPr sz="900"/>
              <a:t>  </a:t>
            </a:r>
            <a:r>
              <a:rPr sz="900" b="1">
                <a:solidFill>
                  <a:srgbClr val="FF4D4D"/>
                </a:solidFill>
              </a:rPr>
              <a:t>• </a:t>
            </a:r>
            <a:r>
              <a:rPr sz="1100">
                <a:solidFill>
                  <a:srgbClr val="C8D4EE"/>
                </a:solidFill>
              </a:rPr>
              <a:t>Empty testimonials section</a:t>
            </a:r>
          </a:p>
          <a:p>
            <a:pPr algn="l">
              <a:spcAft>
                <a:spcPts val="600"/>
              </a:spcAft>
            </a:pPr>
            <a:r>
              <a:rPr sz="900"/>
              <a:t>  </a:t>
            </a:r>
            <a:r>
              <a:rPr sz="900" b="1">
                <a:solidFill>
                  <a:srgbClr val="FF4D4D"/>
                </a:solidFill>
              </a:rPr>
              <a:t>• </a:t>
            </a:r>
            <a:r>
              <a:rPr sz="1100">
                <a:solidFill>
                  <a:srgbClr val="C8D4EE"/>
                </a:solidFill>
              </a:rPr>
              <a:t>Centered CTAs, no sticky header</a:t>
            </a:r>
          </a:p>
          <a:p>
            <a:pPr algn="l">
              <a:spcAft>
                <a:spcPts val="600"/>
              </a:spcAft>
            </a:pPr>
            <a:r>
              <a:rPr sz="900"/>
              <a:t>  </a:t>
            </a:r>
            <a:r>
              <a:rPr sz="900" b="1">
                <a:solidFill>
                  <a:srgbClr val="FF4D4D"/>
                </a:solidFill>
              </a:rPr>
              <a:t>• </a:t>
            </a:r>
            <a:r>
              <a:rPr sz="1100">
                <a:solidFill>
                  <a:srgbClr val="C8D4EE"/>
                </a:solidFill>
              </a:rPr>
              <a:t>Team page lacks personality/story</a:t>
            </a:r>
          </a:p>
          <a:p>
            <a:pPr algn="l">
              <a:spcAft>
                <a:spcPts val="600"/>
              </a:spcAft>
            </a:pPr>
            <a:r>
              <a:rPr sz="900"/>
              <a:t>  </a:t>
            </a:r>
            <a:r>
              <a:rPr sz="900" b="1">
                <a:solidFill>
                  <a:srgbClr val="FF4D4D"/>
                </a:solidFill>
              </a:rPr>
              <a:t>• </a:t>
            </a:r>
            <a:r>
              <a:rPr sz="1100">
                <a:solidFill>
                  <a:srgbClr val="C8D4EE"/>
                </a:solidFill>
              </a:rPr>
              <a:t>Community pages are template clones</a:t>
            </a:r>
          </a:p>
          <a:p>
            <a:pPr algn="l">
              <a:spcAft>
                <a:spcPts val="600"/>
              </a:spcAft>
            </a:pPr>
            <a:r>
              <a:rPr sz="900"/>
              <a:t>  </a:t>
            </a:r>
            <a:r>
              <a:rPr sz="900" b="1">
                <a:solidFill>
                  <a:srgbClr val="FF4D4D"/>
                </a:solidFill>
              </a:rPr>
              <a:t>• </a:t>
            </a:r>
            <a:r>
              <a:rPr sz="1100">
                <a:solidFill>
                  <a:srgbClr val="C8D4EE"/>
                </a:solidFill>
              </a:rPr>
              <a:t>No home valuation tool above the fold</a:t>
            </a:r>
          </a:p>
          <a:p>
            <a:pPr algn="l"/>
            <a:r>
              <a:rPr sz="900"/>
              <a:t>  </a:t>
            </a:r>
            <a:r>
              <a:rPr sz="900" b="1">
                <a:solidFill>
                  <a:srgbClr val="FF4D4D"/>
                </a:solidFill>
              </a:rPr>
              <a:t>• </a:t>
            </a:r>
            <a:r>
              <a:rPr sz="1100">
                <a:solidFill>
                  <a:srgbClr val="C8D4EE"/>
                </a:solidFill>
              </a:rPr>
              <a:t>Coast Guard story buried in bio text</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1000" b="1" i="0">
                <a:solidFill>
                  <a:srgbClr val="FFFFFF"/>
                </a:solidFill>
              </a:rPr>
              <a:t>TOP REALTORS DO THIS</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Video hero on homepage, autoplay muted</a:t>
            </a:r>
          </a:p>
          <a:p>
            <a:pPr algn="l">
              <a:spcAft>
                <a:spcPts val="600"/>
              </a:spcAft>
            </a:pPr>
            <a:r>
              <a:rPr sz="900"/>
              <a:t>  </a:t>
            </a:r>
            <a:r>
              <a:rPr sz="900" b="1">
                <a:solidFill>
                  <a:srgbClr val="F5C518"/>
                </a:solidFill>
              </a:rPr>
              <a:t>• </a:t>
            </a:r>
            <a:r>
              <a:rPr sz="1100">
                <a:solidFill>
                  <a:srgbClr val="C8D4EE"/>
                </a:solidFill>
              </a:rPr>
              <a:t>Real reviews front and center (Zillow/Google)</a:t>
            </a:r>
          </a:p>
          <a:p>
            <a:pPr algn="l">
              <a:spcAft>
                <a:spcPts val="600"/>
              </a:spcAft>
            </a:pPr>
            <a:r>
              <a:rPr sz="900"/>
              <a:t>  </a:t>
            </a:r>
            <a:r>
              <a:rPr sz="900" b="1">
                <a:solidFill>
                  <a:srgbClr val="F5C518"/>
                </a:solidFill>
              </a:rPr>
              <a:t>• </a:t>
            </a:r>
            <a:r>
              <a:rPr sz="1100">
                <a:solidFill>
                  <a:srgbClr val="C8D4EE"/>
                </a:solidFill>
              </a:rPr>
              <a:t>Agent story told with emotion, not a resume</a:t>
            </a:r>
          </a:p>
          <a:p>
            <a:pPr algn="l">
              <a:spcAft>
                <a:spcPts val="600"/>
              </a:spcAft>
            </a:pPr>
            <a:r>
              <a:rPr sz="900"/>
              <a:t>  </a:t>
            </a:r>
            <a:r>
              <a:rPr sz="900" b="1">
                <a:solidFill>
                  <a:srgbClr val="F5C518"/>
                </a:solidFill>
              </a:rPr>
              <a:t>• </a:t>
            </a:r>
            <a:r>
              <a:rPr sz="1100">
                <a:solidFill>
                  <a:srgbClr val="C8D4EE"/>
                </a:solidFill>
              </a:rPr>
              <a:t>Home valuation CTA above the fold</a:t>
            </a:r>
          </a:p>
          <a:p>
            <a:pPr algn="l">
              <a:spcAft>
                <a:spcPts val="600"/>
              </a:spcAft>
            </a:pPr>
            <a:r>
              <a:rPr sz="900"/>
              <a:t>  </a:t>
            </a:r>
            <a:r>
              <a:rPr sz="900" b="1">
                <a:solidFill>
                  <a:srgbClr val="F5C518"/>
                </a:solidFill>
              </a:rPr>
              <a:t>• </a:t>
            </a:r>
            <a:r>
              <a:rPr sz="1100">
                <a:solidFill>
                  <a:srgbClr val="C8D4EE"/>
                </a:solidFill>
              </a:rPr>
              <a:t>Sticky header with phone number always visible</a:t>
            </a:r>
          </a:p>
          <a:p>
            <a:pPr algn="l">
              <a:spcAft>
                <a:spcPts val="600"/>
              </a:spcAft>
            </a:pPr>
            <a:r>
              <a:rPr sz="900"/>
              <a:t>  </a:t>
            </a:r>
            <a:r>
              <a:rPr sz="900" b="1">
                <a:solidFill>
                  <a:srgbClr val="F5C518"/>
                </a:solidFill>
              </a:rPr>
              <a:t>• </a:t>
            </a:r>
            <a:r>
              <a:rPr sz="1100">
                <a:solidFill>
                  <a:srgbClr val="C8D4EE"/>
                </a:solidFill>
              </a:rPr>
              <a:t>Neighborhood pages with real local content</a:t>
            </a:r>
          </a:p>
          <a:p>
            <a:pPr algn="l">
              <a:spcAft>
                <a:spcPts val="600"/>
              </a:spcAft>
            </a:pPr>
            <a:r>
              <a:rPr sz="900"/>
              <a:t>  </a:t>
            </a:r>
            <a:r>
              <a:rPr sz="900" b="1">
                <a:solidFill>
                  <a:srgbClr val="F5C518"/>
                </a:solidFill>
              </a:rPr>
              <a:t>• </a:t>
            </a:r>
            <a:r>
              <a:rPr sz="1100">
                <a:solidFill>
                  <a:srgbClr val="C8D4EE"/>
                </a:solidFill>
              </a:rPr>
              <a:t>Mobile-first, sub-2s load time</a:t>
            </a:r>
          </a:p>
          <a:p>
            <a:pPr algn="l"/>
            <a:r>
              <a:rPr sz="900"/>
              <a:t>  </a:t>
            </a:r>
            <a:r>
              <a:rPr sz="900" b="1">
                <a:solidFill>
                  <a:srgbClr val="F5C518"/>
                </a:solidFill>
              </a:rPr>
              <a:t>• </a:t>
            </a:r>
            <a:r>
              <a:rPr sz="1100">
                <a:solidFill>
                  <a:srgbClr val="C8D4EE"/>
                </a:solidFill>
              </a:rPr>
              <a:t>95+ Lighthouse mobile score</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Premium site built around Rich's story</a:t>
            </a:r>
          </a:p>
          <a:p>
            <a:pPr algn="l">
              <a:spcAft>
                <a:spcPts val="600"/>
              </a:spcAft>
            </a:pPr>
            <a:r>
              <a:rPr sz="900"/>
              <a:t>  </a:t>
            </a:r>
            <a:r>
              <a:rPr sz="900" b="1">
                <a:solidFill>
                  <a:srgbClr val="2ECC71"/>
                </a:solidFill>
              </a:rPr>
              <a:t>• </a:t>
            </a:r>
            <a:r>
              <a:rPr sz="1100">
                <a:solidFill>
                  <a:srgbClr val="C8D4EE"/>
                </a:solidFill>
              </a:rPr>
              <a:t>YouTube feed embedded on homepage</a:t>
            </a:r>
          </a:p>
          <a:p>
            <a:pPr algn="l">
              <a:spcAft>
                <a:spcPts val="600"/>
              </a:spcAft>
            </a:pPr>
            <a:r>
              <a:rPr sz="900"/>
              <a:t>  </a:t>
            </a:r>
            <a:r>
              <a:rPr sz="900" b="1">
                <a:solidFill>
                  <a:srgbClr val="2ECC71"/>
                </a:solidFill>
              </a:rPr>
              <a:t>• </a:t>
            </a:r>
            <a:r>
              <a:rPr sz="1100">
                <a:solidFill>
                  <a:srgbClr val="C8D4EE"/>
                </a:solidFill>
              </a:rPr>
              <a:t>Real testimonials section, auto-populating</a:t>
            </a:r>
          </a:p>
          <a:p>
            <a:pPr algn="l">
              <a:spcAft>
                <a:spcPts val="600"/>
              </a:spcAft>
            </a:pPr>
            <a:r>
              <a:rPr sz="900"/>
              <a:t>  </a:t>
            </a:r>
            <a:r>
              <a:rPr sz="900" b="1">
                <a:solidFill>
                  <a:srgbClr val="2ECC71"/>
                </a:solidFill>
              </a:rPr>
              <a:t>• </a:t>
            </a:r>
            <a:r>
              <a:rPr sz="1100">
                <a:solidFill>
                  <a:srgbClr val="C8D4EE"/>
                </a:solidFill>
              </a:rPr>
              <a:t>Home valuation tool above the fold</a:t>
            </a:r>
          </a:p>
          <a:p>
            <a:pPr algn="l">
              <a:spcAft>
                <a:spcPts val="600"/>
              </a:spcAft>
            </a:pPr>
            <a:r>
              <a:rPr sz="900"/>
              <a:t>  </a:t>
            </a:r>
            <a:r>
              <a:rPr sz="900" b="1">
                <a:solidFill>
                  <a:srgbClr val="2ECC71"/>
                </a:solidFill>
              </a:rPr>
              <a:t>• </a:t>
            </a:r>
            <a:r>
              <a:rPr sz="1100">
                <a:solidFill>
                  <a:srgbClr val="C8D4EE"/>
                </a:solidFill>
              </a:rPr>
              <a:t>Sticky header with click-to-call</a:t>
            </a:r>
          </a:p>
          <a:p>
            <a:pPr algn="l">
              <a:spcAft>
                <a:spcPts val="600"/>
              </a:spcAft>
            </a:pPr>
            <a:r>
              <a:rPr sz="900"/>
              <a:t>  </a:t>
            </a:r>
            <a:r>
              <a:rPr sz="900" b="1">
                <a:solidFill>
                  <a:srgbClr val="2ECC71"/>
                </a:solidFill>
              </a:rPr>
              <a:t>• </a:t>
            </a:r>
            <a:r>
              <a:rPr sz="1100">
                <a:solidFill>
                  <a:srgbClr val="C8D4EE"/>
                </a:solidFill>
              </a:rPr>
              <a:t>Unique community pages for Burke/Woodbridge</a:t>
            </a:r>
          </a:p>
          <a:p>
            <a:pPr algn="l">
              <a:spcAft>
                <a:spcPts val="600"/>
              </a:spcAft>
            </a:pPr>
            <a:r>
              <a:rPr sz="900"/>
              <a:t>  </a:t>
            </a:r>
            <a:r>
              <a:rPr sz="900" b="1">
                <a:solidFill>
                  <a:srgbClr val="2ECC71"/>
                </a:solidFill>
              </a:rPr>
              <a:t>• </a:t>
            </a:r>
            <a:r>
              <a:rPr sz="1100">
                <a:solidFill>
                  <a:srgbClr val="C8D4EE"/>
                </a:solidFill>
              </a:rPr>
              <a:t>Mobile-first, sub-2s load</a:t>
            </a:r>
          </a:p>
          <a:p>
            <a:pPr algn="l"/>
            <a:r>
              <a:rPr sz="900"/>
              <a:t>  </a:t>
            </a:r>
            <a:r>
              <a:rPr sz="900" b="1">
                <a:solidFill>
                  <a:srgbClr val="2ECC71"/>
                </a:solidFill>
              </a:rPr>
              <a:t>• </a:t>
            </a:r>
            <a:r>
              <a:rPr sz="1100">
                <a:solidFill>
                  <a:srgbClr val="C8D4EE"/>
                </a:solidFill>
              </a:rPr>
              <a:t>AI chat on every page</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743200" y="5257800"/>
            <a:ext cx="1463040" cy="438912"/>
          </a:xfrm>
          <a:prstGeom prst="rect">
            <a:avLst/>
          </a:prstGeom>
          <a:noFill/>
        </p:spPr>
        <p:txBody>
          <a:bodyPr wrap="square">
            <a:spAutoFit/>
          </a:bodyPr>
          <a:lstStyle/>
          <a:p>
            <a:pPr algn="ctr"/>
            <a:r>
              <a:rPr sz="2200" b="1" i="0">
                <a:solidFill>
                  <a:srgbClr val="F5C518"/>
                </a:solidFill>
              </a:rPr>
              <a:t>94%</a:t>
            </a:r>
          </a:p>
        </p:txBody>
      </p:sp>
      <p:sp>
        <p:nvSpPr>
          <p:cNvPr id="24" name="TextBox 23"/>
          <p:cNvSpPr txBox="1"/>
          <p:nvPr/>
        </p:nvSpPr>
        <p:spPr>
          <a:xfrm>
            <a:off x="2743200" y="5687568"/>
            <a:ext cx="1463040" cy="502920"/>
          </a:xfrm>
          <a:prstGeom prst="rect">
            <a:avLst/>
          </a:prstGeom>
          <a:noFill/>
        </p:spPr>
        <p:txBody>
          <a:bodyPr wrap="square">
            <a:spAutoFit/>
          </a:bodyPr>
          <a:lstStyle/>
          <a:p>
            <a:pPr algn="ctr"/>
            <a:r>
              <a:rPr sz="1000" b="0" i="0">
                <a:solidFill>
                  <a:srgbClr val="8A9BBB"/>
                </a:solidFill>
              </a:rPr>
              <a:t>of first impressions
are design-related</a:t>
            </a:r>
          </a:p>
        </p:txBody>
      </p:sp>
      <p:sp>
        <p:nvSpPr>
          <p:cNvPr id="25" name="TextBox 24"/>
          <p:cNvSpPr txBox="1"/>
          <p:nvPr/>
        </p:nvSpPr>
        <p:spPr>
          <a:xfrm>
            <a:off x="4983480" y="5257800"/>
            <a:ext cx="1463040" cy="438912"/>
          </a:xfrm>
          <a:prstGeom prst="rect">
            <a:avLst/>
          </a:prstGeom>
          <a:noFill/>
        </p:spPr>
        <p:txBody>
          <a:bodyPr wrap="square">
            <a:spAutoFit/>
          </a:bodyPr>
          <a:lstStyle/>
          <a:p>
            <a:pPr algn="ctr"/>
            <a:r>
              <a:rPr sz="2200" b="1" i="0">
                <a:solidFill>
                  <a:srgbClr val="F5C518"/>
                </a:solidFill>
              </a:rPr>
              <a:t>75%</a:t>
            </a:r>
          </a:p>
        </p:txBody>
      </p:sp>
      <p:sp>
        <p:nvSpPr>
          <p:cNvPr id="26" name="TextBox 25"/>
          <p:cNvSpPr txBox="1"/>
          <p:nvPr/>
        </p:nvSpPr>
        <p:spPr>
          <a:xfrm>
            <a:off x="4983480" y="5687568"/>
            <a:ext cx="1463040" cy="502920"/>
          </a:xfrm>
          <a:prstGeom prst="rect">
            <a:avLst/>
          </a:prstGeom>
          <a:noFill/>
        </p:spPr>
        <p:txBody>
          <a:bodyPr wrap="square">
            <a:spAutoFit/>
          </a:bodyPr>
          <a:lstStyle/>
          <a:p>
            <a:pPr algn="ctr"/>
            <a:r>
              <a:rPr sz="1000" b="0" i="0">
                <a:solidFill>
                  <a:srgbClr val="8A9BBB"/>
                </a:solidFill>
              </a:rPr>
              <a:t>of sellers judge agent
credibility by website</a:t>
            </a:r>
          </a:p>
        </p:txBody>
      </p:sp>
      <p:sp>
        <p:nvSpPr>
          <p:cNvPr id="27" name="TextBox 26"/>
          <p:cNvSpPr txBox="1"/>
          <p:nvPr/>
        </p:nvSpPr>
        <p:spPr>
          <a:xfrm>
            <a:off x="7223760" y="5257800"/>
            <a:ext cx="1463040" cy="438912"/>
          </a:xfrm>
          <a:prstGeom prst="rect">
            <a:avLst/>
          </a:prstGeom>
          <a:noFill/>
        </p:spPr>
        <p:txBody>
          <a:bodyPr wrap="square">
            <a:spAutoFit/>
          </a:bodyPr>
          <a:lstStyle/>
          <a:p>
            <a:pPr algn="ctr"/>
            <a:r>
              <a:rPr sz="2200" b="1" i="0">
                <a:solidFill>
                  <a:srgbClr val="F5C518"/>
                </a:solidFill>
              </a:rPr>
              <a:t>3 sec</a:t>
            </a:r>
          </a:p>
        </p:txBody>
      </p:sp>
      <p:sp>
        <p:nvSpPr>
          <p:cNvPr id="28" name="TextBox 27"/>
          <p:cNvSpPr txBox="1"/>
          <p:nvPr/>
        </p:nvSpPr>
        <p:spPr>
          <a:xfrm>
            <a:off x="7223760" y="5687568"/>
            <a:ext cx="1463040" cy="502920"/>
          </a:xfrm>
          <a:prstGeom prst="rect">
            <a:avLst/>
          </a:prstGeom>
          <a:noFill/>
        </p:spPr>
        <p:txBody>
          <a:bodyPr wrap="square">
            <a:spAutoFit/>
          </a:bodyPr>
          <a:lstStyle/>
          <a:p>
            <a:pPr algn="ctr"/>
            <a:r>
              <a:rPr sz="1000" b="0" i="0">
                <a:solidFill>
                  <a:srgbClr val="8A9BBB"/>
                </a:solidFill>
              </a:rPr>
              <a:t>before a visitor leaves
or stays</a:t>
            </a:r>
          </a:p>
        </p:txBody>
      </p:sp>
      <p:sp>
        <p:nvSpPr>
          <p:cNvPr id="29" name="TextBox 28"/>
          <p:cNvSpPr txBox="1"/>
          <p:nvPr/>
        </p:nvSpPr>
        <p:spPr>
          <a:xfrm>
            <a:off x="9464040" y="5257800"/>
            <a:ext cx="1463040" cy="438912"/>
          </a:xfrm>
          <a:prstGeom prst="rect">
            <a:avLst/>
          </a:prstGeom>
          <a:noFill/>
        </p:spPr>
        <p:txBody>
          <a:bodyPr wrap="square">
            <a:spAutoFit/>
          </a:bodyPr>
          <a:lstStyle/>
          <a:p>
            <a:pPr algn="ctr"/>
            <a:r>
              <a:rPr sz="2200" b="1" i="0">
                <a:solidFill>
                  <a:srgbClr val="F5C518"/>
                </a:solidFill>
              </a:rPr>
              <a:t>200%+</a:t>
            </a:r>
          </a:p>
        </p:txBody>
      </p:sp>
      <p:sp>
        <p:nvSpPr>
          <p:cNvPr id="30" name="TextBox 29"/>
          <p:cNvSpPr txBox="1"/>
          <p:nvPr/>
        </p:nvSpPr>
        <p:spPr>
          <a:xfrm>
            <a:off x="9464040" y="5687568"/>
            <a:ext cx="1463040" cy="502920"/>
          </a:xfrm>
          <a:prstGeom prst="rect">
            <a:avLst/>
          </a:prstGeom>
          <a:noFill/>
        </p:spPr>
        <p:txBody>
          <a:bodyPr wrap="square">
            <a:spAutoFit/>
          </a:bodyPr>
          <a:lstStyle/>
          <a:p>
            <a:pPr algn="ctr"/>
            <a:r>
              <a:rPr sz="1000" b="0" i="0">
                <a:solidFill>
                  <a:srgbClr val="8A9BBB"/>
                </a:solidFill>
              </a:rPr>
              <a:t>more leads from a
modern agent site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Seven AI Systems Built for iSellVirginia</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548640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00200"/>
            <a:ext cx="640080" cy="502920"/>
          </a:xfrm>
          <a:prstGeom prst="rect">
            <a:avLst/>
          </a:prstGeom>
          <a:noFill/>
        </p:spPr>
        <p:txBody>
          <a:bodyPr wrap="square">
            <a:spAutoFit/>
          </a:bodyPr>
          <a:lstStyle/>
          <a:p>
            <a:pPr algn="l"/>
            <a:r>
              <a:rPr sz="2000" b="1" i="0">
                <a:solidFill>
                  <a:srgbClr val="4F8EFF"/>
                </a:solidFill>
              </a:rPr>
              <a:t>01</a:t>
            </a:r>
          </a:p>
        </p:txBody>
      </p:sp>
      <p:sp>
        <p:nvSpPr>
          <p:cNvPr id="9" name="TextBox 8"/>
          <p:cNvSpPr txBox="1"/>
          <p:nvPr/>
        </p:nvSpPr>
        <p:spPr>
          <a:xfrm>
            <a:off x="1234440" y="1600200"/>
            <a:ext cx="4572000" cy="347472"/>
          </a:xfrm>
          <a:prstGeom prst="rect">
            <a:avLst/>
          </a:prstGeom>
          <a:noFill/>
        </p:spPr>
        <p:txBody>
          <a:bodyPr wrap="square">
            <a:spAutoFit/>
          </a:bodyPr>
          <a:lstStyle/>
          <a:p>
            <a:pPr algn="l"/>
            <a:r>
              <a:rPr sz="1300" b="1" i="0">
                <a:solidFill>
                  <a:srgbClr val="FFFFFF"/>
                </a:solidFill>
              </a:rPr>
              <a:t>AI Lead Follow-Up Sequences</a:t>
            </a:r>
          </a:p>
        </p:txBody>
      </p:sp>
      <p:sp>
        <p:nvSpPr>
          <p:cNvPr id="10" name="TextBox 9"/>
          <p:cNvSpPr txBox="1"/>
          <p:nvPr/>
        </p:nvSpPr>
        <p:spPr>
          <a:xfrm>
            <a:off x="594360" y="1984248"/>
            <a:ext cx="5212080" cy="594360"/>
          </a:xfrm>
          <a:prstGeom prst="rect">
            <a:avLst/>
          </a:prstGeom>
          <a:noFill/>
        </p:spPr>
        <p:txBody>
          <a:bodyPr wrap="square">
            <a:spAutoFit/>
          </a:bodyPr>
          <a:lstStyle/>
          <a:p>
            <a:pPr algn="l"/>
            <a:r>
              <a:rPr sz="1100" b="0" i="0">
                <a:solidFill>
                  <a:srgbClr val="C8D4EE"/>
                </a:solidFill>
              </a:rPr>
              <a:t>Every new inquiry triggers a personalized follow-up sequence automatically. No lead goes cold over a weekend or a holiday.</a:t>
            </a:r>
          </a:p>
        </p:txBody>
      </p:sp>
      <p:sp>
        <p:nvSpPr>
          <p:cNvPr id="11" name="Rectangle 10"/>
          <p:cNvSpPr/>
          <p:nvPr/>
        </p:nvSpPr>
        <p:spPr>
          <a:xfrm>
            <a:off x="502920" y="2807208"/>
            <a:ext cx="548640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898648"/>
            <a:ext cx="640080" cy="502920"/>
          </a:xfrm>
          <a:prstGeom prst="rect">
            <a:avLst/>
          </a:prstGeom>
          <a:noFill/>
        </p:spPr>
        <p:txBody>
          <a:bodyPr wrap="square">
            <a:spAutoFit/>
          </a:bodyPr>
          <a:lstStyle/>
          <a:p>
            <a:pPr algn="l"/>
            <a:r>
              <a:rPr sz="2000" b="1" i="0">
                <a:solidFill>
                  <a:srgbClr val="4F8EFF"/>
                </a:solidFill>
              </a:rPr>
              <a:t>02</a:t>
            </a:r>
          </a:p>
        </p:txBody>
      </p:sp>
      <p:sp>
        <p:nvSpPr>
          <p:cNvPr id="13" name="TextBox 12"/>
          <p:cNvSpPr txBox="1"/>
          <p:nvPr/>
        </p:nvSpPr>
        <p:spPr>
          <a:xfrm>
            <a:off x="1234440" y="2898648"/>
            <a:ext cx="4572000" cy="347472"/>
          </a:xfrm>
          <a:prstGeom prst="rect">
            <a:avLst/>
          </a:prstGeom>
          <a:noFill/>
        </p:spPr>
        <p:txBody>
          <a:bodyPr wrap="square">
            <a:spAutoFit/>
          </a:bodyPr>
          <a:lstStyle/>
          <a:p>
            <a:pPr algn="l"/>
            <a:r>
              <a:rPr sz="1300" b="1" i="0">
                <a:solidFill>
                  <a:srgbClr val="FFFFFF"/>
                </a:solidFill>
              </a:rPr>
              <a:t>Automated Seller Market Reports</a:t>
            </a:r>
          </a:p>
        </p:txBody>
      </p:sp>
      <p:sp>
        <p:nvSpPr>
          <p:cNvPr id="14" name="TextBox 13"/>
          <p:cNvSpPr txBox="1"/>
          <p:nvPr/>
        </p:nvSpPr>
        <p:spPr>
          <a:xfrm>
            <a:off x="594360" y="3282696"/>
            <a:ext cx="5212080" cy="594360"/>
          </a:xfrm>
          <a:prstGeom prst="rect">
            <a:avLst/>
          </a:prstGeom>
          <a:noFill/>
        </p:spPr>
        <p:txBody>
          <a:bodyPr wrap="square">
            <a:spAutoFit/>
          </a:bodyPr>
          <a:lstStyle/>
          <a:p>
            <a:pPr algn="l"/>
            <a:r>
              <a:rPr sz="1100" b="0" i="0">
                <a:solidFill>
                  <a:srgbClr val="C8D4EE"/>
                </a:solidFill>
              </a:rPr>
              <a:t>Monthly CMAs and market updates auto-sent to Rich's farm areas. Keeps iSellVirginia top of mind 60-90 days before someone decides to list.</a:t>
            </a:r>
          </a:p>
        </p:txBody>
      </p:sp>
      <p:sp>
        <p:nvSpPr>
          <p:cNvPr id="15" name="Rectangle 14"/>
          <p:cNvSpPr/>
          <p:nvPr/>
        </p:nvSpPr>
        <p:spPr>
          <a:xfrm>
            <a:off x="502920" y="4105656"/>
            <a:ext cx="548640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197096"/>
            <a:ext cx="640080" cy="502920"/>
          </a:xfrm>
          <a:prstGeom prst="rect">
            <a:avLst/>
          </a:prstGeom>
          <a:noFill/>
        </p:spPr>
        <p:txBody>
          <a:bodyPr wrap="square">
            <a:spAutoFit/>
          </a:bodyPr>
          <a:lstStyle/>
          <a:p>
            <a:pPr algn="l"/>
            <a:r>
              <a:rPr sz="2000" b="1" i="0">
                <a:solidFill>
                  <a:srgbClr val="4F8EFF"/>
                </a:solidFill>
              </a:rPr>
              <a:t>03</a:t>
            </a:r>
          </a:p>
        </p:txBody>
      </p:sp>
      <p:sp>
        <p:nvSpPr>
          <p:cNvPr id="17" name="TextBox 16"/>
          <p:cNvSpPr txBox="1"/>
          <p:nvPr/>
        </p:nvSpPr>
        <p:spPr>
          <a:xfrm>
            <a:off x="1234440" y="4197096"/>
            <a:ext cx="4572000" cy="347472"/>
          </a:xfrm>
          <a:prstGeom prst="rect">
            <a:avLst/>
          </a:prstGeom>
          <a:noFill/>
        </p:spPr>
        <p:txBody>
          <a:bodyPr wrap="square">
            <a:spAutoFit/>
          </a:bodyPr>
          <a:lstStyle/>
          <a:p>
            <a:pPr algn="l"/>
            <a:r>
              <a:rPr sz="1300" b="1" i="0">
                <a:solidFill>
                  <a:srgbClr val="FFFFFF"/>
                </a:solidFill>
              </a:rPr>
              <a:t>AI Chat (24/7 Lead Capture)</a:t>
            </a:r>
          </a:p>
        </p:txBody>
      </p:sp>
      <p:sp>
        <p:nvSpPr>
          <p:cNvPr id="18" name="TextBox 17"/>
          <p:cNvSpPr txBox="1"/>
          <p:nvPr/>
        </p:nvSpPr>
        <p:spPr>
          <a:xfrm>
            <a:off x="594360" y="4581144"/>
            <a:ext cx="5212080" cy="594360"/>
          </a:xfrm>
          <a:prstGeom prst="rect">
            <a:avLst/>
          </a:prstGeom>
          <a:noFill/>
        </p:spPr>
        <p:txBody>
          <a:bodyPr wrap="square">
            <a:spAutoFit/>
          </a:bodyPr>
          <a:lstStyle/>
          <a:p>
            <a:pPr algn="l"/>
            <a:r>
              <a:rPr sz="1100" b="0" i="0">
                <a:solidFill>
                  <a:srgbClr val="C8D4EE"/>
                </a:solidFill>
              </a:rPr>
              <a:t>Trained on Rich's services, pricing, and farm areas. Captures buyers and sellers at 11pm on a Sunday, qualifies them, and routes to Rich or the team.</a:t>
            </a:r>
          </a:p>
        </p:txBody>
      </p:sp>
      <p:sp>
        <p:nvSpPr>
          <p:cNvPr id="19" name="Rectangle 18"/>
          <p:cNvSpPr/>
          <p:nvPr/>
        </p:nvSpPr>
        <p:spPr>
          <a:xfrm>
            <a:off x="502920" y="5404104"/>
            <a:ext cx="548640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495544"/>
            <a:ext cx="640080" cy="502920"/>
          </a:xfrm>
          <a:prstGeom prst="rect">
            <a:avLst/>
          </a:prstGeom>
          <a:noFill/>
        </p:spPr>
        <p:txBody>
          <a:bodyPr wrap="square">
            <a:spAutoFit/>
          </a:bodyPr>
          <a:lstStyle/>
          <a:p>
            <a:pPr algn="l"/>
            <a:r>
              <a:rPr sz="2000" b="1" i="0">
                <a:solidFill>
                  <a:srgbClr val="4F8EFF"/>
                </a:solidFill>
              </a:rPr>
              <a:t>04</a:t>
            </a:r>
          </a:p>
        </p:txBody>
      </p:sp>
      <p:sp>
        <p:nvSpPr>
          <p:cNvPr id="21" name="TextBox 20"/>
          <p:cNvSpPr txBox="1"/>
          <p:nvPr/>
        </p:nvSpPr>
        <p:spPr>
          <a:xfrm>
            <a:off x="1234440" y="5495544"/>
            <a:ext cx="4572000" cy="347472"/>
          </a:xfrm>
          <a:prstGeom prst="rect">
            <a:avLst/>
          </a:prstGeom>
          <a:noFill/>
        </p:spPr>
        <p:txBody>
          <a:bodyPr wrap="square">
            <a:spAutoFit/>
          </a:bodyPr>
          <a:lstStyle/>
          <a:p>
            <a:pPr algn="l"/>
            <a:r>
              <a:rPr sz="1300" b="1" i="0">
                <a:solidFill>
                  <a:srgbClr val="FFFFFF"/>
                </a:solidFill>
              </a:rPr>
              <a:t>Post-Closing Review Automation</a:t>
            </a:r>
          </a:p>
        </p:txBody>
      </p:sp>
      <p:sp>
        <p:nvSpPr>
          <p:cNvPr id="22" name="TextBox 21"/>
          <p:cNvSpPr txBox="1"/>
          <p:nvPr/>
        </p:nvSpPr>
        <p:spPr>
          <a:xfrm>
            <a:off x="594360" y="5879592"/>
            <a:ext cx="5212080" cy="594360"/>
          </a:xfrm>
          <a:prstGeom prst="rect">
            <a:avLst/>
          </a:prstGeom>
          <a:noFill/>
        </p:spPr>
        <p:txBody>
          <a:bodyPr wrap="square">
            <a:spAutoFit/>
          </a:bodyPr>
          <a:lstStyle/>
          <a:p>
            <a:pPr algn="l"/>
            <a:r>
              <a:rPr sz="1100" b="0" i="0">
                <a:solidFill>
                  <a:srgbClr val="C8D4EE"/>
                </a:solidFill>
              </a:rPr>
              <a:t>Automated review requests sent after closing to Google, Zillow, and Realtor.com. Fills the empty testimonials section automatically over time.</a:t>
            </a:r>
          </a:p>
        </p:txBody>
      </p:sp>
      <p:sp>
        <p:nvSpPr>
          <p:cNvPr id="23" name="Rectangle 22"/>
          <p:cNvSpPr/>
          <p:nvPr/>
        </p:nvSpPr>
        <p:spPr>
          <a:xfrm>
            <a:off x="6400800" y="1508760"/>
            <a:ext cx="530352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600200"/>
            <a:ext cx="640080" cy="502920"/>
          </a:xfrm>
          <a:prstGeom prst="rect">
            <a:avLst/>
          </a:prstGeom>
          <a:noFill/>
        </p:spPr>
        <p:txBody>
          <a:bodyPr wrap="square">
            <a:spAutoFit/>
          </a:bodyPr>
          <a:lstStyle/>
          <a:p>
            <a:pPr algn="l"/>
            <a:r>
              <a:rPr sz="2000" b="1" i="0">
                <a:solidFill>
                  <a:srgbClr val="F5C518"/>
                </a:solidFill>
              </a:rPr>
              <a:t>05</a:t>
            </a:r>
          </a:p>
        </p:txBody>
      </p:sp>
      <p:sp>
        <p:nvSpPr>
          <p:cNvPr id="25" name="TextBox 24"/>
          <p:cNvSpPr txBox="1"/>
          <p:nvPr/>
        </p:nvSpPr>
        <p:spPr>
          <a:xfrm>
            <a:off x="7132320" y="1600200"/>
            <a:ext cx="4389120" cy="347472"/>
          </a:xfrm>
          <a:prstGeom prst="rect">
            <a:avLst/>
          </a:prstGeom>
          <a:noFill/>
        </p:spPr>
        <p:txBody>
          <a:bodyPr wrap="square">
            <a:spAutoFit/>
          </a:bodyPr>
          <a:lstStyle/>
          <a:p>
            <a:pPr algn="l"/>
            <a:r>
              <a:rPr sz="1300" b="1" i="0">
                <a:solidFill>
                  <a:srgbClr val="FFFFFF"/>
                </a:solidFill>
              </a:rPr>
              <a:t>Property Mgmt Workflow Automation</a:t>
            </a:r>
          </a:p>
        </p:txBody>
      </p:sp>
      <p:sp>
        <p:nvSpPr>
          <p:cNvPr id="26" name="TextBox 25"/>
          <p:cNvSpPr txBox="1"/>
          <p:nvPr/>
        </p:nvSpPr>
        <p:spPr>
          <a:xfrm>
            <a:off x="6492240" y="1984248"/>
            <a:ext cx="5029200" cy="594360"/>
          </a:xfrm>
          <a:prstGeom prst="rect">
            <a:avLst/>
          </a:prstGeom>
          <a:noFill/>
        </p:spPr>
        <p:txBody>
          <a:bodyPr wrap="square">
            <a:spAutoFit/>
          </a:bodyPr>
          <a:lstStyle/>
          <a:p>
            <a:pPr algn="l"/>
            <a:r>
              <a:rPr sz="1100" b="0" i="0">
                <a:solidFill>
                  <a:srgbClr val="C8D4EE"/>
                </a:solidFill>
              </a:rPr>
              <a:t>Superior Real Estate Services runs on manual processes. AI automates maintenance requests, rent reminders, lease renewals, and tenant communications.</a:t>
            </a:r>
          </a:p>
        </p:txBody>
      </p:sp>
      <p:sp>
        <p:nvSpPr>
          <p:cNvPr id="27" name="Rectangle 26"/>
          <p:cNvSpPr/>
          <p:nvPr/>
        </p:nvSpPr>
        <p:spPr>
          <a:xfrm>
            <a:off x="6400800" y="2807208"/>
            <a:ext cx="530352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2898648"/>
            <a:ext cx="640080" cy="502920"/>
          </a:xfrm>
          <a:prstGeom prst="rect">
            <a:avLst/>
          </a:prstGeom>
          <a:noFill/>
        </p:spPr>
        <p:txBody>
          <a:bodyPr wrap="square">
            <a:spAutoFit/>
          </a:bodyPr>
          <a:lstStyle/>
          <a:p>
            <a:pPr algn="l"/>
            <a:r>
              <a:rPr sz="2000" b="1" i="0">
                <a:solidFill>
                  <a:srgbClr val="F5C518"/>
                </a:solidFill>
              </a:rPr>
              <a:t>06</a:t>
            </a:r>
          </a:p>
        </p:txBody>
      </p:sp>
      <p:sp>
        <p:nvSpPr>
          <p:cNvPr id="29" name="TextBox 28"/>
          <p:cNvSpPr txBox="1"/>
          <p:nvPr/>
        </p:nvSpPr>
        <p:spPr>
          <a:xfrm>
            <a:off x="7132320" y="2898648"/>
            <a:ext cx="4389120" cy="347472"/>
          </a:xfrm>
          <a:prstGeom prst="rect">
            <a:avLst/>
          </a:prstGeom>
          <a:noFill/>
        </p:spPr>
        <p:txBody>
          <a:bodyPr wrap="square">
            <a:spAutoFit/>
          </a:bodyPr>
          <a:lstStyle/>
          <a:p>
            <a:pPr algn="l"/>
            <a:r>
              <a:rPr sz="1300" b="1" i="0">
                <a:solidFill>
                  <a:srgbClr val="FFFFFF"/>
                </a:solidFill>
              </a:rPr>
              <a:t>Listing Description Generator</a:t>
            </a:r>
          </a:p>
        </p:txBody>
      </p:sp>
      <p:sp>
        <p:nvSpPr>
          <p:cNvPr id="30" name="TextBox 29"/>
          <p:cNvSpPr txBox="1"/>
          <p:nvPr/>
        </p:nvSpPr>
        <p:spPr>
          <a:xfrm>
            <a:off x="6492240" y="3282696"/>
            <a:ext cx="5029200" cy="594360"/>
          </a:xfrm>
          <a:prstGeom prst="rect">
            <a:avLst/>
          </a:prstGeom>
          <a:noFill/>
        </p:spPr>
        <p:txBody>
          <a:bodyPr wrap="square">
            <a:spAutoFit/>
          </a:bodyPr>
          <a:lstStyle/>
          <a:p>
            <a:pPr algn="l"/>
            <a:r>
              <a:rPr sz="1100" b="0" i="0">
                <a:solidFill>
                  <a:srgbClr val="C8D4EE"/>
                </a:solidFill>
              </a:rPr>
              <a:t>AI writes compelling, SEO-optimized listing descriptions from photos and data in minutes - freeing agent time for client work.</a:t>
            </a:r>
          </a:p>
        </p:txBody>
      </p:sp>
      <p:sp>
        <p:nvSpPr>
          <p:cNvPr id="31" name="Rectangle 30"/>
          <p:cNvSpPr/>
          <p:nvPr/>
        </p:nvSpPr>
        <p:spPr>
          <a:xfrm>
            <a:off x="6400800" y="4105656"/>
            <a:ext cx="5303520"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197096"/>
            <a:ext cx="640080" cy="502920"/>
          </a:xfrm>
          <a:prstGeom prst="rect">
            <a:avLst/>
          </a:prstGeom>
          <a:noFill/>
        </p:spPr>
        <p:txBody>
          <a:bodyPr wrap="square">
            <a:spAutoFit/>
          </a:bodyPr>
          <a:lstStyle/>
          <a:p>
            <a:pPr algn="l"/>
            <a:r>
              <a:rPr sz="2000" b="1" i="0">
                <a:solidFill>
                  <a:srgbClr val="F5C518"/>
                </a:solidFill>
              </a:rPr>
              <a:t>07</a:t>
            </a:r>
          </a:p>
        </p:txBody>
      </p:sp>
      <p:sp>
        <p:nvSpPr>
          <p:cNvPr id="33" name="TextBox 32"/>
          <p:cNvSpPr txBox="1"/>
          <p:nvPr/>
        </p:nvSpPr>
        <p:spPr>
          <a:xfrm>
            <a:off x="7132320" y="4197096"/>
            <a:ext cx="4389120" cy="347472"/>
          </a:xfrm>
          <a:prstGeom prst="rect">
            <a:avLst/>
          </a:prstGeom>
          <a:noFill/>
        </p:spPr>
        <p:txBody>
          <a:bodyPr wrap="square">
            <a:spAutoFit/>
          </a:bodyPr>
          <a:lstStyle/>
          <a:p>
            <a:pPr algn="l"/>
            <a:r>
              <a:rPr sz="1300" b="1" i="0">
                <a:solidFill>
                  <a:srgbClr val="FFFFFF"/>
                </a:solidFill>
              </a:rPr>
              <a:t>Social Content Automation</a:t>
            </a:r>
          </a:p>
        </p:txBody>
      </p:sp>
      <p:sp>
        <p:nvSpPr>
          <p:cNvPr id="34" name="TextBox 33"/>
          <p:cNvSpPr txBox="1"/>
          <p:nvPr/>
        </p:nvSpPr>
        <p:spPr>
          <a:xfrm>
            <a:off x="6492240" y="4581144"/>
            <a:ext cx="5029200" cy="594360"/>
          </a:xfrm>
          <a:prstGeom prst="rect">
            <a:avLst/>
          </a:prstGeom>
          <a:noFill/>
        </p:spPr>
        <p:txBody>
          <a:bodyPr wrap="square">
            <a:spAutoFit/>
          </a:bodyPr>
          <a:lstStyle/>
          <a:p>
            <a:pPr algn="l"/>
            <a:r>
              <a:rPr sz="1100" b="0" i="0">
                <a:solidFill>
                  <a:srgbClr val="C8D4EE"/>
                </a:solidFill>
              </a:rPr>
              <a:t>Auto-generate YouTube scripts, Instagram captions, and Facebook posts from listings and market data. Keeps all channels active without extra effort.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Hidden Cost of the Status Quo</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11183112" cy="11155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4572000" cy="384048"/>
          </a:xfrm>
          <a:prstGeom prst="rect">
            <a:avLst/>
          </a:prstGeom>
          <a:noFill/>
        </p:spPr>
        <p:txBody>
          <a:bodyPr wrap="square">
            <a:spAutoFit/>
          </a:bodyPr>
          <a:lstStyle/>
          <a:p>
            <a:pPr algn="l"/>
            <a:r>
              <a:rPr sz="1400" b="1" i="0">
                <a:solidFill>
                  <a:srgbClr val="F5C518"/>
                </a:solidFill>
              </a:rPr>
              <a:t>!  Cold Leads Every Weekend</a:t>
            </a:r>
          </a:p>
        </p:txBody>
      </p:sp>
      <p:sp>
        <p:nvSpPr>
          <p:cNvPr id="9" name="TextBox 8"/>
          <p:cNvSpPr txBox="1"/>
          <p:nvPr/>
        </p:nvSpPr>
        <p:spPr>
          <a:xfrm>
            <a:off x="640080" y="2011680"/>
            <a:ext cx="10789920" cy="548640"/>
          </a:xfrm>
          <a:prstGeom prst="rect">
            <a:avLst/>
          </a:prstGeom>
          <a:noFill/>
        </p:spPr>
        <p:txBody>
          <a:bodyPr wrap="square">
            <a:spAutoFit/>
          </a:bodyPr>
          <a:lstStyle/>
          <a:p>
            <a:pPr algn="l"/>
            <a:r>
              <a:rPr sz="1200" b="0" i="0">
                <a:solidFill>
                  <a:srgbClr val="C8D4EE"/>
                </a:solidFill>
              </a:rPr>
              <a:t>Real estate inquiries don't respect business hours. Every Friday evening to Monday morning, leads hitting iSellVirginia.com with no chat, no bot, and no follow-up automation are going to Zillow agents who respond in under 5 minutes.</a:t>
            </a:r>
          </a:p>
        </p:txBody>
      </p:sp>
      <p:sp>
        <p:nvSpPr>
          <p:cNvPr id="10" name="Rectangle 9"/>
          <p:cNvSpPr/>
          <p:nvPr/>
        </p:nvSpPr>
        <p:spPr>
          <a:xfrm>
            <a:off x="502920" y="2788920"/>
            <a:ext cx="11183112" cy="11155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80360"/>
            <a:ext cx="4572000" cy="384048"/>
          </a:xfrm>
          <a:prstGeom prst="rect">
            <a:avLst/>
          </a:prstGeom>
          <a:noFill/>
        </p:spPr>
        <p:txBody>
          <a:bodyPr wrap="square">
            <a:spAutoFit/>
          </a:bodyPr>
          <a:lstStyle/>
          <a:p>
            <a:pPr algn="l"/>
            <a:r>
              <a:rPr sz="1400" b="1" i="0">
                <a:solidFill>
                  <a:srgbClr val="F5C518"/>
                </a:solidFill>
              </a:rPr>
              <a:t>!  Reviews Left on the Table</a:t>
            </a:r>
          </a:p>
        </p:txBody>
      </p:sp>
      <p:sp>
        <p:nvSpPr>
          <p:cNvPr id="12" name="TextBox 11"/>
          <p:cNvSpPr txBox="1"/>
          <p:nvPr/>
        </p:nvSpPr>
        <p:spPr>
          <a:xfrm>
            <a:off x="640080" y="3246120"/>
            <a:ext cx="10789920" cy="548640"/>
          </a:xfrm>
          <a:prstGeom prst="rect">
            <a:avLst/>
          </a:prstGeom>
          <a:noFill/>
        </p:spPr>
        <p:txBody>
          <a:bodyPr wrap="square">
            <a:spAutoFit/>
          </a:bodyPr>
          <a:lstStyle/>
          <a:p>
            <a:pPr algn="l"/>
            <a:r>
              <a:rPr sz="1200" b="0" i="0">
                <a:solidFill>
                  <a:srgbClr val="C8D4EE"/>
                </a:solidFill>
              </a:rPr>
              <a:t>Rich has helped 2,000+ families. His testimonials section is empty. Every seller comparing agents is making a decision with incomplete information because those reviews were never asked for systematically.</a:t>
            </a:r>
          </a:p>
        </p:txBody>
      </p:sp>
      <p:sp>
        <p:nvSpPr>
          <p:cNvPr id="13" name="Rectangle 12"/>
          <p:cNvSpPr/>
          <p:nvPr/>
        </p:nvSpPr>
        <p:spPr>
          <a:xfrm>
            <a:off x="502920" y="4023360"/>
            <a:ext cx="11183112" cy="11155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14800"/>
            <a:ext cx="4572000" cy="384048"/>
          </a:xfrm>
          <a:prstGeom prst="rect">
            <a:avLst/>
          </a:prstGeom>
          <a:noFill/>
        </p:spPr>
        <p:txBody>
          <a:bodyPr wrap="square">
            <a:spAutoFit/>
          </a:bodyPr>
          <a:lstStyle/>
          <a:p>
            <a:pPr algn="l"/>
            <a:r>
              <a:rPr sz="1400" b="1" i="0">
                <a:solidFill>
                  <a:srgbClr val="F5C518"/>
                </a:solidFill>
              </a:rPr>
              <a:t>!  YouTube Views That Don't Convert</a:t>
            </a:r>
          </a:p>
        </p:txBody>
      </p:sp>
      <p:sp>
        <p:nvSpPr>
          <p:cNvPr id="15" name="TextBox 14"/>
          <p:cNvSpPr txBox="1"/>
          <p:nvPr/>
        </p:nvSpPr>
        <p:spPr>
          <a:xfrm>
            <a:off x="640080" y="4480560"/>
            <a:ext cx="10789920" cy="548640"/>
          </a:xfrm>
          <a:prstGeom prst="rect">
            <a:avLst/>
          </a:prstGeom>
          <a:noFill/>
        </p:spPr>
        <p:txBody>
          <a:bodyPr wrap="square">
            <a:spAutoFit/>
          </a:bodyPr>
          <a:lstStyle/>
          <a:p>
            <a:pPr algn="l"/>
            <a:r>
              <a:rPr sz="1200" b="0" i="0">
                <a:solidFill>
                  <a:srgbClr val="C8D4EE"/>
                </a:solidFill>
              </a:rPr>
              <a:t>Rich posts on YouTube but the site doesn't link back to it meaningfully. Video builds trust faster than any other format. That investment is currently disconnected from the lead pipeline.</a:t>
            </a:r>
          </a:p>
        </p:txBody>
      </p:sp>
      <p:sp>
        <p:nvSpPr>
          <p:cNvPr id="16" name="Rectangle 15"/>
          <p:cNvSpPr/>
          <p:nvPr/>
        </p:nvSpPr>
        <p:spPr>
          <a:xfrm>
            <a:off x="502920" y="5257800"/>
            <a:ext cx="11183112" cy="11155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349240"/>
            <a:ext cx="4572000" cy="384048"/>
          </a:xfrm>
          <a:prstGeom prst="rect">
            <a:avLst/>
          </a:prstGeom>
          <a:noFill/>
        </p:spPr>
        <p:txBody>
          <a:bodyPr wrap="square">
            <a:spAutoFit/>
          </a:bodyPr>
          <a:lstStyle/>
          <a:p>
            <a:pPr algn="l"/>
            <a:r>
              <a:rPr sz="1400" b="1" i="0">
                <a:solidFill>
                  <a:srgbClr val="F5C518"/>
                </a:solidFill>
              </a:rPr>
              <a:t>!  Manual Property Management</a:t>
            </a:r>
          </a:p>
        </p:txBody>
      </p:sp>
      <p:sp>
        <p:nvSpPr>
          <p:cNvPr id="18" name="TextBox 17"/>
          <p:cNvSpPr txBox="1"/>
          <p:nvPr/>
        </p:nvSpPr>
        <p:spPr>
          <a:xfrm>
            <a:off x="640080" y="5715000"/>
            <a:ext cx="10789920" cy="548640"/>
          </a:xfrm>
          <a:prstGeom prst="rect">
            <a:avLst/>
          </a:prstGeom>
          <a:noFill/>
        </p:spPr>
        <p:txBody>
          <a:bodyPr wrap="square">
            <a:spAutoFit/>
          </a:bodyPr>
          <a:lstStyle/>
          <a:p>
            <a:pPr algn="l"/>
            <a:r>
              <a:rPr sz="1200" b="0" i="0">
                <a:solidFill>
                  <a:srgbClr val="C8D4EE"/>
                </a:solidFill>
              </a:rPr>
              <a:t>Superior Real Estate Services is a real business running on manual processes. Maintenance requests, reminders, renewals handled by hand. Every manual process is a margin leak and a scaling ceiling.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Genos AI Stack for iSellVirginia</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502920" cy="50292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618488"/>
            <a:ext cx="502920" cy="502920"/>
          </a:xfrm>
          <a:prstGeom prst="rect">
            <a:avLst/>
          </a:prstGeom>
          <a:noFill/>
        </p:spPr>
        <p:txBody>
          <a:bodyPr wrap="square">
            <a:spAutoFit/>
          </a:bodyPr>
          <a:lstStyle/>
          <a:p>
            <a:pPr algn="ctr"/>
            <a:r>
              <a:rPr sz="1600" b="1" i="0">
                <a:solidFill>
                  <a:srgbClr val="FFFFFF"/>
                </a:solidFill>
              </a:rPr>
              <a:t>1</a:t>
            </a:r>
          </a:p>
        </p:txBody>
      </p:sp>
      <p:sp>
        <p:nvSpPr>
          <p:cNvPr id="10" name="TextBox 9"/>
          <p:cNvSpPr txBox="1"/>
          <p:nvPr/>
        </p:nvSpPr>
        <p:spPr>
          <a:xfrm>
            <a:off x="1170432" y="1581912"/>
            <a:ext cx="6858000" cy="347472"/>
          </a:xfrm>
          <a:prstGeom prst="rect">
            <a:avLst/>
          </a:prstGeom>
          <a:noFill/>
        </p:spPr>
        <p:txBody>
          <a:bodyPr wrap="square">
            <a:spAutoFit/>
          </a:bodyPr>
          <a:lstStyle/>
          <a:p>
            <a:pPr algn="l"/>
            <a:r>
              <a:rPr sz="1400" b="1" i="0">
                <a:solidFill>
                  <a:srgbClr val="FFFFFF"/>
                </a:solidFill>
              </a:rPr>
              <a:t>New Website Rebuild</a:t>
            </a:r>
          </a:p>
        </p:txBody>
      </p:sp>
      <p:sp>
        <p:nvSpPr>
          <p:cNvPr id="11" name="TextBox 10"/>
          <p:cNvSpPr txBox="1"/>
          <p:nvPr/>
        </p:nvSpPr>
        <p:spPr>
          <a:xfrm>
            <a:off x="1170432" y="1947672"/>
            <a:ext cx="6858000" cy="384048"/>
          </a:xfrm>
          <a:prstGeom prst="rect">
            <a:avLst/>
          </a:prstGeom>
          <a:noFill/>
        </p:spPr>
        <p:txBody>
          <a:bodyPr wrap="square">
            <a:spAutoFit/>
          </a:bodyPr>
          <a:lstStyle/>
          <a:p>
            <a:pPr algn="l"/>
            <a:r>
              <a:rPr sz="1100" b="0" i="0">
                <a:solidFill>
                  <a:srgbClr val="C8D4EE"/>
                </a:solidFill>
              </a:rPr>
              <a:t>Premium design built around Rich's story: YouTube embedded, valuation CTA above fold, real testimonials, community pages for Burke and Woodbridge.</a:t>
            </a:r>
          </a:p>
        </p:txBody>
      </p:sp>
      <p:sp>
        <p:nvSpPr>
          <p:cNvPr id="12" name="Oval 11"/>
          <p:cNvSpPr/>
          <p:nvPr/>
        </p:nvSpPr>
        <p:spPr>
          <a:xfrm>
            <a:off x="10515600" y="1783080"/>
            <a:ext cx="1229868"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Weeks 1-4</a:t>
            </a:r>
          </a:p>
        </p:txBody>
      </p:sp>
      <p:sp>
        <p:nvSpPr>
          <p:cNvPr id="13" name="Rectangle 12"/>
          <p:cNvSpPr/>
          <p:nvPr/>
        </p:nvSpPr>
        <p:spPr>
          <a:xfrm>
            <a:off x="502920" y="2532888"/>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70048"/>
            <a:ext cx="502920" cy="50292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642616"/>
            <a:ext cx="502920" cy="502920"/>
          </a:xfrm>
          <a:prstGeom prst="rect">
            <a:avLst/>
          </a:prstGeom>
          <a:noFill/>
        </p:spPr>
        <p:txBody>
          <a:bodyPr wrap="square">
            <a:spAutoFit/>
          </a:bodyPr>
          <a:lstStyle/>
          <a:p>
            <a:pPr algn="ctr"/>
            <a:r>
              <a:rPr sz="1600" b="1" i="0">
                <a:solidFill>
                  <a:srgbClr val="FFFFFF"/>
                </a:solidFill>
              </a:rPr>
              <a:t>2</a:t>
            </a:r>
          </a:p>
        </p:txBody>
      </p:sp>
      <p:sp>
        <p:nvSpPr>
          <p:cNvPr id="16" name="TextBox 15"/>
          <p:cNvSpPr txBox="1"/>
          <p:nvPr/>
        </p:nvSpPr>
        <p:spPr>
          <a:xfrm>
            <a:off x="1170432" y="2606040"/>
            <a:ext cx="6858000" cy="347472"/>
          </a:xfrm>
          <a:prstGeom prst="rect">
            <a:avLst/>
          </a:prstGeom>
          <a:noFill/>
        </p:spPr>
        <p:txBody>
          <a:bodyPr wrap="square">
            <a:spAutoFit/>
          </a:bodyPr>
          <a:lstStyle/>
          <a:p>
            <a:pPr algn="l"/>
            <a:r>
              <a:rPr sz="1400" b="1" i="0">
                <a:solidFill>
                  <a:srgbClr val="FFFFFF"/>
                </a:solidFill>
              </a:rPr>
              <a:t>AI Chat Widget</a:t>
            </a:r>
          </a:p>
        </p:txBody>
      </p:sp>
      <p:sp>
        <p:nvSpPr>
          <p:cNvPr id="17" name="TextBox 16"/>
          <p:cNvSpPr txBox="1"/>
          <p:nvPr/>
        </p:nvSpPr>
        <p:spPr>
          <a:xfrm>
            <a:off x="1170432" y="2971800"/>
            <a:ext cx="6858000" cy="384048"/>
          </a:xfrm>
          <a:prstGeom prst="rect">
            <a:avLst/>
          </a:prstGeom>
          <a:noFill/>
        </p:spPr>
        <p:txBody>
          <a:bodyPr wrap="square">
            <a:spAutoFit/>
          </a:bodyPr>
          <a:lstStyle/>
          <a:p>
            <a:pPr algn="l"/>
            <a:r>
              <a:rPr sz="1100" b="0" i="0">
                <a:solidFill>
                  <a:srgbClr val="C8D4EE"/>
                </a:solidFill>
              </a:rPr>
              <a:t>Trained on Rich's listings, farm areas, and services. Captures and qualifies leads 24/7, routes urgent ones to Rich directly.</a:t>
            </a:r>
          </a:p>
        </p:txBody>
      </p:sp>
      <p:sp>
        <p:nvSpPr>
          <p:cNvPr id="18" name="Oval 17"/>
          <p:cNvSpPr/>
          <p:nvPr/>
        </p:nvSpPr>
        <p:spPr>
          <a:xfrm>
            <a:off x="10515600" y="2807208"/>
            <a:ext cx="1229868"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Weeks 1-3</a:t>
            </a:r>
          </a:p>
        </p:txBody>
      </p:sp>
      <p:sp>
        <p:nvSpPr>
          <p:cNvPr id="19" name="Rectangle 18"/>
          <p:cNvSpPr/>
          <p:nvPr/>
        </p:nvSpPr>
        <p:spPr>
          <a:xfrm>
            <a:off x="502920" y="3557016"/>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694176"/>
            <a:ext cx="502920" cy="50292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666744"/>
            <a:ext cx="502920" cy="502920"/>
          </a:xfrm>
          <a:prstGeom prst="rect">
            <a:avLst/>
          </a:prstGeom>
          <a:noFill/>
        </p:spPr>
        <p:txBody>
          <a:bodyPr wrap="square">
            <a:spAutoFit/>
          </a:bodyPr>
          <a:lstStyle/>
          <a:p>
            <a:pPr algn="ctr"/>
            <a:r>
              <a:rPr sz="1600" b="1" i="0">
                <a:solidFill>
                  <a:srgbClr val="FFFFFF"/>
                </a:solidFill>
              </a:rPr>
              <a:t>3</a:t>
            </a:r>
          </a:p>
        </p:txBody>
      </p:sp>
      <p:sp>
        <p:nvSpPr>
          <p:cNvPr id="22" name="TextBox 21"/>
          <p:cNvSpPr txBox="1"/>
          <p:nvPr/>
        </p:nvSpPr>
        <p:spPr>
          <a:xfrm>
            <a:off x="1170432" y="3630168"/>
            <a:ext cx="6858000" cy="347472"/>
          </a:xfrm>
          <a:prstGeom prst="rect">
            <a:avLst/>
          </a:prstGeom>
          <a:noFill/>
        </p:spPr>
        <p:txBody>
          <a:bodyPr wrap="square">
            <a:spAutoFit/>
          </a:bodyPr>
          <a:lstStyle/>
          <a:p>
            <a:pPr algn="l"/>
            <a:r>
              <a:rPr sz="1400" b="1" i="0">
                <a:solidFill>
                  <a:srgbClr val="FFFFFF"/>
                </a:solidFill>
              </a:rPr>
              <a:t>Lead Follow-Up Engine</a:t>
            </a:r>
          </a:p>
        </p:txBody>
      </p:sp>
      <p:sp>
        <p:nvSpPr>
          <p:cNvPr id="23" name="TextBox 22"/>
          <p:cNvSpPr txBox="1"/>
          <p:nvPr/>
        </p:nvSpPr>
        <p:spPr>
          <a:xfrm>
            <a:off x="1170432" y="3995928"/>
            <a:ext cx="6858000" cy="384048"/>
          </a:xfrm>
          <a:prstGeom prst="rect">
            <a:avLst/>
          </a:prstGeom>
          <a:noFill/>
        </p:spPr>
        <p:txBody>
          <a:bodyPr wrap="square">
            <a:spAutoFit/>
          </a:bodyPr>
          <a:lstStyle/>
          <a:p>
            <a:pPr algn="l"/>
            <a:r>
              <a:rPr sz="1100" b="0" i="0">
                <a:solidFill>
                  <a:srgbClr val="C8D4EE"/>
                </a:solidFill>
              </a:rPr>
              <a:t>30/60/90-day automated nurture sequences for every new lead. Personalized by buyer vs. seller, location, and price range.</a:t>
            </a:r>
          </a:p>
        </p:txBody>
      </p:sp>
      <p:sp>
        <p:nvSpPr>
          <p:cNvPr id="24" name="Oval 23"/>
          <p:cNvSpPr/>
          <p:nvPr/>
        </p:nvSpPr>
        <p:spPr>
          <a:xfrm>
            <a:off x="10515600" y="3831336"/>
            <a:ext cx="1229868"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Weeks 2-5</a:t>
            </a:r>
          </a:p>
        </p:txBody>
      </p:sp>
      <p:sp>
        <p:nvSpPr>
          <p:cNvPr id="25" name="Rectangle 24"/>
          <p:cNvSpPr/>
          <p:nvPr/>
        </p:nvSpPr>
        <p:spPr>
          <a:xfrm>
            <a:off x="502920" y="4581144"/>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718304"/>
            <a:ext cx="502920" cy="50292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690872"/>
            <a:ext cx="502920" cy="502920"/>
          </a:xfrm>
          <a:prstGeom prst="rect">
            <a:avLst/>
          </a:prstGeom>
          <a:noFill/>
        </p:spPr>
        <p:txBody>
          <a:bodyPr wrap="square">
            <a:spAutoFit/>
          </a:bodyPr>
          <a:lstStyle/>
          <a:p>
            <a:pPr algn="ctr"/>
            <a:r>
              <a:rPr sz="1600" b="1" i="0">
                <a:solidFill>
                  <a:srgbClr val="FFFFFF"/>
                </a:solidFill>
              </a:rPr>
              <a:t>4</a:t>
            </a:r>
          </a:p>
        </p:txBody>
      </p:sp>
      <p:sp>
        <p:nvSpPr>
          <p:cNvPr id="28" name="TextBox 27"/>
          <p:cNvSpPr txBox="1"/>
          <p:nvPr/>
        </p:nvSpPr>
        <p:spPr>
          <a:xfrm>
            <a:off x="1170432" y="4654296"/>
            <a:ext cx="6858000" cy="347472"/>
          </a:xfrm>
          <a:prstGeom prst="rect">
            <a:avLst/>
          </a:prstGeom>
          <a:noFill/>
        </p:spPr>
        <p:txBody>
          <a:bodyPr wrap="square">
            <a:spAutoFit/>
          </a:bodyPr>
          <a:lstStyle/>
          <a:p>
            <a:pPr algn="l"/>
            <a:r>
              <a:rPr sz="1400" b="1" i="0">
                <a:solidFill>
                  <a:srgbClr val="FFFFFF"/>
                </a:solidFill>
              </a:rPr>
              <a:t>Seller Market Report Automation</a:t>
            </a:r>
          </a:p>
        </p:txBody>
      </p:sp>
      <p:sp>
        <p:nvSpPr>
          <p:cNvPr id="29" name="TextBox 28"/>
          <p:cNvSpPr txBox="1"/>
          <p:nvPr/>
        </p:nvSpPr>
        <p:spPr>
          <a:xfrm>
            <a:off x="1170432" y="5020056"/>
            <a:ext cx="6858000" cy="384048"/>
          </a:xfrm>
          <a:prstGeom prst="rect">
            <a:avLst/>
          </a:prstGeom>
          <a:noFill/>
        </p:spPr>
        <p:txBody>
          <a:bodyPr wrap="square">
            <a:spAutoFit/>
          </a:bodyPr>
          <a:lstStyle/>
          <a:p>
            <a:pPr algn="l"/>
            <a:r>
              <a:rPr sz="1100" b="0" i="0">
                <a:solidFill>
                  <a:srgbClr val="C8D4EE"/>
                </a:solidFill>
              </a:rPr>
              <a:t>Monthly automated CMAs to Rich's farm area database. Keeps iSellVirginia top of mind before someone decides to list.</a:t>
            </a:r>
          </a:p>
        </p:txBody>
      </p:sp>
      <p:sp>
        <p:nvSpPr>
          <p:cNvPr id="30" name="Oval 29"/>
          <p:cNvSpPr/>
          <p:nvPr/>
        </p:nvSpPr>
        <p:spPr>
          <a:xfrm>
            <a:off x="10515600" y="4855464"/>
            <a:ext cx="1229868"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Weeks 3-6</a:t>
            </a:r>
          </a:p>
        </p:txBody>
      </p:sp>
      <p:sp>
        <p:nvSpPr>
          <p:cNvPr id="31" name="Rectangle 30"/>
          <p:cNvSpPr/>
          <p:nvPr/>
        </p:nvSpPr>
        <p:spPr>
          <a:xfrm>
            <a:off x="502920" y="5605272"/>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742432"/>
            <a:ext cx="502920" cy="50292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5715000"/>
            <a:ext cx="502920" cy="502920"/>
          </a:xfrm>
          <a:prstGeom prst="rect">
            <a:avLst/>
          </a:prstGeom>
          <a:noFill/>
        </p:spPr>
        <p:txBody>
          <a:bodyPr wrap="square">
            <a:spAutoFit/>
          </a:bodyPr>
          <a:lstStyle/>
          <a:p>
            <a:pPr algn="ctr"/>
            <a:r>
              <a:rPr sz="1600" b="1" i="0">
                <a:solidFill>
                  <a:srgbClr val="FFFFFF"/>
                </a:solidFill>
              </a:rPr>
              <a:t>5</a:t>
            </a:r>
          </a:p>
        </p:txBody>
      </p:sp>
      <p:sp>
        <p:nvSpPr>
          <p:cNvPr id="34" name="TextBox 33"/>
          <p:cNvSpPr txBox="1"/>
          <p:nvPr/>
        </p:nvSpPr>
        <p:spPr>
          <a:xfrm>
            <a:off x="1170432" y="5678424"/>
            <a:ext cx="6858000" cy="347472"/>
          </a:xfrm>
          <a:prstGeom prst="rect">
            <a:avLst/>
          </a:prstGeom>
          <a:noFill/>
        </p:spPr>
        <p:txBody>
          <a:bodyPr wrap="square">
            <a:spAutoFit/>
          </a:bodyPr>
          <a:lstStyle/>
          <a:p>
            <a:pPr algn="l"/>
            <a:r>
              <a:rPr sz="1400" b="1" i="0">
                <a:solidFill>
                  <a:srgbClr val="FFFFFF"/>
                </a:solidFill>
              </a:rPr>
              <a:t>Review Automation + Property Mgmt</a:t>
            </a:r>
          </a:p>
        </p:txBody>
      </p:sp>
      <p:sp>
        <p:nvSpPr>
          <p:cNvPr id="35" name="TextBox 34"/>
          <p:cNvSpPr txBox="1"/>
          <p:nvPr/>
        </p:nvSpPr>
        <p:spPr>
          <a:xfrm>
            <a:off x="1170432" y="6044184"/>
            <a:ext cx="6858000" cy="384048"/>
          </a:xfrm>
          <a:prstGeom prst="rect">
            <a:avLst/>
          </a:prstGeom>
          <a:noFill/>
        </p:spPr>
        <p:txBody>
          <a:bodyPr wrap="square">
            <a:spAutoFit/>
          </a:bodyPr>
          <a:lstStyle/>
          <a:p>
            <a:pPr algn="l"/>
            <a:r>
              <a:rPr sz="1100" b="0" i="0">
                <a:solidFill>
                  <a:srgbClr val="C8D4EE"/>
                </a:solidFill>
              </a:rPr>
              <a:t>Post-closing review requests auto-sent to Google/Zillow. Superior RE Services workflows automated: maintenance, reminders, renewals.</a:t>
            </a:r>
          </a:p>
        </p:txBody>
      </p:sp>
      <p:sp>
        <p:nvSpPr>
          <p:cNvPr id="36" name="Oval 35"/>
          <p:cNvSpPr/>
          <p:nvPr/>
        </p:nvSpPr>
        <p:spPr>
          <a:xfrm>
            <a:off x="10515600" y="5879592"/>
            <a:ext cx="1229868"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Weeks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What iSellVirginia Looks Like 90 Days From Now</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63040"/>
            <a:ext cx="3566160" cy="493776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566160" cy="4572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63040"/>
            <a:ext cx="3566160" cy="457200"/>
          </a:xfrm>
          <a:prstGeom prst="rect">
            <a:avLst/>
          </a:prstGeom>
          <a:noFill/>
        </p:spPr>
        <p:txBody>
          <a:bodyPr wrap="square">
            <a:spAutoFit/>
          </a:bodyPr>
          <a:lstStyle/>
          <a:p>
            <a:pPr algn="ctr"/>
            <a:r>
              <a:rPr sz="1300" b="1" i="0">
                <a:solidFill>
                  <a:srgbClr val="0A0F2E"/>
                </a:solidFill>
              </a:rPr>
              <a:t>MONTH 1</a:t>
            </a:r>
          </a:p>
        </p:txBody>
      </p:sp>
      <p:sp>
        <p:nvSpPr>
          <p:cNvPr id="10" name="TextBox 9"/>
          <p:cNvSpPr txBox="1"/>
          <p:nvPr/>
        </p:nvSpPr>
        <p:spPr>
          <a:xfrm>
            <a:off x="640080" y="2057400"/>
            <a:ext cx="3291840" cy="402336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New site live - YouTube embedded, valuation CTA, modern design</a:t>
            </a:r>
          </a:p>
          <a:p>
            <a:pPr algn="l">
              <a:spcAft>
                <a:spcPts val="600"/>
              </a:spcAft>
            </a:pPr>
            <a:r>
              <a:rPr sz="1100"/>
              <a:t>  </a:t>
            </a:r>
            <a:r>
              <a:rPr sz="1100" b="1">
                <a:solidFill>
                  <a:srgbClr val="4F8EFF"/>
                </a:solidFill>
              </a:rPr>
              <a:t>• </a:t>
            </a:r>
            <a:r>
              <a:rPr sz="1300">
                <a:solidFill>
                  <a:srgbClr val="C8D4EE"/>
                </a:solidFill>
              </a:rPr>
              <a:t>AI chat capturing leads 24/7</a:t>
            </a:r>
          </a:p>
          <a:p>
            <a:pPr algn="l">
              <a:spcAft>
                <a:spcPts val="600"/>
              </a:spcAft>
            </a:pPr>
            <a:r>
              <a:rPr sz="1100"/>
              <a:t>  </a:t>
            </a:r>
            <a:r>
              <a:rPr sz="1100" b="1">
                <a:solidFill>
                  <a:srgbClr val="4F8EFF"/>
                </a:solidFill>
              </a:rPr>
              <a:t>• </a:t>
            </a:r>
            <a:r>
              <a:rPr sz="1300">
                <a:solidFill>
                  <a:srgbClr val="C8D4EE"/>
                </a:solidFill>
              </a:rPr>
              <a:t>First automated market reports sent to farm areas</a:t>
            </a:r>
          </a:p>
          <a:p>
            <a:pPr algn="l"/>
            <a:r>
              <a:rPr sz="1100"/>
              <a:t>  </a:t>
            </a:r>
            <a:r>
              <a:rPr sz="1100" b="1">
                <a:solidFill>
                  <a:srgbClr val="4F8EFF"/>
                </a:solidFill>
              </a:rPr>
              <a:t>• </a:t>
            </a:r>
            <a:r>
              <a:rPr sz="1300">
                <a:solidFill>
                  <a:srgbClr val="C8D4EE"/>
                </a:solidFill>
              </a:rPr>
              <a:t>Post-closing review requests active</a:t>
            </a:r>
          </a:p>
        </p:txBody>
      </p:sp>
      <p:sp>
        <p:nvSpPr>
          <p:cNvPr id="11" name="Rectangle 10"/>
          <p:cNvSpPr/>
          <p:nvPr/>
        </p:nvSpPr>
        <p:spPr>
          <a:xfrm>
            <a:off x="4343400" y="1463040"/>
            <a:ext cx="3566160" cy="493776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463040"/>
            <a:ext cx="3566160" cy="4572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1463040"/>
            <a:ext cx="3566160" cy="457200"/>
          </a:xfrm>
          <a:prstGeom prst="rect">
            <a:avLst/>
          </a:prstGeom>
          <a:noFill/>
        </p:spPr>
        <p:txBody>
          <a:bodyPr wrap="square">
            <a:spAutoFit/>
          </a:bodyPr>
          <a:lstStyle/>
          <a:p>
            <a:pPr algn="ctr"/>
            <a:r>
              <a:rPr sz="1300" b="1" i="0">
                <a:solidFill>
                  <a:srgbClr val="0A0F2E"/>
                </a:solidFill>
              </a:rPr>
              <a:t>MONTH 2</a:t>
            </a:r>
          </a:p>
        </p:txBody>
      </p:sp>
      <p:sp>
        <p:nvSpPr>
          <p:cNvPr id="14" name="TextBox 13"/>
          <p:cNvSpPr txBox="1"/>
          <p:nvPr/>
        </p:nvSpPr>
        <p:spPr>
          <a:xfrm>
            <a:off x="4480560" y="2057400"/>
            <a:ext cx="3291840" cy="4023360"/>
          </a:xfrm>
          <a:prstGeom prst="rect">
            <a:avLst/>
          </a:prstGeom>
          <a:noFill/>
        </p:spPr>
        <p:txBody>
          <a:bodyPr wrap="square">
            <a:spAutoFit/>
          </a:bodyPr>
          <a:lstStyle/>
          <a:p>
            <a:pPr algn="l">
              <a:spcAft>
                <a:spcPts val="600"/>
              </a:spcAft>
            </a:pPr>
            <a:r>
              <a:rPr sz="1100"/>
              <a:t>  </a:t>
            </a:r>
            <a:r>
              <a:rPr sz="1100" b="1">
                <a:solidFill>
                  <a:srgbClr val="F5C518"/>
                </a:solidFill>
              </a:rPr>
              <a:t>• </a:t>
            </a:r>
            <a:r>
              <a:rPr sz="1300">
                <a:solidFill>
                  <a:srgbClr val="C8D4EE"/>
                </a:solidFill>
              </a:rPr>
              <a:t>Lead nurture sequences running for all new inquiries</a:t>
            </a:r>
          </a:p>
          <a:p>
            <a:pPr algn="l">
              <a:spcAft>
                <a:spcPts val="600"/>
              </a:spcAft>
            </a:pPr>
            <a:r>
              <a:rPr sz="1100"/>
              <a:t>  </a:t>
            </a:r>
            <a:r>
              <a:rPr sz="1100" b="1">
                <a:solidFill>
                  <a:srgbClr val="F5C518"/>
                </a:solidFill>
              </a:rPr>
              <a:t>• </a:t>
            </a:r>
            <a:r>
              <a:rPr sz="1300">
                <a:solidFill>
                  <a:srgbClr val="C8D4EE"/>
                </a:solidFill>
              </a:rPr>
              <a:t>Testimonials section filling automatically</a:t>
            </a:r>
          </a:p>
          <a:p>
            <a:pPr algn="l">
              <a:spcAft>
                <a:spcPts val="600"/>
              </a:spcAft>
            </a:pPr>
            <a:r>
              <a:rPr sz="1100"/>
              <a:t>  </a:t>
            </a:r>
            <a:r>
              <a:rPr sz="1100" b="1">
                <a:solidFill>
                  <a:srgbClr val="F5C518"/>
                </a:solidFill>
              </a:rPr>
              <a:t>• </a:t>
            </a:r>
            <a:r>
              <a:rPr sz="1300">
                <a:solidFill>
                  <a:srgbClr val="C8D4EE"/>
                </a:solidFill>
              </a:rPr>
              <a:t>Superior RE Services maintenance workflows automated</a:t>
            </a:r>
          </a:p>
          <a:p>
            <a:pPr algn="l"/>
            <a:r>
              <a:rPr sz="1100"/>
              <a:t>  </a:t>
            </a:r>
            <a:r>
              <a:rPr sz="1100" b="1">
                <a:solidFill>
                  <a:srgbClr val="F5C518"/>
                </a:solidFill>
              </a:rPr>
              <a:t>• </a:t>
            </a:r>
            <a:r>
              <a:rPr sz="1300">
                <a:solidFill>
                  <a:srgbClr val="C8D4EE"/>
                </a:solidFill>
              </a:rPr>
              <a:t>First SEO-optimized community pages ranking</a:t>
            </a:r>
          </a:p>
        </p:txBody>
      </p:sp>
      <p:sp>
        <p:nvSpPr>
          <p:cNvPr id="15" name="Rectangle 14"/>
          <p:cNvSpPr/>
          <p:nvPr/>
        </p:nvSpPr>
        <p:spPr>
          <a:xfrm>
            <a:off x="8183880" y="1463040"/>
            <a:ext cx="3566160" cy="493776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80" y="1463040"/>
            <a:ext cx="3566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463040"/>
            <a:ext cx="3566160" cy="457200"/>
          </a:xfrm>
          <a:prstGeom prst="rect">
            <a:avLst/>
          </a:prstGeom>
          <a:noFill/>
        </p:spPr>
        <p:txBody>
          <a:bodyPr wrap="square">
            <a:spAutoFit/>
          </a:bodyPr>
          <a:lstStyle/>
          <a:p>
            <a:pPr algn="ctr"/>
            <a:r>
              <a:rPr sz="1300" b="1" i="0">
                <a:solidFill>
                  <a:srgbClr val="0A0F2E"/>
                </a:solidFill>
              </a:rPr>
              <a:t>MONTH 3</a:t>
            </a:r>
          </a:p>
        </p:txBody>
      </p:sp>
      <p:sp>
        <p:nvSpPr>
          <p:cNvPr id="18" name="TextBox 17"/>
          <p:cNvSpPr txBox="1"/>
          <p:nvPr/>
        </p:nvSpPr>
        <p:spPr>
          <a:xfrm>
            <a:off x="8321040" y="2057400"/>
            <a:ext cx="3291840" cy="4023360"/>
          </a:xfrm>
          <a:prstGeom prst="rect">
            <a:avLst/>
          </a:prstGeom>
          <a:noFill/>
        </p:spPr>
        <p:txBody>
          <a:bodyPr wrap="square">
            <a:spAutoFit/>
          </a:bodyPr>
          <a:lstStyle/>
          <a:p>
            <a:pPr algn="l">
              <a:spcAft>
                <a:spcPts val="600"/>
              </a:spcAft>
            </a:pPr>
            <a:r>
              <a:rPr sz="1100"/>
              <a:t>  </a:t>
            </a:r>
            <a:r>
              <a:rPr sz="1100" b="1">
                <a:solidFill>
                  <a:srgbClr val="2ECC71"/>
                </a:solidFill>
              </a:rPr>
              <a:t>• </a:t>
            </a:r>
            <a:r>
              <a:rPr sz="1300">
                <a:solidFill>
                  <a:srgbClr val="C8D4EE"/>
                </a:solidFill>
              </a:rPr>
              <a:t>Full lead pipeline automated start to finish</a:t>
            </a:r>
          </a:p>
          <a:p>
            <a:pPr algn="l">
              <a:spcAft>
                <a:spcPts val="600"/>
              </a:spcAft>
            </a:pPr>
            <a:r>
              <a:rPr sz="1100"/>
              <a:t>  </a:t>
            </a:r>
            <a:r>
              <a:rPr sz="1100" b="1">
                <a:solidFill>
                  <a:srgbClr val="2ECC71"/>
                </a:solidFill>
              </a:rPr>
              <a:t>• </a:t>
            </a:r>
            <a:r>
              <a:rPr sz="1300">
                <a:solidFill>
                  <a:srgbClr val="C8D4EE"/>
                </a:solidFill>
              </a:rPr>
              <a:t>Review velocity 2-3x what it was before</a:t>
            </a:r>
          </a:p>
          <a:p>
            <a:pPr algn="l">
              <a:spcAft>
                <a:spcPts val="600"/>
              </a:spcAft>
            </a:pPr>
            <a:r>
              <a:rPr sz="1100"/>
              <a:t>  </a:t>
            </a:r>
            <a:r>
              <a:rPr sz="1100" b="1">
                <a:solidFill>
                  <a:srgbClr val="2ECC71"/>
                </a:solidFill>
              </a:rPr>
              <a:t>• </a:t>
            </a:r>
            <a:r>
              <a:rPr sz="1300">
                <a:solidFill>
                  <a:srgbClr val="C8D4EE"/>
                </a:solidFill>
              </a:rPr>
              <a:t>Property mgmt on autopilot, margin recovered</a:t>
            </a:r>
          </a:p>
          <a:p>
            <a:pPr algn="l"/>
            <a:r>
              <a:rPr sz="1100"/>
              <a:t>  </a:t>
            </a:r>
            <a:r>
              <a:rPr sz="1100" b="1">
                <a:solidFill>
                  <a:srgbClr val="2ECC71"/>
                </a:solidFill>
              </a:rPr>
              <a:t>• </a:t>
            </a:r>
            <a:r>
              <a:rPr sz="1300">
                <a:solidFill>
                  <a:srgbClr val="C8D4EE"/>
                </a:solidFill>
              </a:rPr>
              <a:t>YouTube content feeding directly into lead funnel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NEXT STEPS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One Call to See What's Possible</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28800"/>
            <a:ext cx="914400" cy="1188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11680"/>
            <a:ext cx="914400" cy="640080"/>
          </a:xfrm>
          <a:prstGeom prst="rect">
            <a:avLst/>
          </a:prstGeom>
          <a:noFill/>
        </p:spPr>
        <p:txBody>
          <a:bodyPr wrap="square">
            <a:spAutoFit/>
          </a:bodyPr>
          <a:lstStyle/>
          <a:p>
            <a:pPr algn="ctr"/>
            <a:r>
              <a:rPr sz="3600" b="1" i="0">
                <a:solidFill>
                  <a:srgbClr val="0A0F2E"/>
                </a:solidFill>
              </a:rPr>
              <a:t>1</a:t>
            </a:r>
          </a:p>
        </p:txBody>
      </p:sp>
      <p:sp>
        <p:nvSpPr>
          <p:cNvPr id="10" name="TextBox 9"/>
          <p:cNvSpPr txBox="1"/>
          <p:nvPr/>
        </p:nvSpPr>
        <p:spPr>
          <a:xfrm>
            <a:off x="1554480" y="1965960"/>
            <a:ext cx="9144000" cy="411480"/>
          </a:xfrm>
          <a:prstGeom prst="rect">
            <a:avLst/>
          </a:prstGeom>
          <a:noFill/>
        </p:spPr>
        <p:txBody>
          <a:bodyPr wrap="square">
            <a:spAutoFit/>
          </a:bodyPr>
          <a:lstStyle/>
          <a:p>
            <a:pPr algn="l"/>
            <a:r>
              <a:rPr sz="1600" b="1" i="0">
                <a:solidFill>
                  <a:srgbClr val="FFFFFF"/>
                </a:solidFill>
              </a:rPr>
              <a:t>Reply or Book a 15-Min Call</a:t>
            </a:r>
          </a:p>
        </p:txBody>
      </p:sp>
      <p:sp>
        <p:nvSpPr>
          <p:cNvPr id="11" name="TextBox 10"/>
          <p:cNvSpPr txBox="1"/>
          <p:nvPr/>
        </p:nvSpPr>
        <p:spPr>
          <a:xfrm>
            <a:off x="1554480" y="2377440"/>
            <a:ext cx="9144000" cy="457200"/>
          </a:xfrm>
          <a:prstGeom prst="rect">
            <a:avLst/>
          </a:prstGeom>
          <a:noFill/>
        </p:spPr>
        <p:txBody>
          <a:bodyPr wrap="square">
            <a:spAutoFit/>
          </a:bodyPr>
          <a:lstStyle/>
          <a:p>
            <a:pPr algn="l"/>
            <a:r>
              <a:rPr sz="1300" b="0" i="0">
                <a:solidFill>
                  <a:srgbClr val="C8D4EE"/>
                </a:solidFill>
              </a:rPr>
              <a:t>No pitch. No commitment. We walk you through the audit and answer any questions about what we found.</a:t>
            </a:r>
          </a:p>
        </p:txBody>
      </p:sp>
      <p:sp>
        <p:nvSpPr>
          <p:cNvPr id="12" name="Rectangle 11"/>
          <p:cNvSpPr/>
          <p:nvPr/>
        </p:nvSpPr>
        <p:spPr>
          <a:xfrm>
            <a:off x="502920" y="32004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200400"/>
            <a:ext cx="914400" cy="1188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83280"/>
            <a:ext cx="914400" cy="640080"/>
          </a:xfrm>
          <a:prstGeom prst="rect">
            <a:avLst/>
          </a:prstGeom>
          <a:noFill/>
        </p:spPr>
        <p:txBody>
          <a:bodyPr wrap="square">
            <a:spAutoFit/>
          </a:bodyPr>
          <a:lstStyle/>
          <a:p>
            <a:pPr algn="ctr"/>
            <a:r>
              <a:rPr sz="3600" b="1" i="0">
                <a:solidFill>
                  <a:srgbClr val="0A0F2E"/>
                </a:solidFill>
              </a:rPr>
              <a:t>2</a:t>
            </a:r>
          </a:p>
        </p:txBody>
      </p:sp>
      <p:sp>
        <p:nvSpPr>
          <p:cNvPr id="15" name="TextBox 14"/>
          <p:cNvSpPr txBox="1"/>
          <p:nvPr/>
        </p:nvSpPr>
        <p:spPr>
          <a:xfrm>
            <a:off x="1554480" y="3337560"/>
            <a:ext cx="9144000" cy="411480"/>
          </a:xfrm>
          <a:prstGeom prst="rect">
            <a:avLst/>
          </a:prstGeom>
          <a:noFill/>
        </p:spPr>
        <p:txBody>
          <a:bodyPr wrap="square">
            <a:spAutoFit/>
          </a:bodyPr>
          <a:lstStyle/>
          <a:p>
            <a:pPr algn="l"/>
            <a:r>
              <a:rPr sz="1600" b="1" i="0">
                <a:solidFill>
                  <a:srgbClr val="FFFFFF"/>
                </a:solidFill>
              </a:rPr>
              <a:t>Free Strategy Session</a:t>
            </a:r>
          </a:p>
        </p:txBody>
      </p:sp>
      <p:sp>
        <p:nvSpPr>
          <p:cNvPr id="16" name="TextBox 15"/>
          <p:cNvSpPr txBox="1"/>
          <p:nvPr/>
        </p:nvSpPr>
        <p:spPr>
          <a:xfrm>
            <a:off x="1554480" y="3749040"/>
            <a:ext cx="9144000" cy="457200"/>
          </a:xfrm>
          <a:prstGeom prst="rect">
            <a:avLst/>
          </a:prstGeom>
          <a:noFill/>
        </p:spPr>
        <p:txBody>
          <a:bodyPr wrap="square">
            <a:spAutoFit/>
          </a:bodyPr>
          <a:lstStyle/>
          <a:p>
            <a:pPr algn="l"/>
            <a:r>
              <a:rPr sz="1300" b="0" i="0">
                <a:solidFill>
                  <a:srgbClr val="C8D4EE"/>
                </a:solidFill>
              </a:rPr>
              <a:t>We map out which AI automations and design changes would deliver the fastest ROI for iSellVirginia specifically.</a:t>
            </a:r>
          </a:p>
        </p:txBody>
      </p:sp>
      <p:sp>
        <p:nvSpPr>
          <p:cNvPr id="17" name="Rectangle 16"/>
          <p:cNvSpPr/>
          <p:nvPr/>
        </p:nvSpPr>
        <p:spPr>
          <a:xfrm>
            <a:off x="502920" y="45720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572000"/>
            <a:ext cx="914400" cy="1188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754880"/>
            <a:ext cx="914400" cy="640080"/>
          </a:xfrm>
          <a:prstGeom prst="rect">
            <a:avLst/>
          </a:prstGeom>
          <a:noFill/>
        </p:spPr>
        <p:txBody>
          <a:bodyPr wrap="square">
            <a:spAutoFit/>
          </a:bodyPr>
          <a:lstStyle/>
          <a:p>
            <a:pPr algn="ctr"/>
            <a:r>
              <a:rPr sz="3600" b="1" i="0">
                <a:solidFill>
                  <a:srgbClr val="0A0F2E"/>
                </a:solidFill>
              </a:rPr>
              <a:t>3</a:t>
            </a:r>
          </a:p>
        </p:txBody>
      </p:sp>
      <p:sp>
        <p:nvSpPr>
          <p:cNvPr id="20" name="TextBox 19"/>
          <p:cNvSpPr txBox="1"/>
          <p:nvPr/>
        </p:nvSpPr>
        <p:spPr>
          <a:xfrm>
            <a:off x="1554480" y="4709160"/>
            <a:ext cx="9144000" cy="411480"/>
          </a:xfrm>
          <a:prstGeom prst="rect">
            <a:avLst/>
          </a:prstGeom>
          <a:noFill/>
        </p:spPr>
        <p:txBody>
          <a:bodyPr wrap="square">
            <a:spAutoFit/>
          </a:bodyPr>
          <a:lstStyle/>
          <a:p>
            <a:pPr algn="l"/>
            <a:r>
              <a:rPr sz="1600" b="1" i="0">
                <a:solidFill>
                  <a:srgbClr val="FFFFFF"/>
                </a:solidFill>
              </a:rPr>
              <a:t>Custom Build Roadmap</a:t>
            </a:r>
          </a:p>
        </p:txBody>
      </p:sp>
      <p:sp>
        <p:nvSpPr>
          <p:cNvPr id="21" name="TextBox 20"/>
          <p:cNvSpPr txBox="1"/>
          <p:nvPr/>
        </p:nvSpPr>
        <p:spPr>
          <a:xfrm>
            <a:off x="1554480" y="5120640"/>
            <a:ext cx="9144000" cy="457200"/>
          </a:xfrm>
          <a:prstGeom prst="rect">
            <a:avLst/>
          </a:prstGeom>
          <a:noFill/>
        </p:spPr>
        <p:txBody>
          <a:bodyPr wrap="square">
            <a:spAutoFit/>
          </a:bodyPr>
          <a:lstStyle/>
          <a:p>
            <a:pPr algn="l"/>
            <a:r>
              <a:rPr sz="1300" b="0" i="0">
                <a:solidFill>
                  <a:srgbClr val="C8D4EE"/>
                </a:solidFill>
              </a:rPr>
              <a:t>We deliver a bespoke implementation plan, timeline, and cost estimate tailored to Rich's team size and goals.</a:t>
            </a:r>
          </a:p>
        </p:txBody>
      </p:sp>
      <p:sp>
        <p:nvSpPr>
          <p:cNvPr id="22" name="Rectangle 21"/>
          <p:cNvSpPr/>
          <p:nvPr/>
        </p:nvSpPr>
        <p:spPr>
          <a:xfrm>
            <a:off x="0" y="5943600"/>
            <a:ext cx="12188952" cy="9144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035040"/>
            <a:ext cx="11183112" cy="502920"/>
          </a:xfrm>
          <a:prstGeom prst="rect">
            <a:avLst/>
          </a:prstGeom>
          <a:noFill/>
        </p:spPr>
        <p:txBody>
          <a:bodyPr wrap="square">
            <a:spAutoFit/>
          </a:bodyPr>
          <a:lstStyle/>
          <a:p>
            <a:pPr algn="ctr"/>
            <a:r>
              <a:rPr sz="1400" b="1" i="0">
                <a:solidFill>
                  <a:srgbClr val="FFFFFF"/>
                </a:solidFill>
              </a:rPr>
              <a:t>Rohan Malik  ·  CEO, Genos AI  ·  hello@genosai.tech  ·  +91 638-714-2699  ·  www.genosai.tech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