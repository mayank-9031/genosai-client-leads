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4224528"/>
            <a:ext cx="11530584" cy="50292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74980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CCFF"/>
                </a:solidFill>
              </a:rPr>
              <a:t>SOCIETY OF INDUSTRIAL AND OFFICE REALTORS®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89888"/>
            <a:ext cx="10241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Web Development &amp;
AI Automation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5643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CCFF"/>
                </a:solidFill>
              </a:rPr>
              <a:t>A Strategic Digital Transformation Blueprint for the World's Foremost CRE Professional Association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617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9EA8"/>
                </a:solidFill>
              </a:rPr>
              <a:t>Prepared by: Genos Apollo  |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074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BB"/>
                </a:solidFill>
              </a:rPr>
              <a:t>sior.com  •  Washington, D.C.  •  4,000+ Members  •  34 Countries  •  630+ Cities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1081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EA8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FF"/>
                </a:solidFill>
              </a:rPr>
              <a:t>What we will cover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EA8"/>
                </a:solidFill>
              </a:rPr>
              <a:t>SIOR – Society of Industrial and Office Realtors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577840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640080" cy="96012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33549"/>
            <a:ext cx="5577840" cy="43891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E1E2D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92B52"/>
                </a:solidFill>
              </a:rPr>
              <a:t>Organisation Digital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192938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EA8"/>
                </a:solidFill>
              </a:rPr>
              <a:t>Current state of sior.com, MySIOR portal &amp; member experience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577840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417320"/>
            <a:ext cx="640080" cy="96012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2333549"/>
            <a:ext cx="5577840" cy="43891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E1E2D"/>
                </a:solidFill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92B52"/>
                </a:solidFill>
              </a:rPr>
              <a:t>Website Audit Findings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192938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EA8"/>
                </a:solidFill>
              </a:rPr>
              <a:t>UX, performance, SEO, member journey &amp; platform gaps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532888"/>
            <a:ext cx="5577840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532888"/>
            <a:ext cx="640080" cy="96012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449117"/>
            <a:ext cx="5577840" cy="43891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E1E2D"/>
                </a:solidFill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2728" y="262432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92B52"/>
                </a:solidFill>
              </a:rPr>
              <a:t>Web Development Roadmap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" y="304495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EA8"/>
                </a:solidFill>
              </a:rPr>
              <a:t>Modernising sior.com and the MySIOR member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2532888"/>
            <a:ext cx="5577840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2532888"/>
            <a:ext cx="640080" cy="96012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3449117"/>
            <a:ext cx="5577840" cy="43891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E1E2D"/>
                </a:solidFill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4888" y="262432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92B52"/>
                </a:solidFill>
              </a:rPr>
              <a:t>AI Automation Opportunities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4888" y="304495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EA8"/>
                </a:solidFill>
              </a:rPr>
              <a:t>Where AI supercharges member value &amp; association operations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648456"/>
            <a:ext cx="5577840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3648456"/>
            <a:ext cx="640080" cy="96012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4564685"/>
            <a:ext cx="5577840" cy="43891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8770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E1E2D"/>
                </a:solidFill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2728" y="373989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92B52"/>
                </a:solidFill>
              </a:rPr>
              <a:t>Benefits of Automation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52728" y="41605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EA8"/>
                </a:solidFill>
              </a:rPr>
              <a:t>Engagement, efficiency, revenue and competitive advantage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3648456"/>
            <a:ext cx="5577840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5080" y="3648456"/>
            <a:ext cx="640080" cy="96012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5080" y="4564685"/>
            <a:ext cx="5577840" cy="43891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38770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E1E2D"/>
                </a:solidFill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04888" y="373989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92B52"/>
                </a:solidFill>
              </a:rPr>
              <a:t>Implementation Timeline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04888" y="41605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EA8"/>
                </a:solidFill>
              </a:rPr>
              <a:t>Phased 12-month delivery plan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764024"/>
            <a:ext cx="5577840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4764024"/>
            <a:ext cx="640080" cy="96012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" y="5680253"/>
            <a:ext cx="5577840" cy="43891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499262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E1E2D"/>
                </a:solidFill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52728" y="485546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92B52"/>
                </a:solidFill>
              </a:rPr>
              <a:t>Investment &amp; Next Steps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52728" y="527608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EA8"/>
                </a:solidFill>
              </a:rPr>
              <a:t>Budget guidance and immediate 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Organisation Digital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FF"/>
                </a:solidFill>
              </a:rPr>
              <a:t>SIOR – current digital footprint &amp; member platform health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EA8"/>
                </a:solidFill>
              </a:rPr>
              <a:t>SIOR – Society of Industrial and Office Realtors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303520" cy="5102352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303520" cy="41148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3350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Organisation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92B52"/>
                </a:solidFill>
              </a:rPr>
              <a:t>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1828800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EA8"/>
                </a:solidFill>
              </a:rPr>
              <a:t>International Professional Association / Trade Body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92B52"/>
                </a:solidFill>
              </a:rPr>
              <a:t>Headquarters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9968" y="2286000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EA8"/>
                </a:solidFill>
              </a:rPr>
              <a:t>Washington, D.C., United States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4320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92B52"/>
                </a:solidFill>
              </a:rPr>
              <a:t>Membership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9968" y="2743200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EA8"/>
                </a:solidFill>
              </a:rPr>
              <a:t>4,000+ designees  •  630+ cities  •  34 countries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0040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92B52"/>
                </a:solidFill>
              </a:rPr>
              <a:t>Transactions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3200400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EA8"/>
                </a:solidFill>
              </a:rPr>
              <a:t>~80,000 CRE deals/year submitted by SIOR members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5760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92B52"/>
                </a:solidFill>
              </a:rPr>
              <a:t>Designations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9968" y="3657600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EA8"/>
                </a:solidFill>
              </a:rPr>
              <a:t>Industrial, Office, Dual, Sales Mgmt, Exec Mgmt, Advisory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92B52"/>
                </a:solidFill>
              </a:rPr>
              <a:t>Chapters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9968" y="4114800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EA8"/>
                </a:solidFill>
              </a:rPr>
              <a:t>50+ regional chapters  (US, Canada, global)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92B52"/>
                </a:solidFill>
              </a:rPr>
              <a:t>Events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9968" y="4572000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EA8"/>
                </a:solidFill>
              </a:rPr>
              <a:t>Fall Event NYC (Oct 2026)  •  Lisbon Int'l Conference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2920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92B52"/>
                </a:solidFill>
              </a:rPr>
              <a:t>Publications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9968" y="5029200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EA8"/>
                </a:solidFill>
              </a:rPr>
              <a:t>SIOR Report magazine  •  Pulse Blog  •  Weekly Newsletter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48640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92B52"/>
                </a:solidFill>
              </a:rPr>
              <a:t>Portal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29968" y="5486400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EA8"/>
                </a:solidFill>
              </a:rPr>
              <a:t>MySIOR – member login, directory, transaction submission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4360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92B52"/>
                </a:solidFill>
              </a:rPr>
              <a:t>Auth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9968" y="5943600"/>
            <a:ext cx="3493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EA8"/>
                </a:solidFill>
              </a:rPr>
              <a:t>Higher Logic SSO – membership management platform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1280160"/>
            <a:ext cx="5943600" cy="5102352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0" y="1280160"/>
            <a:ext cx="5943600" cy="41148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9904" y="133502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Digital Health Indicators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9904" y="182880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33"/>
                </a:solidFill>
              </a:rPr>
              <a:t>Mobile Page Speed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1828800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9A1A"/>
                </a:solidFill>
              </a:rPr>
              <a:t>~61 / 100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57232" y="1828800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9EA8"/>
                </a:solidFill>
              </a:rPr>
              <a:t>Below association avg of 72+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9904" y="224942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33"/>
                </a:solidFill>
              </a:rPr>
              <a:t>Desktop Page Speed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2249424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9A1A"/>
                </a:solidFill>
              </a:rPr>
              <a:t>~79 / 100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57232" y="2249424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9EA8"/>
                </a:solidFill>
              </a:rPr>
              <a:t>Reasonable – target 90+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9904" y="267004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33"/>
                </a:solidFill>
              </a:rPr>
              <a:t>SEO Score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2670048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9A1A"/>
                </a:solidFill>
              </a:rPr>
              <a:t>~67 / 100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57232" y="2670048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9EA8"/>
                </a:solidFill>
              </a:rPr>
              <a:t>Content rich but gaps in schema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9904" y="309067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33"/>
                </a:solidFill>
              </a:rPr>
              <a:t>Accessibility (WCAG AA)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3090672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9A1A"/>
                </a:solidFill>
              </a:rPr>
              <a:t>Partial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57232" y="3090672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9EA8"/>
                </a:solidFill>
              </a:rPr>
              <a:t>Some contrast &amp; nav issues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9904" y="3511296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33"/>
                </a:solidFill>
              </a:rPr>
              <a:t>SSL / HTTPS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3511296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</a:rPr>
              <a:t>✓ Active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57232" y="3511296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9EA8"/>
                </a:solidFill>
              </a:rPr>
              <a:t>Valid certificate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9904" y="393192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33"/>
                </a:solidFill>
              </a:rPr>
              <a:t>MySIOR Portal UX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3931920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3A2E"/>
                </a:solidFill>
              </a:rPr>
              <a:t>Dated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57232" y="3931920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9EA8"/>
                </a:solidFill>
              </a:rPr>
              <a:t>Higher Logic showing age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89904" y="435254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33"/>
                </a:solidFill>
              </a:rPr>
              <a:t>Member Directory Search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32520" y="4352544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3A2E"/>
                </a:solidFill>
              </a:rPr>
              <a:t>Basic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57232" y="4352544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9EA8"/>
                </a:solidFill>
              </a:rPr>
              <a:t>No AI-powered matching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89904" y="477316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33"/>
                </a:solidFill>
              </a:rPr>
              <a:t>Event Registration Flow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32520" y="4773168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9A1A"/>
                </a:solidFill>
              </a:rPr>
              <a:t>Multi-step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57232" y="4773168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9EA8"/>
                </a:solidFill>
              </a:rPr>
              <a:t>Drop-off risk on mobile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89904" y="519379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33"/>
                </a:solidFill>
              </a:rPr>
              <a:t>AI / Personalisation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32520" y="5193792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3A2E"/>
                </a:solidFill>
              </a:rPr>
              <a:t>None detected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57232" y="5193792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9EA8"/>
                </a:solidFill>
              </a:rPr>
              <a:t>Major opportunity untapped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89904" y="5614416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33"/>
                </a:solidFill>
              </a:rPr>
              <a:t>Social Media Integration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32520" y="5614416"/>
            <a:ext cx="1078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9A1A"/>
                </a:solidFill>
              </a:rPr>
              <a:t>Partial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57232" y="5614416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9EA8"/>
                </a:solidFill>
              </a:rPr>
              <a:t>No live feed; LinkedIn not linked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Website Audit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FF"/>
                </a:solidFill>
              </a:rPr>
              <a:t>sior.com &amp; MySIOR portal – key gaps and member friction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EA8"/>
                </a:solidFill>
              </a:rPr>
              <a:t>SIOR – Society of Industrial and Office Realtors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88920" cy="5074920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88920" cy="41148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3807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Performance &amp; Technical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" y="1965960"/>
            <a:ext cx="91440" cy="9144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189280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Mobile speed ~61 – needs 85+ for modern UX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" y="2633472"/>
            <a:ext cx="91440" cy="9144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5603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Render-blocking scripts slowing first load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" y="3300984"/>
            <a:ext cx="91440" cy="9144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22783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No visible CDN for global chapter audiences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" y="3968496"/>
            <a:ext cx="91440" cy="9144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895344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Image optimisation missing on photo-heavy pages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" y="4636008"/>
            <a:ext cx="91440" cy="9144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562856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Core Web Vitals LCP &amp; CLS need improvement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0128" y="1325880"/>
            <a:ext cx="2788920" cy="5074920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10128" y="1325880"/>
            <a:ext cx="2788920" cy="41148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19856" y="13807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Member UX &amp; Portal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65576" y="1965960"/>
            <a:ext cx="91440" cy="9144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48456" y="189280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MySIOR (Higher Logic) feels dated vs. expectations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65576" y="2633472"/>
            <a:ext cx="91440" cy="9144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48456" y="25603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Member directory search is basic — no geo/AI match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65576" y="3300984"/>
            <a:ext cx="91440" cy="9144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48456" y="322783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Transaction submission UX is multi-step &amp; cumbersome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65576" y="3968496"/>
            <a:ext cx="91440" cy="9144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48456" y="3895344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No personalised dashboard on login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65576" y="4636008"/>
            <a:ext cx="91440" cy="9144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48456" y="4562856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Chapter pages inconsistent in quality &amp; content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54496" y="1325880"/>
            <a:ext cx="2788920" cy="5074920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54496" y="1325880"/>
            <a:ext cx="278892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4224" y="13807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SEO &amp; Content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9944" y="1965960"/>
            <a:ext cx="91440" cy="91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189280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Designation pages under-optimised for Google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9944" y="2633472"/>
            <a:ext cx="91440" cy="91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92824" y="25603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No structured data (Organization / Event schema)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9944" y="3300984"/>
            <a:ext cx="91440" cy="91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2824" y="322783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SIOR Report archive not fully indexed / searchable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9944" y="3968496"/>
            <a:ext cx="91440" cy="91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92824" y="3895344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Pulse Blog lacks internal linking strategy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9944" y="4636008"/>
            <a:ext cx="91440" cy="91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92824" y="4562856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Event pages missing local SEO signals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98864" y="1325880"/>
            <a:ext cx="2788920" cy="5074920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98864" y="1325880"/>
            <a:ext cx="2788920" cy="411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08592" y="13807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Engagement &amp; Growth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54312" y="1965960"/>
            <a:ext cx="91440" cy="91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37192" y="189280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No member onboarding email/content journey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54312" y="2633472"/>
            <a:ext cx="91440" cy="91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37192" y="25603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Education (Next Level) hard to discover on site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54312" y="3300984"/>
            <a:ext cx="91440" cy="91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37192" y="322783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No AI chatbot or self-service help for members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54312" y="3968496"/>
            <a:ext cx="91440" cy="91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37192" y="3895344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Webinar &amp; e-learning UX disconnected from main site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54312" y="4636008"/>
            <a:ext cx="91440" cy="91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37192" y="4562856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No member referral / growth loop mechanism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6272784"/>
            <a:ext cx="11430000" cy="43891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63093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22233"/>
                </a:solidFill>
              </a:rPr>
              <a:t>Core problem: MySIOR portal &amp; member experience are below what 4,000 global CRE professionals expect 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Web Development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FF"/>
                </a:solidFill>
              </a:rPr>
              <a:t>Modernising sior.com and the MySIOR member experience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EA8"/>
                </a:solidFill>
              </a:rPr>
              <a:t>SIOR – Society of Industrial and Office Realtors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4224528" cy="5138928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4224528" cy="411480"/>
          </a:xfrm>
          <a:prstGeom prst="rect">
            <a:avLst/>
          </a:prstGeom>
          <a:solidFill>
            <a:srgbClr val="164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335024"/>
            <a:ext cx="4005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Recommended 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E1E2D"/>
                </a:solidFill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828800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Next.js 15 — SSR, ISR, edge-ready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49424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E1E2D"/>
                </a:solidFill>
              </a:rPr>
              <a:t>CMS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249424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Sanity.io — structured content, multi-editor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70048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E1E2D"/>
                </a:solidFill>
              </a:rPr>
              <a:t>Member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670048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MemberClicks or Personify360 (AMS upgrade)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90672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E1E2D"/>
                </a:solidFill>
              </a:rPr>
              <a:t>LMS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090672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Thinkific / LearnDash — Next Level Series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511296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E1E2D"/>
                </a:solidFill>
              </a:rPr>
              <a:t>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511296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Algolia — member directory + content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931920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E1E2D"/>
                </a:solidFill>
              </a:rPr>
              <a:t>Events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931920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Cvent API — registration, agenda, networking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52544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E1E2D"/>
                </a:solidFill>
              </a:rPr>
              <a:t>Email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352544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HubSpot — member journeys + segmentation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773168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E1E2D"/>
                </a:solidFill>
              </a:rPr>
              <a:t>Auth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773168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Auth0 — SSO for portal, LMS, events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193792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E1E2D"/>
                </a:solidFill>
              </a:rPr>
              <a:t>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5193792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GA4 + Hotjar + Segment CDP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614416"/>
            <a:ext cx="1325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E1E2D"/>
                </a:solidFill>
              </a:rPr>
              <a:t>Hosting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614416"/>
            <a:ext cx="257860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Vercel + Cloudflare — global CDN, edge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1280160"/>
            <a:ext cx="7086600" cy="5138928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54880" y="1280160"/>
            <a:ext cx="7086600" cy="41148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01184" y="1335024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Improvements &amp; Platform Features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01184" y="1920240"/>
            <a:ext cx="73152" cy="201168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84064" y="181051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92B52"/>
                </a:solidFill>
              </a:rPr>
              <a:t>Personalised Member Dashboard (MySIOR 2.0)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84064" y="208483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EA8"/>
                </a:solidFill>
              </a:rPr>
              <a:t>On login: recommended connections, upcoming events, CE credits, designation progress, deal submissions — all in one view.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01184" y="2560320"/>
            <a:ext cx="73152" cy="201168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84064" y="245059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92B52"/>
                </a:solidFill>
              </a:rPr>
              <a:t>AI-Powered Member Directory &amp; Matchmaking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84064" y="272491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EA8"/>
                </a:solidFill>
              </a:rPr>
              <a:t>Search by market, specialisation, deal type, language. AI suggests connections by activity, geography and transaction history.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01184" y="3200400"/>
            <a:ext cx="73152" cy="201168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84064" y="309067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92B52"/>
                </a:solidFill>
              </a:rPr>
              <a:t>Unified Education Hub (Next Level LMS)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84064" y="336499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EA8"/>
                </a:solidFill>
              </a:rPr>
              <a:t>All courses, webinars, on-demand videos and designation pathways in one seamlessly branded learning portal.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01184" y="3840480"/>
            <a:ext cx="73152" cy="201168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84064" y="373075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92B52"/>
                </a:solidFill>
              </a:rPr>
              <a:t>Intelligent Event &amp; Registration Flow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84064" y="400507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EA8"/>
                </a:solidFill>
              </a:rPr>
              <a:t>One-click event registration, personalised agenda builder, AI-matched networking suggestions, post-event content access.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01184" y="4480560"/>
            <a:ext cx="73152" cy="201168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84064" y="437083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92B52"/>
                </a:solidFill>
              </a:rPr>
              <a:t>SEO-Optimised Designation &amp; Chapter Pages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84064" y="464515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EA8"/>
                </a:solidFill>
              </a:rPr>
              <a:t>Structured data, local SEO per chapter, rich member testimonials — capturing 'CRE broker [city]' search intent.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01184" y="5120640"/>
            <a:ext cx="73152" cy="201168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84064" y="501091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92B52"/>
                </a:solidFill>
              </a:rPr>
              <a:t>Content Intelligence &amp; Publication Hub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84064" y="528523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EA8"/>
                </a:solidFill>
              </a:rPr>
              <a:t>Full SIOR Report archive with search, AI-generated summaries, Pulse Blog with topic clusters and related articles.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01184" y="5760720"/>
            <a:ext cx="73152" cy="201168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84064" y="565099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92B52"/>
                </a:solidFill>
              </a:rPr>
              <a:t>Member Onboarding &amp; Engagement Journeys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84064" y="592531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EA8"/>
                </a:solidFill>
              </a:rPr>
              <a:t>Automated welcome series, milestone nudges (renewal, designation progress), lapsed-member re-engagement campaigns.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AI Automation Opportunity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FF"/>
                </a:solidFill>
              </a:rPr>
              <a:t>Where AI delivers outsized value for SIOR members &amp; staff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EA8"/>
                </a:solidFill>
              </a:rPr>
              <a:t>SIOR – Society of Industrial and Office Realtors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669280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5669280" cy="41148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898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Member Experience &amp; Engagement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1920240"/>
            <a:ext cx="91440" cy="9144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85623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AI chatbot: answers membership, CE, designation FAQs 24/7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313432"/>
            <a:ext cx="91440" cy="9144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24942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Personalised content recommendations on every login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2706624"/>
            <a:ext cx="91440" cy="9144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64261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AI-matched networking — right member, right market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3099816"/>
            <a:ext cx="91440" cy="9144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03580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Automated designation progress nudges &amp; reminders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3493008"/>
            <a:ext cx="91440" cy="9144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4290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Intelligent new-member onboarding conversation 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325880"/>
            <a:ext cx="5669280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325880"/>
            <a:ext cx="5669280" cy="41148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3898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Education &amp; Thought Leadership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73952" y="1920240"/>
            <a:ext cx="91440" cy="9144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185623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AI generates course summaries and learning paths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73952" y="2313432"/>
            <a:ext cx="91440" cy="9144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224942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Auto-transcribe &amp; index all webinar recordings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3952" y="2706624"/>
            <a:ext cx="91440" cy="9144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264261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SIOR Report: AI-assisted article editing &amp; tagging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73952" y="3099816"/>
            <a:ext cx="91440" cy="9144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56832" y="303580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Pulse Blog topic suggestions from CRE market signals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73952" y="3493008"/>
            <a:ext cx="91440" cy="9144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56832" y="34290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CE credit tracking with automated completion reports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959352"/>
            <a:ext cx="5669280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3959352"/>
            <a:ext cx="56692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0233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Transaction Intelligence &amp; Market Data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" y="4553712"/>
            <a:ext cx="91440" cy="91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448970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AI analyses 80,000 annual member transactions for trends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" y="4946904"/>
            <a:ext cx="91440" cy="91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488289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Auto-generate quarterly CRE market intelligence reports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" y="5340096"/>
            <a:ext cx="91440" cy="91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527608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Deal benchmarking: compare against peer cohorts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" y="5733288"/>
            <a:ext cx="91440" cy="91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66928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Predictive alerts: emerging markets, cap rate shifts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" y="6126480"/>
            <a:ext cx="91440" cy="91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606247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Member leaderboard &amp; top deals powered by AI parsing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3959352"/>
            <a:ext cx="5669280" cy="2487168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60" y="3959352"/>
            <a:ext cx="5669280" cy="411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40233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Association Operations &amp; Growth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73952" y="4553712"/>
            <a:ext cx="91440" cy="91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56832" y="448970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Membership renewal risk scoring — flag churn risk early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73952" y="4946904"/>
            <a:ext cx="91440" cy="91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56832" y="488289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AI drafts chapter communications and event copy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73952" y="5340096"/>
            <a:ext cx="91440" cy="91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56832" y="527608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Staff: automate dues invoicing, receipts, reminders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73952" y="5733288"/>
            <a:ext cx="91440" cy="91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56832" y="566928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Board &amp; committee meeting notes → actions (AI transcription)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73952" y="6126480"/>
            <a:ext cx="91440" cy="91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56832" y="606247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Sponsor &amp; Industry Partner matching recommendations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Benefits of AI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FF"/>
                </a:solidFill>
              </a:rPr>
              <a:t>Measurable impact across SIOR's membership, operations &amp; revenue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EA8"/>
                </a:solidFill>
              </a:rPr>
              <a:t>SIOR – Society of Industrial and Office Realtors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43200" cy="150876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72184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60%+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30552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CCFF"/>
                </a:solidFill>
              </a:rPr>
              <a:t>Reduction in staff
repetitive admin tasks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325880"/>
            <a:ext cx="2743200" cy="150876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472184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35%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30552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CCFF"/>
                </a:solidFill>
              </a:rPr>
              <a:t>Lift in member
digital engagement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2743200" cy="150876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472184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130552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CCFF"/>
                </a:solidFill>
              </a:rPr>
              <a:t>Faster content &amp;
report production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325880"/>
            <a:ext cx="2743200" cy="150876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472184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24/7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130552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CCFF"/>
                </a:solidFill>
              </a:rPr>
              <a:t>Member self-service
via AI assistant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99232"/>
            <a:ext cx="5669280" cy="1572768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999232"/>
            <a:ext cx="5669280" cy="402336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" y="3054096"/>
            <a:ext cx="5413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Member Retention &amp; 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5295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▸  AI flags churn risk 90 days before renewal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8404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▸  Personalised outreach re-engages lapsed members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15137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▸  Seamless onboarding boosts first-year retention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46227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▸  Referral prompts auto-triggered at peak satisfaction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999232"/>
            <a:ext cx="5669280" cy="1572768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2999232"/>
            <a:ext cx="5669280" cy="402336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3054096"/>
            <a:ext cx="5413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Operational Efficiency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5295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▸  Dues invoicing and reminders fully automated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8404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▸  Chapter communications drafted by AI, approved by humans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15137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▸  Event logistics: confirmations, agendas, follow-ups — zero manual effort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46227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▸  Staff freed from repetitive tasks → strategic work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718304"/>
            <a:ext cx="5669280" cy="1572768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718304"/>
            <a:ext cx="5669280" cy="402336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" y="4773168"/>
            <a:ext cx="5413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Education &amp; Designation Value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2486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▸  Members discover relevant courses instantly via 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55955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▸  Designation progress tracked and nudged automatically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87044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▸  All webinar recordings searchable and indexed in hours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18134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▸  AI-generated summaries increase content consumption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4718304"/>
            <a:ext cx="5669280" cy="1572768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0" y="4718304"/>
            <a:ext cx="5669280" cy="402336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37376" y="4773168"/>
            <a:ext cx="5413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Revenue &amp; Sponsorship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52486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▸  AI matches sponsors to the most relevant chapters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555955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▸  Market intelligence reports become premium content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587044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▸  Targeted event promotion lifts registration conversion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618134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▸  Data-driven sponsorship packages command higher rates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ROI &amp; Business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FF"/>
                </a:solidFill>
              </a:rPr>
              <a:t>Projected returns from web + AI investment for SIOR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EA8"/>
                </a:solidFill>
              </a:rPr>
              <a:t>SIOR – Society of Industrial and Office Realtors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303520" cy="5138928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303520" cy="41148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3350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Indicative Investment (Year 1 – USD)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6537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33"/>
                </a:solidFill>
              </a:rPr>
              <a:t>sior.com Next.js rebuild + Sanity CMS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2" y="186537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75B6"/>
                </a:solidFill>
              </a:rPr>
              <a:t>$18 000 – $28 000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9514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33"/>
                </a:solidFill>
              </a:rPr>
              <a:t>MySIOR portal upgrade / AMS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3632" y="229514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75B6"/>
                </a:solidFill>
              </a:rPr>
              <a:t>$15 000 – $25 000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2491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33"/>
                </a:solidFill>
              </a:rPr>
              <a:t>AI chatbot &amp; member self-service 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2" y="272491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75B6"/>
                </a:solidFill>
              </a:rPr>
              <a:t> $5 000 – $9 000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5468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33"/>
                </a:solidFill>
              </a:rPr>
              <a:t>Algolia member directory + content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3632" y="315468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75B6"/>
                </a:solidFill>
              </a:rPr>
              <a:t> $4 000 – $7 000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58444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33"/>
                </a:solidFill>
              </a:rPr>
              <a:t>LMS (Next Level) integration &amp; migration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13632" y="358444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75B6"/>
                </a:solidFill>
              </a:rPr>
              <a:t> $6 000 – $10 000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01421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33"/>
                </a:solidFill>
              </a:rPr>
              <a:t>HubSpot CRM + member journey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3632" y="401421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75B6"/>
                </a:solidFill>
              </a:rPr>
              <a:t> $5 000 – $8 000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44398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33"/>
                </a:solidFill>
              </a:rPr>
              <a:t>SEO, schema &amp; accessibility sprint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2" y="444398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75B6"/>
                </a:solidFill>
              </a:rPr>
              <a:t> $3 000 – $5 000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87375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33"/>
                </a:solidFill>
              </a:rPr>
              <a:t>AI transaction intelligence module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13632" y="487375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75B6"/>
                </a:solidFill>
              </a:rPr>
              <a:t> $7 000 – $12 000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30352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33"/>
                </a:solidFill>
              </a:rPr>
              <a:t>Monthly support / hosting / AI APIs (est.)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13632" y="530352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75B6"/>
                </a:solidFill>
              </a:rPr>
              <a:t> $2 000 – $3 500 / mo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678424"/>
            <a:ext cx="5303520" cy="43891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82472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33"/>
                </a:solidFill>
              </a:rPr>
              <a:t>TOTAL YEAR 1 (once-off + 12 mo support)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13632" y="582472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7AE60"/>
                </a:solidFill>
              </a:rPr>
              <a:t>$87 000 – $146 000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1280160"/>
            <a:ext cx="5943600" cy="5138928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0" y="1280160"/>
            <a:ext cx="59436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9904" y="133502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Projected Returns &amp; Value Delivered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9904" y="1865376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33"/>
                </a:solidFill>
              </a:rPr>
              <a:t>Staff time saved on admin (FTE equivalent)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74352" y="1865376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75B6"/>
                </a:solidFill>
              </a:rPr>
              <a:t>1.5–2.5 FTE / yr  ≈ $90 000+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9904" y="2295144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33"/>
                </a:solidFill>
              </a:rPr>
              <a:t>Improved member retention (1% = X dues)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2295144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75B6"/>
                </a:solidFill>
              </a:rPr>
              <a:t>+1 % retention = ~$200 000 ARR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9904" y="2724912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33"/>
                </a:solidFill>
              </a:rPr>
              <a:t>Increased new member conversion (digital UX)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74352" y="2724912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75B6"/>
                </a:solidFill>
              </a:rPr>
              <a:t>+15–25 % application conversion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9904" y="3154680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33"/>
                </a:solidFill>
              </a:rPr>
              <a:t>Education revenue (better LMS discovery)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4352" y="315468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75B6"/>
                </a:solidFill>
              </a:rPr>
              <a:t>+$50 000 – $120 000 / yr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9904" y="3584448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33"/>
                </a:solidFill>
              </a:rPr>
              <a:t>Sponsorship uplift (AI-targeted packages)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74352" y="3584448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75B6"/>
                </a:solidFill>
              </a:rPr>
              <a:t>+20–35 % sponsor revenue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9904" y="4014216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33"/>
                </a:solidFill>
              </a:rPr>
              <a:t>Event registration lift (streamlined UX)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74352" y="4014216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75B6"/>
                </a:solidFill>
              </a:rPr>
              <a:t>+18 % online registration 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9904" y="4443984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33"/>
                </a:solidFill>
              </a:rPr>
              <a:t>Market intelligence — new premium product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74352" y="4443984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2E75B6"/>
                </a:solidFill>
              </a:rPr>
              <a:t>Potential $100 000+ new revenue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0" y="4818888"/>
            <a:ext cx="5943600" cy="43891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89904" y="4965192"/>
            <a:ext cx="3547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2233"/>
                </a:solidFill>
              </a:rPr>
              <a:t>ESTIMATED YEAR 1 TOTAL IMPACT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74352" y="4965192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7AE60"/>
                </a:solidFill>
              </a:rPr>
              <a:t>$450 000 – $750 000+ / yr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646480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22233"/>
                </a:solidFill>
              </a:rPr>
              <a:t>Retaining just 40 additional members pays for the entire Year 1 programme  |  ROI 5–8× over 3 years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Implementation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FF"/>
                </a:solidFill>
              </a:rPr>
              <a:t>Phased 12-month delivery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EA8"/>
                </a:solidFill>
              </a:rPr>
              <a:t>SIOR – Society of Industrial and Office Realtors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88920" cy="5138928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88920" cy="658368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80744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1
Mon 1–3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72968" y="1600200"/>
            <a:ext cx="128016" cy="54864"/>
          </a:xfrm>
          <a:prstGeom prst="rect">
            <a:avLst/>
          </a:prstGeom>
          <a:solidFill>
            <a:srgbClr val="9A9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2221992"/>
            <a:ext cx="91440" cy="9144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14884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Full site speed &amp; SEO audit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2990088"/>
            <a:ext cx="91440" cy="9144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916936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Accessibility &amp; WCAG fixes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3758184"/>
            <a:ext cx="91440" cy="9144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68503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AI chatbot MVP (member FAQ)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4526280"/>
            <a:ext cx="91440" cy="9144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45312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Sanity CMS + blog migration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5294376"/>
            <a:ext cx="91440" cy="9144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221224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HubSpot CRM + welcome journey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0128" y="1325880"/>
            <a:ext cx="2788920" cy="5138928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10128" y="1325880"/>
            <a:ext cx="2788920" cy="658368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10128" y="1380744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2
Mon 4–6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17336" y="1600200"/>
            <a:ext cx="128016" cy="54864"/>
          </a:xfrm>
          <a:prstGeom prst="rect">
            <a:avLst/>
          </a:prstGeom>
          <a:solidFill>
            <a:srgbClr val="9A9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74720" y="2221992"/>
            <a:ext cx="91440" cy="9144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214884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Next.js sior.com rebuild launch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2990088"/>
            <a:ext cx="91440" cy="9144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2916936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Algolia member directory live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3758184"/>
            <a:ext cx="91440" cy="9144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368503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MySIOR 2.0 personalised dashboard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4526280"/>
            <a:ext cx="91440" cy="9144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445312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LMS (Next Level) integration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0" y="5294376"/>
            <a:ext cx="91440" cy="9144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0" y="5221224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Event registration UX overhaul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54496" y="1325880"/>
            <a:ext cx="2788920" cy="5138928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54496" y="1325880"/>
            <a:ext cx="2788920" cy="6583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54496" y="1380744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3
Mon 7–9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61704" y="1600200"/>
            <a:ext cx="128016" cy="54864"/>
          </a:xfrm>
          <a:prstGeom prst="rect">
            <a:avLst/>
          </a:prstGeom>
          <a:solidFill>
            <a:srgbClr val="9A9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19088" y="2221992"/>
            <a:ext cx="91440" cy="91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01968" y="214884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AI member matchmaking feature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19088" y="2990088"/>
            <a:ext cx="91440" cy="91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2916936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Transaction intelligence module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19088" y="3758184"/>
            <a:ext cx="91440" cy="91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01968" y="368503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Chapter page standardisation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19088" y="4526280"/>
            <a:ext cx="91440" cy="91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01968" y="445312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Market intelligence report engine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19088" y="5294376"/>
            <a:ext cx="91440" cy="91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5221224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Sponsor / partner portal v1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98864" y="1325880"/>
            <a:ext cx="2788920" cy="5138928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98864" y="1325880"/>
            <a:ext cx="2788920" cy="65836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98864" y="1380744"/>
            <a:ext cx="2788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4
Mon 10–12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63456" y="2221992"/>
            <a:ext cx="91440" cy="91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46336" y="214884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Renewal risk scoring (AI)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63456" y="2990088"/>
            <a:ext cx="91440" cy="91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46336" y="2916936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Advanced content personalisation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63456" y="3758184"/>
            <a:ext cx="91440" cy="91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46336" y="368503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CE credit auto-tracking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63456" y="4526280"/>
            <a:ext cx="91440" cy="91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46336" y="445312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Full analytics attribution audit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63456" y="5294376"/>
            <a:ext cx="91440" cy="91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46336" y="5221224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Review, optimise &amp; plan Year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EA8"/>
                </a:solidFill>
              </a:rPr>
              <a:t>SIOR – Society of Industrial and Office Realtors  |  Web Dev &amp; AI Automation Audit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Why Automate — Now?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789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BBCCFF"/>
                </a:solidFill>
              </a:rPr>
              <a:t>Professional associations that fail to modernise lose members to niche networks, LinkedIn, and AI-native platforms.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737360"/>
            <a:ext cx="502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92B52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7373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Member expectations are set by consumer tech, not by other associations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11680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BCC"/>
                </a:solidFill>
              </a:rPr>
              <a:t>Your 4,000 members use Slack, Notion, LinkedIn and GPT-4 daily. They benchmark their SIOR portal against those experiences — not against ASAE averages.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624328"/>
            <a:ext cx="502920" cy="475488"/>
          </a:xfrm>
          <a:prstGeom prst="rect">
            <a:avLst/>
          </a:prstGeom>
          <a:solidFill>
            <a:srgbClr val="FF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24328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92B52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62432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Retention is the highest-ROI lever — and data predicts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898648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BCC"/>
                </a:solidFill>
              </a:rPr>
              <a:t>A 1% improvement in member retention equals ~$200,000 in annual dues. AI-driven churn prediction gives staff 90+ days to intervene before a member lapses.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511296"/>
            <a:ext cx="502920" cy="475488"/>
          </a:xfrm>
          <a:prstGeom prst="rect">
            <a:avLst/>
          </a:prstGeom>
          <a:solidFill>
            <a:srgbClr val="88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511296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92B52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511296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80,000 annual transactions are an untapped intelligence goldmine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785616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BCC"/>
                </a:solidFill>
              </a:rPr>
              <a:t>No other CRE association has this data. AI transforms raw deal submissions into market intelligence that becomes a premium product, a recruitment tool, and a media asset.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398264"/>
            <a:ext cx="502920" cy="475488"/>
          </a:xfrm>
          <a:prstGeom prst="rect">
            <a:avLst/>
          </a:prstGeom>
          <a:solidFill>
            <a:srgbClr val="BB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98264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92B52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398264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The education market is moving to always-on, AI-assisted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672584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BCC"/>
                </a:solidFill>
              </a:rPr>
              <a:t>Members expect Netflix-style course discovery and AI tutors, not PDF syllabi. Upgrading the LMS protects designation revenue and increases designation completion rates.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285232"/>
            <a:ext cx="502920" cy="475488"/>
          </a:xfrm>
          <a:prstGeom prst="rect">
            <a:avLst/>
          </a:prstGeom>
          <a:solidFill>
            <a:srgbClr val="FF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285232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92B52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285232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Competing networks are investing heavily right now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559552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BCC"/>
                </a:solidFill>
              </a:rPr>
              <a:t>CoreNet Global, CCIM and NAIOP are modernising their digital stacks. SIOR's differentiation — quality, global reach, rigorous designation — must be matched by an equally premium digital experience.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347472" cy="571500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6304"/>
            <a:ext cx="9601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7665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FF"/>
                </a:solidFill>
              </a:rPr>
              <a:t>From audit to action – what happens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EA8"/>
                </a:solidFill>
              </a:rPr>
              <a:t>SIOR – Society of Industrial and Office Realtors  |  Web Dev &amp; AI Automation Audit  |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788920" cy="3749039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2788920" cy="41148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2646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92B52"/>
                </a:solidFill>
              </a:rPr>
              <a:t>Stakeholder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31720"/>
            <a:ext cx="2514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9EA8"/>
                </a:solidFill>
              </a:rPr>
              <a:t>Present to SIOR leadership and Board. Agree priority workstreams, budget envelope and governance model.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1371600"/>
            <a:ext cx="2788920" cy="3749039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0128" y="1371600"/>
            <a:ext cx="2788920" cy="41148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142646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7288" y="192024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E1E2D"/>
                </a:solidFill>
              </a:rPr>
              <a:t>Discovery &amp;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331720"/>
            <a:ext cx="2514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9EA8"/>
                </a:solidFill>
              </a:rPr>
              <a:t>Share access to analytics, CMS, AMS (Higher Logic), HubSpot and social channels. Kick-off call with all workstream leads.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54496" y="1371600"/>
            <a:ext cx="2788920" cy="3749039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1371600"/>
            <a:ext cx="278892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142646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192024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Sprint 1 Begins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331720"/>
            <a:ext cx="2514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9EA8"/>
                </a:solidFill>
              </a:rPr>
              <a:t>SEO/speed fixes, AI chatbot build, Sanity CMS setup and HubSpot welcome journey running in parallel.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98864" y="1371600"/>
            <a:ext cx="2788920" cy="3749039"/>
          </a:xfrm>
          <a:prstGeom prst="rect">
            <a:avLst/>
          </a:prstGeom>
          <a:solidFill>
            <a:srgbClr val="FFFFFF"/>
          </a:solidFill>
          <a:ln w="7620">
            <a:solidFill>
              <a:srgbClr val="CC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98864" y="1371600"/>
            <a:ext cx="2788920" cy="411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98864" y="142646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Month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6024" y="192024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8B"/>
                </a:solidFill>
              </a:rPr>
              <a:t>Phase 1 Go-Live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6024" y="2331720"/>
            <a:ext cx="2514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9EA8"/>
                </a:solidFill>
              </a:rPr>
              <a:t>Chatbot live on sior.com. Speed/accessibility improvements deployed. New member welcome journey active.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21808"/>
            <a:ext cx="11430000" cy="100584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5321808"/>
            <a:ext cx="11430000" cy="50292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413248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Ready to give 4,000 global CRE professionals the digital experience they deserve?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779008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FF"/>
                </a:solidFill>
              </a:rPr>
              <a:t>Contact Genos Apollo to schedule your digital transformation discovery workshop.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5595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9A9EA8"/>
                </a:solidFill>
              </a:rPr>
              <a:t>www.sior.com  •  Washington, D.C.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685800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3246120"/>
            <a:ext cx="11530584" cy="502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077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BCCFF"/>
                </a:solidFill>
              </a:rPr>
              <a:t>Elevating the world's foremost CRE association — digitally, intelligently, and at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703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88AA"/>
                </a:solidFill>
              </a:rPr>
              <a:t>SIOR  •  sior.com  •  Washington, D.C.  •  4,000+ Members  •  34 Countries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9EA8"/>
                </a:solidFill>
              </a:rPr>
              <a:t>Prepared by Genos Apollo  |  May 2026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