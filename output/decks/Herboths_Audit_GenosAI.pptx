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6552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365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2ECC71"/>
                </a:solidFill>
              </a:rPr>
              <a:t>GENOS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960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BB"/>
                </a:solidFill>
              </a:rPr>
              <a:t>www.genosai.tech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CC71"/>
                </a:solidFill>
              </a:rPr>
              <a:t>HERBOTHS PROPERTY — WINDHOEK, NAMIBIA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Website Audit
Report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520440"/>
            <a:ext cx="27432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794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4EE"/>
                </a:solidFill>
              </a:rPr>
              <a:t>Prepared exclusively for Lizette da Fonseca — Woodlands @ Herboths Lifestyle Estate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</a:rPr>
              <a:t>Rohan Malik  |  CEO, Genos AI  |  hello@genosai.tech  |  +91 638-714-2699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035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BB"/>
                </a:solidFill>
              </a:rPr>
              <a:t>May 2026  |  CONFIDENTIAL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834640"/>
            <a:ext cx="2103120" cy="24688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2926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A9BBB"/>
                </a:solidFill>
              </a:rPr>
              <a:t>OVERALL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32461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i="0">
                <a:solidFill>
                  <a:srgbClr val="FF4D4D"/>
                </a:solidFill>
              </a:rPr>
              <a:t>3.4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41148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D4EE"/>
                </a:solidFill>
              </a:rPr>
              <a:t>/ 10</a:t>
            </a:r>
          </a:p>
        </p:txBody>
      </p:sp>
      <p:sp>
        <p:nvSpPr>
          <p:cNvPr id="18" name="Oval 17"/>
          <p:cNvSpPr/>
          <p:nvPr/>
        </p:nvSpPr>
        <p:spPr>
          <a:xfrm>
            <a:off x="9692640" y="4572000"/>
            <a:ext cx="1997964" cy="27432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CRITICAL PRIORITY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Herboths Property — Woodlands @ Herboths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CC71"/>
                </a:solidFill>
              </a:rPr>
              <a:t>31 Plots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432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Freehold erven
3–8 hectares each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0632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2072" y="178308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CC71"/>
                </a:solidFill>
              </a:rPr>
              <a:t>160 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072" y="27432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Total estate,
private woodland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38344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4" y="178308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CC71"/>
                </a:solidFill>
              </a:rPr>
              <a:t>20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27432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From Windhoek CBD
21km east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06056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97496" y="178308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CC71"/>
                </a:solidFill>
              </a:rPr>
              <a:t>Sold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7496" y="27432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Herboths Blick —
predecessor project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73768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5208" y="178308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CC71"/>
                </a:solidFill>
              </a:rPr>
              <a:t>Off-Grid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8" y="27432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Solar + independent
water &amp; sewerage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840480"/>
            <a:ext cx="11183112" cy="5029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9319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Windhoek, Namibia  |  Lizette da Fonseca: +264 81 142 8785  |  herboths.com  |  LinkedIn · Facebook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72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ESTATE HIGHLIGHTS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89204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31 freehold plots — 3 to 8 hectares, large serviced erven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Solar power generation — fully independent from load-shedding grid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Independent water and sewerage — no reliance on municipal supply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Natural bush corridors supporting free-roaming wildlife</a:t>
            </a:r>
          </a:p>
          <a:p>
            <a:pPr algn="l"/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HOA management with architectural controls for value protection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572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BUYER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89204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Windhoek professionals seeking space, privacy and bush lifestyle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Families wanting off-grid security against load-shedding and water cuts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Investors in proven freehold land with HOA value protection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Expats and retirees relocating to Namibia's capital region</a:t>
            </a:r>
          </a:p>
          <a:p>
            <a:pPr algn="l"/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Nature-oriented buyers valuing wildlife and low-density living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4D"/>
                </a:solidFill>
              </a:rPr>
              <a:t>WEBSITE AUDIT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herboths.com — Scored Across 8 Dimensions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828800" cy="36576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75520" y="502920"/>
            <a:ext cx="1920240" cy="2103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594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A9BBB"/>
                </a:solidFill>
              </a:rPr>
              <a:t>OVERALL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868680"/>
            <a:ext cx="1828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4D4D"/>
                </a:solidFill>
              </a:rPr>
              <a:t>3.4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21240" y="16276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8D4EE"/>
                </a:solidFill>
              </a:rPr>
              <a:t>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38528"/>
            <a:ext cx="4389120" cy="16459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938528"/>
            <a:ext cx="438912" cy="16459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554480"/>
            <a:ext cx="3886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Security &amp; SSL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554480"/>
            <a:ext cx="438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4D4D"/>
                </a:solidFill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035808"/>
            <a:ext cx="4389120" cy="16459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035808"/>
            <a:ext cx="1316736" cy="16459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651760"/>
            <a:ext cx="3886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SEO &amp; Discoverability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651760"/>
            <a:ext cx="438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4D4D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33088"/>
            <a:ext cx="4389120" cy="16459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133088"/>
            <a:ext cx="1755648" cy="16459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749040"/>
            <a:ext cx="3886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Content 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749040"/>
            <a:ext cx="438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A500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230368"/>
            <a:ext cx="4389120" cy="16459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230368"/>
            <a:ext cx="2194560" cy="16459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846320"/>
            <a:ext cx="3886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Mobile 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846320"/>
            <a:ext cx="438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A500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1938528"/>
            <a:ext cx="4389120" cy="16459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89320" y="1938528"/>
            <a:ext cx="2194560" cy="16459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9320" y="1554480"/>
            <a:ext cx="3886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Page Speed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1554480"/>
            <a:ext cx="438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A500"/>
                </a:solidFill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3035808"/>
            <a:ext cx="4389120" cy="16459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89320" y="3035808"/>
            <a:ext cx="1755648" cy="16459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89320" y="2651760"/>
            <a:ext cx="3886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UX &amp; 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2651760"/>
            <a:ext cx="438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A500"/>
                </a:solidFill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4133088"/>
            <a:ext cx="4389120" cy="16459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89320" y="4133088"/>
            <a:ext cx="877824" cy="16459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89320" y="3749040"/>
            <a:ext cx="3886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Conversion &amp; Lead Cap.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3749040"/>
            <a:ext cx="438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4D4D"/>
                </a:solidFill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5230368"/>
            <a:ext cx="4389120" cy="16459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89320" y="5230368"/>
            <a:ext cx="438912" cy="16459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89320" y="4846320"/>
            <a:ext cx="3886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Social &amp; Digital Pres.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40" y="4846320"/>
            <a:ext cx="438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4D4D"/>
                </a:solidFill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263640"/>
            <a:ext cx="11183112" cy="34747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1520" y="6336792"/>
            <a:ext cx="164592" cy="16459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63093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0–3  Critical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6080" y="6336792"/>
            <a:ext cx="164592" cy="16459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27248" y="63093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4–6  Needs Work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20640" y="6336792"/>
            <a:ext cx="164592" cy="1645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21808" y="63093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7–10 Healthy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62910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A500"/>
                </a:solidFill>
              </a:rPr>
              <a:t>Security and Conversion are the two lowest scores — both are immediate revenue risks.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4D"/>
                </a:solidFill>
              </a:rPr>
              <a:t>CRITICAL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10 Issues Found on herboths.com — Prioritised by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828800" cy="36576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53492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64008" cy="96012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536192"/>
            <a:ext cx="1234440" cy="219456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7393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SSL Certificate Invalid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299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Site shows a browser security warning on HTTPS. Every buyer who types herboths.com sees an 'unsafe site' alert. Many leave without ever reading about the estate.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87168"/>
            <a:ext cx="53492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487168"/>
            <a:ext cx="64008" cy="96012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2560320"/>
            <a:ext cx="1234440" cy="219456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9806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 WhatsApp Contact Widget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5409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WhatsApp is the primary business channel in Namibia (92% penetration). No widget on the site means buyers who want to message immediately have no frictionless path.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11296"/>
            <a:ext cx="53492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511296"/>
            <a:ext cx="64008" cy="96012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584448"/>
            <a:ext cx="1234440" cy="219456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2219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 Lead Capture or Inquiry 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7822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The only contact mechanism appears to be a basic form or phone number. No automated response, no confirmation, no follow-up. Inquiries that arrive after hours go cold.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535424"/>
            <a:ext cx="53492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535424"/>
            <a:ext cx="64008" cy="9601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4608576"/>
            <a:ext cx="868680" cy="219456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8463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 Plot Availability Map or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1023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31 plots is the core product. Buyers can't see which plots are available, their orientation, size, or proximity to wildlife corridors without calling. This friction kills conversions.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559552"/>
            <a:ext cx="53492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559552"/>
            <a:ext cx="64008" cy="9601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" y="5632704"/>
            <a:ext cx="868680" cy="219456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704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Thin Content — No FAQs, No Blog, No Detail Pages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126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Premium buyers do research before calling. There is no FAQ answering solar setup, HOA fees, building rules, or wildlife. No blog. No long-form content building trust before the call.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1463040"/>
            <a:ext cx="53492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1463040"/>
            <a:ext cx="64008" cy="9601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263640" y="1536192"/>
            <a:ext cx="868680" cy="219456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177393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 SEO — Invisible on Google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0299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Searches for 'lifestyle estate Windhoek', 'freehold plots Namibia', or 'off-grid property near Windhoek' return no Herboths content. Buyers researching online never find the estate.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2487168"/>
            <a:ext cx="53492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26480" y="2487168"/>
            <a:ext cx="64008" cy="9601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263640" y="2560320"/>
            <a:ext cx="868680" cy="219456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79806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 Virtual Tour or Visual Estate Map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05409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160 hectares of woodland, wildlife corridors, and 31 plots — none of it is visually communicated. Buyers can't orient themselves to the estate before visiting.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3511296"/>
            <a:ext cx="53492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6480" y="3511296"/>
            <a:ext cx="64008" cy="9601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63640" y="3584448"/>
            <a:ext cx="1051560" cy="219456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A0F2E"/>
                </a:solidFill>
              </a:rPr>
              <a:t>MEDIUM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82219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Social Media Disconnected from Website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407822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LinkedIn and Facebook exist but have 29 and minimal followers respectively. No feed embedded on site, no share prompts, no content driving traffic back to the website.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4535424"/>
            <a:ext cx="53492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26480" y="4535424"/>
            <a:ext cx="64008" cy="9601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263640" y="4608576"/>
            <a:ext cx="1051560" cy="219456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A0F2E"/>
                </a:solidFill>
              </a:rPr>
              <a:t>MEDIUM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48463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 Testimonials from Herboths Blick Owners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51023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The predecessor project sold out. Those buyers are the most credible social proof available. None of their stories appear on the Woodlands site.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5559552"/>
            <a:ext cx="53492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26480" y="5559552"/>
            <a:ext cx="64008" cy="9601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263640" y="5632704"/>
            <a:ext cx="1051560" cy="219456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A0F2E"/>
                </a:solidFill>
              </a:rPr>
              <a:t>MEDIUM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58704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 Mobile-Optimised Inquiry Flow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6126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Most Namibian buyers browse on mobile. The contact path on mobile needs to be a single tap to WhatsApp or call — not a form that requires typing a long message on a small keyboard.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4D"/>
                </a:solidFill>
              </a:rPr>
              <a:t>CRITICAL ISSUE #1 —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Every Buyer Who Visits herboths.com Sees a Security Warning.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286000" cy="36576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0" y="502920"/>
            <a:ext cx="1188720" cy="11887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8208" y="658368"/>
            <a:ext cx="1152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4D4D"/>
                </a:solidFill>
              </a:rPr>
              <a:t>1/10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5212080" cy="44805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08760"/>
            <a:ext cx="5212080" cy="38404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361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WHAT A BUYER SEES ON CHROME / SAFARI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993392"/>
            <a:ext cx="4846320" cy="3566160"/>
          </a:xfrm>
          <a:prstGeom prst="rect">
            <a:avLst/>
          </a:prstGeom>
          <a:solidFill>
            <a:srgbClr val="2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488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D4D"/>
                </a:solidFill>
              </a:rPr>
              <a:t>Your connection is not private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7860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Attackers might be trying to steal your information
from herboths.com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2724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B"/>
                </a:solidFill>
              </a:rPr>
              <a:t>NET::ERR_CERT_COMMON_NAME_INVALID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3520440"/>
            <a:ext cx="1828800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5387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F8EFF"/>
                </a:solidFill>
              </a:rPr>
              <a:t>Back to safety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3520440"/>
            <a:ext cx="2011680" cy="411480"/>
          </a:xfrm>
          <a:prstGeom prst="rect">
            <a:avLst/>
          </a:prstGeom>
          <a:solidFill>
            <a:srgbClr val="3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35387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B"/>
                </a:solidFill>
              </a:rPr>
              <a:t>Advanced (unsafe)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04164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4D4D"/>
                </a:solidFill>
              </a:rPr>
              <a:t>Most buyers click 'Back to safety' and never return.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508760"/>
            <a:ext cx="5788152" cy="44805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89320" y="1508760"/>
            <a:ext cx="5788152" cy="38404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153619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F2E"/>
                </a:solidFill>
              </a:rPr>
              <a:t>WHY THIS IS A REVENUE PROBLEM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2029968"/>
            <a:ext cx="54864" cy="8229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9933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Buyer trust is destroyed before they read a word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2860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The security warning appears before any estate content. The product never gets a chance to speak — the browser already told them this site is dangerous.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3054096"/>
            <a:ext cx="54864" cy="8229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01752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Google penalises insecure sites in search rankings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31012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HTTPS is a Google ranking signal. A site without a valid SSL certificate ranks lower than competitors with identical content. Herboths is invisible on Google in part because of this.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4078224"/>
            <a:ext cx="54864" cy="8229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404164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WhatsApp link shares trigger the same warning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33425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When a buyer shares the herboths.com link on WhatsApp, the preview shows an 'unsafe' flag. Word-of-mouth referrals are being undermined by the SSL error.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5102352"/>
            <a:ext cx="54864" cy="8229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50657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Fix cost: under NAD 500/year. Impact: immediate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35838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An SSL certificate costs less than a tank of petrol. It can be installed in under an hour. This is the single highest-ROI fix available — and it should happen before anything else.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144768"/>
            <a:ext cx="1118311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1996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4D4D"/>
                </a:solidFill>
              </a:rPr>
              <a:t>Priority: Fix the SSL certificate before any other work begins. Every other improvement is undermined while the security warning is live.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CRITICAL ISSUE #2 — CONVERSION &amp; LEAD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Buyers Arrive, Read, and Leave. Nothing Catches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286000" cy="3657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0" y="502920"/>
            <a:ext cx="1188720" cy="11887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8208" y="658368"/>
            <a:ext cx="1152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4D4D"/>
                </a:solidFill>
              </a:rPr>
              <a:t>2/10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5349240" cy="212140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08760"/>
            <a:ext cx="5349240" cy="54864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36776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</a:rPr>
              <a:t>No WhatsApp Chat Widget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84248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WhatsApp is how Namibians communicate with businesses. A buyer who wants to ask 'Is plot 7 still available?' has to call or fill a form — neither is as fast as WhatsApp. Competitors with a WhatsApp button on their site respond before the buyer has finished reading yours.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508760"/>
            <a:ext cx="5349240" cy="212140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508760"/>
            <a:ext cx="5349240" cy="54864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636776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</a:rPr>
              <a:t>No Automated Inquiry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84248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When a buyer submits a contact form at 7pm on a Friday, what happens? Nothing automated. No confirmation email. No acknowledgement. The buyer doesn't know if their message was received. Many re-inquire with a competitor who confirms instantly.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749040"/>
            <a:ext cx="5349240" cy="212140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749040"/>
            <a:ext cx="5349240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77056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No Plot Availability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24528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31 plots is the core inventory. Buyers can't see which plots are available, their size, orientation, or proximity to wildlife corridors without making a call. This single friction point is likely responsible for the majority of lost conversions — serious buyers won't call before they've done online research.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3749040"/>
            <a:ext cx="5349240" cy="212140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3749040"/>
            <a:ext cx="5349240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877056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No CTA on Key Pages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224528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Estate pages should end with a clear, single call to action: 'WhatsApp us to book a site visit' or 'See available plots.' Buyers who are interested but unsure of the next step leave rather than guess. The site doesn't tell them what to do next.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144768"/>
            <a:ext cx="1118311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1996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A500"/>
                </a:solidFill>
              </a:rPr>
              <a:t>A buyer who can't easily ask a question on their preferred channel will ask a competitor. With only 31 plots, every unconverted inquiry is a meaningful loss.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55FF"/>
                </a:solidFill>
              </a:rPr>
              <a:t>ISSUE #3 — SEO &amp;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Buyers Searching for This Estate Can't Find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828800" cy="36576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0" y="502920"/>
            <a:ext cx="1188720" cy="11887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8208" y="658368"/>
            <a:ext cx="1152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A500"/>
                </a:solidFill>
              </a:rPr>
              <a:t>3/10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5212080" cy="45720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08760"/>
            <a:ext cx="5212080" cy="38404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361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SEARCH TERMS HERBOTHS IS MISSING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5681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B"/>
                </a:solidFill>
              </a:rPr>
              <a:t>Keyword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95681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B"/>
                </a:solidFill>
              </a:rPr>
              <a:t>Volume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56816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B"/>
                </a:solidFill>
              </a:rP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194560"/>
            <a:ext cx="4846320" cy="24688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21284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lifestyle estate Windhoek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2128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4D"/>
                </a:solidFill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212848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D4D"/>
                </a:solidFill>
              </a:rPr>
              <a:t>No content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450592"/>
            <a:ext cx="4846320" cy="246888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46888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freehold plots near Windhoek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2468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4D"/>
                </a:solidFill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46888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D4D"/>
                </a:solidFill>
              </a:rPr>
              <a:t>No content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706624"/>
            <a:ext cx="4846320" cy="24688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72491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off-grid property Namibia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272491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4D"/>
                </a:solidFill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724912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D4D"/>
                </a:solidFill>
              </a:rPr>
              <a:t>No content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2962656"/>
            <a:ext cx="4846320" cy="246888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298094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solar powered estate Namibia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298094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</a:rPr>
              <a:t>Med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2980944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D4D"/>
                </a:solidFill>
              </a:rPr>
              <a:t>No content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218688"/>
            <a:ext cx="4846320" cy="24688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23697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Woodlands Herboths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323697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</a:rPr>
              <a:t>Med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3236976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D4D"/>
                </a:solidFill>
              </a:rPr>
              <a:t>No page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3474720"/>
            <a:ext cx="4846320" cy="246888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49300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HOA estate Windhoek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3320" y="349300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</a:rPr>
              <a:t>Med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3493008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D4D"/>
                </a:solidFill>
              </a:rPr>
              <a:t>No content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3730752"/>
            <a:ext cx="4846320" cy="24688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374904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wildlife estate Namibia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03320" y="37490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</a:rPr>
              <a:t>Med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374904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D4D"/>
                </a:solidFill>
              </a:rPr>
              <a:t>No content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3986784"/>
            <a:ext cx="4846320" cy="246888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00507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buy plot Windhoek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03320" y="400507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4D"/>
                </a:solidFill>
              </a:rPr>
              <a:t>High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4005072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D4D"/>
                </a:solidFill>
              </a:rPr>
              <a:t>No content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4242816"/>
            <a:ext cx="4846320" cy="24688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26110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property investment Namibia 2025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03320" y="426110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</a:rPr>
              <a:t>Med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4261104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D4D"/>
                </a:solidFill>
              </a:rPr>
              <a:t>No content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89320" y="1508760"/>
            <a:ext cx="5788152" cy="45720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989320" y="1508760"/>
            <a:ext cx="5788152" cy="384048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80760" y="153619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CONTENT GAPS IDENTIFIED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80760" y="2029968"/>
            <a:ext cx="54864" cy="82296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20" y="19933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55FF"/>
                </a:solidFill>
              </a:rPr>
              <a:t>No FAQ Page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22860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Solar setup, HOA fees, building restrictions, plot transfer process, wildlife policy — buyers research all of this before calling. No answers on the site means buyers call competitors who do answer.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80760" y="3035808"/>
            <a:ext cx="54864" cy="82296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0" y="299923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55FF"/>
                </a:solidFill>
              </a:rPr>
              <a:t>No Individual Plot Pages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32918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Each of the 31 plots should have its own page: size, orientation, proximity to wildlife corridor, views, price range. Buyers shortlist plots online. Without detail pages, they shortlist someone else's estate instead.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80760" y="4041648"/>
            <a:ext cx="54864" cy="82296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20" y="400507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55FF"/>
                </a:solidFill>
              </a:rPr>
              <a:t>No Blog or Educational Content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7920" y="429768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Articles like 'Why solar independence matters in Namibia' or 'What to know before buying a lifestyle estate' attract buyers who are still deciding. Currently, Herboths captures zero of this early-stage research traffic.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80760" y="5047488"/>
            <a:ext cx="54864" cy="82296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17920" y="50109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55FF"/>
                </a:solidFill>
              </a:rPr>
              <a:t>No Herboths Blick Success Content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17920" y="53035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The predecessor project sold out — that's the most powerful proof point available. No testimonials, no case studies, no 'what Blick owners say' page. Social proof from real owners converts hesitant buyers faster than any marketing copy.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6144768"/>
            <a:ext cx="1118311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61996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055FF"/>
                </a:solidFill>
              </a:rPr>
              <a:t>A buyer who searches 'lifestyle estate Windhoek' and lands on a competitor's FAQ page is not coming back to Herboths. Content is the pipeline that doesn't require ad spend.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COMPETITOR WEBSITE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Strong Lifestyle Estate Websites Do — vs. Herboths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8288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44752"/>
            <a:ext cx="5303520" cy="34747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7218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BB"/>
                </a:solidFill>
              </a:rPr>
              <a:t>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444752"/>
            <a:ext cx="2651760" cy="34747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147218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HERBOTHS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1080" y="1444752"/>
            <a:ext cx="3136392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472184"/>
            <a:ext cx="3136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TOP ESTATE STANDARD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810512"/>
            <a:ext cx="5303520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847088"/>
            <a:ext cx="502920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SSL — secure site on all browsers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1810512"/>
            <a:ext cx="2651760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1847088"/>
            <a:ext cx="26517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41080" y="1810512"/>
            <a:ext cx="3136392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1847088"/>
            <a:ext cx="31363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135124"/>
            <a:ext cx="5303520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2171700"/>
            <a:ext cx="502920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WhatsApp chat button (mobile tap-to-message)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97880" y="2135124"/>
            <a:ext cx="2651760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2171700"/>
            <a:ext cx="26517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1080" y="2135124"/>
            <a:ext cx="3136392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2171700"/>
            <a:ext cx="31363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459736"/>
            <a:ext cx="5303520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2496312"/>
            <a:ext cx="502920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Interactive plot map with availability status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97880" y="2459736"/>
            <a:ext cx="2651760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97880" y="2496312"/>
            <a:ext cx="26517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41080" y="2459736"/>
            <a:ext cx="3136392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2496312"/>
            <a:ext cx="31363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784348"/>
            <a:ext cx="5303520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2820924"/>
            <a:ext cx="502920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Individual plot detail pages with specs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97880" y="2784348"/>
            <a:ext cx="2651760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2820924"/>
            <a:ext cx="26517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No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41080" y="2784348"/>
            <a:ext cx="3136392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1080" y="2820924"/>
            <a:ext cx="31363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108960"/>
            <a:ext cx="5303520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3145536"/>
            <a:ext cx="502920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FAQ page: HOA, solar, building rules, transfer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97880" y="3108960"/>
            <a:ext cx="2651760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97880" y="3145536"/>
            <a:ext cx="26517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41080" y="3108960"/>
            <a:ext cx="3136392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41080" y="3145536"/>
            <a:ext cx="31363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3433572"/>
            <a:ext cx="5303520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" y="3470148"/>
            <a:ext cx="502920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Photo gallery: wildlife, estate lifestyle, sunsets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97880" y="3433572"/>
            <a:ext cx="2651760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97880" y="3470148"/>
            <a:ext cx="26517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A500"/>
                </a:solidFill>
              </a:rPr>
              <a:t>Partial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41080" y="3433572"/>
            <a:ext cx="3136392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41080" y="3470148"/>
            <a:ext cx="31363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3758184"/>
            <a:ext cx="5303520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" y="3794760"/>
            <a:ext cx="502920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Testimonials from existing/previous buyers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97880" y="3758184"/>
            <a:ext cx="2651760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97880" y="3794760"/>
            <a:ext cx="26517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41080" y="3758184"/>
            <a:ext cx="3136392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41080" y="3794760"/>
            <a:ext cx="31363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4082796"/>
            <a:ext cx="5303520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" y="4119372"/>
            <a:ext cx="502920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Virtual estate walkthrough or video tour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97880" y="4082796"/>
            <a:ext cx="2651760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97880" y="4119372"/>
            <a:ext cx="26517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No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41080" y="4082796"/>
            <a:ext cx="3136392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1080" y="4119372"/>
            <a:ext cx="31363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4407408"/>
            <a:ext cx="5303520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" y="4443984"/>
            <a:ext cx="502920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Blog or news section with 5+ articles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97880" y="4407408"/>
            <a:ext cx="2651760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97880" y="4443984"/>
            <a:ext cx="26517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No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641080" y="4407408"/>
            <a:ext cx="3136392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41080" y="4443984"/>
            <a:ext cx="31363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" y="4732020"/>
            <a:ext cx="5303520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" y="4768596"/>
            <a:ext cx="502920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SEO titles &amp; meta descriptions on all pages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897880" y="4732020"/>
            <a:ext cx="2651760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897880" y="4768596"/>
            <a:ext cx="26517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No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641080" y="4732020"/>
            <a:ext cx="3136392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41080" y="4768596"/>
            <a:ext cx="31363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5056632"/>
            <a:ext cx="5303520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1792" y="5093208"/>
            <a:ext cx="502920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Google Maps integration with estate pin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897880" y="5056632"/>
            <a:ext cx="2651760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897880" y="5093208"/>
            <a:ext cx="26517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No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641080" y="5056632"/>
            <a:ext cx="3136392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641080" y="5093208"/>
            <a:ext cx="31363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5381244"/>
            <a:ext cx="5303520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1792" y="5417820"/>
            <a:ext cx="502920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Social media feed embedded on homepage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897880" y="5381244"/>
            <a:ext cx="2651760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897880" y="5417820"/>
            <a:ext cx="26517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No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641080" y="5381244"/>
            <a:ext cx="3136392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641080" y="5417820"/>
            <a:ext cx="31363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02920" y="5705856"/>
            <a:ext cx="5303520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1792" y="5742432"/>
            <a:ext cx="502920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Mobile-first layout (single-tap call / WhatsApp)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97880" y="5705856"/>
            <a:ext cx="2651760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897880" y="5742432"/>
            <a:ext cx="26517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A500"/>
                </a:solidFill>
              </a:rPr>
              <a:t>Partial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641080" y="5705856"/>
            <a:ext cx="3136392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41080" y="5742432"/>
            <a:ext cx="31363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2920" y="6030468"/>
            <a:ext cx="5303520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21792" y="6067044"/>
            <a:ext cx="502920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Email newsletter sign-up for plot updates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897880" y="6030468"/>
            <a:ext cx="2651760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897880" y="6067044"/>
            <a:ext cx="26517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No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641080" y="6030468"/>
            <a:ext cx="3136392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641080" y="6067044"/>
            <a:ext cx="31363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Yes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RECOMMENDED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Priority-Ordered Action Plan for herboths.com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8288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44752"/>
            <a:ext cx="3566160" cy="50292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481328"/>
            <a:ext cx="33467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</a:rPr>
              <a:t>WEEK 1
Immediate Fixes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47672"/>
            <a:ext cx="3566160" cy="45720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2075688"/>
            <a:ext cx="45720" cy="50292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2996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4D"/>
                </a:solidFill>
              </a:rPr>
              <a:t>Fix SSL Certificate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22576"/>
            <a:ext cx="32186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Resolve the HTTPS certificate error. Site must load securely on all browsers. This is the prerequisite for everything else — no other fix matters while the security warning is live.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3493008"/>
            <a:ext cx="45720" cy="50292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4728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4D"/>
                </a:solidFill>
              </a:rPr>
              <a:t>Add WhatsApp Chat Widget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39896"/>
            <a:ext cx="32186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Single tap-to-chat button on every page. Mobile-first. Links directly to Lizette's WhatsApp number with a pre-filled opening message. Zero friction for the buyer's preferred contact channel.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" y="4910328"/>
            <a:ext cx="45720" cy="50292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6460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4D"/>
                </a:solidFill>
              </a:rPr>
              <a:t>Add Automated Inquiry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57216"/>
            <a:ext cx="32186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Basic auto-reply to every contact form submission: confirmation of receipt, expected response time, and Lizette's WhatsApp number as an alternative. No inquiry goes unacknowledged.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3672" y="1444752"/>
            <a:ext cx="3566160" cy="5029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1481328"/>
            <a:ext cx="33467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</a:rPr>
              <a:t>WEEKS 2–5
Core Website Rebuild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33672" y="1947672"/>
            <a:ext cx="3566160" cy="45720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2075688"/>
            <a:ext cx="45720" cy="5029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202996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Interactive Plot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2322576"/>
            <a:ext cx="32186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Visual map of the 160-hectare estate showing all 31 plots — available (green), reserved (amber), sold (grey). Buyers can click a plot to see size, orientation, price range, and wildlife proximity.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2971800"/>
            <a:ext cx="45720" cy="5029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2926080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Individual Plot Detail Pages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3218688"/>
            <a:ext cx="32186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One page per plot: area in hectares, orientation, distance to wildlife corridor, views, topography notes, price range, and a direct WhatsApp CTA. Serious buyers shortlist online — give them the information to shortlist Herboths.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3867912"/>
            <a:ext cx="45720" cy="5029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62272" y="3822192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FAQ Page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4114800"/>
            <a:ext cx="32186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Answer the 15 most common buyer questions: HOA fees and rules, solar system specs, water and sewerage setup, building restrictions, transfer timeline, wildlife management, security, and proximity to schools and amenities.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4764024"/>
            <a:ext cx="45720" cy="5029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62272" y="4718304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Testimonials from Herboths Blick Owners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2272" y="5010912"/>
            <a:ext cx="32186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Contact 5–8 Blick owners for short quotes or video testimonials. Their sold-out project is the strongest possible proof that the Herboths concept works.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64424" y="1444752"/>
            <a:ext cx="356616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74152" y="1481328"/>
            <a:ext cx="33467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</a:rPr>
              <a:t>MONTH 2–3
SEO &amp; Content Engine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64424" y="1947672"/>
            <a:ext cx="3566160" cy="45720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74152" y="2075688"/>
            <a:ext cx="4572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93024" y="202996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Blog Content — 8 Articles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3024" y="2322576"/>
            <a:ext cx="32186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Publish articles targeting: 'lifestyle estate Windhoek 2025', 'off-grid living Namibia', 'freehold plot investment Namibia', 'solar estate near Windhoek'. Each article draws in early-stage buyers who are still researching options.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74152" y="3493008"/>
            <a:ext cx="4572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93024" y="344728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Social Media Content Engine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3739896"/>
            <a:ext cx="32186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3 posts per week on LinkedIn and Facebook: wildlife sightings, solar independence stories, plot availability updates, buyer testimonials, and investment angle pieces. Grow from 29 followers to an audience of Windhoek property buyers.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74152" y="4910328"/>
            <a:ext cx="4572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93024" y="486460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AI Lead Nurture (Enhancement Layer)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93024" y="5157216"/>
            <a:ext cx="32186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Once the website is sound: add WhatsApp AI agent for 24/7 inquiry handling + a 6-touch automated nurture sequence for warm leads on a 3–6 month decision cycle. This layer sits on top of a working website — not instead of 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Let's Talk for
15 Minutes.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560320"/>
            <a:ext cx="2286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4EE"/>
                </a:solidFill>
              </a:rPr>
              <a:t>Start with the SSL fix and WhatsApp button — Week 1.
Everything else builds on that foundation.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47872"/>
            <a:ext cx="5943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/>
              <a:t>  </a:t>
            </a:r>
            <a:r>
              <a:rPr sz="1200" b="1">
                <a:solidFill>
                  <a:srgbClr val="00B4D8"/>
                </a:solidFill>
              </a:rPr>
              <a:t>● </a:t>
            </a:r>
            <a:r>
              <a:rPr sz="1400">
                <a:solidFill>
                  <a:srgbClr val="FFFFFF"/>
                </a:solidFill>
              </a:rPr>
              <a:t>Call or WhatsApp Rohan: +91 638-714-2699</a:t>
            </a:r>
          </a:p>
          <a:p>
            <a:pPr algn="l">
              <a:spcAft>
                <a:spcPts val="600"/>
              </a:spcAft>
            </a:pPr>
            <a:r>
              <a:rPr sz="1200"/>
              <a:t>  </a:t>
            </a:r>
            <a:r>
              <a:rPr sz="1200" b="1">
                <a:solidFill>
                  <a:srgbClr val="00B4D8"/>
                </a:solidFill>
              </a:rPr>
              <a:t>● </a:t>
            </a:r>
            <a:r>
              <a:rPr sz="1400">
                <a:solidFill>
                  <a:srgbClr val="FFFFFF"/>
                </a:solidFill>
              </a:rPr>
              <a:t>Week 1: SSL fix + WhatsApp button + automated inquiry response</a:t>
            </a:r>
          </a:p>
          <a:p>
            <a:pPr algn="l">
              <a:spcAft>
                <a:spcPts val="600"/>
              </a:spcAft>
            </a:pPr>
            <a:r>
              <a:rPr sz="1200"/>
              <a:t>  </a:t>
            </a:r>
            <a:r>
              <a:rPr sz="1200" b="1">
                <a:solidFill>
                  <a:srgbClr val="00B4D8"/>
                </a:solidFill>
              </a:rPr>
              <a:t>● </a:t>
            </a:r>
            <a:r>
              <a:rPr sz="1400">
                <a:solidFill>
                  <a:srgbClr val="FFFFFF"/>
                </a:solidFill>
              </a:rPr>
              <a:t>Weeks 2-5: Plot map, detail pages, FAQ, Blick testimonials</a:t>
            </a:r>
          </a:p>
          <a:p>
            <a:pPr algn="l"/>
            <a:r>
              <a:rPr sz="1200"/>
              <a:t>  </a:t>
            </a:r>
            <a:r>
              <a:rPr sz="1200" b="1">
                <a:solidFill>
                  <a:srgbClr val="00B4D8"/>
                </a:solidFill>
              </a:rPr>
              <a:t>● </a:t>
            </a:r>
            <a:r>
              <a:rPr sz="1400">
                <a:solidFill>
                  <a:srgbClr val="FFFFFF"/>
                </a:solidFill>
              </a:rPr>
              <a:t>Month 2-3: SEO content, social engine, AI nurture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943600"/>
            <a:ext cx="6858000" cy="9144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0350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B"/>
                </a:solidFill>
              </a:rPr>
              <a:t>Rohan Malik  |  CEO, Genos AI  |  hello@genosai.tech  |  +91 638-714-2699  |  www.genosai.tech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AUDIT SUMMARY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914400"/>
            <a:ext cx="1371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8040" y="1097280"/>
            <a:ext cx="1005840" cy="6858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5472" y="1188720"/>
            <a:ext cx="950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4D4D"/>
                </a:solidFill>
              </a:rPr>
              <a:t>1/10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13385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41732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SSL cert invalid — security warning on every visit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78040" y="1901952"/>
            <a:ext cx="1005840" cy="6858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5472" y="1993392"/>
            <a:ext cx="950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4D4D"/>
                </a:solidFill>
              </a:rPr>
              <a:t>2/10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938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Conversion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221992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No WhatsApp, no plot map, no automated response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8040" y="2706624"/>
            <a:ext cx="1005840" cy="6858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5472" y="2798064"/>
            <a:ext cx="950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4D4D"/>
                </a:solidFill>
              </a:rPr>
              <a:t>3/10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7432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026664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Zero keyword content — invisible on Google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3511296"/>
            <a:ext cx="1005840" cy="6858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5472" y="3602736"/>
            <a:ext cx="950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A500"/>
                </a:solidFill>
              </a:rPr>
              <a:t>4/10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5478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Content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831336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Thin pages — no FAQ, no plot detail, no testimonials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4315968"/>
            <a:ext cx="1005840" cy="6858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05472" y="4407408"/>
            <a:ext cx="950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A500"/>
                </a:solidFill>
              </a:rPr>
              <a:t>4/10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3525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UX/Design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63600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Basic — no visual estate map, weak CTAs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78040" y="5120640"/>
            <a:ext cx="1005840" cy="6858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05472" y="5212080"/>
            <a:ext cx="950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4D4D"/>
                </a:solidFill>
              </a:rPr>
              <a:t>1/10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515721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Social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544068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29 followers — no content engine behind LinkedIn/FB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